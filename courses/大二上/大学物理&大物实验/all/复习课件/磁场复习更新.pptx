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5" r:id="rId4"/>
    <p:sldMasterId id="2147483697" r:id="rId5"/>
  </p:sldMasterIdLst>
  <p:sldIdLst>
    <p:sldId id="344" r:id="rId6"/>
    <p:sldId id="259" r:id="rId7"/>
    <p:sldId id="256" r:id="rId8"/>
    <p:sldId id="277" r:id="rId9"/>
    <p:sldId id="406" r:id="rId10"/>
    <p:sldId id="402" r:id="rId11"/>
    <p:sldId id="403" r:id="rId12"/>
    <p:sldId id="404" r:id="rId13"/>
    <p:sldId id="261" r:id="rId14"/>
    <p:sldId id="283" r:id="rId15"/>
    <p:sldId id="262" r:id="rId16"/>
    <p:sldId id="450" r:id="rId17"/>
    <p:sldId id="407" r:id="rId18"/>
    <p:sldId id="405" r:id="rId19"/>
    <p:sldId id="263" r:id="rId20"/>
    <p:sldId id="410" r:id="rId21"/>
    <p:sldId id="264" r:id="rId22"/>
    <p:sldId id="306" r:id="rId23"/>
    <p:sldId id="408" r:id="rId24"/>
    <p:sldId id="265" r:id="rId25"/>
    <p:sldId id="411" r:id="rId26"/>
    <p:sldId id="266" r:id="rId27"/>
    <p:sldId id="267" r:id="rId28"/>
    <p:sldId id="413" r:id="rId29"/>
    <p:sldId id="268" r:id="rId30"/>
    <p:sldId id="331" r:id="rId31"/>
    <p:sldId id="307" r:id="rId32"/>
    <p:sldId id="308" r:id="rId33"/>
    <p:sldId id="309" r:id="rId34"/>
    <p:sldId id="315" r:id="rId35"/>
    <p:sldId id="316" r:id="rId36"/>
    <p:sldId id="310" r:id="rId37"/>
    <p:sldId id="311" r:id="rId38"/>
    <p:sldId id="332" r:id="rId39"/>
    <p:sldId id="333" r:id="rId40"/>
    <p:sldId id="270" r:id="rId41"/>
    <p:sldId id="336" r:id="rId42"/>
    <p:sldId id="375" r:id="rId43"/>
    <p:sldId id="446" r:id="rId44"/>
    <p:sldId id="379" r:id="rId45"/>
    <p:sldId id="447" r:id="rId46"/>
    <p:sldId id="378" r:id="rId47"/>
    <p:sldId id="380" r:id="rId48"/>
    <p:sldId id="448" r:id="rId49"/>
    <p:sldId id="381" r:id="rId50"/>
    <p:sldId id="449" r:id="rId51"/>
    <p:sldId id="382" r:id="rId52"/>
    <p:sldId id="383" r:id="rId53"/>
    <p:sldId id="451" r:id="rId54"/>
    <p:sldId id="384" r:id="rId55"/>
    <p:sldId id="452" r:id="rId56"/>
    <p:sldId id="453" r:id="rId57"/>
    <p:sldId id="455" r:id="rId58"/>
    <p:sldId id="454" r:id="rId59"/>
    <p:sldId id="456" r:id="rId60"/>
  </p:sldIdLst>
  <p:sldSz cx="9144000" cy="6858000" type="screen4x3"/>
  <p:notesSz cx="6858000" cy="9144000"/>
  <p:custDataLst>
    <p:tags r:id="rId6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428" y="66"/>
      </p:cViewPr>
      <p:guideLst>
        <p:guide orient="horz" pos="2221"/>
        <p:guide pos="29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8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0.wmf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0.bin"/><Relationship Id="rId2" Type="http://schemas.openxmlformats.org/officeDocument/2006/relationships/tags" Target="../tags/tag4.xml"/><Relationship Id="rId16" Type="http://schemas.openxmlformats.org/officeDocument/2006/relationships/image" Target="../media/image19.w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7.xml"/><Relationship Id="rId15" Type="http://schemas.openxmlformats.org/officeDocument/2006/relationships/oleObject" Target="../embeddings/oleObject19.bin"/><Relationship Id="rId10" Type="http://schemas.openxmlformats.org/officeDocument/2006/relationships/tags" Target="../tags/tag12.xml"/><Relationship Id="rId19" Type="http://schemas.openxmlformats.org/officeDocument/2006/relationships/image" Target="../media/image21.wmf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tags" Target="../tags/tag18.xml"/><Relationship Id="rId7" Type="http://schemas.openxmlformats.org/officeDocument/2006/relationships/oleObject" Target="../embeddings/oleObject27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40.wmf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12" Type="http://schemas.openxmlformats.org/officeDocument/2006/relationships/image" Target="../media/image37.png"/><Relationship Id="rId17" Type="http://schemas.openxmlformats.org/officeDocument/2006/relationships/oleObject" Target="../embeddings/oleObject37.bin"/><Relationship Id="rId2" Type="http://schemas.openxmlformats.org/officeDocument/2006/relationships/oleObject" Target="../embeddings/oleObject30.bin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oleObject" Target="../embeddings/oleObject36.bin"/><Relationship Id="rId10" Type="http://schemas.openxmlformats.org/officeDocument/2006/relationships/oleObject" Target="../embeddings/oleObject34.bin"/><Relationship Id="rId19" Type="http://schemas.openxmlformats.org/officeDocument/2006/relationships/oleObject" Target="../embeddings/oleObject38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5.wmf"/><Relationship Id="rId14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7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42.wmf"/><Relationship Id="rId21" Type="http://schemas.openxmlformats.org/officeDocument/2006/relationships/image" Target="../media/image51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9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23" Type="http://schemas.openxmlformats.org/officeDocument/2006/relationships/image" Target="../media/image52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image" Target="../media/image5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tags" Target="../tags/tag23.xml"/><Relationship Id="rId7" Type="http://schemas.openxmlformats.org/officeDocument/2006/relationships/oleObject" Target="../embeddings/oleObject50.bin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oleObject" Target="../embeddings/oleObject51.bin"/><Relationship Id="rId3" Type="http://schemas.openxmlformats.org/officeDocument/2006/relationships/tags" Target="../tags/tag28.xml"/><Relationship Id="rId21" Type="http://schemas.openxmlformats.org/officeDocument/2006/relationships/image" Target="../media/image56.wmf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oleObject" Target="../embeddings/oleObject52.bin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10" Type="http://schemas.openxmlformats.org/officeDocument/2006/relationships/tags" Target="../tags/tag35.xml"/><Relationship Id="rId19" Type="http://schemas.openxmlformats.org/officeDocument/2006/relationships/image" Target="../media/image55.wmf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62.w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" Type="http://schemas.openxmlformats.org/officeDocument/2006/relationships/image" Target="../media/image57.wmf"/><Relationship Id="rId21" Type="http://schemas.openxmlformats.org/officeDocument/2006/relationships/image" Target="../media/image66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4.wmf"/><Relationship Id="rId25" Type="http://schemas.openxmlformats.org/officeDocument/2006/relationships/image" Target="../media/image68.w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61.wmf"/><Relationship Id="rId24" Type="http://schemas.openxmlformats.org/officeDocument/2006/relationships/oleObject" Target="../embeddings/oleObject64.bin"/><Relationship Id="rId5" Type="http://schemas.openxmlformats.org/officeDocument/2006/relationships/image" Target="../media/image58.wmf"/><Relationship Id="rId15" Type="http://schemas.openxmlformats.org/officeDocument/2006/relationships/image" Target="../media/image63.wmf"/><Relationship Id="rId23" Type="http://schemas.openxmlformats.org/officeDocument/2006/relationships/image" Target="../media/image67.wmf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65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69.wmf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tags" Target="../tags/tag67.xml"/><Relationship Id="rId21" Type="http://schemas.openxmlformats.org/officeDocument/2006/relationships/tags" Target="../tags/tag62.xml"/><Relationship Id="rId34" Type="http://schemas.openxmlformats.org/officeDocument/2006/relationships/tags" Target="../tags/tag75.xml"/><Relationship Id="rId42" Type="http://schemas.openxmlformats.org/officeDocument/2006/relationships/tags" Target="../tags/tag83.xml"/><Relationship Id="rId47" Type="http://schemas.openxmlformats.org/officeDocument/2006/relationships/tags" Target="../tags/tag88.xml"/><Relationship Id="rId50" Type="http://schemas.openxmlformats.org/officeDocument/2006/relationships/tags" Target="../tags/tag91.xml"/><Relationship Id="rId55" Type="http://schemas.openxmlformats.org/officeDocument/2006/relationships/tags" Target="../tags/tag96.xml"/><Relationship Id="rId63" Type="http://schemas.openxmlformats.org/officeDocument/2006/relationships/tags" Target="../tags/tag104.xml"/><Relationship Id="rId68" Type="http://schemas.openxmlformats.org/officeDocument/2006/relationships/oleObject" Target="../embeddings/oleObject66.bin"/><Relationship Id="rId76" Type="http://schemas.openxmlformats.org/officeDocument/2006/relationships/oleObject" Target="../embeddings/oleObject70.bin"/><Relationship Id="rId84" Type="http://schemas.openxmlformats.org/officeDocument/2006/relationships/image" Target="../media/image67.wmf"/><Relationship Id="rId89" Type="http://schemas.openxmlformats.org/officeDocument/2006/relationships/oleObject" Target="../embeddings/oleObject77.bin"/><Relationship Id="rId97" Type="http://schemas.openxmlformats.org/officeDocument/2006/relationships/oleObject" Target="../embeddings/oleObject81.bin"/><Relationship Id="rId7" Type="http://schemas.openxmlformats.org/officeDocument/2006/relationships/tags" Target="../tags/tag48.xml"/><Relationship Id="rId71" Type="http://schemas.openxmlformats.org/officeDocument/2006/relationships/image" Target="../media/image60.wmf"/><Relationship Id="rId92" Type="http://schemas.openxmlformats.org/officeDocument/2006/relationships/image" Target="../media/image71.wmf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29" Type="http://schemas.openxmlformats.org/officeDocument/2006/relationships/tags" Target="../tags/tag70.xml"/><Relationship Id="rId11" Type="http://schemas.openxmlformats.org/officeDocument/2006/relationships/tags" Target="../tags/tag52.xml"/><Relationship Id="rId24" Type="http://schemas.openxmlformats.org/officeDocument/2006/relationships/tags" Target="../tags/tag65.xml"/><Relationship Id="rId32" Type="http://schemas.openxmlformats.org/officeDocument/2006/relationships/tags" Target="../tags/tag73.xml"/><Relationship Id="rId37" Type="http://schemas.openxmlformats.org/officeDocument/2006/relationships/tags" Target="../tags/tag78.xml"/><Relationship Id="rId40" Type="http://schemas.openxmlformats.org/officeDocument/2006/relationships/tags" Target="../tags/tag81.xml"/><Relationship Id="rId45" Type="http://schemas.openxmlformats.org/officeDocument/2006/relationships/tags" Target="../tags/tag86.xml"/><Relationship Id="rId53" Type="http://schemas.openxmlformats.org/officeDocument/2006/relationships/tags" Target="../tags/tag94.xml"/><Relationship Id="rId58" Type="http://schemas.openxmlformats.org/officeDocument/2006/relationships/tags" Target="../tags/tag99.xml"/><Relationship Id="rId66" Type="http://schemas.openxmlformats.org/officeDocument/2006/relationships/tags" Target="../tags/tag107.xml"/><Relationship Id="rId74" Type="http://schemas.openxmlformats.org/officeDocument/2006/relationships/oleObject" Target="../embeddings/oleObject69.bin"/><Relationship Id="rId79" Type="http://schemas.openxmlformats.org/officeDocument/2006/relationships/image" Target="../media/image64.wmf"/><Relationship Id="rId87" Type="http://schemas.openxmlformats.org/officeDocument/2006/relationships/oleObject" Target="../embeddings/oleObject76.bin"/><Relationship Id="rId5" Type="http://schemas.openxmlformats.org/officeDocument/2006/relationships/tags" Target="../tags/tag46.xml"/><Relationship Id="rId61" Type="http://schemas.openxmlformats.org/officeDocument/2006/relationships/tags" Target="../tags/tag102.xml"/><Relationship Id="rId82" Type="http://schemas.openxmlformats.org/officeDocument/2006/relationships/oleObject" Target="../embeddings/oleObject73.bin"/><Relationship Id="rId90" Type="http://schemas.openxmlformats.org/officeDocument/2006/relationships/image" Target="../media/image70.wmf"/><Relationship Id="rId95" Type="http://schemas.openxmlformats.org/officeDocument/2006/relationships/oleObject" Target="../embeddings/oleObject80.bin"/><Relationship Id="rId19" Type="http://schemas.openxmlformats.org/officeDocument/2006/relationships/tags" Target="../tags/tag60.xml"/><Relationship Id="rId14" Type="http://schemas.openxmlformats.org/officeDocument/2006/relationships/tags" Target="../tags/tag55.xml"/><Relationship Id="rId22" Type="http://schemas.openxmlformats.org/officeDocument/2006/relationships/tags" Target="../tags/tag63.xml"/><Relationship Id="rId27" Type="http://schemas.openxmlformats.org/officeDocument/2006/relationships/tags" Target="../tags/tag68.xml"/><Relationship Id="rId30" Type="http://schemas.openxmlformats.org/officeDocument/2006/relationships/tags" Target="../tags/tag71.xml"/><Relationship Id="rId35" Type="http://schemas.openxmlformats.org/officeDocument/2006/relationships/tags" Target="../tags/tag76.xml"/><Relationship Id="rId43" Type="http://schemas.openxmlformats.org/officeDocument/2006/relationships/tags" Target="../tags/tag84.xml"/><Relationship Id="rId48" Type="http://schemas.openxmlformats.org/officeDocument/2006/relationships/tags" Target="../tags/tag89.xml"/><Relationship Id="rId56" Type="http://schemas.openxmlformats.org/officeDocument/2006/relationships/tags" Target="../tags/tag97.xml"/><Relationship Id="rId64" Type="http://schemas.openxmlformats.org/officeDocument/2006/relationships/tags" Target="../tags/tag105.xml"/><Relationship Id="rId69" Type="http://schemas.openxmlformats.org/officeDocument/2006/relationships/image" Target="../media/image59.wmf"/><Relationship Id="rId77" Type="http://schemas.openxmlformats.org/officeDocument/2006/relationships/image" Target="../media/image63.wmf"/><Relationship Id="rId8" Type="http://schemas.openxmlformats.org/officeDocument/2006/relationships/tags" Target="../tags/tag49.xml"/><Relationship Id="rId51" Type="http://schemas.openxmlformats.org/officeDocument/2006/relationships/tags" Target="../tags/tag92.xml"/><Relationship Id="rId72" Type="http://schemas.openxmlformats.org/officeDocument/2006/relationships/oleObject" Target="../embeddings/oleObject68.bin"/><Relationship Id="rId80" Type="http://schemas.openxmlformats.org/officeDocument/2006/relationships/oleObject" Target="../embeddings/oleObject72.bin"/><Relationship Id="rId85" Type="http://schemas.openxmlformats.org/officeDocument/2006/relationships/oleObject" Target="../embeddings/oleObject75.bin"/><Relationship Id="rId93" Type="http://schemas.openxmlformats.org/officeDocument/2006/relationships/oleObject" Target="../embeddings/oleObject79.bin"/><Relationship Id="rId98" Type="http://schemas.openxmlformats.org/officeDocument/2006/relationships/image" Target="../media/image74.wmf"/><Relationship Id="rId3" Type="http://schemas.openxmlformats.org/officeDocument/2006/relationships/tags" Target="../tags/tag44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5" Type="http://schemas.openxmlformats.org/officeDocument/2006/relationships/tags" Target="../tags/tag66.xml"/><Relationship Id="rId33" Type="http://schemas.openxmlformats.org/officeDocument/2006/relationships/tags" Target="../tags/tag74.xml"/><Relationship Id="rId38" Type="http://schemas.openxmlformats.org/officeDocument/2006/relationships/tags" Target="../tags/tag79.xml"/><Relationship Id="rId46" Type="http://schemas.openxmlformats.org/officeDocument/2006/relationships/tags" Target="../tags/tag87.xml"/><Relationship Id="rId59" Type="http://schemas.openxmlformats.org/officeDocument/2006/relationships/tags" Target="../tags/tag100.xml"/><Relationship Id="rId67" Type="http://schemas.openxmlformats.org/officeDocument/2006/relationships/slideLayout" Target="../slideLayouts/slideLayout7.xml"/><Relationship Id="rId20" Type="http://schemas.openxmlformats.org/officeDocument/2006/relationships/tags" Target="../tags/tag61.xml"/><Relationship Id="rId41" Type="http://schemas.openxmlformats.org/officeDocument/2006/relationships/tags" Target="../tags/tag82.xml"/><Relationship Id="rId54" Type="http://schemas.openxmlformats.org/officeDocument/2006/relationships/tags" Target="../tags/tag95.xml"/><Relationship Id="rId62" Type="http://schemas.openxmlformats.org/officeDocument/2006/relationships/tags" Target="../tags/tag103.xml"/><Relationship Id="rId70" Type="http://schemas.openxmlformats.org/officeDocument/2006/relationships/oleObject" Target="../embeddings/oleObject67.bin"/><Relationship Id="rId75" Type="http://schemas.openxmlformats.org/officeDocument/2006/relationships/image" Target="../media/image62.wmf"/><Relationship Id="rId83" Type="http://schemas.openxmlformats.org/officeDocument/2006/relationships/oleObject" Target="../embeddings/oleObject74.bin"/><Relationship Id="rId88" Type="http://schemas.openxmlformats.org/officeDocument/2006/relationships/image" Target="../media/image69.wmf"/><Relationship Id="rId91" Type="http://schemas.openxmlformats.org/officeDocument/2006/relationships/oleObject" Target="../embeddings/oleObject78.bin"/><Relationship Id="rId96" Type="http://schemas.openxmlformats.org/officeDocument/2006/relationships/image" Target="../media/image73.wmf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5" Type="http://schemas.openxmlformats.org/officeDocument/2006/relationships/tags" Target="../tags/tag56.xml"/><Relationship Id="rId23" Type="http://schemas.openxmlformats.org/officeDocument/2006/relationships/tags" Target="../tags/tag64.xml"/><Relationship Id="rId28" Type="http://schemas.openxmlformats.org/officeDocument/2006/relationships/tags" Target="../tags/tag69.xml"/><Relationship Id="rId36" Type="http://schemas.openxmlformats.org/officeDocument/2006/relationships/tags" Target="../tags/tag77.xml"/><Relationship Id="rId49" Type="http://schemas.openxmlformats.org/officeDocument/2006/relationships/tags" Target="../tags/tag90.xml"/><Relationship Id="rId57" Type="http://schemas.openxmlformats.org/officeDocument/2006/relationships/tags" Target="../tags/tag98.xml"/><Relationship Id="rId10" Type="http://schemas.openxmlformats.org/officeDocument/2006/relationships/tags" Target="../tags/tag51.xml"/><Relationship Id="rId31" Type="http://schemas.openxmlformats.org/officeDocument/2006/relationships/tags" Target="../tags/tag72.xml"/><Relationship Id="rId44" Type="http://schemas.openxmlformats.org/officeDocument/2006/relationships/tags" Target="../tags/tag85.xml"/><Relationship Id="rId52" Type="http://schemas.openxmlformats.org/officeDocument/2006/relationships/tags" Target="../tags/tag93.xml"/><Relationship Id="rId60" Type="http://schemas.openxmlformats.org/officeDocument/2006/relationships/tags" Target="../tags/tag101.xml"/><Relationship Id="rId65" Type="http://schemas.openxmlformats.org/officeDocument/2006/relationships/tags" Target="../tags/tag106.xml"/><Relationship Id="rId73" Type="http://schemas.openxmlformats.org/officeDocument/2006/relationships/image" Target="../media/image61.wmf"/><Relationship Id="rId78" Type="http://schemas.openxmlformats.org/officeDocument/2006/relationships/oleObject" Target="../embeddings/oleObject71.bin"/><Relationship Id="rId81" Type="http://schemas.openxmlformats.org/officeDocument/2006/relationships/image" Target="../media/image65.wmf"/><Relationship Id="rId86" Type="http://schemas.openxmlformats.org/officeDocument/2006/relationships/image" Target="../media/image68.wmf"/><Relationship Id="rId94" Type="http://schemas.openxmlformats.org/officeDocument/2006/relationships/image" Target="../media/image72.wmf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3" Type="http://schemas.openxmlformats.org/officeDocument/2006/relationships/tags" Target="../tags/tag54.xml"/><Relationship Id="rId18" Type="http://schemas.openxmlformats.org/officeDocument/2006/relationships/tags" Target="../tags/tag59.xml"/><Relationship Id="rId39" Type="http://schemas.openxmlformats.org/officeDocument/2006/relationships/tags" Target="../tags/tag8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7.bin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79.wmf"/><Relationship Id="rId5" Type="http://schemas.openxmlformats.org/officeDocument/2006/relationships/image" Target="../media/image76.e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8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5" Type="http://schemas.openxmlformats.org/officeDocument/2006/relationships/image" Target="../media/image88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9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93.wmf"/><Relationship Id="rId5" Type="http://schemas.openxmlformats.org/officeDocument/2006/relationships/image" Target="../media/image90.wmf"/><Relationship Id="rId10" Type="http://schemas.openxmlformats.org/officeDocument/2006/relationships/oleObject" Target="../embeddings/oleObject100.bin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39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41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07.bin"/><Relationship Id="rId1" Type="http://schemas.openxmlformats.org/officeDocument/2006/relationships/tags" Target="../tags/tag111.xml"/><Relationship Id="rId6" Type="http://schemas.openxmlformats.org/officeDocument/2006/relationships/image" Target="../media/image95.wmf"/><Relationship Id="rId11" Type="http://schemas.openxmlformats.org/officeDocument/2006/relationships/image" Target="../media/image38.wmf"/><Relationship Id="rId5" Type="http://schemas.openxmlformats.org/officeDocument/2006/relationships/oleObject" Target="../embeddings/oleObject102.bin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104.bin"/><Relationship Id="rId4" Type="http://schemas.openxmlformats.org/officeDocument/2006/relationships/image" Target="../media/image94.wmf"/><Relationship Id="rId9" Type="http://schemas.openxmlformats.org/officeDocument/2006/relationships/image" Target="../media/image37.png"/><Relationship Id="rId14" Type="http://schemas.openxmlformats.org/officeDocument/2006/relationships/oleObject" Target="../embeddings/oleObject10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94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0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image" Target="../media/image99.jpeg"/><Relationship Id="rId4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119.bin"/><Relationship Id="rId3" Type="http://schemas.openxmlformats.org/officeDocument/2006/relationships/image" Target="../media/image100.wmf"/><Relationship Id="rId21" Type="http://schemas.openxmlformats.org/officeDocument/2006/relationships/image" Target="../media/image109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07.w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23" Type="http://schemas.openxmlformats.org/officeDocument/2006/relationships/image" Target="../media/image110.wmf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116.wmf"/><Relationship Id="rId7" Type="http://schemas.openxmlformats.org/officeDocument/2006/relationships/image" Target="../media/image118.w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1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24.wmf"/><Relationship Id="rId18" Type="http://schemas.openxmlformats.org/officeDocument/2006/relationships/oleObject" Target="../embeddings/oleObject134.bin"/><Relationship Id="rId26" Type="http://schemas.openxmlformats.org/officeDocument/2006/relationships/image" Target="../media/image130.wmf"/><Relationship Id="rId3" Type="http://schemas.openxmlformats.org/officeDocument/2006/relationships/image" Target="../media/image120.wmf"/><Relationship Id="rId21" Type="http://schemas.openxmlformats.org/officeDocument/2006/relationships/image" Target="../media/image128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26.wmf"/><Relationship Id="rId25" Type="http://schemas.openxmlformats.org/officeDocument/2006/relationships/oleObject" Target="../embeddings/oleObject138.bin"/><Relationship Id="rId2" Type="http://schemas.openxmlformats.org/officeDocument/2006/relationships/oleObject" Target="../embeddings/oleObject126.bin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29" Type="http://schemas.openxmlformats.org/officeDocument/2006/relationships/oleObject" Target="../embeddings/oleObject140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23.wmf"/><Relationship Id="rId24" Type="http://schemas.openxmlformats.org/officeDocument/2006/relationships/image" Target="../media/image129.wmf"/><Relationship Id="rId5" Type="http://schemas.openxmlformats.org/officeDocument/2006/relationships/image" Target="../media/image121.wmf"/><Relationship Id="rId15" Type="http://schemas.openxmlformats.org/officeDocument/2006/relationships/image" Target="../media/image125.wmf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31.w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27.wmf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3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149.bin"/><Relationship Id="rId3" Type="http://schemas.openxmlformats.org/officeDocument/2006/relationships/image" Target="../media/image133.wmf"/><Relationship Id="rId21" Type="http://schemas.openxmlformats.org/officeDocument/2006/relationships/image" Target="../media/image142.w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46.bin"/><Relationship Id="rId17" Type="http://schemas.openxmlformats.org/officeDocument/2006/relationships/image" Target="../media/image140.wmf"/><Relationship Id="rId25" Type="http://schemas.openxmlformats.org/officeDocument/2006/relationships/image" Target="../media/image144.wmf"/><Relationship Id="rId2" Type="http://schemas.openxmlformats.org/officeDocument/2006/relationships/oleObject" Target="../embeddings/oleObject141.bin"/><Relationship Id="rId16" Type="http://schemas.openxmlformats.org/officeDocument/2006/relationships/oleObject" Target="../embeddings/oleObject148.bin"/><Relationship Id="rId20" Type="http://schemas.openxmlformats.org/officeDocument/2006/relationships/oleObject" Target="../embeddings/oleObject150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37.wmf"/><Relationship Id="rId24" Type="http://schemas.openxmlformats.org/officeDocument/2006/relationships/oleObject" Target="../embeddings/oleObject152.bin"/><Relationship Id="rId5" Type="http://schemas.openxmlformats.org/officeDocument/2006/relationships/image" Target="../media/image134.wmf"/><Relationship Id="rId15" Type="http://schemas.openxmlformats.org/officeDocument/2006/relationships/image" Target="../media/image139.wmf"/><Relationship Id="rId23" Type="http://schemas.openxmlformats.org/officeDocument/2006/relationships/image" Target="../media/image143.wmf"/><Relationship Id="rId10" Type="http://schemas.openxmlformats.org/officeDocument/2006/relationships/oleObject" Target="../embeddings/oleObject145.bin"/><Relationship Id="rId19" Type="http://schemas.openxmlformats.org/officeDocument/2006/relationships/image" Target="../media/image141.wmf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147.bin"/><Relationship Id="rId22" Type="http://schemas.openxmlformats.org/officeDocument/2006/relationships/oleObject" Target="../embeddings/oleObject15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50.emf"/><Relationship Id="rId18" Type="http://schemas.openxmlformats.org/officeDocument/2006/relationships/image" Target="../media/image139.wmf"/><Relationship Id="rId3" Type="http://schemas.openxmlformats.org/officeDocument/2006/relationships/image" Target="../media/image145.wmf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58.bin"/><Relationship Id="rId17" Type="http://schemas.openxmlformats.org/officeDocument/2006/relationships/oleObject" Target="../embeddings/oleObject160.bin"/><Relationship Id="rId2" Type="http://schemas.openxmlformats.org/officeDocument/2006/relationships/oleObject" Target="../embeddings/oleObject153.bin"/><Relationship Id="rId16" Type="http://schemas.openxmlformats.org/officeDocument/2006/relationships/image" Target="../media/image151.emf"/><Relationship Id="rId20" Type="http://schemas.openxmlformats.org/officeDocument/2006/relationships/image" Target="../media/image140.w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49.emf"/><Relationship Id="rId5" Type="http://schemas.openxmlformats.org/officeDocument/2006/relationships/image" Target="../media/image146.w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57.bin"/><Relationship Id="rId19" Type="http://schemas.openxmlformats.org/officeDocument/2006/relationships/oleObject" Target="../embeddings/oleObject161.bin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48.wmf"/><Relationship Id="rId14" Type="http://schemas.openxmlformats.org/officeDocument/2006/relationships/oleObject" Target="../embeddings/oleObject15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57.wmf"/><Relationship Id="rId18" Type="http://schemas.openxmlformats.org/officeDocument/2006/relationships/oleObject" Target="../embeddings/oleObject170.bin"/><Relationship Id="rId26" Type="http://schemas.openxmlformats.org/officeDocument/2006/relationships/oleObject" Target="../embeddings/oleObject174.bin"/><Relationship Id="rId3" Type="http://schemas.openxmlformats.org/officeDocument/2006/relationships/image" Target="../media/image152.wmf"/><Relationship Id="rId21" Type="http://schemas.openxmlformats.org/officeDocument/2006/relationships/image" Target="../media/image161.wmf"/><Relationship Id="rId34" Type="http://schemas.openxmlformats.org/officeDocument/2006/relationships/oleObject" Target="../embeddings/oleObject178.bin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59.wmf"/><Relationship Id="rId25" Type="http://schemas.openxmlformats.org/officeDocument/2006/relationships/image" Target="../media/image163.wmf"/><Relationship Id="rId33" Type="http://schemas.openxmlformats.org/officeDocument/2006/relationships/image" Target="../media/image166.wmf"/><Relationship Id="rId2" Type="http://schemas.openxmlformats.org/officeDocument/2006/relationships/oleObject" Target="../embeddings/oleObject162.bin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1.bin"/><Relationship Id="rId29" Type="http://schemas.openxmlformats.org/officeDocument/2006/relationships/image" Target="../media/image164.w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56.wmf"/><Relationship Id="rId24" Type="http://schemas.openxmlformats.org/officeDocument/2006/relationships/oleObject" Target="../embeddings/oleObject173.bin"/><Relationship Id="rId32" Type="http://schemas.openxmlformats.org/officeDocument/2006/relationships/oleObject" Target="../embeddings/oleObject177.bin"/><Relationship Id="rId37" Type="http://schemas.openxmlformats.org/officeDocument/2006/relationships/image" Target="../media/image168.wmf"/><Relationship Id="rId5" Type="http://schemas.openxmlformats.org/officeDocument/2006/relationships/image" Target="../media/image153.wmf"/><Relationship Id="rId15" Type="http://schemas.openxmlformats.org/officeDocument/2006/relationships/image" Target="../media/image158.wmf"/><Relationship Id="rId23" Type="http://schemas.openxmlformats.org/officeDocument/2006/relationships/image" Target="../media/image162.wmf"/><Relationship Id="rId28" Type="http://schemas.openxmlformats.org/officeDocument/2006/relationships/oleObject" Target="../embeddings/oleObject175.bin"/><Relationship Id="rId36" Type="http://schemas.openxmlformats.org/officeDocument/2006/relationships/oleObject" Target="../embeddings/oleObject179.bin"/><Relationship Id="rId10" Type="http://schemas.openxmlformats.org/officeDocument/2006/relationships/oleObject" Target="../embeddings/oleObject166.bin"/><Relationship Id="rId19" Type="http://schemas.openxmlformats.org/officeDocument/2006/relationships/image" Target="../media/image160.wmf"/><Relationship Id="rId31" Type="http://schemas.openxmlformats.org/officeDocument/2006/relationships/image" Target="../media/image165.w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55.wmf"/><Relationship Id="rId14" Type="http://schemas.openxmlformats.org/officeDocument/2006/relationships/oleObject" Target="../embeddings/oleObject168.bin"/><Relationship Id="rId22" Type="http://schemas.openxmlformats.org/officeDocument/2006/relationships/oleObject" Target="../embeddings/oleObject172.bin"/><Relationship Id="rId27" Type="http://schemas.openxmlformats.org/officeDocument/2006/relationships/image" Target="../media/image73.wmf"/><Relationship Id="rId30" Type="http://schemas.openxmlformats.org/officeDocument/2006/relationships/oleObject" Target="../embeddings/oleObject176.bin"/><Relationship Id="rId35" Type="http://schemas.openxmlformats.org/officeDocument/2006/relationships/image" Target="../media/image167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13" Type="http://schemas.openxmlformats.org/officeDocument/2006/relationships/image" Target="../media/image172.wmf"/><Relationship Id="rId18" Type="http://schemas.openxmlformats.org/officeDocument/2006/relationships/oleObject" Target="../embeddings/oleObject188.bin"/><Relationship Id="rId26" Type="http://schemas.openxmlformats.org/officeDocument/2006/relationships/oleObject" Target="../embeddings/oleObject192.bin"/><Relationship Id="rId3" Type="http://schemas.openxmlformats.org/officeDocument/2006/relationships/image" Target="../media/image169.wmf"/><Relationship Id="rId21" Type="http://schemas.openxmlformats.org/officeDocument/2006/relationships/image" Target="../media/image161.wmf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85.bin"/><Relationship Id="rId17" Type="http://schemas.openxmlformats.org/officeDocument/2006/relationships/image" Target="../media/image159.wmf"/><Relationship Id="rId25" Type="http://schemas.openxmlformats.org/officeDocument/2006/relationships/image" Target="../media/image173.wmf"/><Relationship Id="rId33" Type="http://schemas.openxmlformats.org/officeDocument/2006/relationships/image" Target="../media/image174.wmf"/><Relationship Id="rId2" Type="http://schemas.openxmlformats.org/officeDocument/2006/relationships/oleObject" Target="../embeddings/oleObject180.bin"/><Relationship Id="rId16" Type="http://schemas.openxmlformats.org/officeDocument/2006/relationships/oleObject" Target="../embeddings/oleObject187.bin"/><Relationship Id="rId20" Type="http://schemas.openxmlformats.org/officeDocument/2006/relationships/oleObject" Target="../embeddings/oleObject189.bin"/><Relationship Id="rId29" Type="http://schemas.openxmlformats.org/officeDocument/2006/relationships/image" Target="../media/image164.wmf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171.wmf"/><Relationship Id="rId24" Type="http://schemas.openxmlformats.org/officeDocument/2006/relationships/oleObject" Target="../embeddings/oleObject191.bin"/><Relationship Id="rId32" Type="http://schemas.openxmlformats.org/officeDocument/2006/relationships/oleObject" Target="../embeddings/oleObject195.bin"/><Relationship Id="rId5" Type="http://schemas.openxmlformats.org/officeDocument/2006/relationships/image" Target="../media/image153.wmf"/><Relationship Id="rId15" Type="http://schemas.openxmlformats.org/officeDocument/2006/relationships/image" Target="../media/image158.wmf"/><Relationship Id="rId23" Type="http://schemas.openxmlformats.org/officeDocument/2006/relationships/image" Target="../media/image162.wmf"/><Relationship Id="rId28" Type="http://schemas.openxmlformats.org/officeDocument/2006/relationships/oleObject" Target="../embeddings/oleObject193.bin"/><Relationship Id="rId10" Type="http://schemas.openxmlformats.org/officeDocument/2006/relationships/oleObject" Target="../embeddings/oleObject184.bin"/><Relationship Id="rId19" Type="http://schemas.openxmlformats.org/officeDocument/2006/relationships/image" Target="../media/image160.wmf"/><Relationship Id="rId31" Type="http://schemas.openxmlformats.org/officeDocument/2006/relationships/image" Target="../media/image168.w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70.wmf"/><Relationship Id="rId14" Type="http://schemas.openxmlformats.org/officeDocument/2006/relationships/oleObject" Target="../embeddings/oleObject186.bin"/><Relationship Id="rId22" Type="http://schemas.openxmlformats.org/officeDocument/2006/relationships/oleObject" Target="../embeddings/oleObject190.bin"/><Relationship Id="rId27" Type="http://schemas.openxmlformats.org/officeDocument/2006/relationships/image" Target="../media/image73.wmf"/><Relationship Id="rId30" Type="http://schemas.openxmlformats.org/officeDocument/2006/relationships/oleObject" Target="../embeddings/oleObject19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7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202.bin"/><Relationship Id="rId18" Type="http://schemas.openxmlformats.org/officeDocument/2006/relationships/image" Target="../media/image177.wmf"/><Relationship Id="rId26" Type="http://schemas.openxmlformats.org/officeDocument/2006/relationships/image" Target="../media/image181.wmf"/><Relationship Id="rId3" Type="http://schemas.openxmlformats.org/officeDocument/2006/relationships/oleObject" Target="../embeddings/oleObject198.bin"/><Relationship Id="rId21" Type="http://schemas.openxmlformats.org/officeDocument/2006/relationships/oleObject" Target="../embeddings/oleObject206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204.bin"/><Relationship Id="rId25" Type="http://schemas.openxmlformats.org/officeDocument/2006/relationships/oleObject" Target="../embeddings/oleObject208.bin"/><Relationship Id="rId2" Type="http://schemas.openxmlformats.org/officeDocument/2006/relationships/audio" Target="../media/audio1.wav"/><Relationship Id="rId16" Type="http://schemas.openxmlformats.org/officeDocument/2006/relationships/image" Target="../media/image74.wmf"/><Relationship Id="rId20" Type="http://schemas.openxmlformats.org/officeDocument/2006/relationships/image" Target="../media/image178.wm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97.bin"/><Relationship Id="rId24" Type="http://schemas.openxmlformats.org/officeDocument/2006/relationships/image" Target="../media/image180.wmf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3.bin"/><Relationship Id="rId23" Type="http://schemas.openxmlformats.org/officeDocument/2006/relationships/oleObject" Target="../embeddings/oleObject207.bin"/><Relationship Id="rId28" Type="http://schemas.openxmlformats.org/officeDocument/2006/relationships/image" Target="../media/image182.wmf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205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73.wmf"/><Relationship Id="rId22" Type="http://schemas.openxmlformats.org/officeDocument/2006/relationships/image" Target="../media/image179.wmf"/><Relationship Id="rId27" Type="http://schemas.openxmlformats.org/officeDocument/2006/relationships/oleObject" Target="../embeddings/oleObject209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eg"/><Relationship Id="rId2" Type="http://schemas.openxmlformats.org/officeDocument/2006/relationships/image" Target="../media/image184.jpe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6.xml"/><Relationship Id="rId5" Type="http://schemas.openxmlformats.org/officeDocument/2006/relationships/image" Target="../media/image188.jpeg"/><Relationship Id="rId4" Type="http://schemas.openxmlformats.org/officeDocument/2006/relationships/image" Target="../media/image18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eg"/><Relationship Id="rId2" Type="http://schemas.openxmlformats.org/officeDocument/2006/relationships/image" Target="../media/image189.jpe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jpeg"/><Relationship Id="rId2" Type="http://schemas.openxmlformats.org/officeDocument/2006/relationships/image" Target="../media/image191.jpeg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eg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17.xml"/><Relationship Id="rId4" Type="http://schemas.openxmlformats.org/officeDocument/2006/relationships/image" Target="../media/image194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jpeg"/><Relationship Id="rId2" Type="http://schemas.openxmlformats.org/officeDocument/2006/relationships/image" Target="../media/image195.jpeg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jpeg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118.xml"/><Relationship Id="rId4" Type="http://schemas.openxmlformats.org/officeDocument/2006/relationships/image" Target="../media/image198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jpeg"/><Relationship Id="rId2" Type="http://schemas.openxmlformats.org/officeDocument/2006/relationships/image" Target="../media/image199.jpeg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jpeg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119.xml"/><Relationship Id="rId4" Type="http://schemas.openxmlformats.org/officeDocument/2006/relationships/image" Target="../media/image202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jpeg"/><Relationship Id="rId2" Type="http://schemas.openxmlformats.org/officeDocument/2006/relationships/image" Target="../media/image203.jpeg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jpeg"/><Relationship Id="rId2" Type="http://schemas.openxmlformats.org/officeDocument/2006/relationships/image" Target="../media/image205.jpeg"/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jpeg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20.xml"/><Relationship Id="rId5" Type="http://schemas.openxmlformats.org/officeDocument/2006/relationships/image" Target="../media/image209.jpeg"/><Relationship Id="rId4" Type="http://schemas.openxmlformats.org/officeDocument/2006/relationships/image" Target="../media/image208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211.jpeg"/><Relationship Id="rId5" Type="http://schemas.openxmlformats.org/officeDocument/2006/relationships/image" Target="../media/image210.jpeg"/><Relationship Id="rId4" Type="http://schemas.openxmlformats.org/officeDocument/2006/relationships/slideLayout" Target="../slideLayouts/slideLayout4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5" Type="http://schemas.openxmlformats.org/officeDocument/2006/relationships/image" Target="../media/image213.jpeg"/><Relationship Id="rId4" Type="http://schemas.openxmlformats.org/officeDocument/2006/relationships/image" Target="../media/image21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jpeg"/><Relationship Id="rId2" Type="http://schemas.openxmlformats.org/officeDocument/2006/relationships/image" Target="../media/image214.jpeg"/><Relationship Id="rId1" Type="http://schemas.openxmlformats.org/officeDocument/2006/relationships/slideLayout" Target="../slideLayouts/slideLayout4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5" Type="http://schemas.openxmlformats.org/officeDocument/2006/relationships/image" Target="../media/image217.jpeg"/><Relationship Id="rId4" Type="http://schemas.openxmlformats.org/officeDocument/2006/relationships/image" Target="../media/image21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jpeg"/><Relationship Id="rId2" Type="http://schemas.openxmlformats.org/officeDocument/2006/relationships/image" Target="../media/image218.jpe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7"/>
          <p:cNvSpPr txBox="1"/>
          <p:nvPr/>
        </p:nvSpPr>
        <p:spPr>
          <a:xfrm>
            <a:off x="611188" y="1412875"/>
            <a:ext cx="7723187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、布置的作业（在每节课的课件中，包括布置的例题及教材作业题）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、课件中的例题、课前测、讨论题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群中发布的补充作业（此补充作业在智慧树平台中也有）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、餐厅一层小店中的复习资料不需要购买，因为出题老师没此资料。</a:t>
            </a:r>
          </a:p>
        </p:txBody>
      </p:sp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3538538" y="692150"/>
            <a:ext cx="20669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复习重点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9" name="组合 1"/>
          <p:cNvGrpSpPr/>
          <p:nvPr/>
        </p:nvGrpSpPr>
        <p:grpSpPr>
          <a:xfrm>
            <a:off x="769938" y="836613"/>
            <a:ext cx="7297737" cy="1168400"/>
            <a:chOff x="849" y="927"/>
            <a:chExt cx="11493" cy="1840"/>
          </a:xfrm>
        </p:grpSpPr>
        <p:sp>
          <p:nvSpPr>
            <p:cNvPr id="7170" name="Text Box 8"/>
            <p:cNvSpPr txBox="1"/>
            <p:nvPr/>
          </p:nvSpPr>
          <p:spPr>
            <a:xfrm>
              <a:off x="849" y="1432"/>
              <a:ext cx="2003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磁场</a:t>
              </a:r>
            </a:p>
          </p:txBody>
        </p:sp>
        <p:sp>
          <p:nvSpPr>
            <p:cNvPr id="7171" name="Text Box 9"/>
            <p:cNvSpPr txBox="1"/>
            <p:nvPr/>
          </p:nvSpPr>
          <p:spPr>
            <a:xfrm>
              <a:off x="3571" y="927"/>
              <a:ext cx="8771" cy="18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真空中的稳恒磁场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第</a:t>
              </a:r>
              <a:r>
                <a:rPr lang="en-US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11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章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endPara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磁场中的介质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第</a:t>
              </a:r>
              <a:r>
                <a:rPr lang="en-US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12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章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endPara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72" name="AutoShape 15"/>
            <p:cNvSpPr/>
            <p:nvPr/>
          </p:nvSpPr>
          <p:spPr>
            <a:xfrm>
              <a:off x="3004" y="1205"/>
              <a:ext cx="374" cy="1284"/>
            </a:xfrm>
            <a:prstGeom prst="leftBrace">
              <a:avLst>
                <a:gd name="adj1" fmla="val 27624"/>
                <a:gd name="adj2" fmla="val 50000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73" name="文本框 2"/>
          <p:cNvSpPr txBox="1"/>
          <p:nvPr/>
        </p:nvSpPr>
        <p:spPr>
          <a:xfrm>
            <a:off x="1403350" y="2565400"/>
            <a:ext cx="6173788" cy="2030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（一般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+5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分，一般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个选择填空题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+5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分左右计算题）</a:t>
            </a: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（正常复习时间：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3h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能完成）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36"/>
          <p:cNvSpPr txBox="1"/>
          <p:nvPr/>
        </p:nvSpPr>
        <p:spPr>
          <a:xfrm>
            <a:off x="179388" y="1485900"/>
            <a:ext cx="32781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、毕奥</a:t>
            </a:r>
            <a:r>
              <a:rPr lang="en-US" altLang="zh-CN" sz="2400" dirty="0">
                <a:solidFill>
                  <a:srgbClr val="CC0000"/>
                </a:solidFill>
                <a:latin typeface="华文中宋" panose="02010600040101010101" pitchFamily="2" charset="-122"/>
                <a:ea typeface="楷体_GB2312" pitchFamily="49" charset="-122"/>
              </a:rPr>
              <a:t>—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萨伐尔定律</a:t>
            </a:r>
          </a:p>
        </p:txBody>
      </p:sp>
      <p:sp>
        <p:nvSpPr>
          <p:cNvPr id="8194" name="Text Box 2"/>
          <p:cNvSpPr txBox="1"/>
          <p:nvPr/>
        </p:nvSpPr>
        <p:spPr>
          <a:xfrm>
            <a:off x="2628900" y="765175"/>
            <a:ext cx="41989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§11-3  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毕奥</a:t>
            </a:r>
            <a:r>
              <a:rPr lang="en-US" altLang="zh-CN" sz="2400" dirty="0">
                <a:solidFill>
                  <a:srgbClr val="CC0000"/>
                </a:solidFill>
                <a:latin typeface="华文中宋" panose="02010600040101010101" pitchFamily="2" charset="-122"/>
                <a:ea typeface="楷体_GB2312" pitchFamily="49" charset="-122"/>
              </a:rPr>
              <a:t>—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萨伐尔定律</a:t>
            </a:r>
          </a:p>
        </p:txBody>
      </p:sp>
      <p:sp>
        <p:nvSpPr>
          <p:cNvPr id="8195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graphicFrame>
        <p:nvGraphicFramePr>
          <p:cNvPr id="3" name="Object 53"/>
          <p:cNvGraphicFramePr>
            <a:graphicFrameLocks noChangeAspect="1"/>
          </p:cNvGraphicFramePr>
          <p:nvPr/>
        </p:nvGraphicFramePr>
        <p:xfrm>
          <a:off x="3455988" y="1341438"/>
          <a:ext cx="37814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92300" imgH="419100" progId="Equation.3">
                  <p:embed/>
                </p:oleObj>
              </mc:Choice>
              <mc:Fallback>
                <p:oleObj r:id="rId2" imgW="1892300" imgH="419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55988" y="1341438"/>
                        <a:ext cx="3781425" cy="8651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2"/>
          <p:cNvGraphicFramePr>
            <a:graphicFrameLocks noChangeAspect="1"/>
          </p:cNvGraphicFramePr>
          <p:nvPr/>
        </p:nvGraphicFramePr>
        <p:xfrm>
          <a:off x="611188" y="3271838"/>
          <a:ext cx="30099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4000" imgH="393700" progId="Equation.DSMT4">
                  <p:embed/>
                </p:oleObj>
              </mc:Choice>
              <mc:Fallback>
                <p:oleObj r:id="rId4" imgW="152400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188" y="3271838"/>
                        <a:ext cx="3009900" cy="7762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5"/>
          <p:cNvSpPr txBox="1"/>
          <p:nvPr/>
        </p:nvSpPr>
        <p:spPr>
          <a:xfrm>
            <a:off x="179388" y="2684463"/>
            <a:ext cx="40243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载流长直导线的磁场</a:t>
            </a:r>
          </a:p>
        </p:txBody>
      </p:sp>
      <p:graphicFrame>
        <p:nvGraphicFramePr>
          <p:cNvPr id="8199" name="Object 6"/>
          <p:cNvGraphicFramePr>
            <a:graphicFrameLocks noChangeAspect="1"/>
          </p:cNvGraphicFramePr>
          <p:nvPr/>
        </p:nvGraphicFramePr>
        <p:xfrm>
          <a:off x="468313" y="4776788"/>
          <a:ext cx="1112837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84200" imgH="393700" progId="Equation.DSMT4">
                  <p:embed/>
                </p:oleObj>
              </mc:Choice>
              <mc:Fallback>
                <p:oleObj r:id="rId6" imgW="584200" imgH="3937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8313" y="4776788"/>
                        <a:ext cx="1112837" cy="6746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Rectangle 7"/>
          <p:cNvSpPr/>
          <p:nvPr/>
        </p:nvSpPr>
        <p:spPr>
          <a:xfrm>
            <a:off x="355600" y="4149725"/>
            <a:ext cx="42433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无限长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载流长直导线的磁场</a:t>
            </a:r>
            <a:endParaRPr lang="zh-CN" altLang="en-US" sz="24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201" name="Rectangle 10"/>
          <p:cNvSpPr/>
          <p:nvPr/>
        </p:nvSpPr>
        <p:spPr>
          <a:xfrm>
            <a:off x="395288" y="5573713"/>
            <a:ext cx="43021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载流长直导线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延长线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上的磁场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8202" name="Object 14"/>
          <p:cNvGraphicFramePr>
            <a:graphicFrameLocks noChangeAspect="1"/>
          </p:cNvGraphicFramePr>
          <p:nvPr/>
        </p:nvGraphicFramePr>
        <p:xfrm>
          <a:off x="1042988" y="6165850"/>
          <a:ext cx="12144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57200" imgH="165100" progId="Equation.3">
                  <p:embed/>
                </p:oleObj>
              </mc:Choice>
              <mc:Fallback>
                <p:oleObj r:id="rId8" imgW="457200" imgH="1651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2988" y="6165850"/>
                        <a:ext cx="1214437" cy="388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3" name="Group 48"/>
          <p:cNvGrpSpPr/>
          <p:nvPr/>
        </p:nvGrpSpPr>
        <p:grpSpPr>
          <a:xfrm>
            <a:off x="1785938" y="4654550"/>
            <a:ext cx="4870450" cy="793750"/>
            <a:chOff x="2692" y="1688"/>
            <a:chExt cx="3068" cy="500"/>
          </a:xfrm>
        </p:grpSpPr>
        <p:sp>
          <p:nvSpPr>
            <p:cNvPr id="8204" name="Line 24"/>
            <p:cNvSpPr/>
            <p:nvPr/>
          </p:nvSpPr>
          <p:spPr>
            <a:xfrm flipV="1">
              <a:off x="3108" y="2176"/>
              <a:ext cx="2348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" name="Line 25"/>
            <p:cNvSpPr/>
            <p:nvPr/>
          </p:nvSpPr>
          <p:spPr>
            <a:xfrm>
              <a:off x="3859" y="2184"/>
              <a:ext cx="24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06" name="Line 26"/>
            <p:cNvSpPr/>
            <p:nvPr/>
          </p:nvSpPr>
          <p:spPr>
            <a:xfrm flipV="1">
              <a:off x="2692" y="218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207" name="Line 27"/>
            <p:cNvSpPr/>
            <p:nvPr/>
          </p:nvSpPr>
          <p:spPr>
            <a:xfrm flipV="1">
              <a:off x="5184" y="2187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208" name="Object 28"/>
            <p:cNvGraphicFramePr>
              <a:graphicFrameLocks noChangeAspect="1"/>
            </p:cNvGraphicFramePr>
            <p:nvPr/>
          </p:nvGraphicFramePr>
          <p:xfrm>
            <a:off x="4287" y="1688"/>
            <a:ext cx="17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152400" progId="Equation.3">
                    <p:embed/>
                  </p:oleObj>
                </mc:Choice>
                <mc:Fallback>
                  <p:oleObj r:id="rId10" imgW="152400" imgH="1524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287" y="1688"/>
                          <a:ext cx="176" cy="1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9" name="Oval 30"/>
            <p:cNvSpPr/>
            <p:nvPr/>
          </p:nvSpPr>
          <p:spPr>
            <a:xfrm>
              <a:off x="4174" y="1747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10" name="Line 32"/>
            <p:cNvSpPr/>
            <p:nvPr/>
          </p:nvSpPr>
          <p:spPr>
            <a:xfrm flipH="1" flipV="1">
              <a:off x="4214" y="1807"/>
              <a:ext cx="6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211" name="Object 33"/>
            <p:cNvGraphicFramePr>
              <a:graphicFrameLocks noChangeAspect="1"/>
            </p:cNvGraphicFramePr>
            <p:nvPr/>
          </p:nvGraphicFramePr>
          <p:xfrm>
            <a:off x="4261" y="1895"/>
            <a:ext cx="147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27000" imgH="139700" progId="Equation.3">
                    <p:embed/>
                  </p:oleObj>
                </mc:Choice>
                <mc:Fallback>
                  <p:oleObj r:id="rId12" imgW="127000" imgH="1397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261" y="1895"/>
                          <a:ext cx="147" cy="1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12" name="Group 47"/>
          <p:cNvGrpSpPr/>
          <p:nvPr/>
        </p:nvGrpSpPr>
        <p:grpSpPr>
          <a:xfrm>
            <a:off x="4319588" y="2387600"/>
            <a:ext cx="3646487" cy="844550"/>
            <a:chOff x="3463" y="690"/>
            <a:chExt cx="2297" cy="532"/>
          </a:xfrm>
        </p:grpSpPr>
        <p:sp>
          <p:nvSpPr>
            <p:cNvPr id="8213" name="Line 15"/>
            <p:cNvSpPr/>
            <p:nvPr/>
          </p:nvSpPr>
          <p:spPr>
            <a:xfrm>
              <a:off x="3463" y="1188"/>
              <a:ext cx="19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14" name="Oval 16"/>
            <p:cNvSpPr/>
            <p:nvPr/>
          </p:nvSpPr>
          <p:spPr>
            <a:xfrm>
              <a:off x="4112" y="766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8215" name="Object 17"/>
            <p:cNvGraphicFramePr>
              <a:graphicFrameLocks noChangeAspect="1"/>
            </p:cNvGraphicFramePr>
            <p:nvPr/>
          </p:nvGraphicFramePr>
          <p:xfrm>
            <a:off x="4239" y="690"/>
            <a:ext cx="17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52400" imgH="152400" progId="Equation.3">
                    <p:embed/>
                  </p:oleObj>
                </mc:Choice>
                <mc:Fallback>
                  <p:oleObj r:id="rId14" imgW="152400" imgH="1524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239" y="690"/>
                          <a:ext cx="176" cy="1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Line 18"/>
            <p:cNvSpPr/>
            <p:nvPr/>
          </p:nvSpPr>
          <p:spPr>
            <a:xfrm flipV="1">
              <a:off x="3492" y="809"/>
              <a:ext cx="642" cy="3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17" name="Line 19"/>
            <p:cNvSpPr/>
            <p:nvPr/>
          </p:nvSpPr>
          <p:spPr>
            <a:xfrm flipH="1" flipV="1">
              <a:off x="4137" y="798"/>
              <a:ext cx="1283" cy="3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18" name="Line 20"/>
            <p:cNvSpPr/>
            <p:nvPr/>
          </p:nvSpPr>
          <p:spPr>
            <a:xfrm>
              <a:off x="3878" y="1181"/>
              <a:ext cx="24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8219" name="Object 21"/>
            <p:cNvGraphicFramePr>
              <a:graphicFrameLocks noChangeAspect="1"/>
            </p:cNvGraphicFramePr>
            <p:nvPr/>
          </p:nvGraphicFramePr>
          <p:xfrm>
            <a:off x="3707" y="984"/>
            <a:ext cx="14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2400" imgH="215900" progId="Equation.3">
                    <p:embed/>
                  </p:oleObj>
                </mc:Choice>
                <mc:Fallback>
                  <p:oleObj r:id="rId16" imgW="152400" imgH="2159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707" y="984"/>
                          <a:ext cx="147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0" name="Object 22"/>
            <p:cNvGraphicFramePr>
              <a:graphicFrameLocks noChangeAspect="1"/>
            </p:cNvGraphicFramePr>
            <p:nvPr/>
          </p:nvGraphicFramePr>
          <p:xfrm>
            <a:off x="5367" y="990"/>
            <a:ext cx="15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65100" imgH="241300" progId="Equation.DSMT4">
                    <p:embed/>
                  </p:oleObj>
                </mc:Choice>
                <mc:Fallback>
                  <p:oleObj r:id="rId18" imgW="165100" imgH="2413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367" y="990"/>
                          <a:ext cx="159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1" name="Line 23"/>
            <p:cNvSpPr/>
            <p:nvPr/>
          </p:nvSpPr>
          <p:spPr>
            <a:xfrm flipV="1">
              <a:off x="5184" y="1192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222" name="Line 31"/>
            <p:cNvSpPr/>
            <p:nvPr/>
          </p:nvSpPr>
          <p:spPr>
            <a:xfrm flipH="1" flipV="1">
              <a:off x="4130" y="790"/>
              <a:ext cx="6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223" name="Object 34"/>
            <p:cNvGraphicFramePr>
              <a:graphicFrameLocks noChangeAspect="1"/>
            </p:cNvGraphicFramePr>
            <p:nvPr/>
          </p:nvGraphicFramePr>
          <p:xfrm>
            <a:off x="4141" y="878"/>
            <a:ext cx="147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27000" imgH="139700" progId="Equation.3">
                    <p:embed/>
                  </p:oleObj>
                </mc:Choice>
                <mc:Fallback>
                  <p:oleObj r:id="rId20" imgW="127000" imgH="1397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141" y="878"/>
                          <a:ext cx="147" cy="1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24" name="Group 50"/>
          <p:cNvGrpSpPr/>
          <p:nvPr/>
        </p:nvGrpSpPr>
        <p:grpSpPr>
          <a:xfrm>
            <a:off x="4981575" y="5715000"/>
            <a:ext cx="3351213" cy="481013"/>
            <a:chOff x="3305" y="3483"/>
            <a:chExt cx="2111" cy="303"/>
          </a:xfrm>
        </p:grpSpPr>
        <p:sp>
          <p:nvSpPr>
            <p:cNvPr id="8225" name="Line 41"/>
            <p:cNvSpPr/>
            <p:nvPr/>
          </p:nvSpPr>
          <p:spPr>
            <a:xfrm flipV="1">
              <a:off x="3305" y="3766"/>
              <a:ext cx="155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26" name="Line 42"/>
            <p:cNvSpPr/>
            <p:nvPr/>
          </p:nvSpPr>
          <p:spPr>
            <a:xfrm>
              <a:off x="4056" y="3767"/>
              <a:ext cx="24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8227" name="Object 43"/>
            <p:cNvGraphicFramePr>
              <a:graphicFrameLocks noChangeAspect="1"/>
            </p:cNvGraphicFramePr>
            <p:nvPr/>
          </p:nvGraphicFramePr>
          <p:xfrm>
            <a:off x="5240" y="3483"/>
            <a:ext cx="17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52400" imgH="152400" progId="Equation.3">
                    <p:embed/>
                  </p:oleObj>
                </mc:Choice>
                <mc:Fallback>
                  <p:oleObj r:id="rId22" imgW="152400" imgH="1524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240" y="3483"/>
                          <a:ext cx="176" cy="1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8" name="Oval 44"/>
            <p:cNvSpPr/>
            <p:nvPr/>
          </p:nvSpPr>
          <p:spPr>
            <a:xfrm>
              <a:off x="5316" y="3730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" name="Group 54"/>
          <p:cNvGrpSpPr/>
          <p:nvPr/>
        </p:nvGrpSpPr>
        <p:grpSpPr>
          <a:xfrm>
            <a:off x="6942138" y="3381375"/>
            <a:ext cx="1909762" cy="2000250"/>
            <a:chOff x="3742" y="1162"/>
            <a:chExt cx="1776" cy="2177"/>
          </a:xfrm>
        </p:grpSpPr>
        <p:sp>
          <p:nvSpPr>
            <p:cNvPr id="8230" name="Rectangle 55"/>
            <p:cNvSpPr/>
            <p:nvPr/>
          </p:nvSpPr>
          <p:spPr>
            <a:xfrm>
              <a:off x="4536" y="2233"/>
              <a:ext cx="59" cy="1106"/>
            </a:xfrm>
            <a:prstGeom prst="rect">
              <a:avLst/>
            </a:prstGeom>
            <a:gradFill rotWithShape="1">
              <a:gsLst>
                <a:gs pos="0">
                  <a:srgbClr val="566B80"/>
                </a:gs>
                <a:gs pos="50000">
                  <a:srgbClr val="A3B2C1"/>
                </a:gs>
                <a:gs pos="100000">
                  <a:srgbClr val="566B80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31" name="AutoShape 56"/>
            <p:cNvSpPr/>
            <p:nvPr/>
          </p:nvSpPr>
          <p:spPr>
            <a:xfrm>
              <a:off x="3742" y="1983"/>
              <a:ext cx="1776" cy="565"/>
            </a:xfrm>
            <a:prstGeom prst="parallelogram">
              <a:avLst>
                <a:gd name="adj" fmla="val 64731"/>
              </a:avLst>
            </a:prstGeom>
            <a:solidFill>
              <a:srgbClr val="CC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32" name="Oval 57"/>
            <p:cNvSpPr/>
            <p:nvPr/>
          </p:nvSpPr>
          <p:spPr>
            <a:xfrm>
              <a:off x="4042" y="2054"/>
              <a:ext cx="1176" cy="387"/>
            </a:xfrm>
            <a:prstGeom prst="ellipse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33" name="Oval 58"/>
            <p:cNvSpPr/>
            <p:nvPr/>
          </p:nvSpPr>
          <p:spPr>
            <a:xfrm>
              <a:off x="4158" y="2126"/>
              <a:ext cx="921" cy="244"/>
            </a:xfrm>
            <a:prstGeom prst="ellipse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34" name="Oval 59"/>
            <p:cNvSpPr/>
            <p:nvPr/>
          </p:nvSpPr>
          <p:spPr>
            <a:xfrm>
              <a:off x="4274" y="2162"/>
              <a:ext cx="689" cy="172"/>
            </a:xfrm>
            <a:prstGeom prst="ellipse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35" name="Oval 60"/>
            <p:cNvSpPr/>
            <p:nvPr/>
          </p:nvSpPr>
          <p:spPr>
            <a:xfrm>
              <a:off x="4412" y="2233"/>
              <a:ext cx="413" cy="66"/>
            </a:xfrm>
            <a:prstGeom prst="ellipse">
              <a:avLst/>
            </a:pr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36" name="Arc 61"/>
            <p:cNvSpPr/>
            <p:nvPr/>
          </p:nvSpPr>
          <p:spPr>
            <a:xfrm>
              <a:off x="4417" y="2159"/>
              <a:ext cx="549" cy="1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4194" h="43200" fill="none">
                  <a:moveTo>
                    <a:pt x="-1" y="4051"/>
                  </a:moveTo>
                  <a:cubicBezTo>
                    <a:pt x="3670" y="1417"/>
                    <a:pt x="8075" y="-1"/>
                    <a:pt x="12594" y="0"/>
                  </a:cubicBezTo>
                  <a:cubicBezTo>
                    <a:pt x="24523" y="0"/>
                    <a:pt x="34194" y="9670"/>
                    <a:pt x="34194" y="21600"/>
                  </a:cubicBezTo>
                  <a:cubicBezTo>
                    <a:pt x="34194" y="33529"/>
                    <a:pt x="24523" y="43199"/>
                    <a:pt x="12594" y="43200"/>
                  </a:cubicBezTo>
                </a:path>
                <a:path w="34194" h="43200" stroke="0">
                  <a:moveTo>
                    <a:pt x="-1" y="4051"/>
                  </a:moveTo>
                  <a:cubicBezTo>
                    <a:pt x="3670" y="1417"/>
                    <a:pt x="8075" y="-1"/>
                    <a:pt x="12594" y="0"/>
                  </a:cubicBezTo>
                  <a:cubicBezTo>
                    <a:pt x="24523" y="0"/>
                    <a:pt x="34194" y="9670"/>
                    <a:pt x="34194" y="21600"/>
                  </a:cubicBezTo>
                  <a:cubicBezTo>
                    <a:pt x="34194" y="33529"/>
                    <a:pt x="24523" y="43199"/>
                    <a:pt x="12594" y="43200"/>
                  </a:cubicBezTo>
                  <a:lnTo>
                    <a:pt x="12594" y="21600"/>
                  </a:lnTo>
                  <a:lnTo>
                    <a:pt x="-1" y="4051"/>
                  </a:lnTo>
                  <a:close/>
                </a:path>
              </a:pathLst>
            </a:custGeom>
            <a:noFill/>
            <a:ln w="12700" cap="rnd" cmpd="sng">
              <a:solidFill>
                <a:srgbClr val="CC0000"/>
              </a:solidFill>
              <a:prstDash val="solid"/>
              <a:round/>
              <a:headEnd type="stealth" w="med" len="lg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Arc 62"/>
            <p:cNvSpPr/>
            <p:nvPr/>
          </p:nvSpPr>
          <p:spPr>
            <a:xfrm>
              <a:off x="4339" y="2123"/>
              <a:ext cx="741" cy="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3663" h="43200" fill="none">
                  <a:moveTo>
                    <a:pt x="0" y="3682"/>
                  </a:moveTo>
                  <a:cubicBezTo>
                    <a:pt x="3565" y="1282"/>
                    <a:pt x="7765" y="-1"/>
                    <a:pt x="12063" y="0"/>
                  </a:cubicBezTo>
                  <a:cubicBezTo>
                    <a:pt x="23992" y="0"/>
                    <a:pt x="33663" y="9670"/>
                    <a:pt x="33663" y="21600"/>
                  </a:cubicBezTo>
                  <a:cubicBezTo>
                    <a:pt x="33663" y="33529"/>
                    <a:pt x="23992" y="43200"/>
                    <a:pt x="12063" y="43200"/>
                  </a:cubicBezTo>
                  <a:cubicBezTo>
                    <a:pt x="12055" y="43200"/>
                    <a:pt x="12048" y="43199"/>
                    <a:pt x="12041" y="43199"/>
                  </a:cubicBezTo>
                </a:path>
                <a:path w="33663" h="43200" stroke="0">
                  <a:moveTo>
                    <a:pt x="0" y="3682"/>
                  </a:moveTo>
                  <a:cubicBezTo>
                    <a:pt x="3565" y="1282"/>
                    <a:pt x="7765" y="-1"/>
                    <a:pt x="12063" y="0"/>
                  </a:cubicBezTo>
                  <a:cubicBezTo>
                    <a:pt x="23992" y="0"/>
                    <a:pt x="33663" y="9670"/>
                    <a:pt x="33663" y="21600"/>
                  </a:cubicBezTo>
                  <a:cubicBezTo>
                    <a:pt x="33663" y="33529"/>
                    <a:pt x="23992" y="43200"/>
                    <a:pt x="12063" y="43200"/>
                  </a:cubicBezTo>
                  <a:cubicBezTo>
                    <a:pt x="12055" y="43200"/>
                    <a:pt x="12048" y="43199"/>
                    <a:pt x="12041" y="43199"/>
                  </a:cubicBezTo>
                  <a:lnTo>
                    <a:pt x="12063" y="21600"/>
                  </a:lnTo>
                  <a:lnTo>
                    <a:pt x="0" y="3682"/>
                  </a:lnTo>
                  <a:close/>
                </a:path>
              </a:pathLst>
            </a:custGeom>
            <a:noFill/>
            <a:ln w="12700" cap="rnd" cmpd="sng">
              <a:solidFill>
                <a:srgbClr val="CC0000"/>
              </a:solidFill>
              <a:prstDash val="solid"/>
              <a:round/>
              <a:headEnd type="stealth" w="med" len="lg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Arc 63"/>
            <p:cNvSpPr/>
            <p:nvPr/>
          </p:nvSpPr>
          <p:spPr>
            <a:xfrm>
              <a:off x="4192" y="2053"/>
              <a:ext cx="561" cy="1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0089" h="21600" fill="none">
                  <a:moveTo>
                    <a:pt x="-1" y="7286"/>
                  </a:moveTo>
                  <a:cubicBezTo>
                    <a:pt x="4099" y="2653"/>
                    <a:pt x="9989" y="-1"/>
                    <a:pt x="16177" y="0"/>
                  </a:cubicBezTo>
                  <a:cubicBezTo>
                    <a:pt x="17489" y="0"/>
                    <a:pt x="18798" y="119"/>
                    <a:pt x="20088" y="357"/>
                  </a:cubicBezTo>
                </a:path>
                <a:path w="20089" h="21600" stroke="0">
                  <a:moveTo>
                    <a:pt x="-1" y="7286"/>
                  </a:moveTo>
                  <a:cubicBezTo>
                    <a:pt x="4099" y="2653"/>
                    <a:pt x="9989" y="-1"/>
                    <a:pt x="16177" y="0"/>
                  </a:cubicBezTo>
                  <a:cubicBezTo>
                    <a:pt x="17489" y="0"/>
                    <a:pt x="18798" y="119"/>
                    <a:pt x="20088" y="357"/>
                  </a:cubicBezTo>
                  <a:lnTo>
                    <a:pt x="16177" y="21600"/>
                  </a:lnTo>
                  <a:lnTo>
                    <a:pt x="-1" y="7286"/>
                  </a:lnTo>
                  <a:close/>
                </a:path>
              </a:pathLst>
            </a:custGeom>
            <a:noFill/>
            <a:ln w="12700" cap="rnd" cmpd="sng">
              <a:solidFill>
                <a:srgbClr val="CC0000"/>
              </a:solidFill>
              <a:prstDash val="solid"/>
              <a:round/>
              <a:headEnd type="stealth" w="med" len="lg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Arc 64"/>
            <p:cNvSpPr/>
            <p:nvPr/>
          </p:nvSpPr>
          <p:spPr>
            <a:xfrm>
              <a:off x="4536" y="2231"/>
              <a:ext cx="171" cy="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4573" h="21600" fill="none">
                  <a:moveTo>
                    <a:pt x="0" y="1985"/>
                  </a:moveTo>
                  <a:cubicBezTo>
                    <a:pt x="2836" y="677"/>
                    <a:pt x="5921" y="-1"/>
                    <a:pt x="9045" y="0"/>
                  </a:cubicBezTo>
                  <a:cubicBezTo>
                    <a:pt x="10910" y="0"/>
                    <a:pt x="12769" y="241"/>
                    <a:pt x="14572" y="719"/>
                  </a:cubicBezTo>
                </a:path>
                <a:path w="14573" h="21600" stroke="0">
                  <a:moveTo>
                    <a:pt x="0" y="1985"/>
                  </a:moveTo>
                  <a:cubicBezTo>
                    <a:pt x="2836" y="677"/>
                    <a:pt x="5921" y="-1"/>
                    <a:pt x="9045" y="0"/>
                  </a:cubicBezTo>
                  <a:cubicBezTo>
                    <a:pt x="10910" y="0"/>
                    <a:pt x="12769" y="241"/>
                    <a:pt x="14572" y="719"/>
                  </a:cubicBezTo>
                  <a:lnTo>
                    <a:pt x="9045" y="21600"/>
                  </a:lnTo>
                  <a:lnTo>
                    <a:pt x="0" y="1985"/>
                  </a:lnTo>
                  <a:close/>
                </a:path>
              </a:pathLst>
            </a:custGeom>
            <a:noFill/>
            <a:ln w="12700" cap="rnd" cmpd="sng">
              <a:solidFill>
                <a:srgbClr val="CC0000"/>
              </a:solidFill>
              <a:prstDash val="solid"/>
              <a:round/>
              <a:headEnd type="stealth" w="med" len="lg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Rectangle 65"/>
            <p:cNvSpPr/>
            <p:nvPr/>
          </p:nvSpPr>
          <p:spPr>
            <a:xfrm>
              <a:off x="4536" y="1162"/>
              <a:ext cx="59" cy="1100"/>
            </a:xfrm>
            <a:prstGeom prst="rect">
              <a:avLst/>
            </a:prstGeom>
            <a:solidFill>
              <a:srgbClr val="A3B2C1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8241" name="Line 66"/>
            <p:cNvSpPr/>
            <p:nvPr/>
          </p:nvSpPr>
          <p:spPr>
            <a:xfrm>
              <a:off x="4665" y="1374"/>
              <a:ext cx="0" cy="50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stealth" w="med" len="lg"/>
              <a:tailEnd type="none" w="sm" len="sm"/>
            </a:ln>
          </p:spPr>
        </p:sp>
        <p:sp>
          <p:nvSpPr>
            <p:cNvPr id="8242" name="Rectangle 67"/>
            <p:cNvSpPr/>
            <p:nvPr/>
          </p:nvSpPr>
          <p:spPr>
            <a:xfrm>
              <a:off x="4825" y="1373"/>
              <a:ext cx="212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</p:grpSp>
      <p:sp>
        <p:nvSpPr>
          <p:cNvPr id="8243" name="文本框 3"/>
          <p:cNvSpPr txBox="1"/>
          <p:nvPr/>
        </p:nvSpPr>
        <p:spPr>
          <a:xfrm>
            <a:off x="4098925" y="3429000"/>
            <a:ext cx="3140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方向：右手螺旋法则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/>
          <p:nvPr/>
        </p:nvSpPr>
        <p:spPr>
          <a:xfrm>
            <a:off x="250825" y="404813"/>
            <a:ext cx="42560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dirty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圆弧电流中心的磁场</a:t>
            </a:r>
          </a:p>
        </p:txBody>
      </p:sp>
      <p:grpSp>
        <p:nvGrpSpPr>
          <p:cNvPr id="3" name="Group 111"/>
          <p:cNvGrpSpPr>
            <a:grpSpLocks noChangeAspect="1"/>
          </p:cNvGrpSpPr>
          <p:nvPr/>
        </p:nvGrpSpPr>
        <p:grpSpPr>
          <a:xfrm>
            <a:off x="971550" y="1130300"/>
            <a:ext cx="2360613" cy="1587500"/>
            <a:chOff x="4640" y="3515"/>
            <a:chExt cx="719" cy="483"/>
          </a:xfrm>
        </p:grpSpPr>
        <p:grpSp>
          <p:nvGrpSpPr>
            <p:cNvPr id="9219" name="Group 108"/>
            <p:cNvGrpSpPr/>
            <p:nvPr/>
          </p:nvGrpSpPr>
          <p:grpSpPr>
            <a:xfrm>
              <a:off x="4640" y="3515"/>
              <a:ext cx="719" cy="483"/>
              <a:chOff x="4640" y="3515"/>
              <a:chExt cx="719" cy="483"/>
            </a:xfrm>
          </p:grpSpPr>
          <p:graphicFrame>
            <p:nvGraphicFramePr>
              <p:cNvPr id="9220" name="Object 85"/>
              <p:cNvGraphicFramePr>
                <a:graphicFrameLocks noChangeAspect="1"/>
              </p:cNvGraphicFramePr>
              <p:nvPr/>
            </p:nvGraphicFramePr>
            <p:xfrm>
              <a:off x="4640" y="3515"/>
              <a:ext cx="719" cy="4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2200275" imgH="1443355" progId="Visio.Drawing.11">
                      <p:embed/>
                    </p:oleObj>
                  </mc:Choice>
                  <mc:Fallback>
                    <p:oleObj r:id="rId2" imgW="2200275" imgH="1443355" progId="Visio.Drawing.11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4640" y="3515"/>
                            <a:ext cx="719" cy="47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1" name="Oval 87"/>
              <p:cNvSpPr/>
              <p:nvPr/>
            </p:nvSpPr>
            <p:spPr>
              <a:xfrm>
                <a:off x="4877" y="3941"/>
                <a:ext cx="38" cy="3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</a:pPr>
                <a:endParaRPr lang="zh-CN" altLang="en-US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9222" name="Group 92"/>
              <p:cNvGrpSpPr/>
              <p:nvPr/>
            </p:nvGrpSpPr>
            <p:grpSpPr>
              <a:xfrm>
                <a:off x="4695" y="3885"/>
                <a:ext cx="143" cy="113"/>
                <a:chOff x="3567" y="3580"/>
                <a:chExt cx="313" cy="284"/>
              </a:xfrm>
            </p:grpSpPr>
            <p:sp>
              <p:nvSpPr>
                <p:cNvPr id="9223" name="WordArt 93"/>
                <p:cNvSpPr>
                  <a:spLocks noTextEdit="1"/>
                </p:cNvSpPr>
                <p:nvPr/>
              </p:nvSpPr>
              <p:spPr>
                <a:xfrm>
                  <a:off x="3808" y="3776"/>
                  <a:ext cx="72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9224" name="WordArt 94"/>
                <p:cNvSpPr>
                  <a:spLocks noTextEdit="1"/>
                </p:cNvSpPr>
                <p:nvPr/>
              </p:nvSpPr>
              <p:spPr>
                <a:xfrm>
                  <a:off x="3567" y="3580"/>
                  <a:ext cx="289" cy="20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b="1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  <p:sp>
            <p:nvSpPr>
              <p:cNvPr id="9225" name="WordArt 95"/>
              <p:cNvSpPr>
                <a:spLocks noTextEdit="1"/>
              </p:cNvSpPr>
              <p:nvPr/>
            </p:nvSpPr>
            <p:spPr>
              <a:xfrm>
                <a:off x="5002" y="3819"/>
                <a:ext cx="109" cy="11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9226" name="WordArt 98"/>
              <p:cNvSpPr>
                <a:spLocks noTextEdit="1"/>
              </p:cNvSpPr>
              <p:nvPr/>
            </p:nvSpPr>
            <p:spPr>
              <a:xfrm>
                <a:off x="5210" y="3547"/>
                <a:ext cx="85" cy="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9227" name="Line 105"/>
              <p:cNvSpPr/>
              <p:nvPr/>
            </p:nvSpPr>
            <p:spPr>
              <a:xfrm flipH="1" flipV="1">
                <a:off x="5083" y="3569"/>
                <a:ext cx="138" cy="9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stealth" w="med" len="lg"/>
              </a:ln>
            </p:spPr>
          </p:sp>
        </p:grpSp>
        <p:graphicFrame>
          <p:nvGraphicFramePr>
            <p:cNvPr id="9228" name="Object 110"/>
            <p:cNvGraphicFramePr>
              <a:graphicFrameLocks noChangeAspect="1"/>
            </p:cNvGraphicFramePr>
            <p:nvPr/>
          </p:nvGraphicFramePr>
          <p:xfrm>
            <a:off x="4856" y="3748"/>
            <a:ext cx="14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7000" imgH="177165" progId="Equation.3">
                    <p:embed/>
                  </p:oleObj>
                </mc:Choice>
                <mc:Fallback>
                  <p:oleObj r:id="rId4" imgW="127000" imgH="17716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56" y="3748"/>
                          <a:ext cx="140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2220" name="Object 76"/>
          <p:cNvGraphicFramePr>
            <a:graphicFrameLocks noChangeAspect="1"/>
          </p:cNvGraphicFramePr>
          <p:nvPr/>
        </p:nvGraphicFramePr>
        <p:xfrm>
          <a:off x="4195763" y="1130300"/>
          <a:ext cx="19494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1365" imgH="419100" progId="Equation.DSMT4">
                  <p:embed/>
                </p:oleObj>
              </mc:Choice>
              <mc:Fallback>
                <p:oleObj r:id="rId6" imgW="761365" imgH="4191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5763" y="1130300"/>
                        <a:ext cx="194945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/>
        </p:nvGraphicFramePr>
        <p:xfrm>
          <a:off x="3779838" y="3025775"/>
          <a:ext cx="19685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96900" imgH="393700" progId="Equation.3">
                  <p:embed/>
                </p:oleObj>
              </mc:Choice>
              <mc:Fallback>
                <p:oleObj r:id="rId8" imgW="596900" imgH="3937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79838" y="3025775"/>
                        <a:ext cx="1968500" cy="1136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3"/>
          <p:cNvSpPr txBox="1"/>
          <p:nvPr/>
        </p:nvSpPr>
        <p:spPr>
          <a:xfrm>
            <a:off x="438150" y="3357563"/>
            <a:ext cx="34258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圆电流中心的磁场</a:t>
            </a:r>
          </a:p>
        </p:txBody>
      </p:sp>
      <p:sp>
        <p:nvSpPr>
          <p:cNvPr id="18" name="Text Box 7"/>
          <p:cNvSpPr txBox="1"/>
          <p:nvPr/>
        </p:nvSpPr>
        <p:spPr>
          <a:xfrm>
            <a:off x="438150" y="4675188"/>
            <a:ext cx="37195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半个圆电流中心的磁场</a:t>
            </a:r>
          </a:p>
        </p:txBody>
      </p:sp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4140200" y="4399915"/>
          <a:ext cx="1890395" cy="105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73100" imgH="419100" progId="Equation.DSMT4">
                  <p:embed/>
                </p:oleObj>
              </mc:Choice>
              <mc:Fallback>
                <p:oleObj r:id="rId10" imgW="673100" imgH="4191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40200" y="4399915"/>
                        <a:ext cx="1890395" cy="10598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06"/>
          <p:cNvGrpSpPr/>
          <p:nvPr/>
        </p:nvGrpSpPr>
        <p:grpSpPr>
          <a:xfrm>
            <a:off x="6137275" y="2970213"/>
            <a:ext cx="1084263" cy="1217612"/>
            <a:chOff x="4517" y="1993"/>
            <a:chExt cx="683" cy="767"/>
          </a:xfrm>
        </p:grpSpPr>
        <p:sp>
          <p:nvSpPr>
            <p:cNvPr id="9235" name="Oval 27"/>
            <p:cNvSpPr/>
            <p:nvPr/>
          </p:nvSpPr>
          <p:spPr>
            <a:xfrm>
              <a:off x="4517" y="2077"/>
              <a:ext cx="683" cy="68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9236" name="Line 28"/>
            <p:cNvSpPr/>
            <p:nvPr/>
          </p:nvSpPr>
          <p:spPr>
            <a:xfrm flipV="1">
              <a:off x="4830" y="2210"/>
              <a:ext cx="264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37" name="Oval 29"/>
            <p:cNvSpPr/>
            <p:nvPr/>
          </p:nvSpPr>
          <p:spPr>
            <a:xfrm>
              <a:off x="4797" y="2399"/>
              <a:ext cx="43" cy="4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9238" name="Line 30"/>
            <p:cNvSpPr/>
            <p:nvPr/>
          </p:nvSpPr>
          <p:spPr>
            <a:xfrm flipH="1">
              <a:off x="4749" y="2077"/>
              <a:ext cx="16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9239" name="Line 31"/>
            <p:cNvSpPr/>
            <p:nvPr/>
          </p:nvSpPr>
          <p:spPr>
            <a:xfrm>
              <a:off x="4764" y="2757"/>
              <a:ext cx="16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9240" name="WordArt 32"/>
            <p:cNvSpPr>
              <a:spLocks noTextEdit="1"/>
            </p:cNvSpPr>
            <p:nvPr/>
          </p:nvSpPr>
          <p:spPr>
            <a:xfrm>
              <a:off x="4968" y="2339"/>
              <a:ext cx="109" cy="1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9241" name="WordArt 33"/>
            <p:cNvSpPr>
              <a:spLocks noTextEdit="1"/>
            </p:cNvSpPr>
            <p:nvPr/>
          </p:nvSpPr>
          <p:spPr>
            <a:xfrm>
              <a:off x="4666" y="2390"/>
              <a:ext cx="80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9242" name="Group 34"/>
            <p:cNvGrpSpPr/>
            <p:nvPr/>
          </p:nvGrpSpPr>
          <p:grpSpPr>
            <a:xfrm>
              <a:off x="4722" y="2470"/>
              <a:ext cx="178" cy="161"/>
              <a:chOff x="3567" y="3580"/>
              <a:chExt cx="313" cy="284"/>
            </a:xfrm>
          </p:grpSpPr>
          <p:sp>
            <p:nvSpPr>
              <p:cNvPr id="9243" name="WordArt 35"/>
              <p:cNvSpPr>
                <a:spLocks noTextEdit="1"/>
              </p:cNvSpPr>
              <p:nvPr/>
            </p:nvSpPr>
            <p:spPr>
              <a:xfrm>
                <a:off x="3808" y="3776"/>
                <a:ext cx="72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9244" name="WordArt 36"/>
              <p:cNvSpPr>
                <a:spLocks noTextEdit="1"/>
              </p:cNvSpPr>
              <p:nvPr/>
            </p:nvSpPr>
            <p:spPr>
              <a:xfrm>
                <a:off x="3567" y="3580"/>
                <a:ext cx="289" cy="2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9245" name="WordArt 97"/>
            <p:cNvSpPr>
              <a:spLocks noTextEdit="1"/>
            </p:cNvSpPr>
            <p:nvPr/>
          </p:nvSpPr>
          <p:spPr>
            <a:xfrm>
              <a:off x="4970" y="1993"/>
              <a:ext cx="85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</a:p>
          </p:txBody>
        </p:sp>
      </p:grpSp>
      <p:grpSp>
        <p:nvGrpSpPr>
          <p:cNvPr id="8" name="Group 107"/>
          <p:cNvGrpSpPr/>
          <p:nvPr/>
        </p:nvGrpSpPr>
        <p:grpSpPr>
          <a:xfrm>
            <a:off x="6432550" y="4551680"/>
            <a:ext cx="1431925" cy="852170"/>
            <a:chOff x="4552" y="2840"/>
            <a:chExt cx="810" cy="486"/>
          </a:xfrm>
        </p:grpSpPr>
        <p:graphicFrame>
          <p:nvGraphicFramePr>
            <p:cNvPr id="9247" name="Object 84"/>
            <p:cNvGraphicFramePr>
              <a:graphicFrameLocks noChangeAspect="1"/>
            </p:cNvGraphicFramePr>
            <p:nvPr/>
          </p:nvGraphicFramePr>
          <p:xfrm>
            <a:off x="4552" y="2891"/>
            <a:ext cx="810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800350" imgH="1500505" progId="Visio.Drawing.11">
                    <p:embed/>
                  </p:oleObj>
                </mc:Choice>
                <mc:Fallback>
                  <p:oleObj r:id="rId12" imgW="2800350" imgH="1500505" progId="Visio.Drawing.11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552" y="2891"/>
                          <a:ext cx="810" cy="4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8" name="Oval 86"/>
            <p:cNvSpPr/>
            <p:nvPr/>
          </p:nvSpPr>
          <p:spPr>
            <a:xfrm>
              <a:off x="4926" y="3288"/>
              <a:ext cx="38" cy="3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9249" name="WordArt 88"/>
            <p:cNvSpPr>
              <a:spLocks noTextEdit="1"/>
            </p:cNvSpPr>
            <p:nvPr/>
          </p:nvSpPr>
          <p:spPr>
            <a:xfrm>
              <a:off x="5081" y="3166"/>
              <a:ext cx="109" cy="1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0000"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grpSp>
          <p:nvGrpSpPr>
            <p:cNvPr id="9250" name="Group 89"/>
            <p:cNvGrpSpPr/>
            <p:nvPr/>
          </p:nvGrpSpPr>
          <p:grpSpPr>
            <a:xfrm>
              <a:off x="4798" y="3154"/>
              <a:ext cx="143" cy="113"/>
              <a:chOff x="3567" y="3580"/>
              <a:chExt cx="313" cy="284"/>
            </a:xfrm>
          </p:grpSpPr>
          <p:sp>
            <p:nvSpPr>
              <p:cNvPr id="9251" name="WordArt 90"/>
              <p:cNvSpPr>
                <a:spLocks noTextEdit="1"/>
              </p:cNvSpPr>
              <p:nvPr/>
            </p:nvSpPr>
            <p:spPr>
              <a:xfrm>
                <a:off x="3808" y="3776"/>
                <a:ext cx="72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9252" name="WordArt 91"/>
              <p:cNvSpPr>
                <a:spLocks noTextEdit="1"/>
              </p:cNvSpPr>
              <p:nvPr/>
            </p:nvSpPr>
            <p:spPr>
              <a:xfrm>
                <a:off x="3567" y="3580"/>
                <a:ext cx="289" cy="2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 fontScale="40000"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9253" name="WordArt 96"/>
            <p:cNvSpPr>
              <a:spLocks noTextEdit="1"/>
            </p:cNvSpPr>
            <p:nvPr/>
          </p:nvSpPr>
          <p:spPr>
            <a:xfrm>
              <a:off x="5055" y="2840"/>
              <a:ext cx="85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254" name="Line 104"/>
            <p:cNvSpPr/>
            <p:nvPr/>
          </p:nvSpPr>
          <p:spPr>
            <a:xfrm flipH="1">
              <a:off x="4916" y="2928"/>
              <a:ext cx="13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stealth" w="med" len="lg"/>
            </a:ln>
          </p:spPr>
        </p:sp>
      </p:grpSp>
      <p:sp>
        <p:nvSpPr>
          <p:cNvPr id="9255" name="文本框 3"/>
          <p:cNvSpPr txBox="1"/>
          <p:nvPr/>
        </p:nvSpPr>
        <p:spPr>
          <a:xfrm>
            <a:off x="3995738" y="2205038"/>
            <a:ext cx="31384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方向：右手螺旋法则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图片 580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12180" y="764540"/>
            <a:ext cx="2552700" cy="24415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362" name="组合 10"/>
          <p:cNvGrpSpPr/>
          <p:nvPr/>
        </p:nvGrpSpPr>
        <p:grpSpPr>
          <a:xfrm>
            <a:off x="339725" y="332740"/>
            <a:ext cx="5546725" cy="3000375"/>
            <a:chOff x="736" y="4493"/>
            <a:chExt cx="8735" cy="4723"/>
          </a:xfrm>
        </p:grpSpPr>
        <p:sp>
          <p:nvSpPr>
            <p:cNvPr id="15363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736" y="4493"/>
              <a:ext cx="8735" cy="47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b="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讨论题</a:t>
              </a:r>
              <a:r>
                <a:rPr lang="en-US" altLang="zh-CN" sz="1800" b="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1800" b="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：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800" b="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电流</a:t>
              </a:r>
              <a:r>
                <a:rPr lang="en-US" altLang="zh-CN" sz="1800" b="0" i="1">
                  <a:latin typeface="Verdana" panose="020B0604030504040204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由长直导线1沿垂直</a:t>
              </a:r>
              <a:r>
                <a:rPr lang="en-US" altLang="zh-CN" sz="1800" b="0" i="1">
                  <a:latin typeface="Verdana" panose="020B0604030504040204" pitchFamily="34" charset="0"/>
                  <a:ea typeface="宋体" panose="02010600030101010101" pitchFamily="2" charset="-122"/>
                </a:rPr>
                <a:t>bc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边方向经</a:t>
              </a:r>
              <a:r>
                <a:rPr lang="en-US" altLang="zh-CN" sz="1800" b="0" i="1">
                  <a:latin typeface="Verdana" panose="020B060403050404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点流入由电阻均匀的导线构成的正三角形线框，再由</a:t>
              </a:r>
              <a:r>
                <a:rPr lang="en-US" altLang="zh-CN" sz="1800" b="0" i="1">
                  <a:latin typeface="Verdana" panose="020B0604030504040204" pitchFamily="34" charset="0"/>
                  <a:ea typeface="宋体" panose="02010600030101010101" pitchFamily="2" charset="-122"/>
                </a:rPr>
                <a:t>b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点流出，经长直导线2沿</a:t>
              </a:r>
              <a:r>
                <a:rPr lang="en-US" altLang="zh-CN" sz="1800" b="0" i="1">
                  <a:latin typeface="Verdana" panose="020B0604030504040204" pitchFamily="34" charset="0"/>
                  <a:ea typeface="宋体" panose="02010600030101010101" pitchFamily="2" charset="-122"/>
                </a:rPr>
                <a:t>cb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延长线方向返回电源(如图)。若载流直导线1、2和三角形框中的电流在框中心</a:t>
              </a:r>
              <a:r>
                <a:rPr lang="en-US" altLang="zh-CN" sz="1800" b="0" i="1">
                  <a:latin typeface="Verdana" panose="020B0604030504040204" pitchFamily="34" charset="0"/>
                  <a:ea typeface="宋体" panose="02010600030101010101" pitchFamily="2" charset="-122"/>
                </a:rPr>
                <a:t>O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点产生的磁感强度分别用   、  和    表示</a:t>
              </a:r>
              <a:r>
                <a:rPr lang="zh-CN" altLang="en-US" sz="1800" b="0">
                  <a:latin typeface="Verdana" panose="020B0604030504040204" pitchFamily="34" charset="0"/>
                  <a:ea typeface="宋体" panose="02010600030101010101" pitchFamily="2" charset="-122"/>
                </a:rPr>
                <a:t>。则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en-US" sz="1800" b="0">
                  <a:latin typeface="Verdana" panose="020B0604030504040204" pitchFamily="34" charset="0"/>
                  <a:ea typeface="宋体" panose="02010600030101010101" pitchFamily="2" charset="-122"/>
                </a:rPr>
                <a:t>、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0">
                  <a:latin typeface="Verdana" panose="020B0604030504040204" pitchFamily="34" charset="0"/>
                  <a:ea typeface="楷体_GB2312" pitchFamily="49" charset="-122"/>
                  <a:sym typeface="宋体" panose="02010600030101010101" pitchFamily="2" charset="-122"/>
                </a:rPr>
                <a:t>和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en-US" sz="1800" b="0">
                  <a:latin typeface="Verdana" panose="020B0604030504040204" pitchFamily="34" charset="0"/>
                  <a:ea typeface="宋体" panose="02010600030101010101" pitchFamily="2" charset="-122"/>
                </a:rPr>
                <a:t>各为多少？</a:t>
              </a:r>
              <a:r>
                <a:rPr lang="en-US" altLang="zh-CN" sz="1800" b="0" i="1">
                  <a:latin typeface="Verdana" panose="020B0604030504040204" pitchFamily="34" charset="0"/>
                  <a:ea typeface="宋体" panose="02010600030101010101" pitchFamily="2" charset="-122"/>
                </a:rPr>
                <a:t>O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点的磁感强度</a:t>
              </a:r>
              <a:r>
                <a:rPr lang="zh-CN" altLang="en-US" sz="1800" b="0">
                  <a:latin typeface="Verdana" panose="020B0604030504040204" pitchFamily="34" charset="0"/>
                  <a:ea typeface="宋体" panose="02010600030101010101" pitchFamily="2" charset="-122"/>
                </a:rPr>
                <a:t>为多少？</a:t>
              </a:r>
              <a:r>
                <a:rPr lang="en-US" altLang="zh-CN" sz="1800" b="0">
                  <a:latin typeface="Verdana" panose="020B060403050404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15364" name="对象 -2147482621"/>
            <p:cNvGraphicFramePr>
              <a:graphicFrameLocks noChangeAspect="1"/>
            </p:cNvGraphicFramePr>
            <p:nvPr>
              <p:custDataLst>
                <p:tags r:id="rId5"/>
              </p:custDataLst>
            </p:nvPr>
          </p:nvGraphicFramePr>
          <p:xfrm>
            <a:off x="3869" y="7995"/>
            <a:ext cx="347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77800" imgH="241300" progId="Equation.DSMT4">
                    <p:embed/>
                  </p:oleObj>
                </mc:Choice>
                <mc:Fallback>
                  <p:oleObj r:id="rId13" imgW="177800" imgH="241300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869" y="7995"/>
                          <a:ext cx="347" cy="4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5" name="对象 -2147482603"/>
            <p:cNvGraphicFramePr>
              <a:graphicFrameLocks noChangeAspect="1"/>
            </p:cNvGraphicFramePr>
            <p:nvPr>
              <p:custDataLst>
                <p:tags r:id="rId6"/>
              </p:custDataLst>
            </p:nvPr>
          </p:nvGraphicFramePr>
          <p:xfrm>
            <a:off x="4366" y="7994"/>
            <a:ext cx="343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77800" imgH="241300" progId="Equation.DSMT4">
                    <p:embed/>
                  </p:oleObj>
                </mc:Choice>
                <mc:Fallback>
                  <p:oleObj r:id="rId15" imgW="177800" imgH="2413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66" y="7994"/>
                          <a:ext cx="343" cy="4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对象 -2147482619"/>
            <p:cNvGraphicFramePr>
              <a:graphicFrameLocks noChangeAspect="1"/>
            </p:cNvGraphicFramePr>
            <p:nvPr>
              <p:custDataLst>
                <p:tags r:id="rId7"/>
              </p:custDataLst>
            </p:nvPr>
          </p:nvGraphicFramePr>
          <p:xfrm>
            <a:off x="5244" y="7994"/>
            <a:ext cx="341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77800" imgH="241300" progId="Equation.DSMT4">
                    <p:embed/>
                  </p:oleObj>
                </mc:Choice>
                <mc:Fallback>
                  <p:oleObj r:id="rId17" imgW="177800" imgH="241300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244" y="7994"/>
                          <a:ext cx="341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对象 -2147482621"/>
            <p:cNvGraphicFramePr>
              <a:graphicFrameLocks noChangeAspect="1"/>
            </p:cNvGraphicFramePr>
            <p:nvPr>
              <p:custDataLst>
                <p:tags r:id="rId8"/>
              </p:custDataLst>
            </p:nvPr>
          </p:nvGraphicFramePr>
          <p:xfrm>
            <a:off x="7099" y="7988"/>
            <a:ext cx="347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77800" imgH="241300" progId="Equation.DSMT4">
                    <p:embed/>
                  </p:oleObj>
                </mc:Choice>
                <mc:Fallback>
                  <p:oleObj r:id="rId13" imgW="177800" imgH="241300" progId="Equation.DSMT4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099" y="7988"/>
                          <a:ext cx="347" cy="4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8" name="对象 -2147482603"/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7660" y="8008"/>
            <a:ext cx="343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77800" imgH="241300" progId="Equation.DSMT4">
                    <p:embed/>
                  </p:oleObj>
                </mc:Choice>
                <mc:Fallback>
                  <p:oleObj r:id="rId15" imgW="177800" imgH="241300" progId="Equation.DSMT4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660" y="8008"/>
                          <a:ext cx="343" cy="4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9" name="对象 -2147482619"/>
            <p:cNvGraphicFramePr>
              <a:graphicFrameLocks noChangeAspect="1"/>
            </p:cNvGraphicFramePr>
            <p:nvPr>
              <p:custDataLst>
                <p:tags r:id="rId10"/>
              </p:custDataLst>
            </p:nvPr>
          </p:nvGraphicFramePr>
          <p:xfrm>
            <a:off x="8447" y="7988"/>
            <a:ext cx="341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77800" imgH="241300" progId="Equation.DSMT4">
                    <p:embed/>
                  </p:oleObj>
                </mc:Choice>
                <mc:Fallback>
                  <p:oleObj r:id="rId17" imgW="177800" imgH="241300" progId="Equation.DSMT4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447" y="7988"/>
                          <a:ext cx="341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3" name="文本框 1"/>
          <p:cNvSpPr txBox="1"/>
          <p:nvPr>
            <p:custDataLst>
              <p:tags r:id="rId2"/>
            </p:custDataLst>
          </p:nvPr>
        </p:nvSpPr>
        <p:spPr>
          <a:xfrm>
            <a:off x="497840" y="3644900"/>
            <a:ext cx="798512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讨论题</a:t>
            </a:r>
            <a:r>
              <a:rPr lang="en-US" altLang="zh-CN" sz="2000" b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2</a:t>
            </a:r>
            <a:r>
              <a:rPr lang="zh-CN" altLang="en-US" sz="2000" b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2000" b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    </a:t>
            </a:r>
            <a:r>
              <a:rPr lang="en-US" altLang="zh-CN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有一无限长通电流的扁平铜片，宽度为</a:t>
            </a:r>
            <a:r>
              <a:rPr lang="en-US" altLang="zh-CN" sz="2000" b="0" i="1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，厚度不计，</a:t>
            </a:r>
          </a:p>
          <a:p>
            <a:pPr>
              <a:lnSpc>
                <a:spcPct val="150000"/>
              </a:lnSpc>
            </a:pPr>
            <a:r>
              <a:rPr lang="en-US" altLang="zh-CN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电流</a:t>
            </a:r>
            <a:r>
              <a:rPr lang="en-US" altLang="zh-CN" sz="2000" b="0" i="1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I</a:t>
            </a:r>
            <a:r>
              <a:rPr lang="en-US" altLang="zh-CN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在铜片上均匀分布，在铜片外与铜片共面，离铜片</a:t>
            </a:r>
          </a:p>
          <a:p>
            <a:pPr>
              <a:lnSpc>
                <a:spcPct val="150000"/>
              </a:lnSpc>
            </a:pPr>
            <a:r>
              <a:rPr lang="en-US" altLang="zh-CN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右边缘为</a:t>
            </a:r>
            <a:r>
              <a:rPr lang="en-US" altLang="zh-CN" sz="2000" b="0" i="1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处的</a:t>
            </a:r>
            <a:r>
              <a:rPr lang="en-US" altLang="zh-CN" sz="2000" b="0" i="1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P</a:t>
            </a:r>
            <a:r>
              <a:rPr lang="en-US" altLang="zh-CN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点(如图)的磁感强度的大小为</a:t>
            </a:r>
            <a:r>
              <a:rPr lang="zh-CN" altLang="en-US" sz="2000" b="0"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多少？</a:t>
            </a:r>
          </a:p>
        </p:txBody>
      </p:sp>
      <p:pic>
        <p:nvPicPr>
          <p:cNvPr id="18434" name="图片 574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164070" y="4076700"/>
            <a:ext cx="1867535" cy="19411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3"/>
          <p:cNvSpPr txBox="1"/>
          <p:nvPr>
            <p:custDataLst>
              <p:tags r:id="rId1"/>
            </p:custDataLst>
          </p:nvPr>
        </p:nvSpPr>
        <p:spPr>
          <a:xfrm>
            <a:off x="611505" y="476885"/>
            <a:ext cx="8401685" cy="51695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课前测： </a:t>
            </a:r>
          </a:p>
          <a:p>
            <a:pPr>
              <a:lnSpc>
                <a:spcPct val="150000"/>
              </a:lnSpc>
            </a:pP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如图所示，电流从</a:t>
            </a:r>
            <a:r>
              <a:rPr lang="zh-CN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点分两路通过对称的圆环形分路，汇合于</a:t>
            </a:r>
            <a:r>
              <a:rPr lang="zh-CN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点。若</a:t>
            </a:r>
            <a:r>
              <a:rPr lang="zh-CN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ca</a:t>
            </a: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bd</a:t>
            </a: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都沿环的径向，则在环形分路的环心处的磁感强度［      ］</a:t>
            </a:r>
          </a:p>
          <a:p>
            <a:pPr>
              <a:lnSpc>
                <a:spcPct val="150000"/>
              </a:lnSpc>
            </a:pP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(A) 方向垂直环形分路所在平面且指向纸内   </a:t>
            </a:r>
          </a:p>
          <a:p>
            <a:pPr>
              <a:lnSpc>
                <a:spcPct val="150000"/>
              </a:lnSpc>
            </a:pP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(B) 方向垂直环形分路所在平面且指向纸外</a:t>
            </a:r>
          </a:p>
          <a:p>
            <a:pPr>
              <a:lnSpc>
                <a:spcPct val="150000"/>
              </a:lnSpc>
            </a:pP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(C) 方向在环形分路所在平面，且指向b      </a:t>
            </a:r>
          </a:p>
          <a:p>
            <a:pPr>
              <a:lnSpc>
                <a:spcPct val="150000"/>
              </a:lnSpc>
            </a:pP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(D) 方向在环形分路所在平面内，且指向a         </a:t>
            </a:r>
          </a:p>
          <a:p>
            <a:pPr>
              <a:lnSpc>
                <a:spcPct val="150000"/>
              </a:lnSpc>
            </a:pPr>
            <a:r>
              <a:rPr lang="zh-CN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(E) 为零 </a:t>
            </a:r>
            <a:r>
              <a:rPr lang="zh-CN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800" b="1">
                <a:latin typeface="Verdana" panose="020B0604030504040204" pitchFamily="34" charset="0"/>
                <a:ea typeface="楷体_GB2312" pitchFamily="49" charset="-122"/>
              </a:rPr>
              <a:t> </a:t>
            </a:r>
            <a:r>
              <a:rPr lang="zh-CN" altLang="zh-CN" sz="2800">
                <a:latin typeface="Verdana" panose="020B0604030504040204" pitchFamily="34" charset="0"/>
                <a:ea typeface="楷体_GB2312" pitchFamily="49" charset="-122"/>
              </a:rPr>
              <a:t>    </a:t>
            </a:r>
            <a:r>
              <a:rPr lang="en-US" altLang="zh-CN" sz="2800"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</a:p>
        </p:txBody>
      </p:sp>
      <p:pic>
        <p:nvPicPr>
          <p:cNvPr id="22532" name="图片 58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99610" y="5068570"/>
            <a:ext cx="4340225" cy="1457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83895" y="5876925"/>
            <a:ext cx="16243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答案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201"/>
          <p:cNvSpPr txBox="1"/>
          <p:nvPr>
            <p:custDataLst>
              <p:tags r:id="rId1"/>
            </p:custDataLst>
          </p:nvPr>
        </p:nvSpPr>
        <p:spPr>
          <a:xfrm>
            <a:off x="295275" y="188595"/>
            <a:ext cx="831469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讨论题：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电量为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的点电荷，作半径为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的圆周运动，线速度大小为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，求电流强度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578610" y="2235200"/>
          <a:ext cx="848360" cy="886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5765" imgH="393700" progId="Equation.3">
                  <p:embed/>
                </p:oleObj>
              </mc:Choice>
              <mc:Fallback>
                <p:oleObj r:id="rId3" imgW="405765" imgH="3937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78610" y="2235200"/>
                        <a:ext cx="848360" cy="8864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04135" y="2190750"/>
          <a:ext cx="1069975" cy="915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95300" imgH="393700" progId="Equation.3">
                  <p:embed/>
                </p:oleObj>
              </mc:Choice>
              <mc:Fallback>
                <p:oleObj r:id="rId5" imgW="495300" imgH="3937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4135" y="2190750"/>
                        <a:ext cx="1069975" cy="9156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724910" y="2190750"/>
          <a:ext cx="1332230" cy="988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71500" imgH="393700" progId="Equation.3">
                  <p:embed/>
                </p:oleObj>
              </mc:Choice>
              <mc:Fallback>
                <p:oleObj r:id="rId7" imgW="571500" imgH="3937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24910" y="2190750"/>
                        <a:ext cx="1332230" cy="9880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467360" y="3284855"/>
            <a:ext cx="842835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讨论题：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的均匀带电细圆环，电荷线密度为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，以角速度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绕过圆心并与环面垂直轴转动，求电流强度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07223" y="5156518"/>
          <a:ext cx="1038860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5765" imgH="393700" progId="Equation.3">
                  <p:embed/>
                </p:oleObj>
              </mc:Choice>
              <mc:Fallback>
                <p:oleObj r:id="rId3" imgW="405765" imgH="3937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223" y="5156518"/>
                        <a:ext cx="1038860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156586" y="5143818"/>
          <a:ext cx="1853565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23900" imgH="393700" progId="Equation.3">
                  <p:embed/>
                </p:oleObj>
              </mc:Choice>
              <mc:Fallback>
                <p:oleObj r:id="rId9" imgW="723900" imgH="3937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56586" y="5143818"/>
                        <a:ext cx="1853565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219384" y="5516881"/>
          <a:ext cx="117094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57200" imgH="177165" progId="Equation.3">
                  <p:embed/>
                </p:oleObj>
              </mc:Choice>
              <mc:Fallback>
                <p:oleObj r:id="rId11" imgW="457200" imgH="17716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19384" y="5516881"/>
                        <a:ext cx="117094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/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 185"/>
          <p:cNvSpPr/>
          <p:nvPr>
            <p:custDataLst>
              <p:tags r:id="rId1"/>
            </p:custDataLst>
          </p:nvPr>
        </p:nvSpPr>
        <p:spPr>
          <a:xfrm>
            <a:off x="467360" y="620395"/>
            <a:ext cx="819975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讨论题：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无限长均匀带电细线，电荷线密度为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，以速度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）沿线运动，求电流强度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763078" y="2996248"/>
          <a:ext cx="1038860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05765" imgH="393700" progId="Equation.3">
                  <p:embed/>
                </p:oleObj>
              </mc:Choice>
              <mc:Fallback>
                <p:oleObj r:id="rId5" imgW="405765" imgH="3937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078" y="2996248"/>
                        <a:ext cx="1038860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915920" y="3295015"/>
          <a:ext cx="229489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49300" imgH="177165" progId="Equation.3">
                  <p:embed/>
                </p:oleObj>
              </mc:Choice>
              <mc:Fallback>
                <p:oleObj r:id="rId7" imgW="749300" imgH="17716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15920" y="3295015"/>
                        <a:ext cx="229489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10242" name="Rectangle 32"/>
          <p:cNvSpPr/>
          <p:nvPr/>
        </p:nvSpPr>
        <p:spPr>
          <a:xfrm>
            <a:off x="1331913" y="765175"/>
            <a:ext cx="577691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§11-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磁场的高斯定理和环路定理</a:t>
            </a:r>
          </a:p>
        </p:txBody>
      </p:sp>
      <p:sp>
        <p:nvSpPr>
          <p:cNvPr id="241667" name="Rectangle 3"/>
          <p:cNvSpPr/>
          <p:nvPr/>
        </p:nvSpPr>
        <p:spPr>
          <a:xfrm>
            <a:off x="323850" y="1557338"/>
            <a:ext cx="1423988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磁通量</a:t>
            </a:r>
          </a:p>
        </p:txBody>
      </p:sp>
      <p:graphicFrame>
        <p:nvGraphicFramePr>
          <p:cNvPr id="243752" name="Object 40"/>
          <p:cNvGraphicFramePr>
            <a:graphicFrameLocks noChangeAspect="1"/>
          </p:cNvGraphicFramePr>
          <p:nvPr/>
        </p:nvGraphicFramePr>
        <p:xfrm>
          <a:off x="1979613" y="1484313"/>
          <a:ext cx="290353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4400" imgH="292100" progId="Equation.3">
                  <p:embed/>
                </p:oleObj>
              </mc:Choice>
              <mc:Fallback>
                <p:oleObj r:id="rId2" imgW="914400" imgH="2921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9613" y="1484313"/>
                        <a:ext cx="2903537" cy="8715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2"/>
          <p:cNvSpPr/>
          <p:nvPr/>
        </p:nvSpPr>
        <p:spPr>
          <a:xfrm>
            <a:off x="101600" y="2608263"/>
            <a:ext cx="37369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2.</a:t>
            </a:r>
            <a:r>
              <a:rPr lang="zh-CN" altLang="en-US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磁场的高斯定理</a:t>
            </a:r>
          </a:p>
        </p:txBody>
      </p:sp>
      <p:graphicFrame>
        <p:nvGraphicFramePr>
          <p:cNvPr id="244740" name="Object 4"/>
          <p:cNvGraphicFramePr>
            <a:graphicFrameLocks noChangeAspect="1"/>
          </p:cNvGraphicFramePr>
          <p:nvPr/>
        </p:nvGraphicFramePr>
        <p:xfrm>
          <a:off x="3563938" y="2565400"/>
          <a:ext cx="26828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54100" imgH="292100" progId="Equation.3">
                  <p:embed/>
                </p:oleObj>
              </mc:Choice>
              <mc:Fallback>
                <p:oleObj r:id="rId4" imgW="1054100" imgH="2921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63938" y="2565400"/>
                        <a:ext cx="2682875" cy="736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Rectangle 5"/>
          <p:cNvSpPr/>
          <p:nvPr/>
        </p:nvSpPr>
        <p:spPr>
          <a:xfrm>
            <a:off x="684213" y="3502025"/>
            <a:ext cx="4732337" cy="1752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、穿入闭合曲面的磁感线数目和穿出闭合曲面的磁感线数目相等。磁感线是无头无尾的闭合曲线。</a:t>
            </a:r>
          </a:p>
        </p:txBody>
      </p:sp>
      <p:sp>
        <p:nvSpPr>
          <p:cNvPr id="4" name="Rectangle 5"/>
          <p:cNvSpPr/>
          <p:nvPr/>
        </p:nvSpPr>
        <p:spPr>
          <a:xfrm>
            <a:off x="684213" y="5518150"/>
            <a:ext cx="33083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、磁场为无源场。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4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/>
      <p:bldP spid="244741" grpId="0"/>
      <p:bldP spid="244741" grpId="1"/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230188" y="922338"/>
            <a:ext cx="8474075" cy="1198562"/>
            <a:chOff x="172" y="1632"/>
            <a:chExt cx="5098" cy="755"/>
          </a:xfrm>
        </p:grpSpPr>
        <p:sp>
          <p:nvSpPr>
            <p:cNvPr id="11266" name="Text Box 6"/>
            <p:cNvSpPr txBox="1"/>
            <p:nvPr/>
          </p:nvSpPr>
          <p:spPr>
            <a:xfrm>
              <a:off x="172" y="1632"/>
              <a:ext cx="5098" cy="75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zh-CN" altLang="en-US" sz="2400" b="1" dirty="0">
                  <a:solidFill>
                    <a:srgbClr val="1C1C1C"/>
                  </a:solidFill>
                  <a:latin typeface="楷体_GB2312" pitchFamily="49" charset="-122"/>
                  <a:ea typeface="楷体_GB2312" pitchFamily="49" charset="-122"/>
                </a:rPr>
                <a:t>在稳恒磁场中，磁感应强度   沿任一闭合路径</a:t>
              </a:r>
              <a:r>
                <a:rPr lang="en-US" altLang="zh-CN" sz="2400" b="1" i="1" dirty="0">
                  <a:solidFill>
                    <a:srgbClr val="1C1C1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zh-CN" altLang="en-US" sz="2400" b="1" dirty="0">
                  <a:solidFill>
                    <a:srgbClr val="1C1C1C"/>
                  </a:solidFill>
                  <a:latin typeface="楷体_GB2312" pitchFamily="49" charset="-122"/>
                  <a:ea typeface="楷体_GB2312" pitchFamily="49" charset="-122"/>
                </a:rPr>
                <a:t>的线积分，等于该闭合路径所环绕的电流强度代数和的    倍</a:t>
              </a:r>
              <a:r>
                <a:rPr lang="en-US" altLang="zh-CN" sz="2400" b="1" dirty="0">
                  <a:solidFill>
                    <a:srgbClr val="1C1C1C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11267" name="Object 7"/>
            <p:cNvGraphicFramePr>
              <a:graphicFrameLocks noChangeAspect="1"/>
            </p:cNvGraphicFramePr>
            <p:nvPr/>
          </p:nvGraphicFramePr>
          <p:xfrm>
            <a:off x="2901" y="1712"/>
            <a:ext cx="240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2400" imgH="190500" progId="Equation.3">
                    <p:embed/>
                  </p:oleObj>
                </mc:Choice>
                <mc:Fallback>
                  <p:oleObj r:id="rId2" imgW="152400" imgH="1905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901" y="1712"/>
                          <a:ext cx="240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8" name="Object 8"/>
            <p:cNvGraphicFramePr>
              <a:graphicFrameLocks noChangeAspect="1"/>
            </p:cNvGraphicFramePr>
            <p:nvPr/>
          </p:nvGraphicFramePr>
          <p:xfrm>
            <a:off x="4156" y="1989"/>
            <a:ext cx="30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90500" imgH="228600" progId="Equation.3">
                    <p:embed/>
                  </p:oleObj>
                </mc:Choice>
                <mc:Fallback>
                  <p:oleObj r:id="rId4" imgW="190500" imgH="2286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56" y="1989"/>
                          <a:ext cx="309" cy="3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9" name="Rectangle 9"/>
          <p:cNvSpPr/>
          <p:nvPr/>
        </p:nvSpPr>
        <p:spPr>
          <a:xfrm>
            <a:off x="230188" y="587375"/>
            <a:ext cx="26320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安培环路定理：</a:t>
            </a:r>
          </a:p>
        </p:txBody>
      </p:sp>
      <p:sp>
        <p:nvSpPr>
          <p:cNvPr id="258060" name="Rectangle 12"/>
          <p:cNvSpPr/>
          <p:nvPr/>
        </p:nvSpPr>
        <p:spPr>
          <a:xfrm>
            <a:off x="179388" y="4365625"/>
            <a:ext cx="6164262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电流的正负问题：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电流的流向与回路绕向满足右手螺旋法则的电流为正，否则为负。</a:t>
            </a:r>
          </a:p>
        </p:txBody>
      </p:sp>
      <p:graphicFrame>
        <p:nvGraphicFramePr>
          <p:cNvPr id="258061" name="Object 13"/>
          <p:cNvGraphicFramePr>
            <a:graphicFrameLocks noChangeAspect="1"/>
          </p:cNvGraphicFramePr>
          <p:nvPr/>
        </p:nvGraphicFramePr>
        <p:xfrm>
          <a:off x="1027113" y="2208213"/>
          <a:ext cx="266382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04900" imgH="431800" progId="Equation.3">
                  <p:embed/>
                </p:oleObj>
              </mc:Choice>
              <mc:Fallback>
                <p:oleObj r:id="rId6" imgW="1104900" imgH="4318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7113" y="2208213"/>
                        <a:ext cx="2663825" cy="10398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62" name="Rectangle 14"/>
          <p:cNvSpPr/>
          <p:nvPr/>
        </p:nvSpPr>
        <p:spPr>
          <a:xfrm>
            <a:off x="-36512" y="5516563"/>
            <a:ext cx="5751512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179705" lvl="1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安培环路定理成立的条件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稳恒电流</a:t>
            </a:r>
          </a:p>
        </p:txBody>
      </p:sp>
      <p:sp>
        <p:nvSpPr>
          <p:cNvPr id="258063" name="Rectangle 15"/>
          <p:cNvSpPr/>
          <p:nvPr/>
        </p:nvSpPr>
        <p:spPr>
          <a:xfrm>
            <a:off x="142875" y="6086475"/>
            <a:ext cx="48514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）磁场为有旋场、非保守场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3" name="Group 19"/>
          <p:cNvGrpSpPr/>
          <p:nvPr/>
        </p:nvGrpSpPr>
        <p:grpSpPr>
          <a:xfrm>
            <a:off x="163513" y="3335338"/>
            <a:ext cx="6000750" cy="1198562"/>
            <a:chOff x="271" y="2506"/>
            <a:chExt cx="3491" cy="755"/>
          </a:xfrm>
        </p:grpSpPr>
        <p:sp>
          <p:nvSpPr>
            <p:cNvPr id="11275" name="Rectangle 10"/>
            <p:cNvSpPr/>
            <p:nvPr/>
          </p:nvSpPr>
          <p:spPr>
            <a:xfrm>
              <a:off x="271" y="2506"/>
              <a:ext cx="3491" cy="7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arenR"/>
              </a:pP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     只是闭合环路所</a:t>
              </a:r>
              <a:r>
                <a:rPr lang="zh-CN" altLang="en-US" sz="2400" b="1" dirty="0">
                  <a:solidFill>
                    <a:srgbClr val="1C1C1C"/>
                  </a:solidFill>
                  <a:latin typeface="楷体_GB2312" pitchFamily="49" charset="-122"/>
                  <a:ea typeface="楷体_GB2312" pitchFamily="49" charset="-122"/>
                </a:rPr>
                <a:t>环绕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的电流，但  是空间所有电流产生的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.</a:t>
              </a:r>
              <a:endParaRPr lang="zh-CN" altLang="en-US" sz="2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1276" name="Object 16"/>
            <p:cNvGraphicFramePr>
              <a:graphicFrameLocks noChangeAspect="1"/>
            </p:cNvGraphicFramePr>
            <p:nvPr/>
          </p:nvGraphicFramePr>
          <p:xfrm>
            <a:off x="565" y="2506"/>
            <a:ext cx="364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55600" imgH="444500" progId="Equation.DSMT4">
                    <p:embed/>
                  </p:oleObj>
                </mc:Choice>
                <mc:Fallback>
                  <p:oleObj r:id="rId8" imgW="355600" imgH="4445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65" y="2506"/>
                          <a:ext cx="364" cy="4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7" name="Object 17"/>
            <p:cNvGraphicFramePr>
              <a:graphicFrameLocks noChangeAspect="1"/>
            </p:cNvGraphicFramePr>
            <p:nvPr/>
          </p:nvGraphicFramePr>
          <p:xfrm>
            <a:off x="3391" y="2607"/>
            <a:ext cx="18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203200" progId="Equation.DSMT4">
                    <p:embed/>
                  </p:oleObj>
                </mc:Choice>
                <mc:Fallback>
                  <p:oleObj r:id="rId10" imgW="152400" imgH="2032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391" y="2607"/>
                          <a:ext cx="187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6181725" y="2222500"/>
            <a:ext cx="2762250" cy="4102100"/>
            <a:chOff x="9879" y="3388"/>
            <a:chExt cx="4350" cy="6462"/>
          </a:xfrm>
        </p:grpSpPr>
        <p:grpSp>
          <p:nvGrpSpPr>
            <p:cNvPr id="11279" name="Group 28"/>
            <p:cNvGrpSpPr/>
            <p:nvPr/>
          </p:nvGrpSpPr>
          <p:grpSpPr>
            <a:xfrm rot="-600000">
              <a:off x="11072" y="3387"/>
              <a:ext cx="2010" cy="2262"/>
              <a:chOff x="4080" y="768"/>
              <a:chExt cx="804" cy="905"/>
            </a:xfrm>
          </p:grpSpPr>
          <p:pic>
            <p:nvPicPr>
              <p:cNvPr id="11280" name="Picture 29" descr="wltx1"/>
              <p:cNvPicPr preferRelativeResize="0"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72" y="768"/>
                <a:ext cx="612" cy="90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</p:pic>
          <p:sp>
            <p:nvSpPr>
              <p:cNvPr id="11281" name="AutoShape 30"/>
              <p:cNvSpPr/>
              <p:nvPr/>
            </p:nvSpPr>
            <p:spPr>
              <a:xfrm>
                <a:off x="4080" y="960"/>
                <a:ext cx="192" cy="336"/>
              </a:xfrm>
              <a:prstGeom prst="curvedRightArrow">
                <a:avLst>
                  <a:gd name="adj1" fmla="val 35000"/>
                  <a:gd name="adj2" fmla="val 70000"/>
                  <a:gd name="adj3" fmla="val 33277"/>
                </a:avLst>
              </a:prstGeom>
              <a:solidFill>
                <a:schemeClr val="folHlink"/>
              </a:solidFill>
              <a:ln w="28575" cap="flat" cmpd="sng">
                <a:solidFill>
                  <a:srgbClr val="D60093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</a:pPr>
                <a:endParaRPr lang="zh-CN" altLang="en-US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1282" name="Group 6"/>
            <p:cNvGrpSpPr/>
            <p:nvPr/>
          </p:nvGrpSpPr>
          <p:grpSpPr>
            <a:xfrm>
              <a:off x="9879" y="5910"/>
              <a:ext cx="4350" cy="3940"/>
              <a:chOff x="1746" y="893"/>
              <a:chExt cx="2176" cy="1814"/>
            </a:xfrm>
          </p:grpSpPr>
          <p:sp>
            <p:nvSpPr>
              <p:cNvPr id="11283" name="Oval 7"/>
              <p:cNvSpPr/>
              <p:nvPr/>
            </p:nvSpPr>
            <p:spPr>
              <a:xfrm>
                <a:off x="2154" y="1344"/>
                <a:ext cx="1350" cy="668"/>
              </a:xfrm>
              <a:prstGeom prst="ellipse">
                <a:avLst/>
              </a:prstGeom>
              <a:solidFill>
                <a:srgbClr val="CDEBFF">
                  <a:alpha val="50194"/>
                </a:srgbClr>
              </a:solidFill>
              <a:ln w="38100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84" name="Line 10"/>
              <p:cNvSpPr/>
              <p:nvPr/>
            </p:nvSpPr>
            <p:spPr>
              <a:xfrm>
                <a:off x="2489" y="1981"/>
                <a:ext cx="0" cy="535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olid"/>
                <a:round/>
                <a:headEnd type="none" w="sm" len="lg"/>
                <a:tailEnd type="triangle" w="sm" len="lg"/>
              </a:ln>
            </p:spPr>
          </p:sp>
          <p:sp>
            <p:nvSpPr>
              <p:cNvPr id="11285" name="Line 12"/>
              <p:cNvSpPr/>
              <p:nvPr/>
            </p:nvSpPr>
            <p:spPr>
              <a:xfrm>
                <a:off x="2489" y="2484"/>
                <a:ext cx="0" cy="223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1286" name="Freeform 13"/>
              <p:cNvSpPr/>
              <p:nvPr/>
            </p:nvSpPr>
            <p:spPr>
              <a:xfrm>
                <a:off x="3280" y="938"/>
                <a:ext cx="181" cy="802"/>
              </a:xfrm>
              <a:custGeom>
                <a:avLst/>
                <a:gdLst/>
                <a:ahLst/>
                <a:cxnLst>
                  <a:cxn ang="0">
                    <a:pos x="74" y="0"/>
                  </a:cxn>
                  <a:cxn ang="0">
                    <a:pos x="39" y="45"/>
                  </a:cxn>
                  <a:cxn ang="0">
                    <a:pos x="21" y="91"/>
                  </a:cxn>
                  <a:cxn ang="0">
                    <a:pos x="5" y="182"/>
                  </a:cxn>
                  <a:cxn ang="0">
                    <a:pos x="5" y="251"/>
                  </a:cxn>
                  <a:cxn ang="0">
                    <a:pos x="21" y="409"/>
                  </a:cxn>
                </a:cxnLst>
                <a:rect l="0" t="0" r="0" b="0"/>
                <a:pathLst>
                  <a:path w="200" h="864">
                    <a:moveTo>
                      <a:pt x="200" y="0"/>
                    </a:moveTo>
                    <a:cubicBezTo>
                      <a:pt x="164" y="32"/>
                      <a:pt x="128" y="64"/>
                      <a:pt x="104" y="96"/>
                    </a:cubicBezTo>
                    <a:cubicBezTo>
                      <a:pt x="80" y="128"/>
                      <a:pt x="72" y="144"/>
                      <a:pt x="56" y="192"/>
                    </a:cubicBezTo>
                    <a:cubicBezTo>
                      <a:pt x="40" y="240"/>
                      <a:pt x="16" y="328"/>
                      <a:pt x="8" y="384"/>
                    </a:cubicBezTo>
                    <a:cubicBezTo>
                      <a:pt x="0" y="440"/>
                      <a:pt x="0" y="448"/>
                      <a:pt x="8" y="528"/>
                    </a:cubicBezTo>
                    <a:cubicBezTo>
                      <a:pt x="16" y="608"/>
                      <a:pt x="48" y="808"/>
                      <a:pt x="56" y="864"/>
                    </a:cubicBezTo>
                  </a:path>
                </a:pathLst>
              </a:custGeom>
              <a:noFill/>
              <a:ln w="38100" cap="flat" cmpd="sng">
                <a:solidFill>
                  <a:srgbClr val="CC00CC"/>
                </a:solidFill>
                <a:prstDash val="solid"/>
                <a:round/>
                <a:headEnd type="arrow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" name="Freeform 14"/>
              <p:cNvSpPr/>
              <p:nvPr/>
            </p:nvSpPr>
            <p:spPr>
              <a:xfrm>
                <a:off x="3331" y="1918"/>
                <a:ext cx="50" cy="40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61"/>
                  </a:cxn>
                  <a:cxn ang="0">
                    <a:pos x="15" y="205"/>
                  </a:cxn>
                </a:cxnLst>
                <a:rect l="0" t="0" r="0" b="0"/>
                <a:pathLst>
                  <a:path w="56" h="432">
                    <a:moveTo>
                      <a:pt x="0" y="0"/>
                    </a:moveTo>
                    <a:cubicBezTo>
                      <a:pt x="20" y="132"/>
                      <a:pt x="40" y="264"/>
                      <a:pt x="48" y="336"/>
                    </a:cubicBezTo>
                    <a:cubicBezTo>
                      <a:pt x="56" y="408"/>
                      <a:pt x="48" y="416"/>
                      <a:pt x="48" y="432"/>
                    </a:cubicBezTo>
                  </a:path>
                </a:pathLst>
              </a:custGeom>
              <a:noFill/>
              <a:ln w="38100" cap="flat" cmpd="sng">
                <a:solidFill>
                  <a:srgbClr val="CC00CC"/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8" name="Line 15"/>
              <p:cNvSpPr/>
              <p:nvPr/>
            </p:nvSpPr>
            <p:spPr>
              <a:xfrm>
                <a:off x="3374" y="2319"/>
                <a:ext cx="0" cy="223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1289" name="Freeform 16"/>
              <p:cNvSpPr/>
              <p:nvPr/>
            </p:nvSpPr>
            <p:spPr>
              <a:xfrm>
                <a:off x="3658" y="1071"/>
                <a:ext cx="152" cy="1204"/>
              </a:xfrm>
              <a:custGeom>
                <a:avLst/>
                <a:gdLst/>
                <a:ahLst/>
                <a:cxnLst>
                  <a:cxn ang="0">
                    <a:pos x="152" y="0"/>
                  </a:cxn>
                  <a:cxn ang="0">
                    <a:pos x="65" y="223"/>
                  </a:cxn>
                  <a:cxn ang="0">
                    <a:pos x="24" y="478"/>
                  </a:cxn>
                  <a:cxn ang="0">
                    <a:pos x="0" y="814"/>
                  </a:cxn>
                  <a:cxn ang="0">
                    <a:pos x="21" y="1115"/>
                  </a:cxn>
                  <a:cxn ang="0">
                    <a:pos x="65" y="1204"/>
                  </a:cxn>
                </a:cxnLst>
                <a:rect l="0" t="0" r="0" b="0"/>
                <a:pathLst>
                  <a:path w="152" h="1204">
                    <a:moveTo>
                      <a:pt x="152" y="0"/>
                    </a:moveTo>
                    <a:cubicBezTo>
                      <a:pt x="116" y="78"/>
                      <a:pt x="86" y="143"/>
                      <a:pt x="65" y="223"/>
                    </a:cubicBezTo>
                    <a:cubicBezTo>
                      <a:pt x="44" y="303"/>
                      <a:pt x="35" y="380"/>
                      <a:pt x="24" y="478"/>
                    </a:cubicBezTo>
                    <a:cubicBezTo>
                      <a:pt x="13" y="576"/>
                      <a:pt x="0" y="708"/>
                      <a:pt x="0" y="814"/>
                    </a:cubicBezTo>
                    <a:cubicBezTo>
                      <a:pt x="0" y="920"/>
                      <a:pt x="10" y="1050"/>
                      <a:pt x="21" y="1115"/>
                    </a:cubicBezTo>
                    <a:cubicBezTo>
                      <a:pt x="32" y="1180"/>
                      <a:pt x="58" y="1189"/>
                      <a:pt x="65" y="1204"/>
                    </a:cubicBezTo>
                  </a:path>
                </a:pathLst>
              </a:custGeom>
              <a:noFill/>
              <a:ln w="38100" cap="flat" cmpd="sng">
                <a:solidFill>
                  <a:srgbClr val="CC00CC"/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Line 17"/>
              <p:cNvSpPr/>
              <p:nvPr/>
            </p:nvSpPr>
            <p:spPr>
              <a:xfrm>
                <a:off x="3722" y="2275"/>
                <a:ext cx="131" cy="178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1291" name="Line 18"/>
              <p:cNvSpPr/>
              <p:nvPr/>
            </p:nvSpPr>
            <p:spPr>
              <a:xfrm flipV="1">
                <a:off x="3810" y="938"/>
                <a:ext cx="87" cy="133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1292" name="Line 19"/>
              <p:cNvSpPr/>
              <p:nvPr/>
            </p:nvSpPr>
            <p:spPr>
              <a:xfrm flipV="1">
                <a:off x="3461" y="893"/>
                <a:ext cx="131" cy="45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1293" name="Line 20"/>
              <p:cNvSpPr/>
              <p:nvPr/>
            </p:nvSpPr>
            <p:spPr>
              <a:xfrm>
                <a:off x="2659" y="1997"/>
                <a:ext cx="151" cy="1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sm" len="lg"/>
                <a:tailEnd type="arrow" w="med" len="med"/>
              </a:ln>
            </p:spPr>
          </p:sp>
          <p:graphicFrame>
            <p:nvGraphicFramePr>
              <p:cNvPr id="11294" name="Object 21"/>
              <p:cNvGraphicFramePr>
                <a:graphicFrameLocks noChangeAspect="1"/>
              </p:cNvGraphicFramePr>
              <p:nvPr/>
            </p:nvGraphicFramePr>
            <p:xfrm>
              <a:off x="3674" y="1229"/>
              <a:ext cx="248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152400" imgH="228600" progId="Equation.3">
                      <p:embed/>
                    </p:oleObj>
                  </mc:Choice>
                  <mc:Fallback>
                    <p:oleObj r:id="rId13" imgW="152400" imgH="228600" progId="Equation.3">
                      <p:embed/>
                      <p:pic>
                        <p:nvPicPr>
                          <p:cNvPr id="0" name="图片 3099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674" y="1229"/>
                            <a:ext cx="248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5" name="Object 22"/>
              <p:cNvGraphicFramePr>
                <a:graphicFrameLocks noChangeAspect="1"/>
              </p:cNvGraphicFramePr>
              <p:nvPr/>
            </p:nvGraphicFramePr>
            <p:xfrm>
              <a:off x="3290" y="1133"/>
              <a:ext cx="284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165100" imgH="215900" progId="Equation.3">
                      <p:embed/>
                    </p:oleObj>
                  </mc:Choice>
                  <mc:Fallback>
                    <p:oleObj r:id="rId15" imgW="165100" imgH="215900" progId="Equation.3">
                      <p:embed/>
                      <p:pic>
                        <p:nvPicPr>
                          <p:cNvPr id="0" name="图片 3097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290" y="1133"/>
                            <a:ext cx="284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6" name="Object 23"/>
              <p:cNvGraphicFramePr>
                <a:graphicFrameLocks noChangeAspect="1"/>
              </p:cNvGraphicFramePr>
              <p:nvPr/>
            </p:nvGraphicFramePr>
            <p:xfrm>
              <a:off x="1746" y="1480"/>
              <a:ext cx="244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" imgW="139700" imgH="215900" progId="Equation.3">
                      <p:embed/>
                    </p:oleObj>
                  </mc:Choice>
                  <mc:Fallback>
                    <p:oleObj r:id="rId17" imgW="139700" imgH="215900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746" y="1480"/>
                            <a:ext cx="244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7" name="Object 24"/>
              <p:cNvGraphicFramePr>
                <a:graphicFrameLocks noChangeAspect="1"/>
              </p:cNvGraphicFramePr>
              <p:nvPr/>
            </p:nvGraphicFramePr>
            <p:xfrm>
              <a:off x="2810" y="1757"/>
              <a:ext cx="20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9" imgW="190500" imgH="228600" progId="Equation.3">
                      <p:embed/>
                    </p:oleObj>
                  </mc:Choice>
                  <mc:Fallback>
                    <p:oleObj r:id="rId19" imgW="190500" imgH="228600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810" y="1757"/>
                            <a:ext cx="200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8" name="Object 25"/>
              <p:cNvGraphicFramePr>
                <a:graphicFrameLocks noChangeAspect="1"/>
              </p:cNvGraphicFramePr>
              <p:nvPr/>
            </p:nvGraphicFramePr>
            <p:xfrm>
              <a:off x="2566" y="2275"/>
              <a:ext cx="244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" imgW="139700" imgH="215900" progId="Equation.3">
                      <p:embed/>
                    </p:oleObj>
                  </mc:Choice>
                  <mc:Fallback>
                    <p:oleObj r:id="rId17" imgW="139700" imgH="215900" progId="Equation.3">
                      <p:embed/>
                      <p:pic>
                        <p:nvPicPr>
                          <p:cNvPr id="0" name="图片 3105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566" y="2275"/>
                            <a:ext cx="244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99" name="Freeform 13"/>
            <p:cNvSpPr/>
            <p:nvPr/>
          </p:nvSpPr>
          <p:spPr>
            <a:xfrm>
              <a:off x="11183" y="6092"/>
              <a:ext cx="361" cy="174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39" y="45"/>
                </a:cxn>
                <a:cxn ang="0">
                  <a:pos x="21" y="91"/>
                </a:cxn>
                <a:cxn ang="0">
                  <a:pos x="5" y="182"/>
                </a:cxn>
                <a:cxn ang="0">
                  <a:pos x="5" y="251"/>
                </a:cxn>
                <a:cxn ang="0">
                  <a:pos x="21" y="409"/>
                </a:cxn>
              </a:cxnLst>
              <a:rect l="0" t="0" r="0" b="0"/>
              <a:pathLst>
                <a:path w="200" h="864">
                  <a:moveTo>
                    <a:pt x="200" y="0"/>
                  </a:moveTo>
                  <a:cubicBezTo>
                    <a:pt x="164" y="32"/>
                    <a:pt x="128" y="64"/>
                    <a:pt x="104" y="96"/>
                  </a:cubicBezTo>
                  <a:cubicBezTo>
                    <a:pt x="80" y="128"/>
                    <a:pt x="72" y="144"/>
                    <a:pt x="56" y="192"/>
                  </a:cubicBezTo>
                  <a:cubicBezTo>
                    <a:pt x="40" y="240"/>
                    <a:pt x="16" y="328"/>
                    <a:pt x="8" y="384"/>
                  </a:cubicBezTo>
                  <a:cubicBezTo>
                    <a:pt x="0" y="440"/>
                    <a:pt x="0" y="448"/>
                    <a:pt x="8" y="528"/>
                  </a:cubicBezTo>
                  <a:cubicBezTo>
                    <a:pt x="16" y="608"/>
                    <a:pt x="48" y="808"/>
                    <a:pt x="56" y="864"/>
                  </a:cubicBezTo>
                </a:path>
              </a:pathLst>
            </a:custGeom>
            <a:noFill/>
            <a:ln w="38100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60" grpId="0"/>
      <p:bldP spid="258062" grpId="0"/>
      <p:bldP spid="2580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12290" name="Text Box 2"/>
          <p:cNvSpPr txBox="1"/>
          <p:nvPr/>
        </p:nvSpPr>
        <p:spPr>
          <a:xfrm>
            <a:off x="179388" y="836613"/>
            <a:ext cx="62341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无限长载流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圆柱面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半径为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的磁场</a:t>
            </a:r>
          </a:p>
        </p:txBody>
      </p:sp>
      <p:graphicFrame>
        <p:nvGraphicFramePr>
          <p:cNvPr id="268290" name="Object 2"/>
          <p:cNvGraphicFramePr>
            <a:graphicFrameLocks noChangeAspect="1"/>
          </p:cNvGraphicFramePr>
          <p:nvPr/>
        </p:nvGraphicFramePr>
        <p:xfrm>
          <a:off x="684213" y="1484313"/>
          <a:ext cx="1830387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6900" imgH="393700" progId="Equation.3">
                  <p:embed/>
                </p:oleObj>
              </mc:Choice>
              <mc:Fallback>
                <p:oleObj r:id="rId2" imgW="596900" imgH="393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4213" y="1484313"/>
                        <a:ext cx="1830387" cy="1100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3"/>
          <p:cNvGraphicFramePr>
            <a:graphicFrameLocks noChangeAspect="1"/>
          </p:cNvGraphicFramePr>
          <p:nvPr/>
        </p:nvGraphicFramePr>
        <p:xfrm>
          <a:off x="2916238" y="1916113"/>
          <a:ext cx="10398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35000" imgH="279400" progId="Equation.3">
                  <p:embed/>
                </p:oleObj>
              </mc:Choice>
              <mc:Fallback>
                <p:oleObj r:id="rId4" imgW="635000" imgH="2794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6238" y="1916113"/>
                        <a:ext cx="1039812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2" name="Object 4"/>
          <p:cNvGraphicFramePr>
            <a:graphicFrameLocks noChangeAspect="1"/>
          </p:cNvGraphicFramePr>
          <p:nvPr/>
        </p:nvGraphicFramePr>
        <p:xfrm>
          <a:off x="2771775" y="2781300"/>
          <a:ext cx="13652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16000" imgH="279400" progId="Equation.3">
                  <p:embed/>
                </p:oleObj>
              </mc:Choice>
              <mc:Fallback>
                <p:oleObj r:id="rId6" imgW="1016000" imgH="2794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71775" y="2781300"/>
                        <a:ext cx="1365250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8" name="Object 10"/>
          <p:cNvGraphicFramePr>
            <a:graphicFrameLocks noChangeAspect="1"/>
          </p:cNvGraphicFramePr>
          <p:nvPr/>
        </p:nvGraphicFramePr>
        <p:xfrm>
          <a:off x="900113" y="2852738"/>
          <a:ext cx="1109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19100" imgH="190500" progId="Equation.3">
                  <p:embed/>
                </p:oleObj>
              </mc:Choice>
              <mc:Fallback>
                <p:oleObj r:id="rId8" imgW="419100" imgH="1905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00113" y="2852738"/>
                        <a:ext cx="110966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4327525" y="1277938"/>
            <a:ext cx="4230688" cy="2673350"/>
            <a:chOff x="2795" y="2075"/>
            <a:chExt cx="2665" cy="1684"/>
          </a:xfrm>
        </p:grpSpPr>
        <p:graphicFrame>
          <p:nvGraphicFramePr>
            <p:cNvPr id="12296" name="Object 12"/>
            <p:cNvGraphicFramePr>
              <a:graphicFrameLocks noChangeAspect="1"/>
            </p:cNvGraphicFramePr>
            <p:nvPr/>
          </p:nvGraphicFramePr>
          <p:xfrm>
            <a:off x="3787" y="3152"/>
            <a:ext cx="56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80365" imgH="177800" progId="Equation.3">
                    <p:embed/>
                  </p:oleObj>
                </mc:Choice>
                <mc:Fallback>
                  <p:oleObj r:id="rId10" imgW="380365" imgH="1778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87" y="3152"/>
                          <a:ext cx="563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7" name="Line 13"/>
            <p:cNvSpPr/>
            <p:nvPr/>
          </p:nvSpPr>
          <p:spPr>
            <a:xfrm>
              <a:off x="2795" y="3461"/>
              <a:ext cx="24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298" name="Line 14"/>
            <p:cNvSpPr/>
            <p:nvPr/>
          </p:nvSpPr>
          <p:spPr>
            <a:xfrm flipV="1">
              <a:off x="3811" y="2103"/>
              <a:ext cx="6" cy="135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299" name="Line 15"/>
            <p:cNvSpPr/>
            <p:nvPr/>
          </p:nvSpPr>
          <p:spPr>
            <a:xfrm>
              <a:off x="4328" y="2677"/>
              <a:ext cx="0" cy="80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2300" name="Line 16"/>
            <p:cNvSpPr/>
            <p:nvPr/>
          </p:nvSpPr>
          <p:spPr>
            <a:xfrm flipH="1">
              <a:off x="3811" y="2659"/>
              <a:ext cx="535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2301" name="Arc 17"/>
            <p:cNvSpPr/>
            <p:nvPr/>
          </p:nvSpPr>
          <p:spPr>
            <a:xfrm flipH="1" flipV="1">
              <a:off x="4328" y="2422"/>
              <a:ext cx="949" cy="8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0835" h="21541" fill="none">
                  <a:moveTo>
                    <a:pt x="1600" y="0"/>
                  </a:moveTo>
                  <a:cubicBezTo>
                    <a:pt x="10718" y="678"/>
                    <a:pt x="18422" y="7023"/>
                    <a:pt x="20834" y="15842"/>
                  </a:cubicBezTo>
                </a:path>
                <a:path w="20835" h="21541" stroke="0">
                  <a:moveTo>
                    <a:pt x="1600" y="0"/>
                  </a:moveTo>
                  <a:cubicBezTo>
                    <a:pt x="10718" y="678"/>
                    <a:pt x="18422" y="7023"/>
                    <a:pt x="20834" y="15842"/>
                  </a:cubicBezTo>
                  <a:lnTo>
                    <a:pt x="0" y="21541"/>
                  </a:lnTo>
                  <a:lnTo>
                    <a:pt x="160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" name="Line 18"/>
            <p:cNvSpPr/>
            <p:nvPr/>
          </p:nvSpPr>
          <p:spPr>
            <a:xfrm>
              <a:off x="3811" y="3461"/>
              <a:ext cx="53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sm" len="lg"/>
            </a:ln>
          </p:spPr>
        </p:sp>
        <p:graphicFrame>
          <p:nvGraphicFramePr>
            <p:cNvPr id="12303" name="Object 19"/>
            <p:cNvGraphicFramePr>
              <a:graphicFrameLocks noChangeAspect="1"/>
            </p:cNvGraphicFramePr>
            <p:nvPr/>
          </p:nvGraphicFramePr>
          <p:xfrm>
            <a:off x="3901" y="2075"/>
            <a:ext cx="221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15900" imgH="228600" progId="Equation.3">
                    <p:embed/>
                  </p:oleObj>
                </mc:Choice>
                <mc:Fallback>
                  <p:oleObj r:id="rId12" imgW="215900" imgH="2286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901" y="2075"/>
                          <a:ext cx="221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20"/>
            <p:cNvGraphicFramePr>
              <a:graphicFrameLocks noChangeAspect="1"/>
            </p:cNvGraphicFramePr>
            <p:nvPr/>
          </p:nvGraphicFramePr>
          <p:xfrm>
            <a:off x="4184" y="3521"/>
            <a:ext cx="260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15900" imgH="228600" progId="Equation.3">
                    <p:embed/>
                  </p:oleObj>
                </mc:Choice>
                <mc:Fallback>
                  <p:oleObj r:id="rId14" imgW="215900" imgH="2286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184" y="3521"/>
                          <a:ext cx="260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21"/>
            <p:cNvGraphicFramePr>
              <a:graphicFrameLocks noChangeAspect="1"/>
            </p:cNvGraphicFramePr>
            <p:nvPr/>
          </p:nvGraphicFramePr>
          <p:xfrm>
            <a:off x="3674" y="3492"/>
            <a:ext cx="24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65100" imgH="190500" progId="Equation.3">
                    <p:embed/>
                  </p:oleObj>
                </mc:Choice>
                <mc:Fallback>
                  <p:oleObj r:id="rId16" imgW="165100" imgH="1905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674" y="3492"/>
                          <a:ext cx="242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22"/>
            <p:cNvGraphicFramePr>
              <a:graphicFrameLocks noChangeAspect="1"/>
            </p:cNvGraphicFramePr>
            <p:nvPr/>
          </p:nvGraphicFramePr>
          <p:xfrm>
            <a:off x="5091" y="3492"/>
            <a:ext cx="21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52400" imgH="177800" progId="Equation.3">
                    <p:embed/>
                  </p:oleObj>
                </mc:Choice>
                <mc:Fallback>
                  <p:oleObj r:id="rId18" imgW="152400" imgH="1778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091" y="3492"/>
                          <a:ext cx="215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7" name="Object 23"/>
            <p:cNvGraphicFramePr>
              <a:graphicFrameLocks noChangeAspect="1"/>
            </p:cNvGraphicFramePr>
            <p:nvPr/>
          </p:nvGraphicFramePr>
          <p:xfrm>
            <a:off x="3220" y="2358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381000" imgH="393700" progId="Equation.3">
                    <p:embed/>
                  </p:oleObj>
                </mc:Choice>
                <mc:Fallback>
                  <p:oleObj r:id="rId20" imgW="381000" imgH="3937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220" y="2358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8" name="Object 24"/>
            <p:cNvGraphicFramePr>
              <a:graphicFrameLocks noChangeAspect="1"/>
            </p:cNvGraphicFramePr>
            <p:nvPr/>
          </p:nvGraphicFramePr>
          <p:xfrm>
            <a:off x="4439" y="2500"/>
            <a:ext cx="1021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96900" imgH="393700" progId="Equation.3">
                    <p:embed/>
                  </p:oleObj>
                </mc:Choice>
                <mc:Fallback>
                  <p:oleObj r:id="rId2" imgW="596900" imgH="3937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439" y="2500"/>
                          <a:ext cx="1021" cy="6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09" name="Rectangle 2"/>
          <p:cNvSpPr/>
          <p:nvPr/>
        </p:nvSpPr>
        <p:spPr>
          <a:xfrm>
            <a:off x="250825" y="4100513"/>
            <a:ext cx="86185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长直密绕螺线管，单位长度有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匝，通有电流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，管内磁场</a:t>
            </a:r>
          </a:p>
        </p:txBody>
      </p:sp>
      <p:graphicFrame>
        <p:nvGraphicFramePr>
          <p:cNvPr id="273415" name="Object 7"/>
          <p:cNvGraphicFramePr>
            <a:graphicFrameLocks noChangeAspect="1"/>
          </p:cNvGraphicFramePr>
          <p:nvPr/>
        </p:nvGraphicFramePr>
        <p:xfrm>
          <a:off x="2484438" y="4652963"/>
          <a:ext cx="2057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596900" imgH="228600" progId="Equation.3">
                  <p:embed/>
                </p:oleObj>
              </mc:Choice>
              <mc:Fallback>
                <p:oleObj r:id="rId22" imgW="596900" imgH="2286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484438" y="4652963"/>
                        <a:ext cx="2057400" cy="711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6" name="Text Box 8"/>
          <p:cNvSpPr txBox="1"/>
          <p:nvPr/>
        </p:nvSpPr>
        <p:spPr>
          <a:xfrm>
            <a:off x="484188" y="5591175"/>
            <a:ext cx="7883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无限长载流螺线管内部磁场处处相等 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外部磁场为零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文本框 3"/>
          <p:cNvSpPr txBox="1"/>
          <p:nvPr>
            <p:custDataLst>
              <p:tags r:id="rId1"/>
            </p:custDataLst>
          </p:nvPr>
        </p:nvSpPr>
        <p:spPr>
          <a:xfrm>
            <a:off x="384175" y="358775"/>
            <a:ext cx="8142288" cy="2168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讨论题</a:t>
            </a:r>
            <a:r>
              <a:rPr lang="en-US" altLang="zh-CN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将半径为R的无限长导体薄壁管(厚度忽略)沿轴向割去一宽度为h ( h &lt;&lt; R)的无限长狭缝后，再沿轴向流有在管壁上均匀分布的电流，其面电流密度(垂直于电流的单位长度截线上的电流)为i (如上图)，则</a:t>
            </a:r>
            <a:r>
              <a:rPr lang="zh-CN" altLang="en-US">
                <a:latin typeface="Verdana" panose="020B0604030504040204" pitchFamily="34" charset="0"/>
                <a:ea typeface="宋体" panose="02010600030101010101" pitchFamily="2" charset="-122"/>
              </a:rPr>
              <a:t>如何求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管轴线磁感强度的大小</a:t>
            </a:r>
            <a:r>
              <a:rPr lang="zh-CN" altLang="en-US">
                <a:latin typeface="Verdana" panose="020B0604030504040204" pitchFamily="34" charset="0"/>
                <a:ea typeface="宋体" panose="02010600030101010101" pitchFamily="2" charset="-122"/>
              </a:rPr>
              <a:t>？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32770" name="Picture 147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11275" y="2908300"/>
            <a:ext cx="1651000" cy="2971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文本框 3"/>
          <p:cNvSpPr txBox="1"/>
          <p:nvPr>
            <p:custDataLst>
              <p:tags r:id="rId1"/>
            </p:custDataLst>
          </p:nvPr>
        </p:nvSpPr>
        <p:spPr>
          <a:xfrm>
            <a:off x="527050" y="764540"/>
            <a:ext cx="817562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课前测： </a:t>
            </a:r>
            <a:endParaRPr lang="en-US" altLang="zh-CN" sz="2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3891" name="Text Box 3"/>
          <p:cNvSpPr txBox="1"/>
          <p:nvPr>
            <p:custDataLst>
              <p:tags r:id="rId2"/>
            </p:custDataLst>
          </p:nvPr>
        </p:nvSpPr>
        <p:spPr>
          <a:xfrm>
            <a:off x="6299835" y="5013325"/>
            <a:ext cx="20335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答案：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(B)</a:t>
            </a:r>
          </a:p>
        </p:txBody>
      </p:sp>
      <p:sp>
        <p:nvSpPr>
          <p:cNvPr id="7174" name="文本框 99"/>
          <p:cNvSpPr txBox="1"/>
          <p:nvPr>
            <p:custDataLst>
              <p:tags r:id="rId3"/>
            </p:custDataLst>
          </p:nvPr>
        </p:nvSpPr>
        <p:spPr>
          <a:xfrm>
            <a:off x="703263" y="1772920"/>
            <a:ext cx="7605712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均匀磁场的磁感强度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垂直于半径为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的圆面．今以该圆周为边线，作一半球面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，则通过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面的磁通量的大小为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en-US" sz="2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5" name="文本框 100"/>
          <p:cNvSpPr txBox="1"/>
          <p:nvPr>
            <p:custDataLst>
              <p:tags r:id="rId4"/>
            </p:custDataLst>
          </p:nvPr>
        </p:nvSpPr>
        <p:spPr>
          <a:xfrm>
            <a:off x="1187450" y="3195320"/>
            <a:ext cx="601853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(A)  2</a:t>
            </a:r>
            <a:r>
              <a:rPr lang="en-US" altLang="zh-CN" sz="2400">
                <a:latin typeface="Symbol" panose="05050102010706020507" charset="0"/>
                <a:ea typeface="宋体" panose="02010600030101010101" pitchFamily="2" charset="-122"/>
              </a:rPr>
              <a:t>p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(B)  </a:t>
            </a:r>
            <a:r>
              <a:rPr lang="en-US" altLang="zh-CN" sz="2400">
                <a:latin typeface="Symbol" panose="05050102010706020507" charset="0"/>
                <a:ea typeface="宋体" panose="02010600030101010101" pitchFamily="2" charset="-122"/>
              </a:rPr>
              <a:t>p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(C)  0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(D)  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无法确定的量．</a:t>
            </a:r>
            <a:endParaRPr lang="zh-CN" altLang="en-US" sz="2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176" name="对象 3"/>
          <p:cNvGraphicFramePr/>
          <p:nvPr>
            <p:custDataLst>
              <p:tags r:id="rId5"/>
            </p:custDataLst>
          </p:nvPr>
        </p:nvGraphicFramePr>
        <p:xfrm>
          <a:off x="3996055" y="1844675"/>
          <a:ext cx="375285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84480" imgH="289560" progId="Equation.KSEE3">
                  <p:embed/>
                </p:oleObj>
              </mc:Choice>
              <mc:Fallback>
                <p:oleObj r:id="rId7" imgW="284480" imgH="28956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96055" y="1844675"/>
                        <a:ext cx="375285" cy="4724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3"/>
          <p:cNvSpPr txBox="1"/>
          <p:nvPr>
            <p:custDataLst>
              <p:tags r:id="rId1"/>
            </p:custDataLst>
          </p:nvPr>
        </p:nvSpPr>
        <p:spPr>
          <a:xfrm>
            <a:off x="467360" y="467995"/>
            <a:ext cx="8175625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课前测：</a:t>
            </a:r>
            <a:r>
              <a:rPr lang="zh-CN" altLang="en-US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如图，在圆形电流所在平面内，选取一个同心圆形闭合回路，则由安培环路定理可知</a:t>
            </a:r>
            <a:endParaRPr lang="en-US" altLang="zh-CN" sz="2800" b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5604" name="Group 4"/>
          <p:cNvGrpSpPr/>
          <p:nvPr/>
        </p:nvGrpSpPr>
        <p:grpSpPr>
          <a:xfrm>
            <a:off x="7019925" y="2132330"/>
            <a:ext cx="2082800" cy="1651000"/>
            <a:chOff x="432" y="144"/>
            <a:chExt cx="1762" cy="1440"/>
          </a:xfrm>
        </p:grpSpPr>
        <p:sp>
          <p:nvSpPr>
            <p:cNvPr id="25605" name="Oval 5"/>
            <p:cNvSpPr/>
            <p:nvPr>
              <p:custDataLst>
                <p:tags r:id="rId11"/>
              </p:custDataLst>
            </p:nvPr>
          </p:nvSpPr>
          <p:spPr>
            <a:xfrm>
              <a:off x="432" y="144"/>
              <a:ext cx="1440" cy="1440"/>
            </a:xfrm>
            <a:prstGeom prst="ellipse">
              <a:avLst/>
            </a:prstGeom>
            <a:noFill/>
            <a:ln w="38100" cap="flat" cmpd="sng">
              <a:solidFill>
                <a:srgbClr val="FF00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6" name="Oval 6"/>
            <p:cNvSpPr/>
            <p:nvPr>
              <p:custDataLst>
                <p:tags r:id="rId12"/>
              </p:custDataLst>
            </p:nvPr>
          </p:nvSpPr>
          <p:spPr>
            <a:xfrm>
              <a:off x="720" y="432"/>
              <a:ext cx="912" cy="912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7" name="Line 7"/>
            <p:cNvSpPr/>
            <p:nvPr>
              <p:custDataLst>
                <p:tags r:id="rId13"/>
              </p:custDataLst>
            </p:nvPr>
          </p:nvSpPr>
          <p:spPr>
            <a:xfrm flipV="1">
              <a:off x="1872" y="816"/>
              <a:ext cx="0" cy="96"/>
            </a:xfrm>
            <a:prstGeom prst="line">
              <a:avLst/>
            </a:prstGeom>
            <a:ln w="38100" cap="flat" cmpd="sng">
              <a:solidFill>
                <a:srgbClr val="FF0033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08" name="Line 8"/>
            <p:cNvSpPr/>
            <p:nvPr>
              <p:custDataLst>
                <p:tags r:id="rId14"/>
              </p:custDataLst>
            </p:nvPr>
          </p:nvSpPr>
          <p:spPr>
            <a:xfrm flipV="1">
              <a:off x="1632" y="816"/>
              <a:ext cx="0" cy="144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09" name="Text Box 9"/>
            <p:cNvSpPr txBox="1"/>
            <p:nvPr>
              <p:custDataLst>
                <p:tags r:id="rId15"/>
              </p:custDataLst>
            </p:nvPr>
          </p:nvSpPr>
          <p:spPr>
            <a:xfrm>
              <a:off x="1872" y="672"/>
              <a:ext cx="322" cy="4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25610" name="Text Box 10"/>
            <p:cNvSpPr txBox="1"/>
            <p:nvPr>
              <p:custDataLst>
                <p:tags r:id="rId16"/>
              </p:custDataLst>
            </p:nvPr>
          </p:nvSpPr>
          <p:spPr>
            <a:xfrm>
              <a:off x="1173" y="672"/>
              <a:ext cx="384" cy="45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</p:grpSp>
      <p:grpSp>
        <p:nvGrpSpPr>
          <p:cNvPr id="25611" name="组合 1"/>
          <p:cNvGrpSpPr/>
          <p:nvPr/>
        </p:nvGrpSpPr>
        <p:grpSpPr>
          <a:xfrm>
            <a:off x="619760" y="2020573"/>
            <a:ext cx="7576931" cy="3154115"/>
            <a:chOff x="1270" y="5832"/>
            <a:chExt cx="11934" cy="4967"/>
          </a:xfrm>
        </p:grpSpPr>
        <p:grpSp>
          <p:nvGrpSpPr>
            <p:cNvPr id="25612" name="Group 25"/>
            <p:cNvGrpSpPr/>
            <p:nvPr/>
          </p:nvGrpSpPr>
          <p:grpSpPr>
            <a:xfrm>
              <a:off x="1270" y="5832"/>
              <a:ext cx="10961" cy="1122"/>
              <a:chOff x="414" y="1485"/>
              <a:chExt cx="4385" cy="449"/>
            </a:xfrm>
          </p:grpSpPr>
          <p:sp>
            <p:nvSpPr>
              <p:cNvPr id="25613" name="Text 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14" y="1536"/>
                <a:ext cx="4385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(A)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      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　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,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且环路上任意一点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B=0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</a:p>
            </p:txBody>
          </p:sp>
          <p:graphicFrame>
            <p:nvGraphicFramePr>
              <p:cNvPr id="25614" name="Object 14"/>
              <p:cNvGraphicFramePr>
                <a:graphicFrameLocks noChangeAspect="1"/>
              </p:cNvGraphicFramePr>
              <p:nvPr>
                <p:custDataLst>
                  <p:tags r:id="rId10"/>
                </p:custDataLst>
              </p:nvPr>
            </p:nvGraphicFramePr>
            <p:xfrm>
              <a:off x="862" y="1485"/>
              <a:ext cx="1092" cy="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698500" imgH="292100" progId="Equation.3">
                      <p:embed/>
                    </p:oleObj>
                  </mc:Choice>
                  <mc:Fallback>
                    <p:oleObj r:id="rId18" imgW="698500" imgH="292100" progId="Equation.3">
                      <p:embed/>
                      <p:pic>
                        <p:nvPicPr>
                          <p:cNvPr id="0" name="图片 3090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862" y="1485"/>
                            <a:ext cx="1092" cy="4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615" name="Group 26"/>
            <p:cNvGrpSpPr/>
            <p:nvPr/>
          </p:nvGrpSpPr>
          <p:grpSpPr>
            <a:xfrm>
              <a:off x="1283" y="7048"/>
              <a:ext cx="10820" cy="1148"/>
              <a:chOff x="277" y="2246"/>
              <a:chExt cx="4328" cy="459"/>
            </a:xfrm>
          </p:grpSpPr>
          <p:graphicFrame>
            <p:nvGraphicFramePr>
              <p:cNvPr id="25616" name="Object 16"/>
              <p:cNvGraphicFramePr>
                <a:graphicFrameLocks noChangeAspect="1"/>
              </p:cNvGraphicFramePr>
              <p:nvPr>
                <p:custDataLst>
                  <p:tags r:id="rId7"/>
                </p:custDataLst>
              </p:nvPr>
            </p:nvGraphicFramePr>
            <p:xfrm>
              <a:off x="720" y="2246"/>
              <a:ext cx="1092" cy="4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698500" imgH="292100" progId="Equation.3">
                      <p:embed/>
                    </p:oleObj>
                  </mc:Choice>
                  <mc:Fallback>
                    <p:oleObj r:id="rId18" imgW="698500" imgH="292100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720" y="2246"/>
                            <a:ext cx="1092" cy="4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17" name="Text Box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77" y="2307"/>
                <a:ext cx="432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(B)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         ,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且环路上任意一点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0.</a:t>
                </a:r>
              </a:p>
            </p:txBody>
          </p:sp>
        </p:grpSp>
        <p:grpSp>
          <p:nvGrpSpPr>
            <p:cNvPr id="25618" name="Group 27"/>
            <p:cNvGrpSpPr/>
            <p:nvPr/>
          </p:nvGrpSpPr>
          <p:grpSpPr>
            <a:xfrm>
              <a:off x="1270" y="8290"/>
              <a:ext cx="10388" cy="1175"/>
              <a:chOff x="300" y="2669"/>
              <a:chExt cx="4155" cy="470"/>
            </a:xfrm>
          </p:grpSpPr>
          <p:graphicFrame>
            <p:nvGraphicFramePr>
              <p:cNvPr id="25619" name="Object 19"/>
              <p:cNvGraphicFramePr>
                <a:graphicFrameLocks noChangeAspect="1"/>
              </p:cNvGraphicFramePr>
              <p:nvPr>
                <p:custDataLst>
                  <p:tags r:id="rId5"/>
                </p:custDataLst>
              </p:nvPr>
            </p:nvGraphicFramePr>
            <p:xfrm>
              <a:off x="748" y="2669"/>
              <a:ext cx="1128" cy="4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698500" imgH="292100" progId="Equation.3">
                      <p:embed/>
                    </p:oleObj>
                  </mc:Choice>
                  <mc:Fallback>
                    <p:oleObj r:id="rId20" imgW="698500" imgH="292100" progId="Equation.3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748" y="2669"/>
                            <a:ext cx="1128" cy="47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0" name="Text Box 2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00" y="2687"/>
                <a:ext cx="4155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(C) 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        ,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且环路上任意一点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0.</a:t>
                </a:r>
              </a:p>
            </p:txBody>
          </p:sp>
        </p:grpSp>
        <p:grpSp>
          <p:nvGrpSpPr>
            <p:cNvPr id="25621" name="Group 28"/>
            <p:cNvGrpSpPr/>
            <p:nvPr/>
          </p:nvGrpSpPr>
          <p:grpSpPr>
            <a:xfrm>
              <a:off x="1371" y="9661"/>
              <a:ext cx="11833" cy="1137"/>
              <a:chOff x="372" y="3615"/>
              <a:chExt cx="4733" cy="455"/>
            </a:xfrm>
          </p:grpSpPr>
          <p:graphicFrame>
            <p:nvGraphicFramePr>
              <p:cNvPr id="25622" name="Object 22"/>
              <p:cNvGraphicFramePr>
                <a:graphicFrameLocks noChangeAspect="1"/>
              </p:cNvGraphicFramePr>
              <p:nvPr>
                <p:custDataLst>
                  <p:tags r:id="rId3"/>
                </p:custDataLst>
              </p:nvPr>
            </p:nvGraphicFramePr>
            <p:xfrm>
              <a:off x="812" y="3615"/>
              <a:ext cx="1096" cy="4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698500" imgH="292100" progId="Equation.3">
                      <p:embed/>
                    </p:oleObj>
                  </mc:Choice>
                  <mc:Fallback>
                    <p:oleObj r:id="rId20" imgW="698500" imgH="292100" progId="Equation.3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812" y="3615"/>
                            <a:ext cx="1096" cy="4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3" name="Text Box 23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72" y="3659"/>
                <a:ext cx="473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(D)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        ,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且环路上任意一点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B=</a:t>
                </a:r>
                <a:r>
                  <a:rPr lang="zh-CN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常量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</a:p>
            </p:txBody>
          </p:sp>
        </p:grpSp>
      </p:grpSp>
      <p:sp>
        <p:nvSpPr>
          <p:cNvPr id="293891" name="Text Box 3"/>
          <p:cNvSpPr txBox="1"/>
          <p:nvPr>
            <p:custDataLst>
              <p:tags r:id="rId2"/>
            </p:custDataLst>
          </p:nvPr>
        </p:nvSpPr>
        <p:spPr>
          <a:xfrm>
            <a:off x="755650" y="5454015"/>
            <a:ext cx="20335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答案：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13314" name="Text Box 2"/>
          <p:cNvSpPr txBox="1"/>
          <p:nvPr/>
        </p:nvSpPr>
        <p:spPr>
          <a:xfrm>
            <a:off x="2733675" y="711200"/>
            <a:ext cx="3676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§11-5</a:t>
            </a:r>
            <a:r>
              <a:rPr lang="en-US" altLang="zh-CN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安培定律</a:t>
            </a:r>
          </a:p>
        </p:txBody>
      </p:sp>
      <p:sp>
        <p:nvSpPr>
          <p:cNvPr id="61462" name="Text Box 22"/>
          <p:cNvSpPr txBox="1"/>
          <p:nvPr/>
        </p:nvSpPr>
        <p:spPr>
          <a:xfrm>
            <a:off x="395288" y="2060575"/>
            <a:ext cx="555307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、任意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载流导线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在磁场中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所受的安培力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6" name="Text Box 32"/>
          <p:cNvSpPr txBox="1"/>
          <p:nvPr/>
        </p:nvSpPr>
        <p:spPr>
          <a:xfrm>
            <a:off x="395288" y="1266825"/>
            <a:ext cx="2100262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、安培定律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317" name="Object 25"/>
          <p:cNvGraphicFramePr/>
          <p:nvPr/>
        </p:nvGraphicFramePr>
        <p:xfrm>
          <a:off x="2484438" y="1268413"/>
          <a:ext cx="249713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52500" imgH="241300" progId="Equation.3">
                  <p:embed/>
                </p:oleObj>
              </mc:Choice>
              <mc:Fallback>
                <p:oleObj r:id="rId2" imgW="952500" imgH="2413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84438" y="1268413"/>
                        <a:ext cx="2497137" cy="6731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对象 1"/>
          <p:cNvGraphicFramePr/>
          <p:nvPr/>
        </p:nvGraphicFramePr>
        <p:xfrm>
          <a:off x="5940425" y="1911350"/>
          <a:ext cx="2884488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34285" imgH="911225" progId="Equation.DSMT4">
                  <p:embed/>
                </p:oleObj>
              </mc:Choice>
              <mc:Fallback>
                <p:oleObj r:id="rId4" imgW="2534285" imgH="911225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0425" y="1911350"/>
                        <a:ext cx="2884488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2" name="Text Box 42"/>
          <p:cNvSpPr txBox="1"/>
          <p:nvPr/>
        </p:nvSpPr>
        <p:spPr>
          <a:xfrm>
            <a:off x="395288" y="5373688"/>
            <a:ext cx="45116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适用条件：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400" b="1" dirty="0">
                <a:solidFill>
                  <a:srgbClr val="3366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均匀磁场</a:t>
            </a:r>
          </a:p>
        </p:txBody>
      </p:sp>
      <p:grpSp>
        <p:nvGrpSpPr>
          <p:cNvPr id="13320" name="组合 5"/>
          <p:cNvGrpSpPr/>
          <p:nvPr/>
        </p:nvGrpSpPr>
        <p:grpSpPr>
          <a:xfrm>
            <a:off x="571500" y="3382963"/>
            <a:ext cx="3429000" cy="1905000"/>
            <a:chOff x="600" y="1985"/>
            <a:chExt cx="5400" cy="3000"/>
          </a:xfrm>
        </p:grpSpPr>
        <p:grpSp>
          <p:nvGrpSpPr>
            <p:cNvPr id="13321" name="Group 5"/>
            <p:cNvGrpSpPr/>
            <p:nvPr/>
          </p:nvGrpSpPr>
          <p:grpSpPr>
            <a:xfrm>
              <a:off x="840" y="2945"/>
              <a:ext cx="840" cy="720"/>
              <a:chOff x="3120" y="1056"/>
              <a:chExt cx="432" cy="340"/>
            </a:xfrm>
          </p:grpSpPr>
          <p:graphicFrame>
            <p:nvGraphicFramePr>
              <p:cNvPr id="13322" name="Object 6"/>
              <p:cNvGraphicFramePr>
                <a:graphicFrameLocks noChangeAspect="1"/>
              </p:cNvGraphicFramePr>
              <p:nvPr/>
            </p:nvGraphicFramePr>
            <p:xfrm>
              <a:off x="3216" y="1056"/>
              <a:ext cx="336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203200" imgH="203200" progId="Equation.3">
                      <p:embed/>
                    </p:oleObj>
                  </mc:Choice>
                  <mc:Fallback>
                    <p:oleObj r:id="rId6" imgW="203200" imgH="203200" progId="Equation.3">
                      <p:embed/>
                      <p:pic>
                        <p:nvPicPr>
                          <p:cNvPr id="0" name="图片 3118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3216" y="1056"/>
                            <a:ext cx="336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23" name="Object 7"/>
              <p:cNvGraphicFramePr>
                <a:graphicFrameLocks noChangeAspect="1"/>
              </p:cNvGraphicFramePr>
              <p:nvPr/>
            </p:nvGraphicFramePr>
            <p:xfrm>
              <a:off x="3120" y="1104"/>
              <a:ext cx="225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27000" imgH="165100" progId="Equation.3">
                      <p:embed/>
                    </p:oleObj>
                  </mc:Choice>
                  <mc:Fallback>
                    <p:oleObj r:id="rId8" imgW="127000" imgH="165100" progId="Equation.3">
                      <p:embed/>
                      <p:pic>
                        <p:nvPicPr>
                          <p:cNvPr id="0" name="图片 311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120" y="1104"/>
                            <a:ext cx="225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324" name="Object 8"/>
            <p:cNvGraphicFramePr>
              <a:graphicFrameLocks noChangeAspect="1"/>
            </p:cNvGraphicFramePr>
            <p:nvPr/>
          </p:nvGraphicFramePr>
          <p:xfrm>
            <a:off x="3120" y="4385"/>
            <a:ext cx="345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01600" imgH="177800" progId="Equation.3">
                    <p:embed/>
                  </p:oleObj>
                </mc:Choice>
                <mc:Fallback>
                  <p:oleObj r:id="rId10" imgW="101600" imgH="1778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120" y="4385"/>
                          <a:ext cx="345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5" name="Freeform 9"/>
            <p:cNvSpPr/>
            <p:nvPr/>
          </p:nvSpPr>
          <p:spPr>
            <a:xfrm>
              <a:off x="1343" y="2950"/>
              <a:ext cx="3905" cy="1428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1562" h="549">
                  <a:moveTo>
                    <a:pt x="0" y="536"/>
                  </a:moveTo>
                  <a:cubicBezTo>
                    <a:pt x="72" y="454"/>
                    <a:pt x="254" y="71"/>
                    <a:pt x="430" y="38"/>
                  </a:cubicBezTo>
                  <a:cubicBezTo>
                    <a:pt x="615" y="0"/>
                    <a:pt x="795" y="549"/>
                    <a:pt x="1059" y="338"/>
                  </a:cubicBezTo>
                  <a:cubicBezTo>
                    <a:pt x="1323" y="127"/>
                    <a:pt x="1487" y="455"/>
                    <a:pt x="1562" y="491"/>
                  </a:cubicBez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Line 10"/>
            <p:cNvSpPr/>
            <p:nvPr/>
          </p:nvSpPr>
          <p:spPr>
            <a:xfrm>
              <a:off x="600" y="4265"/>
              <a:ext cx="540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27" name="Line 11"/>
            <p:cNvSpPr/>
            <p:nvPr/>
          </p:nvSpPr>
          <p:spPr>
            <a:xfrm flipV="1">
              <a:off x="1320" y="222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graphicFrame>
          <p:nvGraphicFramePr>
            <p:cNvPr id="13328" name="Object 12"/>
            <p:cNvGraphicFramePr>
              <a:graphicFrameLocks noChangeAspect="1"/>
            </p:cNvGraphicFramePr>
            <p:nvPr/>
          </p:nvGraphicFramePr>
          <p:xfrm>
            <a:off x="5235" y="1985"/>
            <a:ext cx="685" cy="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52400" imgH="190500" progId="Equation.3">
                    <p:embed/>
                  </p:oleObj>
                </mc:Choice>
                <mc:Fallback>
                  <p:oleObj r:id="rId12" imgW="152400" imgH="1905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235" y="1985"/>
                          <a:ext cx="685" cy="8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13"/>
            <p:cNvGraphicFramePr>
              <a:graphicFrameLocks noChangeAspect="1"/>
            </p:cNvGraphicFramePr>
            <p:nvPr/>
          </p:nvGraphicFramePr>
          <p:xfrm>
            <a:off x="1860" y="3395"/>
            <a:ext cx="438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27000" imgH="177165" progId="Equation.3">
                    <p:embed/>
                  </p:oleObj>
                </mc:Choice>
                <mc:Fallback>
                  <p:oleObj r:id="rId14" imgW="127000" imgH="177165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860" y="3395"/>
                          <a:ext cx="438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Object 14"/>
            <p:cNvGraphicFramePr>
              <a:graphicFrameLocks noChangeAspect="1"/>
            </p:cNvGraphicFramePr>
            <p:nvPr/>
          </p:nvGraphicFramePr>
          <p:xfrm>
            <a:off x="820" y="4265"/>
            <a:ext cx="548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27000" imgH="139700" progId="Equation.3">
                    <p:embed/>
                  </p:oleObj>
                </mc:Choice>
                <mc:Fallback>
                  <p:oleObj r:id="rId16" imgW="127000" imgH="1397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20" y="4265"/>
                          <a:ext cx="548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15"/>
            <p:cNvGraphicFramePr>
              <a:graphicFrameLocks noChangeAspect="1"/>
            </p:cNvGraphicFramePr>
            <p:nvPr/>
          </p:nvGraphicFramePr>
          <p:xfrm>
            <a:off x="5280" y="4265"/>
            <a:ext cx="515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27000" imgH="177165" progId="Equation.3">
                    <p:embed/>
                  </p:oleObj>
                </mc:Choice>
                <mc:Fallback>
                  <p:oleObj r:id="rId18" imgW="127000" imgH="177165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280" y="4265"/>
                          <a:ext cx="515" cy="7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2" name="Line 16"/>
            <p:cNvSpPr/>
            <p:nvPr/>
          </p:nvSpPr>
          <p:spPr>
            <a:xfrm>
              <a:off x="3600" y="4625"/>
              <a:ext cx="1700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3333" name="Freeform 17"/>
            <p:cNvSpPr/>
            <p:nvPr/>
          </p:nvSpPr>
          <p:spPr>
            <a:xfrm>
              <a:off x="1380" y="4625"/>
              <a:ext cx="1740" cy="3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0" y="0"/>
                </a:cxn>
              </a:cxnLst>
              <a:rect l="0" t="0" r="0" b="0"/>
              <a:pathLst>
                <a:path w="696" h="1">
                  <a:moveTo>
                    <a:pt x="696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Line 18"/>
            <p:cNvSpPr/>
            <p:nvPr/>
          </p:nvSpPr>
          <p:spPr>
            <a:xfrm>
              <a:off x="1380" y="4265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5" name="Freeform 19"/>
            <p:cNvSpPr/>
            <p:nvPr/>
          </p:nvSpPr>
          <p:spPr>
            <a:xfrm>
              <a:off x="1680" y="3185"/>
              <a:ext cx="483" cy="6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0"/>
                </a:cxn>
              </a:cxnLst>
              <a:rect l="0" t="0" r="0" b="0"/>
              <a:pathLst>
                <a:path w="97" h="228">
                  <a:moveTo>
                    <a:pt x="0" y="228"/>
                  </a:moveTo>
                  <a:cubicBezTo>
                    <a:pt x="21" y="136"/>
                    <a:pt x="77" y="47"/>
                    <a:pt x="97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Line 20"/>
            <p:cNvSpPr/>
            <p:nvPr/>
          </p:nvSpPr>
          <p:spPr>
            <a:xfrm>
              <a:off x="2640" y="3065"/>
              <a:ext cx="720" cy="840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37" name="Line 21"/>
            <p:cNvSpPr/>
            <p:nvPr/>
          </p:nvSpPr>
          <p:spPr>
            <a:xfrm flipV="1">
              <a:off x="288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3338" name="Line 22"/>
            <p:cNvSpPr/>
            <p:nvPr/>
          </p:nvSpPr>
          <p:spPr>
            <a:xfrm flipV="1">
              <a:off x="360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3339" name="Line 23"/>
            <p:cNvSpPr/>
            <p:nvPr/>
          </p:nvSpPr>
          <p:spPr>
            <a:xfrm flipV="1">
              <a:off x="432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3340" name="Line 24"/>
            <p:cNvSpPr/>
            <p:nvPr/>
          </p:nvSpPr>
          <p:spPr>
            <a:xfrm flipV="1">
              <a:off x="216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3341" name="Line 25"/>
            <p:cNvSpPr/>
            <p:nvPr/>
          </p:nvSpPr>
          <p:spPr>
            <a:xfrm>
              <a:off x="5280" y="4265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42" name="Line 40"/>
            <p:cNvSpPr/>
            <p:nvPr/>
          </p:nvSpPr>
          <p:spPr>
            <a:xfrm>
              <a:off x="1373" y="4310"/>
              <a:ext cx="388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43" name="Freeform 43"/>
            <p:cNvSpPr/>
            <p:nvPr/>
          </p:nvSpPr>
          <p:spPr>
            <a:xfrm>
              <a:off x="1508" y="3690"/>
              <a:ext cx="390" cy="62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156" h="248">
                  <a:moveTo>
                    <a:pt x="0" y="65"/>
                  </a:moveTo>
                  <a:cubicBezTo>
                    <a:pt x="24" y="0"/>
                    <a:pt x="77" y="39"/>
                    <a:pt x="128" y="56"/>
                  </a:cubicBezTo>
                  <a:cubicBezTo>
                    <a:pt x="156" y="135"/>
                    <a:pt x="138" y="74"/>
                    <a:pt x="138" y="24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4532" name="Object 20"/>
          <p:cNvGraphicFramePr>
            <a:graphicFrameLocks noChangeAspect="1"/>
          </p:cNvGraphicFramePr>
          <p:nvPr/>
        </p:nvGraphicFramePr>
        <p:xfrm>
          <a:off x="4157663" y="3717925"/>
          <a:ext cx="26019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824230" imgH="215900" progId="Equation.DSMT4">
                  <p:embed/>
                </p:oleObj>
              </mc:Choice>
              <mc:Fallback>
                <p:oleObj r:id="rId20" imgW="824230" imgH="2159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157663" y="3717925"/>
                        <a:ext cx="2601912" cy="682625"/>
                      </a:xfrm>
                      <a:prstGeom prst="rect">
                        <a:avLst/>
                      </a:prstGeom>
                      <a:solidFill>
                        <a:srgbClr val="BBE0E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42"/>
          <p:cNvSpPr txBox="1"/>
          <p:nvPr/>
        </p:nvSpPr>
        <p:spPr>
          <a:xfrm>
            <a:off x="360363" y="5907088"/>
            <a:ext cx="63992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非匀强磁场，但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导线上各点磁感应强度相同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235825" y="3644900"/>
            <a:ext cx="1335088" cy="2878138"/>
            <a:chOff x="10998" y="6023"/>
            <a:chExt cx="2102" cy="4531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10998" y="6704"/>
              <a:ext cx="0" cy="3245"/>
            </a:xfrm>
            <a:prstGeom prst="line">
              <a:avLst/>
            </a:prstGeom>
            <a:ln w="41275">
              <a:solidFill>
                <a:srgbClr val="000000"/>
              </a:solidFill>
            </a:ln>
          </p:spPr>
          <p:style>
            <a:lnRef idx="1">
              <a:srgbClr val="BBE0E3"/>
            </a:lnRef>
            <a:fillRef idx="0">
              <a:srgbClr val="BBE0E3"/>
            </a:fillRef>
            <a:effectRef idx="0">
              <a:srgbClr val="BBE0E3"/>
            </a:effectRef>
            <a:fontRef idx="minor">
              <a:srgbClr val="000000"/>
            </a:fontRef>
          </p:style>
        </p:cxnSp>
        <p:cxnSp>
          <p:nvCxnSpPr>
            <p:cNvPr id="5" name="直接连接符 4"/>
            <p:cNvCxnSpPr/>
            <p:nvPr/>
          </p:nvCxnSpPr>
          <p:spPr>
            <a:xfrm flipH="1">
              <a:off x="10998" y="6023"/>
              <a:ext cx="5" cy="1078"/>
            </a:xfrm>
            <a:prstGeom prst="line">
              <a:avLst/>
            </a:prstGeom>
            <a:ln w="41275">
              <a:solidFill>
                <a:srgbClr val="000000"/>
              </a:solidFill>
              <a:prstDash val="sysDash"/>
            </a:ln>
          </p:spPr>
          <p:style>
            <a:lnRef idx="1">
              <a:srgbClr val="BBE0E3"/>
            </a:lnRef>
            <a:fillRef idx="0">
              <a:srgbClr val="BBE0E3"/>
            </a:fillRef>
            <a:effectRef idx="0">
              <a:srgbClr val="BBE0E3"/>
            </a:effectRef>
            <a:fontRef idx="minor">
              <a:srgbClr val="000000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1002" y="8274"/>
              <a:ext cx="9" cy="2281"/>
            </a:xfrm>
            <a:prstGeom prst="line">
              <a:avLst/>
            </a:prstGeom>
            <a:ln w="41275">
              <a:solidFill>
                <a:srgbClr val="000000"/>
              </a:solidFill>
              <a:prstDash val="sysDash"/>
              <a:headEnd type="arrow"/>
            </a:ln>
          </p:spPr>
          <p:style>
            <a:lnRef idx="1">
              <a:srgbClr val="BBE0E3"/>
            </a:lnRef>
            <a:fillRef idx="0">
              <a:srgbClr val="BBE0E3"/>
            </a:fillRef>
            <a:effectRef idx="0">
              <a:srgbClr val="BBE0E3"/>
            </a:effectRef>
            <a:fontRef idx="minor">
              <a:srgbClr val="000000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2529" y="6534"/>
              <a:ext cx="0" cy="3245"/>
            </a:xfrm>
            <a:prstGeom prst="line">
              <a:avLst/>
            </a:prstGeom>
            <a:ln w="41275">
              <a:solidFill>
                <a:srgbClr val="FF0000"/>
              </a:solidFill>
              <a:prstDash val="solid"/>
            </a:ln>
          </p:spPr>
          <p:style>
            <a:lnRef idx="1">
              <a:srgbClr val="BBE0E3"/>
            </a:lnRef>
            <a:fillRef idx="0">
              <a:srgbClr val="BBE0E3"/>
            </a:fillRef>
            <a:effectRef idx="0">
              <a:srgbClr val="BBE0E3"/>
            </a:effectRef>
            <a:fontRef idx="minor">
              <a:srgbClr val="000000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2529" y="7327"/>
              <a:ext cx="0" cy="1248"/>
            </a:xfrm>
            <a:prstGeom prst="line">
              <a:avLst/>
            </a:prstGeom>
            <a:ln w="41275">
              <a:solidFill>
                <a:srgbClr val="FF0000"/>
              </a:solidFill>
              <a:prstDash val="solid"/>
              <a:headEnd type="arrow"/>
            </a:ln>
          </p:spPr>
          <p:style>
            <a:lnRef idx="1">
              <a:srgbClr val="BBE0E3"/>
            </a:lnRef>
            <a:fillRef idx="0">
              <a:srgbClr val="BBE0E3"/>
            </a:fillRef>
            <a:effectRef idx="0">
              <a:srgbClr val="BBE0E3"/>
            </a:effectRef>
            <a:fontRef idx="minor">
              <a:srgbClr val="000000"/>
            </a:fontRef>
          </p:style>
        </p:cxnSp>
        <p:graphicFrame>
          <p:nvGraphicFramePr>
            <p:cNvPr id="13352" name="Object 8"/>
            <p:cNvGraphicFramePr>
              <a:graphicFrameLocks noChangeAspect="1"/>
            </p:cNvGraphicFramePr>
            <p:nvPr/>
          </p:nvGraphicFramePr>
          <p:xfrm>
            <a:off x="12756" y="7950"/>
            <a:ext cx="345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01600" imgH="177800" progId="Equation.3">
                    <p:embed/>
                  </p:oleObj>
                </mc:Choice>
                <mc:Fallback>
                  <p:oleObj r:id="rId10" imgW="101600" imgH="1778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2756" y="7950"/>
                          <a:ext cx="345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3" name="Object 8"/>
            <p:cNvGraphicFramePr>
              <a:graphicFrameLocks noChangeAspect="1"/>
            </p:cNvGraphicFramePr>
            <p:nvPr/>
          </p:nvGraphicFramePr>
          <p:xfrm>
            <a:off x="11544" y="9242"/>
            <a:ext cx="432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27000" imgH="139700" progId="Equation.3">
                    <p:embed/>
                  </p:oleObj>
                </mc:Choice>
                <mc:Fallback>
                  <p:oleObj r:id="rId22" imgW="127000" imgH="1397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1544" y="9242"/>
                          <a:ext cx="432" cy="4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4" name="Object 8"/>
            <p:cNvGraphicFramePr>
              <a:graphicFrameLocks noChangeAspect="1"/>
            </p:cNvGraphicFramePr>
            <p:nvPr/>
          </p:nvGraphicFramePr>
          <p:xfrm>
            <a:off x="11103" y="8113"/>
            <a:ext cx="475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39700" imgH="215900" progId="Equation.3">
                    <p:embed/>
                  </p:oleObj>
                </mc:Choice>
                <mc:Fallback>
                  <p:oleObj r:id="rId24" imgW="139700" imgH="2159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1103" y="8113"/>
                          <a:ext cx="475" cy="7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5" name="Object 8"/>
            <p:cNvGraphicFramePr>
              <a:graphicFrameLocks noChangeAspect="1"/>
            </p:cNvGraphicFramePr>
            <p:nvPr/>
          </p:nvGraphicFramePr>
          <p:xfrm>
            <a:off x="11805" y="7271"/>
            <a:ext cx="562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65100" imgH="215900" progId="Equation.3">
                    <p:embed/>
                  </p:oleObj>
                </mc:Choice>
                <mc:Fallback>
                  <p:oleObj r:id="rId26" imgW="165100" imgH="2159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1805" y="7271"/>
                          <a:ext cx="562" cy="7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6" name="Line 16"/>
            <p:cNvSpPr/>
            <p:nvPr/>
          </p:nvSpPr>
          <p:spPr>
            <a:xfrm flipV="1">
              <a:off x="11038" y="9080"/>
              <a:ext cx="1460" cy="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arrow" w="med" len="med"/>
              <a:tailEnd type="arrow" w="med" len="med"/>
            </a:ln>
          </p:spPr>
        </p:sp>
      </p:grpSp>
      <p:sp>
        <p:nvSpPr>
          <p:cNvPr id="13357" name="Text Box 147"/>
          <p:cNvSpPr txBox="1"/>
          <p:nvPr/>
        </p:nvSpPr>
        <p:spPr>
          <a:xfrm>
            <a:off x="323850" y="2708275"/>
            <a:ext cx="53276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、均匀磁场对电流的安培力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2" grpId="0"/>
      <p:bldP spid="122922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3"/>
          <p:cNvSpPr txBox="1"/>
          <p:nvPr>
            <p:custDataLst>
              <p:tags r:id="rId1"/>
            </p:custDataLst>
          </p:nvPr>
        </p:nvSpPr>
        <p:spPr>
          <a:xfrm>
            <a:off x="360363" y="333375"/>
            <a:ext cx="8135937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讨论题：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Verdana" panose="020B0604030504040204" pitchFamily="34" charset="0"/>
                <a:ea typeface="宋体" panose="02010600030101010101" pitchFamily="2" charset="-122"/>
              </a:rPr>
              <a:t>如何计算载流导线在匀强磁场和非匀强磁场中受到的安培力？</a:t>
            </a:r>
            <a:endParaRPr lang="zh-CN" altLang="en-US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410" name="组合 5"/>
          <p:cNvGrpSpPr/>
          <p:nvPr/>
        </p:nvGrpSpPr>
        <p:grpSpPr>
          <a:xfrm>
            <a:off x="1119188" y="1516063"/>
            <a:ext cx="2870200" cy="1630362"/>
            <a:chOff x="600" y="1985"/>
            <a:chExt cx="5400" cy="3000"/>
          </a:xfrm>
        </p:grpSpPr>
        <p:grpSp>
          <p:nvGrpSpPr>
            <p:cNvPr id="17411" name="Group 5"/>
            <p:cNvGrpSpPr/>
            <p:nvPr/>
          </p:nvGrpSpPr>
          <p:grpSpPr>
            <a:xfrm>
              <a:off x="840" y="2945"/>
              <a:ext cx="840" cy="720"/>
              <a:chOff x="3120" y="1056"/>
              <a:chExt cx="432" cy="340"/>
            </a:xfrm>
          </p:grpSpPr>
          <p:graphicFrame>
            <p:nvGraphicFramePr>
              <p:cNvPr id="17412" name="Object 6"/>
              <p:cNvGraphicFramePr>
                <a:graphicFrameLocks noChangeAspect="1"/>
              </p:cNvGraphicFramePr>
              <p:nvPr>
                <p:custDataLst>
                  <p:tags r:id="rId65"/>
                </p:custDataLst>
              </p:nvPr>
            </p:nvGraphicFramePr>
            <p:xfrm>
              <a:off x="3216" y="1056"/>
              <a:ext cx="336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8" imgW="203200" imgH="203200" progId="Equation.3">
                      <p:embed/>
                    </p:oleObj>
                  </mc:Choice>
                  <mc:Fallback>
                    <p:oleObj r:id="rId68" imgW="203200" imgH="203200" progId="Equation.3">
                      <p:embed/>
                      <p:pic>
                        <p:nvPicPr>
                          <p:cNvPr id="0" name="图片 3160"/>
                          <p:cNvPicPr/>
                          <p:nvPr/>
                        </p:nvPicPr>
                        <p:blipFill>
                          <a:blip r:embed="rId69"/>
                          <a:stretch>
                            <a:fillRect/>
                          </a:stretch>
                        </p:blipFill>
                        <p:spPr>
                          <a:xfrm>
                            <a:off x="3216" y="1056"/>
                            <a:ext cx="336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3" name="Object 7"/>
              <p:cNvGraphicFramePr>
                <a:graphicFrameLocks noChangeAspect="1"/>
              </p:cNvGraphicFramePr>
              <p:nvPr>
                <p:custDataLst>
                  <p:tags r:id="rId66"/>
                </p:custDataLst>
              </p:nvPr>
            </p:nvGraphicFramePr>
            <p:xfrm>
              <a:off x="3120" y="1104"/>
              <a:ext cx="225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0" imgW="127000" imgH="165100" progId="Equation.3">
                      <p:embed/>
                    </p:oleObj>
                  </mc:Choice>
                  <mc:Fallback>
                    <p:oleObj r:id="rId70" imgW="127000" imgH="165100" progId="Equation.3">
                      <p:embed/>
                      <p:pic>
                        <p:nvPicPr>
                          <p:cNvPr id="0" name="图片 3164"/>
                          <p:cNvPicPr/>
                          <p:nvPr/>
                        </p:nvPicPr>
                        <p:blipFill>
                          <a:blip r:embed="rId71"/>
                          <a:stretch>
                            <a:fillRect/>
                          </a:stretch>
                        </p:blipFill>
                        <p:spPr>
                          <a:xfrm>
                            <a:off x="3120" y="1104"/>
                            <a:ext cx="225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414" name="Object 8"/>
            <p:cNvGraphicFramePr>
              <a:graphicFrameLocks noChangeAspect="1"/>
            </p:cNvGraphicFramePr>
            <p:nvPr>
              <p:custDataLst>
                <p:tags r:id="rId45"/>
              </p:custDataLst>
            </p:nvPr>
          </p:nvGraphicFramePr>
          <p:xfrm>
            <a:off x="3120" y="4385"/>
            <a:ext cx="345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2" imgW="101600" imgH="177800" progId="Equation.3">
                    <p:embed/>
                  </p:oleObj>
                </mc:Choice>
                <mc:Fallback>
                  <p:oleObj r:id="rId72" imgW="101600" imgH="1778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73"/>
                        <a:stretch>
                          <a:fillRect/>
                        </a:stretch>
                      </p:blipFill>
                      <p:spPr>
                        <a:xfrm>
                          <a:off x="3120" y="4385"/>
                          <a:ext cx="345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5" name="Freeform 9"/>
            <p:cNvSpPr/>
            <p:nvPr>
              <p:custDataLst>
                <p:tags r:id="rId46"/>
              </p:custDataLst>
            </p:nvPr>
          </p:nvSpPr>
          <p:spPr>
            <a:xfrm>
              <a:off x="1343" y="2950"/>
              <a:ext cx="3905" cy="1428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1562" h="549">
                  <a:moveTo>
                    <a:pt x="0" y="536"/>
                  </a:moveTo>
                  <a:cubicBezTo>
                    <a:pt x="72" y="454"/>
                    <a:pt x="254" y="71"/>
                    <a:pt x="430" y="38"/>
                  </a:cubicBezTo>
                  <a:cubicBezTo>
                    <a:pt x="615" y="0"/>
                    <a:pt x="795" y="549"/>
                    <a:pt x="1059" y="338"/>
                  </a:cubicBezTo>
                  <a:cubicBezTo>
                    <a:pt x="1323" y="127"/>
                    <a:pt x="1487" y="455"/>
                    <a:pt x="1562" y="491"/>
                  </a:cubicBez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Line 10"/>
            <p:cNvSpPr/>
            <p:nvPr>
              <p:custDataLst>
                <p:tags r:id="rId47"/>
              </p:custDataLst>
            </p:nvPr>
          </p:nvSpPr>
          <p:spPr>
            <a:xfrm>
              <a:off x="600" y="4265"/>
              <a:ext cx="54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7417" name="Line 11"/>
            <p:cNvSpPr/>
            <p:nvPr>
              <p:custDataLst>
                <p:tags r:id="rId48"/>
              </p:custDataLst>
            </p:nvPr>
          </p:nvSpPr>
          <p:spPr>
            <a:xfrm flipV="1">
              <a:off x="1320" y="222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graphicFrame>
          <p:nvGraphicFramePr>
            <p:cNvPr id="17418" name="Object 12"/>
            <p:cNvGraphicFramePr>
              <a:graphicFrameLocks noChangeAspect="1"/>
            </p:cNvGraphicFramePr>
            <p:nvPr>
              <p:custDataLst>
                <p:tags r:id="rId49"/>
              </p:custDataLst>
            </p:nvPr>
          </p:nvGraphicFramePr>
          <p:xfrm>
            <a:off x="5235" y="1985"/>
            <a:ext cx="685" cy="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4" imgW="152400" imgH="190500" progId="Equation.3">
                    <p:embed/>
                  </p:oleObj>
                </mc:Choice>
                <mc:Fallback>
                  <p:oleObj r:id="rId74" imgW="152400" imgH="1905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75"/>
                        <a:stretch>
                          <a:fillRect/>
                        </a:stretch>
                      </p:blipFill>
                      <p:spPr>
                        <a:xfrm>
                          <a:off x="5235" y="1985"/>
                          <a:ext cx="685" cy="8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13"/>
            <p:cNvGraphicFramePr>
              <a:graphicFrameLocks noChangeAspect="1"/>
            </p:cNvGraphicFramePr>
            <p:nvPr>
              <p:custDataLst>
                <p:tags r:id="rId50"/>
              </p:custDataLst>
            </p:nvPr>
          </p:nvGraphicFramePr>
          <p:xfrm>
            <a:off x="1860" y="3395"/>
            <a:ext cx="438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6" imgW="127000" imgH="177165" progId="Equation.3">
                    <p:embed/>
                  </p:oleObj>
                </mc:Choice>
                <mc:Fallback>
                  <p:oleObj r:id="rId76" imgW="127000" imgH="177165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77"/>
                        <a:stretch>
                          <a:fillRect/>
                        </a:stretch>
                      </p:blipFill>
                      <p:spPr>
                        <a:xfrm>
                          <a:off x="1860" y="3395"/>
                          <a:ext cx="438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0" name="Object 14"/>
            <p:cNvGraphicFramePr>
              <a:graphicFrameLocks noChangeAspect="1"/>
            </p:cNvGraphicFramePr>
            <p:nvPr>
              <p:custDataLst>
                <p:tags r:id="rId51"/>
              </p:custDataLst>
            </p:nvPr>
          </p:nvGraphicFramePr>
          <p:xfrm>
            <a:off x="820" y="4265"/>
            <a:ext cx="548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8" imgW="127000" imgH="139700" progId="Equation.3">
                    <p:embed/>
                  </p:oleObj>
                </mc:Choice>
                <mc:Fallback>
                  <p:oleObj r:id="rId78" imgW="127000" imgH="1397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79"/>
                        <a:stretch>
                          <a:fillRect/>
                        </a:stretch>
                      </p:blipFill>
                      <p:spPr>
                        <a:xfrm>
                          <a:off x="820" y="4265"/>
                          <a:ext cx="548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1" name="Object 15"/>
            <p:cNvGraphicFramePr>
              <a:graphicFrameLocks noChangeAspect="1"/>
            </p:cNvGraphicFramePr>
            <p:nvPr>
              <p:custDataLst>
                <p:tags r:id="rId52"/>
              </p:custDataLst>
            </p:nvPr>
          </p:nvGraphicFramePr>
          <p:xfrm>
            <a:off x="5280" y="4265"/>
            <a:ext cx="515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0" imgW="127000" imgH="177165" progId="Equation.3">
                    <p:embed/>
                  </p:oleObj>
                </mc:Choice>
                <mc:Fallback>
                  <p:oleObj r:id="rId80" imgW="127000" imgH="177165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81"/>
                        <a:stretch>
                          <a:fillRect/>
                        </a:stretch>
                      </p:blipFill>
                      <p:spPr>
                        <a:xfrm>
                          <a:off x="5280" y="4265"/>
                          <a:ext cx="515" cy="7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2" name="Line 16"/>
            <p:cNvSpPr/>
            <p:nvPr>
              <p:custDataLst>
                <p:tags r:id="rId53"/>
              </p:custDataLst>
            </p:nvPr>
          </p:nvSpPr>
          <p:spPr>
            <a:xfrm>
              <a:off x="3600" y="4625"/>
              <a:ext cx="170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7423" name="Freeform 17"/>
            <p:cNvSpPr/>
            <p:nvPr>
              <p:custDataLst>
                <p:tags r:id="rId54"/>
              </p:custDataLst>
            </p:nvPr>
          </p:nvSpPr>
          <p:spPr>
            <a:xfrm>
              <a:off x="1380" y="4625"/>
              <a:ext cx="1740" cy="3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0" y="0"/>
                </a:cxn>
              </a:cxnLst>
              <a:rect l="0" t="0" r="0" b="0"/>
              <a:pathLst>
                <a:path w="696" h="1">
                  <a:moveTo>
                    <a:pt x="696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Line 18"/>
            <p:cNvSpPr/>
            <p:nvPr>
              <p:custDataLst>
                <p:tags r:id="rId55"/>
              </p:custDataLst>
            </p:nvPr>
          </p:nvSpPr>
          <p:spPr>
            <a:xfrm>
              <a:off x="1380" y="4265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5" name="Freeform 19"/>
            <p:cNvSpPr/>
            <p:nvPr>
              <p:custDataLst>
                <p:tags r:id="rId56"/>
              </p:custDataLst>
            </p:nvPr>
          </p:nvSpPr>
          <p:spPr>
            <a:xfrm>
              <a:off x="1680" y="3185"/>
              <a:ext cx="483" cy="6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0"/>
                </a:cxn>
              </a:cxnLst>
              <a:rect l="0" t="0" r="0" b="0"/>
              <a:pathLst>
                <a:path w="97" h="228">
                  <a:moveTo>
                    <a:pt x="0" y="228"/>
                  </a:moveTo>
                  <a:cubicBezTo>
                    <a:pt x="21" y="136"/>
                    <a:pt x="77" y="47"/>
                    <a:pt x="97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Line 20"/>
            <p:cNvSpPr/>
            <p:nvPr>
              <p:custDataLst>
                <p:tags r:id="rId57"/>
              </p:custDataLst>
            </p:nvPr>
          </p:nvSpPr>
          <p:spPr>
            <a:xfrm>
              <a:off x="2640" y="3065"/>
              <a:ext cx="720" cy="840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27" name="Line 21"/>
            <p:cNvSpPr/>
            <p:nvPr>
              <p:custDataLst>
                <p:tags r:id="rId58"/>
              </p:custDataLst>
            </p:nvPr>
          </p:nvSpPr>
          <p:spPr>
            <a:xfrm flipV="1">
              <a:off x="288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7428" name="Line 22"/>
            <p:cNvSpPr/>
            <p:nvPr>
              <p:custDataLst>
                <p:tags r:id="rId59"/>
              </p:custDataLst>
            </p:nvPr>
          </p:nvSpPr>
          <p:spPr>
            <a:xfrm flipV="1">
              <a:off x="360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7429" name="Line 23"/>
            <p:cNvSpPr/>
            <p:nvPr>
              <p:custDataLst>
                <p:tags r:id="rId60"/>
              </p:custDataLst>
            </p:nvPr>
          </p:nvSpPr>
          <p:spPr>
            <a:xfrm flipV="1">
              <a:off x="432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7430" name="Line 24"/>
            <p:cNvSpPr/>
            <p:nvPr>
              <p:custDataLst>
                <p:tags r:id="rId61"/>
              </p:custDataLst>
            </p:nvPr>
          </p:nvSpPr>
          <p:spPr>
            <a:xfrm flipV="1">
              <a:off x="2160" y="2105"/>
              <a:ext cx="720" cy="216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7431" name="Line 25"/>
            <p:cNvSpPr/>
            <p:nvPr>
              <p:custDataLst>
                <p:tags r:id="rId62"/>
              </p:custDataLst>
            </p:nvPr>
          </p:nvSpPr>
          <p:spPr>
            <a:xfrm>
              <a:off x="5280" y="4265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2" name="Line 40"/>
            <p:cNvSpPr/>
            <p:nvPr>
              <p:custDataLst>
                <p:tags r:id="rId63"/>
              </p:custDataLst>
            </p:nvPr>
          </p:nvSpPr>
          <p:spPr>
            <a:xfrm>
              <a:off x="1373" y="4310"/>
              <a:ext cx="388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33" name="Freeform 43"/>
            <p:cNvSpPr/>
            <p:nvPr>
              <p:custDataLst>
                <p:tags r:id="rId64"/>
              </p:custDataLst>
            </p:nvPr>
          </p:nvSpPr>
          <p:spPr>
            <a:xfrm>
              <a:off x="1508" y="3690"/>
              <a:ext cx="390" cy="62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156" h="248">
                  <a:moveTo>
                    <a:pt x="0" y="65"/>
                  </a:moveTo>
                  <a:cubicBezTo>
                    <a:pt x="24" y="0"/>
                    <a:pt x="77" y="39"/>
                    <a:pt x="128" y="56"/>
                  </a:cubicBezTo>
                  <a:cubicBezTo>
                    <a:pt x="156" y="135"/>
                    <a:pt x="138" y="74"/>
                    <a:pt x="138" y="24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34" name="组合 18"/>
          <p:cNvGrpSpPr/>
          <p:nvPr/>
        </p:nvGrpSpPr>
        <p:grpSpPr>
          <a:xfrm>
            <a:off x="1509713" y="3367088"/>
            <a:ext cx="1335087" cy="2878137"/>
            <a:chOff x="10998" y="6023"/>
            <a:chExt cx="2102" cy="4531"/>
          </a:xfrm>
        </p:grpSpPr>
        <p:cxnSp>
          <p:nvCxnSpPr>
            <p:cNvPr id="3" name="直接连接符 2"/>
            <p:cNvCxnSpPr/>
            <p:nvPr>
              <p:custDataLst>
                <p:tags r:id="rId35"/>
              </p:custDataLst>
            </p:nvPr>
          </p:nvCxnSpPr>
          <p:spPr>
            <a:xfrm>
              <a:off x="10998" y="6704"/>
              <a:ext cx="0" cy="3245"/>
            </a:xfrm>
            <a:prstGeom prst="line">
              <a:avLst/>
            </a:prstGeom>
            <a:ln w="412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>
              <p:custDataLst>
                <p:tags r:id="rId36"/>
              </p:custDataLst>
            </p:nvPr>
          </p:nvCxnSpPr>
          <p:spPr>
            <a:xfrm flipH="1">
              <a:off x="10998" y="6023"/>
              <a:ext cx="5" cy="1078"/>
            </a:xfrm>
            <a:prstGeom prst="line">
              <a:avLst/>
            </a:prstGeom>
            <a:ln w="41275">
              <a:solidFill>
                <a:srgbClr val="0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>
              <p:custDataLst>
                <p:tags r:id="rId37"/>
              </p:custDataLst>
            </p:nvPr>
          </p:nvCxnSpPr>
          <p:spPr>
            <a:xfrm>
              <a:off x="11002" y="8274"/>
              <a:ext cx="9" cy="2281"/>
            </a:xfrm>
            <a:prstGeom prst="line">
              <a:avLst/>
            </a:prstGeom>
            <a:ln w="41275">
              <a:solidFill>
                <a:srgbClr val="000000"/>
              </a:solidFill>
              <a:prstDash val="sysDash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>
              <p:custDataLst>
                <p:tags r:id="rId38"/>
              </p:custDataLst>
            </p:nvPr>
          </p:nvCxnSpPr>
          <p:spPr>
            <a:xfrm>
              <a:off x="12529" y="6534"/>
              <a:ext cx="0" cy="3245"/>
            </a:xfrm>
            <a:prstGeom prst="line">
              <a:avLst/>
            </a:prstGeom>
            <a:ln w="41275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39"/>
              </p:custDataLst>
            </p:nvPr>
          </p:nvCxnSpPr>
          <p:spPr>
            <a:xfrm>
              <a:off x="12529" y="7327"/>
              <a:ext cx="0" cy="1248"/>
            </a:xfrm>
            <a:prstGeom prst="line">
              <a:avLst/>
            </a:prstGeom>
            <a:ln w="41275">
              <a:solidFill>
                <a:srgbClr val="FF0000"/>
              </a:solidFill>
              <a:prstDash val="solid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440" name="Object 8"/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12756" y="7950"/>
            <a:ext cx="345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2" imgW="101600" imgH="177800" progId="Equation.3">
                    <p:embed/>
                  </p:oleObj>
                </mc:Choice>
                <mc:Fallback>
                  <p:oleObj r:id="rId82" imgW="101600" imgH="1778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73"/>
                        <a:stretch>
                          <a:fillRect/>
                        </a:stretch>
                      </p:blipFill>
                      <p:spPr>
                        <a:xfrm>
                          <a:off x="12756" y="7950"/>
                          <a:ext cx="345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1" name="Object 8"/>
            <p:cNvGraphicFramePr>
              <a:graphicFrameLocks noChangeAspect="1"/>
            </p:cNvGraphicFramePr>
            <p:nvPr>
              <p:custDataLst>
                <p:tags r:id="rId41"/>
              </p:custDataLst>
            </p:nvPr>
          </p:nvGraphicFramePr>
          <p:xfrm>
            <a:off x="11544" y="9242"/>
            <a:ext cx="432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3" imgW="127000" imgH="139700" progId="Equation.3">
                    <p:embed/>
                  </p:oleObj>
                </mc:Choice>
                <mc:Fallback>
                  <p:oleObj r:id="rId83" imgW="127000" imgH="1397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4"/>
                        <a:stretch>
                          <a:fillRect/>
                        </a:stretch>
                      </p:blipFill>
                      <p:spPr>
                        <a:xfrm>
                          <a:off x="11544" y="9242"/>
                          <a:ext cx="432" cy="4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2" name="Object 8"/>
            <p:cNvGraphicFramePr>
              <a:graphicFrameLocks noChangeAspect="1"/>
            </p:cNvGraphicFramePr>
            <p:nvPr>
              <p:custDataLst>
                <p:tags r:id="rId42"/>
              </p:custDataLst>
            </p:nvPr>
          </p:nvGraphicFramePr>
          <p:xfrm>
            <a:off x="11103" y="8113"/>
            <a:ext cx="475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5" imgW="139700" imgH="215900" progId="Equation.3">
                    <p:embed/>
                  </p:oleObj>
                </mc:Choice>
                <mc:Fallback>
                  <p:oleObj r:id="rId85" imgW="139700" imgH="21590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86"/>
                        <a:stretch>
                          <a:fillRect/>
                        </a:stretch>
                      </p:blipFill>
                      <p:spPr>
                        <a:xfrm>
                          <a:off x="11103" y="8113"/>
                          <a:ext cx="475" cy="7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3" name="Object 8"/>
            <p:cNvGraphicFramePr>
              <a:graphicFrameLocks noChangeAspect="1"/>
            </p:cNvGraphicFramePr>
            <p:nvPr>
              <p:custDataLst>
                <p:tags r:id="rId43"/>
              </p:custDataLst>
            </p:nvPr>
          </p:nvGraphicFramePr>
          <p:xfrm>
            <a:off x="11805" y="7271"/>
            <a:ext cx="562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7" imgW="165100" imgH="215900" progId="Equation.3">
                    <p:embed/>
                  </p:oleObj>
                </mc:Choice>
                <mc:Fallback>
                  <p:oleObj r:id="rId87" imgW="165100" imgH="21590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88"/>
                        <a:stretch>
                          <a:fillRect/>
                        </a:stretch>
                      </p:blipFill>
                      <p:spPr>
                        <a:xfrm>
                          <a:off x="11805" y="7271"/>
                          <a:ext cx="562" cy="7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4" name="Line 16"/>
            <p:cNvSpPr/>
            <p:nvPr>
              <p:custDataLst>
                <p:tags r:id="rId44"/>
              </p:custDataLst>
            </p:nvPr>
          </p:nvSpPr>
          <p:spPr>
            <a:xfrm flipV="1">
              <a:off x="11038" y="9080"/>
              <a:ext cx="1460" cy="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arrow" w="med" len="med"/>
              <a:tailEnd type="arrow" w="med" len="med"/>
            </a:ln>
          </p:spPr>
        </p:sp>
      </p:grpSp>
      <p:grpSp>
        <p:nvGrpSpPr>
          <p:cNvPr id="17445" name="组合 4"/>
          <p:cNvGrpSpPr/>
          <p:nvPr/>
        </p:nvGrpSpPr>
        <p:grpSpPr>
          <a:xfrm>
            <a:off x="4356100" y="3892550"/>
            <a:ext cx="2197100" cy="1911350"/>
            <a:chOff x="5613" y="6230"/>
            <a:chExt cx="3460" cy="3010"/>
          </a:xfrm>
        </p:grpSpPr>
        <p:grpSp>
          <p:nvGrpSpPr>
            <p:cNvPr id="17446" name="Group 59"/>
            <p:cNvGrpSpPr/>
            <p:nvPr/>
          </p:nvGrpSpPr>
          <p:grpSpPr>
            <a:xfrm>
              <a:off x="5612" y="6230"/>
              <a:ext cx="3460" cy="3010"/>
              <a:chOff x="3901" y="2250"/>
              <a:chExt cx="1751" cy="1724"/>
            </a:xfrm>
          </p:grpSpPr>
          <p:sp>
            <p:nvSpPr>
              <p:cNvPr id="65544" name="AutoShape 8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 flipH="1">
                <a:off x="3901" y="2522"/>
                <a:ext cx="78" cy="1277"/>
              </a:xfrm>
              <a:prstGeom prst="can">
                <a:avLst>
                  <a:gd name="adj" fmla="val 31682"/>
                </a:avLst>
              </a:prstGeom>
              <a:gradFill rotWithShape="0">
                <a:gsLst>
                  <a:gs pos="0">
                    <a:schemeClr val="accent1">
                      <a:gamma/>
                      <a:shade val="6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6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48" name="Line 9"/>
              <p:cNvSpPr/>
              <p:nvPr>
                <p:custDataLst>
                  <p:tags r:id="rId4"/>
                </p:custDataLst>
              </p:nvPr>
            </p:nvSpPr>
            <p:spPr>
              <a:xfrm flipV="1">
                <a:off x="3939" y="2340"/>
                <a:ext cx="0" cy="591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7449" name="Line 10"/>
              <p:cNvSpPr/>
              <p:nvPr>
                <p:custDataLst>
                  <p:tags r:id="rId5"/>
                </p:custDataLst>
              </p:nvPr>
            </p:nvSpPr>
            <p:spPr>
              <a:xfrm>
                <a:off x="4309" y="3656"/>
                <a:ext cx="972" cy="5"/>
              </a:xfrm>
              <a:prstGeom prst="line">
                <a:avLst/>
              </a:prstGeom>
              <a:ln w="28575" cap="flat" cmpd="sng">
                <a:solidFill>
                  <a:srgbClr val="CC00CC"/>
                </a:solidFill>
                <a:prstDash val="solid"/>
                <a:round/>
                <a:headEnd type="triangle" w="sm" len="lg"/>
                <a:tailEnd type="triangle" w="sm" len="lg"/>
              </a:ln>
            </p:spPr>
          </p:sp>
          <p:graphicFrame>
            <p:nvGraphicFramePr>
              <p:cNvPr id="17450" name="Object 11"/>
              <p:cNvGraphicFramePr>
                <a:graphicFrameLocks noChangeAspect="1"/>
              </p:cNvGraphicFramePr>
              <p:nvPr>
                <p:custDataLst>
                  <p:tags r:id="rId6"/>
                </p:custDataLst>
              </p:nvPr>
            </p:nvGraphicFramePr>
            <p:xfrm>
              <a:off x="4037" y="3701"/>
              <a:ext cx="206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9" imgW="139700" imgH="177800" progId="Equation.DSMT4">
                      <p:embed/>
                    </p:oleObj>
                  </mc:Choice>
                  <mc:Fallback>
                    <p:oleObj r:id="rId89" imgW="139700" imgH="177800" progId="Equation.DSMT4">
                      <p:embed/>
                      <p:pic>
                        <p:nvPicPr>
                          <p:cNvPr id="0" name="图片 3168"/>
                          <p:cNvPicPr/>
                          <p:nvPr/>
                        </p:nvPicPr>
                        <p:blipFill>
                          <a:blip r:embed="rId90"/>
                          <a:stretch>
                            <a:fillRect/>
                          </a:stretch>
                        </p:blipFill>
                        <p:spPr>
                          <a:xfrm>
                            <a:off x="4037" y="3701"/>
                            <a:ext cx="206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1" name="Object 12"/>
              <p:cNvGraphicFramePr>
                <a:graphicFrameLocks noChangeAspect="1"/>
              </p:cNvGraphicFramePr>
              <p:nvPr>
                <p:custDataLst>
                  <p:tags r:id="rId7"/>
                </p:custDataLst>
              </p:nvPr>
            </p:nvGraphicFramePr>
            <p:xfrm>
              <a:off x="4762" y="3701"/>
              <a:ext cx="22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1" imgW="139700" imgH="165100" progId="Equation.DSMT4">
                      <p:embed/>
                    </p:oleObj>
                  </mc:Choice>
                  <mc:Fallback>
                    <p:oleObj r:id="rId91" imgW="139700" imgH="165100" progId="Equation.DSMT4">
                      <p:embed/>
                      <p:pic>
                        <p:nvPicPr>
                          <p:cNvPr id="0" name="图片 3169"/>
                          <p:cNvPicPr/>
                          <p:nvPr/>
                        </p:nvPicPr>
                        <p:blipFill>
                          <a:blip r:embed="rId92"/>
                          <a:stretch>
                            <a:fillRect/>
                          </a:stretch>
                        </p:blipFill>
                        <p:spPr>
                          <a:xfrm>
                            <a:off x="4762" y="3701"/>
                            <a:ext cx="220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2" name="Object 13"/>
              <p:cNvGraphicFramePr>
                <a:graphicFrameLocks noChangeAspect="1"/>
              </p:cNvGraphicFramePr>
              <p:nvPr>
                <p:custDataLst>
                  <p:tags r:id="rId8"/>
                </p:custDataLst>
              </p:nvPr>
            </p:nvGraphicFramePr>
            <p:xfrm>
              <a:off x="4064" y="2340"/>
              <a:ext cx="199" cy="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3" imgW="152400" imgH="241300" progId="Equation.3">
                      <p:embed/>
                    </p:oleObj>
                  </mc:Choice>
                  <mc:Fallback>
                    <p:oleObj r:id="rId93" imgW="152400" imgH="241300" progId="Equation.3">
                      <p:embed/>
                      <p:pic>
                        <p:nvPicPr>
                          <p:cNvPr id="0" name="图片 3171"/>
                          <p:cNvPicPr/>
                          <p:nvPr/>
                        </p:nvPicPr>
                        <p:blipFill>
                          <a:blip r:embed="rId94"/>
                          <a:stretch>
                            <a:fillRect/>
                          </a:stretch>
                        </p:blipFill>
                        <p:spPr>
                          <a:xfrm>
                            <a:off x="4064" y="2340"/>
                            <a:ext cx="199" cy="3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53" name="Line 14"/>
              <p:cNvSpPr/>
              <p:nvPr>
                <p:custDataLst>
                  <p:tags r:id="rId9"/>
                </p:custDataLst>
              </p:nvPr>
            </p:nvSpPr>
            <p:spPr>
              <a:xfrm>
                <a:off x="3985" y="2250"/>
                <a:ext cx="0" cy="31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17454" name="Lin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3901" y="2250"/>
                <a:ext cx="0" cy="31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17455" name="Line 16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5307" y="3483"/>
                <a:ext cx="2" cy="30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17456" name="Line 17"/>
              <p:cNvSpPr/>
              <p:nvPr>
                <p:custDataLst>
                  <p:tags r:id="rId12"/>
                </p:custDataLst>
              </p:nvPr>
            </p:nvSpPr>
            <p:spPr>
              <a:xfrm>
                <a:off x="4329" y="3472"/>
                <a:ext cx="6" cy="35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17457" name="Line 18"/>
              <p:cNvSpPr/>
              <p:nvPr>
                <p:custDataLst>
                  <p:tags r:id="rId13"/>
                </p:custDataLst>
              </p:nvPr>
            </p:nvSpPr>
            <p:spPr>
              <a:xfrm>
                <a:off x="3991" y="3656"/>
                <a:ext cx="350" cy="0"/>
              </a:xfrm>
              <a:prstGeom prst="line">
                <a:avLst/>
              </a:prstGeom>
              <a:ln w="28575" cap="flat" cmpd="sng">
                <a:solidFill>
                  <a:srgbClr val="CC00CC"/>
                </a:solidFill>
                <a:prstDash val="solid"/>
                <a:round/>
                <a:headEnd type="triangle" w="sm" len="lg"/>
                <a:tailEnd type="triangle" w="sm" len="lg"/>
              </a:ln>
            </p:spPr>
          </p:sp>
          <p:graphicFrame>
            <p:nvGraphicFramePr>
              <p:cNvPr id="17458" name="Object 20"/>
              <p:cNvGraphicFramePr>
                <a:graphicFrameLocks noChangeAspect="1"/>
              </p:cNvGraphicFramePr>
              <p:nvPr>
                <p:custDataLst>
                  <p:tags r:id="rId14"/>
                </p:custDataLst>
              </p:nvPr>
            </p:nvGraphicFramePr>
            <p:xfrm>
              <a:off x="4717" y="2387"/>
              <a:ext cx="225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5" imgW="152400" imgH="190500" progId="Equation.3">
                      <p:embed/>
                    </p:oleObj>
                  </mc:Choice>
                  <mc:Fallback>
                    <p:oleObj r:id="rId95" imgW="152400" imgH="190500" progId="Equation.3">
                      <p:embed/>
                      <p:pic>
                        <p:nvPicPr>
                          <p:cNvPr id="0" name="图片 3170"/>
                          <p:cNvPicPr/>
                          <p:nvPr/>
                        </p:nvPicPr>
                        <p:blipFill>
                          <a:blip r:embed="rId96"/>
                          <a:stretch>
                            <a:fillRect/>
                          </a:stretch>
                        </p:blipFill>
                        <p:spPr>
                          <a:xfrm>
                            <a:off x="4717" y="2387"/>
                            <a:ext cx="225" cy="2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7459" name="Group 21"/>
              <p:cNvGrpSpPr/>
              <p:nvPr/>
            </p:nvGrpSpPr>
            <p:grpSpPr>
              <a:xfrm>
                <a:off x="4150" y="2704"/>
                <a:ext cx="182" cy="327"/>
                <a:chOff x="1296" y="1344"/>
                <a:chExt cx="288" cy="454"/>
              </a:xfrm>
            </p:grpSpPr>
            <p:grpSp>
              <p:nvGrpSpPr>
                <p:cNvPr id="17460" name="Group 22"/>
                <p:cNvGrpSpPr/>
                <p:nvPr/>
              </p:nvGrpSpPr>
              <p:grpSpPr>
                <a:xfrm>
                  <a:off x="1296" y="1344"/>
                  <a:ext cx="288" cy="454"/>
                  <a:chOff x="816" y="3504"/>
                  <a:chExt cx="288" cy="454"/>
                </a:xfrm>
              </p:grpSpPr>
              <p:sp>
                <p:nvSpPr>
                  <p:cNvPr id="17461" name="Oval 23"/>
                  <p:cNvSpPr/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62" name="Text Box 24"/>
                  <p:cNvSpPr txBox="1"/>
                  <p:nvPr>
                    <p:custDataLst>
                      <p:tags r:id="rId34"/>
                    </p:custDataLst>
                  </p:nvPr>
                </p:nvSpPr>
                <p:spPr>
                  <a:xfrm>
                    <a:off x="816" y="3504"/>
                    <a:ext cx="288" cy="45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7463" name="Line 25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64" name="Line 26"/>
                <p:cNvSpPr/>
                <p:nvPr>
                  <p:custDataLst>
                    <p:tags r:id="rId32"/>
                  </p:custDataLst>
                </p:nvPr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7465" name="Line 27"/>
              <p:cNvSpPr/>
              <p:nvPr>
                <p:custDataLst>
                  <p:tags r:id="rId15"/>
                </p:custDataLst>
              </p:nvPr>
            </p:nvSpPr>
            <p:spPr>
              <a:xfrm>
                <a:off x="4335" y="3481"/>
                <a:ext cx="972" cy="2"/>
              </a:xfrm>
              <a:prstGeom prst="line">
                <a:avLst/>
              </a:prstGeom>
              <a:ln w="571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7466" name="Object 28"/>
              <p:cNvGraphicFramePr>
                <a:graphicFrameLocks noChangeAspect="1"/>
              </p:cNvGraphicFramePr>
              <p:nvPr>
                <p:custDataLst>
                  <p:tags r:id="rId16"/>
                </p:custDataLst>
              </p:nvPr>
            </p:nvGraphicFramePr>
            <p:xfrm>
              <a:off x="4699" y="3111"/>
              <a:ext cx="248" cy="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7" imgW="165100" imgH="241300" progId="Equation.3">
                      <p:embed/>
                    </p:oleObj>
                  </mc:Choice>
                  <mc:Fallback>
                    <p:oleObj r:id="rId97" imgW="165100" imgH="241300" progId="Equation.3">
                      <p:embed/>
                      <p:pic>
                        <p:nvPicPr>
                          <p:cNvPr id="0" name="图片 3175"/>
                          <p:cNvPicPr/>
                          <p:nvPr/>
                        </p:nvPicPr>
                        <p:blipFill>
                          <a:blip r:embed="rId98"/>
                          <a:stretch>
                            <a:fillRect/>
                          </a:stretch>
                        </p:blipFill>
                        <p:spPr>
                          <a:xfrm>
                            <a:off x="4699" y="3111"/>
                            <a:ext cx="248" cy="3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67" name="Text Box 29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109" y="3157"/>
                <a:ext cx="409" cy="4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7468" name="Text Box 3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5243" y="3157"/>
                <a:ext cx="409" cy="4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grpSp>
            <p:nvGrpSpPr>
              <p:cNvPr id="17469" name="Group 41"/>
              <p:cNvGrpSpPr/>
              <p:nvPr/>
            </p:nvGrpSpPr>
            <p:grpSpPr>
              <a:xfrm>
                <a:off x="4400" y="2704"/>
                <a:ext cx="182" cy="327"/>
                <a:chOff x="1296" y="1344"/>
                <a:chExt cx="288" cy="454"/>
              </a:xfrm>
            </p:grpSpPr>
            <p:grpSp>
              <p:nvGrpSpPr>
                <p:cNvPr id="17470" name="Group 42"/>
                <p:cNvGrpSpPr/>
                <p:nvPr/>
              </p:nvGrpSpPr>
              <p:grpSpPr>
                <a:xfrm>
                  <a:off x="1296" y="1344"/>
                  <a:ext cx="288" cy="454"/>
                  <a:chOff x="816" y="3504"/>
                  <a:chExt cx="288" cy="454"/>
                </a:xfrm>
              </p:grpSpPr>
              <p:sp>
                <p:nvSpPr>
                  <p:cNvPr id="17471" name="Oval 43"/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72" name="Text Box 44"/>
                  <p:cNvSpPr txBox="1"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816" y="3504"/>
                    <a:ext cx="288" cy="45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7473" name="Line 45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74" name="Line 46"/>
                <p:cNvSpPr/>
                <p:nvPr>
                  <p:custDataLst>
                    <p:tags r:id="rId28"/>
                  </p:custDataLst>
                </p:nvPr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7475" name="Group 47"/>
              <p:cNvGrpSpPr/>
              <p:nvPr/>
            </p:nvGrpSpPr>
            <p:grpSpPr>
              <a:xfrm>
                <a:off x="4762" y="2704"/>
                <a:ext cx="182" cy="327"/>
                <a:chOff x="1296" y="1344"/>
                <a:chExt cx="288" cy="454"/>
              </a:xfrm>
            </p:grpSpPr>
            <p:grpSp>
              <p:nvGrpSpPr>
                <p:cNvPr id="17476" name="Group 48"/>
                <p:cNvGrpSpPr/>
                <p:nvPr/>
              </p:nvGrpSpPr>
              <p:grpSpPr>
                <a:xfrm>
                  <a:off x="1296" y="1344"/>
                  <a:ext cx="288" cy="454"/>
                  <a:chOff x="816" y="3504"/>
                  <a:chExt cx="288" cy="454"/>
                </a:xfrm>
              </p:grpSpPr>
              <p:sp>
                <p:nvSpPr>
                  <p:cNvPr id="17477" name="Oval 49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78" name="Text Box 50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816" y="3504"/>
                    <a:ext cx="288" cy="45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7479" name="Line 51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80" name="Line 52"/>
                <p:cNvSpPr/>
                <p:nvPr>
                  <p:custDataLst>
                    <p:tags r:id="rId24"/>
                  </p:custDataLst>
                </p:nvPr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7481" name="Group 53"/>
              <p:cNvGrpSpPr/>
              <p:nvPr/>
            </p:nvGrpSpPr>
            <p:grpSpPr>
              <a:xfrm>
                <a:off x="5397" y="2682"/>
                <a:ext cx="182" cy="327"/>
                <a:chOff x="1296" y="1344"/>
                <a:chExt cx="288" cy="454"/>
              </a:xfrm>
            </p:grpSpPr>
            <p:grpSp>
              <p:nvGrpSpPr>
                <p:cNvPr id="17482" name="Group 54"/>
                <p:cNvGrpSpPr/>
                <p:nvPr/>
              </p:nvGrpSpPr>
              <p:grpSpPr>
                <a:xfrm>
                  <a:off x="1296" y="1344"/>
                  <a:ext cx="288" cy="454"/>
                  <a:chOff x="816" y="3504"/>
                  <a:chExt cx="288" cy="454"/>
                </a:xfrm>
              </p:grpSpPr>
              <p:sp>
                <p:nvSpPr>
                  <p:cNvPr id="17483" name="Oval 55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84" name="Text Box 56"/>
                  <p:cNvSpPr txBox="1"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816" y="3504"/>
                    <a:ext cx="288" cy="45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7485" name="Line 57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86" name="Line 58"/>
                <p:cNvSpPr/>
                <p:nvPr>
                  <p:custDataLst>
                    <p:tags r:id="rId20"/>
                  </p:custDataLst>
                </p:nvPr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7487" name="Line 72"/>
            <p:cNvSpPr/>
            <p:nvPr>
              <p:custDataLst>
                <p:tags r:id="rId2"/>
              </p:custDataLst>
            </p:nvPr>
          </p:nvSpPr>
          <p:spPr>
            <a:xfrm>
              <a:off x="6576" y="8382"/>
              <a:ext cx="1135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arrow" w="lg" len="med"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graphicFrame>
        <p:nvGraphicFramePr>
          <p:cNvPr id="88066" name="Object 2"/>
          <p:cNvGraphicFramePr>
            <a:graphicFrameLocks noChangeAspect="1"/>
          </p:cNvGraphicFramePr>
          <p:nvPr/>
        </p:nvGraphicFramePr>
        <p:xfrm>
          <a:off x="3779838" y="909638"/>
          <a:ext cx="16986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4200" imgH="254000" progId="Equation.3">
                  <p:embed/>
                </p:oleObj>
              </mc:Choice>
              <mc:Fallback>
                <p:oleObj r:id="rId2" imgW="584200" imgH="254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79838" y="909638"/>
                        <a:ext cx="1698625" cy="6207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Rectangle 5"/>
          <p:cNvSpPr/>
          <p:nvPr/>
        </p:nvSpPr>
        <p:spPr>
          <a:xfrm>
            <a:off x="250825" y="981075"/>
            <a:ext cx="34734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平面载流线圈的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磁矩 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6265863" y="866775"/>
            <a:ext cx="1966912" cy="2205038"/>
            <a:chOff x="3390" y="917"/>
            <a:chExt cx="1595" cy="1810"/>
          </a:xfrm>
        </p:grpSpPr>
        <p:sp>
          <p:nvSpPr>
            <p:cNvPr id="14341" name="Line 12"/>
            <p:cNvSpPr/>
            <p:nvPr/>
          </p:nvSpPr>
          <p:spPr>
            <a:xfrm flipV="1">
              <a:off x="4158" y="1083"/>
              <a:ext cx="0" cy="96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14342" name="Group 13"/>
            <p:cNvGrpSpPr/>
            <p:nvPr/>
          </p:nvGrpSpPr>
          <p:grpSpPr>
            <a:xfrm rot="-611655">
              <a:off x="3582" y="1611"/>
              <a:ext cx="1035" cy="1116"/>
              <a:chOff x="3552" y="2620"/>
              <a:chExt cx="1035" cy="1116"/>
            </a:xfrm>
          </p:grpSpPr>
          <p:sp>
            <p:nvSpPr>
              <p:cNvPr id="14343" name="Freeform 14"/>
              <p:cNvSpPr/>
              <p:nvPr/>
            </p:nvSpPr>
            <p:spPr>
              <a:xfrm rot="-4577010">
                <a:off x="3833" y="2730"/>
                <a:ext cx="835" cy="646"/>
              </a:xfrm>
              <a:custGeom>
                <a:avLst/>
                <a:gdLst/>
                <a:ahLst/>
                <a:cxnLst>
                  <a:cxn ang="0">
                    <a:pos x="6" y="149"/>
                  </a:cxn>
                  <a:cxn ang="0">
                    <a:pos x="6" y="203"/>
                  </a:cxn>
                  <a:cxn ang="0">
                    <a:pos x="18" y="280"/>
                  </a:cxn>
                  <a:cxn ang="0">
                    <a:pos x="54" y="383"/>
                  </a:cxn>
                  <a:cxn ang="0">
                    <a:pos x="113" y="526"/>
                  </a:cxn>
                  <a:cxn ang="0">
                    <a:pos x="143" y="562"/>
                  </a:cxn>
                  <a:cxn ang="0">
                    <a:pos x="238" y="615"/>
                  </a:cxn>
                  <a:cxn ang="0">
                    <a:pos x="298" y="645"/>
                  </a:cxn>
                  <a:cxn ang="0">
                    <a:pos x="339" y="615"/>
                  </a:cxn>
                  <a:cxn ang="0">
                    <a:pos x="369" y="615"/>
                  </a:cxn>
                  <a:cxn ang="0">
                    <a:pos x="417" y="639"/>
                  </a:cxn>
                  <a:cxn ang="0">
                    <a:pos x="458" y="633"/>
                  </a:cxn>
                  <a:cxn ang="0">
                    <a:pos x="488" y="591"/>
                  </a:cxn>
                  <a:cxn ang="0">
                    <a:pos x="524" y="603"/>
                  </a:cxn>
                  <a:cxn ang="0">
                    <a:pos x="572" y="585"/>
                  </a:cxn>
                  <a:cxn ang="0">
                    <a:pos x="590" y="526"/>
                  </a:cxn>
                  <a:cxn ang="0">
                    <a:pos x="626" y="502"/>
                  </a:cxn>
                  <a:cxn ang="0">
                    <a:pos x="644" y="454"/>
                  </a:cxn>
                  <a:cxn ang="0">
                    <a:pos x="650" y="358"/>
                  </a:cxn>
                  <a:cxn ang="0">
                    <a:pos x="632" y="298"/>
                  </a:cxn>
                  <a:cxn ang="0">
                    <a:pos x="584" y="256"/>
                  </a:cxn>
                  <a:cxn ang="0">
                    <a:pos x="524" y="221"/>
                  </a:cxn>
                  <a:cxn ang="0">
                    <a:pos x="500" y="238"/>
                  </a:cxn>
                  <a:cxn ang="0">
                    <a:pos x="494" y="274"/>
                  </a:cxn>
                  <a:cxn ang="0">
                    <a:pos x="518" y="304"/>
                  </a:cxn>
                  <a:cxn ang="0">
                    <a:pos x="494" y="280"/>
                  </a:cxn>
                  <a:cxn ang="0">
                    <a:pos x="488" y="268"/>
                  </a:cxn>
                  <a:cxn ang="0">
                    <a:pos x="470" y="244"/>
                  </a:cxn>
                  <a:cxn ang="0">
                    <a:pos x="482" y="203"/>
                  </a:cxn>
                  <a:cxn ang="0">
                    <a:pos x="512" y="197"/>
                  </a:cxn>
                  <a:cxn ang="0">
                    <a:pos x="602" y="203"/>
                  </a:cxn>
                  <a:cxn ang="0">
                    <a:pos x="697" y="227"/>
                  </a:cxn>
                  <a:cxn ang="0">
                    <a:pos x="786" y="227"/>
                  </a:cxn>
                  <a:cxn ang="0">
                    <a:pos x="822" y="203"/>
                  </a:cxn>
                  <a:cxn ang="0">
                    <a:pos x="828" y="149"/>
                  </a:cxn>
                  <a:cxn ang="0">
                    <a:pos x="769" y="131"/>
                  </a:cxn>
                  <a:cxn ang="0">
                    <a:pos x="703" y="107"/>
                  </a:cxn>
                  <a:cxn ang="0">
                    <a:pos x="679" y="95"/>
                  </a:cxn>
                  <a:cxn ang="0">
                    <a:pos x="650" y="83"/>
                  </a:cxn>
                  <a:cxn ang="0">
                    <a:pos x="518" y="48"/>
                  </a:cxn>
                  <a:cxn ang="0">
                    <a:pos x="363" y="18"/>
                  </a:cxn>
                  <a:cxn ang="0">
                    <a:pos x="268" y="0"/>
                  </a:cxn>
                </a:cxnLst>
                <a:rect l="0" t="0" r="0" b="0"/>
                <a:pathLst>
                  <a:path w="835" h="646">
                    <a:moveTo>
                      <a:pt x="0" y="107"/>
                    </a:moveTo>
                    <a:lnTo>
                      <a:pt x="6" y="131"/>
                    </a:lnTo>
                    <a:lnTo>
                      <a:pt x="6" y="149"/>
                    </a:lnTo>
                    <a:lnTo>
                      <a:pt x="12" y="167"/>
                    </a:lnTo>
                    <a:lnTo>
                      <a:pt x="12" y="179"/>
                    </a:lnTo>
                    <a:lnTo>
                      <a:pt x="6" y="203"/>
                    </a:lnTo>
                    <a:lnTo>
                      <a:pt x="6" y="227"/>
                    </a:lnTo>
                    <a:lnTo>
                      <a:pt x="12" y="250"/>
                    </a:lnTo>
                    <a:lnTo>
                      <a:pt x="18" y="280"/>
                    </a:lnTo>
                    <a:lnTo>
                      <a:pt x="24" y="310"/>
                    </a:lnTo>
                    <a:lnTo>
                      <a:pt x="36" y="340"/>
                    </a:lnTo>
                    <a:lnTo>
                      <a:pt x="54" y="383"/>
                    </a:lnTo>
                    <a:lnTo>
                      <a:pt x="72" y="424"/>
                    </a:lnTo>
                    <a:lnTo>
                      <a:pt x="96" y="478"/>
                    </a:lnTo>
                    <a:lnTo>
                      <a:pt x="113" y="526"/>
                    </a:lnTo>
                    <a:lnTo>
                      <a:pt x="119" y="544"/>
                    </a:lnTo>
                    <a:lnTo>
                      <a:pt x="131" y="556"/>
                    </a:lnTo>
                    <a:lnTo>
                      <a:pt x="143" y="562"/>
                    </a:lnTo>
                    <a:lnTo>
                      <a:pt x="161" y="573"/>
                    </a:lnTo>
                    <a:lnTo>
                      <a:pt x="191" y="591"/>
                    </a:lnTo>
                    <a:lnTo>
                      <a:pt x="238" y="615"/>
                    </a:lnTo>
                    <a:lnTo>
                      <a:pt x="262" y="633"/>
                    </a:lnTo>
                    <a:lnTo>
                      <a:pt x="286" y="639"/>
                    </a:lnTo>
                    <a:lnTo>
                      <a:pt x="298" y="645"/>
                    </a:lnTo>
                    <a:lnTo>
                      <a:pt x="316" y="639"/>
                    </a:lnTo>
                    <a:lnTo>
                      <a:pt x="333" y="627"/>
                    </a:lnTo>
                    <a:lnTo>
                      <a:pt x="339" y="615"/>
                    </a:lnTo>
                    <a:lnTo>
                      <a:pt x="345" y="609"/>
                    </a:lnTo>
                    <a:lnTo>
                      <a:pt x="357" y="609"/>
                    </a:lnTo>
                    <a:lnTo>
                      <a:pt x="369" y="615"/>
                    </a:lnTo>
                    <a:lnTo>
                      <a:pt x="381" y="621"/>
                    </a:lnTo>
                    <a:lnTo>
                      <a:pt x="399" y="633"/>
                    </a:lnTo>
                    <a:lnTo>
                      <a:pt x="417" y="639"/>
                    </a:lnTo>
                    <a:lnTo>
                      <a:pt x="429" y="639"/>
                    </a:lnTo>
                    <a:lnTo>
                      <a:pt x="446" y="639"/>
                    </a:lnTo>
                    <a:lnTo>
                      <a:pt x="458" y="633"/>
                    </a:lnTo>
                    <a:lnTo>
                      <a:pt x="470" y="621"/>
                    </a:lnTo>
                    <a:lnTo>
                      <a:pt x="482" y="603"/>
                    </a:lnTo>
                    <a:lnTo>
                      <a:pt x="488" y="591"/>
                    </a:lnTo>
                    <a:lnTo>
                      <a:pt x="500" y="591"/>
                    </a:lnTo>
                    <a:lnTo>
                      <a:pt x="512" y="597"/>
                    </a:lnTo>
                    <a:lnTo>
                      <a:pt x="524" y="603"/>
                    </a:lnTo>
                    <a:lnTo>
                      <a:pt x="542" y="597"/>
                    </a:lnTo>
                    <a:lnTo>
                      <a:pt x="560" y="597"/>
                    </a:lnTo>
                    <a:lnTo>
                      <a:pt x="572" y="585"/>
                    </a:lnTo>
                    <a:lnTo>
                      <a:pt x="578" y="573"/>
                    </a:lnTo>
                    <a:lnTo>
                      <a:pt x="584" y="550"/>
                    </a:lnTo>
                    <a:lnTo>
                      <a:pt x="590" y="526"/>
                    </a:lnTo>
                    <a:lnTo>
                      <a:pt x="590" y="514"/>
                    </a:lnTo>
                    <a:lnTo>
                      <a:pt x="614" y="508"/>
                    </a:lnTo>
                    <a:lnTo>
                      <a:pt x="626" y="502"/>
                    </a:lnTo>
                    <a:lnTo>
                      <a:pt x="638" y="490"/>
                    </a:lnTo>
                    <a:lnTo>
                      <a:pt x="644" y="472"/>
                    </a:lnTo>
                    <a:lnTo>
                      <a:pt x="644" y="454"/>
                    </a:lnTo>
                    <a:lnTo>
                      <a:pt x="644" y="430"/>
                    </a:lnTo>
                    <a:lnTo>
                      <a:pt x="650" y="400"/>
                    </a:lnTo>
                    <a:lnTo>
                      <a:pt x="650" y="358"/>
                    </a:lnTo>
                    <a:lnTo>
                      <a:pt x="650" y="340"/>
                    </a:lnTo>
                    <a:lnTo>
                      <a:pt x="644" y="322"/>
                    </a:lnTo>
                    <a:lnTo>
                      <a:pt x="632" y="298"/>
                    </a:lnTo>
                    <a:lnTo>
                      <a:pt x="620" y="280"/>
                    </a:lnTo>
                    <a:lnTo>
                      <a:pt x="602" y="268"/>
                    </a:lnTo>
                    <a:lnTo>
                      <a:pt x="584" y="256"/>
                    </a:lnTo>
                    <a:lnTo>
                      <a:pt x="560" y="238"/>
                    </a:lnTo>
                    <a:lnTo>
                      <a:pt x="536" y="227"/>
                    </a:lnTo>
                    <a:lnTo>
                      <a:pt x="524" y="221"/>
                    </a:lnTo>
                    <a:lnTo>
                      <a:pt x="518" y="227"/>
                    </a:lnTo>
                    <a:lnTo>
                      <a:pt x="506" y="232"/>
                    </a:lnTo>
                    <a:lnTo>
                      <a:pt x="500" y="238"/>
                    </a:lnTo>
                    <a:lnTo>
                      <a:pt x="494" y="250"/>
                    </a:lnTo>
                    <a:lnTo>
                      <a:pt x="494" y="262"/>
                    </a:lnTo>
                    <a:lnTo>
                      <a:pt x="494" y="274"/>
                    </a:lnTo>
                    <a:lnTo>
                      <a:pt x="506" y="286"/>
                    </a:lnTo>
                    <a:lnTo>
                      <a:pt x="512" y="298"/>
                    </a:lnTo>
                    <a:lnTo>
                      <a:pt x="518" y="304"/>
                    </a:lnTo>
                    <a:lnTo>
                      <a:pt x="524" y="316"/>
                    </a:lnTo>
                    <a:lnTo>
                      <a:pt x="512" y="304"/>
                    </a:lnTo>
                    <a:lnTo>
                      <a:pt x="494" y="280"/>
                    </a:lnTo>
                    <a:lnTo>
                      <a:pt x="488" y="286"/>
                    </a:lnTo>
                    <a:lnTo>
                      <a:pt x="488" y="280"/>
                    </a:lnTo>
                    <a:lnTo>
                      <a:pt x="488" y="268"/>
                    </a:lnTo>
                    <a:lnTo>
                      <a:pt x="482" y="262"/>
                    </a:lnTo>
                    <a:lnTo>
                      <a:pt x="476" y="250"/>
                    </a:lnTo>
                    <a:lnTo>
                      <a:pt x="470" y="244"/>
                    </a:lnTo>
                    <a:lnTo>
                      <a:pt x="470" y="227"/>
                    </a:lnTo>
                    <a:lnTo>
                      <a:pt x="470" y="215"/>
                    </a:lnTo>
                    <a:lnTo>
                      <a:pt x="482" y="203"/>
                    </a:lnTo>
                    <a:lnTo>
                      <a:pt x="488" y="197"/>
                    </a:lnTo>
                    <a:lnTo>
                      <a:pt x="500" y="197"/>
                    </a:lnTo>
                    <a:lnTo>
                      <a:pt x="512" y="197"/>
                    </a:lnTo>
                    <a:lnTo>
                      <a:pt x="542" y="197"/>
                    </a:lnTo>
                    <a:lnTo>
                      <a:pt x="572" y="197"/>
                    </a:lnTo>
                    <a:lnTo>
                      <a:pt x="602" y="203"/>
                    </a:lnTo>
                    <a:lnTo>
                      <a:pt x="632" y="203"/>
                    </a:lnTo>
                    <a:lnTo>
                      <a:pt x="673" y="215"/>
                    </a:lnTo>
                    <a:lnTo>
                      <a:pt x="697" y="227"/>
                    </a:lnTo>
                    <a:lnTo>
                      <a:pt x="715" y="232"/>
                    </a:lnTo>
                    <a:lnTo>
                      <a:pt x="757" y="232"/>
                    </a:lnTo>
                    <a:lnTo>
                      <a:pt x="786" y="227"/>
                    </a:lnTo>
                    <a:lnTo>
                      <a:pt x="804" y="221"/>
                    </a:lnTo>
                    <a:lnTo>
                      <a:pt x="816" y="215"/>
                    </a:lnTo>
                    <a:lnTo>
                      <a:pt x="822" y="203"/>
                    </a:lnTo>
                    <a:lnTo>
                      <a:pt x="828" y="185"/>
                    </a:lnTo>
                    <a:lnTo>
                      <a:pt x="834" y="167"/>
                    </a:lnTo>
                    <a:lnTo>
                      <a:pt x="828" y="149"/>
                    </a:lnTo>
                    <a:lnTo>
                      <a:pt x="822" y="143"/>
                    </a:lnTo>
                    <a:lnTo>
                      <a:pt x="781" y="137"/>
                    </a:lnTo>
                    <a:lnTo>
                      <a:pt x="769" y="131"/>
                    </a:lnTo>
                    <a:lnTo>
                      <a:pt x="763" y="131"/>
                    </a:lnTo>
                    <a:lnTo>
                      <a:pt x="739" y="125"/>
                    </a:lnTo>
                    <a:lnTo>
                      <a:pt x="703" y="107"/>
                    </a:lnTo>
                    <a:lnTo>
                      <a:pt x="691" y="101"/>
                    </a:lnTo>
                    <a:lnTo>
                      <a:pt x="679" y="101"/>
                    </a:lnTo>
                    <a:lnTo>
                      <a:pt x="679" y="95"/>
                    </a:lnTo>
                    <a:lnTo>
                      <a:pt x="673" y="95"/>
                    </a:lnTo>
                    <a:lnTo>
                      <a:pt x="668" y="95"/>
                    </a:lnTo>
                    <a:lnTo>
                      <a:pt x="650" y="83"/>
                    </a:lnTo>
                    <a:lnTo>
                      <a:pt x="608" y="77"/>
                    </a:lnTo>
                    <a:lnTo>
                      <a:pt x="566" y="59"/>
                    </a:lnTo>
                    <a:lnTo>
                      <a:pt x="518" y="48"/>
                    </a:lnTo>
                    <a:lnTo>
                      <a:pt x="464" y="30"/>
                    </a:lnTo>
                    <a:lnTo>
                      <a:pt x="423" y="24"/>
                    </a:lnTo>
                    <a:lnTo>
                      <a:pt x="363" y="18"/>
                    </a:lnTo>
                    <a:lnTo>
                      <a:pt x="304" y="18"/>
                    </a:lnTo>
                    <a:lnTo>
                      <a:pt x="298" y="18"/>
                    </a:lnTo>
                    <a:lnTo>
                      <a:pt x="268" y="0"/>
                    </a:lnTo>
                    <a:lnTo>
                      <a:pt x="203" y="71"/>
                    </a:lnTo>
                    <a:lnTo>
                      <a:pt x="0" y="107"/>
                    </a:lnTo>
                  </a:path>
                </a:pathLst>
              </a:custGeom>
              <a:solidFill>
                <a:srgbClr val="FFBD7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4" name="Freeform 15"/>
              <p:cNvSpPr/>
              <p:nvPr/>
            </p:nvSpPr>
            <p:spPr>
              <a:xfrm rot="-4577010">
                <a:off x="4115" y="3187"/>
                <a:ext cx="132" cy="444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42"/>
                  </a:cxn>
                  <a:cxn ang="0">
                    <a:pos x="6" y="60"/>
                  </a:cxn>
                  <a:cxn ang="0">
                    <a:pos x="12" y="72"/>
                  </a:cxn>
                  <a:cxn ang="0">
                    <a:pos x="6" y="90"/>
                  </a:cxn>
                  <a:cxn ang="0">
                    <a:pos x="6" y="102"/>
                  </a:cxn>
                  <a:cxn ang="0">
                    <a:pos x="6" y="120"/>
                  </a:cxn>
                  <a:cxn ang="0">
                    <a:pos x="6" y="143"/>
                  </a:cxn>
                  <a:cxn ang="0">
                    <a:pos x="18" y="173"/>
                  </a:cxn>
                  <a:cxn ang="0">
                    <a:pos x="24" y="209"/>
                  </a:cxn>
                  <a:cxn ang="0">
                    <a:pos x="36" y="245"/>
                  </a:cxn>
                  <a:cxn ang="0">
                    <a:pos x="54" y="288"/>
                  </a:cxn>
                  <a:cxn ang="0">
                    <a:pos x="72" y="335"/>
                  </a:cxn>
                  <a:cxn ang="0">
                    <a:pos x="96" y="377"/>
                  </a:cxn>
                  <a:cxn ang="0">
                    <a:pos x="107" y="407"/>
                  </a:cxn>
                  <a:cxn ang="0">
                    <a:pos x="113" y="425"/>
                  </a:cxn>
                  <a:cxn ang="0">
                    <a:pos x="125" y="443"/>
                  </a:cxn>
                  <a:cxn ang="0">
                    <a:pos x="119" y="431"/>
                  </a:cxn>
                  <a:cxn ang="0">
                    <a:pos x="119" y="419"/>
                  </a:cxn>
                  <a:cxn ang="0">
                    <a:pos x="125" y="407"/>
                  </a:cxn>
                  <a:cxn ang="0">
                    <a:pos x="125" y="401"/>
                  </a:cxn>
                  <a:cxn ang="0">
                    <a:pos x="119" y="383"/>
                  </a:cxn>
                  <a:cxn ang="0">
                    <a:pos x="107" y="365"/>
                  </a:cxn>
                  <a:cxn ang="0">
                    <a:pos x="96" y="347"/>
                  </a:cxn>
                  <a:cxn ang="0">
                    <a:pos x="84" y="323"/>
                  </a:cxn>
                  <a:cxn ang="0">
                    <a:pos x="72" y="299"/>
                  </a:cxn>
                  <a:cxn ang="0">
                    <a:pos x="60" y="270"/>
                  </a:cxn>
                  <a:cxn ang="0">
                    <a:pos x="54" y="245"/>
                  </a:cxn>
                  <a:cxn ang="0">
                    <a:pos x="42" y="221"/>
                  </a:cxn>
                  <a:cxn ang="0">
                    <a:pos x="36" y="203"/>
                  </a:cxn>
                  <a:cxn ang="0">
                    <a:pos x="36" y="185"/>
                  </a:cxn>
                  <a:cxn ang="0">
                    <a:pos x="30" y="173"/>
                  </a:cxn>
                  <a:cxn ang="0">
                    <a:pos x="30" y="149"/>
                  </a:cxn>
                  <a:cxn ang="0">
                    <a:pos x="30" y="126"/>
                  </a:cxn>
                  <a:cxn ang="0">
                    <a:pos x="30" y="102"/>
                  </a:cxn>
                  <a:cxn ang="0">
                    <a:pos x="36" y="84"/>
                  </a:cxn>
                  <a:cxn ang="0">
                    <a:pos x="42" y="66"/>
                  </a:cxn>
                  <a:cxn ang="0">
                    <a:pos x="60" y="54"/>
                  </a:cxn>
                  <a:cxn ang="0">
                    <a:pos x="72" y="42"/>
                  </a:cxn>
                  <a:cxn ang="0">
                    <a:pos x="90" y="30"/>
                  </a:cxn>
                  <a:cxn ang="0">
                    <a:pos x="107" y="18"/>
                  </a:cxn>
                  <a:cxn ang="0">
                    <a:pos x="119" y="12"/>
                  </a:cxn>
                  <a:cxn ang="0">
                    <a:pos x="131" y="0"/>
                  </a:cxn>
                  <a:cxn ang="0">
                    <a:pos x="0" y="24"/>
                  </a:cxn>
                </a:cxnLst>
                <a:rect l="0" t="0" r="0" b="0"/>
                <a:pathLst>
                  <a:path w="132" h="444">
                    <a:moveTo>
                      <a:pt x="0" y="24"/>
                    </a:moveTo>
                    <a:lnTo>
                      <a:pt x="6" y="42"/>
                    </a:lnTo>
                    <a:lnTo>
                      <a:pt x="6" y="60"/>
                    </a:lnTo>
                    <a:lnTo>
                      <a:pt x="12" y="72"/>
                    </a:lnTo>
                    <a:lnTo>
                      <a:pt x="6" y="90"/>
                    </a:lnTo>
                    <a:lnTo>
                      <a:pt x="6" y="102"/>
                    </a:lnTo>
                    <a:lnTo>
                      <a:pt x="6" y="120"/>
                    </a:lnTo>
                    <a:lnTo>
                      <a:pt x="6" y="143"/>
                    </a:lnTo>
                    <a:lnTo>
                      <a:pt x="18" y="173"/>
                    </a:lnTo>
                    <a:lnTo>
                      <a:pt x="24" y="209"/>
                    </a:lnTo>
                    <a:lnTo>
                      <a:pt x="36" y="245"/>
                    </a:lnTo>
                    <a:lnTo>
                      <a:pt x="54" y="288"/>
                    </a:lnTo>
                    <a:lnTo>
                      <a:pt x="72" y="335"/>
                    </a:lnTo>
                    <a:lnTo>
                      <a:pt x="96" y="377"/>
                    </a:lnTo>
                    <a:lnTo>
                      <a:pt x="107" y="407"/>
                    </a:lnTo>
                    <a:lnTo>
                      <a:pt x="113" y="425"/>
                    </a:lnTo>
                    <a:lnTo>
                      <a:pt x="125" y="443"/>
                    </a:lnTo>
                    <a:lnTo>
                      <a:pt x="119" y="431"/>
                    </a:lnTo>
                    <a:lnTo>
                      <a:pt x="119" y="419"/>
                    </a:lnTo>
                    <a:lnTo>
                      <a:pt x="125" y="407"/>
                    </a:lnTo>
                    <a:lnTo>
                      <a:pt x="125" y="401"/>
                    </a:lnTo>
                    <a:lnTo>
                      <a:pt x="119" y="383"/>
                    </a:lnTo>
                    <a:lnTo>
                      <a:pt x="107" y="365"/>
                    </a:lnTo>
                    <a:lnTo>
                      <a:pt x="96" y="347"/>
                    </a:lnTo>
                    <a:lnTo>
                      <a:pt x="84" y="323"/>
                    </a:lnTo>
                    <a:lnTo>
                      <a:pt x="72" y="299"/>
                    </a:lnTo>
                    <a:lnTo>
                      <a:pt x="60" y="270"/>
                    </a:lnTo>
                    <a:lnTo>
                      <a:pt x="54" y="245"/>
                    </a:lnTo>
                    <a:lnTo>
                      <a:pt x="42" y="221"/>
                    </a:lnTo>
                    <a:lnTo>
                      <a:pt x="36" y="203"/>
                    </a:lnTo>
                    <a:lnTo>
                      <a:pt x="36" y="185"/>
                    </a:lnTo>
                    <a:lnTo>
                      <a:pt x="30" y="173"/>
                    </a:lnTo>
                    <a:lnTo>
                      <a:pt x="30" y="149"/>
                    </a:lnTo>
                    <a:lnTo>
                      <a:pt x="30" y="126"/>
                    </a:lnTo>
                    <a:lnTo>
                      <a:pt x="30" y="102"/>
                    </a:lnTo>
                    <a:lnTo>
                      <a:pt x="36" y="84"/>
                    </a:lnTo>
                    <a:lnTo>
                      <a:pt x="42" y="66"/>
                    </a:lnTo>
                    <a:lnTo>
                      <a:pt x="60" y="54"/>
                    </a:lnTo>
                    <a:lnTo>
                      <a:pt x="72" y="42"/>
                    </a:lnTo>
                    <a:lnTo>
                      <a:pt x="90" y="30"/>
                    </a:lnTo>
                    <a:lnTo>
                      <a:pt x="107" y="18"/>
                    </a:lnTo>
                    <a:lnTo>
                      <a:pt x="119" y="12"/>
                    </a:lnTo>
                    <a:lnTo>
                      <a:pt x="131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99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5" name="Freeform 16"/>
              <p:cNvSpPr/>
              <p:nvPr/>
            </p:nvSpPr>
            <p:spPr>
              <a:xfrm rot="-4577010">
                <a:off x="4420" y="3204"/>
                <a:ext cx="114" cy="96"/>
              </a:xfrm>
              <a:custGeom>
                <a:avLst/>
                <a:gdLst/>
                <a:ahLst/>
                <a:cxnLst>
                  <a:cxn ang="0">
                    <a:pos x="107" y="89"/>
                  </a:cxn>
                  <a:cxn ang="0">
                    <a:pos x="96" y="95"/>
                  </a:cxn>
                  <a:cxn ang="0">
                    <a:pos x="84" y="95"/>
                  </a:cxn>
                  <a:cxn ang="0">
                    <a:pos x="66" y="89"/>
                  </a:cxn>
                  <a:cxn ang="0">
                    <a:pos x="54" y="77"/>
                  </a:cxn>
                  <a:cxn ang="0">
                    <a:pos x="36" y="65"/>
                  </a:cxn>
                  <a:cxn ang="0">
                    <a:pos x="24" y="42"/>
                  </a:cxn>
                  <a:cxn ang="0">
                    <a:pos x="12" y="24"/>
                  </a:cxn>
                  <a:cxn ang="0">
                    <a:pos x="0" y="0"/>
                  </a:cxn>
                  <a:cxn ang="0">
                    <a:pos x="18" y="24"/>
                  </a:cxn>
                  <a:cxn ang="0">
                    <a:pos x="24" y="30"/>
                  </a:cxn>
                  <a:cxn ang="0">
                    <a:pos x="30" y="42"/>
                  </a:cxn>
                  <a:cxn ang="0">
                    <a:pos x="42" y="53"/>
                  </a:cxn>
                  <a:cxn ang="0">
                    <a:pos x="48" y="59"/>
                  </a:cxn>
                  <a:cxn ang="0">
                    <a:pos x="60" y="71"/>
                  </a:cxn>
                  <a:cxn ang="0">
                    <a:pos x="72" y="77"/>
                  </a:cxn>
                  <a:cxn ang="0">
                    <a:pos x="90" y="83"/>
                  </a:cxn>
                  <a:cxn ang="0">
                    <a:pos x="101" y="83"/>
                  </a:cxn>
                  <a:cxn ang="0">
                    <a:pos x="113" y="83"/>
                  </a:cxn>
                  <a:cxn ang="0">
                    <a:pos x="107" y="89"/>
                  </a:cxn>
                </a:cxnLst>
                <a:rect l="0" t="0" r="0" b="0"/>
                <a:pathLst>
                  <a:path w="114" h="96">
                    <a:moveTo>
                      <a:pt x="107" y="89"/>
                    </a:moveTo>
                    <a:lnTo>
                      <a:pt x="96" y="95"/>
                    </a:lnTo>
                    <a:lnTo>
                      <a:pt x="84" y="95"/>
                    </a:lnTo>
                    <a:lnTo>
                      <a:pt x="66" y="89"/>
                    </a:lnTo>
                    <a:lnTo>
                      <a:pt x="54" y="77"/>
                    </a:lnTo>
                    <a:lnTo>
                      <a:pt x="36" y="65"/>
                    </a:lnTo>
                    <a:lnTo>
                      <a:pt x="24" y="42"/>
                    </a:lnTo>
                    <a:lnTo>
                      <a:pt x="12" y="24"/>
                    </a:lnTo>
                    <a:lnTo>
                      <a:pt x="0" y="0"/>
                    </a:lnTo>
                    <a:lnTo>
                      <a:pt x="18" y="24"/>
                    </a:lnTo>
                    <a:lnTo>
                      <a:pt x="24" y="30"/>
                    </a:lnTo>
                    <a:lnTo>
                      <a:pt x="30" y="42"/>
                    </a:lnTo>
                    <a:lnTo>
                      <a:pt x="42" y="53"/>
                    </a:lnTo>
                    <a:lnTo>
                      <a:pt x="48" y="59"/>
                    </a:lnTo>
                    <a:lnTo>
                      <a:pt x="60" y="71"/>
                    </a:lnTo>
                    <a:lnTo>
                      <a:pt x="72" y="77"/>
                    </a:lnTo>
                    <a:lnTo>
                      <a:pt x="90" y="83"/>
                    </a:lnTo>
                    <a:lnTo>
                      <a:pt x="101" y="83"/>
                    </a:lnTo>
                    <a:lnTo>
                      <a:pt x="113" y="83"/>
                    </a:lnTo>
                    <a:lnTo>
                      <a:pt x="107" y="89"/>
                    </a:lnTo>
                  </a:path>
                </a:pathLst>
              </a:custGeom>
              <a:solidFill>
                <a:srgbClr val="99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6" name="Freeform 17"/>
              <p:cNvSpPr/>
              <p:nvPr/>
            </p:nvSpPr>
            <p:spPr>
              <a:xfrm rot="-4577010">
                <a:off x="4413" y="3061"/>
                <a:ext cx="138" cy="114"/>
              </a:xfrm>
              <a:custGeom>
                <a:avLst/>
                <a:gdLst/>
                <a:ahLst/>
                <a:cxnLst>
                  <a:cxn ang="0">
                    <a:pos x="131" y="107"/>
                  </a:cxn>
                  <a:cxn ang="0">
                    <a:pos x="113" y="113"/>
                  </a:cxn>
                  <a:cxn ang="0">
                    <a:pos x="95" y="107"/>
                  </a:cxn>
                  <a:cxn ang="0">
                    <a:pos x="84" y="107"/>
                  </a:cxn>
                  <a:cxn ang="0">
                    <a:pos x="66" y="95"/>
                  </a:cxn>
                  <a:cxn ang="0">
                    <a:pos x="54" y="89"/>
                  </a:cxn>
                  <a:cxn ang="0">
                    <a:pos x="42" y="72"/>
                  </a:cxn>
                  <a:cxn ang="0">
                    <a:pos x="30" y="54"/>
                  </a:cxn>
                  <a:cxn ang="0">
                    <a:pos x="18" y="30"/>
                  </a:cxn>
                  <a:cxn ang="0">
                    <a:pos x="0" y="0"/>
                  </a:cxn>
                  <a:cxn ang="0">
                    <a:pos x="12" y="18"/>
                  </a:cxn>
                  <a:cxn ang="0">
                    <a:pos x="24" y="30"/>
                  </a:cxn>
                  <a:cxn ang="0">
                    <a:pos x="36" y="48"/>
                  </a:cxn>
                  <a:cxn ang="0">
                    <a:pos x="48" y="60"/>
                  </a:cxn>
                  <a:cxn ang="0">
                    <a:pos x="60" y="72"/>
                  </a:cxn>
                  <a:cxn ang="0">
                    <a:pos x="78" y="83"/>
                  </a:cxn>
                  <a:cxn ang="0">
                    <a:pos x="95" y="89"/>
                  </a:cxn>
                  <a:cxn ang="0">
                    <a:pos x="119" y="95"/>
                  </a:cxn>
                  <a:cxn ang="0">
                    <a:pos x="137" y="101"/>
                  </a:cxn>
                  <a:cxn ang="0">
                    <a:pos x="131" y="107"/>
                  </a:cxn>
                </a:cxnLst>
                <a:rect l="0" t="0" r="0" b="0"/>
                <a:pathLst>
                  <a:path w="138" h="114">
                    <a:moveTo>
                      <a:pt x="131" y="107"/>
                    </a:moveTo>
                    <a:lnTo>
                      <a:pt x="113" y="113"/>
                    </a:lnTo>
                    <a:lnTo>
                      <a:pt x="95" y="107"/>
                    </a:lnTo>
                    <a:lnTo>
                      <a:pt x="84" y="107"/>
                    </a:lnTo>
                    <a:lnTo>
                      <a:pt x="66" y="95"/>
                    </a:lnTo>
                    <a:lnTo>
                      <a:pt x="54" y="89"/>
                    </a:lnTo>
                    <a:lnTo>
                      <a:pt x="42" y="72"/>
                    </a:lnTo>
                    <a:lnTo>
                      <a:pt x="30" y="54"/>
                    </a:lnTo>
                    <a:lnTo>
                      <a:pt x="18" y="30"/>
                    </a:lnTo>
                    <a:lnTo>
                      <a:pt x="0" y="0"/>
                    </a:lnTo>
                    <a:lnTo>
                      <a:pt x="12" y="18"/>
                    </a:lnTo>
                    <a:lnTo>
                      <a:pt x="24" y="30"/>
                    </a:lnTo>
                    <a:lnTo>
                      <a:pt x="36" y="48"/>
                    </a:lnTo>
                    <a:lnTo>
                      <a:pt x="48" y="60"/>
                    </a:lnTo>
                    <a:lnTo>
                      <a:pt x="60" y="72"/>
                    </a:lnTo>
                    <a:lnTo>
                      <a:pt x="78" y="83"/>
                    </a:lnTo>
                    <a:lnTo>
                      <a:pt x="95" y="89"/>
                    </a:lnTo>
                    <a:lnTo>
                      <a:pt x="119" y="95"/>
                    </a:lnTo>
                    <a:lnTo>
                      <a:pt x="137" y="101"/>
                    </a:lnTo>
                    <a:lnTo>
                      <a:pt x="131" y="107"/>
                    </a:lnTo>
                  </a:path>
                </a:pathLst>
              </a:custGeom>
              <a:solidFill>
                <a:srgbClr val="99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7" name="Freeform 18"/>
              <p:cNvSpPr/>
              <p:nvPr/>
            </p:nvSpPr>
            <p:spPr>
              <a:xfrm rot="-4577010">
                <a:off x="4383" y="2927"/>
                <a:ext cx="103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" y="24"/>
                  </a:cxn>
                  <a:cxn ang="0">
                    <a:pos x="24" y="48"/>
                  </a:cxn>
                  <a:cxn ang="0">
                    <a:pos x="36" y="66"/>
                  </a:cxn>
                  <a:cxn ang="0">
                    <a:pos x="48" y="78"/>
                  </a:cxn>
                  <a:cxn ang="0">
                    <a:pos x="67" y="84"/>
                  </a:cxn>
                  <a:cxn ang="0">
                    <a:pos x="84" y="90"/>
                  </a:cxn>
                  <a:cxn ang="0">
                    <a:pos x="102" y="90"/>
                  </a:cxn>
                  <a:cxn ang="0">
                    <a:pos x="102" y="84"/>
                  </a:cxn>
                  <a:cxn ang="0">
                    <a:pos x="102" y="72"/>
                  </a:cxn>
                  <a:cxn ang="0">
                    <a:pos x="90" y="72"/>
                  </a:cxn>
                  <a:cxn ang="0">
                    <a:pos x="72" y="66"/>
                  </a:cxn>
                  <a:cxn ang="0">
                    <a:pos x="54" y="60"/>
                  </a:cxn>
                  <a:cxn ang="0">
                    <a:pos x="36" y="48"/>
                  </a:cxn>
                  <a:cxn ang="0">
                    <a:pos x="24" y="30"/>
                  </a:cxn>
                  <a:cxn ang="0">
                    <a:pos x="12" y="18"/>
                  </a:cxn>
                  <a:cxn ang="0">
                    <a:pos x="0" y="0"/>
                  </a:cxn>
                </a:cxnLst>
                <a:rect l="0" t="0" r="0" b="0"/>
                <a:pathLst>
                  <a:path w="103" h="91">
                    <a:moveTo>
                      <a:pt x="0" y="0"/>
                    </a:moveTo>
                    <a:lnTo>
                      <a:pt x="12" y="24"/>
                    </a:lnTo>
                    <a:lnTo>
                      <a:pt x="24" y="48"/>
                    </a:lnTo>
                    <a:lnTo>
                      <a:pt x="36" y="66"/>
                    </a:lnTo>
                    <a:lnTo>
                      <a:pt x="48" y="78"/>
                    </a:lnTo>
                    <a:lnTo>
                      <a:pt x="67" y="84"/>
                    </a:lnTo>
                    <a:lnTo>
                      <a:pt x="84" y="90"/>
                    </a:lnTo>
                    <a:lnTo>
                      <a:pt x="102" y="90"/>
                    </a:lnTo>
                    <a:lnTo>
                      <a:pt x="102" y="84"/>
                    </a:lnTo>
                    <a:lnTo>
                      <a:pt x="102" y="72"/>
                    </a:lnTo>
                    <a:lnTo>
                      <a:pt x="90" y="72"/>
                    </a:lnTo>
                    <a:lnTo>
                      <a:pt x="72" y="66"/>
                    </a:lnTo>
                    <a:lnTo>
                      <a:pt x="54" y="60"/>
                    </a:lnTo>
                    <a:lnTo>
                      <a:pt x="36" y="48"/>
                    </a:lnTo>
                    <a:lnTo>
                      <a:pt x="24" y="30"/>
                    </a:lnTo>
                    <a:lnTo>
                      <a:pt x="12" y="1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8" name="Freeform 19"/>
              <p:cNvSpPr/>
              <p:nvPr/>
            </p:nvSpPr>
            <p:spPr>
              <a:xfrm rot="-4577010">
                <a:off x="4226" y="2792"/>
                <a:ext cx="151" cy="234"/>
              </a:xfrm>
              <a:custGeom>
                <a:avLst/>
                <a:gdLst/>
                <a:ahLst/>
                <a:cxnLst>
                  <a:cxn ang="0">
                    <a:pos x="24" y="83"/>
                  </a:cxn>
                  <a:cxn ang="0">
                    <a:pos x="30" y="119"/>
                  </a:cxn>
                  <a:cxn ang="0">
                    <a:pos x="42" y="156"/>
                  </a:cxn>
                  <a:cxn ang="0">
                    <a:pos x="54" y="174"/>
                  </a:cxn>
                  <a:cxn ang="0">
                    <a:pos x="72" y="197"/>
                  </a:cxn>
                  <a:cxn ang="0">
                    <a:pos x="90" y="215"/>
                  </a:cxn>
                  <a:cxn ang="0">
                    <a:pos x="108" y="233"/>
                  </a:cxn>
                  <a:cxn ang="0">
                    <a:pos x="84" y="203"/>
                  </a:cxn>
                  <a:cxn ang="0">
                    <a:pos x="66" y="174"/>
                  </a:cxn>
                  <a:cxn ang="0">
                    <a:pos x="48" y="156"/>
                  </a:cxn>
                  <a:cxn ang="0">
                    <a:pos x="48" y="131"/>
                  </a:cxn>
                  <a:cxn ang="0">
                    <a:pos x="42" y="113"/>
                  </a:cxn>
                  <a:cxn ang="0">
                    <a:pos x="36" y="101"/>
                  </a:cxn>
                  <a:cxn ang="0">
                    <a:pos x="54" y="107"/>
                  </a:cxn>
                  <a:cxn ang="0">
                    <a:pos x="72" y="107"/>
                  </a:cxn>
                  <a:cxn ang="0">
                    <a:pos x="90" y="113"/>
                  </a:cxn>
                  <a:cxn ang="0">
                    <a:pos x="108" y="119"/>
                  </a:cxn>
                  <a:cxn ang="0">
                    <a:pos x="126" y="125"/>
                  </a:cxn>
                  <a:cxn ang="0">
                    <a:pos x="132" y="131"/>
                  </a:cxn>
                  <a:cxn ang="0">
                    <a:pos x="150" y="137"/>
                  </a:cxn>
                  <a:cxn ang="0">
                    <a:pos x="132" y="125"/>
                  </a:cxn>
                  <a:cxn ang="0">
                    <a:pos x="114" y="119"/>
                  </a:cxn>
                  <a:cxn ang="0">
                    <a:pos x="96" y="107"/>
                  </a:cxn>
                  <a:cxn ang="0">
                    <a:pos x="84" y="101"/>
                  </a:cxn>
                  <a:cxn ang="0">
                    <a:pos x="66" y="95"/>
                  </a:cxn>
                  <a:cxn ang="0">
                    <a:pos x="54" y="95"/>
                  </a:cxn>
                  <a:cxn ang="0">
                    <a:pos x="42" y="83"/>
                  </a:cxn>
                  <a:cxn ang="0">
                    <a:pos x="30" y="77"/>
                  </a:cxn>
                  <a:cxn ang="0">
                    <a:pos x="18" y="65"/>
                  </a:cxn>
                  <a:cxn ang="0">
                    <a:pos x="12" y="53"/>
                  </a:cxn>
                  <a:cxn ang="0">
                    <a:pos x="12" y="35"/>
                  </a:cxn>
                  <a:cxn ang="0">
                    <a:pos x="18" y="17"/>
                  </a:cxn>
                  <a:cxn ang="0">
                    <a:pos x="30" y="11"/>
                  </a:cxn>
                  <a:cxn ang="0">
                    <a:pos x="42" y="29"/>
                  </a:cxn>
                  <a:cxn ang="0">
                    <a:pos x="54" y="35"/>
                  </a:cxn>
                  <a:cxn ang="0">
                    <a:pos x="78" y="41"/>
                  </a:cxn>
                  <a:cxn ang="0">
                    <a:pos x="90" y="41"/>
                  </a:cxn>
                  <a:cxn ang="0">
                    <a:pos x="78" y="41"/>
                  </a:cxn>
                  <a:cxn ang="0">
                    <a:pos x="66" y="35"/>
                  </a:cxn>
                  <a:cxn ang="0">
                    <a:pos x="54" y="29"/>
                  </a:cxn>
                  <a:cxn ang="0">
                    <a:pos x="42" y="23"/>
                  </a:cxn>
                  <a:cxn ang="0">
                    <a:pos x="36" y="11"/>
                  </a:cxn>
                  <a:cxn ang="0">
                    <a:pos x="36" y="0"/>
                  </a:cxn>
                  <a:cxn ang="0">
                    <a:pos x="24" y="6"/>
                  </a:cxn>
                  <a:cxn ang="0">
                    <a:pos x="18" y="6"/>
                  </a:cxn>
                  <a:cxn ang="0">
                    <a:pos x="6" y="11"/>
                  </a:cxn>
                  <a:cxn ang="0">
                    <a:pos x="6" y="23"/>
                  </a:cxn>
                  <a:cxn ang="0">
                    <a:pos x="0" y="35"/>
                  </a:cxn>
                  <a:cxn ang="0">
                    <a:pos x="0" y="53"/>
                  </a:cxn>
                  <a:cxn ang="0">
                    <a:pos x="12" y="71"/>
                  </a:cxn>
                  <a:cxn ang="0">
                    <a:pos x="24" y="83"/>
                  </a:cxn>
                </a:cxnLst>
                <a:rect l="0" t="0" r="0" b="0"/>
                <a:pathLst>
                  <a:path w="151" h="234">
                    <a:moveTo>
                      <a:pt x="24" y="83"/>
                    </a:moveTo>
                    <a:lnTo>
                      <a:pt x="30" y="119"/>
                    </a:lnTo>
                    <a:lnTo>
                      <a:pt x="42" y="156"/>
                    </a:lnTo>
                    <a:lnTo>
                      <a:pt x="54" y="174"/>
                    </a:lnTo>
                    <a:lnTo>
                      <a:pt x="72" y="197"/>
                    </a:lnTo>
                    <a:lnTo>
                      <a:pt x="90" y="215"/>
                    </a:lnTo>
                    <a:lnTo>
                      <a:pt x="108" y="233"/>
                    </a:lnTo>
                    <a:lnTo>
                      <a:pt x="84" y="203"/>
                    </a:lnTo>
                    <a:lnTo>
                      <a:pt x="66" y="174"/>
                    </a:lnTo>
                    <a:lnTo>
                      <a:pt x="48" y="156"/>
                    </a:lnTo>
                    <a:lnTo>
                      <a:pt x="48" y="131"/>
                    </a:lnTo>
                    <a:lnTo>
                      <a:pt x="42" y="113"/>
                    </a:lnTo>
                    <a:lnTo>
                      <a:pt x="36" y="101"/>
                    </a:lnTo>
                    <a:lnTo>
                      <a:pt x="54" y="107"/>
                    </a:lnTo>
                    <a:lnTo>
                      <a:pt x="72" y="107"/>
                    </a:lnTo>
                    <a:lnTo>
                      <a:pt x="90" y="113"/>
                    </a:lnTo>
                    <a:lnTo>
                      <a:pt x="108" y="119"/>
                    </a:lnTo>
                    <a:lnTo>
                      <a:pt x="126" y="125"/>
                    </a:lnTo>
                    <a:lnTo>
                      <a:pt x="132" y="131"/>
                    </a:lnTo>
                    <a:lnTo>
                      <a:pt x="150" y="137"/>
                    </a:lnTo>
                    <a:lnTo>
                      <a:pt x="132" y="125"/>
                    </a:lnTo>
                    <a:lnTo>
                      <a:pt x="114" y="119"/>
                    </a:lnTo>
                    <a:lnTo>
                      <a:pt x="96" y="107"/>
                    </a:lnTo>
                    <a:lnTo>
                      <a:pt x="84" y="101"/>
                    </a:lnTo>
                    <a:lnTo>
                      <a:pt x="66" y="95"/>
                    </a:lnTo>
                    <a:lnTo>
                      <a:pt x="54" y="95"/>
                    </a:lnTo>
                    <a:lnTo>
                      <a:pt x="42" y="83"/>
                    </a:lnTo>
                    <a:lnTo>
                      <a:pt x="30" y="77"/>
                    </a:lnTo>
                    <a:lnTo>
                      <a:pt x="18" y="65"/>
                    </a:lnTo>
                    <a:lnTo>
                      <a:pt x="12" y="53"/>
                    </a:lnTo>
                    <a:lnTo>
                      <a:pt x="12" y="35"/>
                    </a:lnTo>
                    <a:lnTo>
                      <a:pt x="18" y="17"/>
                    </a:lnTo>
                    <a:lnTo>
                      <a:pt x="30" y="11"/>
                    </a:lnTo>
                    <a:lnTo>
                      <a:pt x="42" y="29"/>
                    </a:lnTo>
                    <a:lnTo>
                      <a:pt x="54" y="35"/>
                    </a:lnTo>
                    <a:lnTo>
                      <a:pt x="78" y="41"/>
                    </a:lnTo>
                    <a:lnTo>
                      <a:pt x="90" y="41"/>
                    </a:lnTo>
                    <a:lnTo>
                      <a:pt x="78" y="41"/>
                    </a:lnTo>
                    <a:lnTo>
                      <a:pt x="66" y="35"/>
                    </a:lnTo>
                    <a:lnTo>
                      <a:pt x="54" y="29"/>
                    </a:lnTo>
                    <a:lnTo>
                      <a:pt x="42" y="23"/>
                    </a:lnTo>
                    <a:lnTo>
                      <a:pt x="36" y="11"/>
                    </a:lnTo>
                    <a:lnTo>
                      <a:pt x="36" y="0"/>
                    </a:lnTo>
                    <a:lnTo>
                      <a:pt x="24" y="6"/>
                    </a:lnTo>
                    <a:lnTo>
                      <a:pt x="18" y="6"/>
                    </a:lnTo>
                    <a:lnTo>
                      <a:pt x="6" y="11"/>
                    </a:lnTo>
                    <a:lnTo>
                      <a:pt x="6" y="23"/>
                    </a:lnTo>
                    <a:lnTo>
                      <a:pt x="0" y="35"/>
                    </a:lnTo>
                    <a:lnTo>
                      <a:pt x="0" y="53"/>
                    </a:lnTo>
                    <a:lnTo>
                      <a:pt x="12" y="71"/>
                    </a:lnTo>
                    <a:lnTo>
                      <a:pt x="24" y="83"/>
                    </a:lnTo>
                  </a:path>
                </a:pathLst>
              </a:custGeom>
              <a:solidFill>
                <a:srgbClr val="99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9" name="Freeform 20"/>
              <p:cNvSpPr/>
              <p:nvPr/>
            </p:nvSpPr>
            <p:spPr>
              <a:xfrm rot="-4577010">
                <a:off x="4234" y="2960"/>
                <a:ext cx="43" cy="49"/>
              </a:xfrm>
              <a:custGeom>
                <a:avLst/>
                <a:gdLst/>
                <a:ahLst/>
                <a:cxnLst>
                  <a:cxn ang="0">
                    <a:pos x="42" y="6"/>
                  </a:cxn>
                  <a:cxn ang="0">
                    <a:pos x="30" y="12"/>
                  </a:cxn>
                  <a:cxn ang="0">
                    <a:pos x="18" y="12"/>
                  </a:cxn>
                  <a:cxn ang="0">
                    <a:pos x="12" y="24"/>
                  </a:cxn>
                  <a:cxn ang="0">
                    <a:pos x="6" y="30"/>
                  </a:cxn>
                  <a:cxn ang="0">
                    <a:pos x="0" y="48"/>
                  </a:cxn>
                  <a:cxn ang="0">
                    <a:pos x="0" y="36"/>
                  </a:cxn>
                  <a:cxn ang="0">
                    <a:pos x="6" y="18"/>
                  </a:cxn>
                  <a:cxn ang="0">
                    <a:pos x="18" y="6"/>
                  </a:cxn>
                  <a:cxn ang="0">
                    <a:pos x="30" y="0"/>
                  </a:cxn>
                  <a:cxn ang="0">
                    <a:pos x="42" y="6"/>
                  </a:cxn>
                </a:cxnLst>
                <a:rect l="0" t="0" r="0" b="0"/>
                <a:pathLst>
                  <a:path w="43" h="49">
                    <a:moveTo>
                      <a:pt x="42" y="6"/>
                    </a:moveTo>
                    <a:lnTo>
                      <a:pt x="30" y="12"/>
                    </a:lnTo>
                    <a:lnTo>
                      <a:pt x="18" y="12"/>
                    </a:lnTo>
                    <a:lnTo>
                      <a:pt x="12" y="24"/>
                    </a:lnTo>
                    <a:lnTo>
                      <a:pt x="6" y="30"/>
                    </a:lnTo>
                    <a:lnTo>
                      <a:pt x="0" y="48"/>
                    </a:lnTo>
                    <a:lnTo>
                      <a:pt x="0" y="36"/>
                    </a:lnTo>
                    <a:lnTo>
                      <a:pt x="6" y="18"/>
                    </a:lnTo>
                    <a:lnTo>
                      <a:pt x="18" y="6"/>
                    </a:lnTo>
                    <a:lnTo>
                      <a:pt x="30" y="0"/>
                    </a:lnTo>
                    <a:lnTo>
                      <a:pt x="42" y="6"/>
                    </a:lnTo>
                  </a:path>
                </a:pathLst>
              </a:custGeom>
              <a:solidFill>
                <a:srgbClr val="FCA4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0" name="Freeform 21"/>
              <p:cNvSpPr/>
              <p:nvPr/>
            </p:nvSpPr>
            <p:spPr>
              <a:xfrm rot="-4577010">
                <a:off x="4186" y="2992"/>
                <a:ext cx="48" cy="19"/>
              </a:xfrm>
              <a:custGeom>
                <a:avLst/>
                <a:gdLst/>
                <a:ahLst/>
                <a:cxnLst>
                  <a:cxn ang="0">
                    <a:pos x="47" y="0"/>
                  </a:cxn>
                  <a:cxn ang="0">
                    <a:pos x="35" y="0"/>
                  </a:cxn>
                  <a:cxn ang="0">
                    <a:pos x="23" y="0"/>
                  </a:cxn>
                  <a:cxn ang="0">
                    <a:pos x="17" y="12"/>
                  </a:cxn>
                  <a:cxn ang="0">
                    <a:pos x="6" y="18"/>
                  </a:cxn>
                  <a:cxn ang="0">
                    <a:pos x="0" y="12"/>
                  </a:cxn>
                  <a:cxn ang="0">
                    <a:pos x="47" y="0"/>
                  </a:cxn>
                </a:cxnLst>
                <a:rect l="0" t="0" r="0" b="0"/>
                <a:pathLst>
                  <a:path w="48" h="19">
                    <a:moveTo>
                      <a:pt x="47" y="0"/>
                    </a:moveTo>
                    <a:lnTo>
                      <a:pt x="35" y="0"/>
                    </a:lnTo>
                    <a:lnTo>
                      <a:pt x="23" y="0"/>
                    </a:lnTo>
                    <a:lnTo>
                      <a:pt x="17" y="12"/>
                    </a:lnTo>
                    <a:lnTo>
                      <a:pt x="6" y="18"/>
                    </a:lnTo>
                    <a:lnTo>
                      <a:pt x="0" y="12"/>
                    </a:lnTo>
                    <a:lnTo>
                      <a:pt x="47" y="0"/>
                    </a:lnTo>
                  </a:path>
                </a:pathLst>
              </a:custGeom>
              <a:solidFill>
                <a:srgbClr val="FCA4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1" name="Freeform 22"/>
              <p:cNvSpPr/>
              <p:nvPr/>
            </p:nvSpPr>
            <p:spPr>
              <a:xfrm rot="-4577010">
                <a:off x="4080" y="2887"/>
                <a:ext cx="192" cy="72"/>
              </a:xfrm>
              <a:custGeom>
                <a:avLst/>
                <a:gdLst/>
                <a:ahLst/>
                <a:cxnLst>
                  <a:cxn ang="0">
                    <a:pos x="191" y="30"/>
                  </a:cxn>
                  <a:cxn ang="0">
                    <a:pos x="167" y="36"/>
                  </a:cxn>
                  <a:cxn ang="0">
                    <a:pos x="137" y="30"/>
                  </a:cxn>
                  <a:cxn ang="0">
                    <a:pos x="101" y="30"/>
                  </a:cxn>
                  <a:cxn ang="0">
                    <a:pos x="65" y="30"/>
                  </a:cxn>
                  <a:cxn ang="0">
                    <a:pos x="53" y="30"/>
                  </a:cxn>
                  <a:cxn ang="0">
                    <a:pos x="41" y="36"/>
                  </a:cxn>
                  <a:cxn ang="0">
                    <a:pos x="35" y="48"/>
                  </a:cxn>
                  <a:cxn ang="0">
                    <a:pos x="29" y="60"/>
                  </a:cxn>
                  <a:cxn ang="0">
                    <a:pos x="23" y="65"/>
                  </a:cxn>
                  <a:cxn ang="0">
                    <a:pos x="11" y="65"/>
                  </a:cxn>
                  <a:cxn ang="0">
                    <a:pos x="0" y="71"/>
                  </a:cxn>
                  <a:cxn ang="0">
                    <a:pos x="11" y="60"/>
                  </a:cxn>
                  <a:cxn ang="0">
                    <a:pos x="23" y="60"/>
                  </a:cxn>
                  <a:cxn ang="0">
                    <a:pos x="23" y="48"/>
                  </a:cxn>
                  <a:cxn ang="0">
                    <a:pos x="29" y="36"/>
                  </a:cxn>
                  <a:cxn ang="0">
                    <a:pos x="35" y="30"/>
                  </a:cxn>
                  <a:cxn ang="0">
                    <a:pos x="41" y="24"/>
                  </a:cxn>
                  <a:cxn ang="0">
                    <a:pos x="35" y="12"/>
                  </a:cxn>
                  <a:cxn ang="0">
                    <a:pos x="23" y="6"/>
                  </a:cxn>
                  <a:cxn ang="0">
                    <a:pos x="11" y="6"/>
                  </a:cxn>
                  <a:cxn ang="0">
                    <a:pos x="5" y="0"/>
                  </a:cxn>
                  <a:cxn ang="0">
                    <a:pos x="17" y="0"/>
                  </a:cxn>
                  <a:cxn ang="0">
                    <a:pos x="35" y="0"/>
                  </a:cxn>
                  <a:cxn ang="0">
                    <a:pos x="47" y="0"/>
                  </a:cxn>
                  <a:cxn ang="0">
                    <a:pos x="59" y="6"/>
                  </a:cxn>
                  <a:cxn ang="0">
                    <a:pos x="71" y="0"/>
                  </a:cxn>
                  <a:cxn ang="0">
                    <a:pos x="89" y="6"/>
                  </a:cxn>
                  <a:cxn ang="0">
                    <a:pos x="101" y="12"/>
                  </a:cxn>
                  <a:cxn ang="0">
                    <a:pos x="114" y="12"/>
                  </a:cxn>
                  <a:cxn ang="0">
                    <a:pos x="125" y="18"/>
                  </a:cxn>
                  <a:cxn ang="0">
                    <a:pos x="137" y="18"/>
                  </a:cxn>
                  <a:cxn ang="0">
                    <a:pos x="143" y="12"/>
                  </a:cxn>
                  <a:cxn ang="0">
                    <a:pos x="137" y="0"/>
                  </a:cxn>
                  <a:cxn ang="0">
                    <a:pos x="149" y="6"/>
                  </a:cxn>
                  <a:cxn ang="0">
                    <a:pos x="161" y="12"/>
                  </a:cxn>
                  <a:cxn ang="0">
                    <a:pos x="173" y="12"/>
                  </a:cxn>
                  <a:cxn ang="0">
                    <a:pos x="185" y="18"/>
                  </a:cxn>
                  <a:cxn ang="0">
                    <a:pos x="191" y="30"/>
                  </a:cxn>
                </a:cxnLst>
                <a:rect l="0" t="0" r="0" b="0"/>
                <a:pathLst>
                  <a:path w="192" h="72">
                    <a:moveTo>
                      <a:pt x="191" y="30"/>
                    </a:moveTo>
                    <a:lnTo>
                      <a:pt x="167" y="36"/>
                    </a:lnTo>
                    <a:lnTo>
                      <a:pt x="137" y="30"/>
                    </a:lnTo>
                    <a:lnTo>
                      <a:pt x="101" y="30"/>
                    </a:lnTo>
                    <a:lnTo>
                      <a:pt x="65" y="30"/>
                    </a:lnTo>
                    <a:lnTo>
                      <a:pt x="53" y="30"/>
                    </a:lnTo>
                    <a:lnTo>
                      <a:pt x="41" y="36"/>
                    </a:lnTo>
                    <a:lnTo>
                      <a:pt x="35" y="48"/>
                    </a:lnTo>
                    <a:lnTo>
                      <a:pt x="29" y="60"/>
                    </a:lnTo>
                    <a:lnTo>
                      <a:pt x="23" y="65"/>
                    </a:lnTo>
                    <a:lnTo>
                      <a:pt x="11" y="65"/>
                    </a:lnTo>
                    <a:lnTo>
                      <a:pt x="0" y="71"/>
                    </a:lnTo>
                    <a:lnTo>
                      <a:pt x="11" y="60"/>
                    </a:lnTo>
                    <a:lnTo>
                      <a:pt x="23" y="60"/>
                    </a:lnTo>
                    <a:lnTo>
                      <a:pt x="23" y="48"/>
                    </a:lnTo>
                    <a:lnTo>
                      <a:pt x="29" y="36"/>
                    </a:lnTo>
                    <a:lnTo>
                      <a:pt x="35" y="30"/>
                    </a:lnTo>
                    <a:lnTo>
                      <a:pt x="41" y="24"/>
                    </a:lnTo>
                    <a:lnTo>
                      <a:pt x="35" y="12"/>
                    </a:lnTo>
                    <a:lnTo>
                      <a:pt x="23" y="6"/>
                    </a:lnTo>
                    <a:lnTo>
                      <a:pt x="11" y="6"/>
                    </a:lnTo>
                    <a:lnTo>
                      <a:pt x="5" y="0"/>
                    </a:lnTo>
                    <a:lnTo>
                      <a:pt x="17" y="0"/>
                    </a:lnTo>
                    <a:lnTo>
                      <a:pt x="35" y="0"/>
                    </a:lnTo>
                    <a:lnTo>
                      <a:pt x="47" y="0"/>
                    </a:lnTo>
                    <a:lnTo>
                      <a:pt x="59" y="6"/>
                    </a:lnTo>
                    <a:lnTo>
                      <a:pt x="71" y="0"/>
                    </a:lnTo>
                    <a:lnTo>
                      <a:pt x="89" y="6"/>
                    </a:lnTo>
                    <a:lnTo>
                      <a:pt x="101" y="12"/>
                    </a:lnTo>
                    <a:lnTo>
                      <a:pt x="114" y="12"/>
                    </a:lnTo>
                    <a:lnTo>
                      <a:pt x="125" y="18"/>
                    </a:lnTo>
                    <a:lnTo>
                      <a:pt x="137" y="18"/>
                    </a:lnTo>
                    <a:lnTo>
                      <a:pt x="143" y="12"/>
                    </a:lnTo>
                    <a:lnTo>
                      <a:pt x="137" y="0"/>
                    </a:lnTo>
                    <a:lnTo>
                      <a:pt x="149" y="6"/>
                    </a:lnTo>
                    <a:lnTo>
                      <a:pt x="161" y="12"/>
                    </a:lnTo>
                    <a:lnTo>
                      <a:pt x="173" y="12"/>
                    </a:lnTo>
                    <a:lnTo>
                      <a:pt x="185" y="18"/>
                    </a:lnTo>
                    <a:lnTo>
                      <a:pt x="191" y="30"/>
                    </a:lnTo>
                  </a:path>
                </a:pathLst>
              </a:custGeom>
              <a:solidFill>
                <a:srgbClr val="99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2" name="Freeform 23"/>
              <p:cNvSpPr/>
              <p:nvPr/>
            </p:nvSpPr>
            <p:spPr>
              <a:xfrm rot="-4577010">
                <a:off x="4045" y="2793"/>
                <a:ext cx="37" cy="37"/>
              </a:xfrm>
              <a:custGeom>
                <a:avLst/>
                <a:gdLst/>
                <a:ahLst/>
                <a:cxnLst>
                  <a:cxn ang="0">
                    <a:pos x="12" y="6"/>
                  </a:cxn>
                  <a:cxn ang="0">
                    <a:pos x="12" y="12"/>
                  </a:cxn>
                  <a:cxn ang="0">
                    <a:pos x="12" y="24"/>
                  </a:cxn>
                  <a:cxn ang="0">
                    <a:pos x="18" y="30"/>
                  </a:cxn>
                  <a:cxn ang="0">
                    <a:pos x="36" y="36"/>
                  </a:cxn>
                  <a:cxn ang="0">
                    <a:pos x="24" y="36"/>
                  </a:cxn>
                  <a:cxn ang="0">
                    <a:pos x="12" y="30"/>
                  </a:cxn>
                  <a:cxn ang="0">
                    <a:pos x="6" y="24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12" y="6"/>
                  </a:cxn>
                </a:cxnLst>
                <a:rect l="0" t="0" r="0" b="0"/>
                <a:pathLst>
                  <a:path w="37" h="37">
                    <a:moveTo>
                      <a:pt x="12" y="6"/>
                    </a:moveTo>
                    <a:lnTo>
                      <a:pt x="12" y="12"/>
                    </a:lnTo>
                    <a:lnTo>
                      <a:pt x="12" y="24"/>
                    </a:lnTo>
                    <a:lnTo>
                      <a:pt x="18" y="30"/>
                    </a:lnTo>
                    <a:lnTo>
                      <a:pt x="36" y="36"/>
                    </a:lnTo>
                    <a:lnTo>
                      <a:pt x="24" y="36"/>
                    </a:lnTo>
                    <a:lnTo>
                      <a:pt x="12" y="30"/>
                    </a:lnTo>
                    <a:lnTo>
                      <a:pt x="6" y="24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12" y="6"/>
                    </a:lnTo>
                  </a:path>
                </a:pathLst>
              </a:custGeom>
              <a:solidFill>
                <a:srgbClr val="FCA4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3" name="Freeform 24"/>
              <p:cNvSpPr/>
              <p:nvPr/>
            </p:nvSpPr>
            <p:spPr>
              <a:xfrm rot="-4577010">
                <a:off x="3878" y="3092"/>
                <a:ext cx="109" cy="60"/>
              </a:xfrm>
              <a:custGeom>
                <a:avLst/>
                <a:gdLst/>
                <a:ahLst/>
                <a:cxnLst>
                  <a:cxn ang="0">
                    <a:pos x="42" y="0"/>
                  </a:cxn>
                  <a:cxn ang="0">
                    <a:pos x="54" y="6"/>
                  </a:cxn>
                  <a:cxn ang="0">
                    <a:pos x="66" y="12"/>
                  </a:cxn>
                  <a:cxn ang="0">
                    <a:pos x="72" y="18"/>
                  </a:cxn>
                  <a:cxn ang="0">
                    <a:pos x="78" y="24"/>
                  </a:cxn>
                  <a:cxn ang="0">
                    <a:pos x="96" y="30"/>
                  </a:cxn>
                  <a:cxn ang="0">
                    <a:pos x="108" y="36"/>
                  </a:cxn>
                  <a:cxn ang="0">
                    <a:pos x="90" y="36"/>
                  </a:cxn>
                  <a:cxn ang="0">
                    <a:pos x="78" y="30"/>
                  </a:cxn>
                  <a:cxn ang="0">
                    <a:pos x="66" y="24"/>
                  </a:cxn>
                  <a:cxn ang="0">
                    <a:pos x="54" y="18"/>
                  </a:cxn>
                  <a:cxn ang="0">
                    <a:pos x="48" y="30"/>
                  </a:cxn>
                  <a:cxn ang="0">
                    <a:pos x="42" y="36"/>
                  </a:cxn>
                  <a:cxn ang="0">
                    <a:pos x="36" y="42"/>
                  </a:cxn>
                  <a:cxn ang="0">
                    <a:pos x="18" y="54"/>
                  </a:cxn>
                  <a:cxn ang="0">
                    <a:pos x="0" y="59"/>
                  </a:cxn>
                  <a:cxn ang="0">
                    <a:pos x="42" y="0"/>
                  </a:cxn>
                </a:cxnLst>
                <a:rect l="0" t="0" r="0" b="0"/>
                <a:pathLst>
                  <a:path w="109" h="60">
                    <a:moveTo>
                      <a:pt x="42" y="0"/>
                    </a:moveTo>
                    <a:lnTo>
                      <a:pt x="54" y="6"/>
                    </a:lnTo>
                    <a:lnTo>
                      <a:pt x="66" y="12"/>
                    </a:lnTo>
                    <a:lnTo>
                      <a:pt x="72" y="18"/>
                    </a:lnTo>
                    <a:lnTo>
                      <a:pt x="78" y="24"/>
                    </a:lnTo>
                    <a:lnTo>
                      <a:pt x="96" y="30"/>
                    </a:lnTo>
                    <a:lnTo>
                      <a:pt x="108" y="36"/>
                    </a:lnTo>
                    <a:lnTo>
                      <a:pt x="90" y="36"/>
                    </a:lnTo>
                    <a:lnTo>
                      <a:pt x="78" y="30"/>
                    </a:lnTo>
                    <a:lnTo>
                      <a:pt x="66" y="24"/>
                    </a:lnTo>
                    <a:lnTo>
                      <a:pt x="54" y="18"/>
                    </a:lnTo>
                    <a:lnTo>
                      <a:pt x="48" y="30"/>
                    </a:lnTo>
                    <a:lnTo>
                      <a:pt x="42" y="36"/>
                    </a:lnTo>
                    <a:lnTo>
                      <a:pt x="36" y="42"/>
                    </a:lnTo>
                    <a:lnTo>
                      <a:pt x="18" y="54"/>
                    </a:lnTo>
                    <a:lnTo>
                      <a:pt x="0" y="59"/>
                    </a:lnTo>
                    <a:lnTo>
                      <a:pt x="42" y="0"/>
                    </a:lnTo>
                  </a:path>
                </a:pathLst>
              </a:custGeom>
              <a:solidFill>
                <a:srgbClr val="FCA4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4" name="Freeform 25"/>
              <p:cNvSpPr/>
              <p:nvPr/>
            </p:nvSpPr>
            <p:spPr>
              <a:xfrm rot="-4577010">
                <a:off x="4139" y="2621"/>
                <a:ext cx="72" cy="4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0" y="30"/>
                  </a:cxn>
                  <a:cxn ang="0">
                    <a:pos x="6" y="36"/>
                  </a:cxn>
                  <a:cxn ang="0">
                    <a:pos x="12" y="42"/>
                  </a:cxn>
                  <a:cxn ang="0">
                    <a:pos x="23" y="42"/>
                  </a:cxn>
                  <a:cxn ang="0">
                    <a:pos x="41" y="42"/>
                  </a:cxn>
                  <a:cxn ang="0">
                    <a:pos x="53" y="42"/>
                  </a:cxn>
                  <a:cxn ang="0">
                    <a:pos x="59" y="42"/>
                  </a:cxn>
                  <a:cxn ang="0">
                    <a:pos x="71" y="36"/>
                  </a:cxn>
                  <a:cxn ang="0">
                    <a:pos x="71" y="30"/>
                  </a:cxn>
                  <a:cxn ang="0">
                    <a:pos x="71" y="18"/>
                  </a:cxn>
                  <a:cxn ang="0">
                    <a:pos x="65" y="12"/>
                  </a:cxn>
                  <a:cxn ang="0">
                    <a:pos x="59" y="12"/>
                  </a:cxn>
                  <a:cxn ang="0">
                    <a:pos x="41" y="6"/>
                  </a:cxn>
                  <a:cxn ang="0">
                    <a:pos x="35" y="6"/>
                  </a:cxn>
                  <a:cxn ang="0">
                    <a:pos x="18" y="6"/>
                  </a:cxn>
                  <a:cxn ang="0">
                    <a:pos x="6" y="0"/>
                  </a:cxn>
                </a:cxnLst>
                <a:rect l="0" t="0" r="0" b="0"/>
                <a:pathLst>
                  <a:path w="72" h="43">
                    <a:moveTo>
                      <a:pt x="6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12" y="42"/>
                    </a:lnTo>
                    <a:lnTo>
                      <a:pt x="23" y="42"/>
                    </a:lnTo>
                    <a:lnTo>
                      <a:pt x="41" y="42"/>
                    </a:lnTo>
                    <a:lnTo>
                      <a:pt x="53" y="42"/>
                    </a:lnTo>
                    <a:lnTo>
                      <a:pt x="59" y="42"/>
                    </a:lnTo>
                    <a:lnTo>
                      <a:pt x="71" y="36"/>
                    </a:lnTo>
                    <a:lnTo>
                      <a:pt x="71" y="30"/>
                    </a:lnTo>
                    <a:lnTo>
                      <a:pt x="71" y="18"/>
                    </a:lnTo>
                    <a:lnTo>
                      <a:pt x="65" y="12"/>
                    </a:lnTo>
                    <a:lnTo>
                      <a:pt x="59" y="12"/>
                    </a:lnTo>
                    <a:lnTo>
                      <a:pt x="41" y="6"/>
                    </a:lnTo>
                    <a:lnTo>
                      <a:pt x="35" y="6"/>
                    </a:lnTo>
                    <a:lnTo>
                      <a:pt x="18" y="6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FF66CC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5" name="Freeform 26"/>
              <p:cNvSpPr/>
              <p:nvPr/>
            </p:nvSpPr>
            <p:spPr>
              <a:xfrm rot="-4577010">
                <a:off x="4089" y="2715"/>
                <a:ext cx="60" cy="8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" y="0"/>
                  </a:cxn>
                  <a:cxn ang="0">
                    <a:pos x="18" y="6"/>
                  </a:cxn>
                  <a:cxn ang="0">
                    <a:pos x="24" y="6"/>
                  </a:cxn>
                  <a:cxn ang="0">
                    <a:pos x="24" y="12"/>
                  </a:cxn>
                  <a:cxn ang="0">
                    <a:pos x="29" y="18"/>
                  </a:cxn>
                  <a:cxn ang="0">
                    <a:pos x="29" y="12"/>
                  </a:cxn>
                  <a:cxn ang="0">
                    <a:pos x="35" y="12"/>
                  </a:cxn>
                  <a:cxn ang="0">
                    <a:pos x="41" y="18"/>
                  </a:cxn>
                  <a:cxn ang="0">
                    <a:pos x="47" y="18"/>
                  </a:cxn>
                  <a:cxn ang="0">
                    <a:pos x="53" y="18"/>
                  </a:cxn>
                  <a:cxn ang="0">
                    <a:pos x="59" y="24"/>
                  </a:cxn>
                  <a:cxn ang="0">
                    <a:pos x="53" y="30"/>
                  </a:cxn>
                  <a:cxn ang="0">
                    <a:pos x="47" y="36"/>
                  </a:cxn>
                  <a:cxn ang="0">
                    <a:pos x="41" y="42"/>
                  </a:cxn>
                  <a:cxn ang="0">
                    <a:pos x="41" y="54"/>
                  </a:cxn>
                  <a:cxn ang="0">
                    <a:pos x="41" y="60"/>
                  </a:cxn>
                  <a:cxn ang="0">
                    <a:pos x="47" y="72"/>
                  </a:cxn>
                  <a:cxn ang="0">
                    <a:pos x="41" y="60"/>
                  </a:cxn>
                  <a:cxn ang="0">
                    <a:pos x="35" y="48"/>
                  </a:cxn>
                  <a:cxn ang="0">
                    <a:pos x="35" y="36"/>
                  </a:cxn>
                  <a:cxn ang="0">
                    <a:pos x="41" y="30"/>
                  </a:cxn>
                  <a:cxn ang="0">
                    <a:pos x="47" y="24"/>
                  </a:cxn>
                  <a:cxn ang="0">
                    <a:pos x="41" y="18"/>
                  </a:cxn>
                  <a:cxn ang="0">
                    <a:pos x="35" y="24"/>
                  </a:cxn>
                  <a:cxn ang="0">
                    <a:pos x="29" y="30"/>
                  </a:cxn>
                  <a:cxn ang="0">
                    <a:pos x="29" y="36"/>
                  </a:cxn>
                  <a:cxn ang="0">
                    <a:pos x="29" y="42"/>
                  </a:cxn>
                  <a:cxn ang="0">
                    <a:pos x="24" y="36"/>
                  </a:cxn>
                  <a:cxn ang="0">
                    <a:pos x="24" y="24"/>
                  </a:cxn>
                  <a:cxn ang="0">
                    <a:pos x="29" y="18"/>
                  </a:cxn>
                  <a:cxn ang="0">
                    <a:pos x="24" y="18"/>
                  </a:cxn>
                  <a:cxn ang="0">
                    <a:pos x="18" y="30"/>
                  </a:cxn>
                  <a:cxn ang="0">
                    <a:pos x="18" y="42"/>
                  </a:cxn>
                  <a:cxn ang="0">
                    <a:pos x="18" y="54"/>
                  </a:cxn>
                  <a:cxn ang="0">
                    <a:pos x="18" y="72"/>
                  </a:cxn>
                  <a:cxn ang="0">
                    <a:pos x="24" y="84"/>
                  </a:cxn>
                  <a:cxn ang="0">
                    <a:pos x="18" y="72"/>
                  </a:cxn>
                  <a:cxn ang="0">
                    <a:pos x="12" y="54"/>
                  </a:cxn>
                  <a:cxn ang="0">
                    <a:pos x="12" y="48"/>
                  </a:cxn>
                  <a:cxn ang="0">
                    <a:pos x="12" y="36"/>
                  </a:cxn>
                  <a:cxn ang="0">
                    <a:pos x="12" y="24"/>
                  </a:cxn>
                  <a:cxn ang="0">
                    <a:pos x="12" y="12"/>
                  </a:cxn>
                  <a:cxn ang="0">
                    <a:pos x="6" y="6"/>
                  </a:cxn>
                  <a:cxn ang="0">
                    <a:pos x="0" y="0"/>
                  </a:cxn>
                </a:cxnLst>
                <a:rect l="0" t="0" r="0" b="0"/>
                <a:pathLst>
                  <a:path w="60" h="85">
                    <a:moveTo>
                      <a:pt x="0" y="0"/>
                    </a:moveTo>
                    <a:lnTo>
                      <a:pt x="12" y="0"/>
                    </a:lnTo>
                    <a:lnTo>
                      <a:pt x="18" y="6"/>
                    </a:lnTo>
                    <a:lnTo>
                      <a:pt x="24" y="6"/>
                    </a:lnTo>
                    <a:lnTo>
                      <a:pt x="24" y="12"/>
                    </a:lnTo>
                    <a:lnTo>
                      <a:pt x="29" y="18"/>
                    </a:lnTo>
                    <a:lnTo>
                      <a:pt x="29" y="12"/>
                    </a:lnTo>
                    <a:lnTo>
                      <a:pt x="35" y="12"/>
                    </a:lnTo>
                    <a:lnTo>
                      <a:pt x="41" y="18"/>
                    </a:lnTo>
                    <a:lnTo>
                      <a:pt x="47" y="18"/>
                    </a:lnTo>
                    <a:lnTo>
                      <a:pt x="53" y="18"/>
                    </a:lnTo>
                    <a:lnTo>
                      <a:pt x="59" y="24"/>
                    </a:lnTo>
                    <a:lnTo>
                      <a:pt x="53" y="30"/>
                    </a:lnTo>
                    <a:lnTo>
                      <a:pt x="47" y="36"/>
                    </a:lnTo>
                    <a:lnTo>
                      <a:pt x="41" y="42"/>
                    </a:lnTo>
                    <a:lnTo>
                      <a:pt x="41" y="54"/>
                    </a:lnTo>
                    <a:lnTo>
                      <a:pt x="41" y="60"/>
                    </a:lnTo>
                    <a:lnTo>
                      <a:pt x="47" y="72"/>
                    </a:lnTo>
                    <a:lnTo>
                      <a:pt x="41" y="60"/>
                    </a:lnTo>
                    <a:lnTo>
                      <a:pt x="35" y="48"/>
                    </a:lnTo>
                    <a:lnTo>
                      <a:pt x="35" y="36"/>
                    </a:lnTo>
                    <a:lnTo>
                      <a:pt x="41" y="30"/>
                    </a:lnTo>
                    <a:lnTo>
                      <a:pt x="47" y="24"/>
                    </a:lnTo>
                    <a:lnTo>
                      <a:pt x="41" y="18"/>
                    </a:lnTo>
                    <a:lnTo>
                      <a:pt x="35" y="24"/>
                    </a:lnTo>
                    <a:lnTo>
                      <a:pt x="29" y="30"/>
                    </a:lnTo>
                    <a:lnTo>
                      <a:pt x="29" y="36"/>
                    </a:lnTo>
                    <a:lnTo>
                      <a:pt x="29" y="42"/>
                    </a:lnTo>
                    <a:lnTo>
                      <a:pt x="24" y="36"/>
                    </a:lnTo>
                    <a:lnTo>
                      <a:pt x="24" y="24"/>
                    </a:lnTo>
                    <a:lnTo>
                      <a:pt x="29" y="18"/>
                    </a:lnTo>
                    <a:lnTo>
                      <a:pt x="24" y="18"/>
                    </a:lnTo>
                    <a:lnTo>
                      <a:pt x="18" y="30"/>
                    </a:lnTo>
                    <a:lnTo>
                      <a:pt x="18" y="42"/>
                    </a:lnTo>
                    <a:lnTo>
                      <a:pt x="18" y="5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18" y="72"/>
                    </a:lnTo>
                    <a:lnTo>
                      <a:pt x="12" y="54"/>
                    </a:lnTo>
                    <a:lnTo>
                      <a:pt x="12" y="48"/>
                    </a:lnTo>
                    <a:lnTo>
                      <a:pt x="12" y="36"/>
                    </a:lnTo>
                    <a:lnTo>
                      <a:pt x="12" y="24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6" name="Freeform 27"/>
              <p:cNvSpPr/>
              <p:nvPr/>
            </p:nvSpPr>
            <p:spPr>
              <a:xfrm rot="-4577010">
                <a:off x="4131" y="2686"/>
                <a:ext cx="19" cy="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18" y="6"/>
                  </a:cxn>
                  <a:cxn ang="0">
                    <a:pos x="18" y="12"/>
                  </a:cxn>
                  <a:cxn ang="0">
                    <a:pos x="12" y="18"/>
                  </a:cxn>
                  <a:cxn ang="0">
                    <a:pos x="12" y="24"/>
                  </a:cxn>
                  <a:cxn ang="0">
                    <a:pos x="12" y="18"/>
                  </a:cxn>
                  <a:cxn ang="0">
                    <a:pos x="12" y="12"/>
                  </a:cxn>
                  <a:cxn ang="0">
                    <a:pos x="0" y="0"/>
                  </a:cxn>
                </a:cxnLst>
                <a:rect l="0" t="0" r="0" b="0"/>
                <a:pathLst>
                  <a:path w="19" h="25">
                    <a:moveTo>
                      <a:pt x="0" y="0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18" y="12"/>
                    </a:lnTo>
                    <a:lnTo>
                      <a:pt x="12" y="18"/>
                    </a:lnTo>
                    <a:lnTo>
                      <a:pt x="12" y="24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CA4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357" name="Group 28"/>
              <p:cNvGrpSpPr/>
              <p:nvPr/>
            </p:nvGrpSpPr>
            <p:grpSpPr>
              <a:xfrm rot="-5193353">
                <a:off x="3422" y="3127"/>
                <a:ext cx="712" cy="479"/>
                <a:chOff x="4091" y="1656"/>
                <a:chExt cx="732" cy="579"/>
              </a:xfrm>
            </p:grpSpPr>
            <p:sp>
              <p:nvSpPr>
                <p:cNvPr id="14358" name="Freeform 29"/>
                <p:cNvSpPr/>
                <p:nvPr/>
              </p:nvSpPr>
              <p:spPr>
                <a:xfrm>
                  <a:off x="4091" y="1656"/>
                  <a:ext cx="732" cy="577"/>
                </a:xfrm>
                <a:custGeom>
                  <a:avLst/>
                  <a:gdLst/>
                  <a:ahLst/>
                  <a:cxnLst>
                    <a:cxn ang="0">
                      <a:pos x="89" y="201"/>
                    </a:cxn>
                    <a:cxn ang="0">
                      <a:pos x="78" y="213"/>
                    </a:cxn>
                    <a:cxn ang="0">
                      <a:pos x="73" y="225"/>
                    </a:cxn>
                    <a:cxn ang="0">
                      <a:pos x="81" y="239"/>
                    </a:cxn>
                    <a:cxn ang="0">
                      <a:pos x="89" y="252"/>
                    </a:cxn>
                    <a:cxn ang="0">
                      <a:pos x="90" y="266"/>
                    </a:cxn>
                    <a:cxn ang="0">
                      <a:pos x="87" y="283"/>
                    </a:cxn>
                    <a:cxn ang="0">
                      <a:pos x="94" y="296"/>
                    </a:cxn>
                    <a:cxn ang="0">
                      <a:pos x="109" y="306"/>
                    </a:cxn>
                    <a:cxn ang="0">
                      <a:pos x="125" y="324"/>
                    </a:cxn>
                    <a:cxn ang="0">
                      <a:pos x="154" y="345"/>
                    </a:cxn>
                    <a:cxn ang="0">
                      <a:pos x="177" y="365"/>
                    </a:cxn>
                    <a:cxn ang="0">
                      <a:pos x="199" y="380"/>
                    </a:cxn>
                    <a:cxn ang="0">
                      <a:pos x="180" y="388"/>
                    </a:cxn>
                    <a:cxn ang="0">
                      <a:pos x="174" y="397"/>
                    </a:cxn>
                    <a:cxn ang="0">
                      <a:pos x="190" y="420"/>
                    </a:cxn>
                    <a:cxn ang="0">
                      <a:pos x="214" y="446"/>
                    </a:cxn>
                    <a:cxn ang="0">
                      <a:pos x="250" y="473"/>
                    </a:cxn>
                    <a:cxn ang="0">
                      <a:pos x="280" y="497"/>
                    </a:cxn>
                    <a:cxn ang="0">
                      <a:pos x="297" y="529"/>
                    </a:cxn>
                    <a:cxn ang="0">
                      <a:pos x="320" y="552"/>
                    </a:cxn>
                    <a:cxn ang="0">
                      <a:pos x="343" y="572"/>
                    </a:cxn>
                    <a:cxn ang="0">
                      <a:pos x="357" y="576"/>
                    </a:cxn>
                    <a:cxn ang="0">
                      <a:pos x="397" y="573"/>
                    </a:cxn>
                    <a:cxn ang="0">
                      <a:pos x="443" y="568"/>
                    </a:cxn>
                    <a:cxn ang="0">
                      <a:pos x="508" y="554"/>
                    </a:cxn>
                    <a:cxn ang="0">
                      <a:pos x="580" y="537"/>
                    </a:cxn>
                    <a:cxn ang="0">
                      <a:pos x="657" y="516"/>
                    </a:cxn>
                    <a:cxn ang="0">
                      <a:pos x="669" y="506"/>
                    </a:cxn>
                    <a:cxn ang="0">
                      <a:pos x="688" y="493"/>
                    </a:cxn>
                    <a:cxn ang="0">
                      <a:pos x="707" y="485"/>
                    </a:cxn>
                    <a:cxn ang="0">
                      <a:pos x="720" y="477"/>
                    </a:cxn>
                    <a:cxn ang="0">
                      <a:pos x="719" y="469"/>
                    </a:cxn>
                    <a:cxn ang="0">
                      <a:pos x="731" y="462"/>
                    </a:cxn>
                    <a:cxn ang="0">
                      <a:pos x="716" y="449"/>
                    </a:cxn>
                    <a:cxn ang="0">
                      <a:pos x="715" y="435"/>
                    </a:cxn>
                    <a:cxn ang="0">
                      <a:pos x="707" y="425"/>
                    </a:cxn>
                    <a:cxn ang="0">
                      <a:pos x="684" y="403"/>
                    </a:cxn>
                    <a:cxn ang="0">
                      <a:pos x="667" y="381"/>
                    </a:cxn>
                    <a:cxn ang="0">
                      <a:pos x="664" y="353"/>
                    </a:cxn>
                    <a:cxn ang="0">
                      <a:pos x="652" y="310"/>
                    </a:cxn>
                    <a:cxn ang="0">
                      <a:pos x="645" y="254"/>
                    </a:cxn>
                    <a:cxn ang="0">
                      <a:pos x="647" y="211"/>
                    </a:cxn>
                    <a:cxn ang="0">
                      <a:pos x="647" y="158"/>
                    </a:cxn>
                    <a:cxn ang="0">
                      <a:pos x="654" y="108"/>
                    </a:cxn>
                    <a:cxn ang="0">
                      <a:pos x="647" y="50"/>
                    </a:cxn>
                    <a:cxn ang="0">
                      <a:pos x="641" y="0"/>
                    </a:cxn>
                    <a:cxn ang="0">
                      <a:pos x="0" y="67"/>
                    </a:cxn>
                    <a:cxn ang="0">
                      <a:pos x="17" y="96"/>
                    </a:cxn>
                    <a:cxn ang="0">
                      <a:pos x="42" y="138"/>
                    </a:cxn>
                    <a:cxn ang="0">
                      <a:pos x="67" y="172"/>
                    </a:cxn>
                    <a:cxn ang="0">
                      <a:pos x="89" y="201"/>
                    </a:cxn>
                  </a:cxnLst>
                  <a:rect l="0" t="0" r="0" b="0"/>
                  <a:pathLst>
                    <a:path w="732" h="577">
                      <a:moveTo>
                        <a:pt x="89" y="201"/>
                      </a:moveTo>
                      <a:lnTo>
                        <a:pt x="78" y="213"/>
                      </a:lnTo>
                      <a:lnTo>
                        <a:pt x="73" y="225"/>
                      </a:lnTo>
                      <a:lnTo>
                        <a:pt x="81" y="239"/>
                      </a:lnTo>
                      <a:lnTo>
                        <a:pt x="89" y="252"/>
                      </a:lnTo>
                      <a:lnTo>
                        <a:pt x="90" y="266"/>
                      </a:lnTo>
                      <a:lnTo>
                        <a:pt x="87" y="283"/>
                      </a:lnTo>
                      <a:lnTo>
                        <a:pt x="94" y="296"/>
                      </a:lnTo>
                      <a:lnTo>
                        <a:pt x="109" y="306"/>
                      </a:lnTo>
                      <a:lnTo>
                        <a:pt x="125" y="324"/>
                      </a:lnTo>
                      <a:lnTo>
                        <a:pt x="154" y="345"/>
                      </a:lnTo>
                      <a:lnTo>
                        <a:pt x="177" y="365"/>
                      </a:lnTo>
                      <a:lnTo>
                        <a:pt x="199" y="380"/>
                      </a:lnTo>
                      <a:lnTo>
                        <a:pt x="180" y="388"/>
                      </a:lnTo>
                      <a:lnTo>
                        <a:pt x="174" y="397"/>
                      </a:lnTo>
                      <a:lnTo>
                        <a:pt x="190" y="420"/>
                      </a:lnTo>
                      <a:lnTo>
                        <a:pt x="214" y="446"/>
                      </a:lnTo>
                      <a:lnTo>
                        <a:pt x="250" y="473"/>
                      </a:lnTo>
                      <a:lnTo>
                        <a:pt x="280" y="497"/>
                      </a:lnTo>
                      <a:lnTo>
                        <a:pt x="297" y="529"/>
                      </a:lnTo>
                      <a:lnTo>
                        <a:pt x="320" y="552"/>
                      </a:lnTo>
                      <a:lnTo>
                        <a:pt x="343" y="572"/>
                      </a:lnTo>
                      <a:lnTo>
                        <a:pt x="357" y="576"/>
                      </a:lnTo>
                      <a:lnTo>
                        <a:pt x="397" y="573"/>
                      </a:lnTo>
                      <a:lnTo>
                        <a:pt x="443" y="568"/>
                      </a:lnTo>
                      <a:lnTo>
                        <a:pt x="508" y="554"/>
                      </a:lnTo>
                      <a:lnTo>
                        <a:pt x="580" y="537"/>
                      </a:lnTo>
                      <a:lnTo>
                        <a:pt x="657" y="516"/>
                      </a:lnTo>
                      <a:lnTo>
                        <a:pt x="669" y="506"/>
                      </a:lnTo>
                      <a:lnTo>
                        <a:pt x="688" y="493"/>
                      </a:lnTo>
                      <a:lnTo>
                        <a:pt x="707" y="485"/>
                      </a:lnTo>
                      <a:lnTo>
                        <a:pt x="720" y="477"/>
                      </a:lnTo>
                      <a:lnTo>
                        <a:pt x="719" y="469"/>
                      </a:lnTo>
                      <a:lnTo>
                        <a:pt x="731" y="462"/>
                      </a:lnTo>
                      <a:lnTo>
                        <a:pt x="716" y="449"/>
                      </a:lnTo>
                      <a:lnTo>
                        <a:pt x="715" y="435"/>
                      </a:lnTo>
                      <a:lnTo>
                        <a:pt x="707" y="425"/>
                      </a:lnTo>
                      <a:lnTo>
                        <a:pt x="684" y="403"/>
                      </a:lnTo>
                      <a:lnTo>
                        <a:pt x="667" y="381"/>
                      </a:lnTo>
                      <a:lnTo>
                        <a:pt x="664" y="353"/>
                      </a:lnTo>
                      <a:lnTo>
                        <a:pt x="652" y="310"/>
                      </a:lnTo>
                      <a:lnTo>
                        <a:pt x="645" y="254"/>
                      </a:lnTo>
                      <a:lnTo>
                        <a:pt x="647" y="211"/>
                      </a:lnTo>
                      <a:lnTo>
                        <a:pt x="647" y="158"/>
                      </a:lnTo>
                      <a:lnTo>
                        <a:pt x="654" y="108"/>
                      </a:lnTo>
                      <a:lnTo>
                        <a:pt x="647" y="50"/>
                      </a:lnTo>
                      <a:lnTo>
                        <a:pt x="641" y="0"/>
                      </a:lnTo>
                      <a:lnTo>
                        <a:pt x="0" y="67"/>
                      </a:lnTo>
                      <a:lnTo>
                        <a:pt x="17" y="96"/>
                      </a:lnTo>
                      <a:lnTo>
                        <a:pt x="42" y="138"/>
                      </a:lnTo>
                      <a:lnTo>
                        <a:pt x="67" y="172"/>
                      </a:lnTo>
                      <a:lnTo>
                        <a:pt x="89" y="201"/>
                      </a:lnTo>
                    </a:path>
                  </a:pathLst>
                </a:custGeom>
                <a:solidFill>
                  <a:srgbClr val="66FF33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9" name="Freeform 30"/>
                <p:cNvSpPr/>
                <p:nvPr/>
              </p:nvSpPr>
              <p:spPr>
                <a:xfrm>
                  <a:off x="4657" y="1720"/>
                  <a:ext cx="152" cy="399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88" y="40"/>
                    </a:cxn>
                    <a:cxn ang="0">
                      <a:pos x="85" y="68"/>
                    </a:cxn>
                    <a:cxn ang="0">
                      <a:pos x="82" y="100"/>
                    </a:cxn>
                    <a:cxn ang="0">
                      <a:pos x="81" y="148"/>
                    </a:cxn>
                    <a:cxn ang="0">
                      <a:pos x="80" y="194"/>
                    </a:cxn>
                    <a:cxn ang="0">
                      <a:pos x="92" y="237"/>
                    </a:cxn>
                    <a:cxn ang="0">
                      <a:pos x="98" y="287"/>
                    </a:cxn>
                    <a:cxn ang="0">
                      <a:pos x="102" y="318"/>
                    </a:cxn>
                    <a:cxn ang="0">
                      <a:pos x="133" y="349"/>
                    </a:cxn>
                    <a:cxn ang="0">
                      <a:pos x="149" y="372"/>
                    </a:cxn>
                    <a:cxn ang="0">
                      <a:pos x="151" y="386"/>
                    </a:cxn>
                    <a:cxn ang="0">
                      <a:pos x="146" y="398"/>
                    </a:cxn>
                    <a:cxn ang="0">
                      <a:pos x="137" y="382"/>
                    </a:cxn>
                    <a:cxn ang="0">
                      <a:pos x="129" y="374"/>
                    </a:cxn>
                    <a:cxn ang="0">
                      <a:pos x="121" y="364"/>
                    </a:cxn>
                    <a:cxn ang="0">
                      <a:pos x="107" y="358"/>
                    </a:cxn>
                    <a:cxn ang="0">
                      <a:pos x="93" y="351"/>
                    </a:cxn>
                    <a:cxn ang="0">
                      <a:pos x="78" y="338"/>
                    </a:cxn>
                    <a:cxn ang="0">
                      <a:pos x="77" y="330"/>
                    </a:cxn>
                    <a:cxn ang="0">
                      <a:pos x="57" y="335"/>
                    </a:cxn>
                    <a:cxn ang="0">
                      <a:pos x="46" y="345"/>
                    </a:cxn>
                    <a:cxn ang="0">
                      <a:pos x="35" y="361"/>
                    </a:cxn>
                    <a:cxn ang="0">
                      <a:pos x="33" y="350"/>
                    </a:cxn>
                    <a:cxn ang="0">
                      <a:pos x="38" y="332"/>
                    </a:cxn>
                    <a:cxn ang="0">
                      <a:pos x="48" y="319"/>
                    </a:cxn>
                    <a:cxn ang="0">
                      <a:pos x="54" y="310"/>
                    </a:cxn>
                    <a:cxn ang="0">
                      <a:pos x="40" y="297"/>
                    </a:cxn>
                    <a:cxn ang="0">
                      <a:pos x="31" y="279"/>
                    </a:cxn>
                    <a:cxn ang="0">
                      <a:pos x="36" y="261"/>
                    </a:cxn>
                    <a:cxn ang="0">
                      <a:pos x="47" y="248"/>
                    </a:cxn>
                    <a:cxn ang="0">
                      <a:pos x="51" y="234"/>
                    </a:cxn>
                    <a:cxn ang="0">
                      <a:pos x="56" y="213"/>
                    </a:cxn>
                    <a:cxn ang="0">
                      <a:pos x="54" y="197"/>
                    </a:cxn>
                    <a:cxn ang="0">
                      <a:pos x="38" y="176"/>
                    </a:cxn>
                    <a:cxn ang="0">
                      <a:pos x="24" y="164"/>
                    </a:cxn>
                    <a:cxn ang="0">
                      <a:pos x="27" y="141"/>
                    </a:cxn>
                    <a:cxn ang="0">
                      <a:pos x="37" y="117"/>
                    </a:cxn>
                    <a:cxn ang="0">
                      <a:pos x="19" y="125"/>
                    </a:cxn>
                    <a:cxn ang="0">
                      <a:pos x="0" y="136"/>
                    </a:cxn>
                    <a:cxn ang="0">
                      <a:pos x="11" y="117"/>
                    </a:cxn>
                    <a:cxn ang="0">
                      <a:pos x="22" y="107"/>
                    </a:cxn>
                    <a:cxn ang="0">
                      <a:pos x="35" y="100"/>
                    </a:cxn>
                    <a:cxn ang="0">
                      <a:pos x="34" y="92"/>
                    </a:cxn>
                    <a:cxn ang="0">
                      <a:pos x="20" y="88"/>
                    </a:cxn>
                    <a:cxn ang="0">
                      <a:pos x="26" y="84"/>
                    </a:cxn>
                    <a:cxn ang="0">
                      <a:pos x="38" y="71"/>
                    </a:cxn>
                    <a:cxn ang="0">
                      <a:pos x="43" y="53"/>
                    </a:cxn>
                    <a:cxn ang="0">
                      <a:pos x="62" y="43"/>
                    </a:cxn>
                    <a:cxn ang="0">
                      <a:pos x="66" y="25"/>
                    </a:cxn>
                    <a:cxn ang="0">
                      <a:pos x="71" y="13"/>
                    </a:cxn>
                    <a:cxn ang="0">
                      <a:pos x="83" y="0"/>
                    </a:cxn>
                  </a:cxnLst>
                  <a:rect l="0" t="0" r="0" b="0"/>
                  <a:pathLst>
                    <a:path w="152" h="399">
                      <a:moveTo>
                        <a:pt x="83" y="0"/>
                      </a:moveTo>
                      <a:lnTo>
                        <a:pt x="88" y="40"/>
                      </a:lnTo>
                      <a:lnTo>
                        <a:pt x="85" y="68"/>
                      </a:lnTo>
                      <a:lnTo>
                        <a:pt x="82" y="100"/>
                      </a:lnTo>
                      <a:lnTo>
                        <a:pt x="81" y="148"/>
                      </a:lnTo>
                      <a:lnTo>
                        <a:pt x="80" y="194"/>
                      </a:lnTo>
                      <a:lnTo>
                        <a:pt x="92" y="237"/>
                      </a:lnTo>
                      <a:lnTo>
                        <a:pt x="98" y="287"/>
                      </a:lnTo>
                      <a:lnTo>
                        <a:pt x="102" y="318"/>
                      </a:lnTo>
                      <a:lnTo>
                        <a:pt x="133" y="349"/>
                      </a:lnTo>
                      <a:lnTo>
                        <a:pt x="149" y="372"/>
                      </a:lnTo>
                      <a:lnTo>
                        <a:pt x="151" y="386"/>
                      </a:lnTo>
                      <a:lnTo>
                        <a:pt x="146" y="398"/>
                      </a:lnTo>
                      <a:lnTo>
                        <a:pt x="137" y="382"/>
                      </a:lnTo>
                      <a:lnTo>
                        <a:pt x="129" y="374"/>
                      </a:lnTo>
                      <a:lnTo>
                        <a:pt x="121" y="364"/>
                      </a:lnTo>
                      <a:lnTo>
                        <a:pt x="107" y="358"/>
                      </a:lnTo>
                      <a:lnTo>
                        <a:pt x="93" y="351"/>
                      </a:lnTo>
                      <a:lnTo>
                        <a:pt x="78" y="338"/>
                      </a:lnTo>
                      <a:lnTo>
                        <a:pt x="77" y="330"/>
                      </a:lnTo>
                      <a:lnTo>
                        <a:pt x="57" y="335"/>
                      </a:lnTo>
                      <a:lnTo>
                        <a:pt x="46" y="345"/>
                      </a:lnTo>
                      <a:lnTo>
                        <a:pt x="35" y="361"/>
                      </a:lnTo>
                      <a:lnTo>
                        <a:pt x="33" y="350"/>
                      </a:lnTo>
                      <a:lnTo>
                        <a:pt x="38" y="332"/>
                      </a:lnTo>
                      <a:lnTo>
                        <a:pt x="48" y="319"/>
                      </a:lnTo>
                      <a:lnTo>
                        <a:pt x="54" y="310"/>
                      </a:lnTo>
                      <a:lnTo>
                        <a:pt x="40" y="297"/>
                      </a:lnTo>
                      <a:lnTo>
                        <a:pt x="31" y="279"/>
                      </a:lnTo>
                      <a:lnTo>
                        <a:pt x="36" y="261"/>
                      </a:lnTo>
                      <a:lnTo>
                        <a:pt x="47" y="248"/>
                      </a:lnTo>
                      <a:lnTo>
                        <a:pt x="51" y="234"/>
                      </a:lnTo>
                      <a:lnTo>
                        <a:pt x="56" y="213"/>
                      </a:lnTo>
                      <a:lnTo>
                        <a:pt x="54" y="197"/>
                      </a:lnTo>
                      <a:lnTo>
                        <a:pt x="38" y="176"/>
                      </a:lnTo>
                      <a:lnTo>
                        <a:pt x="24" y="164"/>
                      </a:lnTo>
                      <a:lnTo>
                        <a:pt x="27" y="141"/>
                      </a:lnTo>
                      <a:lnTo>
                        <a:pt x="37" y="117"/>
                      </a:lnTo>
                      <a:lnTo>
                        <a:pt x="19" y="125"/>
                      </a:lnTo>
                      <a:lnTo>
                        <a:pt x="0" y="136"/>
                      </a:lnTo>
                      <a:lnTo>
                        <a:pt x="11" y="117"/>
                      </a:lnTo>
                      <a:lnTo>
                        <a:pt x="22" y="107"/>
                      </a:lnTo>
                      <a:lnTo>
                        <a:pt x="35" y="100"/>
                      </a:lnTo>
                      <a:lnTo>
                        <a:pt x="34" y="92"/>
                      </a:lnTo>
                      <a:lnTo>
                        <a:pt x="20" y="88"/>
                      </a:lnTo>
                      <a:lnTo>
                        <a:pt x="26" y="84"/>
                      </a:lnTo>
                      <a:lnTo>
                        <a:pt x="38" y="71"/>
                      </a:lnTo>
                      <a:lnTo>
                        <a:pt x="43" y="53"/>
                      </a:lnTo>
                      <a:lnTo>
                        <a:pt x="62" y="43"/>
                      </a:lnTo>
                      <a:lnTo>
                        <a:pt x="66" y="25"/>
                      </a:lnTo>
                      <a:lnTo>
                        <a:pt x="71" y="13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rgbClr val="339933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0" name="Freeform 31"/>
                <p:cNvSpPr/>
                <p:nvPr/>
              </p:nvSpPr>
              <p:spPr>
                <a:xfrm>
                  <a:off x="4245" y="1999"/>
                  <a:ext cx="172" cy="79"/>
                </a:xfrm>
                <a:custGeom>
                  <a:avLst/>
                  <a:gdLst/>
                  <a:ahLst/>
                  <a:cxnLst>
                    <a:cxn ang="0">
                      <a:pos x="21" y="58"/>
                    </a:cxn>
                    <a:cxn ang="0">
                      <a:pos x="26" y="45"/>
                    </a:cxn>
                    <a:cxn ang="0">
                      <a:pos x="45" y="37"/>
                    </a:cxn>
                    <a:cxn ang="0">
                      <a:pos x="16" y="21"/>
                    </a:cxn>
                    <a:cxn ang="0">
                      <a:pos x="0" y="0"/>
                    </a:cxn>
                    <a:cxn ang="0">
                      <a:pos x="22" y="17"/>
                    </a:cxn>
                    <a:cxn ang="0">
                      <a:pos x="44" y="26"/>
                    </a:cxn>
                    <a:cxn ang="0">
                      <a:pos x="71" y="26"/>
                    </a:cxn>
                    <a:cxn ang="0">
                      <a:pos x="103" y="27"/>
                    </a:cxn>
                    <a:cxn ang="0">
                      <a:pos x="137" y="26"/>
                    </a:cxn>
                    <a:cxn ang="0">
                      <a:pos x="171" y="30"/>
                    </a:cxn>
                    <a:cxn ang="0">
                      <a:pos x="131" y="33"/>
                    </a:cxn>
                    <a:cxn ang="0">
                      <a:pos x="104" y="36"/>
                    </a:cxn>
                    <a:cxn ang="0">
                      <a:pos x="73" y="43"/>
                    </a:cxn>
                    <a:cxn ang="0">
                      <a:pos x="92" y="43"/>
                    </a:cxn>
                    <a:cxn ang="0">
                      <a:pos x="106" y="50"/>
                    </a:cxn>
                    <a:cxn ang="0">
                      <a:pos x="73" y="48"/>
                    </a:cxn>
                    <a:cxn ang="0">
                      <a:pos x="46" y="49"/>
                    </a:cxn>
                    <a:cxn ang="0">
                      <a:pos x="34" y="59"/>
                    </a:cxn>
                    <a:cxn ang="0">
                      <a:pos x="37" y="78"/>
                    </a:cxn>
                    <a:cxn ang="0">
                      <a:pos x="28" y="65"/>
                    </a:cxn>
                    <a:cxn ang="0">
                      <a:pos x="21" y="58"/>
                    </a:cxn>
                  </a:cxnLst>
                  <a:rect l="0" t="0" r="0" b="0"/>
                  <a:pathLst>
                    <a:path w="172" h="79">
                      <a:moveTo>
                        <a:pt x="21" y="58"/>
                      </a:moveTo>
                      <a:lnTo>
                        <a:pt x="26" y="45"/>
                      </a:lnTo>
                      <a:lnTo>
                        <a:pt x="45" y="37"/>
                      </a:lnTo>
                      <a:lnTo>
                        <a:pt x="16" y="21"/>
                      </a:lnTo>
                      <a:lnTo>
                        <a:pt x="0" y="0"/>
                      </a:lnTo>
                      <a:lnTo>
                        <a:pt x="22" y="17"/>
                      </a:lnTo>
                      <a:lnTo>
                        <a:pt x="44" y="26"/>
                      </a:lnTo>
                      <a:lnTo>
                        <a:pt x="71" y="26"/>
                      </a:lnTo>
                      <a:lnTo>
                        <a:pt x="103" y="27"/>
                      </a:lnTo>
                      <a:lnTo>
                        <a:pt x="137" y="26"/>
                      </a:lnTo>
                      <a:lnTo>
                        <a:pt x="171" y="30"/>
                      </a:lnTo>
                      <a:lnTo>
                        <a:pt x="131" y="33"/>
                      </a:lnTo>
                      <a:lnTo>
                        <a:pt x="104" y="36"/>
                      </a:lnTo>
                      <a:lnTo>
                        <a:pt x="73" y="43"/>
                      </a:lnTo>
                      <a:lnTo>
                        <a:pt x="92" y="43"/>
                      </a:lnTo>
                      <a:lnTo>
                        <a:pt x="106" y="50"/>
                      </a:lnTo>
                      <a:lnTo>
                        <a:pt x="73" y="48"/>
                      </a:lnTo>
                      <a:lnTo>
                        <a:pt x="46" y="49"/>
                      </a:lnTo>
                      <a:lnTo>
                        <a:pt x="34" y="59"/>
                      </a:lnTo>
                      <a:lnTo>
                        <a:pt x="37" y="78"/>
                      </a:lnTo>
                      <a:lnTo>
                        <a:pt x="28" y="65"/>
                      </a:lnTo>
                      <a:lnTo>
                        <a:pt x="21" y="58"/>
                      </a:lnTo>
                    </a:path>
                  </a:pathLst>
                </a:custGeom>
                <a:solidFill>
                  <a:srgbClr val="339933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1" name="Freeform 32"/>
                <p:cNvSpPr/>
                <p:nvPr/>
              </p:nvSpPr>
              <p:spPr>
                <a:xfrm>
                  <a:off x="4164" y="1785"/>
                  <a:ext cx="216" cy="138"/>
                </a:xfrm>
                <a:custGeom>
                  <a:avLst/>
                  <a:gdLst/>
                  <a:ahLst/>
                  <a:cxnLst>
                    <a:cxn ang="0">
                      <a:pos x="9" y="116"/>
                    </a:cxn>
                    <a:cxn ang="0">
                      <a:pos x="8" y="105"/>
                    </a:cxn>
                    <a:cxn ang="0">
                      <a:pos x="0" y="94"/>
                    </a:cxn>
                    <a:cxn ang="0">
                      <a:pos x="5" y="82"/>
                    </a:cxn>
                    <a:cxn ang="0">
                      <a:pos x="16" y="73"/>
                    </a:cxn>
                    <a:cxn ang="0">
                      <a:pos x="2" y="57"/>
                    </a:cxn>
                    <a:cxn ang="0">
                      <a:pos x="54" y="48"/>
                    </a:cxn>
                    <a:cxn ang="0">
                      <a:pos x="92" y="32"/>
                    </a:cxn>
                    <a:cxn ang="0">
                      <a:pos x="143" y="17"/>
                    </a:cxn>
                    <a:cxn ang="0">
                      <a:pos x="215" y="0"/>
                    </a:cxn>
                    <a:cxn ang="0">
                      <a:pos x="144" y="23"/>
                    </a:cxn>
                    <a:cxn ang="0">
                      <a:pos x="80" y="47"/>
                    </a:cxn>
                    <a:cxn ang="0">
                      <a:pos x="55" y="62"/>
                    </a:cxn>
                    <a:cxn ang="0">
                      <a:pos x="18" y="86"/>
                    </a:cxn>
                    <a:cxn ang="0">
                      <a:pos x="69" y="63"/>
                    </a:cxn>
                    <a:cxn ang="0">
                      <a:pos x="101" y="51"/>
                    </a:cxn>
                    <a:cxn ang="0">
                      <a:pos x="139" y="37"/>
                    </a:cxn>
                    <a:cxn ang="0">
                      <a:pos x="178" y="32"/>
                    </a:cxn>
                    <a:cxn ang="0">
                      <a:pos x="127" y="44"/>
                    </a:cxn>
                    <a:cxn ang="0">
                      <a:pos x="108" y="53"/>
                    </a:cxn>
                    <a:cxn ang="0">
                      <a:pos x="89" y="61"/>
                    </a:cxn>
                    <a:cxn ang="0">
                      <a:pos x="63" y="72"/>
                    </a:cxn>
                    <a:cxn ang="0">
                      <a:pos x="45" y="86"/>
                    </a:cxn>
                    <a:cxn ang="0">
                      <a:pos x="65" y="89"/>
                    </a:cxn>
                    <a:cxn ang="0">
                      <a:pos x="99" y="88"/>
                    </a:cxn>
                    <a:cxn ang="0">
                      <a:pos x="126" y="87"/>
                    </a:cxn>
                    <a:cxn ang="0">
                      <a:pos x="73" y="94"/>
                    </a:cxn>
                    <a:cxn ang="0">
                      <a:pos x="39" y="92"/>
                    </a:cxn>
                    <a:cxn ang="0">
                      <a:pos x="40" y="101"/>
                    </a:cxn>
                    <a:cxn ang="0">
                      <a:pos x="54" y="108"/>
                    </a:cxn>
                    <a:cxn ang="0">
                      <a:pos x="49" y="117"/>
                    </a:cxn>
                    <a:cxn ang="0">
                      <a:pos x="36" y="121"/>
                    </a:cxn>
                    <a:cxn ang="0">
                      <a:pos x="23" y="131"/>
                    </a:cxn>
                    <a:cxn ang="0">
                      <a:pos x="17" y="137"/>
                    </a:cxn>
                    <a:cxn ang="0">
                      <a:pos x="11" y="127"/>
                    </a:cxn>
                    <a:cxn ang="0">
                      <a:pos x="9" y="116"/>
                    </a:cxn>
                  </a:cxnLst>
                  <a:rect l="0" t="0" r="0" b="0"/>
                  <a:pathLst>
                    <a:path w="216" h="138">
                      <a:moveTo>
                        <a:pt x="9" y="116"/>
                      </a:moveTo>
                      <a:lnTo>
                        <a:pt x="8" y="105"/>
                      </a:lnTo>
                      <a:lnTo>
                        <a:pt x="0" y="94"/>
                      </a:lnTo>
                      <a:lnTo>
                        <a:pt x="5" y="82"/>
                      </a:lnTo>
                      <a:lnTo>
                        <a:pt x="16" y="73"/>
                      </a:lnTo>
                      <a:lnTo>
                        <a:pt x="2" y="57"/>
                      </a:lnTo>
                      <a:lnTo>
                        <a:pt x="54" y="48"/>
                      </a:lnTo>
                      <a:lnTo>
                        <a:pt x="92" y="32"/>
                      </a:lnTo>
                      <a:lnTo>
                        <a:pt x="143" y="17"/>
                      </a:lnTo>
                      <a:lnTo>
                        <a:pt x="215" y="0"/>
                      </a:lnTo>
                      <a:lnTo>
                        <a:pt x="144" y="23"/>
                      </a:lnTo>
                      <a:lnTo>
                        <a:pt x="80" y="47"/>
                      </a:lnTo>
                      <a:lnTo>
                        <a:pt x="55" y="62"/>
                      </a:lnTo>
                      <a:lnTo>
                        <a:pt x="18" y="86"/>
                      </a:lnTo>
                      <a:lnTo>
                        <a:pt x="69" y="63"/>
                      </a:lnTo>
                      <a:lnTo>
                        <a:pt x="101" y="51"/>
                      </a:lnTo>
                      <a:lnTo>
                        <a:pt x="139" y="37"/>
                      </a:lnTo>
                      <a:lnTo>
                        <a:pt x="178" y="32"/>
                      </a:lnTo>
                      <a:lnTo>
                        <a:pt x="127" y="44"/>
                      </a:lnTo>
                      <a:lnTo>
                        <a:pt x="108" y="53"/>
                      </a:lnTo>
                      <a:lnTo>
                        <a:pt x="89" y="61"/>
                      </a:lnTo>
                      <a:lnTo>
                        <a:pt x="63" y="72"/>
                      </a:lnTo>
                      <a:lnTo>
                        <a:pt x="45" y="86"/>
                      </a:lnTo>
                      <a:lnTo>
                        <a:pt x="65" y="89"/>
                      </a:lnTo>
                      <a:lnTo>
                        <a:pt x="99" y="88"/>
                      </a:lnTo>
                      <a:lnTo>
                        <a:pt x="126" y="87"/>
                      </a:lnTo>
                      <a:lnTo>
                        <a:pt x="73" y="94"/>
                      </a:lnTo>
                      <a:lnTo>
                        <a:pt x="39" y="92"/>
                      </a:lnTo>
                      <a:lnTo>
                        <a:pt x="40" y="101"/>
                      </a:lnTo>
                      <a:lnTo>
                        <a:pt x="54" y="108"/>
                      </a:lnTo>
                      <a:lnTo>
                        <a:pt x="49" y="117"/>
                      </a:lnTo>
                      <a:lnTo>
                        <a:pt x="36" y="121"/>
                      </a:lnTo>
                      <a:lnTo>
                        <a:pt x="23" y="131"/>
                      </a:lnTo>
                      <a:lnTo>
                        <a:pt x="17" y="137"/>
                      </a:lnTo>
                      <a:lnTo>
                        <a:pt x="11" y="127"/>
                      </a:lnTo>
                      <a:lnTo>
                        <a:pt x="9" y="116"/>
                      </a:lnTo>
                    </a:path>
                  </a:pathLst>
                </a:custGeom>
                <a:solidFill>
                  <a:srgbClr val="339933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2" name="Freeform 33"/>
                <p:cNvSpPr/>
                <p:nvPr/>
              </p:nvSpPr>
              <p:spPr>
                <a:xfrm>
                  <a:off x="4432" y="2164"/>
                  <a:ext cx="296" cy="71"/>
                </a:xfrm>
                <a:custGeom>
                  <a:avLst/>
                  <a:gdLst/>
                  <a:ahLst/>
                  <a:cxnLst>
                    <a:cxn ang="0">
                      <a:pos x="15" y="68"/>
                    </a:cxn>
                    <a:cxn ang="0">
                      <a:pos x="43" y="70"/>
                    </a:cxn>
                    <a:cxn ang="0">
                      <a:pos x="69" y="67"/>
                    </a:cxn>
                    <a:cxn ang="0">
                      <a:pos x="95" y="61"/>
                    </a:cxn>
                    <a:cxn ang="0">
                      <a:pos x="88" y="53"/>
                    </a:cxn>
                    <a:cxn ang="0">
                      <a:pos x="107" y="48"/>
                    </a:cxn>
                    <a:cxn ang="0">
                      <a:pos x="133" y="42"/>
                    </a:cxn>
                    <a:cxn ang="0">
                      <a:pos x="165" y="35"/>
                    </a:cxn>
                    <a:cxn ang="0">
                      <a:pos x="211" y="27"/>
                    </a:cxn>
                    <a:cxn ang="0">
                      <a:pos x="264" y="17"/>
                    </a:cxn>
                    <a:cxn ang="0">
                      <a:pos x="283" y="9"/>
                    </a:cxn>
                    <a:cxn ang="0">
                      <a:pos x="295" y="0"/>
                    </a:cxn>
                    <a:cxn ang="0">
                      <a:pos x="270" y="11"/>
                    </a:cxn>
                    <a:cxn ang="0">
                      <a:pos x="244" y="14"/>
                    </a:cxn>
                    <a:cxn ang="0">
                      <a:pos x="217" y="20"/>
                    </a:cxn>
                    <a:cxn ang="0">
                      <a:pos x="184" y="24"/>
                    </a:cxn>
                    <a:cxn ang="0">
                      <a:pos x="152" y="31"/>
                    </a:cxn>
                    <a:cxn ang="0">
                      <a:pos x="126" y="37"/>
                    </a:cxn>
                    <a:cxn ang="0">
                      <a:pos x="100" y="43"/>
                    </a:cxn>
                    <a:cxn ang="0">
                      <a:pos x="86" y="36"/>
                    </a:cxn>
                    <a:cxn ang="0">
                      <a:pos x="87" y="45"/>
                    </a:cxn>
                    <a:cxn ang="0">
                      <a:pos x="81" y="54"/>
                    </a:cxn>
                    <a:cxn ang="0">
                      <a:pos x="68" y="58"/>
                    </a:cxn>
                    <a:cxn ang="0">
                      <a:pos x="48" y="64"/>
                    </a:cxn>
                    <a:cxn ang="0">
                      <a:pos x="22" y="64"/>
                    </a:cxn>
                    <a:cxn ang="0">
                      <a:pos x="0" y="55"/>
                    </a:cxn>
                    <a:cxn ang="0">
                      <a:pos x="15" y="68"/>
                    </a:cxn>
                  </a:cxnLst>
                  <a:rect l="0" t="0" r="0" b="0"/>
                  <a:pathLst>
                    <a:path w="296" h="71">
                      <a:moveTo>
                        <a:pt x="15" y="68"/>
                      </a:moveTo>
                      <a:lnTo>
                        <a:pt x="43" y="70"/>
                      </a:lnTo>
                      <a:lnTo>
                        <a:pt x="69" y="67"/>
                      </a:lnTo>
                      <a:lnTo>
                        <a:pt x="95" y="61"/>
                      </a:lnTo>
                      <a:lnTo>
                        <a:pt x="88" y="53"/>
                      </a:lnTo>
                      <a:lnTo>
                        <a:pt x="107" y="48"/>
                      </a:lnTo>
                      <a:lnTo>
                        <a:pt x="133" y="42"/>
                      </a:lnTo>
                      <a:lnTo>
                        <a:pt x="165" y="35"/>
                      </a:lnTo>
                      <a:lnTo>
                        <a:pt x="211" y="27"/>
                      </a:lnTo>
                      <a:lnTo>
                        <a:pt x="264" y="17"/>
                      </a:lnTo>
                      <a:lnTo>
                        <a:pt x="283" y="9"/>
                      </a:lnTo>
                      <a:lnTo>
                        <a:pt x="295" y="0"/>
                      </a:lnTo>
                      <a:lnTo>
                        <a:pt x="270" y="11"/>
                      </a:lnTo>
                      <a:lnTo>
                        <a:pt x="244" y="14"/>
                      </a:lnTo>
                      <a:lnTo>
                        <a:pt x="217" y="20"/>
                      </a:lnTo>
                      <a:lnTo>
                        <a:pt x="184" y="24"/>
                      </a:lnTo>
                      <a:lnTo>
                        <a:pt x="152" y="31"/>
                      </a:lnTo>
                      <a:lnTo>
                        <a:pt x="126" y="37"/>
                      </a:lnTo>
                      <a:lnTo>
                        <a:pt x="100" y="43"/>
                      </a:lnTo>
                      <a:lnTo>
                        <a:pt x="86" y="36"/>
                      </a:lnTo>
                      <a:lnTo>
                        <a:pt x="87" y="45"/>
                      </a:lnTo>
                      <a:lnTo>
                        <a:pt x="81" y="54"/>
                      </a:lnTo>
                      <a:lnTo>
                        <a:pt x="68" y="58"/>
                      </a:lnTo>
                      <a:lnTo>
                        <a:pt x="48" y="64"/>
                      </a:lnTo>
                      <a:lnTo>
                        <a:pt x="22" y="64"/>
                      </a:lnTo>
                      <a:lnTo>
                        <a:pt x="0" y="55"/>
                      </a:lnTo>
                      <a:lnTo>
                        <a:pt x="15" y="68"/>
                      </a:lnTo>
                    </a:path>
                  </a:pathLst>
                </a:custGeom>
                <a:solidFill>
                  <a:srgbClr val="339933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3" name="Freeform 34"/>
                <p:cNvSpPr/>
                <p:nvPr/>
              </p:nvSpPr>
              <p:spPr>
                <a:xfrm>
                  <a:off x="4746" y="2126"/>
                  <a:ext cx="72" cy="39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71" y="4"/>
                    </a:cxn>
                    <a:cxn ang="0">
                      <a:pos x="58" y="6"/>
                    </a:cxn>
                    <a:cxn ang="0">
                      <a:pos x="45" y="13"/>
                    </a:cxn>
                    <a:cxn ang="0">
                      <a:pos x="32" y="20"/>
                    </a:cxn>
                    <a:cxn ang="0">
                      <a:pos x="26" y="27"/>
                    </a:cxn>
                    <a:cxn ang="0">
                      <a:pos x="0" y="38"/>
                    </a:cxn>
                    <a:cxn ang="0">
                      <a:pos x="19" y="27"/>
                    </a:cxn>
                    <a:cxn ang="0">
                      <a:pos x="25" y="21"/>
                    </a:cxn>
                    <a:cxn ang="0">
                      <a:pos x="31" y="12"/>
                    </a:cxn>
                    <a:cxn ang="0">
                      <a:pos x="44" y="5"/>
                    </a:cxn>
                    <a:cxn ang="0">
                      <a:pos x="57" y="0"/>
                    </a:cxn>
                  </a:cxnLst>
                  <a:rect l="0" t="0" r="0" b="0"/>
                  <a:pathLst>
                    <a:path w="72" h="39">
                      <a:moveTo>
                        <a:pt x="57" y="0"/>
                      </a:moveTo>
                      <a:lnTo>
                        <a:pt x="71" y="4"/>
                      </a:lnTo>
                      <a:lnTo>
                        <a:pt x="58" y="6"/>
                      </a:lnTo>
                      <a:lnTo>
                        <a:pt x="45" y="13"/>
                      </a:lnTo>
                      <a:lnTo>
                        <a:pt x="32" y="20"/>
                      </a:lnTo>
                      <a:lnTo>
                        <a:pt x="26" y="27"/>
                      </a:lnTo>
                      <a:lnTo>
                        <a:pt x="0" y="38"/>
                      </a:lnTo>
                      <a:lnTo>
                        <a:pt x="19" y="27"/>
                      </a:lnTo>
                      <a:lnTo>
                        <a:pt x="25" y="21"/>
                      </a:lnTo>
                      <a:lnTo>
                        <a:pt x="31" y="12"/>
                      </a:lnTo>
                      <a:lnTo>
                        <a:pt x="44" y="5"/>
                      </a:lnTo>
                      <a:lnTo>
                        <a:pt x="57" y="0"/>
                      </a:lnTo>
                    </a:path>
                  </a:pathLst>
                </a:custGeom>
                <a:solidFill>
                  <a:srgbClr val="4362B1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364" name="Arc 35"/>
            <p:cNvSpPr/>
            <p:nvPr/>
          </p:nvSpPr>
          <p:spPr>
            <a:xfrm flipV="1">
              <a:off x="3390" y="1788"/>
              <a:ext cx="1536" cy="4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41250" fill="none">
                  <a:moveTo>
                    <a:pt x="12631" y="41250"/>
                  </a:moveTo>
                  <a:cubicBezTo>
                    <a:pt x="4937" y="37738"/>
                    <a:pt x="0" y="300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9043"/>
                    <a:pt x="39367" y="35961"/>
                    <a:pt x="33058" y="39910"/>
                  </a:cubicBezTo>
                </a:path>
                <a:path w="43200" h="41250" stroke="0">
                  <a:moveTo>
                    <a:pt x="12631" y="41250"/>
                  </a:moveTo>
                  <a:cubicBezTo>
                    <a:pt x="4937" y="37738"/>
                    <a:pt x="0" y="300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9043"/>
                    <a:pt x="39367" y="35961"/>
                    <a:pt x="33058" y="39910"/>
                  </a:cubicBezTo>
                  <a:lnTo>
                    <a:pt x="21600" y="21600"/>
                  </a:lnTo>
                  <a:lnTo>
                    <a:pt x="12631" y="4125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Text Box 36"/>
            <p:cNvSpPr txBox="1"/>
            <p:nvPr/>
          </p:nvSpPr>
          <p:spPr>
            <a:xfrm>
              <a:off x="4782" y="1589"/>
              <a:ext cx="20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/>
              <a:r>
                <a:rPr lang="en-US" altLang="zh-CN" sz="32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</a:p>
          </p:txBody>
        </p:sp>
        <p:graphicFrame>
          <p:nvGraphicFramePr>
            <p:cNvPr id="14366" name="Object 37"/>
            <p:cNvGraphicFramePr>
              <a:graphicFrameLocks noChangeAspect="1"/>
            </p:cNvGraphicFramePr>
            <p:nvPr/>
          </p:nvGraphicFramePr>
          <p:xfrm>
            <a:off x="4188" y="917"/>
            <a:ext cx="336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6060" imgH="293370" progId="Equation.3">
                    <p:embed/>
                  </p:oleObj>
                </mc:Choice>
                <mc:Fallback>
                  <p:oleObj r:id="rId4" imgW="226060" imgH="29337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45996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88" y="917"/>
                          <a:ext cx="336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490538" y="1630363"/>
            <a:ext cx="5492750" cy="1198562"/>
            <a:chOff x="1277" y="5247"/>
            <a:chExt cx="9101" cy="1889"/>
          </a:xfrm>
        </p:grpSpPr>
        <p:graphicFrame>
          <p:nvGraphicFramePr>
            <p:cNvPr id="14368" name="Object 9"/>
            <p:cNvGraphicFramePr>
              <a:graphicFrameLocks noChangeAspect="1"/>
            </p:cNvGraphicFramePr>
            <p:nvPr/>
          </p:nvGraphicFramePr>
          <p:xfrm>
            <a:off x="1643" y="5457"/>
            <a:ext cx="498" cy="6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65100" imgH="228600" progId="Equation.3">
                    <p:embed/>
                  </p:oleObj>
                </mc:Choice>
                <mc:Fallback>
                  <p:oleObj r:id="rId6" imgW="165100" imgH="2286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643" y="5457"/>
                          <a:ext cx="498" cy="6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Rectangle 39"/>
            <p:cNvSpPr/>
            <p:nvPr/>
          </p:nvSpPr>
          <p:spPr>
            <a:xfrm>
              <a:off x="1277" y="5247"/>
              <a:ext cx="9101" cy="18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是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线圈的法向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和线圈中的电流方向成右手螺旋关系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的单位矢量。</a:t>
              </a:r>
            </a:p>
          </p:txBody>
        </p:sp>
      </p:grpSp>
      <p:sp>
        <p:nvSpPr>
          <p:cNvPr id="14370" name="Text Box 2"/>
          <p:cNvSpPr txBox="1"/>
          <p:nvPr/>
        </p:nvSpPr>
        <p:spPr>
          <a:xfrm>
            <a:off x="250825" y="3017838"/>
            <a:ext cx="57340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均匀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磁场作用于载流线圈的作用力矩</a:t>
            </a:r>
          </a:p>
        </p:txBody>
      </p:sp>
      <p:grpSp>
        <p:nvGrpSpPr>
          <p:cNvPr id="8" name="Group 46"/>
          <p:cNvGrpSpPr/>
          <p:nvPr/>
        </p:nvGrpSpPr>
        <p:grpSpPr>
          <a:xfrm>
            <a:off x="827088" y="3573463"/>
            <a:ext cx="3268662" cy="636587"/>
            <a:chOff x="295" y="2915"/>
            <a:chExt cx="1941" cy="443"/>
          </a:xfrm>
        </p:grpSpPr>
        <p:graphicFrame>
          <p:nvGraphicFramePr>
            <p:cNvPr id="14372" name="Object 47"/>
            <p:cNvGraphicFramePr>
              <a:graphicFrameLocks noChangeAspect="1"/>
            </p:cNvGraphicFramePr>
            <p:nvPr/>
          </p:nvGraphicFramePr>
          <p:xfrm>
            <a:off x="1011" y="2915"/>
            <a:ext cx="1225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889000" imgH="254000" progId="Equation.3">
                    <p:embed/>
                  </p:oleObj>
                </mc:Choice>
                <mc:Fallback>
                  <p:oleObj r:id="rId8" imgW="889000" imgH="2540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11" y="2915"/>
                          <a:ext cx="1225" cy="443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FBFB11"/>
                            </a:gs>
                            <a:gs pos="100000">
                              <a:srgbClr val="838309"/>
                            </a:gs>
                          </a:gsLst>
                          <a:lin ang="5400000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3" name="Rectangle 48"/>
            <p:cNvSpPr/>
            <p:nvPr/>
          </p:nvSpPr>
          <p:spPr>
            <a:xfrm>
              <a:off x="295" y="2976"/>
              <a:ext cx="791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磁力矩</a:t>
              </a:r>
            </a:p>
          </p:txBody>
        </p:sp>
      </p:grpSp>
      <p:sp>
        <p:nvSpPr>
          <p:cNvPr id="33796" name="Text Box 92"/>
          <p:cNvSpPr txBox="1"/>
          <p:nvPr/>
        </p:nvSpPr>
        <p:spPr>
          <a:xfrm>
            <a:off x="215900" y="4314825"/>
            <a:ext cx="2787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6.</a:t>
            </a:r>
            <a:r>
              <a:rPr lang="en-US" altLang="zh-CN" sz="2400" b="1" dirty="0">
                <a:solidFill>
                  <a:srgbClr val="0000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0000CC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洛伦兹力公式：</a:t>
            </a:r>
          </a:p>
        </p:txBody>
      </p:sp>
      <p:graphicFrame>
        <p:nvGraphicFramePr>
          <p:cNvPr id="33797" name="对象 10"/>
          <p:cNvGraphicFramePr/>
          <p:nvPr/>
        </p:nvGraphicFramePr>
        <p:xfrm>
          <a:off x="3132138" y="4251325"/>
          <a:ext cx="17319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45870" imgH="414655" progId="Equation.DSMT4">
                  <p:embed/>
                </p:oleObj>
              </mc:Choice>
              <mc:Fallback>
                <p:oleObj r:id="rId10" imgW="1245870" imgH="414655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32138" y="4251325"/>
                        <a:ext cx="1731962" cy="5857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Rectangle 4"/>
          <p:cNvSpPr/>
          <p:nvPr/>
        </p:nvSpPr>
        <p:spPr>
          <a:xfrm>
            <a:off x="179388" y="5086350"/>
            <a:ext cx="43545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7.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带电粒子在均匀磁场中运动</a:t>
            </a:r>
          </a:p>
        </p:txBody>
      </p:sp>
      <p:grpSp>
        <p:nvGrpSpPr>
          <p:cNvPr id="24596" name="Group 355"/>
          <p:cNvGrpSpPr/>
          <p:nvPr/>
        </p:nvGrpSpPr>
        <p:grpSpPr>
          <a:xfrm>
            <a:off x="708025" y="5611813"/>
            <a:ext cx="7451725" cy="1079500"/>
            <a:chOff x="317" y="346"/>
            <a:chExt cx="4694" cy="680"/>
          </a:xfrm>
        </p:grpSpPr>
        <p:grpSp>
          <p:nvGrpSpPr>
            <p:cNvPr id="14378" name="Group 170"/>
            <p:cNvGrpSpPr/>
            <p:nvPr/>
          </p:nvGrpSpPr>
          <p:grpSpPr>
            <a:xfrm>
              <a:off x="3379" y="346"/>
              <a:ext cx="1632" cy="680"/>
              <a:chOff x="2541" y="482"/>
              <a:chExt cx="1972" cy="683"/>
            </a:xfrm>
          </p:grpSpPr>
          <p:sp>
            <p:nvSpPr>
              <p:cNvPr id="14379" name="Line 133"/>
              <p:cNvSpPr/>
              <p:nvPr/>
            </p:nvSpPr>
            <p:spPr>
              <a:xfrm>
                <a:off x="2585" y="482"/>
                <a:ext cx="1689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4380" name="Line 134"/>
              <p:cNvSpPr/>
              <p:nvPr/>
            </p:nvSpPr>
            <p:spPr>
              <a:xfrm>
                <a:off x="2556" y="810"/>
                <a:ext cx="1690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4381" name="Line 135"/>
              <p:cNvSpPr/>
              <p:nvPr/>
            </p:nvSpPr>
            <p:spPr>
              <a:xfrm>
                <a:off x="2582" y="1165"/>
                <a:ext cx="1690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14382" name="Group 136"/>
              <p:cNvGrpSpPr/>
              <p:nvPr/>
            </p:nvGrpSpPr>
            <p:grpSpPr>
              <a:xfrm>
                <a:off x="2698" y="566"/>
                <a:ext cx="186" cy="141"/>
                <a:chOff x="2496" y="1392"/>
                <a:chExt cx="336" cy="336"/>
              </a:xfrm>
            </p:grpSpPr>
            <p:sp>
              <p:nvSpPr>
                <p:cNvPr id="14383" name="Oval 137"/>
                <p:cNvSpPr/>
                <p:nvPr/>
              </p:nvSpPr>
              <p:spPr>
                <a:xfrm>
                  <a:off x="2496" y="1392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chemeClr val="tx1"/>
                    </a:gs>
                  </a:gsLst>
                  <a:path path="rect">
                    <a:fillToRect r="100000" b="100000"/>
                  </a:path>
                  <a:tileRect/>
                </a:gra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84" name="WordArt 138"/>
                <p:cNvSpPr>
                  <a:spLocks noTextEdit="1"/>
                </p:cNvSpPr>
                <p:nvPr/>
              </p:nvSpPr>
              <p:spPr>
                <a:xfrm>
                  <a:off x="2544" y="1440"/>
                  <a:ext cx="240" cy="22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FF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sp>
            <p:nvSpPr>
              <p:cNvPr id="14385" name="WordArt 139"/>
              <p:cNvSpPr>
                <a:spLocks noTextEdit="1"/>
              </p:cNvSpPr>
              <p:nvPr/>
            </p:nvSpPr>
            <p:spPr>
              <a:xfrm>
                <a:off x="2541" y="570"/>
                <a:ext cx="110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14386" name="Line 140"/>
              <p:cNvSpPr/>
              <p:nvPr/>
            </p:nvSpPr>
            <p:spPr>
              <a:xfrm>
                <a:off x="2880" y="642"/>
                <a:ext cx="4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14387" name="Group 141"/>
              <p:cNvGrpSpPr/>
              <p:nvPr/>
            </p:nvGrpSpPr>
            <p:grpSpPr>
              <a:xfrm>
                <a:off x="4274" y="692"/>
                <a:ext cx="239" cy="169"/>
                <a:chOff x="1795" y="2738"/>
                <a:chExt cx="282" cy="250"/>
              </a:xfrm>
            </p:grpSpPr>
            <p:sp>
              <p:nvSpPr>
                <p:cNvPr id="14388" name="WordArt 142"/>
                <p:cNvSpPr>
                  <a:spLocks noTextEdit="1"/>
                </p:cNvSpPr>
                <p:nvPr/>
              </p:nvSpPr>
              <p:spPr>
                <a:xfrm>
                  <a:off x="1795" y="2798"/>
                  <a:ext cx="258" cy="19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b="1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14389" name="Line 143"/>
                <p:cNvSpPr/>
                <p:nvPr/>
              </p:nvSpPr>
              <p:spPr>
                <a:xfrm>
                  <a:off x="1840" y="2738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  <p:grpSp>
            <p:nvGrpSpPr>
              <p:cNvPr id="14390" name="Group 144"/>
              <p:cNvGrpSpPr/>
              <p:nvPr/>
            </p:nvGrpSpPr>
            <p:grpSpPr>
              <a:xfrm>
                <a:off x="3389" y="568"/>
                <a:ext cx="221" cy="152"/>
                <a:chOff x="1195" y="2731"/>
                <a:chExt cx="294" cy="267"/>
              </a:xfrm>
            </p:grpSpPr>
            <p:sp>
              <p:nvSpPr>
                <p:cNvPr id="14391" name="WordArt 145"/>
                <p:cNvSpPr>
                  <a:spLocks noTextEdit="1"/>
                </p:cNvSpPr>
                <p:nvPr/>
              </p:nvSpPr>
              <p:spPr>
                <a:xfrm>
                  <a:off x="1195" y="2802"/>
                  <a:ext cx="206" cy="1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14392" name="WordArt 146"/>
                <p:cNvSpPr>
                  <a:spLocks noTextEdit="1"/>
                </p:cNvSpPr>
                <p:nvPr/>
              </p:nvSpPr>
              <p:spPr>
                <a:xfrm>
                  <a:off x="1411" y="2897"/>
                  <a:ext cx="78" cy="9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4393" name="Line 147"/>
                <p:cNvSpPr/>
                <p:nvPr/>
              </p:nvSpPr>
              <p:spPr>
                <a:xfrm>
                  <a:off x="1198" y="2731"/>
                  <a:ext cx="27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  <p:grpSp>
            <p:nvGrpSpPr>
              <p:cNvPr id="14394" name="Group 148"/>
              <p:cNvGrpSpPr/>
              <p:nvPr/>
            </p:nvGrpSpPr>
            <p:grpSpPr>
              <a:xfrm>
                <a:off x="3631" y="910"/>
                <a:ext cx="185" cy="141"/>
                <a:chOff x="2496" y="1392"/>
                <a:chExt cx="336" cy="336"/>
              </a:xfrm>
            </p:grpSpPr>
            <p:sp>
              <p:nvSpPr>
                <p:cNvPr id="14395" name="Oval 149"/>
                <p:cNvSpPr/>
                <p:nvPr/>
              </p:nvSpPr>
              <p:spPr>
                <a:xfrm>
                  <a:off x="2496" y="1392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chemeClr val="tx1"/>
                    </a:gs>
                  </a:gsLst>
                  <a:path path="rect">
                    <a:fillToRect r="100000" b="100000"/>
                  </a:path>
                  <a:tileRect/>
                </a:gra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96" name="WordArt 150"/>
                <p:cNvSpPr>
                  <a:spLocks noTextEdit="1"/>
                </p:cNvSpPr>
                <p:nvPr/>
              </p:nvSpPr>
              <p:spPr>
                <a:xfrm>
                  <a:off x="2544" y="1440"/>
                  <a:ext cx="240" cy="22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FF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sp>
            <p:nvSpPr>
              <p:cNvPr id="14397" name="Line 151"/>
              <p:cNvSpPr/>
              <p:nvPr/>
            </p:nvSpPr>
            <p:spPr>
              <a:xfrm flipH="1">
                <a:off x="3174" y="981"/>
                <a:ext cx="43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14398" name="Group 152"/>
              <p:cNvGrpSpPr/>
              <p:nvPr/>
            </p:nvGrpSpPr>
            <p:grpSpPr>
              <a:xfrm>
                <a:off x="2914" y="917"/>
                <a:ext cx="221" cy="153"/>
                <a:chOff x="1195" y="2731"/>
                <a:chExt cx="294" cy="267"/>
              </a:xfrm>
            </p:grpSpPr>
            <p:sp>
              <p:nvSpPr>
                <p:cNvPr id="14399" name="WordArt 153"/>
                <p:cNvSpPr>
                  <a:spLocks noTextEdit="1"/>
                </p:cNvSpPr>
                <p:nvPr/>
              </p:nvSpPr>
              <p:spPr>
                <a:xfrm>
                  <a:off x="1195" y="2802"/>
                  <a:ext cx="206" cy="1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14400" name="WordArt 154"/>
                <p:cNvSpPr>
                  <a:spLocks noTextEdit="1"/>
                </p:cNvSpPr>
                <p:nvPr/>
              </p:nvSpPr>
              <p:spPr>
                <a:xfrm>
                  <a:off x="1411" y="2897"/>
                  <a:ext cx="78" cy="9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4401" name="Line 155"/>
                <p:cNvSpPr/>
                <p:nvPr/>
              </p:nvSpPr>
              <p:spPr>
                <a:xfrm>
                  <a:off x="1198" y="2731"/>
                  <a:ext cx="27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  <p:sp>
            <p:nvSpPr>
              <p:cNvPr id="14402" name="WordArt 156"/>
              <p:cNvSpPr>
                <a:spLocks noTextEdit="1"/>
              </p:cNvSpPr>
              <p:nvPr/>
            </p:nvSpPr>
            <p:spPr>
              <a:xfrm>
                <a:off x="3865" y="913"/>
                <a:ext cx="110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q</a:t>
                </a:r>
              </a:p>
            </p:txBody>
          </p:sp>
        </p:grpSp>
        <p:grpSp>
          <p:nvGrpSpPr>
            <p:cNvPr id="14403" name="Group 175"/>
            <p:cNvGrpSpPr/>
            <p:nvPr/>
          </p:nvGrpSpPr>
          <p:grpSpPr>
            <a:xfrm>
              <a:off x="317" y="382"/>
              <a:ext cx="873" cy="337"/>
              <a:chOff x="317" y="382"/>
              <a:chExt cx="873" cy="337"/>
            </a:xfrm>
          </p:grpSpPr>
          <p:sp>
            <p:nvSpPr>
              <p:cNvPr id="14404" name="Text Box 171"/>
              <p:cNvSpPr txBox="1"/>
              <p:nvPr/>
            </p:nvSpPr>
            <p:spPr>
              <a:xfrm>
                <a:off x="317" y="391"/>
                <a:ext cx="3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CC0000"/>
                    </a:solidFill>
                    <a:latin typeface="楷体_GB2312" pitchFamily="49" charset="-122"/>
                    <a:ea typeface="楷体_GB2312" pitchFamily="49" charset="-122"/>
                  </a:rPr>
                  <a:t>1) </a:t>
                </a:r>
              </a:p>
            </p:txBody>
          </p:sp>
          <p:graphicFrame>
            <p:nvGraphicFramePr>
              <p:cNvPr id="14405" name="Object 173"/>
              <p:cNvGraphicFramePr>
                <a:graphicFrameLocks noChangeAspect="1"/>
              </p:cNvGraphicFramePr>
              <p:nvPr/>
            </p:nvGraphicFramePr>
            <p:xfrm>
              <a:off x="600" y="382"/>
              <a:ext cx="590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393700" imgH="241300" progId="Equation.3">
                      <p:embed/>
                    </p:oleObj>
                  </mc:Choice>
                  <mc:Fallback>
                    <p:oleObj r:id="rId12" imgW="393700" imgH="241300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00" y="382"/>
                            <a:ext cx="590" cy="3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406" name="Object 176"/>
            <p:cNvGraphicFramePr>
              <a:graphicFrameLocks noChangeAspect="1"/>
            </p:cNvGraphicFramePr>
            <p:nvPr/>
          </p:nvGraphicFramePr>
          <p:xfrm>
            <a:off x="1383" y="414"/>
            <a:ext cx="56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81000" imgH="203200" progId="Equation.3">
                    <p:embed/>
                  </p:oleObj>
                </mc:Choice>
                <mc:Fallback>
                  <p:oleObj r:id="rId14" imgW="381000" imgH="2032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383" y="414"/>
                          <a:ext cx="56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7" name="Text Box 177"/>
            <p:cNvSpPr txBox="1"/>
            <p:nvPr/>
          </p:nvSpPr>
          <p:spPr>
            <a:xfrm>
              <a:off x="2041" y="414"/>
              <a:ext cx="86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Verdana" panose="020B0604030504040204" pitchFamily="34" charset="0"/>
                  <a:ea typeface="楷体_GB2312" pitchFamily="49" charset="-122"/>
                </a:rPr>
                <a:t>直线运动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/>
      <p:bldP spid="33796" grpId="0"/>
      <p:bldP spid="33796" grpId="1"/>
      <p:bldP spid="33798" grpId="0"/>
      <p:bldP spid="3379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57"/>
          <p:cNvGrpSpPr/>
          <p:nvPr/>
        </p:nvGrpSpPr>
        <p:grpSpPr>
          <a:xfrm>
            <a:off x="755650" y="1231900"/>
            <a:ext cx="7688263" cy="3779838"/>
            <a:chOff x="476" y="1752"/>
            <a:chExt cx="4843" cy="2381"/>
          </a:xfrm>
        </p:grpSpPr>
        <p:sp>
          <p:nvSpPr>
            <p:cNvPr id="92234" name="Rectangle 74"/>
            <p:cNvSpPr>
              <a:spLocks noChangeArrowheads="1"/>
            </p:cNvSpPr>
            <p:nvPr/>
          </p:nvSpPr>
          <p:spPr bwMode="auto">
            <a:xfrm>
              <a:off x="476" y="1752"/>
              <a:ext cx="4843" cy="2345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78824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5363" name="Group 179"/>
            <p:cNvGrpSpPr/>
            <p:nvPr/>
          </p:nvGrpSpPr>
          <p:grpSpPr>
            <a:xfrm>
              <a:off x="725" y="1842"/>
              <a:ext cx="4355" cy="2291"/>
              <a:chOff x="384" y="240"/>
              <a:chExt cx="5040" cy="3744"/>
            </a:xfrm>
          </p:grpSpPr>
          <p:grpSp>
            <p:nvGrpSpPr>
              <p:cNvPr id="15364" name="Group 180"/>
              <p:cNvGrpSpPr/>
              <p:nvPr/>
            </p:nvGrpSpPr>
            <p:grpSpPr>
              <a:xfrm>
                <a:off x="387" y="240"/>
                <a:ext cx="153" cy="140"/>
                <a:chOff x="10364" y="10200"/>
                <a:chExt cx="136" cy="120"/>
              </a:xfrm>
            </p:grpSpPr>
            <p:sp>
              <p:nvSpPr>
                <p:cNvPr id="15365" name="Line 181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66" name="Line 182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67" name="Group 183"/>
              <p:cNvGrpSpPr/>
              <p:nvPr/>
            </p:nvGrpSpPr>
            <p:grpSpPr>
              <a:xfrm>
                <a:off x="793" y="687"/>
                <a:ext cx="153" cy="140"/>
                <a:chOff x="10364" y="10200"/>
                <a:chExt cx="136" cy="120"/>
              </a:xfrm>
            </p:grpSpPr>
            <p:sp>
              <p:nvSpPr>
                <p:cNvPr id="15368" name="Line 184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69" name="Line 185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70" name="Group 186"/>
              <p:cNvGrpSpPr/>
              <p:nvPr/>
            </p:nvGrpSpPr>
            <p:grpSpPr>
              <a:xfrm>
                <a:off x="1199" y="1134"/>
                <a:ext cx="152" cy="140"/>
                <a:chOff x="10364" y="10200"/>
                <a:chExt cx="136" cy="120"/>
              </a:xfrm>
            </p:grpSpPr>
            <p:sp>
              <p:nvSpPr>
                <p:cNvPr id="15371" name="Line 187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2" name="Line 188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73" name="Group 189"/>
              <p:cNvGrpSpPr/>
              <p:nvPr/>
            </p:nvGrpSpPr>
            <p:grpSpPr>
              <a:xfrm>
                <a:off x="1605" y="1581"/>
                <a:ext cx="152" cy="140"/>
                <a:chOff x="10364" y="10200"/>
                <a:chExt cx="136" cy="120"/>
              </a:xfrm>
            </p:grpSpPr>
            <p:sp>
              <p:nvSpPr>
                <p:cNvPr id="15374" name="Line 190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5" name="Line 191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76" name="Group 192"/>
              <p:cNvGrpSpPr/>
              <p:nvPr/>
            </p:nvGrpSpPr>
            <p:grpSpPr>
              <a:xfrm>
                <a:off x="2011" y="2028"/>
                <a:ext cx="152" cy="140"/>
                <a:chOff x="10364" y="10200"/>
                <a:chExt cx="136" cy="120"/>
              </a:xfrm>
            </p:grpSpPr>
            <p:sp>
              <p:nvSpPr>
                <p:cNvPr id="15377" name="Line 193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8" name="Line 194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79" name="Group 195"/>
              <p:cNvGrpSpPr/>
              <p:nvPr/>
            </p:nvGrpSpPr>
            <p:grpSpPr>
              <a:xfrm>
                <a:off x="2823" y="240"/>
                <a:ext cx="152" cy="140"/>
                <a:chOff x="10364" y="10200"/>
                <a:chExt cx="136" cy="120"/>
              </a:xfrm>
            </p:grpSpPr>
            <p:sp>
              <p:nvSpPr>
                <p:cNvPr id="15380" name="Line 196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1" name="Line 197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82" name="Group 198"/>
              <p:cNvGrpSpPr/>
              <p:nvPr/>
            </p:nvGrpSpPr>
            <p:grpSpPr>
              <a:xfrm>
                <a:off x="1199" y="240"/>
                <a:ext cx="152" cy="140"/>
                <a:chOff x="10364" y="10200"/>
                <a:chExt cx="136" cy="120"/>
              </a:xfrm>
            </p:grpSpPr>
            <p:sp>
              <p:nvSpPr>
                <p:cNvPr id="15383" name="Line 199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4" name="Line 200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85" name="Group 201"/>
              <p:cNvGrpSpPr/>
              <p:nvPr/>
            </p:nvGrpSpPr>
            <p:grpSpPr>
              <a:xfrm>
                <a:off x="1605" y="687"/>
                <a:ext cx="152" cy="140"/>
                <a:chOff x="10364" y="10200"/>
                <a:chExt cx="136" cy="120"/>
              </a:xfrm>
            </p:grpSpPr>
            <p:sp>
              <p:nvSpPr>
                <p:cNvPr id="15386" name="Line 202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7" name="Line 203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88" name="Group 204"/>
              <p:cNvGrpSpPr/>
              <p:nvPr/>
            </p:nvGrpSpPr>
            <p:grpSpPr>
              <a:xfrm>
                <a:off x="2011" y="1134"/>
                <a:ext cx="152" cy="140"/>
                <a:chOff x="10364" y="10200"/>
                <a:chExt cx="136" cy="120"/>
              </a:xfrm>
            </p:grpSpPr>
            <p:sp>
              <p:nvSpPr>
                <p:cNvPr id="15389" name="Line 205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0" name="Line 206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91" name="Group 207"/>
              <p:cNvGrpSpPr/>
              <p:nvPr/>
            </p:nvGrpSpPr>
            <p:grpSpPr>
              <a:xfrm>
                <a:off x="2417" y="1581"/>
                <a:ext cx="152" cy="140"/>
                <a:chOff x="10364" y="10200"/>
                <a:chExt cx="136" cy="120"/>
              </a:xfrm>
            </p:grpSpPr>
            <p:sp>
              <p:nvSpPr>
                <p:cNvPr id="15392" name="Line 208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3" name="Line 209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94" name="Group 210"/>
              <p:cNvGrpSpPr/>
              <p:nvPr/>
            </p:nvGrpSpPr>
            <p:grpSpPr>
              <a:xfrm>
                <a:off x="2008" y="240"/>
                <a:ext cx="152" cy="140"/>
                <a:chOff x="10364" y="10200"/>
                <a:chExt cx="136" cy="120"/>
              </a:xfrm>
            </p:grpSpPr>
            <p:sp>
              <p:nvSpPr>
                <p:cNvPr id="15395" name="Line 211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6" name="Line 212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97" name="Group 213"/>
              <p:cNvGrpSpPr/>
              <p:nvPr/>
            </p:nvGrpSpPr>
            <p:grpSpPr>
              <a:xfrm>
                <a:off x="2414" y="687"/>
                <a:ext cx="152" cy="140"/>
                <a:chOff x="10364" y="10200"/>
                <a:chExt cx="136" cy="120"/>
              </a:xfrm>
            </p:grpSpPr>
            <p:sp>
              <p:nvSpPr>
                <p:cNvPr id="15398" name="Line 214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9" name="Line 215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00" name="Group 216"/>
              <p:cNvGrpSpPr/>
              <p:nvPr/>
            </p:nvGrpSpPr>
            <p:grpSpPr>
              <a:xfrm>
                <a:off x="2819" y="1134"/>
                <a:ext cx="153" cy="140"/>
                <a:chOff x="10364" y="10200"/>
                <a:chExt cx="136" cy="120"/>
              </a:xfrm>
            </p:grpSpPr>
            <p:sp>
              <p:nvSpPr>
                <p:cNvPr id="15401" name="Line 217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2" name="Line 218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03" name="Group 219"/>
              <p:cNvGrpSpPr/>
              <p:nvPr/>
            </p:nvGrpSpPr>
            <p:grpSpPr>
              <a:xfrm>
                <a:off x="3225" y="1581"/>
                <a:ext cx="153" cy="140"/>
                <a:chOff x="10364" y="10200"/>
                <a:chExt cx="136" cy="120"/>
              </a:xfrm>
            </p:grpSpPr>
            <p:sp>
              <p:nvSpPr>
                <p:cNvPr id="15404" name="Line 220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5" name="Line 221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06" name="Group 222"/>
              <p:cNvGrpSpPr/>
              <p:nvPr/>
            </p:nvGrpSpPr>
            <p:grpSpPr>
              <a:xfrm>
                <a:off x="3631" y="2028"/>
                <a:ext cx="152" cy="140"/>
                <a:chOff x="10364" y="10200"/>
                <a:chExt cx="136" cy="120"/>
              </a:xfrm>
            </p:grpSpPr>
            <p:sp>
              <p:nvSpPr>
                <p:cNvPr id="15407" name="Line 223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8" name="Line 224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09" name="Group 225"/>
              <p:cNvGrpSpPr/>
              <p:nvPr/>
            </p:nvGrpSpPr>
            <p:grpSpPr>
              <a:xfrm>
                <a:off x="3229" y="687"/>
                <a:ext cx="152" cy="140"/>
                <a:chOff x="10364" y="10200"/>
                <a:chExt cx="136" cy="120"/>
              </a:xfrm>
            </p:grpSpPr>
            <p:sp>
              <p:nvSpPr>
                <p:cNvPr id="15410" name="Line 226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1" name="Line 227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12" name="Group 228"/>
              <p:cNvGrpSpPr/>
              <p:nvPr/>
            </p:nvGrpSpPr>
            <p:grpSpPr>
              <a:xfrm>
                <a:off x="3635" y="1134"/>
                <a:ext cx="152" cy="140"/>
                <a:chOff x="10364" y="10200"/>
                <a:chExt cx="136" cy="120"/>
              </a:xfrm>
            </p:grpSpPr>
            <p:sp>
              <p:nvSpPr>
                <p:cNvPr id="15413" name="Line 229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4" name="Line 230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15" name="Group 231"/>
              <p:cNvGrpSpPr/>
              <p:nvPr/>
            </p:nvGrpSpPr>
            <p:grpSpPr>
              <a:xfrm>
                <a:off x="4041" y="1581"/>
                <a:ext cx="152" cy="140"/>
                <a:chOff x="10364" y="10200"/>
                <a:chExt cx="136" cy="120"/>
              </a:xfrm>
            </p:grpSpPr>
            <p:sp>
              <p:nvSpPr>
                <p:cNvPr id="15416" name="Line 232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7" name="Line 233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18" name="Group 234"/>
              <p:cNvGrpSpPr/>
              <p:nvPr/>
            </p:nvGrpSpPr>
            <p:grpSpPr>
              <a:xfrm>
                <a:off x="387" y="1134"/>
                <a:ext cx="153" cy="140"/>
                <a:chOff x="10364" y="10200"/>
                <a:chExt cx="136" cy="120"/>
              </a:xfrm>
            </p:grpSpPr>
            <p:sp>
              <p:nvSpPr>
                <p:cNvPr id="15419" name="Line 235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20" name="Line 236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21" name="Group 237"/>
              <p:cNvGrpSpPr/>
              <p:nvPr/>
            </p:nvGrpSpPr>
            <p:grpSpPr>
              <a:xfrm>
                <a:off x="793" y="1581"/>
                <a:ext cx="153" cy="140"/>
                <a:chOff x="10364" y="10200"/>
                <a:chExt cx="136" cy="120"/>
              </a:xfrm>
            </p:grpSpPr>
            <p:sp>
              <p:nvSpPr>
                <p:cNvPr id="15422" name="Line 238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23" name="Line 239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24" name="Group 240"/>
              <p:cNvGrpSpPr/>
              <p:nvPr/>
            </p:nvGrpSpPr>
            <p:grpSpPr>
              <a:xfrm>
                <a:off x="387" y="2028"/>
                <a:ext cx="153" cy="140"/>
                <a:chOff x="10364" y="10200"/>
                <a:chExt cx="136" cy="120"/>
              </a:xfrm>
            </p:grpSpPr>
            <p:sp>
              <p:nvSpPr>
                <p:cNvPr id="15425" name="Line 241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26" name="Line 242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27" name="Group 243"/>
              <p:cNvGrpSpPr/>
              <p:nvPr/>
            </p:nvGrpSpPr>
            <p:grpSpPr>
              <a:xfrm>
                <a:off x="1199" y="2028"/>
                <a:ext cx="152" cy="140"/>
                <a:chOff x="10364" y="10200"/>
                <a:chExt cx="136" cy="120"/>
              </a:xfrm>
            </p:grpSpPr>
            <p:sp>
              <p:nvSpPr>
                <p:cNvPr id="15428" name="Line 244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29" name="Line 245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30" name="Group 246"/>
              <p:cNvGrpSpPr/>
              <p:nvPr/>
            </p:nvGrpSpPr>
            <p:grpSpPr>
              <a:xfrm>
                <a:off x="4446" y="2028"/>
                <a:ext cx="153" cy="140"/>
                <a:chOff x="10364" y="10200"/>
                <a:chExt cx="136" cy="120"/>
              </a:xfrm>
            </p:grpSpPr>
            <p:sp>
              <p:nvSpPr>
                <p:cNvPr id="15431" name="Line 247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32" name="Line 248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33" name="Group 249"/>
              <p:cNvGrpSpPr/>
              <p:nvPr/>
            </p:nvGrpSpPr>
            <p:grpSpPr>
              <a:xfrm>
                <a:off x="3635" y="240"/>
                <a:ext cx="152" cy="140"/>
                <a:chOff x="10364" y="10200"/>
                <a:chExt cx="136" cy="120"/>
              </a:xfrm>
            </p:grpSpPr>
            <p:sp>
              <p:nvSpPr>
                <p:cNvPr id="15434" name="Line 250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35" name="Line 251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36" name="Group 252"/>
              <p:cNvGrpSpPr/>
              <p:nvPr/>
            </p:nvGrpSpPr>
            <p:grpSpPr>
              <a:xfrm>
                <a:off x="4041" y="687"/>
                <a:ext cx="152" cy="140"/>
                <a:chOff x="10364" y="10200"/>
                <a:chExt cx="136" cy="120"/>
              </a:xfrm>
            </p:grpSpPr>
            <p:sp>
              <p:nvSpPr>
                <p:cNvPr id="15437" name="Line 253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38" name="Line 254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39" name="Group 255"/>
              <p:cNvGrpSpPr/>
              <p:nvPr/>
            </p:nvGrpSpPr>
            <p:grpSpPr>
              <a:xfrm>
                <a:off x="4446" y="1134"/>
                <a:ext cx="153" cy="140"/>
                <a:chOff x="10364" y="10200"/>
                <a:chExt cx="136" cy="120"/>
              </a:xfrm>
            </p:grpSpPr>
            <p:sp>
              <p:nvSpPr>
                <p:cNvPr id="15440" name="Line 256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41" name="Line 257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42" name="Group 258"/>
              <p:cNvGrpSpPr/>
              <p:nvPr/>
            </p:nvGrpSpPr>
            <p:grpSpPr>
              <a:xfrm>
                <a:off x="4852" y="1581"/>
                <a:ext cx="153" cy="140"/>
                <a:chOff x="10364" y="10200"/>
                <a:chExt cx="136" cy="120"/>
              </a:xfrm>
            </p:grpSpPr>
            <p:sp>
              <p:nvSpPr>
                <p:cNvPr id="15443" name="Line 259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44" name="Line 260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45" name="Group 261"/>
              <p:cNvGrpSpPr/>
              <p:nvPr/>
            </p:nvGrpSpPr>
            <p:grpSpPr>
              <a:xfrm>
                <a:off x="5258" y="2028"/>
                <a:ext cx="152" cy="140"/>
                <a:chOff x="10364" y="10200"/>
                <a:chExt cx="136" cy="120"/>
              </a:xfrm>
            </p:grpSpPr>
            <p:sp>
              <p:nvSpPr>
                <p:cNvPr id="15446" name="Line 262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47" name="Line 263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48" name="Group 264"/>
              <p:cNvGrpSpPr/>
              <p:nvPr/>
            </p:nvGrpSpPr>
            <p:grpSpPr>
              <a:xfrm>
                <a:off x="4460" y="240"/>
                <a:ext cx="152" cy="140"/>
                <a:chOff x="10364" y="10200"/>
                <a:chExt cx="136" cy="120"/>
              </a:xfrm>
            </p:grpSpPr>
            <p:sp>
              <p:nvSpPr>
                <p:cNvPr id="15449" name="Line 265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50" name="Line 266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51" name="Group 267"/>
              <p:cNvGrpSpPr/>
              <p:nvPr/>
            </p:nvGrpSpPr>
            <p:grpSpPr>
              <a:xfrm>
                <a:off x="4866" y="687"/>
                <a:ext cx="152" cy="140"/>
                <a:chOff x="10364" y="10200"/>
                <a:chExt cx="136" cy="120"/>
              </a:xfrm>
            </p:grpSpPr>
            <p:sp>
              <p:nvSpPr>
                <p:cNvPr id="15452" name="Line 268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53" name="Line 269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54" name="Group 270"/>
              <p:cNvGrpSpPr/>
              <p:nvPr/>
            </p:nvGrpSpPr>
            <p:grpSpPr>
              <a:xfrm>
                <a:off x="5272" y="1134"/>
                <a:ext cx="152" cy="140"/>
                <a:chOff x="10364" y="10200"/>
                <a:chExt cx="136" cy="120"/>
              </a:xfrm>
            </p:grpSpPr>
            <p:sp>
              <p:nvSpPr>
                <p:cNvPr id="15455" name="Line 271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56" name="Line 272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57" name="Group 273"/>
              <p:cNvGrpSpPr/>
              <p:nvPr/>
            </p:nvGrpSpPr>
            <p:grpSpPr>
              <a:xfrm>
                <a:off x="5265" y="240"/>
                <a:ext cx="152" cy="140"/>
                <a:chOff x="10364" y="10200"/>
                <a:chExt cx="136" cy="120"/>
              </a:xfrm>
            </p:grpSpPr>
            <p:sp>
              <p:nvSpPr>
                <p:cNvPr id="15458" name="Line 274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59" name="Line 275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60" name="Group 276"/>
              <p:cNvGrpSpPr/>
              <p:nvPr/>
            </p:nvGrpSpPr>
            <p:grpSpPr>
              <a:xfrm>
                <a:off x="793" y="2475"/>
                <a:ext cx="153" cy="140"/>
                <a:chOff x="10364" y="10200"/>
                <a:chExt cx="136" cy="120"/>
              </a:xfrm>
            </p:grpSpPr>
            <p:sp>
              <p:nvSpPr>
                <p:cNvPr id="15461" name="Line 277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62" name="Line 278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63" name="Group 279"/>
              <p:cNvGrpSpPr/>
              <p:nvPr/>
            </p:nvGrpSpPr>
            <p:grpSpPr>
              <a:xfrm>
                <a:off x="1199" y="2922"/>
                <a:ext cx="152" cy="140"/>
                <a:chOff x="10364" y="10200"/>
                <a:chExt cx="136" cy="120"/>
              </a:xfrm>
            </p:grpSpPr>
            <p:sp>
              <p:nvSpPr>
                <p:cNvPr id="15464" name="Line 280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65" name="Line 281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66" name="Group 282"/>
              <p:cNvGrpSpPr/>
              <p:nvPr/>
            </p:nvGrpSpPr>
            <p:grpSpPr>
              <a:xfrm>
                <a:off x="1605" y="3369"/>
                <a:ext cx="152" cy="140"/>
                <a:chOff x="10364" y="10200"/>
                <a:chExt cx="136" cy="120"/>
              </a:xfrm>
            </p:grpSpPr>
            <p:sp>
              <p:nvSpPr>
                <p:cNvPr id="15467" name="Line 283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68" name="Line 284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69" name="Group 285"/>
              <p:cNvGrpSpPr/>
              <p:nvPr/>
            </p:nvGrpSpPr>
            <p:grpSpPr>
              <a:xfrm>
                <a:off x="1605" y="2475"/>
                <a:ext cx="152" cy="140"/>
                <a:chOff x="10364" y="10200"/>
                <a:chExt cx="136" cy="120"/>
              </a:xfrm>
            </p:grpSpPr>
            <p:sp>
              <p:nvSpPr>
                <p:cNvPr id="15470" name="Line 286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1" name="Line 287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72" name="Group 288"/>
              <p:cNvGrpSpPr/>
              <p:nvPr/>
            </p:nvGrpSpPr>
            <p:grpSpPr>
              <a:xfrm>
                <a:off x="2011" y="2922"/>
                <a:ext cx="152" cy="140"/>
                <a:chOff x="10364" y="10200"/>
                <a:chExt cx="136" cy="120"/>
              </a:xfrm>
            </p:grpSpPr>
            <p:sp>
              <p:nvSpPr>
                <p:cNvPr id="15473" name="Line 289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4" name="Line 290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75" name="Group 291"/>
              <p:cNvGrpSpPr/>
              <p:nvPr/>
            </p:nvGrpSpPr>
            <p:grpSpPr>
              <a:xfrm>
                <a:off x="2417" y="3369"/>
                <a:ext cx="152" cy="140"/>
                <a:chOff x="10364" y="10200"/>
                <a:chExt cx="136" cy="120"/>
              </a:xfrm>
            </p:grpSpPr>
            <p:sp>
              <p:nvSpPr>
                <p:cNvPr id="15476" name="Line 292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7" name="Line 293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78" name="Group 294"/>
              <p:cNvGrpSpPr/>
              <p:nvPr/>
            </p:nvGrpSpPr>
            <p:grpSpPr>
              <a:xfrm>
                <a:off x="2417" y="2475"/>
                <a:ext cx="152" cy="140"/>
                <a:chOff x="10364" y="10200"/>
                <a:chExt cx="136" cy="120"/>
              </a:xfrm>
            </p:grpSpPr>
            <p:sp>
              <p:nvSpPr>
                <p:cNvPr id="15479" name="Line 295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0" name="Line 296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81" name="Group 297"/>
              <p:cNvGrpSpPr/>
              <p:nvPr/>
            </p:nvGrpSpPr>
            <p:grpSpPr>
              <a:xfrm>
                <a:off x="2823" y="2922"/>
                <a:ext cx="152" cy="140"/>
                <a:chOff x="10364" y="10200"/>
                <a:chExt cx="136" cy="120"/>
              </a:xfrm>
            </p:grpSpPr>
            <p:sp>
              <p:nvSpPr>
                <p:cNvPr id="15482" name="Line 298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3" name="Line 299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84" name="Group 300"/>
              <p:cNvGrpSpPr/>
              <p:nvPr/>
            </p:nvGrpSpPr>
            <p:grpSpPr>
              <a:xfrm>
                <a:off x="3229" y="3369"/>
                <a:ext cx="152" cy="140"/>
                <a:chOff x="10364" y="10200"/>
                <a:chExt cx="136" cy="120"/>
              </a:xfrm>
            </p:grpSpPr>
            <p:sp>
              <p:nvSpPr>
                <p:cNvPr id="15485" name="Line 301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6" name="Line 302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87" name="Group 303"/>
              <p:cNvGrpSpPr/>
              <p:nvPr/>
            </p:nvGrpSpPr>
            <p:grpSpPr>
              <a:xfrm>
                <a:off x="3229" y="2475"/>
                <a:ext cx="152" cy="140"/>
                <a:chOff x="10364" y="10200"/>
                <a:chExt cx="136" cy="120"/>
              </a:xfrm>
            </p:grpSpPr>
            <p:sp>
              <p:nvSpPr>
                <p:cNvPr id="15488" name="Line 304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9" name="Line 305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90" name="Group 306"/>
              <p:cNvGrpSpPr/>
              <p:nvPr/>
            </p:nvGrpSpPr>
            <p:grpSpPr>
              <a:xfrm>
                <a:off x="3635" y="2922"/>
                <a:ext cx="152" cy="140"/>
                <a:chOff x="10364" y="10200"/>
                <a:chExt cx="136" cy="120"/>
              </a:xfrm>
            </p:grpSpPr>
            <p:sp>
              <p:nvSpPr>
                <p:cNvPr id="15491" name="Line 307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2" name="Line 308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93" name="Group 309"/>
              <p:cNvGrpSpPr/>
              <p:nvPr/>
            </p:nvGrpSpPr>
            <p:grpSpPr>
              <a:xfrm>
                <a:off x="4041" y="3369"/>
                <a:ext cx="152" cy="140"/>
                <a:chOff x="10364" y="10200"/>
                <a:chExt cx="136" cy="120"/>
              </a:xfrm>
            </p:grpSpPr>
            <p:sp>
              <p:nvSpPr>
                <p:cNvPr id="15494" name="Line 310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5" name="Line 311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96" name="Group 312"/>
              <p:cNvGrpSpPr/>
              <p:nvPr/>
            </p:nvGrpSpPr>
            <p:grpSpPr>
              <a:xfrm>
                <a:off x="4037" y="2475"/>
                <a:ext cx="152" cy="140"/>
                <a:chOff x="10364" y="10200"/>
                <a:chExt cx="136" cy="120"/>
              </a:xfrm>
            </p:grpSpPr>
            <p:sp>
              <p:nvSpPr>
                <p:cNvPr id="15497" name="Line 313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8" name="Line 314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99" name="Group 315"/>
              <p:cNvGrpSpPr/>
              <p:nvPr/>
            </p:nvGrpSpPr>
            <p:grpSpPr>
              <a:xfrm>
                <a:off x="4443" y="2922"/>
                <a:ext cx="152" cy="140"/>
                <a:chOff x="10364" y="10200"/>
                <a:chExt cx="136" cy="120"/>
              </a:xfrm>
            </p:grpSpPr>
            <p:sp>
              <p:nvSpPr>
                <p:cNvPr id="15500" name="Line 316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1" name="Line 317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02" name="Group 318"/>
              <p:cNvGrpSpPr/>
              <p:nvPr/>
            </p:nvGrpSpPr>
            <p:grpSpPr>
              <a:xfrm>
                <a:off x="4849" y="3369"/>
                <a:ext cx="152" cy="140"/>
                <a:chOff x="10364" y="10200"/>
                <a:chExt cx="136" cy="120"/>
              </a:xfrm>
            </p:grpSpPr>
            <p:sp>
              <p:nvSpPr>
                <p:cNvPr id="15503" name="Line 319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4" name="Line 320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05" name="Group 321"/>
              <p:cNvGrpSpPr/>
              <p:nvPr/>
            </p:nvGrpSpPr>
            <p:grpSpPr>
              <a:xfrm>
                <a:off x="4852" y="2475"/>
                <a:ext cx="153" cy="140"/>
                <a:chOff x="10364" y="10200"/>
                <a:chExt cx="136" cy="120"/>
              </a:xfrm>
            </p:grpSpPr>
            <p:sp>
              <p:nvSpPr>
                <p:cNvPr id="15506" name="Line 322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7" name="Line 323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08" name="Group 324"/>
              <p:cNvGrpSpPr/>
              <p:nvPr/>
            </p:nvGrpSpPr>
            <p:grpSpPr>
              <a:xfrm>
                <a:off x="5258" y="2922"/>
                <a:ext cx="152" cy="140"/>
                <a:chOff x="10364" y="10200"/>
                <a:chExt cx="136" cy="120"/>
              </a:xfrm>
            </p:grpSpPr>
            <p:sp>
              <p:nvSpPr>
                <p:cNvPr id="15509" name="Line 325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0" name="Line 326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11" name="Group 327"/>
              <p:cNvGrpSpPr/>
              <p:nvPr/>
            </p:nvGrpSpPr>
            <p:grpSpPr>
              <a:xfrm>
                <a:off x="387" y="2922"/>
                <a:ext cx="153" cy="140"/>
                <a:chOff x="10364" y="10200"/>
                <a:chExt cx="136" cy="120"/>
              </a:xfrm>
            </p:grpSpPr>
            <p:sp>
              <p:nvSpPr>
                <p:cNvPr id="15512" name="Line 328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3" name="Line 329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14" name="Group 330"/>
              <p:cNvGrpSpPr/>
              <p:nvPr/>
            </p:nvGrpSpPr>
            <p:grpSpPr>
              <a:xfrm>
                <a:off x="817" y="3397"/>
                <a:ext cx="152" cy="140"/>
                <a:chOff x="10364" y="10200"/>
                <a:chExt cx="136" cy="120"/>
              </a:xfrm>
            </p:grpSpPr>
            <p:sp>
              <p:nvSpPr>
                <p:cNvPr id="15515" name="Line 331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6" name="Line 332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17" name="Group 333"/>
              <p:cNvGrpSpPr/>
              <p:nvPr/>
            </p:nvGrpSpPr>
            <p:grpSpPr>
              <a:xfrm>
                <a:off x="2011" y="3816"/>
                <a:ext cx="152" cy="140"/>
                <a:chOff x="10364" y="10200"/>
                <a:chExt cx="136" cy="120"/>
              </a:xfrm>
            </p:grpSpPr>
            <p:sp>
              <p:nvSpPr>
                <p:cNvPr id="15518" name="Line 334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9" name="Line 335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20" name="Group 336"/>
              <p:cNvGrpSpPr/>
              <p:nvPr/>
            </p:nvGrpSpPr>
            <p:grpSpPr>
              <a:xfrm>
                <a:off x="3635" y="3816"/>
                <a:ext cx="152" cy="140"/>
                <a:chOff x="10364" y="10200"/>
                <a:chExt cx="136" cy="120"/>
              </a:xfrm>
            </p:grpSpPr>
            <p:sp>
              <p:nvSpPr>
                <p:cNvPr id="15521" name="Line 337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22" name="Line 338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23" name="Group 339"/>
              <p:cNvGrpSpPr/>
              <p:nvPr/>
            </p:nvGrpSpPr>
            <p:grpSpPr>
              <a:xfrm>
                <a:off x="5255" y="3816"/>
                <a:ext cx="152" cy="140"/>
                <a:chOff x="10364" y="10200"/>
                <a:chExt cx="136" cy="120"/>
              </a:xfrm>
            </p:grpSpPr>
            <p:sp>
              <p:nvSpPr>
                <p:cNvPr id="15524" name="Line 340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25" name="Line 341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26" name="Group 342"/>
              <p:cNvGrpSpPr/>
              <p:nvPr/>
            </p:nvGrpSpPr>
            <p:grpSpPr>
              <a:xfrm>
                <a:off x="1223" y="3844"/>
                <a:ext cx="152" cy="140"/>
                <a:chOff x="10364" y="10200"/>
                <a:chExt cx="136" cy="120"/>
              </a:xfrm>
            </p:grpSpPr>
            <p:sp>
              <p:nvSpPr>
                <p:cNvPr id="15527" name="Line 343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28" name="Line 344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29" name="Group 345"/>
              <p:cNvGrpSpPr/>
              <p:nvPr/>
            </p:nvGrpSpPr>
            <p:grpSpPr>
              <a:xfrm>
                <a:off x="384" y="3816"/>
                <a:ext cx="152" cy="140"/>
                <a:chOff x="10364" y="10200"/>
                <a:chExt cx="136" cy="120"/>
              </a:xfrm>
            </p:grpSpPr>
            <p:sp>
              <p:nvSpPr>
                <p:cNvPr id="15530" name="Line 346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31" name="Line 347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32" name="Group 348"/>
              <p:cNvGrpSpPr/>
              <p:nvPr/>
            </p:nvGrpSpPr>
            <p:grpSpPr>
              <a:xfrm>
                <a:off x="2823" y="3816"/>
                <a:ext cx="152" cy="140"/>
                <a:chOff x="10364" y="10200"/>
                <a:chExt cx="136" cy="120"/>
              </a:xfrm>
            </p:grpSpPr>
            <p:sp>
              <p:nvSpPr>
                <p:cNvPr id="15533" name="Line 349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34" name="Line 350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35" name="Group 351"/>
              <p:cNvGrpSpPr/>
              <p:nvPr/>
            </p:nvGrpSpPr>
            <p:grpSpPr>
              <a:xfrm>
                <a:off x="4446" y="3816"/>
                <a:ext cx="153" cy="140"/>
                <a:chOff x="10364" y="10200"/>
                <a:chExt cx="136" cy="120"/>
              </a:xfrm>
            </p:grpSpPr>
            <p:sp>
              <p:nvSpPr>
                <p:cNvPr id="15536" name="Line 352"/>
                <p:cNvSpPr/>
                <p:nvPr/>
              </p:nvSpPr>
              <p:spPr>
                <a:xfrm>
                  <a:off x="10380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37" name="Line 353"/>
                <p:cNvSpPr/>
                <p:nvPr/>
              </p:nvSpPr>
              <p:spPr>
                <a:xfrm flipH="1">
                  <a:off x="10364" y="10200"/>
                  <a:ext cx="120" cy="120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538" name="WordArt 354"/>
              <p:cNvSpPr>
                <a:spLocks noTextEdit="1"/>
              </p:cNvSpPr>
              <p:nvPr/>
            </p:nvSpPr>
            <p:spPr>
              <a:xfrm>
                <a:off x="2736" y="2160"/>
                <a:ext cx="336" cy="3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28575" cap="flat" cmpd="sng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66CC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</p:grpSp>
      <p:grpSp>
        <p:nvGrpSpPr>
          <p:cNvPr id="92255" name="Group 75"/>
          <p:cNvGrpSpPr/>
          <p:nvPr/>
        </p:nvGrpSpPr>
        <p:grpSpPr>
          <a:xfrm>
            <a:off x="2703513" y="3046413"/>
            <a:ext cx="3805237" cy="373062"/>
            <a:chOff x="1488" y="1392"/>
            <a:chExt cx="2832" cy="288"/>
          </a:xfrm>
        </p:grpSpPr>
        <p:sp>
          <p:nvSpPr>
            <p:cNvPr id="15540" name="Line 76"/>
            <p:cNvSpPr/>
            <p:nvPr/>
          </p:nvSpPr>
          <p:spPr>
            <a:xfrm>
              <a:off x="1824" y="1536"/>
              <a:ext cx="672" cy="0"/>
            </a:xfrm>
            <a:prstGeom prst="line">
              <a:avLst/>
            </a:prstGeom>
            <a:ln w="76200" cap="flat" cmpd="sng">
              <a:solidFill>
                <a:srgbClr val="FF99FF"/>
              </a:solidFill>
              <a:prstDash val="solid"/>
              <a:round/>
              <a:headEnd type="triangle" w="med" len="lg"/>
              <a:tailEnd type="none" w="med" len="lg"/>
            </a:ln>
          </p:spPr>
        </p:sp>
        <p:sp>
          <p:nvSpPr>
            <p:cNvPr id="15541" name="WordArt 77"/>
            <p:cNvSpPr>
              <a:spLocks noTextEdit="1"/>
            </p:cNvSpPr>
            <p:nvPr/>
          </p:nvSpPr>
          <p:spPr>
            <a:xfrm>
              <a:off x="1488" y="1392"/>
              <a:ext cx="288" cy="2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2000" b="1" i="1">
                  <a:ln w="9525" cap="flat" cmpd="sng">
                    <a:solidFill>
                      <a:srgbClr val="FF99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99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5542" name="Line 78"/>
            <p:cNvSpPr/>
            <p:nvPr/>
          </p:nvSpPr>
          <p:spPr>
            <a:xfrm>
              <a:off x="3360" y="1536"/>
              <a:ext cx="672" cy="0"/>
            </a:xfrm>
            <a:prstGeom prst="line">
              <a:avLst/>
            </a:prstGeom>
            <a:ln w="76200" cap="flat" cmpd="sng">
              <a:solidFill>
                <a:srgbClr val="FF99FF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5543" name="WordArt 79"/>
            <p:cNvSpPr>
              <a:spLocks noTextEdit="1"/>
            </p:cNvSpPr>
            <p:nvPr/>
          </p:nvSpPr>
          <p:spPr>
            <a:xfrm>
              <a:off x="4032" y="1440"/>
              <a:ext cx="288" cy="2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2000" b="1" i="1">
                  <a:ln w="9525" cap="flat" cmpd="sng">
                    <a:solidFill>
                      <a:srgbClr val="FF99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99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24576" name="Group 80"/>
          <p:cNvGrpSpPr/>
          <p:nvPr/>
        </p:nvGrpSpPr>
        <p:grpSpPr>
          <a:xfrm>
            <a:off x="1739900" y="1866900"/>
            <a:ext cx="5737225" cy="1366838"/>
            <a:chOff x="770" y="482"/>
            <a:chExt cx="4270" cy="1054"/>
          </a:xfrm>
        </p:grpSpPr>
        <p:grpSp>
          <p:nvGrpSpPr>
            <p:cNvPr id="15545" name="Group 81"/>
            <p:cNvGrpSpPr/>
            <p:nvPr/>
          </p:nvGrpSpPr>
          <p:grpSpPr>
            <a:xfrm>
              <a:off x="770" y="576"/>
              <a:ext cx="4270" cy="960"/>
              <a:chOff x="770" y="576"/>
              <a:chExt cx="4270" cy="960"/>
            </a:xfrm>
          </p:grpSpPr>
          <p:sp>
            <p:nvSpPr>
              <p:cNvPr id="15546" name="Arc 82"/>
              <p:cNvSpPr/>
              <p:nvPr/>
            </p:nvSpPr>
            <p:spPr>
              <a:xfrm>
                <a:off x="770" y="576"/>
                <a:ext cx="1872" cy="9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22279" fill="none">
                    <a:moveTo>
                      <a:pt x="0" y="21616"/>
                    </a:moveTo>
                    <a:cubicBezTo>
                      <a:pt x="0" y="21611"/>
                      <a:pt x="0" y="2160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26"/>
                      <a:pt x="43196" y="22052"/>
                      <a:pt x="43189" y="22279"/>
                    </a:cubicBezTo>
                  </a:path>
                  <a:path w="43200" h="22279" stroke="0">
                    <a:moveTo>
                      <a:pt x="0" y="21616"/>
                    </a:moveTo>
                    <a:cubicBezTo>
                      <a:pt x="0" y="21611"/>
                      <a:pt x="0" y="2160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26"/>
                      <a:pt x="43196" y="22052"/>
                      <a:pt x="43189" y="22279"/>
                    </a:cubicBezTo>
                    <a:lnTo>
                      <a:pt x="21600" y="21600"/>
                    </a:lnTo>
                    <a:lnTo>
                      <a:pt x="0" y="21616"/>
                    </a:lnTo>
                    <a:close/>
                  </a:path>
                </a:pathLst>
              </a:custGeom>
              <a:noFill/>
              <a:ln w="57150" cap="flat" cmpd="sng">
                <a:solidFill>
                  <a:schemeClr val="bg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47" name="Arc 83"/>
              <p:cNvSpPr/>
              <p:nvPr/>
            </p:nvSpPr>
            <p:spPr>
              <a:xfrm>
                <a:off x="3168" y="624"/>
                <a:ext cx="1872" cy="9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21878" fill="none">
                    <a:moveTo>
                      <a:pt x="1" y="21878"/>
                    </a:moveTo>
                    <a:cubicBezTo>
                      <a:pt x="0" y="21785"/>
                      <a:pt x="0" y="2169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653"/>
                      <a:pt x="43199" y="21706"/>
                      <a:pt x="43199" y="21759"/>
                    </a:cubicBezTo>
                  </a:path>
                  <a:path w="43200" h="21878" stroke="0">
                    <a:moveTo>
                      <a:pt x="1" y="21878"/>
                    </a:moveTo>
                    <a:cubicBezTo>
                      <a:pt x="0" y="21785"/>
                      <a:pt x="0" y="2169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653"/>
                      <a:pt x="43199" y="21706"/>
                      <a:pt x="43199" y="21759"/>
                    </a:cubicBezTo>
                    <a:lnTo>
                      <a:pt x="21600" y="21600"/>
                    </a:lnTo>
                    <a:lnTo>
                      <a:pt x="1" y="21878"/>
                    </a:lnTo>
                    <a:close/>
                  </a:path>
                </a:pathLst>
              </a:custGeom>
              <a:noFill/>
              <a:ln w="57150" cap="flat" cmpd="sng">
                <a:solidFill>
                  <a:schemeClr val="bg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548" name="Arc 84"/>
            <p:cNvSpPr/>
            <p:nvPr/>
          </p:nvSpPr>
          <p:spPr>
            <a:xfrm>
              <a:off x="1462" y="482"/>
              <a:ext cx="404" cy="9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450" h="21600" fill="none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</a:path>
                <a:path w="8450" h="21600" stroke="0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  <a:lnTo>
                    <a:pt x="5067" y="21600"/>
                  </a:lnTo>
                  <a:lnTo>
                    <a:pt x="-1" y="602"/>
                  </a:lnTo>
                  <a:close/>
                </a:path>
              </a:pathLst>
            </a:custGeom>
            <a:noFill/>
            <a:ln w="57150" cap="flat" cmpd="sng">
              <a:solidFill>
                <a:schemeClr val="bg1"/>
              </a:solidFill>
              <a:prstDash val="sysDot"/>
              <a:round/>
              <a:headEnd type="triangle" w="sm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9" name="Arc 85"/>
            <p:cNvSpPr/>
            <p:nvPr/>
          </p:nvSpPr>
          <p:spPr>
            <a:xfrm>
              <a:off x="3840" y="528"/>
              <a:ext cx="404" cy="9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450" h="21600" fill="none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</a:path>
                <a:path w="8450" h="21600" stroke="0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  <a:lnTo>
                    <a:pt x="5067" y="21600"/>
                  </a:lnTo>
                  <a:lnTo>
                    <a:pt x="-1" y="602"/>
                  </a:lnTo>
                  <a:close/>
                </a:path>
              </a:pathLst>
            </a:custGeom>
            <a:noFill/>
            <a:ln w="57150" cap="flat" cmpd="sng">
              <a:solidFill>
                <a:schemeClr val="bg1"/>
              </a:solidFill>
              <a:prstDash val="sysDot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3" name="Group 86"/>
          <p:cNvGrpSpPr/>
          <p:nvPr/>
        </p:nvGrpSpPr>
        <p:grpSpPr>
          <a:xfrm>
            <a:off x="1736725" y="3171825"/>
            <a:ext cx="5740400" cy="1412875"/>
            <a:chOff x="768" y="1488"/>
            <a:chExt cx="4272" cy="1090"/>
          </a:xfrm>
        </p:grpSpPr>
        <p:grpSp>
          <p:nvGrpSpPr>
            <p:cNvPr id="15551" name="Group 87"/>
            <p:cNvGrpSpPr/>
            <p:nvPr/>
          </p:nvGrpSpPr>
          <p:grpSpPr>
            <a:xfrm>
              <a:off x="768" y="1488"/>
              <a:ext cx="4272" cy="1017"/>
              <a:chOff x="768" y="1488"/>
              <a:chExt cx="4272" cy="1017"/>
            </a:xfrm>
          </p:grpSpPr>
          <p:sp>
            <p:nvSpPr>
              <p:cNvPr id="15552" name="Arc 88"/>
              <p:cNvSpPr/>
              <p:nvPr/>
            </p:nvSpPr>
            <p:spPr>
              <a:xfrm rot="10781352">
                <a:off x="768" y="1488"/>
                <a:ext cx="1876" cy="9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199" h="21600" fill="none">
                    <a:moveTo>
                      <a:pt x="0" y="21551"/>
                    </a:moveTo>
                    <a:cubicBezTo>
                      <a:pt x="27" y="9640"/>
                      <a:pt x="9689" y="-1"/>
                      <a:pt x="21600" y="0"/>
                    </a:cubicBezTo>
                    <a:cubicBezTo>
                      <a:pt x="33466" y="0"/>
                      <a:pt x="43111" y="9573"/>
                      <a:pt x="43199" y="21439"/>
                    </a:cubicBezTo>
                  </a:path>
                  <a:path w="43199" h="21600" stroke="0">
                    <a:moveTo>
                      <a:pt x="0" y="21551"/>
                    </a:moveTo>
                    <a:cubicBezTo>
                      <a:pt x="27" y="9640"/>
                      <a:pt x="9689" y="-1"/>
                      <a:pt x="21600" y="0"/>
                    </a:cubicBezTo>
                    <a:cubicBezTo>
                      <a:pt x="33466" y="0"/>
                      <a:pt x="43111" y="9573"/>
                      <a:pt x="43199" y="21439"/>
                    </a:cubicBezTo>
                    <a:lnTo>
                      <a:pt x="21600" y="21600"/>
                    </a:lnTo>
                    <a:lnTo>
                      <a:pt x="0" y="21551"/>
                    </a:lnTo>
                    <a:close/>
                  </a:path>
                </a:pathLst>
              </a:custGeom>
              <a:noFill/>
              <a:ln w="57150" cap="flat" cmpd="sng">
                <a:solidFill>
                  <a:schemeClr val="bg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53" name="Arc 89"/>
              <p:cNvSpPr/>
              <p:nvPr/>
            </p:nvSpPr>
            <p:spPr>
              <a:xfrm rot="10728079">
                <a:off x="3168" y="1536"/>
                <a:ext cx="1872" cy="9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23267" fill="none">
                    <a:moveTo>
                      <a:pt x="38" y="22886"/>
                    </a:moveTo>
                    <a:cubicBezTo>
                      <a:pt x="12" y="22458"/>
                      <a:pt x="0" y="220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156"/>
                      <a:pt x="43178" y="22712"/>
                      <a:pt x="43135" y="23266"/>
                    </a:cubicBezTo>
                  </a:path>
                  <a:path w="43200" h="23267" stroke="0">
                    <a:moveTo>
                      <a:pt x="38" y="22886"/>
                    </a:moveTo>
                    <a:cubicBezTo>
                      <a:pt x="12" y="22458"/>
                      <a:pt x="0" y="220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156"/>
                      <a:pt x="43178" y="22712"/>
                      <a:pt x="43135" y="23266"/>
                    </a:cubicBezTo>
                    <a:lnTo>
                      <a:pt x="21600" y="21600"/>
                    </a:lnTo>
                    <a:lnTo>
                      <a:pt x="38" y="22886"/>
                    </a:lnTo>
                    <a:close/>
                  </a:path>
                </a:pathLst>
              </a:custGeom>
              <a:noFill/>
              <a:ln w="57150" cap="flat" cmpd="sng">
                <a:solidFill>
                  <a:schemeClr val="bg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554" name="Arc 90"/>
            <p:cNvSpPr/>
            <p:nvPr/>
          </p:nvSpPr>
          <p:spPr>
            <a:xfrm rot="-10782915">
              <a:off x="3888" y="1584"/>
              <a:ext cx="404" cy="9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450" h="21600" fill="none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</a:path>
                <a:path w="8450" h="21600" stroke="0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  <a:lnTo>
                    <a:pt x="5067" y="21600"/>
                  </a:lnTo>
                  <a:lnTo>
                    <a:pt x="-1" y="602"/>
                  </a:lnTo>
                  <a:close/>
                </a:path>
              </a:pathLst>
            </a:custGeom>
            <a:noFill/>
            <a:ln w="57150" cap="flat" cmpd="sng">
              <a:solidFill>
                <a:schemeClr val="bg1"/>
              </a:solidFill>
              <a:prstDash val="sysDot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5" name="Arc 91"/>
            <p:cNvSpPr/>
            <p:nvPr/>
          </p:nvSpPr>
          <p:spPr>
            <a:xfrm rot="-10737908">
              <a:off x="1488" y="1536"/>
              <a:ext cx="404" cy="9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450" h="21600" fill="none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</a:path>
                <a:path w="8450" h="21600" stroke="0">
                  <a:moveTo>
                    <a:pt x="-1" y="602"/>
                  </a:moveTo>
                  <a:cubicBezTo>
                    <a:pt x="1659" y="202"/>
                    <a:pt x="3360" y="-1"/>
                    <a:pt x="5067" y="0"/>
                  </a:cubicBezTo>
                  <a:cubicBezTo>
                    <a:pt x="6199" y="0"/>
                    <a:pt x="7331" y="89"/>
                    <a:pt x="8450" y="266"/>
                  </a:cubicBezTo>
                  <a:lnTo>
                    <a:pt x="5067" y="21600"/>
                  </a:lnTo>
                  <a:lnTo>
                    <a:pt x="-1" y="602"/>
                  </a:lnTo>
                  <a:close/>
                </a:path>
              </a:pathLst>
            </a:custGeom>
            <a:noFill/>
            <a:ln w="57150" cap="flat" cmpd="sng">
              <a:solidFill>
                <a:schemeClr val="bg1"/>
              </a:solidFill>
              <a:prstDash val="sysDot"/>
              <a:round/>
              <a:headEnd type="triangle" w="sm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6" name="Group 92"/>
          <p:cNvGrpSpPr/>
          <p:nvPr/>
        </p:nvGrpSpPr>
        <p:grpSpPr>
          <a:xfrm>
            <a:off x="4059238" y="3046413"/>
            <a:ext cx="1160462" cy="798512"/>
            <a:chOff x="2496" y="1392"/>
            <a:chExt cx="864" cy="616"/>
          </a:xfrm>
        </p:grpSpPr>
        <p:grpSp>
          <p:nvGrpSpPr>
            <p:cNvPr id="15557" name="Group 93"/>
            <p:cNvGrpSpPr/>
            <p:nvPr/>
          </p:nvGrpSpPr>
          <p:grpSpPr>
            <a:xfrm>
              <a:off x="2496" y="1392"/>
              <a:ext cx="336" cy="336"/>
              <a:chOff x="2496" y="1392"/>
              <a:chExt cx="336" cy="336"/>
            </a:xfrm>
          </p:grpSpPr>
          <p:sp>
            <p:nvSpPr>
              <p:cNvPr id="15558" name="Oval 94"/>
              <p:cNvSpPr/>
              <p:nvPr/>
            </p:nvSpPr>
            <p:spPr>
              <a:xfrm>
                <a:off x="2496" y="13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tx1"/>
                  </a:gs>
                </a:gsLst>
                <a:path path="rect">
                  <a:fillToRect r="100000" b="100000"/>
                </a:path>
                <a:tileRect/>
              </a:gradFill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59" name="WordArt 95"/>
              <p:cNvSpPr>
                <a:spLocks noTextEdit="1"/>
              </p:cNvSpPr>
              <p:nvPr/>
            </p:nvSpPr>
            <p:spPr>
              <a:xfrm>
                <a:off x="2544" y="1440"/>
                <a:ext cx="240" cy="2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508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</a:p>
            </p:txBody>
          </p:sp>
        </p:grpSp>
        <p:grpSp>
          <p:nvGrpSpPr>
            <p:cNvPr id="15560" name="Group 96"/>
            <p:cNvGrpSpPr/>
            <p:nvPr/>
          </p:nvGrpSpPr>
          <p:grpSpPr>
            <a:xfrm>
              <a:off x="3024" y="1392"/>
              <a:ext cx="336" cy="336"/>
              <a:chOff x="4560" y="864"/>
              <a:chExt cx="336" cy="336"/>
            </a:xfrm>
          </p:grpSpPr>
          <p:sp>
            <p:nvSpPr>
              <p:cNvPr id="15561" name="Oval 97"/>
              <p:cNvSpPr/>
              <p:nvPr/>
            </p:nvSpPr>
            <p:spPr>
              <a:xfrm>
                <a:off x="4560" y="86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  <a:tileRect/>
              </a:gradFill>
              <a:ln w="571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62" name="Rectangle 98"/>
              <p:cNvSpPr/>
              <p:nvPr/>
            </p:nvSpPr>
            <p:spPr>
              <a:xfrm>
                <a:off x="4608" y="1004"/>
                <a:ext cx="237" cy="5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563" name="WordArt 99"/>
            <p:cNvSpPr>
              <a:spLocks noTextEdit="1"/>
            </p:cNvSpPr>
            <p:nvPr/>
          </p:nvSpPr>
          <p:spPr>
            <a:xfrm>
              <a:off x="2640" y="1776"/>
              <a:ext cx="115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EAEAEA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EAEAEA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5564" name="WordArt 100"/>
            <p:cNvSpPr>
              <a:spLocks noTextEdit="1"/>
            </p:cNvSpPr>
            <p:nvPr/>
          </p:nvSpPr>
          <p:spPr>
            <a:xfrm>
              <a:off x="3024" y="1776"/>
              <a:ext cx="115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EAEAEA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EAEAEA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24589" name="Group 101"/>
          <p:cNvGrpSpPr/>
          <p:nvPr/>
        </p:nvGrpSpPr>
        <p:grpSpPr>
          <a:xfrm>
            <a:off x="3800475" y="2735263"/>
            <a:ext cx="1646238" cy="301625"/>
            <a:chOff x="2304" y="1152"/>
            <a:chExt cx="1225" cy="232"/>
          </a:xfrm>
        </p:grpSpPr>
        <p:sp>
          <p:nvSpPr>
            <p:cNvPr id="15566" name="WordArt 102"/>
            <p:cNvSpPr>
              <a:spLocks noTextEdit="1"/>
            </p:cNvSpPr>
            <p:nvPr/>
          </p:nvSpPr>
          <p:spPr>
            <a:xfrm>
              <a:off x="2304" y="1152"/>
              <a:ext cx="169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5567" name="WordArt 103"/>
            <p:cNvSpPr>
              <a:spLocks noTextEdit="1"/>
            </p:cNvSpPr>
            <p:nvPr/>
          </p:nvSpPr>
          <p:spPr>
            <a:xfrm>
              <a:off x="3360" y="1152"/>
              <a:ext cx="169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</a:p>
          </p:txBody>
        </p:sp>
      </p:grpSp>
      <p:grpSp>
        <p:nvGrpSpPr>
          <p:cNvPr id="24590" name="Group 104"/>
          <p:cNvGrpSpPr/>
          <p:nvPr/>
        </p:nvGrpSpPr>
        <p:grpSpPr>
          <a:xfrm>
            <a:off x="4144963" y="1560513"/>
            <a:ext cx="1052512" cy="1485900"/>
            <a:chOff x="2614" y="777"/>
            <a:chExt cx="663" cy="936"/>
          </a:xfrm>
        </p:grpSpPr>
        <p:sp>
          <p:nvSpPr>
            <p:cNvPr id="15569" name="Line 105"/>
            <p:cNvSpPr/>
            <p:nvPr/>
          </p:nvSpPr>
          <p:spPr>
            <a:xfrm flipV="1">
              <a:off x="3128" y="1007"/>
              <a:ext cx="0" cy="706"/>
            </a:xfrm>
            <a:prstGeom prst="line">
              <a:avLst/>
            </a:prstGeom>
            <a:ln w="76200" cap="flat" cmpd="sng">
              <a:solidFill>
                <a:srgbClr val="FFFF66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5570" name="Line 106"/>
            <p:cNvSpPr/>
            <p:nvPr/>
          </p:nvSpPr>
          <p:spPr>
            <a:xfrm flipV="1">
              <a:off x="2682" y="1007"/>
              <a:ext cx="0" cy="706"/>
            </a:xfrm>
            <a:prstGeom prst="line">
              <a:avLst/>
            </a:prstGeom>
            <a:ln w="76200" cap="flat" cmpd="sng">
              <a:solidFill>
                <a:srgbClr val="FFFF66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grpSp>
          <p:nvGrpSpPr>
            <p:cNvPr id="15571" name="Group 107"/>
            <p:cNvGrpSpPr/>
            <p:nvPr/>
          </p:nvGrpSpPr>
          <p:grpSpPr>
            <a:xfrm>
              <a:off x="2614" y="777"/>
              <a:ext cx="210" cy="212"/>
              <a:chOff x="2047" y="3260"/>
              <a:chExt cx="210" cy="212"/>
            </a:xfrm>
          </p:grpSpPr>
          <p:sp>
            <p:nvSpPr>
              <p:cNvPr id="15572" name="WordArt 108"/>
              <p:cNvSpPr>
                <a:spLocks noTextEdit="1"/>
              </p:cNvSpPr>
              <p:nvPr/>
            </p:nvSpPr>
            <p:spPr>
              <a:xfrm>
                <a:off x="2047" y="3260"/>
                <a:ext cx="161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28575" cap="flat" cmpd="sng">
                      <a:solidFill>
                        <a:srgbClr val="FF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FF66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15573" name="WordArt 109"/>
              <p:cNvSpPr>
                <a:spLocks noTextEdit="1"/>
              </p:cNvSpPr>
              <p:nvPr/>
            </p:nvSpPr>
            <p:spPr>
              <a:xfrm>
                <a:off x="2200" y="3397"/>
                <a:ext cx="57" cy="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28575" cap="flat" cmpd="sng">
                      <a:solidFill>
                        <a:srgbClr val="FF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FF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5574" name="Group 110"/>
            <p:cNvGrpSpPr/>
            <p:nvPr/>
          </p:nvGrpSpPr>
          <p:grpSpPr>
            <a:xfrm>
              <a:off x="3067" y="784"/>
              <a:ext cx="210" cy="212"/>
              <a:chOff x="2047" y="3260"/>
              <a:chExt cx="210" cy="212"/>
            </a:xfrm>
          </p:grpSpPr>
          <p:sp>
            <p:nvSpPr>
              <p:cNvPr id="15575" name="WordArt 111"/>
              <p:cNvSpPr>
                <a:spLocks noTextEdit="1"/>
              </p:cNvSpPr>
              <p:nvPr/>
            </p:nvSpPr>
            <p:spPr>
              <a:xfrm>
                <a:off x="2047" y="3260"/>
                <a:ext cx="161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28575" cap="flat" cmpd="sng">
                      <a:solidFill>
                        <a:srgbClr val="FF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FF66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15576" name="WordArt 112"/>
              <p:cNvSpPr>
                <a:spLocks noTextEdit="1"/>
              </p:cNvSpPr>
              <p:nvPr/>
            </p:nvSpPr>
            <p:spPr>
              <a:xfrm>
                <a:off x="2200" y="3397"/>
                <a:ext cx="57" cy="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28575" cap="flat" cmpd="sng">
                      <a:solidFill>
                        <a:srgbClr val="FF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FF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24593" name="Group 113"/>
          <p:cNvGrpSpPr/>
          <p:nvPr/>
        </p:nvGrpSpPr>
        <p:grpSpPr>
          <a:xfrm>
            <a:off x="2824163" y="3235325"/>
            <a:ext cx="3476625" cy="1147763"/>
            <a:chOff x="1782" y="1832"/>
            <a:chExt cx="2190" cy="723"/>
          </a:xfrm>
        </p:grpSpPr>
        <p:sp>
          <p:nvSpPr>
            <p:cNvPr id="15578" name="Line 114"/>
            <p:cNvSpPr/>
            <p:nvPr/>
          </p:nvSpPr>
          <p:spPr>
            <a:xfrm>
              <a:off x="1931" y="1833"/>
              <a:ext cx="154" cy="722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79" name="Line 115"/>
            <p:cNvSpPr/>
            <p:nvPr/>
          </p:nvSpPr>
          <p:spPr>
            <a:xfrm flipH="1">
              <a:off x="3641" y="1832"/>
              <a:ext cx="244" cy="713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80" name="WordArt 116"/>
            <p:cNvSpPr>
              <a:spLocks noTextEdit="1"/>
            </p:cNvSpPr>
            <p:nvPr/>
          </p:nvSpPr>
          <p:spPr>
            <a:xfrm>
              <a:off x="1782" y="2170"/>
              <a:ext cx="179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5581" name="WordArt 117"/>
            <p:cNvSpPr>
              <a:spLocks noTextEdit="1"/>
            </p:cNvSpPr>
            <p:nvPr/>
          </p:nvSpPr>
          <p:spPr>
            <a:xfrm>
              <a:off x="3793" y="2161"/>
              <a:ext cx="179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</p:grpSp>
      <p:grpSp>
        <p:nvGrpSpPr>
          <p:cNvPr id="24595" name="Group 178"/>
          <p:cNvGrpSpPr/>
          <p:nvPr/>
        </p:nvGrpSpPr>
        <p:grpSpPr>
          <a:xfrm>
            <a:off x="323850" y="657225"/>
            <a:ext cx="8640763" cy="544513"/>
            <a:chOff x="181" y="1298"/>
            <a:chExt cx="5443" cy="343"/>
          </a:xfrm>
        </p:grpSpPr>
        <p:sp>
          <p:nvSpPr>
            <p:cNvPr id="15583" name="Rectangle 18"/>
            <p:cNvSpPr/>
            <p:nvPr/>
          </p:nvSpPr>
          <p:spPr>
            <a:xfrm>
              <a:off x="181" y="1298"/>
              <a:ext cx="5443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设磁场  为均匀磁场，带电粒子（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）的初速度为   。     </a:t>
              </a:r>
            </a:p>
          </p:txBody>
        </p:sp>
        <p:graphicFrame>
          <p:nvGraphicFramePr>
            <p:cNvPr id="15584" name="Object 21"/>
            <p:cNvGraphicFramePr>
              <a:graphicFrameLocks noChangeAspect="1"/>
            </p:cNvGraphicFramePr>
            <p:nvPr/>
          </p:nvGraphicFramePr>
          <p:xfrm>
            <a:off x="1134" y="1321"/>
            <a:ext cx="19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2400" imgH="215900" progId="Equation.3">
                    <p:embed/>
                  </p:oleObj>
                </mc:Choice>
                <mc:Fallback>
                  <p:oleObj r:id="rId2" imgW="152400" imgH="2159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134" y="1321"/>
                          <a:ext cx="193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85" name="Object 72"/>
            <p:cNvGraphicFramePr>
              <a:graphicFrameLocks noChangeAspect="1"/>
            </p:cNvGraphicFramePr>
            <p:nvPr/>
          </p:nvGraphicFramePr>
          <p:xfrm>
            <a:off x="5012" y="1321"/>
            <a:ext cx="22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7000" imgH="177165" progId="Equation.3">
                    <p:embed/>
                  </p:oleObj>
                </mc:Choice>
                <mc:Fallback>
                  <p:oleObj r:id="rId4" imgW="127000" imgH="177165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12" y="1321"/>
                          <a:ext cx="229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14" name="Group 360"/>
          <p:cNvGrpSpPr/>
          <p:nvPr/>
        </p:nvGrpSpPr>
        <p:grpSpPr>
          <a:xfrm>
            <a:off x="503238" y="260350"/>
            <a:ext cx="3370262" cy="534988"/>
            <a:chOff x="249" y="909"/>
            <a:chExt cx="2123" cy="337"/>
          </a:xfrm>
        </p:grpSpPr>
        <p:grpSp>
          <p:nvGrpSpPr>
            <p:cNvPr id="15587" name="Group 174"/>
            <p:cNvGrpSpPr/>
            <p:nvPr/>
          </p:nvGrpSpPr>
          <p:grpSpPr>
            <a:xfrm>
              <a:off x="249" y="909"/>
              <a:ext cx="956" cy="337"/>
              <a:chOff x="249" y="932"/>
              <a:chExt cx="956" cy="337"/>
            </a:xfrm>
          </p:grpSpPr>
          <p:sp>
            <p:nvSpPr>
              <p:cNvPr id="15588" name="Text Box 16"/>
              <p:cNvSpPr txBox="1"/>
              <p:nvPr/>
            </p:nvSpPr>
            <p:spPr>
              <a:xfrm>
                <a:off x="249" y="955"/>
                <a:ext cx="38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CC0000"/>
                    </a:solidFill>
                    <a:latin typeface="楷体_GB2312" pitchFamily="49" charset="-122"/>
                    <a:ea typeface="楷体_GB2312" pitchFamily="49" charset="-122"/>
                  </a:rPr>
                  <a:t>2) </a:t>
                </a:r>
              </a:p>
            </p:txBody>
          </p:sp>
          <p:graphicFrame>
            <p:nvGraphicFramePr>
              <p:cNvPr id="15589" name="Object 172"/>
              <p:cNvGraphicFramePr>
                <a:graphicFrameLocks noChangeAspect="1"/>
              </p:cNvGraphicFramePr>
              <p:nvPr/>
            </p:nvGraphicFramePr>
            <p:xfrm>
              <a:off x="519" y="932"/>
              <a:ext cx="686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457200" imgH="241300" progId="Equation.3">
                      <p:embed/>
                    </p:oleObj>
                  </mc:Choice>
                  <mc:Fallback>
                    <p:oleObj r:id="rId6" imgW="457200" imgH="241300" progId="Equation.3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519" y="932"/>
                            <a:ext cx="686" cy="3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590" name="Text Box 359"/>
            <p:cNvSpPr txBox="1"/>
            <p:nvPr/>
          </p:nvSpPr>
          <p:spPr>
            <a:xfrm>
              <a:off x="1338" y="909"/>
              <a:ext cx="103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Verdana" panose="020B0604030504040204" pitchFamily="34" charset="0"/>
                  <a:ea typeface="宋体" panose="02010600030101010101" pitchFamily="2" charset="-122"/>
                </a:rPr>
                <a:t>圆周运动</a:t>
              </a:r>
            </a:p>
          </p:txBody>
        </p:sp>
      </p:grpSp>
      <p:grpSp>
        <p:nvGrpSpPr>
          <p:cNvPr id="3" name="Group 4"/>
          <p:cNvGrpSpPr/>
          <p:nvPr/>
        </p:nvGrpSpPr>
        <p:grpSpPr>
          <a:xfrm>
            <a:off x="474663" y="5807075"/>
            <a:ext cx="4021137" cy="815975"/>
            <a:chOff x="249" y="1321"/>
            <a:chExt cx="2533" cy="514"/>
          </a:xfrm>
        </p:grpSpPr>
        <p:graphicFrame>
          <p:nvGraphicFramePr>
            <p:cNvPr id="15592" name="Object 5"/>
            <p:cNvGraphicFramePr>
              <a:graphicFrameLocks noChangeAspect="1"/>
            </p:cNvGraphicFramePr>
            <p:nvPr/>
          </p:nvGraphicFramePr>
          <p:xfrm>
            <a:off x="2078" y="1321"/>
            <a:ext cx="704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20700" imgH="419100" progId="Equation.3">
                    <p:embed/>
                  </p:oleObj>
                </mc:Choice>
                <mc:Fallback>
                  <p:oleObj r:id="rId8" imgW="520700" imgH="4191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78" y="1321"/>
                          <a:ext cx="704" cy="51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93" name="Rectangle 6"/>
            <p:cNvSpPr/>
            <p:nvPr/>
          </p:nvSpPr>
          <p:spPr>
            <a:xfrm>
              <a:off x="249" y="1412"/>
              <a:ext cx="226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Verdana" panose="020B0604030504040204" pitchFamily="34" charset="0"/>
                  <a:ea typeface="楷体_GB2312" pitchFamily="49" charset="-122"/>
                </a:rPr>
                <a:t>粒子圆周运动的</a:t>
              </a:r>
              <a:r>
                <a:rPr lang="zh-CN" altLang="en-US" sz="2400" b="1" dirty="0">
                  <a:solidFill>
                    <a:srgbClr val="CC0000"/>
                  </a:solidFill>
                  <a:latin typeface="Verdana" panose="020B0604030504040204" pitchFamily="34" charset="0"/>
                  <a:ea typeface="楷体_GB2312" pitchFamily="49" charset="-122"/>
                </a:rPr>
                <a:t>半径</a:t>
              </a:r>
            </a:p>
          </p:txBody>
        </p:sp>
      </p:grpSp>
      <p:sp>
        <p:nvSpPr>
          <p:cNvPr id="141319" name="Rectangle 7"/>
          <p:cNvSpPr/>
          <p:nvPr/>
        </p:nvSpPr>
        <p:spPr>
          <a:xfrm>
            <a:off x="5651500" y="5121275"/>
            <a:ext cx="2976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粒子运动的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周期</a:t>
            </a:r>
          </a:p>
        </p:txBody>
      </p:sp>
      <p:graphicFrame>
        <p:nvGraphicFramePr>
          <p:cNvPr id="141320" name="Object 8"/>
          <p:cNvGraphicFramePr>
            <a:graphicFrameLocks noChangeAspect="1"/>
          </p:cNvGraphicFramePr>
          <p:nvPr/>
        </p:nvGraphicFramePr>
        <p:xfrm>
          <a:off x="5705475" y="5640388"/>
          <a:ext cx="273843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31265" imgH="431800" progId="Equation.3">
                  <p:embed/>
                </p:oleObj>
              </mc:Choice>
              <mc:Fallback>
                <p:oleObj r:id="rId10" imgW="1231265" imgH="431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05475" y="5640388"/>
                        <a:ext cx="2738438" cy="8794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10"/>
          <p:cNvGraphicFramePr>
            <a:graphicFrameLocks noChangeAspect="1"/>
          </p:cNvGraphicFramePr>
          <p:nvPr/>
        </p:nvGraphicFramePr>
        <p:xfrm>
          <a:off x="407988" y="5265738"/>
          <a:ext cx="14287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58800" imgH="203200" progId="Equation.3">
                  <p:embed/>
                </p:oleObj>
              </mc:Choice>
              <mc:Fallback>
                <p:oleObj r:id="rId12" imgW="558800" imgH="2032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7988" y="5265738"/>
                        <a:ext cx="142875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" name="Object 105"/>
          <p:cNvGraphicFramePr>
            <a:graphicFrameLocks noChangeAspect="1"/>
          </p:cNvGraphicFramePr>
          <p:nvPr/>
        </p:nvGraphicFramePr>
        <p:xfrm>
          <a:off x="3671888" y="4995863"/>
          <a:ext cx="13589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61365" imgH="431800" progId="Equation.3">
                  <p:embed/>
                </p:oleObj>
              </mc:Choice>
              <mc:Fallback>
                <p:oleObj r:id="rId14" imgW="761365" imgH="431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71888" y="4995863"/>
                        <a:ext cx="1358900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4" name="WordArt 106"/>
          <p:cNvSpPr>
            <a:spLocks noTextEdit="1"/>
          </p:cNvSpPr>
          <p:nvPr/>
        </p:nvSpPr>
        <p:spPr>
          <a:xfrm>
            <a:off x="2087563" y="5302250"/>
            <a:ext cx="1422400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40000"/>
          </a:bodyPr>
          <a:lstStyle/>
          <a:p>
            <a:pPr algn="ctr" fontAlgn="base"/>
            <a:r>
              <a:rPr lang="zh-CN" altLang="en-US" sz="3600" b="1" strike="noStrike" noProof="1">
                <a:ln w="952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由牛顿定律</a:t>
            </a:r>
            <a:endParaRPr lang="zh-CN" altLang="en-US" sz="3600" b="1" strike="noStrike" noProof="1">
              <a:ln w="952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9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9" grpId="0"/>
      <p:bldP spid="35944" grpId="0"/>
      <p:bldP spid="3594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360" y="332740"/>
            <a:ext cx="853313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课前测：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>
                <a:latin typeface="Times New Roman" panose="02020603050405020304" pitchFamily="18" charset="0"/>
                <a:sym typeface="+mn-ea"/>
              </a:rPr>
              <a:t>        </a:t>
            </a:r>
            <a:r>
              <a:rPr lang="en-US" altLang="zh-CN" sz="2800" b="1">
                <a:latin typeface="Times New Roman" panose="02020603050405020304" pitchFamily="18" charset="0"/>
                <a:sym typeface="+mn-ea"/>
              </a:rPr>
              <a:t>一电荷为</a:t>
            </a:r>
            <a:r>
              <a:rPr lang="en-US" altLang="zh-CN" sz="2800" b="1" i="1">
                <a:latin typeface="Times New Roman" panose="02020603050405020304" pitchFamily="18" charset="0"/>
                <a:sym typeface="+mn-ea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  <a:sym typeface="+mn-ea"/>
              </a:rPr>
              <a:t>的粒子在均匀磁场中运动，下列哪种说法是正确的？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+mn-ea"/>
              </a:rPr>
              <a:t>(A) 只要速度大小相同，粒子所受的洛伦兹力就相同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+mn-ea"/>
              </a:rPr>
              <a:t>(B) 在速度不变的前提下，若电荷q变为-q，则粒子受力反向，数值不变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+mn-ea"/>
              </a:rPr>
              <a:t>(C) 粒子进入磁场后，其动能和动量都不变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+mn-ea"/>
              </a:rPr>
              <a:t>(D) 洛伦兹力与速度方向垂直，所以带电粒子运动的轨迹必定是圆 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36010" y="587692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答案(B)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16386" name="Text Box 124"/>
          <p:cNvSpPr txBox="1"/>
          <p:nvPr/>
        </p:nvSpPr>
        <p:spPr>
          <a:xfrm>
            <a:off x="2124075" y="765175"/>
            <a:ext cx="55403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宋体" panose="02010600030101010101" pitchFamily="2" charset="-122"/>
              </a:rPr>
              <a:t>§12-1  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宋体" panose="02010600030101010101" pitchFamily="2" charset="-122"/>
              </a:rPr>
              <a:t>介质中的磁场</a:t>
            </a:r>
          </a:p>
        </p:txBody>
      </p:sp>
      <p:sp>
        <p:nvSpPr>
          <p:cNvPr id="16387" name="Text Box 2"/>
          <p:cNvSpPr txBox="1"/>
          <p:nvPr/>
        </p:nvSpPr>
        <p:spPr>
          <a:xfrm>
            <a:off x="179388" y="1341438"/>
            <a:ext cx="25558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宋体" panose="02010600030101010101" pitchFamily="2" charset="-122"/>
              </a:rPr>
              <a:t>、磁</a:t>
            </a:r>
            <a:r>
              <a:rPr lang="zh-CN" altLang="en-US" sz="2400" dirty="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介质的分类</a:t>
            </a:r>
          </a:p>
        </p:txBody>
      </p:sp>
      <p:sp>
        <p:nvSpPr>
          <p:cNvPr id="287767" name="Text Box 23"/>
          <p:cNvSpPr txBox="1"/>
          <p:nvPr/>
        </p:nvSpPr>
        <p:spPr>
          <a:xfrm>
            <a:off x="611188" y="1917700"/>
            <a:ext cx="67484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400" dirty="0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rPr>
              <a:t>顺磁质：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μ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略大于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B&gt;B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，铝、镁、锰等。</a:t>
            </a:r>
          </a:p>
        </p:txBody>
      </p:sp>
      <p:sp>
        <p:nvSpPr>
          <p:cNvPr id="287768" name="Rectangle 24"/>
          <p:cNvSpPr/>
          <p:nvPr/>
        </p:nvSpPr>
        <p:spPr>
          <a:xfrm>
            <a:off x="611188" y="2492375"/>
            <a:ext cx="651986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marL="469900" indent="-469900">
              <a:buClrTx/>
              <a:buFontTx/>
            </a:pPr>
            <a:r>
              <a:rPr lang="en-US" altLang="zh-CN" sz="2400" dirty="0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rPr>
              <a:t>抗磁质：</a:t>
            </a:r>
            <a:r>
              <a:rPr lang="zh-CN" altLang="en-US" sz="2400" dirty="0">
                <a:solidFill>
                  <a:srgbClr val="6600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μ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略小于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B&lt;B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 铜、金、银等。</a:t>
            </a:r>
          </a:p>
        </p:txBody>
      </p:sp>
      <p:sp>
        <p:nvSpPr>
          <p:cNvPr id="287769" name="Rectangle 25"/>
          <p:cNvSpPr/>
          <p:nvPr/>
        </p:nvSpPr>
        <p:spPr>
          <a:xfrm>
            <a:off x="323850" y="2997200"/>
            <a:ext cx="88296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69900" indent="-469900"/>
            <a:r>
              <a:rPr lang="en-US" altLang="zh-CN" sz="2400" dirty="0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rPr>
              <a:t>铁磁质：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μ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&gt;&gt;1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，且随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变化，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&gt;&gt;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，铁、钴、镍及其合金。</a:t>
            </a:r>
          </a:p>
        </p:txBody>
      </p:sp>
      <p:sp>
        <p:nvSpPr>
          <p:cNvPr id="12" name="文本框 35845"/>
          <p:cNvSpPr txBox="1"/>
          <p:nvPr/>
        </p:nvSpPr>
        <p:spPr>
          <a:xfrm>
            <a:off x="179388" y="3760788"/>
            <a:ext cx="24304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Tx/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磁场强度</a:t>
            </a:r>
          </a:p>
        </p:txBody>
      </p:sp>
      <p:graphicFrame>
        <p:nvGraphicFramePr>
          <p:cNvPr id="13" name="对象 35844"/>
          <p:cNvGraphicFramePr/>
          <p:nvPr/>
        </p:nvGraphicFramePr>
        <p:xfrm>
          <a:off x="2124075" y="3573463"/>
          <a:ext cx="14716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50265" imgH="495300" progId="Equation.3">
                  <p:embed/>
                </p:oleObj>
              </mc:Choice>
              <mc:Fallback>
                <p:oleObj r:id="rId2" imgW="850265" imgH="4953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24075" y="3573463"/>
                        <a:ext cx="1471613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84213" y="4576763"/>
            <a:ext cx="49990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对于各向同性的磁介质有实验规律</a:t>
            </a:r>
          </a:p>
        </p:txBody>
      </p:sp>
      <p:graphicFrame>
        <p:nvGraphicFramePr>
          <p:cNvPr id="3" name="对象 37891"/>
          <p:cNvGraphicFramePr/>
          <p:nvPr/>
        </p:nvGraphicFramePr>
        <p:xfrm>
          <a:off x="5508625" y="4494213"/>
          <a:ext cx="24193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241300" progId="Equation.3">
                  <p:embed/>
                </p:oleObj>
              </mc:Choice>
              <mc:Fallback>
                <p:oleObj r:id="rId4" imgW="914400" imgH="2413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08625" y="4494213"/>
                        <a:ext cx="2419350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7893"/>
          <p:cNvGraphicFramePr/>
          <p:nvPr/>
        </p:nvGraphicFramePr>
        <p:xfrm>
          <a:off x="3355975" y="5199063"/>
          <a:ext cx="20002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11200" imgH="254000" progId="Equation.3">
                  <p:embed/>
                </p:oleObj>
              </mc:Choice>
              <mc:Fallback>
                <p:oleObj r:id="rId6" imgW="711200" imgH="2540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55975" y="5199063"/>
                        <a:ext cx="2000250" cy="711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19"/>
          <p:cNvGrpSpPr/>
          <p:nvPr/>
        </p:nvGrpSpPr>
        <p:grpSpPr>
          <a:xfrm>
            <a:off x="611188" y="5289550"/>
            <a:ext cx="3332162" cy="474663"/>
            <a:chOff x="714348" y="3270909"/>
            <a:chExt cx="3406799" cy="474407"/>
          </a:xfrm>
        </p:grpSpPr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714348" y="3286130"/>
              <a:ext cx="3406799" cy="4591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  与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 的关系为</a:t>
              </a:r>
            </a:p>
          </p:txBody>
        </p:sp>
        <p:graphicFrame>
          <p:nvGraphicFramePr>
            <p:cNvPr id="16398" name="Object 5"/>
            <p:cNvGraphicFramePr>
              <a:graphicFrameLocks noChangeAspect="1"/>
            </p:cNvGraphicFramePr>
            <p:nvPr/>
          </p:nvGraphicFramePr>
          <p:xfrm>
            <a:off x="848962" y="3286130"/>
            <a:ext cx="428628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52400" imgH="203200" progId="Equation.3">
                    <p:embed/>
                  </p:oleObj>
                </mc:Choice>
                <mc:Fallback>
                  <p:oleObj r:id="rId8" imgW="152400" imgH="2032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48962" y="3286130"/>
                          <a:ext cx="428628" cy="4286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9" name="Object 6"/>
            <p:cNvGraphicFramePr>
              <a:graphicFrameLocks noChangeAspect="1"/>
            </p:cNvGraphicFramePr>
            <p:nvPr/>
          </p:nvGraphicFramePr>
          <p:xfrm>
            <a:off x="1569172" y="3270909"/>
            <a:ext cx="443748" cy="458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77800" imgH="203200" progId="Equation.3">
                    <p:embed/>
                  </p:oleObj>
                </mc:Choice>
                <mc:Fallback>
                  <p:oleObj r:id="rId10" imgW="177800" imgH="2032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569172" y="3270909"/>
                          <a:ext cx="443748" cy="4587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67" grpId="0"/>
      <p:bldP spid="287768" grpId="0"/>
      <p:bldP spid="287769" grpId="0"/>
      <p:bldP spid="12" grpId="0"/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99"/>
          <p:cNvSpPr txBox="1"/>
          <p:nvPr>
            <p:custDataLst>
              <p:tags r:id="rId1"/>
            </p:custDataLst>
          </p:nvPr>
        </p:nvSpPr>
        <p:spPr>
          <a:xfrm>
            <a:off x="467360" y="1071245"/>
            <a:ext cx="830389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磁介质有三种，用相对磁导率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表征它们各自的特性时，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顺磁质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&gt;0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，抗磁质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&lt;0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，铁磁质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&gt;&gt;1</a:t>
            </a:r>
          </a:p>
          <a:p>
            <a:pPr>
              <a:lnSpc>
                <a:spcPct val="20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顺磁质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，抗磁质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=1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，铁磁质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&gt;&gt;1</a:t>
            </a:r>
          </a:p>
          <a:p>
            <a:pPr>
              <a:lnSpc>
                <a:spcPct val="20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顺磁质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&gt;1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，抗磁质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&lt;1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，铁磁质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&gt;&gt;1</a:t>
            </a:r>
          </a:p>
          <a:p>
            <a:pPr>
              <a:lnSpc>
                <a:spcPct val="20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顺磁质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&lt;0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，抗磁质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&lt;1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，铁磁质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μ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r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&gt;0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文本框 2"/>
          <p:cNvSpPr txBox="1"/>
          <p:nvPr>
            <p:custDataLst>
              <p:tags r:id="rId2"/>
            </p:custDataLst>
          </p:nvPr>
        </p:nvSpPr>
        <p:spPr>
          <a:xfrm>
            <a:off x="7470140" y="3095625"/>
            <a:ext cx="7689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</a:p>
        </p:txBody>
      </p:sp>
      <p:sp>
        <p:nvSpPr>
          <p:cNvPr id="3077" name="文本框 4"/>
          <p:cNvSpPr txBox="1"/>
          <p:nvPr>
            <p:custDataLst>
              <p:tags r:id="rId3"/>
            </p:custDataLst>
          </p:nvPr>
        </p:nvSpPr>
        <p:spPr>
          <a:xfrm>
            <a:off x="467360" y="404495"/>
            <a:ext cx="6261735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课前测：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67585" y="227647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答案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graphicFrame>
        <p:nvGraphicFramePr>
          <p:cNvPr id="14" name="对象 36865"/>
          <p:cNvGraphicFramePr/>
          <p:nvPr/>
        </p:nvGraphicFramePr>
        <p:xfrm>
          <a:off x="3779838" y="939800"/>
          <a:ext cx="22669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77265" imgH="381000" progId="Equation.3">
                  <p:embed/>
                </p:oleObj>
              </mc:Choice>
              <mc:Fallback>
                <p:oleObj r:id="rId3" imgW="977265" imgH="3810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9838" y="939800"/>
                        <a:ext cx="2266950" cy="9779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79388" y="1150938"/>
            <a:ext cx="354965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、磁场的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安培环路定理</a:t>
            </a:r>
          </a:p>
        </p:txBody>
      </p:sp>
      <p:grpSp>
        <p:nvGrpSpPr>
          <p:cNvPr id="16" name="组合 36879"/>
          <p:cNvGrpSpPr/>
          <p:nvPr/>
        </p:nvGrpSpPr>
        <p:grpSpPr>
          <a:xfrm>
            <a:off x="395288" y="1917700"/>
            <a:ext cx="8505825" cy="1198563"/>
            <a:chOff x="237" y="1102"/>
            <a:chExt cx="7778" cy="1007"/>
          </a:xfrm>
        </p:grpSpPr>
        <p:sp>
          <p:nvSpPr>
            <p:cNvPr id="17" name="矩形 36876"/>
            <p:cNvSpPr>
              <a:spLocks noChangeArrowheads="1"/>
            </p:cNvSpPr>
            <p:nvPr/>
          </p:nvSpPr>
          <p:spPr bwMode="auto">
            <a:xfrm>
              <a:off x="237" y="1102"/>
              <a:ext cx="7778" cy="10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沿任一闭合路径   的环量等于此闭合路径环绕的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传导电流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的代数和。 </a:t>
              </a:r>
            </a:p>
          </p:txBody>
        </p:sp>
        <p:graphicFrame>
          <p:nvGraphicFramePr>
            <p:cNvPr id="17414" name="对象 36877"/>
            <p:cNvGraphicFramePr/>
            <p:nvPr/>
          </p:nvGraphicFramePr>
          <p:xfrm>
            <a:off x="2336" y="1215"/>
            <a:ext cx="27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77800" imgH="202565" progId="Equation.3">
                    <p:embed/>
                  </p:oleObj>
                </mc:Choice>
                <mc:Fallback>
                  <p:oleObj r:id="rId5" imgW="177800" imgH="20256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36" y="1215"/>
                          <a:ext cx="270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8060" name="Rectangle 12"/>
          <p:cNvSpPr/>
          <p:nvPr/>
        </p:nvSpPr>
        <p:spPr>
          <a:xfrm>
            <a:off x="403225" y="4192588"/>
            <a:ext cx="6164263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电流的正负：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电流的流向与回路绕向满足右手螺旋法则的电流为正，否则为负。</a:t>
            </a:r>
          </a:p>
        </p:txBody>
      </p:sp>
      <p:grpSp>
        <p:nvGrpSpPr>
          <p:cNvPr id="10" name="Group 19"/>
          <p:cNvGrpSpPr/>
          <p:nvPr/>
        </p:nvGrpSpPr>
        <p:grpSpPr>
          <a:xfrm>
            <a:off x="404813" y="3105150"/>
            <a:ext cx="6057900" cy="1198563"/>
            <a:chOff x="88" y="2465"/>
            <a:chExt cx="3524" cy="755"/>
          </a:xfrm>
        </p:grpSpPr>
        <p:sp>
          <p:nvSpPr>
            <p:cNvPr id="17417" name="Rectangle 10"/>
            <p:cNvSpPr/>
            <p:nvPr/>
          </p:nvSpPr>
          <p:spPr>
            <a:xfrm>
              <a:off x="88" y="2465"/>
              <a:ext cx="3524" cy="7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arenR"/>
              </a:pP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     只是闭合环路所</a:t>
              </a:r>
              <a:r>
                <a:rPr lang="zh-CN" altLang="en-US" sz="2400" b="1" dirty="0">
                  <a:solidFill>
                    <a:srgbClr val="1C1C1C"/>
                  </a:solidFill>
                  <a:latin typeface="楷体_GB2312" pitchFamily="49" charset="-122"/>
                  <a:ea typeface="楷体_GB2312" pitchFamily="49" charset="-122"/>
                </a:rPr>
                <a:t>环绕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的传导电流电流的代数和</a:t>
              </a:r>
            </a:p>
          </p:txBody>
        </p:sp>
        <p:graphicFrame>
          <p:nvGraphicFramePr>
            <p:cNvPr id="17418" name="Object 16"/>
            <p:cNvGraphicFramePr>
              <a:graphicFrameLocks noChangeAspect="1"/>
            </p:cNvGraphicFramePr>
            <p:nvPr/>
          </p:nvGraphicFramePr>
          <p:xfrm>
            <a:off x="402" y="2569"/>
            <a:ext cx="39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81000" imgH="254000" progId="Equation.DSMT4">
                    <p:embed/>
                  </p:oleObj>
                </mc:Choice>
                <mc:Fallback>
                  <p:oleObj r:id="rId7" imgW="381000" imgH="2540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2" y="2569"/>
                          <a:ext cx="390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7165975" y="3176588"/>
            <a:ext cx="1712913" cy="2193925"/>
            <a:chOff x="9879" y="3769"/>
            <a:chExt cx="4350" cy="6081"/>
          </a:xfrm>
        </p:grpSpPr>
        <p:grpSp>
          <p:nvGrpSpPr>
            <p:cNvPr id="17420" name="Group 28"/>
            <p:cNvGrpSpPr/>
            <p:nvPr/>
          </p:nvGrpSpPr>
          <p:grpSpPr>
            <a:xfrm rot="-600000">
              <a:off x="11138" y="3769"/>
              <a:ext cx="1942" cy="2262"/>
              <a:chOff x="4080" y="921"/>
              <a:chExt cx="777" cy="905"/>
            </a:xfrm>
          </p:grpSpPr>
          <p:pic>
            <p:nvPicPr>
              <p:cNvPr id="17421" name="Picture 29" descr="wltx1"/>
              <p:cNvPicPr preferRelativeResize="0"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4245" y="921"/>
                <a:ext cx="612" cy="90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</p:pic>
          <p:sp>
            <p:nvSpPr>
              <p:cNvPr id="17422" name="AutoShape 30"/>
              <p:cNvSpPr/>
              <p:nvPr/>
            </p:nvSpPr>
            <p:spPr>
              <a:xfrm>
                <a:off x="4080" y="960"/>
                <a:ext cx="192" cy="336"/>
              </a:xfrm>
              <a:prstGeom prst="curvedRightArrow">
                <a:avLst>
                  <a:gd name="adj1" fmla="val 35000"/>
                  <a:gd name="adj2" fmla="val 70000"/>
                  <a:gd name="adj3" fmla="val 33277"/>
                </a:avLst>
              </a:prstGeom>
              <a:solidFill>
                <a:schemeClr val="folHlink"/>
              </a:solidFill>
              <a:ln w="28575" cap="flat" cmpd="sng">
                <a:solidFill>
                  <a:srgbClr val="D60093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</a:pPr>
                <a:endParaRPr lang="zh-CN" altLang="en-US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7423" name="Group 6"/>
            <p:cNvGrpSpPr/>
            <p:nvPr/>
          </p:nvGrpSpPr>
          <p:grpSpPr>
            <a:xfrm>
              <a:off x="9879" y="5910"/>
              <a:ext cx="4350" cy="3940"/>
              <a:chOff x="1746" y="893"/>
              <a:chExt cx="2176" cy="1814"/>
            </a:xfrm>
          </p:grpSpPr>
          <p:sp>
            <p:nvSpPr>
              <p:cNvPr id="17424" name="Oval 7"/>
              <p:cNvSpPr/>
              <p:nvPr/>
            </p:nvSpPr>
            <p:spPr>
              <a:xfrm>
                <a:off x="2190" y="1319"/>
                <a:ext cx="1350" cy="668"/>
              </a:xfrm>
              <a:prstGeom prst="ellipse">
                <a:avLst/>
              </a:prstGeom>
              <a:solidFill>
                <a:srgbClr val="CDEBFF">
                  <a:alpha val="50194"/>
                </a:srgbClr>
              </a:solidFill>
              <a:ln w="38100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25" name="Line 10"/>
              <p:cNvSpPr/>
              <p:nvPr/>
            </p:nvSpPr>
            <p:spPr>
              <a:xfrm>
                <a:off x="2489" y="1981"/>
                <a:ext cx="0" cy="535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olid"/>
                <a:round/>
                <a:headEnd type="none" w="sm" len="lg"/>
                <a:tailEnd type="triangle" w="sm" len="lg"/>
              </a:ln>
            </p:spPr>
          </p:sp>
          <p:sp>
            <p:nvSpPr>
              <p:cNvPr id="17426" name="Line 12"/>
              <p:cNvSpPr/>
              <p:nvPr/>
            </p:nvSpPr>
            <p:spPr>
              <a:xfrm>
                <a:off x="2489" y="2484"/>
                <a:ext cx="0" cy="223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7427" name="Freeform 13"/>
              <p:cNvSpPr/>
              <p:nvPr/>
            </p:nvSpPr>
            <p:spPr>
              <a:xfrm>
                <a:off x="3280" y="938"/>
                <a:ext cx="181" cy="802"/>
              </a:xfrm>
              <a:custGeom>
                <a:avLst/>
                <a:gdLst/>
                <a:ahLst/>
                <a:cxnLst>
                  <a:cxn ang="0">
                    <a:pos x="74" y="0"/>
                  </a:cxn>
                  <a:cxn ang="0">
                    <a:pos x="39" y="45"/>
                  </a:cxn>
                  <a:cxn ang="0">
                    <a:pos x="21" y="91"/>
                  </a:cxn>
                  <a:cxn ang="0">
                    <a:pos x="5" y="182"/>
                  </a:cxn>
                  <a:cxn ang="0">
                    <a:pos x="5" y="251"/>
                  </a:cxn>
                  <a:cxn ang="0">
                    <a:pos x="21" y="409"/>
                  </a:cxn>
                </a:cxnLst>
                <a:rect l="0" t="0" r="0" b="0"/>
                <a:pathLst>
                  <a:path w="200" h="864">
                    <a:moveTo>
                      <a:pt x="200" y="0"/>
                    </a:moveTo>
                    <a:cubicBezTo>
                      <a:pt x="164" y="32"/>
                      <a:pt x="128" y="64"/>
                      <a:pt x="104" y="96"/>
                    </a:cubicBezTo>
                    <a:cubicBezTo>
                      <a:pt x="80" y="128"/>
                      <a:pt x="72" y="144"/>
                      <a:pt x="56" y="192"/>
                    </a:cubicBezTo>
                    <a:cubicBezTo>
                      <a:pt x="40" y="240"/>
                      <a:pt x="16" y="328"/>
                      <a:pt x="8" y="384"/>
                    </a:cubicBezTo>
                    <a:cubicBezTo>
                      <a:pt x="0" y="440"/>
                      <a:pt x="0" y="448"/>
                      <a:pt x="8" y="528"/>
                    </a:cubicBezTo>
                    <a:cubicBezTo>
                      <a:pt x="16" y="608"/>
                      <a:pt x="48" y="808"/>
                      <a:pt x="56" y="864"/>
                    </a:cubicBezTo>
                  </a:path>
                </a:pathLst>
              </a:custGeom>
              <a:noFill/>
              <a:ln w="38100" cap="flat" cmpd="sng">
                <a:solidFill>
                  <a:srgbClr val="CC00CC"/>
                </a:solidFill>
                <a:prstDash val="solid"/>
                <a:round/>
                <a:headEnd type="arrow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8" name="Freeform 14"/>
              <p:cNvSpPr/>
              <p:nvPr/>
            </p:nvSpPr>
            <p:spPr>
              <a:xfrm>
                <a:off x="3331" y="1918"/>
                <a:ext cx="50" cy="40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61"/>
                  </a:cxn>
                  <a:cxn ang="0">
                    <a:pos x="15" y="205"/>
                  </a:cxn>
                </a:cxnLst>
                <a:rect l="0" t="0" r="0" b="0"/>
                <a:pathLst>
                  <a:path w="56" h="432">
                    <a:moveTo>
                      <a:pt x="0" y="0"/>
                    </a:moveTo>
                    <a:cubicBezTo>
                      <a:pt x="20" y="132"/>
                      <a:pt x="40" y="264"/>
                      <a:pt x="48" y="336"/>
                    </a:cubicBezTo>
                    <a:cubicBezTo>
                      <a:pt x="56" y="408"/>
                      <a:pt x="48" y="416"/>
                      <a:pt x="48" y="432"/>
                    </a:cubicBezTo>
                  </a:path>
                </a:pathLst>
              </a:custGeom>
              <a:noFill/>
              <a:ln w="38100" cap="flat" cmpd="sng">
                <a:solidFill>
                  <a:srgbClr val="CC00CC"/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9" name="Line 15"/>
              <p:cNvSpPr/>
              <p:nvPr/>
            </p:nvSpPr>
            <p:spPr>
              <a:xfrm>
                <a:off x="3374" y="2319"/>
                <a:ext cx="0" cy="223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7430" name="Freeform 16"/>
              <p:cNvSpPr/>
              <p:nvPr/>
            </p:nvSpPr>
            <p:spPr>
              <a:xfrm>
                <a:off x="3658" y="1071"/>
                <a:ext cx="152" cy="1204"/>
              </a:xfrm>
              <a:custGeom>
                <a:avLst/>
                <a:gdLst/>
                <a:ahLst/>
                <a:cxnLst>
                  <a:cxn ang="0">
                    <a:pos x="152" y="0"/>
                  </a:cxn>
                  <a:cxn ang="0">
                    <a:pos x="65" y="223"/>
                  </a:cxn>
                  <a:cxn ang="0">
                    <a:pos x="24" y="478"/>
                  </a:cxn>
                  <a:cxn ang="0">
                    <a:pos x="0" y="814"/>
                  </a:cxn>
                  <a:cxn ang="0">
                    <a:pos x="21" y="1115"/>
                  </a:cxn>
                  <a:cxn ang="0">
                    <a:pos x="65" y="1204"/>
                  </a:cxn>
                </a:cxnLst>
                <a:rect l="0" t="0" r="0" b="0"/>
                <a:pathLst>
                  <a:path w="152" h="1204">
                    <a:moveTo>
                      <a:pt x="152" y="0"/>
                    </a:moveTo>
                    <a:cubicBezTo>
                      <a:pt x="116" y="78"/>
                      <a:pt x="86" y="143"/>
                      <a:pt x="65" y="223"/>
                    </a:cubicBezTo>
                    <a:cubicBezTo>
                      <a:pt x="44" y="303"/>
                      <a:pt x="35" y="380"/>
                      <a:pt x="24" y="478"/>
                    </a:cubicBezTo>
                    <a:cubicBezTo>
                      <a:pt x="13" y="576"/>
                      <a:pt x="0" y="708"/>
                      <a:pt x="0" y="814"/>
                    </a:cubicBezTo>
                    <a:cubicBezTo>
                      <a:pt x="0" y="920"/>
                      <a:pt x="10" y="1050"/>
                      <a:pt x="21" y="1115"/>
                    </a:cubicBezTo>
                    <a:cubicBezTo>
                      <a:pt x="32" y="1180"/>
                      <a:pt x="58" y="1189"/>
                      <a:pt x="65" y="1204"/>
                    </a:cubicBezTo>
                  </a:path>
                </a:pathLst>
              </a:custGeom>
              <a:noFill/>
              <a:ln w="38100" cap="flat" cmpd="sng">
                <a:solidFill>
                  <a:srgbClr val="CC00CC"/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1" name="Line 17"/>
              <p:cNvSpPr/>
              <p:nvPr/>
            </p:nvSpPr>
            <p:spPr>
              <a:xfrm>
                <a:off x="3722" y="2275"/>
                <a:ext cx="131" cy="178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7432" name="Line 18"/>
              <p:cNvSpPr/>
              <p:nvPr/>
            </p:nvSpPr>
            <p:spPr>
              <a:xfrm flipV="1">
                <a:off x="3810" y="938"/>
                <a:ext cx="87" cy="133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7433" name="Line 19"/>
              <p:cNvSpPr/>
              <p:nvPr/>
            </p:nvSpPr>
            <p:spPr>
              <a:xfrm flipV="1">
                <a:off x="3461" y="893"/>
                <a:ext cx="131" cy="45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round/>
                <a:headEnd type="none" w="sm" len="lg"/>
                <a:tailEnd type="none" w="sm" len="lg"/>
              </a:ln>
            </p:spPr>
          </p:sp>
          <p:sp>
            <p:nvSpPr>
              <p:cNvPr id="17434" name="Line 20"/>
              <p:cNvSpPr/>
              <p:nvPr/>
            </p:nvSpPr>
            <p:spPr>
              <a:xfrm>
                <a:off x="2659" y="1997"/>
                <a:ext cx="151" cy="1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sm" len="lg"/>
                <a:tailEnd type="arrow" w="med" len="med"/>
              </a:ln>
            </p:spPr>
          </p:sp>
          <p:graphicFrame>
            <p:nvGraphicFramePr>
              <p:cNvPr id="17435" name="Object 21"/>
              <p:cNvGraphicFramePr>
                <a:graphicFrameLocks noChangeAspect="1"/>
              </p:cNvGraphicFramePr>
              <p:nvPr/>
            </p:nvGraphicFramePr>
            <p:xfrm>
              <a:off x="3674" y="1229"/>
              <a:ext cx="248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52400" imgH="228600" progId="Equation.3">
                      <p:embed/>
                    </p:oleObj>
                  </mc:Choice>
                  <mc:Fallback>
                    <p:oleObj r:id="rId10" imgW="152400" imgH="228600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3674" y="1229"/>
                            <a:ext cx="248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6" name="Object 22"/>
              <p:cNvGraphicFramePr>
                <a:graphicFrameLocks noChangeAspect="1"/>
              </p:cNvGraphicFramePr>
              <p:nvPr/>
            </p:nvGraphicFramePr>
            <p:xfrm>
              <a:off x="3290" y="1133"/>
              <a:ext cx="284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65100" imgH="215900" progId="Equation.3">
                      <p:embed/>
                    </p:oleObj>
                  </mc:Choice>
                  <mc:Fallback>
                    <p:oleObj r:id="rId12" imgW="165100" imgH="215900" progId="Equation.3">
                      <p:embed/>
                      <p:pic>
                        <p:nvPicPr>
                          <p:cNvPr id="0" name="图片 3099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3290" y="1133"/>
                            <a:ext cx="284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7" name="Object 23"/>
              <p:cNvGraphicFramePr>
                <a:graphicFrameLocks noChangeAspect="1"/>
              </p:cNvGraphicFramePr>
              <p:nvPr/>
            </p:nvGraphicFramePr>
            <p:xfrm>
              <a:off x="1746" y="1480"/>
              <a:ext cx="244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39700" imgH="215900" progId="Equation.3">
                      <p:embed/>
                    </p:oleObj>
                  </mc:Choice>
                  <mc:Fallback>
                    <p:oleObj r:id="rId14" imgW="139700" imgH="215900" progId="Equation.3">
                      <p:embed/>
                      <p:pic>
                        <p:nvPicPr>
                          <p:cNvPr id="0" name="图片 3104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1746" y="1480"/>
                            <a:ext cx="244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8" name="Object 24"/>
              <p:cNvGraphicFramePr>
                <a:graphicFrameLocks noChangeAspect="1"/>
              </p:cNvGraphicFramePr>
              <p:nvPr/>
            </p:nvGraphicFramePr>
            <p:xfrm>
              <a:off x="2810" y="1757"/>
              <a:ext cx="20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90500" imgH="228600" progId="Equation.3">
                      <p:embed/>
                    </p:oleObj>
                  </mc:Choice>
                  <mc:Fallback>
                    <p:oleObj r:id="rId16" imgW="190500" imgH="228600" progId="Equation.3">
                      <p:embed/>
                      <p:pic>
                        <p:nvPicPr>
                          <p:cNvPr id="0" name="图片 3098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810" y="1757"/>
                            <a:ext cx="200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9" name="Object 25"/>
              <p:cNvGraphicFramePr>
                <a:graphicFrameLocks noChangeAspect="1"/>
              </p:cNvGraphicFramePr>
              <p:nvPr/>
            </p:nvGraphicFramePr>
            <p:xfrm>
              <a:off x="2566" y="2275"/>
              <a:ext cx="244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39700" imgH="215900" progId="Equation.3">
                      <p:embed/>
                    </p:oleObj>
                  </mc:Choice>
                  <mc:Fallback>
                    <p:oleObj r:id="rId14" imgW="139700" imgH="215900" progId="Equation.3">
                      <p:embed/>
                      <p:pic>
                        <p:nvPicPr>
                          <p:cNvPr id="0" name="图片 3101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2566" y="2275"/>
                            <a:ext cx="244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440" name="Freeform 13"/>
            <p:cNvSpPr/>
            <p:nvPr/>
          </p:nvSpPr>
          <p:spPr>
            <a:xfrm>
              <a:off x="11183" y="6092"/>
              <a:ext cx="361" cy="174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39" y="45"/>
                </a:cxn>
                <a:cxn ang="0">
                  <a:pos x="21" y="91"/>
                </a:cxn>
                <a:cxn ang="0">
                  <a:pos x="5" y="182"/>
                </a:cxn>
                <a:cxn ang="0">
                  <a:pos x="5" y="251"/>
                </a:cxn>
                <a:cxn ang="0">
                  <a:pos x="21" y="409"/>
                </a:cxn>
              </a:cxnLst>
              <a:rect l="0" t="0" r="0" b="0"/>
              <a:pathLst>
                <a:path w="200" h="864">
                  <a:moveTo>
                    <a:pt x="200" y="0"/>
                  </a:moveTo>
                  <a:cubicBezTo>
                    <a:pt x="164" y="32"/>
                    <a:pt x="128" y="64"/>
                    <a:pt x="104" y="96"/>
                  </a:cubicBezTo>
                  <a:cubicBezTo>
                    <a:pt x="80" y="128"/>
                    <a:pt x="72" y="144"/>
                    <a:pt x="56" y="192"/>
                  </a:cubicBezTo>
                  <a:cubicBezTo>
                    <a:pt x="40" y="240"/>
                    <a:pt x="16" y="328"/>
                    <a:pt x="8" y="384"/>
                  </a:cubicBezTo>
                  <a:cubicBezTo>
                    <a:pt x="0" y="440"/>
                    <a:pt x="0" y="448"/>
                    <a:pt x="8" y="528"/>
                  </a:cubicBezTo>
                  <a:cubicBezTo>
                    <a:pt x="16" y="608"/>
                    <a:pt x="48" y="808"/>
                    <a:pt x="56" y="864"/>
                  </a:cubicBezTo>
                </a:path>
              </a:pathLst>
            </a:custGeom>
            <a:noFill/>
            <a:ln w="38100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806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graphicFrame>
        <p:nvGraphicFramePr>
          <p:cNvPr id="10" name="对象 34826"/>
          <p:cNvGraphicFramePr/>
          <p:nvPr/>
        </p:nvGraphicFramePr>
        <p:xfrm>
          <a:off x="971550" y="2673350"/>
          <a:ext cx="404336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63700" imgH="482600" progId="Equation.3">
                  <p:embed/>
                </p:oleObj>
              </mc:Choice>
              <mc:Fallback>
                <p:oleObj r:id="rId2" imgW="1663700" imgH="482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1550" y="2673350"/>
                        <a:ext cx="4043363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4826"/>
          <p:cNvGraphicFramePr/>
          <p:nvPr/>
        </p:nvGraphicFramePr>
        <p:xfrm>
          <a:off x="971550" y="1711325"/>
          <a:ext cx="24320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8700" imgH="368300" progId="Equation.3">
                  <p:embed/>
                </p:oleObj>
              </mc:Choice>
              <mc:Fallback>
                <p:oleObj r:id="rId4" imgW="1028700" imgH="3683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1550" y="1711325"/>
                        <a:ext cx="2432050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36865"/>
          <p:cNvGraphicFramePr/>
          <p:nvPr/>
        </p:nvGraphicFramePr>
        <p:xfrm>
          <a:off x="971550" y="4005263"/>
          <a:ext cx="207486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77265" imgH="381000" progId="Equation.3">
                  <p:embed/>
                </p:oleObj>
              </mc:Choice>
              <mc:Fallback>
                <p:oleObj r:id="rId6" imgW="977265" imgH="3810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1550" y="4005263"/>
                        <a:ext cx="2074863" cy="7175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6" name="文本框 289795"/>
          <p:cNvSpPr txBox="1"/>
          <p:nvPr/>
        </p:nvSpPr>
        <p:spPr>
          <a:xfrm>
            <a:off x="107950" y="981075"/>
            <a:ext cx="56816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、磁场安培环路定理的三种等价形式</a:t>
            </a:r>
          </a:p>
        </p:txBody>
      </p:sp>
      <p:sp>
        <p:nvSpPr>
          <p:cNvPr id="18438" name="矩形 8"/>
          <p:cNvSpPr/>
          <p:nvPr/>
        </p:nvSpPr>
        <p:spPr>
          <a:xfrm>
            <a:off x="5580063" y="2533650"/>
            <a:ext cx="3235325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形式不同，但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等价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的。适用于任何稳恒磁场（包括真空中和介质中）</a:t>
            </a:r>
          </a:p>
        </p:txBody>
      </p:sp>
      <p:sp>
        <p:nvSpPr>
          <p:cNvPr id="18439" name="右大括号 7"/>
          <p:cNvSpPr/>
          <p:nvPr/>
        </p:nvSpPr>
        <p:spPr>
          <a:xfrm>
            <a:off x="5135563" y="1711325"/>
            <a:ext cx="323850" cy="2836863"/>
          </a:xfrm>
          <a:prstGeom prst="rightBrace">
            <a:avLst>
              <a:gd name="adj1" fmla="val 8151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/>
      <p:bldP spid="28979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框 3"/>
          <p:cNvSpPr txBox="1"/>
          <p:nvPr>
            <p:custDataLst>
              <p:tags r:id="rId1"/>
            </p:custDataLst>
          </p:nvPr>
        </p:nvSpPr>
        <p:spPr>
          <a:xfrm>
            <a:off x="467360" y="620395"/>
            <a:ext cx="823722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讨论题：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9750" y="1421765"/>
            <a:ext cx="80645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如图，流出纸面的电流为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，流进纸面的电流为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，图中不同回路，磁场强度的环流各为多少？</a:t>
            </a:r>
          </a:p>
        </p:txBody>
      </p:sp>
      <p:pic>
        <p:nvPicPr>
          <p:cNvPr id="29701" name="Picture 2" descr="IMAGE000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rcRect l="9323" t="45000" r="35187"/>
          <a:stretch>
            <a:fillRect/>
          </a:stretch>
        </p:blipFill>
        <p:spPr>
          <a:xfrm>
            <a:off x="2051745" y="3212783"/>
            <a:ext cx="4931668" cy="24726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文本框 8"/>
          <p:cNvSpPr txBox="1"/>
          <p:nvPr/>
        </p:nvSpPr>
        <p:spPr>
          <a:xfrm>
            <a:off x="538163" y="476250"/>
            <a:ext cx="798036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11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章、第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458" name="文本框 8"/>
          <p:cNvSpPr txBox="1"/>
          <p:nvPr/>
        </p:nvSpPr>
        <p:spPr>
          <a:xfrm>
            <a:off x="1187450" y="3334703"/>
            <a:ext cx="609282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下面复习第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11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章、第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章的计算题</a:t>
            </a:r>
          </a:p>
        </p:txBody>
      </p:sp>
      <p:sp>
        <p:nvSpPr>
          <p:cNvPr id="19459" name="文本框 2"/>
          <p:cNvSpPr txBox="1"/>
          <p:nvPr/>
        </p:nvSpPr>
        <p:spPr>
          <a:xfrm>
            <a:off x="415925" y="1428750"/>
            <a:ext cx="822642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、课前测、讨论题、课件图片题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、课件例题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、各节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QQ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群中发布的补充作业（此补充作业在智慧树平台中也有）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文本框 8"/>
          <p:cNvSpPr txBox="1"/>
          <p:nvPr/>
        </p:nvSpPr>
        <p:spPr>
          <a:xfrm>
            <a:off x="323850" y="4192588"/>
            <a:ext cx="42481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本部分计算题常见的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个考点：</a:t>
            </a:r>
          </a:p>
        </p:txBody>
      </p:sp>
      <p:sp>
        <p:nvSpPr>
          <p:cNvPr id="19461" name="文本框 8"/>
          <p:cNvSpPr txBox="1"/>
          <p:nvPr/>
        </p:nvSpPr>
        <p:spPr>
          <a:xfrm>
            <a:off x="611188" y="4764088"/>
            <a:ext cx="35639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、磁场叠加原理求磁场</a:t>
            </a:r>
          </a:p>
        </p:txBody>
      </p:sp>
      <p:sp>
        <p:nvSpPr>
          <p:cNvPr id="19462" name="文本框 8"/>
          <p:cNvSpPr txBox="1"/>
          <p:nvPr/>
        </p:nvSpPr>
        <p:spPr>
          <a:xfrm>
            <a:off x="611188" y="5284788"/>
            <a:ext cx="21844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、求磁通量</a:t>
            </a:r>
          </a:p>
        </p:txBody>
      </p:sp>
      <p:sp>
        <p:nvSpPr>
          <p:cNvPr id="19463" name="文本框 8"/>
          <p:cNvSpPr txBox="1"/>
          <p:nvPr/>
        </p:nvSpPr>
        <p:spPr>
          <a:xfrm>
            <a:off x="611188" y="5805488"/>
            <a:ext cx="24018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、求安培力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组合 23"/>
          <p:cNvGrpSpPr/>
          <p:nvPr/>
        </p:nvGrpSpPr>
        <p:grpSpPr>
          <a:xfrm>
            <a:off x="42863" y="171450"/>
            <a:ext cx="8299450" cy="881063"/>
            <a:chOff x="-78" y="389"/>
            <a:chExt cx="13072" cy="1389"/>
          </a:xfrm>
        </p:grpSpPr>
        <p:sp>
          <p:nvSpPr>
            <p:cNvPr id="20482" name="文本框 1"/>
            <p:cNvSpPr txBox="1"/>
            <p:nvPr/>
          </p:nvSpPr>
          <p:spPr>
            <a:xfrm>
              <a:off x="-78" y="418"/>
              <a:ext cx="5382" cy="1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本部分计算题考点</a:t>
              </a:r>
              <a:r>
                <a:rPr lang="en-US" altLang="zh-CN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场强叠加原理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求磁场</a:t>
              </a:r>
            </a:p>
          </p:txBody>
        </p:sp>
        <p:graphicFrame>
          <p:nvGraphicFramePr>
            <p:cNvPr id="20483" name="对象 1"/>
            <p:cNvGraphicFramePr/>
            <p:nvPr/>
          </p:nvGraphicFramePr>
          <p:xfrm>
            <a:off x="5354" y="628"/>
            <a:ext cx="1606" cy="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23900" imgH="355600" progId="Equation.DSMT4">
                    <p:embed/>
                  </p:oleObj>
                </mc:Choice>
                <mc:Fallback>
                  <p:oleObj r:id="rId2" imgW="723900" imgH="355600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354" y="628"/>
                          <a:ext cx="1606" cy="9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4" name="Object 87"/>
            <p:cNvGraphicFramePr>
              <a:graphicFrameLocks noChangeAspect="1"/>
            </p:cNvGraphicFramePr>
            <p:nvPr/>
          </p:nvGraphicFramePr>
          <p:xfrm>
            <a:off x="7792" y="389"/>
            <a:ext cx="5202" cy="1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765300" imgH="419100" progId="Equation.DSMT4">
                    <p:embed/>
                  </p:oleObj>
                </mc:Choice>
                <mc:Fallback>
                  <p:oleObj r:id="rId4" imgW="1765300" imgH="4191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792" y="389"/>
                          <a:ext cx="5202" cy="1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21" name="组合 12"/>
          <p:cNvGrpSpPr/>
          <p:nvPr/>
        </p:nvGrpSpPr>
        <p:grpSpPr>
          <a:xfrm>
            <a:off x="58738" y="1341438"/>
            <a:ext cx="7667625" cy="1576387"/>
            <a:chOff x="-2035" y="3851"/>
            <a:chExt cx="12075" cy="2487"/>
          </a:xfrm>
        </p:grpSpPr>
        <p:sp>
          <p:nvSpPr>
            <p:cNvPr id="20486" name="文本框 2"/>
            <p:cNvSpPr txBox="1"/>
            <p:nvPr/>
          </p:nvSpPr>
          <p:spPr>
            <a:xfrm>
              <a:off x="-2035" y="3866"/>
              <a:ext cx="3934" cy="24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题型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：不同电流在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P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点激发的磁场方向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在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同一条直线上</a:t>
              </a:r>
            </a:p>
          </p:txBody>
        </p:sp>
        <p:graphicFrame>
          <p:nvGraphicFramePr>
            <p:cNvPr id="20487" name="Object 87"/>
            <p:cNvGraphicFramePr>
              <a:graphicFrameLocks noChangeAspect="1"/>
            </p:cNvGraphicFramePr>
            <p:nvPr/>
          </p:nvGraphicFramePr>
          <p:xfrm>
            <a:off x="2186" y="4472"/>
            <a:ext cx="1981" cy="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73100" imgH="279400" progId="Equation.DSMT4">
                    <p:embed/>
                  </p:oleObj>
                </mc:Choice>
                <mc:Fallback>
                  <p:oleObj r:id="rId6" imgW="673100" imgH="279400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86" y="4472"/>
                          <a:ext cx="1981" cy="9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Object 87"/>
            <p:cNvGraphicFramePr>
              <a:graphicFrameLocks noChangeAspect="1"/>
            </p:cNvGraphicFramePr>
            <p:nvPr/>
          </p:nvGraphicFramePr>
          <p:xfrm>
            <a:off x="4178" y="4192"/>
            <a:ext cx="599" cy="1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03200" imgH="457200" progId="Equation.DSMT4">
                    <p:embed/>
                  </p:oleObj>
                </mc:Choice>
                <mc:Fallback>
                  <p:oleObj r:id="rId8" imgW="203200" imgH="4572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178" y="4192"/>
                          <a:ext cx="599" cy="15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87"/>
            <p:cNvGraphicFramePr>
              <a:graphicFrameLocks noChangeAspect="1"/>
            </p:cNvGraphicFramePr>
            <p:nvPr/>
          </p:nvGraphicFramePr>
          <p:xfrm>
            <a:off x="6376" y="3851"/>
            <a:ext cx="3664" cy="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44600" imgH="279400" progId="Equation.DSMT4">
                    <p:embed/>
                  </p:oleObj>
                </mc:Choice>
                <mc:Fallback>
                  <p:oleObj r:id="rId10" imgW="1244600" imgH="279400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376" y="3851"/>
                          <a:ext cx="3664" cy="9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0" name="文本框 9"/>
            <p:cNvSpPr txBox="1"/>
            <p:nvPr/>
          </p:nvSpPr>
          <p:spPr>
            <a:xfrm>
              <a:off x="4532" y="5224"/>
              <a:ext cx="3729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方向：具体分析</a:t>
              </a:r>
            </a:p>
          </p:txBody>
        </p:sp>
        <p:sp>
          <p:nvSpPr>
            <p:cNvPr id="20491" name="文本框 10"/>
            <p:cNvSpPr txBox="1"/>
            <p:nvPr/>
          </p:nvSpPr>
          <p:spPr>
            <a:xfrm>
              <a:off x="4558" y="4058"/>
              <a:ext cx="155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大小：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179388" y="5589588"/>
            <a:ext cx="8696325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楷体_GB2312" pitchFamily="49" charset="-122"/>
              </a:rPr>
              <a:t>当源分布有对称性时，建议先对称性分析（由源分布的对称性，分析场的性质），简化计算过程</a:t>
            </a:r>
            <a:endParaRPr lang="zh-CN" altLang="en-US" sz="240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4829" name="组合 31"/>
          <p:cNvGrpSpPr/>
          <p:nvPr/>
        </p:nvGrpSpPr>
        <p:grpSpPr>
          <a:xfrm>
            <a:off x="106363" y="3070225"/>
            <a:ext cx="6515100" cy="2451100"/>
            <a:chOff x="262" y="4173"/>
            <a:chExt cx="10261" cy="3859"/>
          </a:xfrm>
        </p:grpSpPr>
        <p:grpSp>
          <p:nvGrpSpPr>
            <p:cNvPr id="20494" name="组合 24"/>
            <p:cNvGrpSpPr/>
            <p:nvPr/>
          </p:nvGrpSpPr>
          <p:grpSpPr>
            <a:xfrm>
              <a:off x="262" y="4173"/>
              <a:ext cx="10261" cy="3859"/>
              <a:chOff x="-963" y="5033"/>
              <a:chExt cx="10261" cy="3859"/>
            </a:xfrm>
          </p:grpSpPr>
          <p:sp>
            <p:nvSpPr>
              <p:cNvPr id="20495" name="文本框 11"/>
              <p:cNvSpPr txBox="1"/>
              <p:nvPr/>
            </p:nvSpPr>
            <p:spPr>
              <a:xfrm>
                <a:off x="-963" y="5513"/>
                <a:ext cx="4070" cy="24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zh-CN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题型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：不同电流在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P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点激发的磁场方向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不在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同一条直线上</a:t>
                </a:r>
              </a:p>
            </p:txBody>
          </p:sp>
          <p:graphicFrame>
            <p:nvGraphicFramePr>
              <p:cNvPr id="20496" name="Object 87"/>
              <p:cNvGraphicFramePr>
                <a:graphicFrameLocks noChangeAspect="1"/>
              </p:cNvGraphicFramePr>
              <p:nvPr/>
            </p:nvGraphicFramePr>
            <p:xfrm>
              <a:off x="3462" y="6069"/>
              <a:ext cx="1980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673100" imgH="279400" progId="Equation.DSMT4">
                      <p:embed/>
                    </p:oleObj>
                  </mc:Choice>
                  <mc:Fallback>
                    <p:oleObj r:id="rId12" imgW="673100" imgH="279400" progId="Equation.DSMT4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3462" y="6069"/>
                            <a:ext cx="1980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7" name="Object 87"/>
              <p:cNvGraphicFramePr>
                <a:graphicFrameLocks noChangeAspect="1"/>
              </p:cNvGraphicFramePr>
              <p:nvPr/>
            </p:nvGraphicFramePr>
            <p:xfrm>
              <a:off x="6992" y="5033"/>
              <a:ext cx="2279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774065" imgH="279400" progId="Equation.DSMT4">
                      <p:embed/>
                    </p:oleObj>
                  </mc:Choice>
                  <mc:Fallback>
                    <p:oleObj r:id="rId14" imgW="774065" imgH="279400" progId="Equation.DSMT4">
                      <p:embed/>
                      <p:pic>
                        <p:nvPicPr>
                          <p:cNvPr id="0" name="图片 3114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6992" y="5033"/>
                            <a:ext cx="2279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8" name="Object 87"/>
              <p:cNvGraphicFramePr>
                <a:graphicFrameLocks noChangeAspect="1"/>
              </p:cNvGraphicFramePr>
              <p:nvPr/>
            </p:nvGraphicFramePr>
            <p:xfrm>
              <a:off x="7019" y="5983"/>
              <a:ext cx="2279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774065" imgH="279400" progId="Equation.DSMT4">
                      <p:embed/>
                    </p:oleObj>
                  </mc:Choice>
                  <mc:Fallback>
                    <p:oleObj r:id="rId16" imgW="774065" imgH="279400" progId="Equation.DSMT4">
                      <p:embed/>
                      <p:pic>
                        <p:nvPicPr>
                          <p:cNvPr id="0" name="图片 3115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7019" y="5983"/>
                            <a:ext cx="2279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9" name="Object 87"/>
              <p:cNvGraphicFramePr>
                <a:graphicFrameLocks noChangeAspect="1"/>
              </p:cNvGraphicFramePr>
              <p:nvPr/>
            </p:nvGraphicFramePr>
            <p:xfrm>
              <a:off x="6995" y="7055"/>
              <a:ext cx="2244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762000" imgH="279400" progId="Equation.DSMT4">
                      <p:embed/>
                    </p:oleObj>
                  </mc:Choice>
                  <mc:Fallback>
                    <p:oleObj r:id="rId18" imgW="762000" imgH="279400" progId="Equation.DSMT4">
                      <p:embed/>
                      <p:pic>
                        <p:nvPicPr>
                          <p:cNvPr id="0" name="图片 3111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6995" y="7055"/>
                            <a:ext cx="2244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0" name="Object 87"/>
              <p:cNvGraphicFramePr>
                <a:graphicFrameLocks noChangeAspect="1"/>
              </p:cNvGraphicFramePr>
              <p:nvPr/>
            </p:nvGraphicFramePr>
            <p:xfrm>
              <a:off x="2974" y="7963"/>
              <a:ext cx="4378" cy="9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485900" imgH="279400" progId="Equation.DSMT4">
                      <p:embed/>
                    </p:oleObj>
                  </mc:Choice>
                  <mc:Fallback>
                    <p:oleObj r:id="rId20" imgW="1485900" imgH="279400" progId="Equation.DSMT4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974" y="7963"/>
                            <a:ext cx="4378" cy="9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501" name="组合 30"/>
            <p:cNvGrpSpPr/>
            <p:nvPr/>
          </p:nvGrpSpPr>
          <p:grpSpPr>
            <a:xfrm>
              <a:off x="6614" y="4285"/>
              <a:ext cx="1507" cy="2449"/>
              <a:chOff x="6614" y="4285"/>
              <a:chExt cx="1507" cy="2449"/>
            </a:xfrm>
          </p:grpSpPr>
          <p:sp>
            <p:nvSpPr>
              <p:cNvPr id="20502" name="文本框 27"/>
              <p:cNvSpPr txBox="1"/>
              <p:nvPr/>
            </p:nvSpPr>
            <p:spPr>
              <a:xfrm>
                <a:off x="6614" y="4716"/>
                <a:ext cx="683" cy="18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分量式</a:t>
                </a:r>
              </a:p>
            </p:txBody>
          </p:sp>
          <p:graphicFrame>
            <p:nvGraphicFramePr>
              <p:cNvPr id="20503" name="Object 87"/>
              <p:cNvGraphicFramePr>
                <a:graphicFrameLocks noChangeAspect="1"/>
              </p:cNvGraphicFramePr>
              <p:nvPr/>
            </p:nvGraphicFramePr>
            <p:xfrm>
              <a:off x="7522" y="4285"/>
              <a:ext cx="599" cy="2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203200" imgH="736600" progId="Equation.DSMT4">
                      <p:embed/>
                    </p:oleObj>
                  </mc:Choice>
                  <mc:Fallback>
                    <p:oleObj r:id="rId22" imgW="203200" imgH="736600" progId="Equation.DSMT4">
                      <p:embed/>
                      <p:pic>
                        <p:nvPicPr>
                          <p:cNvPr id="0" name="图片 3113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7522" y="4285"/>
                            <a:ext cx="599" cy="24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4840" name="Rectangle 2" descr="羊皮纸"/>
          <p:cNvSpPr/>
          <p:nvPr/>
        </p:nvSpPr>
        <p:spPr>
          <a:xfrm>
            <a:off x="-19050" y="2924175"/>
            <a:ext cx="9109075" cy="1317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1" name="Rectangle 2" descr="羊皮纸"/>
          <p:cNvSpPr/>
          <p:nvPr/>
        </p:nvSpPr>
        <p:spPr>
          <a:xfrm>
            <a:off x="-36512" y="1174750"/>
            <a:ext cx="9144000" cy="76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34840" grpId="0" bldLvl="0" animBg="1"/>
      <p:bldP spid="34840" grpId="1" animBg="1"/>
      <p:bldP spid="34841" grpId="0" bldLvl="0" animBg="1"/>
      <p:bldP spid="34841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3" descr="IMAGE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3513138"/>
            <a:ext cx="4572000" cy="334486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506" name="组合 1"/>
          <p:cNvGrpSpPr/>
          <p:nvPr/>
        </p:nvGrpSpPr>
        <p:grpSpPr>
          <a:xfrm>
            <a:off x="161925" y="1844675"/>
            <a:ext cx="8478838" cy="1731963"/>
            <a:chOff x="510" y="1545"/>
            <a:chExt cx="13352" cy="2727"/>
          </a:xfrm>
        </p:grpSpPr>
        <p:pic>
          <p:nvPicPr>
            <p:cNvPr id="21507" name="Picture 2" descr="IMAGE0001"/>
            <p:cNvPicPr>
              <a:picLocks noChangeAspect="1"/>
            </p:cNvPicPr>
            <p:nvPr/>
          </p:nvPicPr>
          <p:blipFill>
            <a:blip r:embed="rId3"/>
            <a:srcRect l="3738" r="3738"/>
            <a:stretch>
              <a:fillRect/>
            </a:stretch>
          </p:blipFill>
          <p:spPr>
            <a:xfrm>
              <a:off x="537" y="1657"/>
              <a:ext cx="13325" cy="26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08" name="矩形 1"/>
            <p:cNvSpPr/>
            <p:nvPr/>
          </p:nvSpPr>
          <p:spPr>
            <a:xfrm>
              <a:off x="510" y="1545"/>
              <a:ext cx="4227" cy="76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/>
            <a:lstStyle/>
            <a:p>
              <a:pPr eaLnBrk="0" hangingPunct="0"/>
              <a:r>
                <a:rPr lang="zh-CN" altLang="en-US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</p:grpSp>
      <p:grpSp>
        <p:nvGrpSpPr>
          <p:cNvPr id="21509" name="组合 3"/>
          <p:cNvGrpSpPr/>
          <p:nvPr/>
        </p:nvGrpSpPr>
        <p:grpSpPr>
          <a:xfrm>
            <a:off x="107950" y="117475"/>
            <a:ext cx="8050213" cy="1466850"/>
            <a:chOff x="169" y="184"/>
            <a:chExt cx="12679" cy="2312"/>
          </a:xfrm>
        </p:grpSpPr>
        <p:sp>
          <p:nvSpPr>
            <p:cNvPr id="21510" name="文本框 8"/>
            <p:cNvSpPr txBox="1"/>
            <p:nvPr/>
          </p:nvSpPr>
          <p:spPr>
            <a:xfrm>
              <a:off x="169" y="184"/>
              <a:ext cx="869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计算题考点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、磁场叠加原理求磁场</a:t>
              </a:r>
            </a:p>
          </p:txBody>
        </p:sp>
        <p:sp>
          <p:nvSpPr>
            <p:cNvPr id="21511" name="文本框 2"/>
            <p:cNvSpPr txBox="1"/>
            <p:nvPr/>
          </p:nvSpPr>
          <p:spPr>
            <a:xfrm>
              <a:off x="282" y="1771"/>
              <a:ext cx="12566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题型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：不同电流在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P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点激发的磁场方向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在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同一条直线上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2" descr="IMAGE00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3932238"/>
            <a:ext cx="3276600" cy="28067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2530" name="组合 1"/>
          <p:cNvGrpSpPr/>
          <p:nvPr/>
        </p:nvGrpSpPr>
        <p:grpSpPr>
          <a:xfrm>
            <a:off x="50800" y="211138"/>
            <a:ext cx="9042400" cy="4256087"/>
            <a:chOff x="80" y="410"/>
            <a:chExt cx="14240" cy="6704"/>
          </a:xfrm>
        </p:grpSpPr>
        <p:pic>
          <p:nvPicPr>
            <p:cNvPr id="22531" name="Picture 3" descr="IMAGE000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80000">
              <a:off x="80" y="517"/>
              <a:ext cx="14240" cy="659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2" name="矩形 4"/>
            <p:cNvSpPr/>
            <p:nvPr/>
          </p:nvSpPr>
          <p:spPr>
            <a:xfrm>
              <a:off x="282" y="410"/>
              <a:ext cx="4167" cy="7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3" name="组合 1"/>
          <p:cNvGrpSpPr/>
          <p:nvPr/>
        </p:nvGrpSpPr>
        <p:grpSpPr>
          <a:xfrm>
            <a:off x="323850" y="412750"/>
            <a:ext cx="8323263" cy="3978275"/>
            <a:chOff x="850" y="1785"/>
            <a:chExt cx="13108" cy="6264"/>
          </a:xfrm>
        </p:grpSpPr>
        <p:pic>
          <p:nvPicPr>
            <p:cNvPr id="23554" name="Picture 2"/>
            <p:cNvPicPr>
              <a:picLocks noChangeAspect="1"/>
            </p:cNvPicPr>
            <p:nvPr/>
          </p:nvPicPr>
          <p:blipFill>
            <a:blip r:embed="rId2"/>
            <a:srcRect l="2185" r="3580" b="9525"/>
            <a:stretch>
              <a:fillRect/>
            </a:stretch>
          </p:blipFill>
          <p:spPr>
            <a:xfrm>
              <a:off x="850" y="1885"/>
              <a:ext cx="13107" cy="61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55" name="矩形 4"/>
            <p:cNvSpPr/>
            <p:nvPr/>
          </p:nvSpPr>
          <p:spPr>
            <a:xfrm>
              <a:off x="1245" y="1785"/>
              <a:ext cx="2437" cy="7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1800" y="3021013"/>
            <a:ext cx="4129088" cy="2555875"/>
            <a:chOff x="272" y="1735"/>
            <a:chExt cx="2601" cy="1610"/>
          </a:xfrm>
        </p:grpSpPr>
        <p:sp>
          <p:nvSpPr>
            <p:cNvPr id="24578" name="Rectangle 3"/>
            <p:cNvSpPr/>
            <p:nvPr/>
          </p:nvSpPr>
          <p:spPr>
            <a:xfrm>
              <a:off x="272" y="1990"/>
              <a:ext cx="69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32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5</a:t>
              </a:r>
            </a:p>
          </p:txBody>
        </p:sp>
        <p:grpSp>
          <p:nvGrpSpPr>
            <p:cNvPr id="24579" name="Group 4"/>
            <p:cNvGrpSpPr/>
            <p:nvPr/>
          </p:nvGrpSpPr>
          <p:grpSpPr>
            <a:xfrm>
              <a:off x="640" y="1735"/>
              <a:ext cx="2233" cy="1610"/>
              <a:chOff x="1011" y="1877"/>
              <a:chExt cx="2233" cy="1610"/>
            </a:xfrm>
          </p:grpSpPr>
          <p:sp>
            <p:nvSpPr>
              <p:cNvPr id="24580" name="Line 5"/>
              <p:cNvSpPr/>
              <p:nvPr/>
            </p:nvSpPr>
            <p:spPr>
              <a:xfrm>
                <a:off x="1251" y="2815"/>
                <a:ext cx="288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581" name="AutoShape 6"/>
              <p:cNvSpPr/>
              <p:nvPr/>
            </p:nvSpPr>
            <p:spPr>
              <a:xfrm>
                <a:off x="1539" y="2095"/>
                <a:ext cx="1392" cy="13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2933" y="11109"/>
                    </a:moveTo>
                    <a:cubicBezTo>
                      <a:pt x="2929" y="11006"/>
                      <a:pt x="2927" y="10903"/>
                      <a:pt x="2927" y="10800"/>
                    </a:cubicBezTo>
                    <a:cubicBezTo>
                      <a:pt x="2927" y="6451"/>
                      <a:pt x="6451" y="2927"/>
                      <a:pt x="10800" y="2927"/>
                    </a:cubicBezTo>
                    <a:cubicBezTo>
                      <a:pt x="15148" y="2927"/>
                      <a:pt x="18673" y="6451"/>
                      <a:pt x="18673" y="10800"/>
                    </a:cubicBezTo>
                    <a:cubicBezTo>
                      <a:pt x="18673" y="10903"/>
                      <a:pt x="18670" y="11006"/>
                      <a:pt x="18666" y="11109"/>
                    </a:cubicBezTo>
                    <a:lnTo>
                      <a:pt x="21591" y="11225"/>
                    </a:lnTo>
                    <a:cubicBezTo>
                      <a:pt x="21597" y="11083"/>
                      <a:pt x="21600" y="10941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-1" y="10941"/>
                      <a:pt x="2" y="11083"/>
                      <a:pt x="8" y="11225"/>
                    </a:cubicBezTo>
                    <a:lnTo>
                      <a:pt x="2933" y="11109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2" name="Line 7"/>
              <p:cNvSpPr/>
              <p:nvPr/>
            </p:nvSpPr>
            <p:spPr>
              <a:xfrm>
                <a:off x="1011" y="2815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4583" name="Line 8"/>
              <p:cNvSpPr/>
              <p:nvPr/>
            </p:nvSpPr>
            <p:spPr>
              <a:xfrm>
                <a:off x="1731" y="2815"/>
                <a:ext cx="0" cy="33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24584" name="Line 9"/>
              <p:cNvSpPr/>
              <p:nvPr/>
            </p:nvSpPr>
            <p:spPr>
              <a:xfrm>
                <a:off x="1731" y="3055"/>
                <a:ext cx="0" cy="24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4585" name="Line 10"/>
              <p:cNvSpPr/>
              <p:nvPr/>
            </p:nvSpPr>
            <p:spPr>
              <a:xfrm flipV="1">
                <a:off x="1731" y="2815"/>
                <a:ext cx="1008" cy="0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4586" name="Text Box 11"/>
              <p:cNvSpPr txBox="1"/>
              <p:nvPr/>
            </p:nvSpPr>
            <p:spPr>
              <a:xfrm>
                <a:off x="2143" y="2755"/>
                <a:ext cx="29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  <p:sp>
            <p:nvSpPr>
              <p:cNvPr id="24587" name="Line 12"/>
              <p:cNvSpPr/>
              <p:nvPr/>
            </p:nvSpPr>
            <p:spPr>
              <a:xfrm>
                <a:off x="2211" y="2095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sm"/>
              </a:ln>
            </p:spPr>
          </p:sp>
          <p:sp>
            <p:nvSpPr>
              <p:cNvPr id="24588" name="Line 13"/>
              <p:cNvSpPr/>
              <p:nvPr/>
            </p:nvSpPr>
            <p:spPr>
              <a:xfrm flipH="1">
                <a:off x="2163" y="2287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sm"/>
              </a:ln>
            </p:spPr>
          </p:sp>
          <p:sp>
            <p:nvSpPr>
              <p:cNvPr id="24589" name="Line 14"/>
              <p:cNvSpPr/>
              <p:nvPr/>
            </p:nvSpPr>
            <p:spPr>
              <a:xfrm>
                <a:off x="1731" y="2911"/>
                <a:ext cx="0" cy="14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sm"/>
              </a:ln>
            </p:spPr>
          </p:sp>
          <p:sp>
            <p:nvSpPr>
              <p:cNvPr id="24590" name="Text Box 15"/>
              <p:cNvSpPr txBox="1"/>
              <p:nvPr/>
            </p:nvSpPr>
            <p:spPr>
              <a:xfrm>
                <a:off x="1803" y="1877"/>
                <a:ext cx="20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</a:p>
            </p:txBody>
          </p:sp>
          <p:sp>
            <p:nvSpPr>
              <p:cNvPr id="24591" name="Line 16"/>
              <p:cNvSpPr/>
              <p:nvPr/>
            </p:nvSpPr>
            <p:spPr>
              <a:xfrm flipV="1">
                <a:off x="2211" y="2383"/>
                <a:ext cx="336" cy="432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4592" name="Line 17"/>
              <p:cNvSpPr/>
              <p:nvPr/>
            </p:nvSpPr>
            <p:spPr>
              <a:xfrm flipV="1">
                <a:off x="2211" y="2527"/>
                <a:ext cx="672" cy="288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4593" name="Object 18"/>
              <p:cNvGraphicFramePr>
                <a:graphicFrameLocks noChangeAspect="1"/>
              </p:cNvGraphicFramePr>
              <p:nvPr/>
            </p:nvGraphicFramePr>
            <p:xfrm>
              <a:off x="2883" y="2188"/>
              <a:ext cx="361" cy="4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190500" imgH="215900" progId="Equation.3">
                      <p:embed/>
                    </p:oleObj>
                  </mc:Choice>
                  <mc:Fallback>
                    <p:oleObj r:id="rId2" imgW="190500" imgH="215900" progId="Equation.3">
                      <p:embed/>
                      <p:pic>
                        <p:nvPicPr>
                          <p:cNvPr id="0" name="图片 3116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883" y="2188"/>
                            <a:ext cx="361" cy="40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4" name="Object 19"/>
              <p:cNvGraphicFramePr>
                <a:graphicFrameLocks noChangeAspect="1"/>
              </p:cNvGraphicFramePr>
              <p:nvPr/>
            </p:nvGraphicFramePr>
            <p:xfrm>
              <a:off x="2030" y="2302"/>
              <a:ext cx="335" cy="4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177800" imgH="215900" progId="Equation.3">
                      <p:embed/>
                    </p:oleObj>
                  </mc:Choice>
                  <mc:Fallback>
                    <p:oleObj r:id="rId4" imgW="177800" imgH="215900" progId="Equation.3">
                      <p:embed/>
                      <p:pic>
                        <p:nvPicPr>
                          <p:cNvPr id="0" name="图片 3118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2030" y="2302"/>
                            <a:ext cx="335" cy="40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95" name="Line 20"/>
              <p:cNvSpPr/>
              <p:nvPr/>
            </p:nvSpPr>
            <p:spPr>
              <a:xfrm flipH="1">
                <a:off x="2739" y="2815"/>
                <a:ext cx="9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sm"/>
              </a:ln>
            </p:spPr>
          </p:sp>
          <p:sp>
            <p:nvSpPr>
              <p:cNvPr id="24596" name="Line 21"/>
              <p:cNvSpPr/>
              <p:nvPr/>
            </p:nvSpPr>
            <p:spPr>
              <a:xfrm>
                <a:off x="1203" y="2815"/>
                <a:ext cx="336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597" name="Line 22"/>
              <p:cNvSpPr/>
              <p:nvPr/>
            </p:nvSpPr>
            <p:spPr>
              <a:xfrm>
                <a:off x="1347" y="2815"/>
                <a:ext cx="9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sm"/>
              </a:ln>
            </p:spPr>
          </p:sp>
          <p:sp>
            <p:nvSpPr>
              <p:cNvPr id="24598" name="Text Box 23"/>
              <p:cNvSpPr txBox="1"/>
              <p:nvPr/>
            </p:nvSpPr>
            <p:spPr>
              <a:xfrm>
                <a:off x="2076" y="2644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8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*</a:t>
                </a:r>
              </a:p>
            </p:txBody>
          </p:sp>
          <p:sp>
            <p:nvSpPr>
              <p:cNvPr id="24599" name="Line 24"/>
              <p:cNvSpPr/>
              <p:nvPr/>
            </p:nvSpPr>
            <p:spPr>
              <a:xfrm>
                <a:off x="1539" y="281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263193" name="Object 25"/>
          <p:cNvGraphicFramePr>
            <a:graphicFrameLocks noChangeAspect="1"/>
          </p:cNvGraphicFramePr>
          <p:nvPr/>
        </p:nvGraphicFramePr>
        <p:xfrm>
          <a:off x="2413000" y="5005388"/>
          <a:ext cx="405765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97965" imgH="431800" progId="Equation.3">
                  <p:embed/>
                </p:oleObj>
              </mc:Choice>
              <mc:Fallback>
                <p:oleObj r:id="rId6" imgW="1497965" imgH="4318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13000" y="5005388"/>
                        <a:ext cx="4057650" cy="1144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01" name="Group 26"/>
          <p:cNvGrpSpPr/>
          <p:nvPr/>
        </p:nvGrpSpPr>
        <p:grpSpPr>
          <a:xfrm>
            <a:off x="476250" y="638175"/>
            <a:ext cx="2778125" cy="2286000"/>
            <a:chOff x="300" y="402"/>
            <a:chExt cx="1750" cy="1440"/>
          </a:xfrm>
        </p:grpSpPr>
        <p:grpSp>
          <p:nvGrpSpPr>
            <p:cNvPr id="24602" name="Group 27"/>
            <p:cNvGrpSpPr/>
            <p:nvPr/>
          </p:nvGrpSpPr>
          <p:grpSpPr>
            <a:xfrm>
              <a:off x="754" y="402"/>
              <a:ext cx="1296" cy="1440"/>
              <a:chOff x="1330" y="686"/>
              <a:chExt cx="1296" cy="1440"/>
            </a:xfrm>
          </p:grpSpPr>
          <p:sp>
            <p:nvSpPr>
              <p:cNvPr id="24603" name="Line 28"/>
              <p:cNvSpPr/>
              <p:nvPr/>
            </p:nvSpPr>
            <p:spPr>
              <a:xfrm>
                <a:off x="1522" y="1166"/>
                <a:ext cx="480" cy="43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604" name="Line 29"/>
              <p:cNvSpPr/>
              <p:nvPr/>
            </p:nvSpPr>
            <p:spPr>
              <a:xfrm flipH="1">
                <a:off x="2002" y="1166"/>
                <a:ext cx="432" cy="43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605" name="Text Box 30"/>
              <p:cNvSpPr txBox="1"/>
              <p:nvPr/>
            </p:nvSpPr>
            <p:spPr>
              <a:xfrm>
                <a:off x="1491" y="1281"/>
                <a:ext cx="19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</a:p>
            </p:txBody>
          </p:sp>
          <p:sp>
            <p:nvSpPr>
              <p:cNvPr id="24606" name="Freeform 31"/>
              <p:cNvSpPr/>
              <p:nvPr/>
            </p:nvSpPr>
            <p:spPr>
              <a:xfrm>
                <a:off x="1906" y="1406"/>
                <a:ext cx="192" cy="96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96" y="0"/>
                  </a:cxn>
                  <a:cxn ang="0">
                    <a:pos x="192" y="96"/>
                  </a:cxn>
                </a:cxnLst>
                <a:rect l="0" t="0" r="0" b="0"/>
                <a:pathLst>
                  <a:path w="192" h="96">
                    <a:moveTo>
                      <a:pt x="0" y="96"/>
                    </a:moveTo>
                    <a:lnTo>
                      <a:pt x="96" y="0"/>
                    </a:lnTo>
                    <a:lnTo>
                      <a:pt x="192" y="96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7" name="Text Box 32"/>
              <p:cNvSpPr txBox="1"/>
              <p:nvPr/>
            </p:nvSpPr>
            <p:spPr>
              <a:xfrm>
                <a:off x="1896" y="1502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  <p:sp>
            <p:nvSpPr>
              <p:cNvPr id="24608" name="AutoShape 33"/>
              <p:cNvSpPr/>
              <p:nvPr/>
            </p:nvSpPr>
            <p:spPr>
              <a:xfrm>
                <a:off x="1330" y="974"/>
                <a:ext cx="1296" cy="11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3367" y="3750"/>
                    </a:moveTo>
                    <a:cubicBezTo>
                      <a:pt x="5301" y="1710"/>
                      <a:pt x="7989" y="555"/>
                      <a:pt x="10800" y="556"/>
                    </a:cubicBezTo>
                    <a:cubicBezTo>
                      <a:pt x="13610" y="556"/>
                      <a:pt x="16298" y="1710"/>
                      <a:pt x="18232" y="3750"/>
                    </a:cubicBezTo>
                    <a:lnTo>
                      <a:pt x="18635" y="3367"/>
                    </a:lnTo>
                    <a:cubicBezTo>
                      <a:pt x="16596" y="1217"/>
                      <a:pt x="13763" y="-1"/>
                      <a:pt x="10799" y="0"/>
                    </a:cubicBezTo>
                    <a:cubicBezTo>
                      <a:pt x="7836" y="0"/>
                      <a:pt x="5003" y="1217"/>
                      <a:pt x="2964" y="3367"/>
                    </a:cubicBezTo>
                    <a:lnTo>
                      <a:pt x="3367" y="3750"/>
                    </a:lnTo>
                    <a:close/>
                  </a:path>
                </a:pathLst>
              </a:cu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9" name="Line 34"/>
              <p:cNvSpPr/>
              <p:nvPr/>
            </p:nvSpPr>
            <p:spPr>
              <a:xfrm>
                <a:off x="1906" y="989"/>
                <a:ext cx="190" cy="0"/>
              </a:xfrm>
              <a:prstGeom prst="line">
                <a:avLst/>
              </a:prstGeom>
              <a:ln w="444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arrow" w="lg" len="lg"/>
              </a:ln>
            </p:spPr>
          </p:sp>
          <p:sp>
            <p:nvSpPr>
              <p:cNvPr id="24610" name="Text Box 35"/>
              <p:cNvSpPr txBox="1"/>
              <p:nvPr/>
            </p:nvSpPr>
            <p:spPr>
              <a:xfrm>
                <a:off x="1689" y="686"/>
                <a:ext cx="36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</a:p>
            </p:txBody>
          </p:sp>
        </p:grpSp>
        <p:sp>
          <p:nvSpPr>
            <p:cNvPr id="24611" name="Text Box 36"/>
            <p:cNvSpPr txBox="1"/>
            <p:nvPr/>
          </p:nvSpPr>
          <p:spPr>
            <a:xfrm>
              <a:off x="300" y="487"/>
              <a:ext cx="96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32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4</a:t>
              </a:r>
            </a:p>
          </p:txBody>
        </p:sp>
      </p:grpSp>
      <p:grpSp>
        <p:nvGrpSpPr>
          <p:cNvPr id="6" name="Group 37"/>
          <p:cNvGrpSpPr/>
          <p:nvPr/>
        </p:nvGrpSpPr>
        <p:grpSpPr>
          <a:xfrm>
            <a:off x="3684588" y="460375"/>
            <a:ext cx="4095750" cy="1665288"/>
            <a:chOff x="2285" y="374"/>
            <a:chExt cx="2580" cy="1049"/>
          </a:xfrm>
        </p:grpSpPr>
        <p:graphicFrame>
          <p:nvGraphicFramePr>
            <p:cNvPr id="24613" name="Object 38"/>
            <p:cNvGraphicFramePr>
              <a:graphicFrameLocks noChangeAspect="1"/>
            </p:cNvGraphicFramePr>
            <p:nvPr/>
          </p:nvGraphicFramePr>
          <p:xfrm>
            <a:off x="2597" y="657"/>
            <a:ext cx="1361" cy="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079500" imgH="609600" progId="Equation.3">
                    <p:embed/>
                  </p:oleObj>
                </mc:Choice>
                <mc:Fallback>
                  <p:oleObj r:id="rId8" imgW="1079500" imgH="6096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597" y="657"/>
                          <a:ext cx="1361" cy="7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4" name="Text Box 39"/>
            <p:cNvSpPr txBox="1"/>
            <p:nvPr/>
          </p:nvSpPr>
          <p:spPr>
            <a:xfrm>
              <a:off x="2285" y="374"/>
              <a:ext cx="25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r>
                <a:rPr lang="zh-CN" altLang="en-US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点的磁感应强度</a:t>
              </a:r>
            </a:p>
          </p:txBody>
        </p:sp>
      </p:grpSp>
      <p:sp>
        <p:nvSpPr>
          <p:cNvPr id="263208" name="Text Box 40"/>
          <p:cNvSpPr txBox="1"/>
          <p:nvPr/>
        </p:nvSpPr>
        <p:spPr>
          <a:xfrm>
            <a:off x="4005263" y="2317750"/>
            <a:ext cx="40957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方向垂直纸面向里</a:t>
            </a:r>
            <a:endParaRPr lang="zh-CN" altLang="en-US" sz="32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3209" name="Text Box 41"/>
          <p:cNvSpPr txBox="1"/>
          <p:nvPr/>
        </p:nvSpPr>
        <p:spPr>
          <a:xfrm>
            <a:off x="5246688" y="3557588"/>
            <a:ext cx="2970212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选垂直纸面向里为正方向</a:t>
            </a:r>
            <a:endParaRPr lang="zh-CN" altLang="en-US" sz="32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617" name="等腰三角形 42"/>
          <p:cNvSpPr/>
          <p:nvPr/>
        </p:nvSpPr>
        <p:spPr>
          <a:xfrm>
            <a:off x="581025" y="1016000"/>
            <a:ext cx="1060450" cy="914400"/>
          </a:xfrm>
          <a:prstGeom prst="triangle">
            <a:avLst>
              <a:gd name="adj" fmla="val 50000"/>
            </a:avLst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69900" indent="-469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08" grpId="0"/>
      <p:bldP spid="26320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1" name="Group 2"/>
          <p:cNvGrpSpPr/>
          <p:nvPr/>
        </p:nvGrpSpPr>
        <p:grpSpPr>
          <a:xfrm>
            <a:off x="171450" y="1927225"/>
            <a:ext cx="2895600" cy="2854325"/>
            <a:chOff x="384" y="1296"/>
            <a:chExt cx="1824" cy="1798"/>
          </a:xfrm>
        </p:grpSpPr>
        <p:grpSp>
          <p:nvGrpSpPr>
            <p:cNvPr id="25602" name="Group 3"/>
            <p:cNvGrpSpPr/>
            <p:nvPr/>
          </p:nvGrpSpPr>
          <p:grpSpPr>
            <a:xfrm>
              <a:off x="384" y="1296"/>
              <a:ext cx="1824" cy="1798"/>
              <a:chOff x="384" y="1296"/>
              <a:chExt cx="1824" cy="1798"/>
            </a:xfrm>
          </p:grpSpPr>
          <p:sp>
            <p:nvSpPr>
              <p:cNvPr id="25603" name="Rectangle 4"/>
              <p:cNvSpPr/>
              <p:nvPr/>
            </p:nvSpPr>
            <p:spPr>
              <a:xfrm>
                <a:off x="384" y="1296"/>
                <a:ext cx="1824" cy="172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</a:pPr>
                <a:endParaRPr lang="zh-CN" altLang="en-US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25604" name="Group 5"/>
              <p:cNvGrpSpPr/>
              <p:nvPr/>
            </p:nvGrpSpPr>
            <p:grpSpPr>
              <a:xfrm>
                <a:off x="624" y="1392"/>
                <a:ext cx="1344" cy="1702"/>
                <a:chOff x="624" y="1440"/>
                <a:chExt cx="1344" cy="1702"/>
              </a:xfrm>
            </p:grpSpPr>
            <p:sp>
              <p:nvSpPr>
                <p:cNvPr id="25605" name="Oval 6"/>
                <p:cNvSpPr/>
                <p:nvPr/>
              </p:nvSpPr>
              <p:spPr>
                <a:xfrm>
                  <a:off x="624" y="1440"/>
                  <a:ext cx="1344" cy="1328"/>
                </a:xfrm>
                <a:prstGeom prst="ellipse">
                  <a:avLst/>
                </a:prstGeom>
                <a:solidFill>
                  <a:srgbClr val="CCFFFF">
                    <a:alpha val="50194"/>
                  </a:srgbClr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just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</a:pPr>
                  <a:endParaRPr lang="zh-CN" altLang="en-US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graphicFrame>
              <p:nvGraphicFramePr>
                <p:cNvPr id="25606" name="Object 7"/>
                <p:cNvGraphicFramePr>
                  <a:graphicFrameLocks noChangeAspect="1"/>
                </p:cNvGraphicFramePr>
                <p:nvPr/>
              </p:nvGraphicFramePr>
              <p:xfrm>
                <a:off x="1296" y="2688"/>
                <a:ext cx="312" cy="45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" imgW="152400" imgH="215900" progId="Equation.3">
                        <p:embed/>
                      </p:oleObj>
                    </mc:Choice>
                    <mc:Fallback>
                      <p:oleObj r:id="rId2" imgW="152400" imgH="215900" progId="Equation.3">
                        <p:embed/>
                        <p:pic>
                          <p:nvPicPr>
                            <p:cNvPr id="0" name="图片 3124"/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96" y="2688"/>
                              <a:ext cx="312" cy="45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07" name="Line 8"/>
                <p:cNvSpPr/>
                <p:nvPr/>
              </p:nvSpPr>
              <p:spPr>
                <a:xfrm flipV="1">
                  <a:off x="1296" y="1824"/>
                  <a:ext cx="624" cy="307"/>
                </a:xfrm>
                <a:prstGeom prst="line">
                  <a:avLst/>
                </a:prstGeom>
                <a:ln w="31750">
                  <a:noFill/>
                </a:ln>
              </p:spPr>
            </p:sp>
            <p:sp>
              <p:nvSpPr>
                <p:cNvPr id="25608" name="Freeform 9"/>
                <p:cNvSpPr/>
                <p:nvPr/>
              </p:nvSpPr>
              <p:spPr>
                <a:xfrm>
                  <a:off x="864" y="2784"/>
                  <a:ext cx="480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100" y="1180"/>
                    </a:cxn>
                    <a:cxn ang="0">
                      <a:pos x="11899" y="1180"/>
                    </a:cxn>
                  </a:cxnLst>
                  <a:rect l="0" t="0" r="0" b="0"/>
                  <a:pathLst>
                    <a:path w="336" h="112">
                      <a:moveTo>
                        <a:pt x="0" y="0"/>
                      </a:moveTo>
                      <a:cubicBezTo>
                        <a:pt x="44" y="40"/>
                        <a:pt x="88" y="80"/>
                        <a:pt x="144" y="96"/>
                      </a:cubicBezTo>
                      <a:cubicBezTo>
                        <a:pt x="200" y="112"/>
                        <a:pt x="304" y="96"/>
                        <a:pt x="336" y="96"/>
                      </a:cubicBezTo>
                    </a:path>
                  </a:pathLst>
                </a:custGeom>
                <a:noFill/>
                <a:ln w="57150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5609" name="Object 10"/>
                <p:cNvGraphicFramePr>
                  <a:graphicFrameLocks noChangeAspect="1"/>
                </p:cNvGraphicFramePr>
                <p:nvPr/>
              </p:nvGraphicFramePr>
              <p:xfrm>
                <a:off x="1392" y="1776"/>
                <a:ext cx="243" cy="2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215900" imgH="228600" progId="Equation.3">
                        <p:embed/>
                      </p:oleObj>
                    </mc:Choice>
                    <mc:Fallback>
                      <p:oleObj r:id="rId4" imgW="215900" imgH="228600" progId="Equation.3">
                        <p:embed/>
                        <p:pic>
                          <p:nvPicPr>
                            <p:cNvPr id="0" name="图片 3123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92" y="1776"/>
                              <a:ext cx="243" cy="25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25610" name="Object 11"/>
            <p:cNvGraphicFramePr>
              <a:graphicFrameLocks noChangeAspect="1"/>
            </p:cNvGraphicFramePr>
            <p:nvPr/>
          </p:nvGraphicFramePr>
          <p:xfrm>
            <a:off x="1152" y="1920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65100" imgH="190500" progId="Equation.3">
                    <p:embed/>
                  </p:oleObj>
                </mc:Choice>
                <mc:Fallback>
                  <p:oleObj r:id="rId6" imgW="165100" imgH="1905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52" y="1920"/>
                          <a:ext cx="177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1" name="Object 12"/>
            <p:cNvGraphicFramePr>
              <a:graphicFrameLocks noChangeAspect="1"/>
            </p:cNvGraphicFramePr>
            <p:nvPr/>
          </p:nvGraphicFramePr>
          <p:xfrm>
            <a:off x="1008" y="1711"/>
            <a:ext cx="240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15900" imgH="190500" progId="Equation.3">
                    <p:embed/>
                  </p:oleObj>
                </mc:Choice>
                <mc:Fallback>
                  <p:oleObj r:id="rId8" imgW="215900" imgH="1905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08" y="1711"/>
                          <a:ext cx="240" cy="2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493" name="Text Box 13"/>
          <p:cNvSpPr txBox="1"/>
          <p:nvPr/>
        </p:nvSpPr>
        <p:spPr>
          <a:xfrm>
            <a:off x="3516313" y="1898650"/>
            <a:ext cx="31940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解  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圆电流的磁场 </a:t>
            </a:r>
          </a:p>
        </p:txBody>
      </p:sp>
      <p:graphicFrame>
        <p:nvGraphicFramePr>
          <p:cNvPr id="276494" name="Object 14"/>
          <p:cNvGraphicFramePr>
            <a:graphicFrameLocks noChangeAspect="1"/>
          </p:cNvGraphicFramePr>
          <p:nvPr/>
        </p:nvGraphicFramePr>
        <p:xfrm>
          <a:off x="3779838" y="2389188"/>
          <a:ext cx="423386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99565" imgH="393700" progId="Equation.DSMT4">
                  <p:embed/>
                </p:oleObj>
              </mc:Choice>
              <mc:Fallback>
                <p:oleObj r:id="rId10" imgW="1599565" imgH="3937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79838" y="2389188"/>
                        <a:ext cx="4233862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5" name="Object 15"/>
          <p:cNvGraphicFramePr>
            <a:graphicFrameLocks noChangeAspect="1"/>
          </p:cNvGraphicFramePr>
          <p:nvPr/>
        </p:nvGraphicFramePr>
        <p:xfrm>
          <a:off x="3716338" y="3563938"/>
          <a:ext cx="299402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71600" imgH="393700" progId="Equation.3">
                  <p:embed/>
                </p:oleObj>
              </mc:Choice>
              <mc:Fallback>
                <p:oleObj r:id="rId12" imgW="1371600" imgH="3937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16338" y="3563938"/>
                        <a:ext cx="2994025" cy="881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6"/>
          <p:cNvGrpSpPr/>
          <p:nvPr/>
        </p:nvGrpSpPr>
        <p:grpSpPr>
          <a:xfrm>
            <a:off x="622300" y="5087938"/>
            <a:ext cx="2995613" cy="590550"/>
            <a:chOff x="392" y="3072"/>
            <a:chExt cx="1887" cy="372"/>
          </a:xfrm>
        </p:grpSpPr>
        <p:graphicFrame>
          <p:nvGraphicFramePr>
            <p:cNvPr id="25616" name="Object 17"/>
            <p:cNvGraphicFramePr>
              <a:graphicFrameLocks noChangeAspect="1"/>
            </p:cNvGraphicFramePr>
            <p:nvPr/>
          </p:nvGraphicFramePr>
          <p:xfrm>
            <a:off x="1338" y="3072"/>
            <a:ext cx="25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52400" imgH="190500" progId="Equation.3">
                    <p:embed/>
                  </p:oleObj>
                </mc:Choice>
                <mc:Fallback>
                  <p:oleObj r:id="rId14" imgW="152400" imgH="1905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338" y="3072"/>
                          <a:ext cx="256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18"/>
            <p:cNvGraphicFramePr>
              <a:graphicFrameLocks noChangeAspect="1"/>
            </p:cNvGraphicFramePr>
            <p:nvPr/>
          </p:nvGraphicFramePr>
          <p:xfrm>
            <a:off x="392" y="3120"/>
            <a:ext cx="75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647700" imgH="279400" progId="Equation.3">
                    <p:embed/>
                  </p:oleObj>
                </mc:Choice>
                <mc:Fallback>
                  <p:oleObj r:id="rId16" imgW="647700" imgH="2794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92" y="3120"/>
                          <a:ext cx="753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Text Box 19"/>
            <p:cNvSpPr txBox="1"/>
            <p:nvPr/>
          </p:nvSpPr>
          <p:spPr>
            <a:xfrm>
              <a:off x="1688" y="3120"/>
              <a:ext cx="5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向外</a:t>
              </a:r>
            </a:p>
          </p:txBody>
        </p:sp>
      </p:grpSp>
      <p:sp>
        <p:nvSpPr>
          <p:cNvPr id="276500" name="AutoShape 20"/>
          <p:cNvSpPr/>
          <p:nvPr/>
        </p:nvSpPr>
        <p:spPr>
          <a:xfrm>
            <a:off x="327025" y="5402263"/>
            <a:ext cx="228600" cy="762000"/>
          </a:xfrm>
          <a:prstGeom prst="leftBrace">
            <a:avLst>
              <a:gd name="adj1" fmla="val 27638"/>
              <a:gd name="adj2" fmla="val 50000"/>
            </a:avLst>
          </a:prstGeom>
          <a:noFill/>
          <a:ln w="28575" cap="flat" cmpd="sng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pSp>
        <p:nvGrpSpPr>
          <p:cNvPr id="25620" name="Group 21"/>
          <p:cNvGrpSpPr/>
          <p:nvPr/>
        </p:nvGrpSpPr>
        <p:grpSpPr>
          <a:xfrm>
            <a:off x="88900" y="117475"/>
            <a:ext cx="8305800" cy="1752600"/>
            <a:chOff x="187" y="402"/>
            <a:chExt cx="5232" cy="1104"/>
          </a:xfrm>
        </p:grpSpPr>
        <p:sp>
          <p:nvSpPr>
            <p:cNvPr id="25621" name="Text Box 22"/>
            <p:cNvSpPr txBox="1"/>
            <p:nvPr/>
          </p:nvSpPr>
          <p:spPr>
            <a:xfrm>
              <a:off x="187" y="402"/>
              <a:ext cx="5232" cy="11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zh-CN" altLang="en-US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6</a:t>
              </a:r>
              <a:r>
                <a:rPr lang="en-US" altLang="zh-CN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半径为  的带电薄圆盘的电荷面密度为   </a:t>
              </a:r>
              <a:r>
                <a:rPr lang="en-US" altLang="zh-CN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 </a:t>
              </a:r>
              <a:r>
                <a:rPr lang="zh-CN" altLang="en-US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并以角速度   绕通过盘心垂直于盘面的轴转动，</a:t>
              </a:r>
              <a:r>
                <a:rPr lang="zh-CN" altLang="en-US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求</a:t>
              </a:r>
              <a:r>
                <a:rPr lang="zh-CN" altLang="en-US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圆盘</a:t>
              </a:r>
              <a:r>
                <a:rPr lang="zh-CN" altLang="en-US" sz="2400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中心</a:t>
              </a:r>
              <a:r>
                <a:rPr lang="zh-CN" altLang="en-US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的磁感强度</a:t>
              </a:r>
              <a:r>
                <a:rPr lang="en-US" altLang="zh-CN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5622" name="Object 23"/>
            <p:cNvGraphicFramePr>
              <a:graphicFrameLocks noChangeAspect="1"/>
            </p:cNvGraphicFramePr>
            <p:nvPr/>
          </p:nvGraphicFramePr>
          <p:xfrm>
            <a:off x="674" y="769"/>
            <a:ext cx="28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15900" imgH="316865" progId="Equation.3">
                    <p:embed/>
                  </p:oleObj>
                </mc:Choice>
                <mc:Fallback>
                  <p:oleObj r:id="rId18" imgW="215900" imgH="316865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74" y="769"/>
                          <a:ext cx="285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3" name="Object 24"/>
            <p:cNvGraphicFramePr>
              <a:graphicFrameLocks noChangeAspect="1"/>
            </p:cNvGraphicFramePr>
            <p:nvPr/>
          </p:nvGraphicFramePr>
          <p:xfrm>
            <a:off x="1469" y="513"/>
            <a:ext cx="27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15900" imgH="228600" progId="Equation.3">
                    <p:embed/>
                  </p:oleObj>
                </mc:Choice>
                <mc:Fallback>
                  <p:oleObj r:id="rId20" imgW="215900" imgH="2286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469" y="513"/>
                          <a:ext cx="276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4" name="Object 25"/>
            <p:cNvGraphicFramePr>
              <a:graphicFrameLocks noChangeAspect="1"/>
            </p:cNvGraphicFramePr>
            <p:nvPr/>
          </p:nvGraphicFramePr>
          <p:xfrm>
            <a:off x="4223" y="538"/>
            <a:ext cx="27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15900" imgH="190500" progId="Equation.3">
                    <p:embed/>
                  </p:oleObj>
                </mc:Choice>
                <mc:Fallback>
                  <p:oleObj r:id="rId22" imgW="215900" imgH="1905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223" y="538"/>
                          <a:ext cx="270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6"/>
          <p:cNvGrpSpPr/>
          <p:nvPr/>
        </p:nvGrpSpPr>
        <p:grpSpPr>
          <a:xfrm>
            <a:off x="781050" y="2308225"/>
            <a:ext cx="1905000" cy="1908175"/>
            <a:chOff x="768" y="1584"/>
            <a:chExt cx="1200" cy="1202"/>
          </a:xfrm>
        </p:grpSpPr>
        <p:sp>
          <p:nvSpPr>
            <p:cNvPr id="25626" name="AutoShape 27"/>
            <p:cNvSpPr/>
            <p:nvPr/>
          </p:nvSpPr>
          <p:spPr>
            <a:xfrm>
              <a:off x="768" y="1584"/>
              <a:ext cx="1027" cy="10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309" y="10800"/>
                  </a:moveTo>
                  <a:cubicBezTo>
                    <a:pt x="1309" y="16042"/>
                    <a:pt x="5558" y="20291"/>
                    <a:pt x="10800" y="20291"/>
                  </a:cubicBezTo>
                  <a:cubicBezTo>
                    <a:pt x="16042" y="20291"/>
                    <a:pt x="20291" y="16042"/>
                    <a:pt x="20291" y="10800"/>
                  </a:cubicBezTo>
                  <a:cubicBezTo>
                    <a:pt x="20291" y="5558"/>
                    <a:pt x="16042" y="1309"/>
                    <a:pt x="10800" y="1309"/>
                  </a:cubicBezTo>
                  <a:cubicBezTo>
                    <a:pt x="5558" y="1309"/>
                    <a:pt x="1309" y="5558"/>
                    <a:pt x="1309" y="10800"/>
                  </a:cubicBezTo>
                  <a:close/>
                </a:path>
              </a:pathLst>
            </a:custGeom>
            <a:solidFill>
              <a:srgbClr val="FF33CC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28"/>
            <p:cNvSpPr/>
            <p:nvPr/>
          </p:nvSpPr>
          <p:spPr>
            <a:xfrm>
              <a:off x="1296" y="2112"/>
              <a:ext cx="219" cy="381"/>
            </a:xfrm>
            <a:prstGeom prst="line">
              <a:avLst/>
            </a:prstGeom>
            <a:ln w="28575" cap="flat" cmpd="sng">
              <a:solidFill>
                <a:srgbClr val="33CC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5628" name="Line 29"/>
            <p:cNvSpPr/>
            <p:nvPr/>
          </p:nvSpPr>
          <p:spPr>
            <a:xfrm flipH="1" flipV="1">
              <a:off x="1562" y="2542"/>
              <a:ext cx="140" cy="239"/>
            </a:xfrm>
            <a:prstGeom prst="line">
              <a:avLst/>
            </a:prstGeom>
            <a:ln w="28575" cap="flat" cmpd="sng">
              <a:solidFill>
                <a:srgbClr val="33CC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25629" name="Object 30"/>
            <p:cNvGraphicFramePr>
              <a:graphicFrameLocks noChangeAspect="1"/>
            </p:cNvGraphicFramePr>
            <p:nvPr/>
          </p:nvGraphicFramePr>
          <p:xfrm>
            <a:off x="1421" y="2157"/>
            <a:ext cx="20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114300" imgH="127000" progId="Equation.3">
                    <p:embed/>
                  </p:oleObj>
                </mc:Choice>
                <mc:Fallback>
                  <p:oleObj r:id="rId23" imgW="114300" imgH="1270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421" y="2157"/>
                          <a:ext cx="20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0" name="Object 31"/>
            <p:cNvGraphicFramePr>
              <a:graphicFrameLocks noChangeAspect="1"/>
            </p:cNvGraphicFramePr>
            <p:nvPr/>
          </p:nvGraphicFramePr>
          <p:xfrm>
            <a:off x="1655" y="2496"/>
            <a:ext cx="31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279400" imgH="254000" progId="Equation.3">
                    <p:embed/>
                  </p:oleObj>
                </mc:Choice>
                <mc:Fallback>
                  <p:oleObj r:id="rId25" imgW="279400" imgH="2540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655" y="2496"/>
                          <a:ext cx="313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512" name="Object 32"/>
          <p:cNvGraphicFramePr>
            <a:graphicFrameLocks noChangeAspect="1"/>
          </p:cNvGraphicFramePr>
          <p:nvPr/>
        </p:nvGraphicFramePr>
        <p:xfrm>
          <a:off x="3767138" y="4911725"/>
          <a:ext cx="3976687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1600200" imgH="393700" progId="Equation.3">
                  <p:embed/>
                </p:oleObj>
              </mc:Choice>
              <mc:Fallback>
                <p:oleObj r:id="rId27" imgW="1600200" imgH="3937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767138" y="4911725"/>
                        <a:ext cx="3976687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3"/>
          <p:cNvGrpSpPr/>
          <p:nvPr/>
        </p:nvGrpSpPr>
        <p:grpSpPr>
          <a:xfrm>
            <a:off x="601663" y="5856288"/>
            <a:ext cx="3160712" cy="574675"/>
            <a:chOff x="351" y="3541"/>
            <a:chExt cx="1991" cy="362"/>
          </a:xfrm>
        </p:grpSpPr>
        <p:graphicFrame>
          <p:nvGraphicFramePr>
            <p:cNvPr id="25633" name="Object 34"/>
            <p:cNvGraphicFramePr>
              <a:graphicFrameLocks noChangeAspect="1"/>
            </p:cNvGraphicFramePr>
            <p:nvPr/>
          </p:nvGraphicFramePr>
          <p:xfrm>
            <a:off x="351" y="3573"/>
            <a:ext cx="766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647700" imgH="279400" progId="Equation.3">
                    <p:embed/>
                  </p:oleObj>
                </mc:Choice>
                <mc:Fallback>
                  <p:oleObj r:id="rId29" imgW="647700" imgH="2794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51" y="3573"/>
                          <a:ext cx="766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4" name="Text Box 35"/>
            <p:cNvSpPr txBox="1"/>
            <p:nvPr/>
          </p:nvSpPr>
          <p:spPr>
            <a:xfrm>
              <a:off x="1688" y="3600"/>
              <a:ext cx="6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向内</a:t>
              </a:r>
            </a:p>
          </p:txBody>
        </p:sp>
        <p:graphicFrame>
          <p:nvGraphicFramePr>
            <p:cNvPr id="25635" name="Object 36"/>
            <p:cNvGraphicFramePr>
              <a:graphicFrameLocks noChangeAspect="1"/>
            </p:cNvGraphicFramePr>
            <p:nvPr/>
          </p:nvGraphicFramePr>
          <p:xfrm>
            <a:off x="1304" y="3541"/>
            <a:ext cx="23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52400" imgH="190500" progId="Equation.3">
                    <p:embed/>
                  </p:oleObj>
                </mc:Choice>
                <mc:Fallback>
                  <p:oleObj r:id="rId14" imgW="152400" imgH="1905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304" y="3541"/>
                          <a:ext cx="232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17" name="Arc 37"/>
          <p:cNvSpPr/>
          <p:nvPr/>
        </p:nvSpPr>
        <p:spPr>
          <a:xfrm rot="-3935508" flipH="1">
            <a:off x="950913" y="3641725"/>
            <a:ext cx="528637" cy="10048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21600" h="31979" fill="none">
                <a:moveTo>
                  <a:pt x="15189" y="-1"/>
                </a:moveTo>
                <a:cubicBezTo>
                  <a:pt x="19291" y="4057"/>
                  <a:pt x="21600" y="9587"/>
                  <a:pt x="21600" y="15357"/>
                </a:cubicBezTo>
                <a:cubicBezTo>
                  <a:pt x="21600" y="21783"/>
                  <a:pt x="18738" y="27875"/>
                  <a:pt x="13793" y="31979"/>
                </a:cubicBezTo>
              </a:path>
              <a:path w="21600" h="31979" stroke="0">
                <a:moveTo>
                  <a:pt x="15189" y="-1"/>
                </a:moveTo>
                <a:cubicBezTo>
                  <a:pt x="19291" y="4057"/>
                  <a:pt x="21600" y="9587"/>
                  <a:pt x="21600" y="15357"/>
                </a:cubicBezTo>
                <a:cubicBezTo>
                  <a:pt x="21600" y="21783"/>
                  <a:pt x="18738" y="27875"/>
                  <a:pt x="13793" y="31979"/>
                </a:cubicBezTo>
                <a:lnTo>
                  <a:pt x="0" y="15357"/>
                </a:lnTo>
                <a:lnTo>
                  <a:pt x="15189" y="-1"/>
                </a:lnTo>
                <a:close/>
              </a:path>
            </a:pathLst>
          </a:custGeom>
          <a:noFill/>
          <a:ln w="952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7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7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7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27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3" grpId="0"/>
      <p:bldP spid="276500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/>
          <p:nvPr/>
        </p:nvSpPr>
        <p:spPr>
          <a:xfrm>
            <a:off x="0" y="1557338"/>
            <a:ext cx="573405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一半径为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R=1.0cm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的无限长的半圆形金属薄片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沿轴通有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I=10.0A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的电流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设电流在金属片上均匀分布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试求圆柱轴线上任意一点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的磁感应强度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77528" name="Text Box 24"/>
          <p:cNvSpPr txBox="1"/>
          <p:nvPr/>
        </p:nvSpPr>
        <p:spPr>
          <a:xfrm>
            <a:off x="395288" y="3213100"/>
            <a:ext cx="3922712" cy="113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解：将电流分割成许多无限长载流直导线，电流为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</a:t>
            </a:r>
          </a:p>
        </p:txBody>
      </p:sp>
      <p:graphicFrame>
        <p:nvGraphicFramePr>
          <p:cNvPr id="277529" name="Object 25"/>
          <p:cNvGraphicFramePr>
            <a:graphicFrameLocks noChangeAspect="1"/>
          </p:cNvGraphicFramePr>
          <p:nvPr/>
        </p:nvGraphicFramePr>
        <p:xfrm>
          <a:off x="1187450" y="4167188"/>
          <a:ext cx="14446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74065" imgH="457200" progId="Equation.3">
                  <p:embed/>
                </p:oleObj>
              </mc:Choice>
              <mc:Fallback>
                <p:oleObj r:id="rId2" imgW="774065" imgH="457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7450" y="4167188"/>
                        <a:ext cx="1444625" cy="852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0" name="Object 26"/>
          <p:cNvGraphicFramePr>
            <a:graphicFrameLocks noChangeAspect="1"/>
          </p:cNvGraphicFramePr>
          <p:nvPr/>
        </p:nvGraphicFramePr>
        <p:xfrm>
          <a:off x="1144588" y="5683250"/>
          <a:ext cx="126841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9300" imgH="457200" progId="Equation.3">
                  <p:embed/>
                </p:oleObj>
              </mc:Choice>
              <mc:Fallback>
                <p:oleObj r:id="rId4" imgW="749300" imgH="4572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4588" y="5683250"/>
                        <a:ext cx="1268412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1" name="Object 27"/>
          <p:cNvGraphicFramePr>
            <a:graphicFrameLocks noChangeAspect="1"/>
          </p:cNvGraphicFramePr>
          <p:nvPr/>
        </p:nvGraphicFramePr>
        <p:xfrm>
          <a:off x="1144588" y="5229225"/>
          <a:ext cx="1354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190500" progId="Equation.3">
                  <p:embed/>
                </p:oleObj>
              </mc:Choice>
              <mc:Fallback>
                <p:oleObj r:id="rId6" imgW="685800" imgH="1905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44588" y="5229225"/>
                        <a:ext cx="1354137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0" name="Group 48"/>
          <p:cNvGrpSpPr/>
          <p:nvPr/>
        </p:nvGrpSpPr>
        <p:grpSpPr>
          <a:xfrm>
            <a:off x="5776913" y="1344613"/>
            <a:ext cx="2914650" cy="1839912"/>
            <a:chOff x="3612" y="941"/>
            <a:chExt cx="1836" cy="1159"/>
          </a:xfrm>
        </p:grpSpPr>
        <p:grpSp>
          <p:nvGrpSpPr>
            <p:cNvPr id="26631" name="Group 33"/>
            <p:cNvGrpSpPr/>
            <p:nvPr/>
          </p:nvGrpSpPr>
          <p:grpSpPr>
            <a:xfrm>
              <a:off x="3612" y="941"/>
              <a:ext cx="1836" cy="1159"/>
              <a:chOff x="3408" y="905"/>
              <a:chExt cx="1836" cy="1159"/>
            </a:xfrm>
          </p:grpSpPr>
          <p:sp>
            <p:nvSpPr>
              <p:cNvPr id="26632" name="AutoShape 28"/>
              <p:cNvSpPr/>
              <p:nvPr/>
            </p:nvSpPr>
            <p:spPr>
              <a:xfrm>
                <a:off x="3408" y="1464"/>
                <a:ext cx="624" cy="6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1141" y="10800"/>
                    </a:moveTo>
                    <a:cubicBezTo>
                      <a:pt x="1141" y="5465"/>
                      <a:pt x="5465" y="1141"/>
                      <a:pt x="10800" y="1141"/>
                    </a:cubicBezTo>
                    <a:cubicBezTo>
                      <a:pt x="16134" y="1140"/>
                      <a:pt x="20458" y="5465"/>
                      <a:pt x="20459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lnTo>
                      <a:pt x="1141" y="108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33" name="Line 29"/>
              <p:cNvSpPr/>
              <p:nvPr/>
            </p:nvSpPr>
            <p:spPr>
              <a:xfrm flipV="1">
                <a:off x="4032" y="1212"/>
                <a:ext cx="1212" cy="552"/>
              </a:xfrm>
              <a:prstGeom prst="line">
                <a:avLst/>
              </a:prstGeom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4" name="AutoShape 30"/>
              <p:cNvSpPr/>
              <p:nvPr/>
            </p:nvSpPr>
            <p:spPr>
              <a:xfrm rot="2792860">
                <a:off x="4613" y="917"/>
                <a:ext cx="624" cy="6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4030" y="3097"/>
                    </a:moveTo>
                    <a:cubicBezTo>
                      <a:pt x="5901" y="1452"/>
                      <a:pt x="8308" y="544"/>
                      <a:pt x="10800" y="545"/>
                    </a:cubicBezTo>
                    <a:cubicBezTo>
                      <a:pt x="13291" y="545"/>
                      <a:pt x="15698" y="1452"/>
                      <a:pt x="17569" y="3097"/>
                    </a:cubicBezTo>
                    <a:lnTo>
                      <a:pt x="17929" y="2687"/>
                    </a:lnTo>
                    <a:cubicBezTo>
                      <a:pt x="15958" y="955"/>
                      <a:pt x="13424" y="-1"/>
                      <a:pt x="10799" y="0"/>
                    </a:cubicBezTo>
                    <a:cubicBezTo>
                      <a:pt x="8175" y="0"/>
                      <a:pt x="5641" y="955"/>
                      <a:pt x="3670" y="2687"/>
                    </a:cubicBezTo>
                    <a:lnTo>
                      <a:pt x="4030" y="3097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rgbClr val="00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35" name="Line 31"/>
              <p:cNvSpPr/>
              <p:nvPr/>
            </p:nvSpPr>
            <p:spPr>
              <a:xfrm flipV="1">
                <a:off x="3617" y="941"/>
                <a:ext cx="1320" cy="540"/>
              </a:xfrm>
              <a:prstGeom prst="line">
                <a:avLst/>
              </a:prstGeom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6" name="Line 32"/>
              <p:cNvSpPr/>
              <p:nvPr/>
            </p:nvSpPr>
            <p:spPr>
              <a:xfrm flipV="1">
                <a:off x="3449" y="1541"/>
                <a:ext cx="432" cy="216"/>
              </a:xfrm>
              <a:prstGeom prst="line">
                <a:avLst/>
              </a:prstGeom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637" name="Line 34"/>
            <p:cNvSpPr/>
            <p:nvPr/>
          </p:nvSpPr>
          <p:spPr>
            <a:xfrm flipV="1">
              <a:off x="4212" y="1236"/>
              <a:ext cx="1008" cy="444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8" name="Line 35"/>
            <p:cNvSpPr/>
            <p:nvPr/>
          </p:nvSpPr>
          <p:spPr>
            <a:xfrm flipV="1">
              <a:off x="4241" y="1289"/>
              <a:ext cx="1008" cy="444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9" name="Line 36"/>
            <p:cNvSpPr/>
            <p:nvPr/>
          </p:nvSpPr>
          <p:spPr>
            <a:xfrm flipV="1">
              <a:off x="3965" y="1301"/>
              <a:ext cx="492" cy="204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0" name="Line 37"/>
            <p:cNvSpPr/>
            <p:nvPr/>
          </p:nvSpPr>
          <p:spPr>
            <a:xfrm flipV="1">
              <a:off x="4078" y="1306"/>
              <a:ext cx="492" cy="204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1" name="Line 38"/>
            <p:cNvSpPr/>
            <p:nvPr/>
          </p:nvSpPr>
          <p:spPr>
            <a:xfrm flipV="1">
              <a:off x="4126" y="1354"/>
              <a:ext cx="492" cy="204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2" name="Line 39"/>
            <p:cNvSpPr/>
            <p:nvPr/>
          </p:nvSpPr>
          <p:spPr>
            <a:xfrm flipV="1">
              <a:off x="4186" y="1438"/>
              <a:ext cx="492" cy="204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3" name="Line 40"/>
            <p:cNvSpPr/>
            <p:nvPr/>
          </p:nvSpPr>
          <p:spPr>
            <a:xfrm flipH="1">
              <a:off x="4836" y="1128"/>
              <a:ext cx="324" cy="14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44" name="Line 41"/>
            <p:cNvSpPr/>
            <p:nvPr/>
          </p:nvSpPr>
          <p:spPr>
            <a:xfrm flipV="1">
              <a:off x="4150" y="1390"/>
              <a:ext cx="492" cy="204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26645" name="Object 43"/>
            <p:cNvGraphicFramePr>
              <a:graphicFrameLocks noChangeAspect="1"/>
            </p:cNvGraphicFramePr>
            <p:nvPr/>
          </p:nvGraphicFramePr>
          <p:xfrm>
            <a:off x="4676" y="1124"/>
            <a:ext cx="21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7000" imgH="165100" progId="Equation.3">
                    <p:embed/>
                  </p:oleObj>
                </mc:Choice>
                <mc:Fallback>
                  <p:oleObj r:id="rId8" imgW="127000" imgH="1651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676" y="1124"/>
                          <a:ext cx="212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6" name="Object 44"/>
            <p:cNvGraphicFramePr>
              <a:graphicFrameLocks noChangeAspect="1"/>
            </p:cNvGraphicFramePr>
            <p:nvPr/>
          </p:nvGraphicFramePr>
          <p:xfrm>
            <a:off x="3952" y="1693"/>
            <a:ext cx="21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165100" progId="Equation.3">
                    <p:embed/>
                  </p:oleObj>
                </mc:Choice>
                <mc:Fallback>
                  <p:oleObj r:id="rId10" imgW="152400" imgH="1651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952" y="1693"/>
                          <a:ext cx="218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7" name="Line 45"/>
            <p:cNvSpPr/>
            <p:nvPr/>
          </p:nvSpPr>
          <p:spPr>
            <a:xfrm flipH="1">
              <a:off x="3684" y="1788"/>
              <a:ext cx="492" cy="12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648" name="Line 46"/>
            <p:cNvSpPr/>
            <p:nvPr/>
          </p:nvSpPr>
          <p:spPr>
            <a:xfrm flipH="1">
              <a:off x="3689" y="1673"/>
              <a:ext cx="480" cy="264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26649" name="组合 7"/>
          <p:cNvGrpSpPr/>
          <p:nvPr/>
        </p:nvGrpSpPr>
        <p:grpSpPr>
          <a:xfrm>
            <a:off x="3973513" y="3008313"/>
            <a:ext cx="4845050" cy="3605212"/>
            <a:chOff x="6095" y="4832"/>
            <a:chExt cx="7630" cy="5677"/>
          </a:xfrm>
        </p:grpSpPr>
        <p:grpSp>
          <p:nvGrpSpPr>
            <p:cNvPr id="26650" name="Group 55"/>
            <p:cNvGrpSpPr/>
            <p:nvPr/>
          </p:nvGrpSpPr>
          <p:grpSpPr>
            <a:xfrm>
              <a:off x="6095" y="4832"/>
              <a:ext cx="7630" cy="5512"/>
              <a:chOff x="2438" y="1933"/>
              <a:chExt cx="3052" cy="2205"/>
            </a:xfrm>
          </p:grpSpPr>
          <p:grpSp>
            <p:nvGrpSpPr>
              <p:cNvPr id="26651" name="Group 52"/>
              <p:cNvGrpSpPr/>
              <p:nvPr/>
            </p:nvGrpSpPr>
            <p:grpSpPr>
              <a:xfrm>
                <a:off x="2438" y="1933"/>
                <a:ext cx="3052" cy="2205"/>
                <a:chOff x="2438" y="1933"/>
                <a:chExt cx="3052" cy="2205"/>
              </a:xfrm>
            </p:grpSpPr>
            <p:grpSp>
              <p:nvGrpSpPr>
                <p:cNvPr id="26652" name="Group 3"/>
                <p:cNvGrpSpPr/>
                <p:nvPr/>
              </p:nvGrpSpPr>
              <p:grpSpPr>
                <a:xfrm>
                  <a:off x="2438" y="1933"/>
                  <a:ext cx="3052" cy="2205"/>
                  <a:chOff x="2318" y="1438"/>
                  <a:chExt cx="3052" cy="2205"/>
                </a:xfrm>
              </p:grpSpPr>
              <p:sp>
                <p:nvSpPr>
                  <p:cNvPr id="26653" name="Arc 4"/>
                  <p:cNvSpPr/>
                  <p:nvPr/>
                </p:nvSpPr>
                <p:spPr>
                  <a:xfrm rot="5400000" flipH="1">
                    <a:off x="3196" y="1520"/>
                    <a:ext cx="1020" cy="211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1600" h="432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5"/>
                          <a:pt x="11934" y="43195"/>
                          <a:pt x="8" y="43199"/>
                        </a:cubicBezTo>
                      </a:path>
                      <a:path w="21600" h="432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5"/>
                          <a:pt x="11934" y="43195"/>
                          <a:pt x="8" y="43199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 w="381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 useBgFill="1">
                <p:nvSpPr>
                  <p:cNvPr id="26654" name="Arc 5"/>
                  <p:cNvSpPr/>
                  <p:nvPr/>
                </p:nvSpPr>
                <p:spPr>
                  <a:xfrm rot="5400000" flipH="1">
                    <a:off x="3212" y="1620"/>
                    <a:ext cx="952" cy="19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1600" h="432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5"/>
                          <a:pt x="11934" y="43195"/>
                          <a:pt x="8" y="43199"/>
                        </a:cubicBezTo>
                      </a:path>
                      <a:path w="21600" h="432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5"/>
                          <a:pt x="11934" y="43195"/>
                          <a:pt x="8" y="43199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ln w="381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5" name="Line 6"/>
                  <p:cNvSpPr/>
                  <p:nvPr/>
                </p:nvSpPr>
                <p:spPr>
                  <a:xfrm>
                    <a:off x="3680" y="1465"/>
                    <a:ext cx="0" cy="214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arrow" w="med" len="med"/>
                    <a:tailEnd type="none" w="med" len="med"/>
                  </a:ln>
                </p:spPr>
              </p:sp>
              <p:sp>
                <p:nvSpPr>
                  <p:cNvPr id="26656" name="Line 7"/>
                  <p:cNvSpPr/>
                  <p:nvPr/>
                </p:nvSpPr>
                <p:spPr>
                  <a:xfrm flipH="1">
                    <a:off x="2318" y="3091"/>
                    <a:ext cx="2807" cy="0"/>
                  </a:xfrm>
                  <a:prstGeom prst="line">
                    <a:avLst/>
                  </a:prstGeom>
                  <a:ln w="25400" cap="flat" cmpd="sng">
                    <a:solidFill>
                      <a:schemeClr val="tx2"/>
                    </a:solidFill>
                    <a:prstDash val="solid"/>
                    <a:round/>
                    <a:headEnd type="arrow" w="med" len="med"/>
                    <a:tailEnd type="none" w="med" len="med"/>
                  </a:ln>
                </p:spPr>
              </p:sp>
              <p:sp>
                <p:nvSpPr>
                  <p:cNvPr id="26657" name="Line 10"/>
                  <p:cNvSpPr/>
                  <p:nvPr/>
                </p:nvSpPr>
                <p:spPr>
                  <a:xfrm flipV="1">
                    <a:off x="3680" y="2140"/>
                    <a:ext cx="279" cy="956"/>
                  </a:xfrm>
                  <a:prstGeom prst="line">
                    <a:avLst/>
                  </a:prstGeom>
                  <a:ln w="31750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58" name="Line 11"/>
                  <p:cNvSpPr/>
                  <p:nvPr/>
                </p:nvSpPr>
                <p:spPr>
                  <a:xfrm flipV="1">
                    <a:off x="3680" y="2272"/>
                    <a:ext cx="567" cy="819"/>
                  </a:xfrm>
                  <a:prstGeom prst="line">
                    <a:avLst/>
                  </a:prstGeom>
                  <a:ln w="31750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59" name="Line 12"/>
                  <p:cNvSpPr/>
                  <p:nvPr/>
                </p:nvSpPr>
                <p:spPr>
                  <a:xfrm>
                    <a:off x="3680" y="3096"/>
                    <a:ext cx="544" cy="330"/>
                  </a:xfrm>
                  <a:prstGeom prst="line">
                    <a:avLst/>
                  </a:prstGeom>
                  <a:ln w="349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6660" name="Arc 13"/>
                  <p:cNvSpPr/>
                  <p:nvPr/>
                </p:nvSpPr>
                <p:spPr>
                  <a:xfrm rot="7322303" flipH="1">
                    <a:off x="3853" y="2854"/>
                    <a:ext cx="96" cy="24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6661" name="Group 14"/>
                  <p:cNvGrpSpPr>
                    <a:grpSpLocks noChangeAspect="1"/>
                  </p:cNvGrpSpPr>
                  <p:nvPr/>
                </p:nvGrpSpPr>
                <p:grpSpPr>
                  <a:xfrm>
                    <a:off x="4247" y="3084"/>
                    <a:ext cx="406" cy="559"/>
                    <a:chOff x="4247" y="3084"/>
                    <a:chExt cx="406" cy="559"/>
                  </a:xfrm>
                </p:grpSpPr>
                <p:sp>
                  <p:nvSpPr>
                    <p:cNvPr id="26662" name="AutoShape 15"/>
                    <p:cNvSpPr>
                      <a:spLocks noChangeAspect="1" noTextEdit="1"/>
                    </p:cNvSpPr>
                    <p:nvPr/>
                  </p:nvSpPr>
                  <p:spPr>
                    <a:xfrm>
                      <a:off x="4247" y="3246"/>
                      <a:ext cx="406" cy="365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lstStyle/>
                    <a:p>
                      <a:pPr eaLnBrk="0" hangingPunct="0"/>
                      <a:endParaRPr lang="zh-CN" altLang="en-US"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26663" name="Rectangle 16"/>
                    <p:cNvSpPr/>
                    <p:nvPr/>
                  </p:nvSpPr>
                  <p:spPr>
                    <a:xfrm>
                      <a:off x="4425" y="3297"/>
                      <a:ext cx="176" cy="3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r>
                        <a:rPr lang="en-US" altLang="zh-CN" sz="3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dirty="0"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6664" name="Rectangle 17"/>
                    <p:cNvSpPr/>
                    <p:nvPr/>
                  </p:nvSpPr>
                  <p:spPr>
                    <a:xfrm>
                      <a:off x="4283" y="3297"/>
                      <a:ext cx="144" cy="3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r>
                        <a:rPr lang="en-US" altLang="zh-CN" sz="3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dirty="0"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6665" name="Rectangle 18"/>
                    <p:cNvSpPr/>
                    <p:nvPr/>
                  </p:nvSpPr>
                  <p:spPr>
                    <a:xfrm>
                      <a:off x="4473" y="3084"/>
                      <a:ext cx="118" cy="3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r>
                        <a:rPr lang="en-US" altLang="zh-CN" sz="3600" dirty="0">
                          <a:solidFill>
                            <a:srgbClr val="000000"/>
                          </a:solidFill>
                          <a:latin typeface="MT Extra" panose="05050102010205020202" pitchFamily="18" charset="2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dirty="0"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aphicFrame>
                <p:nvGraphicFramePr>
                  <p:cNvPr id="26666" name="Object 19"/>
                  <p:cNvGraphicFramePr>
                    <a:graphicFrameLocks noChangeAspect="1"/>
                  </p:cNvGraphicFramePr>
                  <p:nvPr/>
                </p:nvGraphicFramePr>
                <p:xfrm>
                  <a:off x="3405" y="3091"/>
                  <a:ext cx="275" cy="29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r:id="rId12" imgW="177800" imgH="190500" progId="Equation.3">
                          <p:embed/>
                        </p:oleObj>
                      </mc:Choice>
                      <mc:Fallback>
                        <p:oleObj r:id="rId12" imgW="177800" imgH="190500" progId="Equation.3">
                          <p:embed/>
                          <p:pic>
                            <p:nvPicPr>
                              <p:cNvPr id="0" name="图片 3139"/>
                              <p:cNvPicPr/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405" y="3091"/>
                                <a:ext cx="275" cy="293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6667" name="Arc 21"/>
                  <p:cNvSpPr/>
                  <p:nvPr/>
                </p:nvSpPr>
                <p:spPr>
                  <a:xfrm rot="-7630533" flipH="1">
                    <a:off x="3733" y="3129"/>
                    <a:ext cx="96" cy="24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26668" name="Object 22"/>
                  <p:cNvGraphicFramePr>
                    <a:graphicFrameLocks noChangeAspect="1"/>
                  </p:cNvGraphicFramePr>
                  <p:nvPr/>
                </p:nvGraphicFramePr>
                <p:xfrm>
                  <a:off x="5093" y="3146"/>
                  <a:ext cx="277" cy="30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r:id="rId14" imgW="139700" imgH="152400" progId="Equation.3">
                          <p:embed/>
                        </p:oleObj>
                      </mc:Choice>
                      <mc:Fallback>
                        <p:oleObj r:id="rId14" imgW="139700" imgH="152400" progId="Equation.3">
                          <p:embed/>
                          <p:pic>
                            <p:nvPicPr>
                              <p:cNvPr id="0" name="图片 3147"/>
                              <p:cNvPicPr/>
                              <p:nvPr/>
                            </p:nvPicPr>
                            <p:blipFill>
                              <a:blip r:embed="rId1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5093" y="3146"/>
                                <a:ext cx="277" cy="301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6669" name="Object 23"/>
                  <p:cNvGraphicFramePr>
                    <a:graphicFrameLocks noChangeAspect="1"/>
                  </p:cNvGraphicFramePr>
                  <p:nvPr/>
                </p:nvGraphicFramePr>
                <p:xfrm>
                  <a:off x="3235" y="1438"/>
                  <a:ext cx="339" cy="42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r:id="rId16" imgW="152400" imgH="190500" progId="Equation.3">
                          <p:embed/>
                        </p:oleObj>
                      </mc:Choice>
                      <mc:Fallback>
                        <p:oleObj r:id="rId16" imgW="152400" imgH="190500" progId="Equation.3">
                          <p:embed/>
                          <p:pic>
                            <p:nvPicPr>
                              <p:cNvPr id="0" name="图片 3142"/>
                              <p:cNvPicPr/>
                              <p:nvPr/>
                            </p:nvPicPr>
                            <p:blipFill>
                              <a:blip r:embed="rId1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35" y="1438"/>
                                <a:ext cx="339" cy="42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6670" name="Oval 49"/>
                <p:cNvSpPr/>
                <p:nvPr/>
              </p:nvSpPr>
              <p:spPr>
                <a:xfrm>
                  <a:off x="4116" y="2616"/>
                  <a:ext cx="56" cy="5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/>
                <a:p>
                  <a:pPr algn="just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</a:pPr>
                  <a:endParaRPr lang="zh-CN" altLang="en-US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26671" name="Oval 50"/>
                <p:cNvSpPr/>
                <p:nvPr/>
              </p:nvSpPr>
              <p:spPr>
                <a:xfrm>
                  <a:off x="4229" y="2669"/>
                  <a:ext cx="56" cy="5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/>
                <a:p>
                  <a:pPr algn="just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</a:pPr>
                  <a:endParaRPr lang="zh-CN" altLang="en-US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26672" name="Oval 51"/>
                <p:cNvSpPr/>
                <p:nvPr/>
              </p:nvSpPr>
              <p:spPr>
                <a:xfrm>
                  <a:off x="4301" y="2705"/>
                  <a:ext cx="56" cy="5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/>
                <a:p>
                  <a:pPr algn="just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</a:pPr>
                  <a:endParaRPr lang="zh-CN" altLang="en-US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</p:grpSp>
          <p:graphicFrame>
            <p:nvGraphicFramePr>
              <p:cNvPr id="26673" name="Object 53"/>
              <p:cNvGraphicFramePr>
                <a:graphicFrameLocks noChangeAspect="1"/>
              </p:cNvGraphicFramePr>
              <p:nvPr/>
            </p:nvGraphicFramePr>
            <p:xfrm>
              <a:off x="3888" y="2920"/>
              <a:ext cx="28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228600" imgH="177800" progId="Equation.3">
                      <p:embed/>
                    </p:oleObj>
                  </mc:Choice>
                  <mc:Fallback>
                    <p:oleObj r:id="rId18" imgW="228600" imgH="177800" progId="Equation.3">
                      <p:embed/>
                      <p:pic>
                        <p:nvPicPr>
                          <p:cNvPr id="0" name="图片 3148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3888" y="2920"/>
                            <a:ext cx="288" cy="2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74" name="Arc 54"/>
              <p:cNvSpPr/>
              <p:nvPr/>
            </p:nvSpPr>
            <p:spPr>
              <a:xfrm>
                <a:off x="3876" y="3300"/>
                <a:ext cx="96" cy="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FF3300"/>
              </a:solidFill>
              <a:ln w="952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6675" name="对象 1"/>
            <p:cNvGraphicFramePr/>
            <p:nvPr/>
          </p:nvGraphicFramePr>
          <p:xfrm>
            <a:off x="10089" y="5225"/>
            <a:ext cx="1432" cy="1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401320" imgH="440690" progId="Equation.DSMT4">
                    <p:embed/>
                  </p:oleObj>
                </mc:Choice>
                <mc:Fallback>
                  <p:oleObj r:id="rId20" imgW="401320" imgH="440690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0089" y="5225"/>
                          <a:ext cx="1432" cy="17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76" name="对象 3"/>
            <p:cNvGraphicFramePr/>
            <p:nvPr/>
          </p:nvGraphicFramePr>
          <p:xfrm>
            <a:off x="9995" y="7795"/>
            <a:ext cx="977" cy="1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80670" imgH="374015" progId="Equation.DSMT4">
                    <p:embed/>
                  </p:oleObj>
                </mc:Choice>
                <mc:Fallback>
                  <p:oleObj r:id="rId22" imgW="280670" imgH="374015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9995" y="7795"/>
                          <a:ext cx="977" cy="1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77" name="对象 5"/>
            <p:cNvGraphicFramePr/>
            <p:nvPr/>
          </p:nvGraphicFramePr>
          <p:xfrm>
            <a:off x="9164" y="9108"/>
            <a:ext cx="1694" cy="1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369570" imgH="396875" progId="Equation.DSMT4">
                    <p:embed/>
                  </p:oleObj>
                </mc:Choice>
                <mc:Fallback>
                  <p:oleObj r:id="rId24" imgW="369570" imgH="396875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9164" y="9108"/>
                          <a:ext cx="1694" cy="14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678" name="组合 8"/>
          <p:cNvGrpSpPr/>
          <p:nvPr/>
        </p:nvGrpSpPr>
        <p:grpSpPr>
          <a:xfrm>
            <a:off x="107950" y="117475"/>
            <a:ext cx="8123238" cy="1179513"/>
            <a:chOff x="169" y="184"/>
            <a:chExt cx="12793" cy="1859"/>
          </a:xfrm>
        </p:grpSpPr>
        <p:sp>
          <p:nvSpPr>
            <p:cNvPr id="26679" name="文本框 8"/>
            <p:cNvSpPr txBox="1"/>
            <p:nvPr/>
          </p:nvSpPr>
          <p:spPr>
            <a:xfrm>
              <a:off x="169" y="184"/>
              <a:ext cx="869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计算题考点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、磁场叠加原理求磁场</a:t>
              </a:r>
            </a:p>
          </p:txBody>
        </p:sp>
        <p:sp>
          <p:nvSpPr>
            <p:cNvPr id="26680" name="文本框 9"/>
            <p:cNvSpPr txBox="1"/>
            <p:nvPr/>
          </p:nvSpPr>
          <p:spPr>
            <a:xfrm>
              <a:off x="396" y="1318"/>
              <a:ext cx="12566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题型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2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：不同电流在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P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点激发的磁场方向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不在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同一条直线上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77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775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775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2"/>
          <p:cNvSpPr txBox="1"/>
          <p:nvPr/>
        </p:nvSpPr>
        <p:spPr>
          <a:xfrm>
            <a:off x="366713" y="393700"/>
            <a:ext cx="6816725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利用无限长载流直导线的磁感应强度公式</a:t>
            </a:r>
          </a:p>
        </p:txBody>
      </p:sp>
      <p:graphicFrame>
        <p:nvGraphicFramePr>
          <p:cNvPr id="278531" name="Object 3"/>
          <p:cNvGraphicFramePr>
            <a:graphicFrameLocks noChangeAspect="1"/>
          </p:cNvGraphicFramePr>
          <p:nvPr/>
        </p:nvGraphicFramePr>
        <p:xfrm>
          <a:off x="611188" y="1101725"/>
          <a:ext cx="306546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4800" imgH="457200" progId="Equation.3">
                  <p:embed/>
                </p:oleObj>
              </mc:Choice>
              <mc:Fallback>
                <p:oleObj r:id="rId2" imgW="1574800" imgH="4572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188" y="1101725"/>
                        <a:ext cx="3065462" cy="890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Text Box 4"/>
          <p:cNvSpPr txBox="1"/>
          <p:nvPr/>
        </p:nvSpPr>
        <p:spPr>
          <a:xfrm>
            <a:off x="307975" y="2347913"/>
            <a:ext cx="49291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考虑电流分布的对称性</a:t>
            </a:r>
          </a:p>
        </p:txBody>
      </p:sp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1146175" y="3019425"/>
          <a:ext cx="8890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81965" imgH="266700" progId="Equation.3">
                  <p:embed/>
                </p:oleObj>
              </mc:Choice>
              <mc:Fallback>
                <p:oleObj r:id="rId4" imgW="481965" imgH="266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6175" y="3019425"/>
                        <a:ext cx="889000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4" name="Object 6"/>
          <p:cNvGraphicFramePr>
            <a:graphicFrameLocks noChangeAspect="1"/>
          </p:cNvGraphicFramePr>
          <p:nvPr/>
        </p:nvGraphicFramePr>
        <p:xfrm>
          <a:off x="812800" y="3789363"/>
          <a:ext cx="39560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41500" imgH="292100" progId="Equation.3">
                  <p:embed/>
                </p:oleObj>
              </mc:Choice>
              <mc:Fallback>
                <p:oleObj r:id="rId6" imgW="1841500" imgH="2921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2800" y="3789363"/>
                        <a:ext cx="3956050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5" name="Object 7"/>
          <p:cNvGraphicFramePr>
            <a:graphicFrameLocks noChangeAspect="1"/>
          </p:cNvGraphicFramePr>
          <p:nvPr/>
        </p:nvGraphicFramePr>
        <p:xfrm>
          <a:off x="812800" y="4508500"/>
          <a:ext cx="38862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05000" imgH="457200" progId="Equation.3">
                  <p:embed/>
                </p:oleObj>
              </mc:Choice>
              <mc:Fallback>
                <p:oleObj r:id="rId8" imgW="1905000" imgH="4572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2800" y="4508500"/>
                        <a:ext cx="3886200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6" name="Text Box 8"/>
          <p:cNvSpPr txBox="1"/>
          <p:nvPr/>
        </p:nvSpPr>
        <p:spPr>
          <a:xfrm>
            <a:off x="1279525" y="5789613"/>
            <a:ext cx="29860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方向沿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正方向</a:t>
            </a:r>
          </a:p>
        </p:txBody>
      </p:sp>
      <p:grpSp>
        <p:nvGrpSpPr>
          <p:cNvPr id="27656" name="Group 9"/>
          <p:cNvGrpSpPr/>
          <p:nvPr/>
        </p:nvGrpSpPr>
        <p:grpSpPr>
          <a:xfrm>
            <a:off x="4902200" y="1027113"/>
            <a:ext cx="3881438" cy="3163887"/>
            <a:chOff x="2318" y="1438"/>
            <a:chExt cx="3052" cy="2253"/>
          </a:xfrm>
        </p:grpSpPr>
        <p:sp>
          <p:nvSpPr>
            <p:cNvPr id="27657" name="Arc 10"/>
            <p:cNvSpPr/>
            <p:nvPr/>
          </p:nvSpPr>
          <p:spPr>
            <a:xfrm rot="5400000" flipH="1">
              <a:off x="3196" y="1520"/>
              <a:ext cx="1020" cy="21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432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5"/>
                    <a:pt x="11934" y="43195"/>
                    <a:pt x="8" y="43199"/>
                  </a:cubicBezTo>
                </a:path>
                <a:path w="21600" h="432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5"/>
                    <a:pt x="11934" y="43195"/>
                    <a:pt x="8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rgbClr val="FF9900"/>
            </a:solidFill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7658" name="Arc 11"/>
            <p:cNvSpPr/>
            <p:nvPr/>
          </p:nvSpPr>
          <p:spPr>
            <a:xfrm rot="5400000" flipH="1">
              <a:off x="3212" y="1620"/>
              <a:ext cx="952" cy="19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432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5"/>
                    <a:pt x="11934" y="43195"/>
                    <a:pt x="8" y="43199"/>
                  </a:cubicBezTo>
                </a:path>
                <a:path w="21600" h="432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5"/>
                    <a:pt x="11934" y="43195"/>
                    <a:pt x="8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9" name="Line 12"/>
            <p:cNvSpPr/>
            <p:nvPr/>
          </p:nvSpPr>
          <p:spPr>
            <a:xfrm>
              <a:off x="3680" y="1465"/>
              <a:ext cx="0" cy="214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27660" name="Line 13"/>
            <p:cNvSpPr/>
            <p:nvPr/>
          </p:nvSpPr>
          <p:spPr>
            <a:xfrm flipH="1">
              <a:off x="2318" y="3091"/>
              <a:ext cx="2807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graphicFrame>
          <p:nvGraphicFramePr>
            <p:cNvPr id="27661" name="Object 14"/>
            <p:cNvGraphicFramePr>
              <a:graphicFrameLocks noChangeAspect="1"/>
            </p:cNvGraphicFramePr>
            <p:nvPr/>
          </p:nvGraphicFramePr>
          <p:xfrm>
            <a:off x="3977" y="2678"/>
            <a:ext cx="27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203200" progId="Equation.3">
                    <p:embed/>
                  </p:oleObj>
                </mc:Choice>
                <mc:Fallback>
                  <p:oleObj r:id="rId10" imgW="152400" imgH="2032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77" y="2678"/>
                          <a:ext cx="270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2" name="Object 15"/>
            <p:cNvGraphicFramePr>
              <a:graphicFrameLocks noChangeAspect="1"/>
            </p:cNvGraphicFramePr>
            <p:nvPr/>
          </p:nvGraphicFramePr>
          <p:xfrm>
            <a:off x="4073" y="1796"/>
            <a:ext cx="34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03200" imgH="203200" progId="Equation.3">
                    <p:embed/>
                  </p:oleObj>
                </mc:Choice>
                <mc:Fallback>
                  <p:oleObj r:id="rId12" imgW="203200" imgH="2032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73" y="1796"/>
                          <a:ext cx="343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3" name="Line 16"/>
            <p:cNvSpPr/>
            <p:nvPr/>
          </p:nvSpPr>
          <p:spPr>
            <a:xfrm flipV="1">
              <a:off x="3680" y="2140"/>
              <a:ext cx="279" cy="956"/>
            </a:xfrm>
            <a:prstGeom prst="line">
              <a:avLst/>
            </a:prstGeom>
            <a:ln w="3175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4" name="Line 17"/>
            <p:cNvSpPr/>
            <p:nvPr/>
          </p:nvSpPr>
          <p:spPr>
            <a:xfrm flipV="1">
              <a:off x="3680" y="2272"/>
              <a:ext cx="567" cy="819"/>
            </a:xfrm>
            <a:prstGeom prst="line">
              <a:avLst/>
            </a:prstGeom>
            <a:ln w="3175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5" name="Line 18"/>
            <p:cNvSpPr/>
            <p:nvPr/>
          </p:nvSpPr>
          <p:spPr>
            <a:xfrm>
              <a:off x="3680" y="3096"/>
              <a:ext cx="544" cy="330"/>
            </a:xfrm>
            <a:prstGeom prst="line">
              <a:avLst/>
            </a:prstGeom>
            <a:ln w="349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66" name="Arc 19"/>
            <p:cNvSpPr/>
            <p:nvPr/>
          </p:nvSpPr>
          <p:spPr>
            <a:xfrm rot="7322303" flipH="1">
              <a:off x="3853" y="2854"/>
              <a:ext cx="96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667" name="Group 20"/>
            <p:cNvGrpSpPr>
              <a:grpSpLocks noChangeAspect="1"/>
            </p:cNvGrpSpPr>
            <p:nvPr/>
          </p:nvGrpSpPr>
          <p:grpSpPr>
            <a:xfrm>
              <a:off x="4247" y="3084"/>
              <a:ext cx="406" cy="607"/>
              <a:chOff x="4247" y="3084"/>
              <a:chExt cx="406" cy="607"/>
            </a:xfrm>
          </p:grpSpPr>
          <p:sp>
            <p:nvSpPr>
              <p:cNvPr id="27668" name="AutoShape 21"/>
              <p:cNvSpPr>
                <a:spLocks noChangeAspect="1" noTextEdit="1"/>
              </p:cNvSpPr>
              <p:nvPr/>
            </p:nvSpPr>
            <p:spPr>
              <a:xfrm>
                <a:off x="4247" y="3246"/>
                <a:ext cx="40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eaLnBrk="0" hangingPunct="0"/>
                <a:endParaRPr lang="zh-CN" altLang="en-US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7669" name="Rectangle 22"/>
              <p:cNvSpPr/>
              <p:nvPr/>
            </p:nvSpPr>
            <p:spPr>
              <a:xfrm>
                <a:off x="4425" y="3297"/>
                <a:ext cx="17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r>
                  <a:rPr lang="en-US" altLang="zh-CN" sz="3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70" name="Rectangle 23"/>
              <p:cNvSpPr/>
              <p:nvPr/>
            </p:nvSpPr>
            <p:spPr>
              <a:xfrm>
                <a:off x="4283" y="3297"/>
                <a:ext cx="14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r>
                  <a:rPr lang="en-US" altLang="zh-CN" sz="3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71" name="Rectangle 24"/>
              <p:cNvSpPr/>
              <p:nvPr/>
            </p:nvSpPr>
            <p:spPr>
              <a:xfrm>
                <a:off x="4473" y="3084"/>
                <a:ext cx="118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r>
                  <a:rPr lang="en-US" altLang="zh-CN" sz="3600" dirty="0">
                    <a:solidFill>
                      <a:srgbClr val="000000"/>
                    </a:solidFill>
                    <a:latin typeface="MT Extra" panose="05050102010205020202" pitchFamily="18" charset="2"/>
                    <a:ea typeface="宋体" panose="02010600030101010101" pitchFamily="2" charset="-122"/>
                  </a:rPr>
                  <a:t>r</a:t>
                </a:r>
                <a:endParaRPr lang="en-US" altLang="zh-CN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27672" name="Object 25"/>
            <p:cNvGraphicFramePr>
              <a:graphicFrameLocks noChangeAspect="1"/>
            </p:cNvGraphicFramePr>
            <p:nvPr/>
          </p:nvGraphicFramePr>
          <p:xfrm>
            <a:off x="3405" y="3091"/>
            <a:ext cx="27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77800" imgH="190500" progId="Equation.3">
                    <p:embed/>
                  </p:oleObj>
                </mc:Choice>
                <mc:Fallback>
                  <p:oleObj r:id="rId14" imgW="177800" imgH="1905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405" y="3091"/>
                          <a:ext cx="275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3" name="Object 26"/>
            <p:cNvGraphicFramePr>
              <a:graphicFrameLocks noChangeAspect="1"/>
            </p:cNvGraphicFramePr>
            <p:nvPr/>
          </p:nvGraphicFramePr>
          <p:xfrm>
            <a:off x="3751" y="3264"/>
            <a:ext cx="27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203200" progId="Equation.3">
                    <p:embed/>
                  </p:oleObj>
                </mc:Choice>
                <mc:Fallback>
                  <p:oleObj r:id="rId10" imgW="152400" imgH="2032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51" y="3264"/>
                          <a:ext cx="270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4" name="Arc 27"/>
            <p:cNvSpPr/>
            <p:nvPr/>
          </p:nvSpPr>
          <p:spPr>
            <a:xfrm rot="-7630533" flipH="1">
              <a:off x="3733" y="3129"/>
              <a:ext cx="96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75" name="Object 28"/>
            <p:cNvGraphicFramePr>
              <a:graphicFrameLocks noChangeAspect="1"/>
            </p:cNvGraphicFramePr>
            <p:nvPr/>
          </p:nvGraphicFramePr>
          <p:xfrm>
            <a:off x="5093" y="3146"/>
            <a:ext cx="277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39700" imgH="152400" progId="Equation.3">
                    <p:embed/>
                  </p:oleObj>
                </mc:Choice>
                <mc:Fallback>
                  <p:oleObj r:id="rId17" imgW="139700" imgH="1524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093" y="3146"/>
                          <a:ext cx="277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6" name="Object 29"/>
            <p:cNvGraphicFramePr>
              <a:graphicFrameLocks noChangeAspect="1"/>
            </p:cNvGraphicFramePr>
            <p:nvPr/>
          </p:nvGraphicFramePr>
          <p:xfrm>
            <a:off x="3235" y="1438"/>
            <a:ext cx="339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52400" imgH="190500" progId="Equation.3">
                    <p:embed/>
                  </p:oleObj>
                </mc:Choice>
                <mc:Fallback>
                  <p:oleObj r:id="rId19" imgW="152400" imgH="1905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235" y="1438"/>
                          <a:ext cx="339" cy="4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2" grpId="0"/>
      <p:bldP spid="27853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834" name="Object 2"/>
          <p:cNvGraphicFramePr>
            <a:graphicFrameLocks noChangeAspect="1"/>
          </p:cNvGraphicFramePr>
          <p:nvPr/>
        </p:nvGraphicFramePr>
        <p:xfrm>
          <a:off x="682625" y="3262313"/>
          <a:ext cx="13462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4200" imgH="393700" progId="Equation.DSMT4">
                  <p:embed/>
                </p:oleObj>
              </mc:Choice>
              <mc:Fallback>
                <p:oleObj r:id="rId2" imgW="584200" imgH="3937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2625" y="3262313"/>
                        <a:ext cx="1346200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5" name="Object 3"/>
          <p:cNvGraphicFramePr>
            <a:graphicFrameLocks noChangeAspect="1"/>
          </p:cNvGraphicFramePr>
          <p:nvPr/>
        </p:nvGraphicFramePr>
        <p:xfrm>
          <a:off x="754063" y="4360863"/>
          <a:ext cx="9366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1000" imgH="203200" progId="Equation.3">
                  <p:embed/>
                </p:oleObj>
              </mc:Choice>
              <mc:Fallback>
                <p:oleObj r:id="rId4" imgW="381000" imgH="2032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4063" y="4360863"/>
                        <a:ext cx="9366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5" name="Group 112"/>
          <p:cNvGrpSpPr/>
          <p:nvPr/>
        </p:nvGrpSpPr>
        <p:grpSpPr>
          <a:xfrm>
            <a:off x="179388" y="712788"/>
            <a:ext cx="8116887" cy="460375"/>
            <a:chOff x="0" y="187"/>
            <a:chExt cx="5113" cy="290"/>
          </a:xfrm>
        </p:grpSpPr>
        <p:sp>
          <p:nvSpPr>
            <p:cNvPr id="28676" name="Text Box 5"/>
            <p:cNvSpPr txBox="1"/>
            <p:nvPr/>
          </p:nvSpPr>
          <p:spPr>
            <a:xfrm>
              <a:off x="0" y="187"/>
              <a:ext cx="511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en-US" altLang="zh-CN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如图载流长直导线的电流为  </a:t>
              </a:r>
              <a:r>
                <a:rPr lang="en-US" altLang="zh-CN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试求通过矩形的磁通量</a:t>
              </a:r>
              <a:r>
                <a:rPr lang="en-US" altLang="zh-CN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8677" name="Object 6"/>
            <p:cNvGraphicFramePr>
              <a:graphicFrameLocks noChangeAspect="1"/>
            </p:cNvGraphicFramePr>
            <p:nvPr/>
          </p:nvGraphicFramePr>
          <p:xfrm>
            <a:off x="2767" y="187"/>
            <a:ext cx="18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27000" imgH="165100" progId="Equation.3">
                    <p:embed/>
                  </p:oleObj>
                </mc:Choice>
                <mc:Fallback>
                  <p:oleObj r:id="rId6" imgW="127000" imgH="1651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767" y="187"/>
                          <a:ext cx="186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3"/>
          <p:cNvGrpSpPr/>
          <p:nvPr/>
        </p:nvGrpSpPr>
        <p:grpSpPr>
          <a:xfrm>
            <a:off x="225425" y="1371600"/>
            <a:ext cx="5472113" cy="822325"/>
            <a:chOff x="272" y="618"/>
            <a:chExt cx="3447" cy="518"/>
          </a:xfrm>
        </p:grpSpPr>
        <p:sp>
          <p:nvSpPr>
            <p:cNvPr id="28679" name="Text Box 8"/>
            <p:cNvSpPr txBox="1"/>
            <p:nvPr/>
          </p:nvSpPr>
          <p:spPr>
            <a:xfrm>
              <a:off x="272" y="618"/>
              <a:ext cx="344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解</a:t>
              </a:r>
              <a:r>
                <a:rPr lang="zh-CN" altLang="en-US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 先求  ，对变磁场给出   后积分求</a:t>
              </a:r>
            </a:p>
          </p:txBody>
        </p:sp>
        <p:graphicFrame>
          <p:nvGraphicFramePr>
            <p:cNvPr id="28680" name="Object 9"/>
            <p:cNvGraphicFramePr>
              <a:graphicFrameLocks noChangeAspect="1"/>
            </p:cNvGraphicFramePr>
            <p:nvPr/>
          </p:nvGraphicFramePr>
          <p:xfrm>
            <a:off x="2925" y="663"/>
            <a:ext cx="2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41300" imgH="190500" progId="Equation.3">
                    <p:embed/>
                  </p:oleObj>
                </mc:Choice>
                <mc:Fallback>
                  <p:oleObj r:id="rId8" imgW="241300" imgH="1905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925" y="663"/>
                          <a:ext cx="249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Object 10"/>
            <p:cNvGraphicFramePr>
              <a:graphicFrameLocks noChangeAspect="1"/>
            </p:cNvGraphicFramePr>
            <p:nvPr/>
          </p:nvGraphicFramePr>
          <p:xfrm>
            <a:off x="771" y="867"/>
            <a:ext cx="239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39700" imgH="165100" progId="Equation.3">
                    <p:embed/>
                  </p:oleObj>
                </mc:Choice>
                <mc:Fallback>
                  <p:oleObj r:id="rId10" imgW="139700" imgH="1651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71" y="867"/>
                          <a:ext cx="239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11"/>
            <p:cNvGraphicFramePr>
              <a:graphicFrameLocks noChangeAspect="1"/>
            </p:cNvGraphicFramePr>
            <p:nvPr/>
          </p:nvGraphicFramePr>
          <p:xfrm>
            <a:off x="1383" y="618"/>
            <a:ext cx="202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15900" imgH="266065" progId="Equation.3">
                    <p:embed/>
                  </p:oleObj>
                </mc:Choice>
                <mc:Fallback>
                  <p:oleObj r:id="rId12" imgW="215900" imgH="266065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383" y="618"/>
                          <a:ext cx="202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8876" name="Text Box 44"/>
          <p:cNvSpPr txBox="1"/>
          <p:nvPr/>
        </p:nvSpPr>
        <p:spPr>
          <a:xfrm>
            <a:off x="211138" y="2251075"/>
            <a:ext cx="5113337" cy="968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在矩形内任取一面积元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dS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ldx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在此面积元内磁感应强度可看作常量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48877" name="Text Box 45"/>
          <p:cNvSpPr txBox="1"/>
          <p:nvPr/>
        </p:nvSpPr>
        <p:spPr>
          <a:xfrm>
            <a:off x="2266950" y="3535363"/>
            <a:ext cx="31480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方向垂直于纸面向里</a:t>
            </a:r>
          </a:p>
        </p:txBody>
      </p:sp>
      <p:grpSp>
        <p:nvGrpSpPr>
          <p:cNvPr id="28685" name="Group 77"/>
          <p:cNvGrpSpPr/>
          <p:nvPr/>
        </p:nvGrpSpPr>
        <p:grpSpPr>
          <a:xfrm>
            <a:off x="5867400" y="944563"/>
            <a:ext cx="3276600" cy="4114800"/>
            <a:chOff x="336" y="1296"/>
            <a:chExt cx="2064" cy="2592"/>
          </a:xfrm>
        </p:grpSpPr>
        <p:sp>
          <p:nvSpPr>
            <p:cNvPr id="28686" name="AutoShape 78"/>
            <p:cNvSpPr/>
            <p:nvPr/>
          </p:nvSpPr>
          <p:spPr>
            <a:xfrm flipH="1">
              <a:off x="624" y="1584"/>
              <a:ext cx="96" cy="1968"/>
            </a:xfrm>
            <a:prstGeom prst="can">
              <a:avLst>
                <a:gd name="adj" fmla="val 39671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Rectangle 79"/>
            <p:cNvSpPr/>
            <p:nvPr/>
          </p:nvSpPr>
          <p:spPr>
            <a:xfrm>
              <a:off x="1104" y="1824"/>
              <a:ext cx="576" cy="110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8" name="Line 80"/>
            <p:cNvSpPr/>
            <p:nvPr/>
          </p:nvSpPr>
          <p:spPr>
            <a:xfrm flipV="1">
              <a:off x="528" y="2064"/>
              <a:ext cx="0" cy="6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8689" name="Line 81"/>
            <p:cNvSpPr/>
            <p:nvPr/>
          </p:nvSpPr>
          <p:spPr>
            <a:xfrm>
              <a:off x="720" y="3216"/>
              <a:ext cx="960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sp>
          <p:nvSpPr>
            <p:cNvPr id="28690" name="Line 82"/>
            <p:cNvSpPr/>
            <p:nvPr/>
          </p:nvSpPr>
          <p:spPr>
            <a:xfrm>
              <a:off x="1872" y="1824"/>
              <a:ext cx="0" cy="1104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28691" name="Object 83"/>
            <p:cNvGraphicFramePr>
              <a:graphicFrameLocks noChangeAspect="1"/>
            </p:cNvGraphicFramePr>
            <p:nvPr/>
          </p:nvGraphicFramePr>
          <p:xfrm>
            <a:off x="779" y="2688"/>
            <a:ext cx="29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65100" imgH="215900" progId="Equation.3">
                    <p:embed/>
                  </p:oleObj>
                </mc:Choice>
                <mc:Fallback>
                  <p:oleObj r:id="rId14" imgW="165100" imgH="2159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79" y="2688"/>
                          <a:ext cx="29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2" name="Object 84"/>
            <p:cNvGraphicFramePr>
              <a:graphicFrameLocks noChangeAspect="1"/>
            </p:cNvGraphicFramePr>
            <p:nvPr/>
          </p:nvGraphicFramePr>
          <p:xfrm>
            <a:off x="1200" y="2880"/>
            <a:ext cx="31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77800" imgH="215900" progId="Equation.3">
                    <p:embed/>
                  </p:oleObj>
                </mc:Choice>
                <mc:Fallback>
                  <p:oleObj r:id="rId16" imgW="177800" imgH="2159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200" y="2880"/>
                          <a:ext cx="315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3" name="Object 85"/>
            <p:cNvGraphicFramePr>
              <a:graphicFrameLocks noChangeAspect="1"/>
            </p:cNvGraphicFramePr>
            <p:nvPr/>
          </p:nvGraphicFramePr>
          <p:xfrm>
            <a:off x="1872" y="2160"/>
            <a:ext cx="17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88900" imgH="177165" progId="Equation.3">
                    <p:embed/>
                  </p:oleObj>
                </mc:Choice>
                <mc:Fallback>
                  <p:oleObj r:id="rId18" imgW="88900" imgH="177165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872" y="2160"/>
                          <a:ext cx="171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4" name="Object 86"/>
            <p:cNvGraphicFramePr>
              <a:graphicFrameLocks noChangeAspect="1"/>
            </p:cNvGraphicFramePr>
            <p:nvPr/>
          </p:nvGraphicFramePr>
          <p:xfrm>
            <a:off x="336" y="2304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65100" imgH="228600" progId="Equation.3">
                    <p:embed/>
                  </p:oleObj>
                </mc:Choice>
                <mc:Fallback>
                  <p:oleObj r:id="rId20" imgW="165100" imgH="2286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36" y="2304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5" name="Line 87"/>
            <p:cNvSpPr/>
            <p:nvPr/>
          </p:nvSpPr>
          <p:spPr>
            <a:xfrm>
              <a:off x="624" y="3552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28696" name="Line 88"/>
            <p:cNvSpPr/>
            <p:nvPr/>
          </p:nvSpPr>
          <p:spPr>
            <a:xfrm>
              <a:off x="720" y="3552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28697" name="Line 89"/>
            <p:cNvSpPr/>
            <p:nvPr/>
          </p:nvSpPr>
          <p:spPr>
            <a:xfrm>
              <a:off x="720" y="1296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8698" name="Line 90"/>
            <p:cNvSpPr/>
            <p:nvPr/>
          </p:nvSpPr>
          <p:spPr>
            <a:xfrm>
              <a:off x="624" y="1296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8699" name="Line 91"/>
            <p:cNvSpPr/>
            <p:nvPr/>
          </p:nvSpPr>
          <p:spPr>
            <a:xfrm>
              <a:off x="1680" y="2928"/>
              <a:ext cx="0" cy="4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8700" name="Line 92"/>
            <p:cNvSpPr/>
            <p:nvPr/>
          </p:nvSpPr>
          <p:spPr>
            <a:xfrm>
              <a:off x="1104" y="2928"/>
              <a:ext cx="0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28701" name="Line 93"/>
            <p:cNvSpPr/>
            <p:nvPr/>
          </p:nvSpPr>
          <p:spPr>
            <a:xfrm>
              <a:off x="1680" y="1824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8702" name="Line 94"/>
            <p:cNvSpPr/>
            <p:nvPr/>
          </p:nvSpPr>
          <p:spPr>
            <a:xfrm>
              <a:off x="1680" y="2928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8703" name="Line 95"/>
            <p:cNvSpPr/>
            <p:nvPr/>
          </p:nvSpPr>
          <p:spPr>
            <a:xfrm>
              <a:off x="720" y="3024"/>
              <a:ext cx="38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pSp>
          <p:nvGrpSpPr>
            <p:cNvPr id="28704" name="Group 96"/>
            <p:cNvGrpSpPr/>
            <p:nvPr/>
          </p:nvGrpSpPr>
          <p:grpSpPr>
            <a:xfrm>
              <a:off x="384" y="3360"/>
              <a:ext cx="2016" cy="360"/>
              <a:chOff x="384" y="3360"/>
              <a:chExt cx="2016" cy="360"/>
            </a:xfrm>
          </p:grpSpPr>
          <p:sp>
            <p:nvSpPr>
              <p:cNvPr id="28705" name="Line 97"/>
              <p:cNvSpPr/>
              <p:nvPr/>
            </p:nvSpPr>
            <p:spPr>
              <a:xfrm>
                <a:off x="720" y="3408"/>
                <a:ext cx="168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8706" name="Object 98"/>
              <p:cNvGraphicFramePr>
                <a:graphicFrameLocks noChangeAspect="1"/>
              </p:cNvGraphicFramePr>
              <p:nvPr/>
            </p:nvGraphicFramePr>
            <p:xfrm>
              <a:off x="2160" y="3504"/>
              <a:ext cx="20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177800" imgH="190500" progId="Equation.3">
                      <p:embed/>
                    </p:oleObj>
                  </mc:Choice>
                  <mc:Fallback>
                    <p:oleObj r:id="rId22" imgW="177800" imgH="190500" progId="Equation.3">
                      <p:embed/>
                      <p:pic>
                        <p:nvPicPr>
                          <p:cNvPr id="0" name="图片 3174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2160" y="3504"/>
                            <a:ext cx="20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7" name="Object 99"/>
              <p:cNvGraphicFramePr>
                <a:graphicFrameLocks noChangeAspect="1"/>
              </p:cNvGraphicFramePr>
              <p:nvPr/>
            </p:nvGraphicFramePr>
            <p:xfrm>
              <a:off x="384" y="3360"/>
              <a:ext cx="18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4" imgW="165100" imgH="190500" progId="Equation.3">
                      <p:embed/>
                    </p:oleObj>
                  </mc:Choice>
                  <mc:Fallback>
                    <p:oleObj r:id="rId24" imgW="165100" imgH="190500" progId="Equation.3">
                      <p:embed/>
                      <p:pic>
                        <p:nvPicPr>
                          <p:cNvPr id="0" name="图片 3168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384" y="3360"/>
                            <a:ext cx="18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708" name="Group 100"/>
            <p:cNvGrpSpPr/>
            <p:nvPr/>
          </p:nvGrpSpPr>
          <p:grpSpPr>
            <a:xfrm>
              <a:off x="1056" y="1344"/>
              <a:ext cx="528" cy="327"/>
              <a:chOff x="1056" y="1344"/>
              <a:chExt cx="528" cy="327"/>
            </a:xfrm>
          </p:grpSpPr>
          <p:graphicFrame>
            <p:nvGraphicFramePr>
              <p:cNvPr id="28709" name="Object 101"/>
              <p:cNvGraphicFramePr>
                <a:graphicFrameLocks noChangeAspect="1"/>
              </p:cNvGraphicFramePr>
              <p:nvPr/>
            </p:nvGraphicFramePr>
            <p:xfrm>
              <a:off x="1056" y="1344"/>
              <a:ext cx="24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6" imgW="152400" imgH="190500" progId="Equation.3">
                      <p:embed/>
                    </p:oleObj>
                  </mc:Choice>
                  <mc:Fallback>
                    <p:oleObj r:id="rId26" imgW="152400" imgH="190500" progId="Equation.3">
                      <p:embed/>
                      <p:pic>
                        <p:nvPicPr>
                          <p:cNvPr id="0" name="图片 3175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1056" y="1344"/>
                            <a:ext cx="24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8710" name="Group 102"/>
              <p:cNvGrpSpPr/>
              <p:nvPr/>
            </p:nvGrpSpPr>
            <p:grpSpPr>
              <a:xfrm>
                <a:off x="1296" y="1344"/>
                <a:ext cx="288" cy="327"/>
                <a:chOff x="1296" y="1344"/>
                <a:chExt cx="288" cy="327"/>
              </a:xfrm>
            </p:grpSpPr>
            <p:grpSp>
              <p:nvGrpSpPr>
                <p:cNvPr id="28711" name="Group 103"/>
                <p:cNvGrpSpPr/>
                <p:nvPr/>
              </p:nvGrpSpPr>
              <p:grpSpPr>
                <a:xfrm>
                  <a:off x="1296" y="1344"/>
                  <a:ext cx="288" cy="327"/>
                  <a:chOff x="816" y="3504"/>
                  <a:chExt cx="288" cy="327"/>
                </a:xfrm>
              </p:grpSpPr>
              <p:sp>
                <p:nvSpPr>
                  <p:cNvPr id="28712" name="Oval 104"/>
                  <p:cNvSpPr/>
                  <p:nvPr/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8713" name="Text Box 105"/>
                  <p:cNvSpPr txBox="1"/>
                  <p:nvPr/>
                </p:nvSpPr>
                <p:spPr>
                  <a:xfrm>
                    <a:off x="816" y="3504"/>
                    <a:ext cx="288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5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8714" name="Line 106"/>
                <p:cNvSpPr/>
                <p:nvPr/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715" name="Line 107"/>
                <p:cNvSpPr/>
                <p:nvPr/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9" name="Group 110"/>
          <p:cNvGrpSpPr/>
          <p:nvPr/>
        </p:nvGrpSpPr>
        <p:grpSpPr>
          <a:xfrm>
            <a:off x="6424613" y="1765300"/>
            <a:ext cx="1052512" cy="1752600"/>
            <a:chOff x="725" y="1816"/>
            <a:chExt cx="663" cy="1104"/>
          </a:xfrm>
        </p:grpSpPr>
        <p:sp>
          <p:nvSpPr>
            <p:cNvPr id="28717" name="Rectangle 12"/>
            <p:cNvSpPr/>
            <p:nvPr/>
          </p:nvSpPr>
          <p:spPr>
            <a:xfrm>
              <a:off x="1292" y="1816"/>
              <a:ext cx="96" cy="1104"/>
            </a:xfrm>
            <a:prstGeom prst="rect">
              <a:avLst/>
            </a:prstGeom>
            <a:solidFill>
              <a:srgbClr val="FFCCFF">
                <a:alpha val="50194"/>
              </a:srgbClr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18" name="Line 108"/>
            <p:cNvSpPr/>
            <p:nvPr/>
          </p:nvSpPr>
          <p:spPr>
            <a:xfrm>
              <a:off x="725" y="2358"/>
              <a:ext cx="567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28719" name="Object 109"/>
            <p:cNvGraphicFramePr>
              <a:graphicFrameLocks noChangeAspect="1"/>
            </p:cNvGraphicFramePr>
            <p:nvPr/>
          </p:nvGraphicFramePr>
          <p:xfrm>
            <a:off x="839" y="2103"/>
            <a:ext cx="169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127000" imgH="139700" progId="Equation.3">
                    <p:embed/>
                  </p:oleObj>
                </mc:Choice>
                <mc:Fallback>
                  <p:oleObj r:id="rId28" imgW="127000" imgH="13970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839" y="2103"/>
                          <a:ext cx="169" cy="1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8946" name="Object 114"/>
          <p:cNvGraphicFramePr>
            <a:graphicFrameLocks noChangeAspect="1"/>
          </p:cNvGraphicFramePr>
          <p:nvPr/>
        </p:nvGraphicFramePr>
        <p:xfrm>
          <a:off x="539750" y="4797425"/>
          <a:ext cx="34290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371600" imgH="393700" progId="Equation.DSMT4">
                  <p:embed/>
                </p:oleObj>
              </mc:Choice>
              <mc:Fallback>
                <p:oleObj r:id="rId30" imgW="1371600" imgH="3937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39750" y="4797425"/>
                        <a:ext cx="3429000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947" name="Object 115"/>
          <p:cNvGraphicFramePr>
            <a:graphicFrameLocks noChangeAspect="1"/>
          </p:cNvGraphicFramePr>
          <p:nvPr/>
        </p:nvGraphicFramePr>
        <p:xfrm>
          <a:off x="538163" y="5678488"/>
          <a:ext cx="36004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1676400" imgH="431800" progId="Equation.3">
                  <p:embed/>
                </p:oleObj>
              </mc:Choice>
              <mc:Fallback>
                <p:oleObj r:id="rId32" imgW="1676400" imgH="4318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8163" y="5678488"/>
                        <a:ext cx="3600450" cy="954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948" name="Object 116"/>
          <p:cNvGraphicFramePr>
            <a:graphicFrameLocks noChangeAspect="1"/>
          </p:cNvGraphicFramePr>
          <p:nvPr/>
        </p:nvGraphicFramePr>
        <p:xfrm>
          <a:off x="5087938" y="5640388"/>
          <a:ext cx="230346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977900" imgH="469900" progId="Equation.3">
                  <p:embed/>
                </p:oleObj>
              </mc:Choice>
              <mc:Fallback>
                <p:oleObj r:id="rId34" imgW="977900" imgH="4699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087938" y="5640388"/>
                        <a:ext cx="2303462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23" name="Group 121"/>
          <p:cNvGrpSpPr/>
          <p:nvPr/>
        </p:nvGrpSpPr>
        <p:grpSpPr>
          <a:xfrm>
            <a:off x="7189788" y="3592513"/>
            <a:ext cx="376237" cy="1477962"/>
            <a:chOff x="4529" y="2263"/>
            <a:chExt cx="237" cy="931"/>
          </a:xfrm>
        </p:grpSpPr>
        <p:sp>
          <p:nvSpPr>
            <p:cNvPr id="28724" name="Line 118"/>
            <p:cNvSpPr/>
            <p:nvPr/>
          </p:nvSpPr>
          <p:spPr>
            <a:xfrm>
              <a:off x="4599" y="2267"/>
              <a:ext cx="0" cy="7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25" name="Line 119"/>
            <p:cNvSpPr/>
            <p:nvPr/>
          </p:nvSpPr>
          <p:spPr>
            <a:xfrm flipH="1">
              <a:off x="4703" y="2263"/>
              <a:ext cx="9" cy="7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28726" name="Object 120"/>
            <p:cNvGraphicFramePr>
              <a:graphicFrameLocks noChangeAspect="1"/>
            </p:cNvGraphicFramePr>
            <p:nvPr/>
          </p:nvGraphicFramePr>
          <p:xfrm>
            <a:off x="4529" y="2973"/>
            <a:ext cx="237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190500" imgH="177800" progId="Equation.3">
                    <p:embed/>
                  </p:oleObj>
                </mc:Choice>
                <mc:Fallback>
                  <p:oleObj r:id="rId36" imgW="190500" imgH="1778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4529" y="2973"/>
                          <a:ext cx="237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27" name="文本框 8"/>
          <p:cNvSpPr txBox="1"/>
          <p:nvPr/>
        </p:nvSpPr>
        <p:spPr>
          <a:xfrm>
            <a:off x="179388" y="117475"/>
            <a:ext cx="39068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计算题考点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：求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磁通量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76" grpId="0"/>
      <p:bldP spid="24887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834" name="Object 2"/>
          <p:cNvGraphicFramePr>
            <a:graphicFrameLocks noChangeAspect="1"/>
          </p:cNvGraphicFramePr>
          <p:nvPr/>
        </p:nvGraphicFramePr>
        <p:xfrm>
          <a:off x="395288" y="3284538"/>
          <a:ext cx="23749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58900" imgH="431800" progId="Equation.DSMT4">
                  <p:embed/>
                </p:oleObj>
              </mc:Choice>
              <mc:Fallback>
                <p:oleObj r:id="rId2" imgW="1358900" imgH="4318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288" y="3284538"/>
                        <a:ext cx="2374900" cy="798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5" name="Object 3"/>
          <p:cNvGraphicFramePr>
            <a:graphicFrameLocks noChangeAspect="1"/>
          </p:cNvGraphicFramePr>
          <p:nvPr/>
        </p:nvGraphicFramePr>
        <p:xfrm>
          <a:off x="395288" y="4365625"/>
          <a:ext cx="8636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1000" imgH="203200" progId="Equation.3">
                  <p:embed/>
                </p:oleObj>
              </mc:Choice>
              <mc:Fallback>
                <p:oleObj r:id="rId4" imgW="381000" imgH="2032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288" y="4365625"/>
                        <a:ext cx="863600" cy="398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9" name="Group 112"/>
          <p:cNvGrpSpPr/>
          <p:nvPr/>
        </p:nvGrpSpPr>
        <p:grpSpPr>
          <a:xfrm>
            <a:off x="179388" y="560388"/>
            <a:ext cx="8116887" cy="460375"/>
            <a:chOff x="0" y="187"/>
            <a:chExt cx="5113" cy="290"/>
          </a:xfrm>
        </p:grpSpPr>
        <p:sp>
          <p:nvSpPr>
            <p:cNvPr id="29700" name="Text Box 5"/>
            <p:cNvSpPr txBox="1"/>
            <p:nvPr/>
          </p:nvSpPr>
          <p:spPr>
            <a:xfrm>
              <a:off x="0" y="187"/>
              <a:ext cx="511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en-US" altLang="zh-CN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如图载流长直导线的电流为  </a:t>
              </a:r>
              <a:r>
                <a:rPr lang="en-US" altLang="zh-CN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试求通过矩形的磁通量</a:t>
              </a:r>
              <a:r>
                <a:rPr lang="en-US" altLang="zh-CN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9701" name="Object 6"/>
            <p:cNvGraphicFramePr>
              <a:graphicFrameLocks noChangeAspect="1"/>
            </p:cNvGraphicFramePr>
            <p:nvPr/>
          </p:nvGraphicFramePr>
          <p:xfrm>
            <a:off x="2767" y="187"/>
            <a:ext cx="18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27000" imgH="165100" progId="Equation.3">
                    <p:embed/>
                  </p:oleObj>
                </mc:Choice>
                <mc:Fallback>
                  <p:oleObj r:id="rId6" imgW="127000" imgH="16510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767" y="187"/>
                          <a:ext cx="186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3"/>
          <p:cNvGrpSpPr/>
          <p:nvPr/>
        </p:nvGrpSpPr>
        <p:grpSpPr>
          <a:xfrm>
            <a:off x="250825" y="1270000"/>
            <a:ext cx="2244725" cy="460375"/>
            <a:chOff x="362" y="630"/>
            <a:chExt cx="1414" cy="290"/>
          </a:xfrm>
        </p:grpSpPr>
        <p:sp>
          <p:nvSpPr>
            <p:cNvPr id="29703" name="Text Box 8"/>
            <p:cNvSpPr txBox="1"/>
            <p:nvPr/>
          </p:nvSpPr>
          <p:spPr>
            <a:xfrm>
              <a:off x="362" y="630"/>
              <a:ext cx="141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解</a:t>
              </a:r>
              <a:r>
                <a:rPr lang="zh-CN" altLang="en-US" sz="2400" b="1" dirty="0">
                  <a:solidFill>
                    <a:srgbClr val="050000"/>
                  </a:solidFill>
                  <a:latin typeface="楷体_GB2312" pitchFamily="49" charset="-122"/>
                  <a:ea typeface="楷体_GB2312" pitchFamily="49" charset="-122"/>
                </a:rPr>
                <a:t> 先求  </a:t>
              </a:r>
            </a:p>
          </p:txBody>
        </p:sp>
        <p:graphicFrame>
          <p:nvGraphicFramePr>
            <p:cNvPr id="29704" name="Object 11"/>
            <p:cNvGraphicFramePr>
              <a:graphicFrameLocks noChangeAspect="1"/>
            </p:cNvGraphicFramePr>
            <p:nvPr/>
          </p:nvGraphicFramePr>
          <p:xfrm>
            <a:off x="1224" y="669"/>
            <a:ext cx="170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52400" imgH="190500" progId="Equation.3">
                    <p:embed/>
                  </p:oleObj>
                </mc:Choice>
                <mc:Fallback>
                  <p:oleObj r:id="rId8" imgW="152400" imgH="1905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24" y="669"/>
                          <a:ext cx="170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8876" name="Text Box 44"/>
          <p:cNvSpPr txBox="1"/>
          <p:nvPr/>
        </p:nvSpPr>
        <p:spPr>
          <a:xfrm>
            <a:off x="250825" y="1765300"/>
            <a:ext cx="3946525" cy="14208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在矩形内任取一面积元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dS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ldx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在此面积元内磁感应强度可看作常量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48877" name="Text Box 45"/>
          <p:cNvSpPr txBox="1"/>
          <p:nvPr/>
        </p:nvSpPr>
        <p:spPr>
          <a:xfrm>
            <a:off x="2916238" y="3213100"/>
            <a:ext cx="1778000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方向垂直于纸面向里</a:t>
            </a:r>
          </a:p>
        </p:txBody>
      </p:sp>
      <p:graphicFrame>
        <p:nvGraphicFramePr>
          <p:cNvPr id="248946" name="Object 114"/>
          <p:cNvGraphicFramePr>
            <a:graphicFrameLocks noChangeAspect="1"/>
          </p:cNvGraphicFramePr>
          <p:nvPr/>
        </p:nvGraphicFramePr>
        <p:xfrm>
          <a:off x="323850" y="4797425"/>
          <a:ext cx="476091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336800" imgH="482600" progId="Equation.DSMT4">
                  <p:embed/>
                </p:oleObj>
              </mc:Choice>
              <mc:Fallback>
                <p:oleObj r:id="rId10" imgW="2336800" imgH="4826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3850" y="4797425"/>
                        <a:ext cx="4760913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947" name="Object 115"/>
          <p:cNvGraphicFramePr>
            <a:graphicFrameLocks noChangeAspect="1"/>
          </p:cNvGraphicFramePr>
          <p:nvPr/>
        </p:nvGraphicFramePr>
        <p:xfrm>
          <a:off x="250825" y="5734050"/>
          <a:ext cx="626903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251200" imgH="508000" progId="Equation.3">
                  <p:embed/>
                </p:oleObj>
              </mc:Choice>
              <mc:Fallback>
                <p:oleObj r:id="rId12" imgW="3251200" imgH="5080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0825" y="5734050"/>
                        <a:ext cx="6269038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文本框 8"/>
          <p:cNvSpPr txBox="1"/>
          <p:nvPr/>
        </p:nvSpPr>
        <p:spPr>
          <a:xfrm>
            <a:off x="179388" y="117475"/>
            <a:ext cx="39068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计算题考点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：求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磁通量</a:t>
            </a:r>
          </a:p>
        </p:txBody>
      </p:sp>
      <p:grpSp>
        <p:nvGrpSpPr>
          <p:cNvPr id="29710" name="组合 14"/>
          <p:cNvGrpSpPr/>
          <p:nvPr/>
        </p:nvGrpSpPr>
        <p:grpSpPr>
          <a:xfrm>
            <a:off x="4860925" y="928688"/>
            <a:ext cx="4284663" cy="4141787"/>
            <a:chOff x="7654" y="1462"/>
            <a:chExt cx="6749" cy="6522"/>
          </a:xfrm>
        </p:grpSpPr>
        <p:grpSp>
          <p:nvGrpSpPr>
            <p:cNvPr id="29711" name="Group 77"/>
            <p:cNvGrpSpPr/>
            <p:nvPr/>
          </p:nvGrpSpPr>
          <p:grpSpPr>
            <a:xfrm>
              <a:off x="8062" y="1487"/>
              <a:ext cx="6340" cy="6480"/>
              <a:chOff x="-135" y="1296"/>
              <a:chExt cx="2536" cy="2592"/>
            </a:xfrm>
          </p:grpSpPr>
          <p:sp>
            <p:nvSpPr>
              <p:cNvPr id="29712" name="AutoShape 78"/>
              <p:cNvSpPr/>
              <p:nvPr/>
            </p:nvSpPr>
            <p:spPr>
              <a:xfrm flipH="1">
                <a:off x="624" y="1584"/>
                <a:ext cx="96" cy="1968"/>
              </a:xfrm>
              <a:prstGeom prst="can">
                <a:avLst>
                  <a:gd name="adj" fmla="val 39671"/>
                </a:avLst>
              </a:prstGeom>
              <a:gradFill rotWithShape="0">
                <a:gsLst>
                  <a:gs pos="0">
                    <a:srgbClr val="7C9496"/>
                  </a:gs>
                  <a:gs pos="50000">
                    <a:srgbClr val="BBE0E3"/>
                  </a:gs>
                  <a:gs pos="100000">
                    <a:srgbClr val="7C9496"/>
                  </a:gs>
                </a:gsLst>
                <a:lin ang="0" scaled="1"/>
                <a:tileRect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13" name="Rectangle 79"/>
              <p:cNvSpPr/>
              <p:nvPr/>
            </p:nvSpPr>
            <p:spPr>
              <a:xfrm>
                <a:off x="1104" y="1824"/>
                <a:ext cx="576" cy="1104"/>
              </a:xfrm>
              <a:prstGeom prst="rect">
                <a:avLst/>
              </a:prstGeom>
              <a:noFill/>
              <a:ln w="381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14" name="Line 80"/>
              <p:cNvSpPr/>
              <p:nvPr/>
            </p:nvSpPr>
            <p:spPr>
              <a:xfrm flipV="1">
                <a:off x="528" y="2064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9715" name="Line 81"/>
              <p:cNvSpPr/>
              <p:nvPr/>
            </p:nvSpPr>
            <p:spPr>
              <a:xfrm>
                <a:off x="720" y="3216"/>
                <a:ext cx="395" cy="0"/>
              </a:xfrm>
              <a:prstGeom prst="line">
                <a:avLst/>
              </a:prstGeom>
              <a:ln w="28575" cap="flat" cmpd="sng">
                <a:solidFill>
                  <a:srgbClr val="CC00CC"/>
                </a:solidFill>
                <a:prstDash val="dash"/>
                <a:round/>
                <a:headEnd type="triangle" w="sm" len="lg"/>
                <a:tailEnd type="triangle" w="sm" len="lg"/>
              </a:ln>
            </p:spPr>
          </p:sp>
          <p:sp>
            <p:nvSpPr>
              <p:cNvPr id="29716" name="Line 82"/>
              <p:cNvSpPr/>
              <p:nvPr/>
            </p:nvSpPr>
            <p:spPr>
              <a:xfrm>
                <a:off x="1872" y="1824"/>
                <a:ext cx="0" cy="1104"/>
              </a:xfrm>
              <a:prstGeom prst="line">
                <a:avLst/>
              </a:prstGeom>
              <a:ln w="28575" cap="flat" cmpd="sng">
                <a:solidFill>
                  <a:srgbClr val="CC0099"/>
                </a:solidFill>
                <a:prstDash val="dash"/>
                <a:round/>
                <a:headEnd type="triangle" w="sm" len="lg"/>
                <a:tailEnd type="triangle" w="sm" len="lg"/>
              </a:ln>
            </p:spPr>
          </p:sp>
          <p:graphicFrame>
            <p:nvGraphicFramePr>
              <p:cNvPr id="29717" name="Object 83"/>
              <p:cNvGraphicFramePr>
                <a:graphicFrameLocks noChangeAspect="1"/>
              </p:cNvGraphicFramePr>
              <p:nvPr/>
            </p:nvGraphicFramePr>
            <p:xfrm>
              <a:off x="276" y="2634"/>
              <a:ext cx="293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65100" imgH="215900" progId="Equation.3">
                      <p:embed/>
                    </p:oleObj>
                  </mc:Choice>
                  <mc:Fallback>
                    <p:oleObj r:id="rId14" imgW="165100" imgH="215900" progId="Equation.3">
                      <p:embed/>
                      <p:pic>
                        <p:nvPicPr>
                          <p:cNvPr id="0" name="图片 3182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276" y="2634"/>
                            <a:ext cx="293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18" name="Object 84"/>
              <p:cNvGraphicFramePr>
                <a:graphicFrameLocks noChangeAspect="1"/>
              </p:cNvGraphicFramePr>
              <p:nvPr/>
            </p:nvGraphicFramePr>
            <p:xfrm>
              <a:off x="783" y="2770"/>
              <a:ext cx="32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77800" imgH="215900" progId="Equation.3">
                      <p:embed/>
                    </p:oleObj>
                  </mc:Choice>
                  <mc:Fallback>
                    <p:oleObj r:id="rId16" imgW="177800" imgH="215900" progId="Equation.3">
                      <p:embed/>
                      <p:pic>
                        <p:nvPicPr>
                          <p:cNvPr id="0" name="图片 3183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783" y="2770"/>
                            <a:ext cx="321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19" name="Object 85"/>
              <p:cNvGraphicFramePr>
                <a:graphicFrameLocks noChangeAspect="1"/>
              </p:cNvGraphicFramePr>
              <p:nvPr/>
            </p:nvGraphicFramePr>
            <p:xfrm>
              <a:off x="1350" y="3133"/>
              <a:ext cx="138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88900" imgH="177165" progId="Equation.3">
                      <p:embed/>
                    </p:oleObj>
                  </mc:Choice>
                  <mc:Fallback>
                    <p:oleObj r:id="rId18" imgW="88900" imgH="177165" progId="Equation.3">
                      <p:embed/>
                      <p:pic>
                        <p:nvPicPr>
                          <p:cNvPr id="0" name="图片 3187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1350" y="3133"/>
                            <a:ext cx="138" cy="27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0" name="Object 86"/>
              <p:cNvGraphicFramePr>
                <a:graphicFrameLocks noChangeAspect="1"/>
              </p:cNvGraphicFramePr>
              <p:nvPr/>
            </p:nvGraphicFramePr>
            <p:xfrm>
              <a:off x="336" y="2304"/>
              <a:ext cx="173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65100" imgH="228600" progId="Equation.3">
                      <p:embed/>
                    </p:oleObj>
                  </mc:Choice>
                  <mc:Fallback>
                    <p:oleObj r:id="rId20" imgW="165100" imgH="228600" progId="Equation.3">
                      <p:embed/>
                      <p:pic>
                        <p:nvPicPr>
                          <p:cNvPr id="0" name="图片 3188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36" y="2304"/>
                            <a:ext cx="173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21" name="Line 87"/>
              <p:cNvSpPr/>
              <p:nvPr/>
            </p:nvSpPr>
            <p:spPr>
              <a:xfrm>
                <a:off x="624" y="3552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29722" name="Line 88"/>
              <p:cNvSpPr/>
              <p:nvPr/>
            </p:nvSpPr>
            <p:spPr>
              <a:xfrm>
                <a:off x="720" y="3552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29723" name="Line 89"/>
              <p:cNvSpPr/>
              <p:nvPr/>
            </p:nvSpPr>
            <p:spPr>
              <a:xfrm>
                <a:off x="720" y="1296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9724" name="Line 90"/>
              <p:cNvSpPr/>
              <p:nvPr/>
            </p:nvSpPr>
            <p:spPr>
              <a:xfrm>
                <a:off x="624" y="1296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9725" name="Line 91"/>
              <p:cNvSpPr/>
              <p:nvPr/>
            </p:nvSpPr>
            <p:spPr>
              <a:xfrm>
                <a:off x="1680" y="2928"/>
                <a:ext cx="0" cy="43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9726" name="Line 92"/>
              <p:cNvSpPr/>
              <p:nvPr/>
            </p:nvSpPr>
            <p:spPr>
              <a:xfrm>
                <a:off x="1104" y="2928"/>
                <a:ext cx="0" cy="31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29727" name="Line 93"/>
              <p:cNvSpPr/>
              <p:nvPr/>
            </p:nvSpPr>
            <p:spPr>
              <a:xfrm>
                <a:off x="1680" y="1824"/>
                <a:ext cx="384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9728" name="Line 94"/>
              <p:cNvSpPr/>
              <p:nvPr/>
            </p:nvSpPr>
            <p:spPr>
              <a:xfrm>
                <a:off x="1680" y="2928"/>
                <a:ext cx="384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9729" name="Line 95"/>
              <p:cNvSpPr/>
              <p:nvPr/>
            </p:nvSpPr>
            <p:spPr>
              <a:xfrm flipV="1">
                <a:off x="161" y="3020"/>
                <a:ext cx="463" cy="0"/>
              </a:xfrm>
              <a:prstGeom prst="line">
                <a:avLst/>
              </a:prstGeom>
              <a:ln w="28575" cap="flat" cmpd="sng">
                <a:solidFill>
                  <a:srgbClr val="CC00CC"/>
                </a:solidFill>
                <a:prstDash val="dash"/>
                <a:round/>
                <a:headEnd type="triangle" w="sm" len="lg"/>
                <a:tailEnd type="triangle" w="sm" len="lg"/>
              </a:ln>
            </p:spPr>
          </p:sp>
          <p:grpSp>
            <p:nvGrpSpPr>
              <p:cNvPr id="29730" name="Group 96"/>
              <p:cNvGrpSpPr/>
              <p:nvPr/>
            </p:nvGrpSpPr>
            <p:grpSpPr>
              <a:xfrm>
                <a:off x="-135" y="3311"/>
                <a:ext cx="2536" cy="409"/>
                <a:chOff x="-135" y="3311"/>
                <a:chExt cx="2536" cy="409"/>
              </a:xfrm>
            </p:grpSpPr>
            <p:sp>
              <p:nvSpPr>
                <p:cNvPr id="29731" name="Line 97"/>
                <p:cNvSpPr/>
                <p:nvPr/>
              </p:nvSpPr>
              <p:spPr>
                <a:xfrm flipV="1">
                  <a:off x="133" y="3386"/>
                  <a:ext cx="2268" cy="22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graphicFrame>
              <p:nvGraphicFramePr>
                <p:cNvPr id="29732" name="Object 98"/>
                <p:cNvGraphicFramePr>
                  <a:graphicFrameLocks noChangeAspect="1"/>
                </p:cNvGraphicFramePr>
                <p:nvPr/>
              </p:nvGraphicFramePr>
              <p:xfrm>
                <a:off x="2160" y="3504"/>
                <a:ext cx="202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2" imgW="177800" imgH="190500" progId="Equation.3">
                        <p:embed/>
                      </p:oleObj>
                    </mc:Choice>
                    <mc:Fallback>
                      <p:oleObj r:id="rId22" imgW="177800" imgH="190500" progId="Equation.3">
                        <p:embed/>
                        <p:pic>
                          <p:nvPicPr>
                            <p:cNvPr id="0" name="图片 3189"/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160" y="3504"/>
                              <a:ext cx="202" cy="21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33" name="Object 99"/>
                <p:cNvGraphicFramePr>
                  <a:graphicFrameLocks noChangeAspect="1"/>
                </p:cNvGraphicFramePr>
                <p:nvPr/>
              </p:nvGraphicFramePr>
              <p:xfrm>
                <a:off x="-135" y="3311"/>
                <a:ext cx="203" cy="2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4" imgW="127000" imgH="139700" progId="Equation.3">
                        <p:embed/>
                      </p:oleObj>
                    </mc:Choice>
                    <mc:Fallback>
                      <p:oleObj r:id="rId24" imgW="127000" imgH="139700" progId="Equation.3">
                        <p:embed/>
                        <p:pic>
                          <p:nvPicPr>
                            <p:cNvPr id="0" name="图片 3184"/>
                            <p:cNvPicPr/>
                            <p:nvPr/>
                          </p:nvPicPr>
                          <p:blipFill>
                            <a:blip r:embed="rId2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135" y="3311"/>
                              <a:ext cx="203" cy="223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9734" name="Group 100"/>
              <p:cNvGrpSpPr/>
              <p:nvPr/>
            </p:nvGrpSpPr>
            <p:grpSpPr>
              <a:xfrm>
                <a:off x="1056" y="1344"/>
                <a:ext cx="528" cy="327"/>
                <a:chOff x="1056" y="1344"/>
                <a:chExt cx="528" cy="327"/>
              </a:xfrm>
            </p:grpSpPr>
            <p:graphicFrame>
              <p:nvGraphicFramePr>
                <p:cNvPr id="29735" name="Object 101"/>
                <p:cNvGraphicFramePr>
                  <a:graphicFrameLocks noChangeAspect="1"/>
                </p:cNvGraphicFramePr>
                <p:nvPr/>
              </p:nvGraphicFramePr>
              <p:xfrm>
                <a:off x="1056" y="1344"/>
                <a:ext cx="247" cy="3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6" imgW="152400" imgH="190500" progId="Equation.3">
                        <p:embed/>
                      </p:oleObj>
                    </mc:Choice>
                    <mc:Fallback>
                      <p:oleObj r:id="rId26" imgW="152400" imgH="190500" progId="Equation.3">
                        <p:embed/>
                        <p:pic>
                          <p:nvPicPr>
                            <p:cNvPr id="0" name="图片 3186"/>
                            <p:cNvPicPr/>
                            <p:nvPr/>
                          </p:nvPicPr>
                          <p:blipFill>
                            <a:blip r:embed="rId2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6" y="1344"/>
                              <a:ext cx="247" cy="31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9736" name="Group 102"/>
                <p:cNvGrpSpPr/>
                <p:nvPr/>
              </p:nvGrpSpPr>
              <p:grpSpPr>
                <a:xfrm>
                  <a:off x="1296" y="1344"/>
                  <a:ext cx="288" cy="327"/>
                  <a:chOff x="1296" y="1344"/>
                  <a:chExt cx="288" cy="327"/>
                </a:xfrm>
              </p:grpSpPr>
              <p:grpSp>
                <p:nvGrpSpPr>
                  <p:cNvPr id="29737" name="Group 103"/>
                  <p:cNvGrpSpPr/>
                  <p:nvPr/>
                </p:nvGrpSpPr>
                <p:grpSpPr>
                  <a:xfrm>
                    <a:off x="1296" y="1344"/>
                    <a:ext cx="288" cy="327"/>
                    <a:chOff x="816" y="3504"/>
                    <a:chExt cx="288" cy="327"/>
                  </a:xfrm>
                </p:grpSpPr>
                <p:sp>
                  <p:nvSpPr>
                    <p:cNvPr id="29738" name="Oval 104"/>
                    <p:cNvSpPr/>
                    <p:nvPr/>
                  </p:nvSpPr>
                  <p:spPr>
                    <a:xfrm>
                      <a:off x="864" y="3600"/>
                      <a:ext cx="192" cy="19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9739" name="Text Box 105"/>
                    <p:cNvSpPr txBox="1"/>
                    <p:nvPr/>
                  </p:nvSpPr>
                  <p:spPr>
                    <a:xfrm>
                      <a:off x="816" y="3504"/>
                      <a:ext cx="288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lstStyle/>
                    <a:p>
                      <a:pPr algn="ctr">
                        <a:spcBef>
                          <a:spcPct val="50000"/>
                        </a:spcBef>
                      </a:pPr>
                      <a:endParaRPr lang="zh-CN" altLang="zh-CN" sz="2800" b="1" i="1" dirty="0">
                        <a:solidFill>
                          <a:srgbClr val="05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29740" name="Line 106"/>
                  <p:cNvSpPr/>
                  <p:nvPr/>
                </p:nvSpPr>
                <p:spPr>
                  <a:xfrm>
                    <a:off x="1392" y="1488"/>
                    <a:ext cx="96" cy="96"/>
                  </a:xfrm>
                  <a:prstGeom prst="line">
                    <a:avLst/>
                  </a:prstGeom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741" name="Line 107"/>
                  <p:cNvSpPr/>
                  <p:nvPr/>
                </p:nvSpPr>
                <p:spPr>
                  <a:xfrm flipH="1">
                    <a:off x="1392" y="1488"/>
                    <a:ext cx="96" cy="96"/>
                  </a:xfrm>
                  <a:prstGeom prst="line">
                    <a:avLst/>
                  </a:prstGeom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</p:grpSp>
        <p:grpSp>
          <p:nvGrpSpPr>
            <p:cNvPr id="29742" name="Group 110"/>
            <p:cNvGrpSpPr/>
            <p:nvPr/>
          </p:nvGrpSpPr>
          <p:grpSpPr>
            <a:xfrm>
              <a:off x="10117" y="2780"/>
              <a:ext cx="1657" cy="2760"/>
              <a:chOff x="725" y="1816"/>
              <a:chExt cx="663" cy="1104"/>
            </a:xfrm>
          </p:grpSpPr>
          <p:sp>
            <p:nvSpPr>
              <p:cNvPr id="29743" name="Rectangle 12"/>
              <p:cNvSpPr/>
              <p:nvPr/>
            </p:nvSpPr>
            <p:spPr>
              <a:xfrm>
                <a:off x="1292" y="1816"/>
                <a:ext cx="96" cy="1104"/>
              </a:xfrm>
              <a:prstGeom prst="rect">
                <a:avLst/>
              </a:prstGeom>
              <a:solidFill>
                <a:srgbClr val="FFCCFF">
                  <a:alpha val="50194"/>
                </a:srgbClr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44" name="Line 108"/>
              <p:cNvSpPr/>
              <p:nvPr/>
            </p:nvSpPr>
            <p:spPr>
              <a:xfrm>
                <a:off x="725" y="2358"/>
                <a:ext cx="567" cy="0"/>
              </a:xfrm>
              <a:prstGeom prst="line">
                <a:avLst/>
              </a:prstGeom>
              <a:ln w="28575" cap="flat" cmpd="sng">
                <a:solidFill>
                  <a:srgbClr val="CC00CC"/>
                </a:solidFill>
                <a:prstDash val="dash"/>
                <a:round/>
                <a:headEnd type="triangle" w="sm" len="lg"/>
                <a:tailEnd type="triangle" w="sm" len="lg"/>
              </a:ln>
            </p:spPr>
          </p:sp>
          <p:graphicFrame>
            <p:nvGraphicFramePr>
              <p:cNvPr id="29745" name="Object 109"/>
              <p:cNvGraphicFramePr>
                <a:graphicFrameLocks noChangeAspect="1"/>
              </p:cNvGraphicFramePr>
              <p:nvPr/>
            </p:nvGraphicFramePr>
            <p:xfrm>
              <a:off x="839" y="2103"/>
              <a:ext cx="169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8" imgW="127000" imgH="139700" progId="Equation.3">
                      <p:embed/>
                    </p:oleObj>
                  </mc:Choice>
                  <mc:Fallback>
                    <p:oleObj r:id="rId28" imgW="127000" imgH="139700" progId="Equation.3">
                      <p:embed/>
                      <p:pic>
                        <p:nvPicPr>
                          <p:cNvPr id="0" name="图片 3185"/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839" y="2103"/>
                            <a:ext cx="169" cy="18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746" name="Group 121"/>
            <p:cNvGrpSpPr/>
            <p:nvPr/>
          </p:nvGrpSpPr>
          <p:grpSpPr>
            <a:xfrm>
              <a:off x="11322" y="5657"/>
              <a:ext cx="592" cy="2327"/>
              <a:chOff x="4529" y="2263"/>
              <a:chExt cx="237" cy="931"/>
            </a:xfrm>
          </p:grpSpPr>
          <p:sp>
            <p:nvSpPr>
              <p:cNvPr id="29747" name="Line 118"/>
              <p:cNvSpPr/>
              <p:nvPr/>
            </p:nvSpPr>
            <p:spPr>
              <a:xfrm>
                <a:off x="4599" y="2267"/>
                <a:ext cx="0" cy="70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48" name="Line 119"/>
              <p:cNvSpPr/>
              <p:nvPr/>
            </p:nvSpPr>
            <p:spPr>
              <a:xfrm flipH="1">
                <a:off x="4703" y="2263"/>
                <a:ext cx="9" cy="72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29749" name="Object 120"/>
              <p:cNvGraphicFramePr>
                <a:graphicFrameLocks noChangeAspect="1"/>
              </p:cNvGraphicFramePr>
              <p:nvPr/>
            </p:nvGraphicFramePr>
            <p:xfrm>
              <a:off x="4529" y="2973"/>
              <a:ext cx="237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0" imgW="190500" imgH="177800" progId="Equation.3">
                      <p:embed/>
                    </p:oleObj>
                  </mc:Choice>
                  <mc:Fallback>
                    <p:oleObj r:id="rId30" imgW="190500" imgH="177800" progId="Equation.3">
                      <p:embed/>
                      <p:pic>
                        <p:nvPicPr>
                          <p:cNvPr id="0" name="图片 3192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4529" y="2973"/>
                            <a:ext cx="237" cy="22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750" name="AutoShape 78"/>
            <p:cNvSpPr/>
            <p:nvPr/>
          </p:nvSpPr>
          <p:spPr>
            <a:xfrm flipH="1">
              <a:off x="8578" y="2181"/>
              <a:ext cx="240" cy="4920"/>
            </a:xfrm>
            <a:prstGeom prst="can">
              <a:avLst>
                <a:gd name="adj" fmla="val 39671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1" name="Line 80"/>
            <p:cNvSpPr/>
            <p:nvPr/>
          </p:nvSpPr>
          <p:spPr>
            <a:xfrm flipV="1">
              <a:off x="8338" y="3381"/>
              <a:ext cx="0" cy="156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arrow" w="med" len="med"/>
              <a:tailEnd type="none" w="sm" len="lg"/>
            </a:ln>
          </p:spPr>
        </p:sp>
        <p:sp>
          <p:nvSpPr>
            <p:cNvPr id="29752" name="Line 87"/>
            <p:cNvSpPr/>
            <p:nvPr/>
          </p:nvSpPr>
          <p:spPr>
            <a:xfrm>
              <a:off x="8578" y="7101"/>
              <a:ext cx="0" cy="8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29753" name="Line 88"/>
            <p:cNvSpPr/>
            <p:nvPr/>
          </p:nvSpPr>
          <p:spPr>
            <a:xfrm>
              <a:off x="8818" y="7101"/>
              <a:ext cx="0" cy="8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29754" name="Line 89"/>
            <p:cNvSpPr/>
            <p:nvPr/>
          </p:nvSpPr>
          <p:spPr>
            <a:xfrm>
              <a:off x="8818" y="1461"/>
              <a:ext cx="0" cy="8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9755" name="Line 90"/>
            <p:cNvSpPr/>
            <p:nvPr/>
          </p:nvSpPr>
          <p:spPr>
            <a:xfrm>
              <a:off x="8578" y="1461"/>
              <a:ext cx="0" cy="8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graphicFrame>
          <p:nvGraphicFramePr>
            <p:cNvPr id="29756" name="Object 86"/>
            <p:cNvGraphicFramePr>
              <a:graphicFrameLocks noChangeAspect="1"/>
            </p:cNvGraphicFramePr>
            <p:nvPr/>
          </p:nvGraphicFramePr>
          <p:xfrm>
            <a:off x="7654" y="3962"/>
            <a:ext cx="432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65100" imgH="228600" progId="Equation.3">
                    <p:embed/>
                  </p:oleObj>
                </mc:Choice>
                <mc:Fallback>
                  <p:oleObj r:id="rId20" imgW="165100" imgH="2286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7654" y="3962"/>
                          <a:ext cx="432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7" name="Line 81"/>
            <p:cNvSpPr/>
            <p:nvPr/>
          </p:nvSpPr>
          <p:spPr>
            <a:xfrm>
              <a:off x="11188" y="6108"/>
              <a:ext cx="1413" cy="2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29758" name="Object 85"/>
            <p:cNvGraphicFramePr>
              <a:graphicFrameLocks noChangeAspect="1"/>
            </p:cNvGraphicFramePr>
            <p:nvPr/>
          </p:nvGraphicFramePr>
          <p:xfrm>
            <a:off x="13249" y="3585"/>
            <a:ext cx="495" cy="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127000" imgH="177165" progId="Equation.3">
                    <p:embed/>
                  </p:oleObj>
                </mc:Choice>
                <mc:Fallback>
                  <p:oleObj r:id="rId32" imgW="127000" imgH="177165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3249" y="3585"/>
                          <a:ext cx="495" cy="6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76" grpId="0"/>
      <p:bldP spid="24887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文本框 8"/>
          <p:cNvSpPr txBox="1"/>
          <p:nvPr/>
        </p:nvSpPr>
        <p:spPr>
          <a:xfrm>
            <a:off x="179388" y="333375"/>
            <a:ext cx="39068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计算题考点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：求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安培力</a:t>
            </a:r>
          </a:p>
        </p:txBody>
      </p:sp>
      <p:sp>
        <p:nvSpPr>
          <p:cNvPr id="65542" name="Text Box 6"/>
          <p:cNvSpPr txBox="1"/>
          <p:nvPr/>
        </p:nvSpPr>
        <p:spPr>
          <a:xfrm>
            <a:off x="179388" y="903288"/>
            <a:ext cx="5551487" cy="2009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一长直导线通有电流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其旁有一载流直导线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两线共面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长为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通以电流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线段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垂直于长直导线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端到长直导线的距离为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d.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求导线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所受的力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。</a:t>
            </a:r>
          </a:p>
        </p:txBody>
      </p:sp>
      <p:grpSp>
        <p:nvGrpSpPr>
          <p:cNvPr id="2" name="Group 59"/>
          <p:cNvGrpSpPr/>
          <p:nvPr/>
        </p:nvGrpSpPr>
        <p:grpSpPr>
          <a:xfrm>
            <a:off x="6156325" y="404813"/>
            <a:ext cx="2779713" cy="2736850"/>
            <a:chOff x="3901" y="2250"/>
            <a:chExt cx="1751" cy="1724"/>
          </a:xfrm>
        </p:grpSpPr>
        <p:sp>
          <p:nvSpPr>
            <p:cNvPr id="65544" name="AutoShape 8"/>
            <p:cNvSpPr>
              <a:spLocks noChangeArrowheads="1"/>
            </p:cNvSpPr>
            <p:nvPr/>
          </p:nvSpPr>
          <p:spPr bwMode="auto">
            <a:xfrm flipH="1">
              <a:off x="3901" y="2522"/>
              <a:ext cx="78" cy="1277"/>
            </a:xfrm>
            <a:prstGeom prst="can">
              <a:avLst>
                <a:gd name="adj" fmla="val 31682"/>
              </a:avLst>
            </a:prstGeom>
            <a:gradFill rotWithShape="0">
              <a:gsLst>
                <a:gs pos="0">
                  <a:schemeClr val="accent1">
                    <a:gamma/>
                    <a:shade val="6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66275"/>
                    <a:invGamma/>
                  </a:schemeClr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25" name="Line 9"/>
            <p:cNvSpPr/>
            <p:nvPr/>
          </p:nvSpPr>
          <p:spPr>
            <a:xfrm flipV="1">
              <a:off x="3939" y="2340"/>
              <a:ext cx="0" cy="59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0726" name="Line 10"/>
            <p:cNvSpPr/>
            <p:nvPr/>
          </p:nvSpPr>
          <p:spPr>
            <a:xfrm>
              <a:off x="4309" y="3656"/>
              <a:ext cx="972" cy="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30727" name="Object 11"/>
            <p:cNvGraphicFramePr>
              <a:graphicFrameLocks noChangeAspect="1"/>
            </p:cNvGraphicFramePr>
            <p:nvPr/>
          </p:nvGraphicFramePr>
          <p:xfrm>
            <a:off x="4037" y="3701"/>
            <a:ext cx="20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9700" imgH="177800" progId="Equation.DSMT4">
                    <p:embed/>
                  </p:oleObj>
                </mc:Choice>
                <mc:Fallback>
                  <p:oleObj r:id="rId2" imgW="139700" imgH="177800" progId="Equation.DSMT4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037" y="3701"/>
                          <a:ext cx="206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8" name="Object 12"/>
            <p:cNvGraphicFramePr>
              <a:graphicFrameLocks noChangeAspect="1"/>
            </p:cNvGraphicFramePr>
            <p:nvPr/>
          </p:nvGraphicFramePr>
          <p:xfrm>
            <a:off x="4762" y="3701"/>
            <a:ext cx="2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39700" imgH="165100" progId="Equation.DSMT4">
                    <p:embed/>
                  </p:oleObj>
                </mc:Choice>
                <mc:Fallback>
                  <p:oleObj r:id="rId4" imgW="139700" imgH="165100" progId="Equation.DSMT4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62" y="3701"/>
                          <a:ext cx="2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9" name="Object 13"/>
            <p:cNvGraphicFramePr>
              <a:graphicFrameLocks noChangeAspect="1"/>
            </p:cNvGraphicFramePr>
            <p:nvPr/>
          </p:nvGraphicFramePr>
          <p:xfrm>
            <a:off x="4064" y="2340"/>
            <a:ext cx="199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52400" imgH="241300" progId="Equation.3">
                    <p:embed/>
                  </p:oleObj>
                </mc:Choice>
                <mc:Fallback>
                  <p:oleObj r:id="rId6" imgW="152400" imgH="241300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064" y="2340"/>
                          <a:ext cx="199" cy="3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0" name="Line 14"/>
            <p:cNvSpPr/>
            <p:nvPr/>
          </p:nvSpPr>
          <p:spPr>
            <a:xfrm>
              <a:off x="3985" y="2250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30731" name="Line 15"/>
            <p:cNvSpPr/>
            <p:nvPr/>
          </p:nvSpPr>
          <p:spPr>
            <a:xfrm>
              <a:off x="3901" y="2250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30732" name="Line 16"/>
            <p:cNvSpPr/>
            <p:nvPr/>
          </p:nvSpPr>
          <p:spPr>
            <a:xfrm flipH="1">
              <a:off x="5307" y="3483"/>
              <a:ext cx="2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30733" name="Line 17"/>
            <p:cNvSpPr/>
            <p:nvPr/>
          </p:nvSpPr>
          <p:spPr>
            <a:xfrm>
              <a:off x="4329" y="3472"/>
              <a:ext cx="6" cy="35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30734" name="Line 18"/>
            <p:cNvSpPr/>
            <p:nvPr/>
          </p:nvSpPr>
          <p:spPr>
            <a:xfrm>
              <a:off x="3991" y="3656"/>
              <a:ext cx="350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30735" name="Object 20"/>
            <p:cNvGraphicFramePr>
              <a:graphicFrameLocks noChangeAspect="1"/>
            </p:cNvGraphicFramePr>
            <p:nvPr/>
          </p:nvGraphicFramePr>
          <p:xfrm>
            <a:off x="4717" y="2387"/>
            <a:ext cx="22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52400" imgH="190500" progId="Equation.3">
                    <p:embed/>
                  </p:oleObj>
                </mc:Choice>
                <mc:Fallback>
                  <p:oleObj r:id="rId8" imgW="152400" imgH="1905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717" y="2387"/>
                          <a:ext cx="225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736" name="Group 21"/>
            <p:cNvGrpSpPr/>
            <p:nvPr/>
          </p:nvGrpSpPr>
          <p:grpSpPr>
            <a:xfrm>
              <a:off x="4150" y="2704"/>
              <a:ext cx="182" cy="327"/>
              <a:chOff x="1296" y="1344"/>
              <a:chExt cx="288" cy="454"/>
            </a:xfrm>
          </p:grpSpPr>
          <p:grpSp>
            <p:nvGrpSpPr>
              <p:cNvPr id="30737" name="Group 22"/>
              <p:cNvGrpSpPr/>
              <p:nvPr/>
            </p:nvGrpSpPr>
            <p:grpSpPr>
              <a:xfrm>
                <a:off x="1296" y="1344"/>
                <a:ext cx="288" cy="454"/>
                <a:chOff x="816" y="3504"/>
                <a:chExt cx="288" cy="454"/>
              </a:xfrm>
            </p:grpSpPr>
            <p:sp>
              <p:nvSpPr>
                <p:cNvPr id="30738" name="Oval 23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39" name="Text Box 24"/>
                <p:cNvSpPr txBox="1"/>
                <p:nvPr/>
              </p:nvSpPr>
              <p:spPr>
                <a:xfrm>
                  <a:off x="816" y="3504"/>
                  <a:ext cx="288" cy="4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0740" name="Line 25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1" name="Line 26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0742" name="Line 27"/>
            <p:cNvSpPr/>
            <p:nvPr/>
          </p:nvSpPr>
          <p:spPr>
            <a:xfrm>
              <a:off x="4335" y="3481"/>
              <a:ext cx="972" cy="2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30743" name="Object 28"/>
            <p:cNvGraphicFramePr>
              <a:graphicFrameLocks noChangeAspect="1"/>
            </p:cNvGraphicFramePr>
            <p:nvPr/>
          </p:nvGraphicFramePr>
          <p:xfrm>
            <a:off x="4699" y="3111"/>
            <a:ext cx="248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65100" imgH="241300" progId="Equation.3">
                    <p:embed/>
                  </p:oleObj>
                </mc:Choice>
                <mc:Fallback>
                  <p:oleObj r:id="rId10" imgW="165100" imgH="24130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699" y="3111"/>
                          <a:ext cx="248" cy="3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4" name="Text Box 29"/>
            <p:cNvSpPr txBox="1"/>
            <p:nvPr/>
          </p:nvSpPr>
          <p:spPr>
            <a:xfrm>
              <a:off x="4109" y="3157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0745" name="Text Box 30"/>
            <p:cNvSpPr txBox="1"/>
            <p:nvPr/>
          </p:nvSpPr>
          <p:spPr>
            <a:xfrm>
              <a:off x="5243" y="3157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30746" name="Group 41"/>
            <p:cNvGrpSpPr/>
            <p:nvPr/>
          </p:nvGrpSpPr>
          <p:grpSpPr>
            <a:xfrm>
              <a:off x="4400" y="2704"/>
              <a:ext cx="182" cy="327"/>
              <a:chOff x="1296" y="1344"/>
              <a:chExt cx="288" cy="454"/>
            </a:xfrm>
          </p:grpSpPr>
          <p:grpSp>
            <p:nvGrpSpPr>
              <p:cNvPr id="30747" name="Group 42"/>
              <p:cNvGrpSpPr/>
              <p:nvPr/>
            </p:nvGrpSpPr>
            <p:grpSpPr>
              <a:xfrm>
                <a:off x="1296" y="1344"/>
                <a:ext cx="288" cy="454"/>
                <a:chOff x="816" y="3504"/>
                <a:chExt cx="288" cy="454"/>
              </a:xfrm>
            </p:grpSpPr>
            <p:sp>
              <p:nvSpPr>
                <p:cNvPr id="30748" name="Oval 43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49" name="Text Box 44"/>
                <p:cNvSpPr txBox="1"/>
                <p:nvPr/>
              </p:nvSpPr>
              <p:spPr>
                <a:xfrm>
                  <a:off x="816" y="3504"/>
                  <a:ext cx="288" cy="4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0750" name="Line 45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51" name="Line 46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0752" name="Group 47"/>
            <p:cNvGrpSpPr/>
            <p:nvPr/>
          </p:nvGrpSpPr>
          <p:grpSpPr>
            <a:xfrm>
              <a:off x="4762" y="2704"/>
              <a:ext cx="182" cy="327"/>
              <a:chOff x="1296" y="1344"/>
              <a:chExt cx="288" cy="454"/>
            </a:xfrm>
          </p:grpSpPr>
          <p:grpSp>
            <p:nvGrpSpPr>
              <p:cNvPr id="30753" name="Group 48"/>
              <p:cNvGrpSpPr/>
              <p:nvPr/>
            </p:nvGrpSpPr>
            <p:grpSpPr>
              <a:xfrm>
                <a:off x="1296" y="1344"/>
                <a:ext cx="288" cy="454"/>
                <a:chOff x="816" y="3504"/>
                <a:chExt cx="288" cy="454"/>
              </a:xfrm>
            </p:grpSpPr>
            <p:sp>
              <p:nvSpPr>
                <p:cNvPr id="30754" name="Oval 49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55" name="Text Box 50"/>
                <p:cNvSpPr txBox="1"/>
                <p:nvPr/>
              </p:nvSpPr>
              <p:spPr>
                <a:xfrm>
                  <a:off x="816" y="3504"/>
                  <a:ext cx="288" cy="4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0756" name="Line 51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57" name="Line 52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0758" name="Group 53"/>
            <p:cNvGrpSpPr/>
            <p:nvPr/>
          </p:nvGrpSpPr>
          <p:grpSpPr>
            <a:xfrm>
              <a:off x="5397" y="2682"/>
              <a:ext cx="182" cy="327"/>
              <a:chOff x="1296" y="1344"/>
              <a:chExt cx="288" cy="454"/>
            </a:xfrm>
          </p:grpSpPr>
          <p:grpSp>
            <p:nvGrpSpPr>
              <p:cNvPr id="30759" name="Group 54"/>
              <p:cNvGrpSpPr/>
              <p:nvPr/>
            </p:nvGrpSpPr>
            <p:grpSpPr>
              <a:xfrm>
                <a:off x="1296" y="1344"/>
                <a:ext cx="288" cy="454"/>
                <a:chOff x="816" y="3504"/>
                <a:chExt cx="288" cy="454"/>
              </a:xfrm>
            </p:grpSpPr>
            <p:sp>
              <p:nvSpPr>
                <p:cNvPr id="30760" name="Oval 55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61" name="Text Box 56"/>
                <p:cNvSpPr txBox="1"/>
                <p:nvPr/>
              </p:nvSpPr>
              <p:spPr>
                <a:xfrm>
                  <a:off x="816" y="3504"/>
                  <a:ext cx="288" cy="4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0762" name="Line 57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3" name="Line 58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3"/>
          <p:cNvSpPr txBox="1"/>
          <p:nvPr/>
        </p:nvSpPr>
        <p:spPr>
          <a:xfrm>
            <a:off x="287338" y="296863"/>
            <a:ext cx="8245475" cy="968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设在导线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上距长直导线为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处取电流元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dx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该处磁感应强度仅由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所产生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其大小为</a:t>
            </a:r>
          </a:p>
        </p:txBody>
      </p:sp>
      <p:sp>
        <p:nvSpPr>
          <p:cNvPr id="107525" name="Text Box 5"/>
          <p:cNvSpPr txBox="1"/>
          <p:nvPr/>
        </p:nvSpPr>
        <p:spPr>
          <a:xfrm>
            <a:off x="2700338" y="1484313"/>
            <a:ext cx="3733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方向垂直纸面向里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31747" name="Object 66"/>
          <p:cNvGraphicFramePr>
            <a:graphicFrameLocks noChangeAspect="1"/>
          </p:cNvGraphicFramePr>
          <p:nvPr/>
        </p:nvGraphicFramePr>
        <p:xfrm>
          <a:off x="5873750" y="2133600"/>
          <a:ext cx="31591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2400" imgH="241300" progId="Equation.3">
                  <p:embed/>
                </p:oleObj>
              </mc:Choice>
              <mc:Fallback>
                <p:oleObj r:id="rId3" imgW="152400" imgH="2413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73750" y="2133600"/>
                        <a:ext cx="315913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2"/>
          <p:cNvGrpSpPr/>
          <p:nvPr/>
        </p:nvGrpSpPr>
        <p:grpSpPr>
          <a:xfrm>
            <a:off x="7200900" y="3644900"/>
            <a:ext cx="503238" cy="900113"/>
            <a:chOff x="4309" y="3498"/>
            <a:chExt cx="317" cy="567"/>
          </a:xfrm>
        </p:grpSpPr>
        <p:sp>
          <p:nvSpPr>
            <p:cNvPr id="31749" name="Line 85"/>
            <p:cNvSpPr/>
            <p:nvPr/>
          </p:nvSpPr>
          <p:spPr>
            <a:xfrm>
              <a:off x="4626" y="3588"/>
              <a:ext cx="0" cy="47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graphicFrame>
          <p:nvGraphicFramePr>
            <p:cNvPr id="31750" name="Object 89"/>
            <p:cNvGraphicFramePr>
              <a:graphicFrameLocks noChangeAspect="1"/>
            </p:cNvGraphicFramePr>
            <p:nvPr/>
          </p:nvGraphicFramePr>
          <p:xfrm>
            <a:off x="4309" y="3498"/>
            <a:ext cx="26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03200" imgH="241300" progId="Equation.3">
                    <p:embed/>
                  </p:oleObj>
                </mc:Choice>
                <mc:Fallback>
                  <p:oleObj r:id="rId5" imgW="203200" imgH="24130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09" y="3498"/>
                          <a:ext cx="268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610" name="Text Box 90"/>
          <p:cNvSpPr txBox="1"/>
          <p:nvPr/>
        </p:nvSpPr>
        <p:spPr>
          <a:xfrm>
            <a:off x="611188" y="2205038"/>
            <a:ext cx="374491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dx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所受磁力的大小为</a:t>
            </a:r>
          </a:p>
        </p:txBody>
      </p:sp>
      <p:sp>
        <p:nvSpPr>
          <p:cNvPr id="107613" name="Text Box 93"/>
          <p:cNvSpPr txBox="1"/>
          <p:nvPr/>
        </p:nvSpPr>
        <p:spPr>
          <a:xfrm>
            <a:off x="1331913" y="3465513"/>
            <a:ext cx="25923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方向竖直向上</a:t>
            </a:r>
          </a:p>
        </p:txBody>
      </p:sp>
      <p:sp>
        <p:nvSpPr>
          <p:cNvPr id="107614" name="Text Box 94"/>
          <p:cNvSpPr txBox="1"/>
          <p:nvPr/>
        </p:nvSpPr>
        <p:spPr>
          <a:xfrm>
            <a:off x="719138" y="4113213"/>
            <a:ext cx="36718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ab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所受磁力的大小为</a:t>
            </a:r>
          </a:p>
        </p:txBody>
      </p:sp>
      <p:sp>
        <p:nvSpPr>
          <p:cNvPr id="107616" name="Text Box 96"/>
          <p:cNvSpPr txBox="1"/>
          <p:nvPr/>
        </p:nvSpPr>
        <p:spPr>
          <a:xfrm>
            <a:off x="4319588" y="5842000"/>
            <a:ext cx="33480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力的方向竖直向上</a:t>
            </a:r>
          </a:p>
        </p:txBody>
      </p:sp>
      <p:graphicFrame>
        <p:nvGraphicFramePr>
          <p:cNvPr id="107617" name="Object 97"/>
          <p:cNvGraphicFramePr>
            <a:graphicFrameLocks noChangeAspect="1"/>
          </p:cNvGraphicFramePr>
          <p:nvPr/>
        </p:nvGraphicFramePr>
        <p:xfrm>
          <a:off x="1042988" y="5694363"/>
          <a:ext cx="21240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04900" imgH="393700" progId="Equation.3">
                  <p:embed/>
                </p:oleObj>
              </mc:Choice>
              <mc:Fallback>
                <p:oleObj r:id="rId7" imgW="1104900" imgH="3937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2988" y="5694363"/>
                        <a:ext cx="2124075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6" name="Group 116"/>
          <p:cNvGrpSpPr/>
          <p:nvPr/>
        </p:nvGrpSpPr>
        <p:grpSpPr>
          <a:xfrm>
            <a:off x="6191250" y="2205038"/>
            <a:ext cx="2952750" cy="3168650"/>
            <a:chOff x="3900" y="1390"/>
            <a:chExt cx="1860" cy="1996"/>
          </a:xfrm>
        </p:grpSpPr>
        <p:sp>
          <p:nvSpPr>
            <p:cNvPr id="31757" name="AutoShape 61"/>
            <p:cNvSpPr/>
            <p:nvPr/>
          </p:nvSpPr>
          <p:spPr>
            <a:xfrm flipH="1">
              <a:off x="3900" y="1934"/>
              <a:ext cx="78" cy="1277"/>
            </a:xfrm>
            <a:prstGeom prst="can">
              <a:avLst>
                <a:gd name="adj" fmla="val 31681"/>
              </a:avLst>
            </a:prstGeom>
            <a:gradFill rotWithShape="0">
              <a:gsLst>
                <a:gs pos="0">
                  <a:srgbClr val="6C7680"/>
                </a:gs>
                <a:gs pos="50000">
                  <a:srgbClr val="A3B2C1"/>
                </a:gs>
                <a:gs pos="100000">
                  <a:srgbClr val="6C7680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8" name="Line 62"/>
            <p:cNvSpPr/>
            <p:nvPr/>
          </p:nvSpPr>
          <p:spPr>
            <a:xfrm flipV="1">
              <a:off x="3945" y="1390"/>
              <a:ext cx="0" cy="59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1759" name="Line 63"/>
            <p:cNvSpPr/>
            <p:nvPr/>
          </p:nvSpPr>
          <p:spPr>
            <a:xfrm>
              <a:off x="4308" y="3068"/>
              <a:ext cx="972" cy="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31760" name="Object 64"/>
            <p:cNvGraphicFramePr>
              <a:graphicFrameLocks noChangeAspect="1"/>
            </p:cNvGraphicFramePr>
            <p:nvPr/>
          </p:nvGraphicFramePr>
          <p:xfrm>
            <a:off x="4036" y="3113"/>
            <a:ext cx="20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39700" imgH="177800" progId="Equation.DSMT4">
                    <p:embed/>
                  </p:oleObj>
                </mc:Choice>
                <mc:Fallback>
                  <p:oleObj r:id="rId9" imgW="139700" imgH="177800" progId="Equation.DSMT4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36" y="3113"/>
                          <a:ext cx="206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1" name="Object 65"/>
            <p:cNvGraphicFramePr>
              <a:graphicFrameLocks noChangeAspect="1"/>
            </p:cNvGraphicFramePr>
            <p:nvPr/>
          </p:nvGraphicFramePr>
          <p:xfrm>
            <a:off x="4761" y="3113"/>
            <a:ext cx="2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39700" imgH="165100" progId="Equation.DSMT4">
                    <p:embed/>
                  </p:oleObj>
                </mc:Choice>
                <mc:Fallback>
                  <p:oleObj r:id="rId11" imgW="139700" imgH="165100" progId="Equation.DSMT4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761" y="3113"/>
                          <a:ext cx="2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2" name="Line 67"/>
            <p:cNvSpPr/>
            <p:nvPr/>
          </p:nvSpPr>
          <p:spPr>
            <a:xfrm>
              <a:off x="3984" y="1662"/>
              <a:ext cx="0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31763" name="Line 68"/>
            <p:cNvSpPr/>
            <p:nvPr/>
          </p:nvSpPr>
          <p:spPr>
            <a:xfrm>
              <a:off x="3900" y="1662"/>
              <a:ext cx="0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31764" name="Line 69"/>
            <p:cNvSpPr/>
            <p:nvPr/>
          </p:nvSpPr>
          <p:spPr>
            <a:xfrm flipH="1">
              <a:off x="5306" y="2895"/>
              <a:ext cx="2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31765" name="Line 70"/>
            <p:cNvSpPr/>
            <p:nvPr/>
          </p:nvSpPr>
          <p:spPr>
            <a:xfrm>
              <a:off x="4328" y="2884"/>
              <a:ext cx="6" cy="35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31766" name="Line 71"/>
            <p:cNvSpPr/>
            <p:nvPr/>
          </p:nvSpPr>
          <p:spPr>
            <a:xfrm>
              <a:off x="3990" y="3068"/>
              <a:ext cx="350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31767" name="Object 73"/>
            <p:cNvGraphicFramePr>
              <a:graphicFrameLocks noChangeAspect="1"/>
            </p:cNvGraphicFramePr>
            <p:nvPr/>
          </p:nvGraphicFramePr>
          <p:xfrm>
            <a:off x="4672" y="1434"/>
            <a:ext cx="22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52400" imgH="190500" progId="Equation.3">
                    <p:embed/>
                  </p:oleObj>
                </mc:Choice>
                <mc:Fallback>
                  <p:oleObj r:id="rId13" imgW="152400" imgH="1905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72" y="1434"/>
                          <a:ext cx="225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68" name="Group 74"/>
            <p:cNvGrpSpPr/>
            <p:nvPr/>
          </p:nvGrpSpPr>
          <p:grpSpPr>
            <a:xfrm>
              <a:off x="4082" y="1820"/>
              <a:ext cx="212" cy="327"/>
              <a:chOff x="1296" y="1344"/>
              <a:chExt cx="288" cy="416"/>
            </a:xfrm>
          </p:grpSpPr>
          <p:grpSp>
            <p:nvGrpSpPr>
              <p:cNvPr id="31769" name="Group 75"/>
              <p:cNvGrpSpPr/>
              <p:nvPr/>
            </p:nvGrpSpPr>
            <p:grpSpPr>
              <a:xfrm>
                <a:off x="1296" y="1344"/>
                <a:ext cx="288" cy="416"/>
                <a:chOff x="816" y="3504"/>
                <a:chExt cx="288" cy="416"/>
              </a:xfrm>
            </p:grpSpPr>
            <p:sp>
              <p:nvSpPr>
                <p:cNvPr id="31770" name="Oval 76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771" name="Text Box 77"/>
                <p:cNvSpPr txBox="1"/>
                <p:nvPr/>
              </p:nvSpPr>
              <p:spPr>
                <a:xfrm>
                  <a:off x="816" y="3504"/>
                  <a:ext cx="288" cy="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5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1772" name="Line 78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3" name="Line 79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1774" name="Line 80"/>
            <p:cNvSpPr/>
            <p:nvPr/>
          </p:nvSpPr>
          <p:spPr>
            <a:xfrm>
              <a:off x="4334" y="2893"/>
              <a:ext cx="972" cy="2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31775" name="Object 81"/>
            <p:cNvGraphicFramePr>
              <a:graphicFrameLocks noChangeAspect="1"/>
            </p:cNvGraphicFramePr>
            <p:nvPr/>
          </p:nvGraphicFramePr>
          <p:xfrm>
            <a:off x="5066" y="2478"/>
            <a:ext cx="248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65100" imgH="241300" progId="Equation.3">
                    <p:embed/>
                  </p:oleObj>
                </mc:Choice>
                <mc:Fallback>
                  <p:oleObj r:id="rId15" imgW="165100" imgH="24130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066" y="2478"/>
                          <a:ext cx="248" cy="3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Text Box 82"/>
            <p:cNvSpPr txBox="1"/>
            <p:nvPr/>
          </p:nvSpPr>
          <p:spPr>
            <a:xfrm>
              <a:off x="4036" y="2705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1777" name="Text Box 83"/>
            <p:cNvSpPr txBox="1"/>
            <p:nvPr/>
          </p:nvSpPr>
          <p:spPr>
            <a:xfrm>
              <a:off x="5351" y="2705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31778" name="Group 98"/>
            <p:cNvGrpSpPr/>
            <p:nvPr/>
          </p:nvGrpSpPr>
          <p:grpSpPr>
            <a:xfrm>
              <a:off x="4354" y="1820"/>
              <a:ext cx="212" cy="327"/>
              <a:chOff x="1296" y="1344"/>
              <a:chExt cx="288" cy="416"/>
            </a:xfrm>
          </p:grpSpPr>
          <p:grpSp>
            <p:nvGrpSpPr>
              <p:cNvPr id="31779" name="Group 99"/>
              <p:cNvGrpSpPr/>
              <p:nvPr/>
            </p:nvGrpSpPr>
            <p:grpSpPr>
              <a:xfrm>
                <a:off x="1296" y="1344"/>
                <a:ext cx="288" cy="416"/>
                <a:chOff x="816" y="3504"/>
                <a:chExt cx="288" cy="416"/>
              </a:xfrm>
            </p:grpSpPr>
            <p:sp>
              <p:nvSpPr>
                <p:cNvPr id="31780" name="Oval 100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781" name="Text Box 101"/>
                <p:cNvSpPr txBox="1"/>
                <p:nvPr/>
              </p:nvSpPr>
              <p:spPr>
                <a:xfrm>
                  <a:off x="816" y="3504"/>
                  <a:ext cx="288" cy="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5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1782" name="Line 102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83" name="Line 103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1784" name="Group 104"/>
            <p:cNvGrpSpPr/>
            <p:nvPr/>
          </p:nvGrpSpPr>
          <p:grpSpPr>
            <a:xfrm>
              <a:off x="4717" y="1820"/>
              <a:ext cx="212" cy="327"/>
              <a:chOff x="1296" y="1344"/>
              <a:chExt cx="288" cy="416"/>
            </a:xfrm>
          </p:grpSpPr>
          <p:grpSp>
            <p:nvGrpSpPr>
              <p:cNvPr id="31785" name="Group 105"/>
              <p:cNvGrpSpPr/>
              <p:nvPr/>
            </p:nvGrpSpPr>
            <p:grpSpPr>
              <a:xfrm>
                <a:off x="1296" y="1344"/>
                <a:ext cx="288" cy="416"/>
                <a:chOff x="816" y="3504"/>
                <a:chExt cx="288" cy="416"/>
              </a:xfrm>
            </p:grpSpPr>
            <p:sp>
              <p:nvSpPr>
                <p:cNvPr id="31786" name="Oval 106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787" name="Text Box 107"/>
                <p:cNvSpPr txBox="1"/>
                <p:nvPr/>
              </p:nvSpPr>
              <p:spPr>
                <a:xfrm>
                  <a:off x="816" y="3504"/>
                  <a:ext cx="288" cy="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5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1788" name="Line 108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89" name="Line 109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1790" name="Group 110"/>
            <p:cNvGrpSpPr/>
            <p:nvPr/>
          </p:nvGrpSpPr>
          <p:grpSpPr>
            <a:xfrm>
              <a:off x="5322" y="1820"/>
              <a:ext cx="212" cy="327"/>
              <a:chOff x="1296" y="1344"/>
              <a:chExt cx="288" cy="416"/>
            </a:xfrm>
          </p:grpSpPr>
          <p:grpSp>
            <p:nvGrpSpPr>
              <p:cNvPr id="31791" name="Group 111"/>
              <p:cNvGrpSpPr/>
              <p:nvPr/>
            </p:nvGrpSpPr>
            <p:grpSpPr>
              <a:xfrm>
                <a:off x="1296" y="1344"/>
                <a:ext cx="288" cy="416"/>
                <a:chOff x="816" y="3504"/>
                <a:chExt cx="288" cy="416"/>
              </a:xfrm>
            </p:grpSpPr>
            <p:sp>
              <p:nvSpPr>
                <p:cNvPr id="31792" name="Oval 112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793" name="Text Box 113"/>
                <p:cNvSpPr txBox="1"/>
                <p:nvPr/>
              </p:nvSpPr>
              <p:spPr>
                <a:xfrm>
                  <a:off x="816" y="3504"/>
                  <a:ext cx="288" cy="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b="1" i="1" dirty="0">
                    <a:solidFill>
                      <a:srgbClr val="05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1794" name="Line 114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95" name="Line 115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" name="Group 120"/>
          <p:cNvGrpSpPr/>
          <p:nvPr/>
        </p:nvGrpSpPr>
        <p:grpSpPr>
          <a:xfrm>
            <a:off x="6264275" y="4041775"/>
            <a:ext cx="1779588" cy="574675"/>
            <a:chOff x="3946" y="2546"/>
            <a:chExt cx="1121" cy="362"/>
          </a:xfrm>
        </p:grpSpPr>
        <p:grpSp>
          <p:nvGrpSpPr>
            <p:cNvPr id="31797" name="Group 118"/>
            <p:cNvGrpSpPr/>
            <p:nvPr/>
          </p:nvGrpSpPr>
          <p:grpSpPr>
            <a:xfrm>
              <a:off x="3946" y="2568"/>
              <a:ext cx="1121" cy="340"/>
              <a:chOff x="3946" y="2568"/>
              <a:chExt cx="1121" cy="340"/>
            </a:xfrm>
          </p:grpSpPr>
          <p:sp>
            <p:nvSpPr>
              <p:cNvPr id="31798" name="Line 86"/>
              <p:cNvSpPr/>
              <p:nvPr/>
            </p:nvSpPr>
            <p:spPr>
              <a:xfrm>
                <a:off x="3946" y="2795"/>
                <a:ext cx="771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sp>
          <p:sp>
            <p:nvSpPr>
              <p:cNvPr id="31799" name="Rectangle 87"/>
              <p:cNvSpPr/>
              <p:nvPr/>
            </p:nvSpPr>
            <p:spPr>
              <a:xfrm>
                <a:off x="4762" y="2863"/>
                <a:ext cx="182" cy="45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1800" name="Object 117"/>
              <p:cNvGraphicFramePr>
                <a:graphicFrameLocks noChangeAspect="1"/>
              </p:cNvGraphicFramePr>
              <p:nvPr/>
            </p:nvGraphicFramePr>
            <p:xfrm>
              <a:off x="4649" y="2568"/>
              <a:ext cx="418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" imgW="316865" imgH="215900" progId="Equation.3">
                      <p:embed/>
                    </p:oleObj>
                  </mc:Choice>
                  <mc:Fallback>
                    <p:oleObj r:id="rId17" imgW="316865" imgH="215900" progId="Equation.3">
                      <p:embed/>
                      <p:pic>
                        <p:nvPicPr>
                          <p:cNvPr id="0" name="图片 3208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649" y="2568"/>
                            <a:ext cx="418" cy="2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801" name="Object 119"/>
            <p:cNvGraphicFramePr>
              <a:graphicFrameLocks noChangeAspect="1"/>
            </p:cNvGraphicFramePr>
            <p:nvPr/>
          </p:nvGraphicFramePr>
          <p:xfrm>
            <a:off x="4241" y="2546"/>
            <a:ext cx="20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27000" imgH="139700" progId="Equation.3">
                    <p:embed/>
                  </p:oleObj>
                </mc:Choice>
                <mc:Fallback>
                  <p:oleObj r:id="rId19" imgW="127000" imgH="1397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41" y="2546"/>
                          <a:ext cx="205" cy="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644" name="Line 124"/>
          <p:cNvSpPr/>
          <p:nvPr/>
        </p:nvSpPr>
        <p:spPr>
          <a:xfrm flipV="1">
            <a:off x="6948488" y="4581525"/>
            <a:ext cx="503237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1803" name="对象 2"/>
          <p:cNvGraphicFramePr/>
          <p:nvPr/>
        </p:nvGraphicFramePr>
        <p:xfrm>
          <a:off x="815975" y="1268413"/>
          <a:ext cx="1620838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323975" imgH="704850" progId="Equation.DSMT4">
                  <p:embed/>
                </p:oleObj>
              </mc:Choice>
              <mc:Fallback>
                <p:oleObj r:id="rId21" imgW="1323975" imgH="704850" progId="Equation.DSMT4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15975" y="1268413"/>
                        <a:ext cx="1620838" cy="820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04" name="对象 4"/>
          <p:cNvGraphicFramePr/>
          <p:nvPr/>
        </p:nvGraphicFramePr>
        <p:xfrm>
          <a:off x="682625" y="2743200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2294255" imgH="448945" progId="Equation.DSMT4">
                  <p:embed/>
                </p:oleObj>
              </mc:Choice>
              <mc:Fallback>
                <p:oleObj r:id="rId23" imgW="2294255" imgH="448945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82625" y="2743200"/>
                        <a:ext cx="22606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05" name="对象 6"/>
          <p:cNvGraphicFramePr/>
          <p:nvPr/>
        </p:nvGraphicFramePr>
        <p:xfrm>
          <a:off x="3167063" y="2625725"/>
          <a:ext cx="167957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1536065" imgH="722630" progId="Equation.DSMT4">
                  <p:embed/>
                </p:oleObj>
              </mc:Choice>
              <mc:Fallback>
                <p:oleObj r:id="rId25" imgW="1536065" imgH="722630" progId="Equation.DSMT4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67063" y="2625725"/>
                        <a:ext cx="1679575" cy="823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06" name="对象 8"/>
          <p:cNvGraphicFramePr/>
          <p:nvPr/>
        </p:nvGraphicFramePr>
        <p:xfrm>
          <a:off x="682625" y="4725988"/>
          <a:ext cx="3060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3535680" imgH="857250" progId="Equation.DSMT4">
                  <p:embed/>
                </p:oleObj>
              </mc:Choice>
              <mc:Fallback>
                <p:oleObj r:id="rId27" imgW="3535680" imgH="857250" progId="Equation.DSMT4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82625" y="4725988"/>
                        <a:ext cx="30607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/>
      <p:bldP spid="107610" grpId="0"/>
      <p:bldP spid="107613" grpId="0"/>
      <p:bldP spid="107614" grpId="0"/>
      <p:bldP spid="1076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8" descr="IMAGE00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548" t="11475"/>
          <a:stretch>
            <a:fillRect/>
          </a:stretch>
        </p:blipFill>
        <p:spPr>
          <a:xfrm>
            <a:off x="315913" y="1556385"/>
            <a:ext cx="8599487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7" name="矩形 1"/>
          <p:cNvSpPr/>
          <p:nvPr/>
        </p:nvSpPr>
        <p:spPr>
          <a:xfrm>
            <a:off x="3762375" y="274638"/>
            <a:ext cx="10972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练习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 descr="IMAGE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811213"/>
            <a:ext cx="8763000" cy="2154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4" descr="IMAGE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3402013"/>
            <a:ext cx="8534400" cy="2938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矩形 3"/>
          <p:cNvSpPr/>
          <p:nvPr/>
        </p:nvSpPr>
        <p:spPr>
          <a:xfrm>
            <a:off x="4151313" y="263525"/>
            <a:ext cx="906462" cy="5222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dirty="0">
                <a:latin typeface="Verdana" panose="020B0604030504040204" pitchFamily="34" charset="0"/>
                <a:ea typeface="楷体_GB2312" pitchFamily="49" charset="-122"/>
              </a:rPr>
              <a:t>练习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3" descr="IMAGE0001"/>
          <p:cNvPicPr>
            <a:picLocks noChangeAspect="1"/>
          </p:cNvPicPr>
          <p:nvPr/>
        </p:nvPicPr>
        <p:blipFill>
          <a:blip r:embed="rId3"/>
          <a:srcRect l="3041" t="25945" r="10777"/>
          <a:stretch>
            <a:fillRect/>
          </a:stretch>
        </p:blipFill>
        <p:spPr>
          <a:xfrm>
            <a:off x="322898" y="620078"/>
            <a:ext cx="7880350" cy="1855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0" name="Picture 4" descr="IMAGE0002"/>
          <p:cNvPicPr>
            <a:picLocks noChangeAspect="1"/>
          </p:cNvPicPr>
          <p:nvPr/>
        </p:nvPicPr>
        <p:blipFill>
          <a:blip r:embed="rId4"/>
          <a:srcRect l="7307" t="7959" r="5113" b="23349"/>
          <a:stretch>
            <a:fillRect/>
          </a:stretch>
        </p:blipFill>
        <p:spPr>
          <a:xfrm>
            <a:off x="5417185" y="1772920"/>
            <a:ext cx="3067050" cy="173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4" descr="IMAGE00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l="1736" t="13365" r="5452"/>
          <a:stretch>
            <a:fillRect/>
          </a:stretch>
        </p:blipFill>
        <p:spPr>
          <a:xfrm>
            <a:off x="683260" y="4293235"/>
            <a:ext cx="8046720" cy="1638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IMAGE00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144000" cy="17986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2" name="Picture 3" descr="IMAGE0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708910"/>
            <a:ext cx="5867400" cy="3436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2" descr="IMAGE0004"/>
          <p:cNvPicPr>
            <a:picLocks noChangeAspect="1"/>
          </p:cNvPicPr>
          <p:nvPr/>
        </p:nvPicPr>
        <p:blipFill>
          <a:blip r:embed="rId2"/>
          <a:srcRect b="15254"/>
          <a:stretch>
            <a:fillRect/>
          </a:stretch>
        </p:blipFill>
        <p:spPr>
          <a:xfrm>
            <a:off x="2915920" y="4004945"/>
            <a:ext cx="2971800" cy="2228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4" name="Picture 3" descr="IMAGE0003"/>
          <p:cNvPicPr>
            <a:picLocks noChangeAspect="1"/>
          </p:cNvPicPr>
          <p:nvPr/>
        </p:nvPicPr>
        <p:blipFill>
          <a:blip r:embed="rId3"/>
          <a:srcRect l="2016" t="4529" r="1421" b="10590"/>
          <a:stretch>
            <a:fillRect/>
          </a:stretch>
        </p:blipFill>
        <p:spPr>
          <a:xfrm>
            <a:off x="505460" y="548640"/>
            <a:ext cx="8030845" cy="29222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 descr="IMAGE0009"/>
          <p:cNvPicPr>
            <a:picLocks noChangeAspect="1"/>
          </p:cNvPicPr>
          <p:nvPr/>
        </p:nvPicPr>
        <p:blipFill>
          <a:blip r:embed="rId3"/>
          <a:srcRect l="1782" t="17374"/>
          <a:stretch>
            <a:fillRect/>
          </a:stretch>
        </p:blipFill>
        <p:spPr>
          <a:xfrm>
            <a:off x="395605" y="1484630"/>
            <a:ext cx="8653145" cy="19011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矩形 1"/>
          <p:cNvSpPr/>
          <p:nvPr/>
        </p:nvSpPr>
        <p:spPr>
          <a:xfrm>
            <a:off x="3675063" y="393700"/>
            <a:ext cx="960437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5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练习</a:t>
            </a:r>
            <a:r>
              <a:rPr lang="en-US" altLang="zh-CN" sz="2800" b="1" dirty="0">
                <a:solidFill>
                  <a:srgbClr val="05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5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4337" name="Picture 2" descr="IMAGE000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2574" t="18355" b="4465"/>
          <a:stretch>
            <a:fillRect/>
          </a:stretch>
        </p:blipFill>
        <p:spPr>
          <a:xfrm>
            <a:off x="539750" y="4004945"/>
            <a:ext cx="7942580" cy="16744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IMAGE00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95275"/>
            <a:ext cx="8534400" cy="1762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Picture 4" descr="IMAGE0007"/>
          <p:cNvPicPr>
            <a:picLocks noChangeAspect="1"/>
          </p:cNvPicPr>
          <p:nvPr/>
        </p:nvPicPr>
        <p:blipFill>
          <a:blip r:embed="rId3"/>
          <a:srcRect l="4257" t="16135" b="4762"/>
          <a:stretch>
            <a:fillRect/>
          </a:stretch>
        </p:blipFill>
        <p:spPr>
          <a:xfrm>
            <a:off x="482600" y="3711575"/>
            <a:ext cx="8436610" cy="1901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273050" y="204788"/>
            <a:ext cx="262255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00488" y="2965450"/>
            <a:ext cx="960437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5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练习</a:t>
            </a:r>
            <a:r>
              <a:rPr lang="en-US" altLang="zh-CN" sz="2800" b="1" dirty="0">
                <a:solidFill>
                  <a:srgbClr val="05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5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4" descr="IMAGE0003"/>
          <p:cNvPicPr>
            <a:picLocks noChangeAspect="1"/>
          </p:cNvPicPr>
          <p:nvPr/>
        </p:nvPicPr>
        <p:blipFill>
          <a:blip r:embed="rId3"/>
          <a:srcRect r="11806"/>
          <a:stretch>
            <a:fillRect/>
          </a:stretch>
        </p:blipFill>
        <p:spPr>
          <a:xfrm>
            <a:off x="899478" y="3068955"/>
            <a:ext cx="3225800" cy="3033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8" name="Picture 5" descr="IMAGE00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" y="681038"/>
            <a:ext cx="8915400" cy="25225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矩形 5"/>
          <p:cNvSpPr/>
          <p:nvPr/>
        </p:nvSpPr>
        <p:spPr>
          <a:xfrm>
            <a:off x="158750" y="681038"/>
            <a:ext cx="25685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539875" y="5759450"/>
            <a:ext cx="1644650" cy="5508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91440" tIns="45720" rIns="91440" bIns="45720" anchor="t" anchorCtr="0"/>
          <a:lstStyle/>
          <a:p>
            <a:pPr>
              <a:buClrTx/>
              <a:buFontTx/>
            </a:pPr>
            <a:endParaRPr lang="zh-CN" altLang="en-US" sz="2800" b="1">
              <a:solidFill>
                <a:srgbClr val="000000"/>
              </a:solidFill>
              <a:latin typeface="Verdan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3" grpId="2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5" descr="IMAGE0012"/>
          <p:cNvPicPr>
            <a:picLocks noChangeAspect="1"/>
          </p:cNvPicPr>
          <p:nvPr/>
        </p:nvPicPr>
        <p:blipFill>
          <a:blip r:embed="rId2"/>
          <a:srcRect t="17873"/>
          <a:stretch>
            <a:fillRect/>
          </a:stretch>
        </p:blipFill>
        <p:spPr>
          <a:xfrm>
            <a:off x="114300" y="1414463"/>
            <a:ext cx="8915400" cy="1552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2" name="Picture 4" descr="IMAGE0011"/>
          <p:cNvPicPr>
            <a:picLocks noChangeAspect="1"/>
          </p:cNvPicPr>
          <p:nvPr/>
        </p:nvPicPr>
        <p:blipFill>
          <a:blip r:embed="rId3"/>
          <a:srcRect l="2583" t="11816"/>
          <a:stretch>
            <a:fillRect/>
          </a:stretch>
        </p:blipFill>
        <p:spPr>
          <a:xfrm>
            <a:off x="303213" y="3627438"/>
            <a:ext cx="8535987" cy="227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矩形 4"/>
          <p:cNvSpPr/>
          <p:nvPr/>
        </p:nvSpPr>
        <p:spPr>
          <a:xfrm>
            <a:off x="3986213" y="503238"/>
            <a:ext cx="960437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5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练习</a:t>
            </a:r>
            <a:r>
              <a:rPr lang="en-US" altLang="zh-CN" sz="2800" b="1" dirty="0">
                <a:solidFill>
                  <a:srgbClr val="05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5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4" descr="IMAGE0004"/>
          <p:cNvPicPr>
            <a:picLocks noGrp="1" noChangeAspect="1"/>
          </p:cNvPicPr>
          <p:nvPr>
            <p:ph idx="1"/>
          </p:nvPr>
        </p:nvPicPr>
        <p:blipFill>
          <a:blip r:embed="rId3"/>
          <a:srcRect t="13303" b="7622"/>
          <a:stretch>
            <a:fillRect/>
          </a:stretch>
        </p:blipFill>
        <p:spPr>
          <a:xfrm>
            <a:off x="304800" y="809625"/>
            <a:ext cx="8647113" cy="1630363"/>
          </a:xfrm>
        </p:spPr>
      </p:pic>
      <p:sp>
        <p:nvSpPr>
          <p:cNvPr id="3" name="等腰三角形 2"/>
          <p:cNvSpPr/>
          <p:nvPr/>
        </p:nvSpPr>
        <p:spPr>
          <a:xfrm>
            <a:off x="431800" y="261938"/>
            <a:ext cx="511175" cy="5476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697" name="Picture 4" descr="IMAGE000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4970" y="3068638"/>
            <a:ext cx="8686800" cy="2211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2" descr="IMAGE00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8458200" cy="213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6" name="Picture 3" descr="IMAGE00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24200"/>
            <a:ext cx="4038600" cy="3313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Text Box 5"/>
          <p:cNvSpPr txBox="1"/>
          <p:nvPr/>
        </p:nvSpPr>
        <p:spPr>
          <a:xfrm>
            <a:off x="3491548" y="296863"/>
            <a:ext cx="1614487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Verdana" panose="020B0604030504040204" pitchFamily="34" charset="0"/>
                <a:ea typeface="宋体" panose="02010600030101010101" pitchFamily="2" charset="-122"/>
              </a:rPr>
              <a:t>练习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2" descr="IMAGE00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657600"/>
            <a:ext cx="4419600" cy="2843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0" name="Picture 3" descr="IMAGE00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9144000" cy="2370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4" descr="IMAGE001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304800"/>
            <a:ext cx="8610600" cy="1543050"/>
          </a:xfrm>
        </p:spPr>
      </p:pic>
      <p:pic>
        <p:nvPicPr>
          <p:cNvPr id="13314" name="Picture 5" descr="IMAGE00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19400"/>
            <a:ext cx="9067800" cy="1624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1" name="Picture 4" descr="IMAGE0015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9705" y="4725035"/>
            <a:ext cx="8763000" cy="1570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IMAGE0003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1945" y="521970"/>
            <a:ext cx="8097838" cy="188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6"/>
          <p:cNvSpPr/>
          <p:nvPr>
            <p:custDataLst>
              <p:tags r:id="rId2"/>
            </p:custDataLst>
          </p:nvPr>
        </p:nvSpPr>
        <p:spPr>
          <a:xfrm>
            <a:off x="250508" y="404495"/>
            <a:ext cx="2820987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zh-CN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" name="Picture 2" descr="IMAGE00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rcRect l="-1181" t="-1567" r="4924" b="1567"/>
          <a:stretch>
            <a:fillRect/>
          </a:stretch>
        </p:blipFill>
        <p:spPr>
          <a:xfrm>
            <a:off x="323215" y="3068638"/>
            <a:ext cx="8712200" cy="228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组合 6"/>
          <p:cNvGrpSpPr/>
          <p:nvPr/>
        </p:nvGrpSpPr>
        <p:grpSpPr>
          <a:xfrm>
            <a:off x="322263" y="231775"/>
            <a:ext cx="8669337" cy="2857500"/>
            <a:chOff x="507" y="70"/>
            <a:chExt cx="13653" cy="4499"/>
          </a:xfrm>
        </p:grpSpPr>
        <p:pic>
          <p:nvPicPr>
            <p:cNvPr id="28674" name="Picture 2" descr="IMAGE000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rcRect l="2460" t="18269"/>
            <a:stretch>
              <a:fillRect/>
            </a:stretch>
          </p:blipFill>
          <p:spPr>
            <a:xfrm>
              <a:off x="680" y="795"/>
              <a:ext cx="13480" cy="377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75" name="Rectangle 6"/>
            <p:cNvSpPr/>
            <p:nvPr/>
          </p:nvSpPr>
          <p:spPr>
            <a:xfrm>
              <a:off x="507" y="70"/>
              <a:ext cx="4442" cy="7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ctr" anchorCtr="0">
              <a:spAutoFit/>
            </a:bodyPr>
            <a:lstStyle/>
            <a:p>
              <a:r>
                <a:rPr lang="zh-CN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</a:p>
          </p:txBody>
        </p:sp>
      </p:grpSp>
      <p:grpSp>
        <p:nvGrpSpPr>
          <p:cNvPr id="28676" name="组合 5"/>
          <p:cNvGrpSpPr/>
          <p:nvPr/>
        </p:nvGrpSpPr>
        <p:grpSpPr>
          <a:xfrm>
            <a:off x="287338" y="3003550"/>
            <a:ext cx="8513762" cy="3635375"/>
            <a:chOff x="339" y="4266"/>
            <a:chExt cx="13410" cy="5723"/>
          </a:xfrm>
        </p:grpSpPr>
        <p:sp>
          <p:nvSpPr>
            <p:cNvPr id="28677" name="Rectangle 6"/>
            <p:cNvSpPr/>
            <p:nvPr/>
          </p:nvSpPr>
          <p:spPr>
            <a:xfrm>
              <a:off x="339" y="4266"/>
              <a:ext cx="4442" cy="7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ctr" anchorCtr="0">
              <a:spAutoFit/>
            </a:bodyPr>
            <a:lstStyle/>
            <a:p>
              <a:r>
                <a:rPr lang="zh-CN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</a:p>
          </p:txBody>
        </p:sp>
        <p:grpSp>
          <p:nvGrpSpPr>
            <p:cNvPr id="28678" name="组合 4"/>
            <p:cNvGrpSpPr/>
            <p:nvPr/>
          </p:nvGrpSpPr>
          <p:grpSpPr>
            <a:xfrm>
              <a:off x="680" y="4991"/>
              <a:ext cx="13069" cy="4998"/>
              <a:chOff x="680" y="4991"/>
              <a:chExt cx="13069" cy="4998"/>
            </a:xfrm>
          </p:grpSpPr>
          <p:pic>
            <p:nvPicPr>
              <p:cNvPr id="28679" name="Picture 4" descr="IMAGE0011"/>
              <p:cNvPicPr>
                <a:picLocks noChangeAspect="1"/>
              </p:cNvPicPr>
              <p:nvPr/>
            </p:nvPicPr>
            <p:blipFill>
              <a:blip r:embed="rId5"/>
              <a:srcRect l="4875" t="7487" r="4625" b="52046"/>
              <a:stretch>
                <a:fillRect/>
              </a:stretch>
            </p:blipFill>
            <p:spPr>
              <a:xfrm>
                <a:off x="680" y="4991"/>
                <a:ext cx="12643" cy="361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8680" name="Picture 4" descr="IMAGE0011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5"/>
              <a:srcRect l="22441" t="55286" r="53615" b="8505"/>
              <a:stretch>
                <a:fillRect/>
              </a:stretch>
            </p:blipFill>
            <p:spPr>
              <a:xfrm>
                <a:off x="11112" y="7441"/>
                <a:ext cx="2637" cy="254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2" descr="IMAGE00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3" y="2996565"/>
            <a:ext cx="4648200" cy="2990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698" name="Picture 3" descr="IMAGE0005"/>
          <p:cNvPicPr>
            <a:picLocks noChangeAspect="1"/>
          </p:cNvPicPr>
          <p:nvPr/>
        </p:nvPicPr>
        <p:blipFill>
          <a:blip r:embed="rId3"/>
          <a:srcRect l="2126" r="7140"/>
          <a:stretch>
            <a:fillRect/>
          </a:stretch>
        </p:blipFill>
        <p:spPr>
          <a:xfrm>
            <a:off x="539115" y="476250"/>
            <a:ext cx="8297863" cy="2168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5" descr="IMAGE00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6883" y="692785"/>
            <a:ext cx="8686800" cy="2278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89" name="Picture 2" descr="IMAGE000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t="17351"/>
          <a:stretch>
            <a:fillRect/>
          </a:stretch>
        </p:blipFill>
        <p:spPr>
          <a:xfrm>
            <a:off x="322263" y="3428683"/>
            <a:ext cx="8915400" cy="2573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2" descr="IMAGE0003"/>
          <p:cNvPicPr>
            <a:picLocks noChangeAspect="1"/>
          </p:cNvPicPr>
          <p:nvPr/>
        </p:nvPicPr>
        <p:blipFill>
          <a:blip r:embed="rId2"/>
          <a:srcRect b="19925"/>
          <a:stretch>
            <a:fillRect/>
          </a:stretch>
        </p:blipFill>
        <p:spPr>
          <a:xfrm>
            <a:off x="2915920" y="2924810"/>
            <a:ext cx="3810000" cy="2700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6" name="Picture 3" descr="IMAGE0004"/>
          <p:cNvPicPr>
            <a:picLocks noChangeAspect="1"/>
          </p:cNvPicPr>
          <p:nvPr/>
        </p:nvPicPr>
        <p:blipFill>
          <a:blip r:embed="rId3"/>
          <a:srcRect l="3647" t="17308" r="5898" b="2654"/>
          <a:stretch>
            <a:fillRect/>
          </a:stretch>
        </p:blipFill>
        <p:spPr>
          <a:xfrm>
            <a:off x="539750" y="475933"/>
            <a:ext cx="8064500" cy="2163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g2MGQ4N2NjYmE0YzdjYmVmZjdmMzlhODEwMjZmY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1.299907149489,&quot;width&quot;:153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081,&quot;width&quot;:13997}"/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305,&quot;width&quot;:1404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637.499212598425,&quot;width&quot;:13862.500787401576}"/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372.499212598425,&quot;width&quot;:14147.499212598424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</Words>
  <Application>Microsoft Office PowerPoint</Application>
  <PresentationFormat>全屏显示(4:3)</PresentationFormat>
  <Paragraphs>253</Paragraphs>
  <Slides>55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55</vt:i4>
      </vt:variant>
    </vt:vector>
  </HeadingPairs>
  <TitlesOfParts>
    <vt:vector size="77" baseType="lpstr">
      <vt:lpstr>黑体</vt:lpstr>
      <vt:lpstr>华文楷体</vt:lpstr>
      <vt:lpstr>华文中宋</vt:lpstr>
      <vt:lpstr>楷体_GB2312</vt:lpstr>
      <vt:lpstr>宋体</vt:lpstr>
      <vt:lpstr>Arial</vt:lpstr>
      <vt:lpstr>Book Antiqua</vt:lpstr>
      <vt:lpstr>Bookman Old Style</vt:lpstr>
      <vt:lpstr>MT Extra</vt:lpstr>
      <vt:lpstr>Symbol</vt:lpstr>
      <vt:lpstr>Times New Roman</vt:lpstr>
      <vt:lpstr>Verdana</vt:lpstr>
      <vt:lpstr>Wingdings</vt:lpstr>
      <vt:lpstr>默认设计模板</vt:lpstr>
      <vt:lpstr>1_默认设计模板</vt:lpstr>
      <vt:lpstr>2_默认设计模板</vt:lpstr>
      <vt:lpstr>3_默认设计模板</vt:lpstr>
      <vt:lpstr>4_默认设计模板</vt:lpstr>
      <vt:lpstr>Microsoft Equation 3.0</vt:lpstr>
      <vt:lpstr>MathType 6.0 Equation</vt:lpstr>
      <vt:lpstr>Visio.Drawing.11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172022027@qq.com</cp:lastModifiedBy>
  <cp:revision>29</cp:revision>
  <dcterms:created xsi:type="dcterms:W3CDTF">2022-11-29T00:09:00Z</dcterms:created>
  <dcterms:modified xsi:type="dcterms:W3CDTF">2024-12-16T09:46:03Z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F190C73EB4FA4ECC95EDCB3A67C8203B_13</vt:lpwstr>
  </property>
</Properties>
</file>