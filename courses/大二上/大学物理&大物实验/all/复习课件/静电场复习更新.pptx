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1.xml" ContentType="application/vnd.openxmlformats-officedocument.presentationml.notesSlide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08"/>
  </p:notesMasterIdLst>
  <p:sldIdLst>
    <p:sldId id="256" r:id="rId5"/>
    <p:sldId id="376" r:id="rId6"/>
    <p:sldId id="377" r:id="rId7"/>
    <p:sldId id="259" r:id="rId8"/>
    <p:sldId id="260" r:id="rId9"/>
    <p:sldId id="600" r:id="rId10"/>
    <p:sldId id="262" r:id="rId11"/>
    <p:sldId id="263" r:id="rId12"/>
    <p:sldId id="271" r:id="rId13"/>
    <p:sldId id="520" r:id="rId14"/>
    <p:sldId id="519" r:id="rId15"/>
    <p:sldId id="601" r:id="rId16"/>
    <p:sldId id="281" r:id="rId17"/>
    <p:sldId id="284" r:id="rId18"/>
    <p:sldId id="518" r:id="rId19"/>
    <p:sldId id="602" r:id="rId20"/>
    <p:sldId id="264" r:id="rId21"/>
    <p:sldId id="265" r:id="rId22"/>
    <p:sldId id="266" r:id="rId23"/>
    <p:sldId id="267" r:id="rId24"/>
    <p:sldId id="268" r:id="rId25"/>
    <p:sldId id="269" r:id="rId26"/>
    <p:sldId id="521" r:id="rId27"/>
    <p:sldId id="603" r:id="rId28"/>
    <p:sldId id="270" r:id="rId29"/>
    <p:sldId id="343" r:id="rId30"/>
    <p:sldId id="344" r:id="rId31"/>
    <p:sldId id="345" r:id="rId32"/>
    <p:sldId id="346" r:id="rId33"/>
    <p:sldId id="604" r:id="rId34"/>
    <p:sldId id="261" r:id="rId35"/>
    <p:sldId id="605" r:id="rId36"/>
    <p:sldId id="698" r:id="rId37"/>
    <p:sldId id="347" r:id="rId38"/>
    <p:sldId id="516" r:id="rId39"/>
    <p:sldId id="606" r:id="rId40"/>
    <p:sldId id="348" r:id="rId41"/>
    <p:sldId id="515" r:id="rId42"/>
    <p:sldId id="607" r:id="rId43"/>
    <p:sldId id="349" r:id="rId44"/>
    <p:sldId id="309" r:id="rId45"/>
    <p:sldId id="272" r:id="rId46"/>
    <p:sldId id="285" r:id="rId47"/>
    <p:sldId id="275" r:id="rId48"/>
    <p:sldId id="276" r:id="rId49"/>
    <p:sldId id="273" r:id="rId50"/>
    <p:sldId id="274" r:id="rId51"/>
    <p:sldId id="683" r:id="rId52"/>
    <p:sldId id="684" r:id="rId53"/>
    <p:sldId id="685" r:id="rId54"/>
    <p:sldId id="277" r:id="rId55"/>
    <p:sldId id="278" r:id="rId56"/>
    <p:sldId id="279" r:id="rId57"/>
    <p:sldId id="280" r:id="rId58"/>
    <p:sldId id="334" r:id="rId59"/>
    <p:sldId id="335" r:id="rId60"/>
    <p:sldId id="336" r:id="rId61"/>
    <p:sldId id="444" r:id="rId62"/>
    <p:sldId id="445" r:id="rId63"/>
    <p:sldId id="446" r:id="rId64"/>
    <p:sldId id="699" r:id="rId65"/>
    <p:sldId id="608" r:id="rId66"/>
    <p:sldId id="700" r:id="rId67"/>
    <p:sldId id="449" r:id="rId68"/>
    <p:sldId id="455" r:id="rId69"/>
    <p:sldId id="701" r:id="rId70"/>
    <p:sldId id="472" r:id="rId71"/>
    <p:sldId id="702" r:id="rId72"/>
    <p:sldId id="337" r:id="rId73"/>
    <p:sldId id="286" r:id="rId74"/>
    <p:sldId id="287" r:id="rId75"/>
    <p:sldId id="288" r:id="rId76"/>
    <p:sldId id="289" r:id="rId77"/>
    <p:sldId id="290" r:id="rId78"/>
    <p:sldId id="291" r:id="rId79"/>
    <p:sldId id="468" r:id="rId80"/>
    <p:sldId id="686" r:id="rId81"/>
    <p:sldId id="687" r:id="rId82"/>
    <p:sldId id="688" r:id="rId83"/>
    <p:sldId id="689" r:id="rId84"/>
    <p:sldId id="339" r:id="rId85"/>
    <p:sldId id="340" r:id="rId86"/>
    <p:sldId id="341" r:id="rId87"/>
    <p:sldId id="429" r:id="rId88"/>
    <p:sldId id="342" r:id="rId89"/>
    <p:sldId id="425" r:id="rId90"/>
    <p:sldId id="426" r:id="rId91"/>
    <p:sldId id="471" r:id="rId92"/>
    <p:sldId id="690" r:id="rId93"/>
    <p:sldId id="691" r:id="rId94"/>
    <p:sldId id="473" r:id="rId95"/>
    <p:sldId id="474" r:id="rId96"/>
    <p:sldId id="475" r:id="rId97"/>
    <p:sldId id="693" r:id="rId98"/>
    <p:sldId id="476" r:id="rId99"/>
    <p:sldId id="477" r:id="rId100"/>
    <p:sldId id="478" r:id="rId101"/>
    <p:sldId id="694" r:id="rId102"/>
    <p:sldId id="482" r:id="rId103"/>
    <p:sldId id="480" r:id="rId104"/>
    <p:sldId id="695" r:id="rId105"/>
    <p:sldId id="483" r:id="rId106"/>
    <p:sldId id="696" r:id="rId107"/>
  </p:sldIdLst>
  <p:sldSz cx="9144000" cy="6858000" type="screen4x3"/>
  <p:notesSz cx="6858000" cy="9144000"/>
  <p:custDataLst>
    <p:tags r:id="rId10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428" y="66"/>
      </p:cViewPr>
      <p:guideLst>
        <p:guide orient="horz" pos="218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slide" Target="slides/slide98.xml"/><Relationship Id="rId110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ags" Target="tags/tag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0.emf"/><Relationship Id="rId18" Type="http://schemas.openxmlformats.org/officeDocument/2006/relationships/image" Target="../media/image23.emf"/><Relationship Id="rId3" Type="http://schemas.openxmlformats.org/officeDocument/2006/relationships/image" Target="../media/image15.emf"/><Relationship Id="rId21" Type="http://schemas.openxmlformats.org/officeDocument/2006/relationships/image" Target="../media/image25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2.e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9.emf"/><Relationship Id="rId5" Type="http://schemas.openxmlformats.org/officeDocument/2006/relationships/image" Target="../media/image16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20.bin"/><Relationship Id="rId19" Type="http://schemas.openxmlformats.org/officeDocument/2006/relationships/oleObject" Target="../embeddings/oleObject24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8.emf"/><Relationship Id="rId14" Type="http://schemas.openxmlformats.org/officeDocument/2006/relationships/oleObject" Target="../embeddings/oleObject2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1.em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0.wmf"/><Relationship Id="rId4" Type="http://schemas.openxmlformats.org/officeDocument/2006/relationships/image" Target="../media/image27.emf"/><Relationship Id="rId9" Type="http://schemas.openxmlformats.org/officeDocument/2006/relationships/oleObject" Target="../embeddings/oleObject2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34.w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pn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tags" Target="../tags/tag8.xml"/><Relationship Id="rId7" Type="http://schemas.openxmlformats.org/officeDocument/2006/relationships/oleObject" Target="../embeddings/oleObject31.bin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5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35.xml"/><Relationship Id="rId117" Type="http://schemas.openxmlformats.org/officeDocument/2006/relationships/tags" Target="../tags/tag126.xml"/><Relationship Id="rId21" Type="http://schemas.openxmlformats.org/officeDocument/2006/relationships/tags" Target="../tags/tag30.xml"/><Relationship Id="rId42" Type="http://schemas.openxmlformats.org/officeDocument/2006/relationships/tags" Target="../tags/tag51.xml"/><Relationship Id="rId47" Type="http://schemas.openxmlformats.org/officeDocument/2006/relationships/tags" Target="../tags/tag56.xml"/><Relationship Id="rId63" Type="http://schemas.openxmlformats.org/officeDocument/2006/relationships/tags" Target="../tags/tag72.xml"/><Relationship Id="rId68" Type="http://schemas.openxmlformats.org/officeDocument/2006/relationships/tags" Target="../tags/tag77.xml"/><Relationship Id="rId84" Type="http://schemas.openxmlformats.org/officeDocument/2006/relationships/tags" Target="../tags/tag93.xml"/><Relationship Id="rId89" Type="http://schemas.openxmlformats.org/officeDocument/2006/relationships/tags" Target="../tags/tag98.xml"/><Relationship Id="rId112" Type="http://schemas.openxmlformats.org/officeDocument/2006/relationships/tags" Target="../tags/tag121.xml"/><Relationship Id="rId16" Type="http://schemas.openxmlformats.org/officeDocument/2006/relationships/tags" Target="../tags/tag25.xml"/><Relationship Id="rId107" Type="http://schemas.openxmlformats.org/officeDocument/2006/relationships/tags" Target="../tags/tag116.xml"/><Relationship Id="rId11" Type="http://schemas.openxmlformats.org/officeDocument/2006/relationships/tags" Target="../tags/tag20.xml"/><Relationship Id="rId32" Type="http://schemas.openxmlformats.org/officeDocument/2006/relationships/tags" Target="../tags/tag41.xml"/><Relationship Id="rId37" Type="http://schemas.openxmlformats.org/officeDocument/2006/relationships/tags" Target="../tags/tag46.xml"/><Relationship Id="rId53" Type="http://schemas.openxmlformats.org/officeDocument/2006/relationships/tags" Target="../tags/tag62.xml"/><Relationship Id="rId58" Type="http://schemas.openxmlformats.org/officeDocument/2006/relationships/tags" Target="../tags/tag67.xml"/><Relationship Id="rId74" Type="http://schemas.openxmlformats.org/officeDocument/2006/relationships/tags" Target="../tags/tag83.xml"/><Relationship Id="rId79" Type="http://schemas.openxmlformats.org/officeDocument/2006/relationships/tags" Target="../tags/tag88.xml"/><Relationship Id="rId102" Type="http://schemas.openxmlformats.org/officeDocument/2006/relationships/tags" Target="../tags/tag111.xml"/><Relationship Id="rId123" Type="http://schemas.openxmlformats.org/officeDocument/2006/relationships/tags" Target="../tags/tag132.xml"/><Relationship Id="rId128" Type="http://schemas.openxmlformats.org/officeDocument/2006/relationships/slideLayout" Target="../slideLayouts/slideLayout7.xml"/><Relationship Id="rId5" Type="http://schemas.openxmlformats.org/officeDocument/2006/relationships/tags" Target="../tags/tag14.xml"/><Relationship Id="rId90" Type="http://schemas.openxmlformats.org/officeDocument/2006/relationships/tags" Target="../tags/tag99.xml"/><Relationship Id="rId95" Type="http://schemas.openxmlformats.org/officeDocument/2006/relationships/tags" Target="../tags/tag104.xml"/><Relationship Id="rId19" Type="http://schemas.openxmlformats.org/officeDocument/2006/relationships/tags" Target="../tags/tag2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tags" Target="../tags/tag44.xml"/><Relationship Id="rId43" Type="http://schemas.openxmlformats.org/officeDocument/2006/relationships/tags" Target="../tags/tag52.xml"/><Relationship Id="rId48" Type="http://schemas.openxmlformats.org/officeDocument/2006/relationships/tags" Target="../tags/tag57.xml"/><Relationship Id="rId56" Type="http://schemas.openxmlformats.org/officeDocument/2006/relationships/tags" Target="../tags/tag65.xml"/><Relationship Id="rId64" Type="http://schemas.openxmlformats.org/officeDocument/2006/relationships/tags" Target="../tags/tag73.xml"/><Relationship Id="rId69" Type="http://schemas.openxmlformats.org/officeDocument/2006/relationships/tags" Target="../tags/tag78.xml"/><Relationship Id="rId77" Type="http://schemas.openxmlformats.org/officeDocument/2006/relationships/tags" Target="../tags/tag86.xml"/><Relationship Id="rId100" Type="http://schemas.openxmlformats.org/officeDocument/2006/relationships/tags" Target="../tags/tag109.xml"/><Relationship Id="rId105" Type="http://schemas.openxmlformats.org/officeDocument/2006/relationships/tags" Target="../tags/tag114.xml"/><Relationship Id="rId113" Type="http://schemas.openxmlformats.org/officeDocument/2006/relationships/tags" Target="../tags/tag122.xml"/><Relationship Id="rId118" Type="http://schemas.openxmlformats.org/officeDocument/2006/relationships/tags" Target="../tags/tag127.xml"/><Relationship Id="rId126" Type="http://schemas.openxmlformats.org/officeDocument/2006/relationships/tags" Target="../tags/tag135.xml"/><Relationship Id="rId8" Type="http://schemas.openxmlformats.org/officeDocument/2006/relationships/tags" Target="../tags/tag17.xml"/><Relationship Id="rId51" Type="http://schemas.openxmlformats.org/officeDocument/2006/relationships/tags" Target="../tags/tag60.xml"/><Relationship Id="rId72" Type="http://schemas.openxmlformats.org/officeDocument/2006/relationships/tags" Target="../tags/tag81.xml"/><Relationship Id="rId80" Type="http://schemas.openxmlformats.org/officeDocument/2006/relationships/tags" Target="../tags/tag89.xml"/><Relationship Id="rId85" Type="http://schemas.openxmlformats.org/officeDocument/2006/relationships/tags" Target="../tags/tag94.xml"/><Relationship Id="rId93" Type="http://schemas.openxmlformats.org/officeDocument/2006/relationships/tags" Target="../tags/tag102.xml"/><Relationship Id="rId98" Type="http://schemas.openxmlformats.org/officeDocument/2006/relationships/tags" Target="../tags/tag107.xml"/><Relationship Id="rId121" Type="http://schemas.openxmlformats.org/officeDocument/2006/relationships/tags" Target="../tags/tag130.xml"/><Relationship Id="rId3" Type="http://schemas.openxmlformats.org/officeDocument/2006/relationships/tags" Target="../tags/tag12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38" Type="http://schemas.openxmlformats.org/officeDocument/2006/relationships/tags" Target="../tags/tag47.xml"/><Relationship Id="rId46" Type="http://schemas.openxmlformats.org/officeDocument/2006/relationships/tags" Target="../tags/tag55.xml"/><Relationship Id="rId59" Type="http://schemas.openxmlformats.org/officeDocument/2006/relationships/tags" Target="../tags/tag68.xml"/><Relationship Id="rId67" Type="http://schemas.openxmlformats.org/officeDocument/2006/relationships/tags" Target="../tags/tag76.xml"/><Relationship Id="rId103" Type="http://schemas.openxmlformats.org/officeDocument/2006/relationships/tags" Target="../tags/tag112.xml"/><Relationship Id="rId108" Type="http://schemas.openxmlformats.org/officeDocument/2006/relationships/tags" Target="../tags/tag117.xml"/><Relationship Id="rId116" Type="http://schemas.openxmlformats.org/officeDocument/2006/relationships/tags" Target="../tags/tag125.xml"/><Relationship Id="rId124" Type="http://schemas.openxmlformats.org/officeDocument/2006/relationships/tags" Target="../tags/tag133.xml"/><Relationship Id="rId20" Type="http://schemas.openxmlformats.org/officeDocument/2006/relationships/tags" Target="../tags/tag29.xml"/><Relationship Id="rId41" Type="http://schemas.openxmlformats.org/officeDocument/2006/relationships/tags" Target="../tags/tag50.xml"/><Relationship Id="rId54" Type="http://schemas.openxmlformats.org/officeDocument/2006/relationships/tags" Target="../tags/tag63.xml"/><Relationship Id="rId62" Type="http://schemas.openxmlformats.org/officeDocument/2006/relationships/tags" Target="../tags/tag71.xml"/><Relationship Id="rId70" Type="http://schemas.openxmlformats.org/officeDocument/2006/relationships/tags" Target="../tags/tag79.xml"/><Relationship Id="rId75" Type="http://schemas.openxmlformats.org/officeDocument/2006/relationships/tags" Target="../tags/tag84.xml"/><Relationship Id="rId83" Type="http://schemas.openxmlformats.org/officeDocument/2006/relationships/tags" Target="../tags/tag92.xml"/><Relationship Id="rId88" Type="http://schemas.openxmlformats.org/officeDocument/2006/relationships/tags" Target="../tags/tag97.xml"/><Relationship Id="rId91" Type="http://schemas.openxmlformats.org/officeDocument/2006/relationships/tags" Target="../tags/tag100.xml"/><Relationship Id="rId96" Type="http://schemas.openxmlformats.org/officeDocument/2006/relationships/tags" Target="../tags/tag105.xml"/><Relationship Id="rId111" Type="http://schemas.openxmlformats.org/officeDocument/2006/relationships/tags" Target="../tags/tag120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tags" Target="../tags/tag45.xml"/><Relationship Id="rId49" Type="http://schemas.openxmlformats.org/officeDocument/2006/relationships/tags" Target="../tags/tag58.xml"/><Relationship Id="rId57" Type="http://schemas.openxmlformats.org/officeDocument/2006/relationships/tags" Target="../tags/tag66.xml"/><Relationship Id="rId106" Type="http://schemas.openxmlformats.org/officeDocument/2006/relationships/tags" Target="../tags/tag115.xml"/><Relationship Id="rId114" Type="http://schemas.openxmlformats.org/officeDocument/2006/relationships/tags" Target="../tags/tag123.xml"/><Relationship Id="rId119" Type="http://schemas.openxmlformats.org/officeDocument/2006/relationships/tags" Target="../tags/tag128.xml"/><Relationship Id="rId127" Type="http://schemas.openxmlformats.org/officeDocument/2006/relationships/tags" Target="../tags/tag136.xml"/><Relationship Id="rId10" Type="http://schemas.openxmlformats.org/officeDocument/2006/relationships/tags" Target="../tags/tag19.xml"/><Relationship Id="rId31" Type="http://schemas.openxmlformats.org/officeDocument/2006/relationships/tags" Target="../tags/tag40.xml"/><Relationship Id="rId44" Type="http://schemas.openxmlformats.org/officeDocument/2006/relationships/tags" Target="../tags/tag53.xml"/><Relationship Id="rId52" Type="http://schemas.openxmlformats.org/officeDocument/2006/relationships/tags" Target="../tags/tag61.xml"/><Relationship Id="rId60" Type="http://schemas.openxmlformats.org/officeDocument/2006/relationships/tags" Target="../tags/tag69.xml"/><Relationship Id="rId65" Type="http://schemas.openxmlformats.org/officeDocument/2006/relationships/tags" Target="../tags/tag74.xml"/><Relationship Id="rId73" Type="http://schemas.openxmlformats.org/officeDocument/2006/relationships/tags" Target="../tags/tag82.xml"/><Relationship Id="rId78" Type="http://schemas.openxmlformats.org/officeDocument/2006/relationships/tags" Target="../tags/tag87.xml"/><Relationship Id="rId81" Type="http://schemas.openxmlformats.org/officeDocument/2006/relationships/tags" Target="../tags/tag90.xml"/><Relationship Id="rId86" Type="http://schemas.openxmlformats.org/officeDocument/2006/relationships/tags" Target="../tags/tag95.xml"/><Relationship Id="rId94" Type="http://schemas.openxmlformats.org/officeDocument/2006/relationships/tags" Target="../tags/tag103.xml"/><Relationship Id="rId99" Type="http://schemas.openxmlformats.org/officeDocument/2006/relationships/tags" Target="../tags/tag108.xml"/><Relationship Id="rId101" Type="http://schemas.openxmlformats.org/officeDocument/2006/relationships/tags" Target="../tags/tag110.xml"/><Relationship Id="rId122" Type="http://schemas.openxmlformats.org/officeDocument/2006/relationships/tags" Target="../tags/tag13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39" Type="http://schemas.openxmlformats.org/officeDocument/2006/relationships/tags" Target="../tags/tag48.xml"/><Relationship Id="rId109" Type="http://schemas.openxmlformats.org/officeDocument/2006/relationships/tags" Target="../tags/tag118.xml"/><Relationship Id="rId34" Type="http://schemas.openxmlformats.org/officeDocument/2006/relationships/tags" Target="../tags/tag43.xml"/><Relationship Id="rId50" Type="http://schemas.openxmlformats.org/officeDocument/2006/relationships/tags" Target="../tags/tag59.xml"/><Relationship Id="rId55" Type="http://schemas.openxmlformats.org/officeDocument/2006/relationships/tags" Target="../tags/tag64.xml"/><Relationship Id="rId76" Type="http://schemas.openxmlformats.org/officeDocument/2006/relationships/tags" Target="../tags/tag85.xml"/><Relationship Id="rId97" Type="http://schemas.openxmlformats.org/officeDocument/2006/relationships/tags" Target="../tags/tag106.xml"/><Relationship Id="rId104" Type="http://schemas.openxmlformats.org/officeDocument/2006/relationships/tags" Target="../tags/tag113.xml"/><Relationship Id="rId120" Type="http://schemas.openxmlformats.org/officeDocument/2006/relationships/tags" Target="../tags/tag129.xml"/><Relationship Id="rId125" Type="http://schemas.openxmlformats.org/officeDocument/2006/relationships/tags" Target="../tags/tag134.xml"/><Relationship Id="rId7" Type="http://schemas.openxmlformats.org/officeDocument/2006/relationships/tags" Target="../tags/tag16.xml"/><Relationship Id="rId71" Type="http://schemas.openxmlformats.org/officeDocument/2006/relationships/tags" Target="../tags/tag80.xml"/><Relationship Id="rId92" Type="http://schemas.openxmlformats.org/officeDocument/2006/relationships/tags" Target="../tags/tag101.xml"/><Relationship Id="rId2" Type="http://schemas.openxmlformats.org/officeDocument/2006/relationships/tags" Target="../tags/tag11.xml"/><Relationship Id="rId29" Type="http://schemas.openxmlformats.org/officeDocument/2006/relationships/tags" Target="../tags/tag38.xml"/><Relationship Id="rId24" Type="http://schemas.openxmlformats.org/officeDocument/2006/relationships/tags" Target="../tags/tag33.xml"/><Relationship Id="rId40" Type="http://schemas.openxmlformats.org/officeDocument/2006/relationships/tags" Target="../tags/tag49.xml"/><Relationship Id="rId45" Type="http://schemas.openxmlformats.org/officeDocument/2006/relationships/tags" Target="../tags/tag54.xml"/><Relationship Id="rId66" Type="http://schemas.openxmlformats.org/officeDocument/2006/relationships/tags" Target="../tags/tag75.xml"/><Relationship Id="rId87" Type="http://schemas.openxmlformats.org/officeDocument/2006/relationships/tags" Target="../tags/tag96.xml"/><Relationship Id="rId110" Type="http://schemas.openxmlformats.org/officeDocument/2006/relationships/tags" Target="../tags/tag119.xml"/><Relationship Id="rId115" Type="http://schemas.openxmlformats.org/officeDocument/2006/relationships/tags" Target="../tags/tag124.xml"/><Relationship Id="rId61" Type="http://schemas.openxmlformats.org/officeDocument/2006/relationships/tags" Target="../tags/tag70.xml"/><Relationship Id="rId82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3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7.emf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2.wmf"/><Relationship Id="rId2" Type="http://schemas.openxmlformats.org/officeDocument/2006/relationships/oleObject" Target="../embeddings/oleObject40.bin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9.emf"/><Relationship Id="rId5" Type="http://schemas.openxmlformats.org/officeDocument/2006/relationships/image" Target="../media/image46.emf"/><Relationship Id="rId15" Type="http://schemas.openxmlformats.org/officeDocument/2006/relationships/image" Target="../media/image51.e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6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26" Type="http://schemas.openxmlformats.org/officeDocument/2006/relationships/tags" Target="../tags/tag162.xml"/><Relationship Id="rId39" Type="http://schemas.openxmlformats.org/officeDocument/2006/relationships/tags" Target="../tags/tag175.xml"/><Relationship Id="rId21" Type="http://schemas.openxmlformats.org/officeDocument/2006/relationships/tags" Target="../tags/tag157.xml"/><Relationship Id="rId34" Type="http://schemas.openxmlformats.org/officeDocument/2006/relationships/tags" Target="../tags/tag170.xml"/><Relationship Id="rId42" Type="http://schemas.openxmlformats.org/officeDocument/2006/relationships/tags" Target="../tags/tag178.xml"/><Relationship Id="rId47" Type="http://schemas.openxmlformats.org/officeDocument/2006/relationships/tags" Target="../tags/tag183.xml"/><Relationship Id="rId50" Type="http://schemas.openxmlformats.org/officeDocument/2006/relationships/tags" Target="../tags/tag186.xml"/><Relationship Id="rId55" Type="http://schemas.openxmlformats.org/officeDocument/2006/relationships/tags" Target="../tags/tag191.xml"/><Relationship Id="rId63" Type="http://schemas.openxmlformats.org/officeDocument/2006/relationships/slideLayout" Target="../slideLayouts/slideLayout7.xml"/><Relationship Id="rId68" Type="http://schemas.openxmlformats.org/officeDocument/2006/relationships/oleObject" Target="../embeddings/oleObject50.bin"/><Relationship Id="rId7" Type="http://schemas.openxmlformats.org/officeDocument/2006/relationships/tags" Target="../tags/tag143.xml"/><Relationship Id="rId71" Type="http://schemas.openxmlformats.org/officeDocument/2006/relationships/image" Target="../media/image56.emf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9" Type="http://schemas.openxmlformats.org/officeDocument/2006/relationships/tags" Target="../tags/tag165.xml"/><Relationship Id="rId11" Type="http://schemas.openxmlformats.org/officeDocument/2006/relationships/tags" Target="../tags/tag147.xml"/><Relationship Id="rId24" Type="http://schemas.openxmlformats.org/officeDocument/2006/relationships/tags" Target="../tags/tag160.xml"/><Relationship Id="rId32" Type="http://schemas.openxmlformats.org/officeDocument/2006/relationships/tags" Target="../tags/tag168.xml"/><Relationship Id="rId37" Type="http://schemas.openxmlformats.org/officeDocument/2006/relationships/tags" Target="../tags/tag173.xml"/><Relationship Id="rId40" Type="http://schemas.openxmlformats.org/officeDocument/2006/relationships/tags" Target="../tags/tag176.xml"/><Relationship Id="rId45" Type="http://schemas.openxmlformats.org/officeDocument/2006/relationships/tags" Target="../tags/tag181.xml"/><Relationship Id="rId53" Type="http://schemas.openxmlformats.org/officeDocument/2006/relationships/tags" Target="../tags/tag189.xml"/><Relationship Id="rId58" Type="http://schemas.openxmlformats.org/officeDocument/2006/relationships/tags" Target="../tags/tag194.xml"/><Relationship Id="rId66" Type="http://schemas.openxmlformats.org/officeDocument/2006/relationships/oleObject" Target="../embeddings/oleObject49.bin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23" Type="http://schemas.openxmlformats.org/officeDocument/2006/relationships/tags" Target="../tags/tag159.xml"/><Relationship Id="rId28" Type="http://schemas.openxmlformats.org/officeDocument/2006/relationships/tags" Target="../tags/tag164.xml"/><Relationship Id="rId36" Type="http://schemas.openxmlformats.org/officeDocument/2006/relationships/tags" Target="../tags/tag172.xml"/><Relationship Id="rId49" Type="http://schemas.openxmlformats.org/officeDocument/2006/relationships/tags" Target="../tags/tag185.xml"/><Relationship Id="rId57" Type="http://schemas.openxmlformats.org/officeDocument/2006/relationships/tags" Target="../tags/tag193.xml"/><Relationship Id="rId61" Type="http://schemas.openxmlformats.org/officeDocument/2006/relationships/tags" Target="../tags/tag197.xml"/><Relationship Id="rId10" Type="http://schemas.openxmlformats.org/officeDocument/2006/relationships/tags" Target="../tags/tag146.xml"/><Relationship Id="rId19" Type="http://schemas.openxmlformats.org/officeDocument/2006/relationships/tags" Target="../tags/tag155.xml"/><Relationship Id="rId31" Type="http://schemas.openxmlformats.org/officeDocument/2006/relationships/tags" Target="../tags/tag167.xml"/><Relationship Id="rId44" Type="http://schemas.openxmlformats.org/officeDocument/2006/relationships/tags" Target="../tags/tag180.xml"/><Relationship Id="rId52" Type="http://schemas.openxmlformats.org/officeDocument/2006/relationships/tags" Target="../tags/tag188.xml"/><Relationship Id="rId60" Type="http://schemas.openxmlformats.org/officeDocument/2006/relationships/tags" Target="../tags/tag196.xml"/><Relationship Id="rId65" Type="http://schemas.openxmlformats.org/officeDocument/2006/relationships/image" Target="../media/image53.emf"/><Relationship Id="rId73" Type="http://schemas.openxmlformats.org/officeDocument/2006/relationships/image" Target="../media/image57.emf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Relationship Id="rId22" Type="http://schemas.openxmlformats.org/officeDocument/2006/relationships/tags" Target="../tags/tag158.xml"/><Relationship Id="rId27" Type="http://schemas.openxmlformats.org/officeDocument/2006/relationships/tags" Target="../tags/tag163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43" Type="http://schemas.openxmlformats.org/officeDocument/2006/relationships/tags" Target="../tags/tag179.xml"/><Relationship Id="rId48" Type="http://schemas.openxmlformats.org/officeDocument/2006/relationships/tags" Target="../tags/tag184.xml"/><Relationship Id="rId56" Type="http://schemas.openxmlformats.org/officeDocument/2006/relationships/tags" Target="../tags/tag192.xml"/><Relationship Id="rId64" Type="http://schemas.openxmlformats.org/officeDocument/2006/relationships/oleObject" Target="../embeddings/oleObject48.bin"/><Relationship Id="rId69" Type="http://schemas.openxmlformats.org/officeDocument/2006/relationships/image" Target="../media/image55.emf"/><Relationship Id="rId8" Type="http://schemas.openxmlformats.org/officeDocument/2006/relationships/tags" Target="../tags/tag144.xml"/><Relationship Id="rId51" Type="http://schemas.openxmlformats.org/officeDocument/2006/relationships/tags" Target="../tags/tag187.xml"/><Relationship Id="rId72" Type="http://schemas.openxmlformats.org/officeDocument/2006/relationships/oleObject" Target="../embeddings/oleObject52.bin"/><Relationship Id="rId3" Type="http://schemas.openxmlformats.org/officeDocument/2006/relationships/tags" Target="../tags/tag139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5" Type="http://schemas.openxmlformats.org/officeDocument/2006/relationships/tags" Target="../tags/tag161.xml"/><Relationship Id="rId33" Type="http://schemas.openxmlformats.org/officeDocument/2006/relationships/tags" Target="../tags/tag169.xml"/><Relationship Id="rId38" Type="http://schemas.openxmlformats.org/officeDocument/2006/relationships/tags" Target="../tags/tag174.xml"/><Relationship Id="rId46" Type="http://schemas.openxmlformats.org/officeDocument/2006/relationships/tags" Target="../tags/tag182.xml"/><Relationship Id="rId59" Type="http://schemas.openxmlformats.org/officeDocument/2006/relationships/tags" Target="../tags/tag195.xml"/><Relationship Id="rId67" Type="http://schemas.openxmlformats.org/officeDocument/2006/relationships/image" Target="../media/image54.emf"/><Relationship Id="rId20" Type="http://schemas.openxmlformats.org/officeDocument/2006/relationships/tags" Target="../tags/tag156.xml"/><Relationship Id="rId41" Type="http://schemas.openxmlformats.org/officeDocument/2006/relationships/tags" Target="../tags/tag177.xml"/><Relationship Id="rId54" Type="http://schemas.openxmlformats.org/officeDocument/2006/relationships/tags" Target="../tags/tag190.xml"/><Relationship Id="rId62" Type="http://schemas.openxmlformats.org/officeDocument/2006/relationships/tags" Target="../tags/tag198.xml"/><Relationship Id="rId70" Type="http://schemas.openxmlformats.org/officeDocument/2006/relationships/oleObject" Target="../embeddings/oleObject51.bin"/><Relationship Id="rId1" Type="http://schemas.openxmlformats.org/officeDocument/2006/relationships/tags" Target="../tags/tag137.xml"/><Relationship Id="rId6" Type="http://schemas.openxmlformats.org/officeDocument/2006/relationships/tags" Target="../tags/tag14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3.bin"/><Relationship Id="rId4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image" Target="../media/image64.emf"/><Relationship Id="rId18" Type="http://schemas.openxmlformats.org/officeDocument/2006/relationships/oleObject" Target="../embeddings/oleObject62.bin"/><Relationship Id="rId26" Type="http://schemas.openxmlformats.org/officeDocument/2006/relationships/oleObject" Target="../embeddings/oleObject66.bin"/><Relationship Id="rId3" Type="http://schemas.openxmlformats.org/officeDocument/2006/relationships/image" Target="../media/image59.png"/><Relationship Id="rId21" Type="http://schemas.openxmlformats.org/officeDocument/2006/relationships/image" Target="../media/image68.wmf"/><Relationship Id="rId34" Type="http://schemas.openxmlformats.org/officeDocument/2006/relationships/oleObject" Target="../embeddings/oleObject70.bin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59.bin"/><Relationship Id="rId17" Type="http://schemas.openxmlformats.org/officeDocument/2006/relationships/image" Target="../media/image66.wmf"/><Relationship Id="rId25" Type="http://schemas.openxmlformats.org/officeDocument/2006/relationships/image" Target="../media/image69.emf"/><Relationship Id="rId33" Type="http://schemas.openxmlformats.org/officeDocument/2006/relationships/image" Target="../media/image73.wmf"/><Relationship Id="rId2" Type="http://schemas.openxmlformats.org/officeDocument/2006/relationships/oleObject" Target="../embeddings/oleObject54.bin"/><Relationship Id="rId16" Type="http://schemas.openxmlformats.org/officeDocument/2006/relationships/oleObject" Target="../embeddings/oleObject61.bin"/><Relationship Id="rId20" Type="http://schemas.openxmlformats.org/officeDocument/2006/relationships/oleObject" Target="../embeddings/oleObject63.bin"/><Relationship Id="rId29" Type="http://schemas.openxmlformats.org/officeDocument/2006/relationships/image" Target="../media/image71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3.emf"/><Relationship Id="rId24" Type="http://schemas.openxmlformats.org/officeDocument/2006/relationships/oleObject" Target="../embeddings/oleObject65.bin"/><Relationship Id="rId32" Type="http://schemas.openxmlformats.org/officeDocument/2006/relationships/oleObject" Target="../embeddings/oleObject69.bin"/><Relationship Id="rId37" Type="http://schemas.openxmlformats.org/officeDocument/2006/relationships/image" Target="../media/image75.wmf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23" Type="http://schemas.openxmlformats.org/officeDocument/2006/relationships/image" Target="../media/image44.wmf"/><Relationship Id="rId28" Type="http://schemas.openxmlformats.org/officeDocument/2006/relationships/oleObject" Target="../embeddings/oleObject67.bin"/><Relationship Id="rId36" Type="http://schemas.openxmlformats.org/officeDocument/2006/relationships/oleObject" Target="../embeddings/oleObject71.bin"/><Relationship Id="rId10" Type="http://schemas.openxmlformats.org/officeDocument/2006/relationships/oleObject" Target="../embeddings/oleObject58.bin"/><Relationship Id="rId19" Type="http://schemas.openxmlformats.org/officeDocument/2006/relationships/image" Target="../media/image67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2.emf"/><Relationship Id="rId14" Type="http://schemas.openxmlformats.org/officeDocument/2006/relationships/oleObject" Target="../embeddings/oleObject60.bin"/><Relationship Id="rId22" Type="http://schemas.openxmlformats.org/officeDocument/2006/relationships/oleObject" Target="../embeddings/oleObject64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68.bin"/><Relationship Id="rId35" Type="http://schemas.openxmlformats.org/officeDocument/2006/relationships/image" Target="../media/image7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7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3" Type="http://schemas.openxmlformats.org/officeDocument/2006/relationships/image" Target="../media/image78.e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76.bin"/><Relationship Id="rId5" Type="http://schemas.openxmlformats.org/officeDocument/2006/relationships/image" Target="../media/image79.e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5.e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wmf"/><Relationship Id="rId18" Type="http://schemas.openxmlformats.org/officeDocument/2006/relationships/image" Target="../media/image93.png"/><Relationship Id="rId26" Type="http://schemas.openxmlformats.org/officeDocument/2006/relationships/image" Target="../media/image98.emf"/><Relationship Id="rId39" Type="http://schemas.openxmlformats.org/officeDocument/2006/relationships/image" Target="../media/image109.emf"/><Relationship Id="rId3" Type="http://schemas.openxmlformats.org/officeDocument/2006/relationships/image" Target="../media/image86.wmf"/><Relationship Id="rId21" Type="http://schemas.openxmlformats.org/officeDocument/2006/relationships/oleObject" Target="../embeddings/oleObject91.bin"/><Relationship Id="rId34" Type="http://schemas.openxmlformats.org/officeDocument/2006/relationships/image" Target="../media/image105.emf"/><Relationship Id="rId42" Type="http://schemas.openxmlformats.org/officeDocument/2006/relationships/image" Target="../media/image111.wmf"/><Relationship Id="rId47" Type="http://schemas.openxmlformats.org/officeDocument/2006/relationships/oleObject" Target="../embeddings/oleObject98.bin"/><Relationship Id="rId50" Type="http://schemas.openxmlformats.org/officeDocument/2006/relationships/image" Target="../media/image115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92.png"/><Relationship Id="rId25" Type="http://schemas.openxmlformats.org/officeDocument/2006/relationships/image" Target="../media/image97.emf"/><Relationship Id="rId33" Type="http://schemas.openxmlformats.org/officeDocument/2006/relationships/oleObject" Target="../embeddings/oleObject93.bin"/><Relationship Id="rId38" Type="http://schemas.openxmlformats.org/officeDocument/2006/relationships/oleObject" Target="../embeddings/oleObject94.bin"/><Relationship Id="rId46" Type="http://schemas.openxmlformats.org/officeDocument/2006/relationships/image" Target="../media/image113.e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image" Target="../media/image94.wmf"/><Relationship Id="rId29" Type="http://schemas.openxmlformats.org/officeDocument/2006/relationships/image" Target="../media/image101.emf"/><Relationship Id="rId41" Type="http://schemas.openxmlformats.org/officeDocument/2006/relationships/oleObject" Target="../embeddings/oleObject95.bin"/><Relationship Id="rId54" Type="http://schemas.openxmlformats.org/officeDocument/2006/relationships/image" Target="../media/image117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90.wmf"/><Relationship Id="rId24" Type="http://schemas.openxmlformats.org/officeDocument/2006/relationships/image" Target="../media/image96.emf"/><Relationship Id="rId32" Type="http://schemas.openxmlformats.org/officeDocument/2006/relationships/image" Target="../media/image104.emf"/><Relationship Id="rId37" Type="http://schemas.openxmlformats.org/officeDocument/2006/relationships/image" Target="../media/image108.emf"/><Relationship Id="rId40" Type="http://schemas.openxmlformats.org/officeDocument/2006/relationships/image" Target="../media/image110.emf"/><Relationship Id="rId45" Type="http://schemas.openxmlformats.org/officeDocument/2006/relationships/oleObject" Target="../embeddings/oleObject97.bin"/><Relationship Id="rId53" Type="http://schemas.openxmlformats.org/officeDocument/2006/relationships/oleObject" Target="../embeddings/oleObject101.bin"/><Relationship Id="rId5" Type="http://schemas.openxmlformats.org/officeDocument/2006/relationships/image" Target="../media/image87.wmf"/><Relationship Id="rId15" Type="http://schemas.openxmlformats.org/officeDocument/2006/relationships/image" Target="../media/image59.png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100.emf"/><Relationship Id="rId36" Type="http://schemas.openxmlformats.org/officeDocument/2006/relationships/image" Target="../media/image107.emf"/><Relationship Id="rId49" Type="http://schemas.openxmlformats.org/officeDocument/2006/relationships/oleObject" Target="../embeddings/oleObject99.bin"/><Relationship Id="rId10" Type="http://schemas.openxmlformats.org/officeDocument/2006/relationships/oleObject" Target="../embeddings/oleObject86.bin"/><Relationship Id="rId19" Type="http://schemas.openxmlformats.org/officeDocument/2006/relationships/oleObject" Target="../embeddings/oleObject90.bin"/><Relationship Id="rId31" Type="http://schemas.openxmlformats.org/officeDocument/2006/relationships/image" Target="../media/image103.emf"/><Relationship Id="rId44" Type="http://schemas.openxmlformats.org/officeDocument/2006/relationships/image" Target="../media/image112.wmf"/><Relationship Id="rId52" Type="http://schemas.openxmlformats.org/officeDocument/2006/relationships/image" Target="../media/image116.e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88.bin"/><Relationship Id="rId22" Type="http://schemas.openxmlformats.org/officeDocument/2006/relationships/image" Target="../media/image95.emf"/><Relationship Id="rId27" Type="http://schemas.openxmlformats.org/officeDocument/2006/relationships/image" Target="../media/image99.emf"/><Relationship Id="rId30" Type="http://schemas.openxmlformats.org/officeDocument/2006/relationships/image" Target="../media/image102.emf"/><Relationship Id="rId35" Type="http://schemas.openxmlformats.org/officeDocument/2006/relationships/image" Target="../media/image106.emf"/><Relationship Id="rId43" Type="http://schemas.openxmlformats.org/officeDocument/2006/relationships/oleObject" Target="../embeddings/oleObject96.bin"/><Relationship Id="rId48" Type="http://schemas.openxmlformats.org/officeDocument/2006/relationships/image" Target="../media/image114.wmf"/><Relationship Id="rId8" Type="http://schemas.openxmlformats.org/officeDocument/2006/relationships/oleObject" Target="../embeddings/oleObject85.bin"/><Relationship Id="rId51" Type="http://schemas.openxmlformats.org/officeDocument/2006/relationships/oleObject" Target="../embeddings/oleObject10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23.wmf"/><Relationship Id="rId3" Type="http://schemas.openxmlformats.org/officeDocument/2006/relationships/image" Target="../media/image118.emf"/><Relationship Id="rId7" Type="http://schemas.openxmlformats.org/officeDocument/2006/relationships/image" Target="../media/image120.emf"/><Relationship Id="rId12" Type="http://schemas.openxmlformats.org/officeDocument/2006/relationships/oleObject" Target="../embeddings/oleObject107.bin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22.wmf"/><Relationship Id="rId5" Type="http://schemas.openxmlformats.org/officeDocument/2006/relationships/image" Target="../media/image119.e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2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image" Target="../media/image124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0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6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27.w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34.e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image" Target="../media/image136.emf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31.emf"/><Relationship Id="rId5" Type="http://schemas.openxmlformats.org/officeDocument/2006/relationships/image" Target="../media/image128.wmf"/><Relationship Id="rId15" Type="http://schemas.openxmlformats.org/officeDocument/2006/relationships/image" Target="../media/image133.e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15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19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tags" Target="../tags/tag211.xml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44.wmf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23.bin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43.wmf"/><Relationship Id="rId4" Type="http://schemas.openxmlformats.org/officeDocument/2006/relationships/tags" Target="../tags/tag212.xml"/><Relationship Id="rId9" Type="http://schemas.openxmlformats.org/officeDocument/2006/relationships/oleObject" Target="../embeddings/oleObject1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5.wmf"/><Relationship Id="rId7" Type="http://schemas.openxmlformats.org/officeDocument/2006/relationships/image" Target="../media/image148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oleObject" Target="../embeddings/oleObject12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52.wmf"/><Relationship Id="rId18" Type="http://schemas.openxmlformats.org/officeDocument/2006/relationships/image" Target="../media/image154.wmf"/><Relationship Id="rId3" Type="http://schemas.openxmlformats.org/officeDocument/2006/relationships/tags" Target="../tags/tag215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27.bin"/><Relationship Id="rId17" Type="http://schemas.openxmlformats.org/officeDocument/2006/relationships/oleObject" Target="../embeddings/oleObject130.bin"/><Relationship Id="rId2" Type="http://schemas.openxmlformats.org/officeDocument/2006/relationships/tags" Target="../tags/tag214.xml"/><Relationship Id="rId16" Type="http://schemas.openxmlformats.org/officeDocument/2006/relationships/image" Target="../media/image153.wmf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image" Target="../media/image151.wmf"/><Relationship Id="rId5" Type="http://schemas.openxmlformats.org/officeDocument/2006/relationships/tags" Target="../tags/tag217.xml"/><Relationship Id="rId15" Type="http://schemas.openxmlformats.org/officeDocument/2006/relationships/oleObject" Target="../embeddings/oleObject129.bin"/><Relationship Id="rId10" Type="http://schemas.openxmlformats.org/officeDocument/2006/relationships/oleObject" Target="../embeddings/oleObject126.bin"/><Relationship Id="rId4" Type="http://schemas.openxmlformats.org/officeDocument/2006/relationships/tags" Target="../tags/tag216.xml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2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3" Type="http://schemas.openxmlformats.org/officeDocument/2006/relationships/tags" Target="../tags/tag221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56.wmf"/><Relationship Id="rId5" Type="http://schemas.openxmlformats.org/officeDocument/2006/relationships/tags" Target="../tags/tag223.xml"/><Relationship Id="rId10" Type="http://schemas.openxmlformats.org/officeDocument/2006/relationships/oleObject" Target="../embeddings/oleObject132.bin"/><Relationship Id="rId4" Type="http://schemas.openxmlformats.org/officeDocument/2006/relationships/tags" Target="../tags/tag222.xml"/><Relationship Id="rId9" Type="http://schemas.openxmlformats.org/officeDocument/2006/relationships/image" Target="../media/image15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58.wmf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60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63.wmf"/><Relationship Id="rId18" Type="http://schemas.openxmlformats.org/officeDocument/2006/relationships/oleObject" Target="../embeddings/oleObject140.bin"/><Relationship Id="rId3" Type="http://schemas.openxmlformats.org/officeDocument/2006/relationships/tags" Target="../tags/tag226.xml"/><Relationship Id="rId21" Type="http://schemas.openxmlformats.org/officeDocument/2006/relationships/image" Target="../media/image166.wmf"/><Relationship Id="rId7" Type="http://schemas.openxmlformats.org/officeDocument/2006/relationships/tags" Target="../tags/tag230.xml"/><Relationship Id="rId12" Type="http://schemas.openxmlformats.org/officeDocument/2006/relationships/oleObject" Target="../embeddings/oleObject137.bin"/><Relationship Id="rId17" Type="http://schemas.openxmlformats.org/officeDocument/2006/relationships/image" Target="../media/image165.wmf"/><Relationship Id="rId2" Type="http://schemas.openxmlformats.org/officeDocument/2006/relationships/tags" Target="../tags/tag225.xml"/><Relationship Id="rId16" Type="http://schemas.openxmlformats.org/officeDocument/2006/relationships/oleObject" Target="../embeddings/oleObject139.bin"/><Relationship Id="rId20" Type="http://schemas.openxmlformats.org/officeDocument/2006/relationships/oleObject" Target="../embeddings/oleObject141.bin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image" Target="../media/image162.wmf"/><Relationship Id="rId5" Type="http://schemas.openxmlformats.org/officeDocument/2006/relationships/tags" Target="../tags/tag228.xml"/><Relationship Id="rId15" Type="http://schemas.openxmlformats.org/officeDocument/2006/relationships/image" Target="../media/image164.wmf"/><Relationship Id="rId23" Type="http://schemas.openxmlformats.org/officeDocument/2006/relationships/image" Target="../media/image167.wmf"/><Relationship Id="rId10" Type="http://schemas.openxmlformats.org/officeDocument/2006/relationships/oleObject" Target="../embeddings/oleObject136.bin"/><Relationship Id="rId19" Type="http://schemas.openxmlformats.org/officeDocument/2006/relationships/image" Target="../media/image151.wmf"/><Relationship Id="rId4" Type="http://schemas.openxmlformats.org/officeDocument/2006/relationships/tags" Target="../tags/tag227.xml"/><Relationship Id="rId9" Type="http://schemas.openxmlformats.org/officeDocument/2006/relationships/image" Target="../media/image161.png"/><Relationship Id="rId14" Type="http://schemas.openxmlformats.org/officeDocument/2006/relationships/oleObject" Target="../embeddings/oleObject138.bin"/><Relationship Id="rId22" Type="http://schemas.openxmlformats.org/officeDocument/2006/relationships/oleObject" Target="../embeddings/oleObject14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3" Type="http://schemas.openxmlformats.org/officeDocument/2006/relationships/tags" Target="../tags/tag233.xml"/><Relationship Id="rId7" Type="http://schemas.openxmlformats.org/officeDocument/2006/relationships/tags" Target="../tags/tag237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34.xml"/><Relationship Id="rId9" Type="http://schemas.openxmlformats.org/officeDocument/2006/relationships/tags" Target="../tags/tag2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40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71.wmf"/><Relationship Id="rId18" Type="http://schemas.openxmlformats.org/officeDocument/2006/relationships/oleObject" Target="../embeddings/oleObject151.bin"/><Relationship Id="rId3" Type="http://schemas.openxmlformats.org/officeDocument/2006/relationships/image" Target="../media/image9.wmf"/><Relationship Id="rId21" Type="http://schemas.openxmlformats.org/officeDocument/2006/relationships/image" Target="../media/image175.wmf"/><Relationship Id="rId7" Type="http://schemas.openxmlformats.org/officeDocument/2006/relationships/image" Target="../media/image168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73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70.wmf"/><Relationship Id="rId5" Type="http://schemas.openxmlformats.org/officeDocument/2006/relationships/image" Target="../media/image10.wmf"/><Relationship Id="rId15" Type="http://schemas.openxmlformats.org/officeDocument/2006/relationships/image" Target="../media/image172.wmf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74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69.wmf"/><Relationship Id="rId14" Type="http://schemas.openxmlformats.org/officeDocument/2006/relationships/oleObject" Target="../embeddings/oleObject14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53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2" Type="http://schemas.openxmlformats.org/officeDocument/2006/relationships/image" Target="../media/image26.jpeg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88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16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171.bin"/><Relationship Id="rId18" Type="http://schemas.openxmlformats.org/officeDocument/2006/relationships/image" Target="../media/image191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57.emf"/><Relationship Id="rId17" Type="http://schemas.openxmlformats.org/officeDocument/2006/relationships/oleObject" Target="../embeddings/oleObject173.bin"/><Relationship Id="rId2" Type="http://schemas.openxmlformats.org/officeDocument/2006/relationships/image" Target="../media/image26.jpeg"/><Relationship Id="rId16" Type="http://schemas.openxmlformats.org/officeDocument/2006/relationships/image" Target="../media/image190.emf"/><Relationship Id="rId20" Type="http://schemas.openxmlformats.org/officeDocument/2006/relationships/image" Target="../media/image45.e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7.bin"/><Relationship Id="rId15" Type="http://schemas.openxmlformats.org/officeDocument/2006/relationships/oleObject" Target="../embeddings/oleObject172.bin"/><Relationship Id="rId10" Type="http://schemas.openxmlformats.org/officeDocument/2006/relationships/image" Target="../media/image56.e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53.emf"/><Relationship Id="rId9" Type="http://schemas.openxmlformats.org/officeDocument/2006/relationships/oleObject" Target="../embeddings/oleObject169.bin"/><Relationship Id="rId14" Type="http://schemas.openxmlformats.org/officeDocument/2006/relationships/image" Target="../media/image18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eg"/><Relationship Id="rId2" Type="http://schemas.openxmlformats.org/officeDocument/2006/relationships/image" Target="../media/image192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jpe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e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6.emf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26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203.e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176.bin"/><Relationship Id="rId2" Type="http://schemas.openxmlformats.org/officeDocument/2006/relationships/image" Target="../media/image26.jpeg"/><Relationship Id="rId16" Type="http://schemas.openxmlformats.org/officeDocument/2006/relationships/image" Target="../media/image202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7.wmf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10" Type="http://schemas.openxmlformats.org/officeDocument/2006/relationships/image" Target="../media/image199.wmf"/><Relationship Id="rId4" Type="http://schemas.openxmlformats.org/officeDocument/2006/relationships/image" Target="../media/image195.e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20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eg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jpeg"/><Relationship Id="rId2" Type="http://schemas.openxmlformats.org/officeDocument/2006/relationships/image" Target="../media/image207.jpe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2.xml"/><Relationship Id="rId4" Type="http://schemas.openxmlformats.org/officeDocument/2006/relationships/image" Target="../media/image21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13" Type="http://schemas.openxmlformats.org/officeDocument/2006/relationships/image" Target="../media/image224.wmf"/><Relationship Id="rId18" Type="http://schemas.openxmlformats.org/officeDocument/2006/relationships/oleObject" Target="../embeddings/oleObject191.bin"/><Relationship Id="rId3" Type="http://schemas.openxmlformats.org/officeDocument/2006/relationships/image" Target="../media/image219.emf"/><Relationship Id="rId21" Type="http://schemas.openxmlformats.org/officeDocument/2006/relationships/image" Target="../media/image228.wmf"/><Relationship Id="rId7" Type="http://schemas.openxmlformats.org/officeDocument/2006/relationships/image" Target="../media/image221.emf"/><Relationship Id="rId12" Type="http://schemas.openxmlformats.org/officeDocument/2006/relationships/oleObject" Target="../embeddings/oleObject188.bin"/><Relationship Id="rId17" Type="http://schemas.openxmlformats.org/officeDocument/2006/relationships/image" Target="../media/image226.wmf"/><Relationship Id="rId2" Type="http://schemas.openxmlformats.org/officeDocument/2006/relationships/oleObject" Target="../embeddings/oleObject183.bin"/><Relationship Id="rId16" Type="http://schemas.openxmlformats.org/officeDocument/2006/relationships/oleObject" Target="../embeddings/oleObject190.bin"/><Relationship Id="rId20" Type="http://schemas.openxmlformats.org/officeDocument/2006/relationships/oleObject" Target="../embeddings/oleObject192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223.emf"/><Relationship Id="rId5" Type="http://schemas.openxmlformats.org/officeDocument/2006/relationships/image" Target="../media/image220.emf"/><Relationship Id="rId15" Type="http://schemas.openxmlformats.org/officeDocument/2006/relationships/image" Target="../media/image225.wmf"/><Relationship Id="rId23" Type="http://schemas.openxmlformats.org/officeDocument/2006/relationships/image" Target="../media/image229.wmf"/><Relationship Id="rId10" Type="http://schemas.openxmlformats.org/officeDocument/2006/relationships/oleObject" Target="../embeddings/oleObject187.bin"/><Relationship Id="rId19" Type="http://schemas.openxmlformats.org/officeDocument/2006/relationships/image" Target="../media/image227.wmf"/><Relationship Id="rId4" Type="http://schemas.openxmlformats.org/officeDocument/2006/relationships/oleObject" Target="../embeddings/oleObject184.bin"/><Relationship Id="rId9" Type="http://schemas.openxmlformats.org/officeDocument/2006/relationships/image" Target="../media/image222.emf"/><Relationship Id="rId14" Type="http://schemas.openxmlformats.org/officeDocument/2006/relationships/oleObject" Target="../embeddings/oleObject189.bin"/><Relationship Id="rId22" Type="http://schemas.openxmlformats.org/officeDocument/2006/relationships/oleObject" Target="../embeddings/oleObject193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235.wmf"/><Relationship Id="rId18" Type="http://schemas.openxmlformats.org/officeDocument/2006/relationships/oleObject" Target="../embeddings/oleObject202.bin"/><Relationship Id="rId3" Type="http://schemas.openxmlformats.org/officeDocument/2006/relationships/image" Target="../media/image230.emf"/><Relationship Id="rId21" Type="http://schemas.openxmlformats.org/officeDocument/2006/relationships/image" Target="../media/image239.wmf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199.bin"/><Relationship Id="rId17" Type="http://schemas.openxmlformats.org/officeDocument/2006/relationships/image" Target="../media/image237.w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234.wmf"/><Relationship Id="rId5" Type="http://schemas.openxmlformats.org/officeDocument/2006/relationships/image" Target="../media/image231.emf"/><Relationship Id="rId15" Type="http://schemas.openxmlformats.org/officeDocument/2006/relationships/image" Target="../media/image236.wmf"/><Relationship Id="rId23" Type="http://schemas.openxmlformats.org/officeDocument/2006/relationships/image" Target="../media/image240.wmf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238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00.bin"/><Relationship Id="rId22" Type="http://schemas.openxmlformats.org/officeDocument/2006/relationships/oleObject" Target="../embeddings/oleObject204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8.bin"/><Relationship Id="rId13" Type="http://schemas.openxmlformats.org/officeDocument/2006/relationships/image" Target="../media/image235.wmf"/><Relationship Id="rId18" Type="http://schemas.openxmlformats.org/officeDocument/2006/relationships/oleObject" Target="../embeddings/oleObject213.bin"/><Relationship Id="rId26" Type="http://schemas.openxmlformats.org/officeDocument/2006/relationships/oleObject" Target="../embeddings/oleObject217.bin"/><Relationship Id="rId3" Type="http://schemas.openxmlformats.org/officeDocument/2006/relationships/image" Target="../media/image241.emf"/><Relationship Id="rId21" Type="http://schemas.openxmlformats.org/officeDocument/2006/relationships/image" Target="../media/image247.wmf"/><Relationship Id="rId7" Type="http://schemas.openxmlformats.org/officeDocument/2006/relationships/image" Target="../media/image243.emf"/><Relationship Id="rId12" Type="http://schemas.openxmlformats.org/officeDocument/2006/relationships/oleObject" Target="../embeddings/oleObject210.bin"/><Relationship Id="rId17" Type="http://schemas.openxmlformats.org/officeDocument/2006/relationships/image" Target="../media/image245.wmf"/><Relationship Id="rId25" Type="http://schemas.openxmlformats.org/officeDocument/2006/relationships/image" Target="../media/image249.wmf"/><Relationship Id="rId2" Type="http://schemas.openxmlformats.org/officeDocument/2006/relationships/oleObject" Target="../embeddings/oleObject205.bin"/><Relationship Id="rId16" Type="http://schemas.openxmlformats.org/officeDocument/2006/relationships/oleObject" Target="../embeddings/oleObject212.bin"/><Relationship Id="rId20" Type="http://schemas.openxmlformats.org/officeDocument/2006/relationships/oleObject" Target="../embeddings/oleObject214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234.wmf"/><Relationship Id="rId24" Type="http://schemas.openxmlformats.org/officeDocument/2006/relationships/oleObject" Target="../embeddings/oleObject216.bin"/><Relationship Id="rId5" Type="http://schemas.openxmlformats.org/officeDocument/2006/relationships/image" Target="../media/image242.emf"/><Relationship Id="rId15" Type="http://schemas.openxmlformats.org/officeDocument/2006/relationships/image" Target="../media/image244.wmf"/><Relationship Id="rId23" Type="http://schemas.openxmlformats.org/officeDocument/2006/relationships/image" Target="../media/image248.wmf"/><Relationship Id="rId10" Type="http://schemas.openxmlformats.org/officeDocument/2006/relationships/oleObject" Target="../embeddings/oleObject209.bin"/><Relationship Id="rId19" Type="http://schemas.openxmlformats.org/officeDocument/2006/relationships/image" Target="../media/image246.wmf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233.wmf"/><Relationship Id="rId14" Type="http://schemas.openxmlformats.org/officeDocument/2006/relationships/oleObject" Target="../embeddings/oleObject211.bin"/><Relationship Id="rId22" Type="http://schemas.openxmlformats.org/officeDocument/2006/relationships/oleObject" Target="../embeddings/oleObject215.bin"/><Relationship Id="rId27" Type="http://schemas.openxmlformats.org/officeDocument/2006/relationships/image" Target="../media/image250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jpeg"/><Relationship Id="rId2" Type="http://schemas.openxmlformats.org/officeDocument/2006/relationships/image" Target="../media/image25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5" Type="http://schemas.openxmlformats.org/officeDocument/2006/relationships/image" Target="../media/image257.jpeg"/><Relationship Id="rId4" Type="http://schemas.openxmlformats.org/officeDocument/2006/relationships/image" Target="../media/image256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6.xml"/><Relationship Id="rId4" Type="http://schemas.openxmlformats.org/officeDocument/2006/relationships/image" Target="../media/image259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5" Type="http://schemas.openxmlformats.org/officeDocument/2006/relationships/image" Target="../media/image259.jpeg"/><Relationship Id="rId4" Type="http://schemas.openxmlformats.org/officeDocument/2006/relationships/image" Target="../media/image260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jpe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13" Type="http://schemas.openxmlformats.org/officeDocument/2006/relationships/image" Target="../media/image267.emf"/><Relationship Id="rId3" Type="http://schemas.openxmlformats.org/officeDocument/2006/relationships/image" Target="../media/image262.png"/><Relationship Id="rId7" Type="http://schemas.openxmlformats.org/officeDocument/2006/relationships/image" Target="../media/image264.emf"/><Relationship Id="rId12" Type="http://schemas.openxmlformats.org/officeDocument/2006/relationships/oleObject" Target="../embeddings/oleObject222.bin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19.bin"/><Relationship Id="rId11" Type="http://schemas.openxmlformats.org/officeDocument/2006/relationships/image" Target="../media/image266.wmf"/><Relationship Id="rId5" Type="http://schemas.openxmlformats.org/officeDocument/2006/relationships/image" Target="../media/image263.emf"/><Relationship Id="rId15" Type="http://schemas.openxmlformats.org/officeDocument/2006/relationships/image" Target="../media/image268.wmf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265.emf"/><Relationship Id="rId14" Type="http://schemas.openxmlformats.org/officeDocument/2006/relationships/oleObject" Target="../embeddings/oleObject223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6.bin"/><Relationship Id="rId13" Type="http://schemas.openxmlformats.org/officeDocument/2006/relationships/image" Target="../media/image273.emf"/><Relationship Id="rId18" Type="http://schemas.openxmlformats.org/officeDocument/2006/relationships/oleObject" Target="../embeddings/oleObject231.bin"/><Relationship Id="rId26" Type="http://schemas.openxmlformats.org/officeDocument/2006/relationships/oleObject" Target="../embeddings/oleObject235.bin"/><Relationship Id="rId3" Type="http://schemas.openxmlformats.org/officeDocument/2006/relationships/oleObject" Target="../embeddings/oleObject224.bin"/><Relationship Id="rId21" Type="http://schemas.openxmlformats.org/officeDocument/2006/relationships/image" Target="../media/image266.wmf"/><Relationship Id="rId7" Type="http://schemas.openxmlformats.org/officeDocument/2006/relationships/image" Target="../media/image262.png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275.wmf"/><Relationship Id="rId25" Type="http://schemas.openxmlformats.org/officeDocument/2006/relationships/image" Target="../media/image278.emf"/><Relationship Id="rId2" Type="http://schemas.openxmlformats.org/officeDocument/2006/relationships/image" Target="../media/image26.jpeg"/><Relationship Id="rId16" Type="http://schemas.openxmlformats.org/officeDocument/2006/relationships/oleObject" Target="../embeddings/oleObject230.bin"/><Relationship Id="rId20" Type="http://schemas.openxmlformats.org/officeDocument/2006/relationships/oleObject" Target="../embeddings/oleObject232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0.emf"/><Relationship Id="rId11" Type="http://schemas.openxmlformats.org/officeDocument/2006/relationships/image" Target="../media/image272.emf"/><Relationship Id="rId24" Type="http://schemas.openxmlformats.org/officeDocument/2006/relationships/oleObject" Target="../embeddings/oleObject234.bin"/><Relationship Id="rId5" Type="http://schemas.openxmlformats.org/officeDocument/2006/relationships/oleObject" Target="../embeddings/oleObject225.bin"/><Relationship Id="rId15" Type="http://schemas.openxmlformats.org/officeDocument/2006/relationships/image" Target="../media/image274.emf"/><Relationship Id="rId23" Type="http://schemas.openxmlformats.org/officeDocument/2006/relationships/image" Target="../media/image277.emf"/><Relationship Id="rId10" Type="http://schemas.openxmlformats.org/officeDocument/2006/relationships/oleObject" Target="../embeddings/oleObject227.bin"/><Relationship Id="rId19" Type="http://schemas.openxmlformats.org/officeDocument/2006/relationships/image" Target="../media/image276.emf"/><Relationship Id="rId4" Type="http://schemas.openxmlformats.org/officeDocument/2006/relationships/image" Target="../media/image269.emf"/><Relationship Id="rId9" Type="http://schemas.openxmlformats.org/officeDocument/2006/relationships/image" Target="../media/image271.emf"/><Relationship Id="rId14" Type="http://schemas.openxmlformats.org/officeDocument/2006/relationships/oleObject" Target="../embeddings/oleObject229.bin"/><Relationship Id="rId22" Type="http://schemas.openxmlformats.org/officeDocument/2006/relationships/oleObject" Target="../embeddings/oleObject233.bin"/><Relationship Id="rId27" Type="http://schemas.openxmlformats.org/officeDocument/2006/relationships/image" Target="../media/image279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286.emf"/><Relationship Id="rId26" Type="http://schemas.openxmlformats.org/officeDocument/2006/relationships/image" Target="../media/image290.wmf"/><Relationship Id="rId3" Type="http://schemas.openxmlformats.org/officeDocument/2006/relationships/image" Target="../media/image275.wmf"/><Relationship Id="rId21" Type="http://schemas.openxmlformats.org/officeDocument/2006/relationships/oleObject" Target="../embeddings/oleObject246.bin"/><Relationship Id="rId7" Type="http://schemas.openxmlformats.org/officeDocument/2006/relationships/image" Target="../media/image281.wmf"/><Relationship Id="rId12" Type="http://schemas.openxmlformats.org/officeDocument/2006/relationships/oleObject" Target="../embeddings/oleObject241.bin"/><Relationship Id="rId17" Type="http://schemas.openxmlformats.org/officeDocument/2006/relationships/oleObject" Target="../embeddings/oleObject244.bin"/><Relationship Id="rId25" Type="http://schemas.openxmlformats.org/officeDocument/2006/relationships/oleObject" Target="../embeddings/oleObject248.bin"/><Relationship Id="rId2" Type="http://schemas.openxmlformats.org/officeDocument/2006/relationships/oleObject" Target="../embeddings/oleObject236.bin"/><Relationship Id="rId16" Type="http://schemas.openxmlformats.org/officeDocument/2006/relationships/image" Target="../media/image285.emf"/><Relationship Id="rId20" Type="http://schemas.openxmlformats.org/officeDocument/2006/relationships/image" Target="../media/image287.emf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283.wmf"/><Relationship Id="rId24" Type="http://schemas.openxmlformats.org/officeDocument/2006/relationships/image" Target="../media/image289.wmf"/><Relationship Id="rId5" Type="http://schemas.openxmlformats.org/officeDocument/2006/relationships/image" Target="../media/image280.wmf"/><Relationship Id="rId15" Type="http://schemas.openxmlformats.org/officeDocument/2006/relationships/oleObject" Target="../embeddings/oleObject243.bin"/><Relationship Id="rId23" Type="http://schemas.openxmlformats.org/officeDocument/2006/relationships/oleObject" Target="../embeddings/oleObject247.bin"/><Relationship Id="rId28" Type="http://schemas.openxmlformats.org/officeDocument/2006/relationships/image" Target="../media/image291.wmf"/><Relationship Id="rId10" Type="http://schemas.openxmlformats.org/officeDocument/2006/relationships/oleObject" Target="../embeddings/oleObject240.bin"/><Relationship Id="rId19" Type="http://schemas.openxmlformats.org/officeDocument/2006/relationships/oleObject" Target="../embeddings/oleObject245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82.wmf"/><Relationship Id="rId14" Type="http://schemas.openxmlformats.org/officeDocument/2006/relationships/image" Target="../media/image284.emf"/><Relationship Id="rId22" Type="http://schemas.openxmlformats.org/officeDocument/2006/relationships/image" Target="../media/image288.emf"/><Relationship Id="rId27" Type="http://schemas.openxmlformats.org/officeDocument/2006/relationships/oleObject" Target="../embeddings/oleObject249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jpeg"/><Relationship Id="rId2" Type="http://schemas.openxmlformats.org/officeDocument/2006/relationships/image" Target="../media/image292.jpe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7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9.xml"/><Relationship Id="rId4" Type="http://schemas.openxmlformats.org/officeDocument/2006/relationships/image" Target="../media/image299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jpeg"/><Relationship Id="rId2" Type="http://schemas.openxmlformats.org/officeDocument/2006/relationships/image" Target="../media/image300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3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2.bin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5.wmf"/><Relationship Id="rId5" Type="http://schemas.openxmlformats.org/officeDocument/2006/relationships/oleObject" Target="../embeddings/oleObject251.bin"/><Relationship Id="rId10" Type="http://schemas.openxmlformats.org/officeDocument/2006/relationships/image" Target="../media/image307.wmf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253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183.wmf"/><Relationship Id="rId26" Type="http://schemas.openxmlformats.org/officeDocument/2006/relationships/image" Target="../media/image309.w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308.w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2" Type="http://schemas.openxmlformats.org/officeDocument/2006/relationships/image" Target="../media/image26.jpeg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187.w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28" Type="http://schemas.openxmlformats.org/officeDocument/2006/relationships/image" Target="../media/image310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262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266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13" Type="http://schemas.openxmlformats.org/officeDocument/2006/relationships/oleObject" Target="../embeddings/oleObject272.bin"/><Relationship Id="rId18" Type="http://schemas.openxmlformats.org/officeDocument/2006/relationships/image" Target="../media/image318.wmf"/><Relationship Id="rId26" Type="http://schemas.openxmlformats.org/officeDocument/2006/relationships/image" Target="../media/image322.wmf"/><Relationship Id="rId3" Type="http://schemas.openxmlformats.org/officeDocument/2006/relationships/oleObject" Target="../embeddings/oleObject267.bin"/><Relationship Id="rId21" Type="http://schemas.openxmlformats.org/officeDocument/2006/relationships/oleObject" Target="../embeddings/oleObject276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315.wmf"/><Relationship Id="rId17" Type="http://schemas.openxmlformats.org/officeDocument/2006/relationships/oleObject" Target="../embeddings/oleObject274.bin"/><Relationship Id="rId25" Type="http://schemas.openxmlformats.org/officeDocument/2006/relationships/oleObject" Target="../embeddings/oleObject278.bin"/><Relationship Id="rId2" Type="http://schemas.openxmlformats.org/officeDocument/2006/relationships/image" Target="../media/image26.jpeg"/><Relationship Id="rId16" Type="http://schemas.openxmlformats.org/officeDocument/2006/relationships/image" Target="../media/image317.wmf"/><Relationship Id="rId20" Type="http://schemas.openxmlformats.org/officeDocument/2006/relationships/image" Target="../media/image319.wmf"/><Relationship Id="rId29" Type="http://schemas.openxmlformats.org/officeDocument/2006/relationships/oleObject" Target="../embeddings/oleObject280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12.wmf"/><Relationship Id="rId11" Type="http://schemas.openxmlformats.org/officeDocument/2006/relationships/oleObject" Target="../embeddings/oleObject271.bin"/><Relationship Id="rId24" Type="http://schemas.openxmlformats.org/officeDocument/2006/relationships/image" Target="../media/image321.wmf"/><Relationship Id="rId5" Type="http://schemas.openxmlformats.org/officeDocument/2006/relationships/oleObject" Target="../embeddings/oleObject268.bin"/><Relationship Id="rId15" Type="http://schemas.openxmlformats.org/officeDocument/2006/relationships/oleObject" Target="../embeddings/oleObject273.bin"/><Relationship Id="rId23" Type="http://schemas.openxmlformats.org/officeDocument/2006/relationships/oleObject" Target="../embeddings/oleObject277.bin"/><Relationship Id="rId28" Type="http://schemas.openxmlformats.org/officeDocument/2006/relationships/image" Target="../media/image323.wmf"/><Relationship Id="rId10" Type="http://schemas.openxmlformats.org/officeDocument/2006/relationships/image" Target="../media/image314.wmf"/><Relationship Id="rId19" Type="http://schemas.openxmlformats.org/officeDocument/2006/relationships/oleObject" Target="../embeddings/oleObject275.bin"/><Relationship Id="rId4" Type="http://schemas.openxmlformats.org/officeDocument/2006/relationships/image" Target="../media/image311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316.wmf"/><Relationship Id="rId22" Type="http://schemas.openxmlformats.org/officeDocument/2006/relationships/image" Target="../media/image320.wmf"/><Relationship Id="rId27" Type="http://schemas.openxmlformats.org/officeDocument/2006/relationships/oleObject" Target="../embeddings/oleObject279.bin"/><Relationship Id="rId30" Type="http://schemas.openxmlformats.org/officeDocument/2006/relationships/image" Target="../media/image324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wmf"/><Relationship Id="rId13" Type="http://schemas.openxmlformats.org/officeDocument/2006/relationships/image" Target="../media/image332.wmf"/><Relationship Id="rId18" Type="http://schemas.openxmlformats.org/officeDocument/2006/relationships/image" Target="../media/image336.wmf"/><Relationship Id="rId3" Type="http://schemas.openxmlformats.org/officeDocument/2006/relationships/oleObject" Target="../embeddings/oleObject281.bin"/><Relationship Id="rId7" Type="http://schemas.openxmlformats.org/officeDocument/2006/relationships/image" Target="../media/image327.wmf"/><Relationship Id="rId12" Type="http://schemas.openxmlformats.org/officeDocument/2006/relationships/image" Target="../media/image331.wmf"/><Relationship Id="rId17" Type="http://schemas.openxmlformats.org/officeDocument/2006/relationships/image" Target="../media/image335.wmf"/><Relationship Id="rId2" Type="http://schemas.openxmlformats.org/officeDocument/2006/relationships/image" Target="../media/image26.jpeg"/><Relationship Id="rId16" Type="http://schemas.openxmlformats.org/officeDocument/2006/relationships/oleObject" Target="../embeddings/oleObject284.bin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26.wmf"/><Relationship Id="rId11" Type="http://schemas.openxmlformats.org/officeDocument/2006/relationships/image" Target="../media/image330.wmf"/><Relationship Id="rId5" Type="http://schemas.openxmlformats.org/officeDocument/2006/relationships/oleObject" Target="../embeddings/oleObject282.bin"/><Relationship Id="rId15" Type="http://schemas.openxmlformats.org/officeDocument/2006/relationships/image" Target="../media/image334.wmf"/><Relationship Id="rId10" Type="http://schemas.openxmlformats.org/officeDocument/2006/relationships/oleObject" Target="../embeddings/oleObject283.bin"/><Relationship Id="rId4" Type="http://schemas.openxmlformats.org/officeDocument/2006/relationships/image" Target="../media/image325.wmf"/><Relationship Id="rId9" Type="http://schemas.openxmlformats.org/officeDocument/2006/relationships/image" Target="../media/image329.wmf"/><Relationship Id="rId14" Type="http://schemas.openxmlformats.org/officeDocument/2006/relationships/image" Target="../media/image333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jpeg"/><Relationship Id="rId2" Type="http://schemas.openxmlformats.org/officeDocument/2006/relationships/image" Target="../media/image337.jpe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1.xml"/><Relationship Id="rId4" Type="http://schemas.openxmlformats.org/officeDocument/2006/relationships/image" Target="../media/image340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jpeg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2.xml"/><Relationship Id="rId4" Type="http://schemas.openxmlformats.org/officeDocument/2006/relationships/image" Target="../media/image345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6.jpeg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jpeg"/><Relationship Id="rId2" Type="http://schemas.openxmlformats.org/officeDocument/2006/relationships/image" Target="../media/image347.jpeg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9.jpeg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jpeg"/><Relationship Id="rId2" Type="http://schemas.openxmlformats.org/officeDocument/2006/relationships/image" Target="../media/image350.jpeg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jpe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3.jpeg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jpeg"/><Relationship Id="rId2" Type="http://schemas.openxmlformats.org/officeDocument/2006/relationships/image" Target="../media/image354.jpeg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6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jpeg"/><Relationship Id="rId2" Type="http://schemas.openxmlformats.org/officeDocument/2006/relationships/image" Target="../media/image357.jpeg"/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9.jpe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jpeg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jpeg"/><Relationship Id="rId2" Type="http://schemas.openxmlformats.org/officeDocument/2006/relationships/image" Target="../media/image36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1" name="组合 1"/>
          <p:cNvGrpSpPr/>
          <p:nvPr/>
        </p:nvGrpSpPr>
        <p:grpSpPr>
          <a:xfrm>
            <a:off x="769938" y="836613"/>
            <a:ext cx="7297737" cy="1168400"/>
            <a:chOff x="849" y="927"/>
            <a:chExt cx="11492" cy="1840"/>
          </a:xfrm>
        </p:grpSpPr>
        <p:sp>
          <p:nvSpPr>
            <p:cNvPr id="5122" name="Text Box 8"/>
            <p:cNvSpPr txBox="1"/>
            <p:nvPr/>
          </p:nvSpPr>
          <p:spPr>
            <a:xfrm>
              <a:off x="849" y="1432"/>
              <a:ext cx="2003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静电场</a:t>
              </a:r>
            </a:p>
          </p:txBody>
        </p:sp>
        <p:sp>
          <p:nvSpPr>
            <p:cNvPr id="5123" name="Text Box 9"/>
            <p:cNvSpPr txBox="1"/>
            <p:nvPr/>
          </p:nvSpPr>
          <p:spPr>
            <a:xfrm>
              <a:off x="3571" y="927"/>
              <a:ext cx="8771" cy="18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真空中的静电场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第</a:t>
              </a:r>
              <a:r>
                <a:rPr lang="en-US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9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章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电场中的导体和电介质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第</a:t>
              </a:r>
              <a:r>
                <a:rPr lang="en-US" altLang="zh-CN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10</a:t>
              </a:r>
              <a:r>
                <a:rPr lang="zh-CN" altLang="en-US" sz="28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章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endPara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4" name="AutoShape 15"/>
            <p:cNvSpPr/>
            <p:nvPr/>
          </p:nvSpPr>
          <p:spPr>
            <a:xfrm>
              <a:off x="3004" y="1205"/>
              <a:ext cx="374" cy="1284"/>
            </a:xfrm>
            <a:prstGeom prst="leftBrace">
              <a:avLst>
                <a:gd name="adj1" fmla="val 27624"/>
                <a:gd name="adj2" fmla="val 50000"/>
              </a:avLst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spcBef>
                  <a:spcPct val="50000"/>
                </a:spcBef>
              </a:pP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5" name="文本框 2"/>
          <p:cNvSpPr txBox="1"/>
          <p:nvPr/>
        </p:nvSpPr>
        <p:spPr>
          <a:xfrm>
            <a:off x="1331913" y="2565400"/>
            <a:ext cx="6173787" cy="2030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分，一般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个选择填空题</a:t>
            </a:r>
          </a:p>
          <a:p>
            <a:pPr algn="ctr">
              <a:lnSpc>
                <a:spcPct val="150000"/>
              </a:lnSpc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+10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分计算题）</a:t>
            </a:r>
          </a:p>
          <a:p>
            <a:pPr algn="ctr">
              <a:lnSpc>
                <a:spcPct val="15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（正常复习时间：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~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8h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能完成）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/>
          <p:nvPr/>
        </p:nvSpPr>
        <p:spPr>
          <a:xfrm>
            <a:off x="0" y="700088"/>
            <a:ext cx="8929688" cy="34480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ctr" anchorCtr="0">
            <a:spAutoFit/>
          </a:bodyPr>
          <a:lstStyle/>
          <a:p>
            <a:pPr indent="306705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正考学生：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6705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成绩包括大学物理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MOOC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线上成绩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线下平时成绩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线下期末考试成绩三部分，通过“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MOOC+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平时成绩”对学生学习进行过程性评价，线下期末考试对学习效果有效性测评。具体成绩评定方式如下：</a:t>
            </a:r>
            <a:endParaRPr lang="zh-CN" altLang="en-US" sz="2400" dirty="0">
              <a:latin typeface="Constantia" panose="02030602050306030303" pitchFamily="18" charset="0"/>
              <a:ea typeface="宋体" panose="02010600030101010101" pitchFamily="2" charset="-122"/>
            </a:endParaRPr>
          </a:p>
          <a:p>
            <a:pPr indent="306705">
              <a:lnSpc>
                <a:spcPct val="13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课程总成绩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100%=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线上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MOOC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20%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（指占比，下同）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线下平时成绩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10%+</a:t>
            </a: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期末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考试成绩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70%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；  </a:t>
            </a:r>
            <a:endParaRPr lang="zh-CN" altLang="en-US" sz="2400" dirty="0">
              <a:latin typeface="Constantia" panose="02030602050306030303" pitchFamily="18" charset="0"/>
              <a:ea typeface="宋体" panose="02010600030101010101" pitchFamily="2" charset="-122"/>
            </a:endParaRPr>
          </a:p>
        </p:txBody>
      </p:sp>
      <p:sp>
        <p:nvSpPr>
          <p:cNvPr id="6146" name="Rectangle 1"/>
          <p:cNvSpPr/>
          <p:nvPr/>
        </p:nvSpPr>
        <p:spPr>
          <a:xfrm>
            <a:off x="107950" y="4365625"/>
            <a:ext cx="8569325" cy="4603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wrap="square" anchor="ctr" anchorCtr="0">
            <a:spAutoFit/>
          </a:bodyPr>
          <a:lstStyle/>
          <a:p>
            <a:pPr indent="306705"/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补考重修学生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：考试成绩</a:t>
            </a:r>
            <a:r>
              <a:rPr lang="en-US" altLang="zh-CN" sz="2400" dirty="0">
                <a:latin typeface="Calibri" panose="020F0502020204030204" charset="0"/>
                <a:ea typeface="宋体" panose="02010600030101010101" pitchFamily="2" charset="-122"/>
              </a:rPr>
              <a:t>100%</a:t>
            </a:r>
            <a:r>
              <a:rPr lang="zh-CN" altLang="en-US" sz="2400" dirty="0">
                <a:latin typeface="Calibri" panose="020F0502020204030204" charset="0"/>
                <a:ea typeface="宋体" panose="02010600030101010101" pitchFamily="2" charset="-122"/>
              </a:rPr>
              <a:t>。每学期开学的补考题特别难。</a:t>
            </a:r>
          </a:p>
        </p:txBody>
      </p:sp>
      <p:sp>
        <p:nvSpPr>
          <p:cNvPr id="6147" name="Rectangle 1"/>
          <p:cNvSpPr/>
          <p:nvPr/>
        </p:nvSpPr>
        <p:spPr>
          <a:xfrm>
            <a:off x="179388" y="5229225"/>
            <a:ext cx="8286750" cy="4603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 anchor="ctr" anchorCtr="0">
            <a:spAutoFit/>
          </a:bodyPr>
          <a:lstStyle/>
          <a:p>
            <a:pPr indent="306705"/>
            <a:r>
              <a:rPr lang="zh-CN" altLang="en-US" sz="2400" dirty="0">
                <a:latin typeface="Constantia" panose="02030602050306030303" pitchFamily="18" charset="0"/>
                <a:ea typeface="宋体" panose="02010600030101010101" pitchFamily="2" charset="-122"/>
              </a:rPr>
              <a:t>认真复习，一般可使卷面成绩提高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10~60</a:t>
            </a:r>
            <a:r>
              <a:rPr lang="zh-CN" altLang="en-US" sz="2400" dirty="0">
                <a:latin typeface="Constantia" panose="02030602050306030303" pitchFamily="18" charset="0"/>
                <a:ea typeface="宋体" panose="02010600030101010101" pitchFamily="2" charset="-122"/>
              </a:rPr>
              <a:t>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 Box 7"/>
          <p:cNvSpPr txBox="1"/>
          <p:nvPr/>
        </p:nvSpPr>
        <p:spPr>
          <a:xfrm>
            <a:off x="611188" y="1412875"/>
            <a:ext cx="7723187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、布置的作业（在每节课的课件中，包括布置的例题及教材作业题）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、课件中的例题、课前测、讨论题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QQ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群中发布的补充作业（此补充作业在智慧树平台中也有）</a:t>
            </a:r>
          </a:p>
          <a:p>
            <a:pPr>
              <a:lnSpc>
                <a:spcPct val="150000"/>
              </a:lnSpc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、餐厅一层小店中的复习资料不需要购买，因为出题老师没此资料。</a:t>
            </a:r>
          </a:p>
        </p:txBody>
      </p:sp>
      <p:sp>
        <p:nvSpPr>
          <p:cNvPr id="138" name="TextBox 137"/>
          <p:cNvSpPr txBox="1"/>
          <p:nvPr>
            <p:custDataLst>
              <p:tags r:id="rId1"/>
            </p:custDataLst>
          </p:nvPr>
        </p:nvSpPr>
        <p:spPr>
          <a:xfrm>
            <a:off x="3538538" y="692150"/>
            <a:ext cx="20669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复习重点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3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14062" name="Rectangle 46"/>
          <p:cNvSpPr/>
          <p:nvPr/>
        </p:nvSpPr>
        <p:spPr>
          <a:xfrm>
            <a:off x="215900" y="1196975"/>
            <a:ext cx="8712200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1、点电荷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若带电体的线度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&lt;&lt;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带电体间的距离，则带电体可看成点电荷。 </a:t>
            </a:r>
          </a:p>
        </p:txBody>
      </p:sp>
      <p:grpSp>
        <p:nvGrpSpPr>
          <p:cNvPr id="7171" name="组合 6"/>
          <p:cNvGrpSpPr/>
          <p:nvPr/>
        </p:nvGrpSpPr>
        <p:grpSpPr>
          <a:xfrm>
            <a:off x="184150" y="2395538"/>
            <a:ext cx="8694738" cy="4071937"/>
            <a:chOff x="290" y="3473"/>
            <a:chExt cx="13693" cy="6412"/>
          </a:xfrm>
        </p:grpSpPr>
        <p:sp>
          <p:nvSpPr>
            <p:cNvPr id="8196" name="Rectangle 6"/>
            <p:cNvSpPr/>
            <p:nvPr/>
          </p:nvSpPr>
          <p:spPr>
            <a:xfrm>
              <a:off x="290" y="3473"/>
              <a:ext cx="13693" cy="36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2、库仑定律</a:t>
              </a:r>
              <a:r>
                <a:rPr lang="en-US" altLang="zh-CN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真空中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，两个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静止的点电荷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之间的相互作用力大小和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与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r>
                <a:rPr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的乘积成正比，和它们之间的距离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平方成反比；作用力的方向沿着他们的联线，同号电荷相斥，异号电荷相吸。</a:t>
              </a:r>
            </a:p>
          </p:txBody>
        </p:sp>
        <p:graphicFrame>
          <p:nvGraphicFramePr>
            <p:cNvPr id="8197" name="对象 4"/>
            <p:cNvGraphicFramePr/>
            <p:nvPr/>
          </p:nvGraphicFramePr>
          <p:xfrm>
            <a:off x="1417" y="7101"/>
            <a:ext cx="4215" cy="2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43000" imgH="939800" progId="Equation.DSMT4">
                    <p:embed/>
                  </p:oleObj>
                </mc:Choice>
                <mc:Fallback>
                  <p:oleObj r:id="rId2" imgW="1143000" imgH="9398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417" y="7101"/>
                          <a:ext cx="4215" cy="27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198" name="组合 11"/>
            <p:cNvGrpSpPr/>
            <p:nvPr/>
          </p:nvGrpSpPr>
          <p:grpSpPr>
            <a:xfrm>
              <a:off x="6414" y="7622"/>
              <a:ext cx="6887" cy="1887"/>
              <a:chOff x="4086459" y="4416155"/>
              <a:chExt cx="4373174" cy="1200502"/>
            </a:xfrm>
          </p:grpSpPr>
          <p:graphicFrame>
            <p:nvGraphicFramePr>
              <p:cNvPr id="8199" name="Object 164"/>
              <p:cNvGraphicFramePr>
                <a:graphicFrameLocks noChangeAspect="1"/>
              </p:cNvGraphicFramePr>
              <p:nvPr/>
            </p:nvGraphicFramePr>
            <p:xfrm>
              <a:off x="4087047" y="5238803"/>
              <a:ext cx="326438" cy="3778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65100" imgH="190500" progId="Equation.DSMT4">
                      <p:embed/>
                    </p:oleObj>
                  </mc:Choice>
                  <mc:Fallback>
                    <p:oleObj r:id="rId4" imgW="165100" imgH="190500" progId="Equation.DSMT4">
                      <p:embed/>
                      <p:pic>
                        <p:nvPicPr>
                          <p:cNvPr id="0" name="图片 3096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087047" y="5238803"/>
                            <a:ext cx="326438" cy="37785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00" name="矩形 9"/>
              <p:cNvSpPr/>
              <p:nvPr/>
            </p:nvSpPr>
            <p:spPr>
              <a:xfrm>
                <a:off x="4369304" y="4416155"/>
                <a:ext cx="4090329" cy="12001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eaLnBrk="0" hangingPunct="0">
                  <a:lnSpc>
                    <a:spcPct val="20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  <a:latin typeface="Verdana" panose="020B0604030504040204" pitchFamily="34" charset="0"/>
                    <a:ea typeface="楷体_GB2312" pitchFamily="49" charset="-122"/>
                  </a:rPr>
                  <a:t>：从施力电荷指向受力电荷的位置矢量</a:t>
                </a:r>
                <a:endParaRPr lang="en-US" altLang="zh-CN" b="1" dirty="0">
                  <a:solidFill>
                    <a:srgbClr val="000000"/>
                  </a:solidFill>
                  <a:latin typeface="Verdana" panose="020B0604030504040204" pitchFamily="34" charset="0"/>
                  <a:ea typeface="楷体_GB2312" pitchFamily="49" charset="-122"/>
                </a:endParaRPr>
              </a:p>
              <a:p>
                <a:pPr eaLnBrk="0" hangingPunct="0">
                  <a:lnSpc>
                    <a:spcPct val="200000"/>
                  </a:lnSpc>
                </a:pPr>
                <a:r>
                  <a:rPr lang="zh-CN" altLang="en-US" b="1" dirty="0">
                    <a:solidFill>
                      <a:srgbClr val="000000"/>
                    </a:solidFill>
                    <a:latin typeface="Verdana" panose="020B0604030504040204" pitchFamily="34" charset="0"/>
                    <a:ea typeface="楷体_GB2312" pitchFamily="49" charset="-122"/>
                  </a:rPr>
                  <a:t>：从施力电荷指向受力电荷的单位矢量</a:t>
                </a:r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8201" name="Object 164"/>
              <p:cNvGraphicFramePr>
                <a:graphicFrameLocks noChangeAspect="1"/>
              </p:cNvGraphicFramePr>
              <p:nvPr/>
            </p:nvGraphicFramePr>
            <p:xfrm>
              <a:off x="4086459" y="4661952"/>
              <a:ext cx="333375" cy="4016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27000" imgH="151765" progId="Equation.DSMT4">
                      <p:embed/>
                    </p:oleObj>
                  </mc:Choice>
                  <mc:Fallback>
                    <p:oleObj r:id="rId6" imgW="127000" imgH="151765" progId="Equation.DSMT4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086459" y="4661952"/>
                            <a:ext cx="333375" cy="4016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202" name="Text Box 12"/>
          <p:cNvSpPr txBox="1"/>
          <p:nvPr/>
        </p:nvSpPr>
        <p:spPr>
          <a:xfrm>
            <a:off x="2700338" y="777875"/>
            <a:ext cx="33194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§9-1 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电荷 库仑定律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3" name="组合 5"/>
          <p:cNvGrpSpPr/>
          <p:nvPr/>
        </p:nvGrpSpPr>
        <p:grpSpPr>
          <a:xfrm>
            <a:off x="352425" y="933450"/>
            <a:ext cx="6692900" cy="565150"/>
            <a:chOff x="623" y="638"/>
            <a:chExt cx="10539" cy="889"/>
          </a:xfrm>
        </p:grpSpPr>
        <p:sp>
          <p:nvSpPr>
            <p:cNvPr id="9218" name="Text Box 27"/>
            <p:cNvSpPr txBox="1"/>
            <p:nvPr/>
          </p:nvSpPr>
          <p:spPr>
            <a:xfrm>
              <a:off x="623" y="725"/>
              <a:ext cx="5065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3、静电力叠加原理</a:t>
              </a:r>
              <a:endParaRPr lang="zh-CN" altLang="en-US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9219" name="对象 3"/>
            <p:cNvGraphicFramePr/>
            <p:nvPr/>
          </p:nvGraphicFramePr>
          <p:xfrm>
            <a:off x="5499" y="638"/>
            <a:ext cx="5663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002280" imgH="490855" progId="Equation.DSMT4">
                    <p:embed/>
                  </p:oleObj>
                </mc:Choice>
                <mc:Fallback>
                  <p:oleObj r:id="rId2" imgW="3002280" imgH="490855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499" y="638"/>
                          <a:ext cx="5663" cy="8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6" name="Text Box 71"/>
          <p:cNvSpPr txBox="1"/>
          <p:nvPr/>
        </p:nvSpPr>
        <p:spPr>
          <a:xfrm>
            <a:off x="2268538" y="1673225"/>
            <a:ext cx="4059237" cy="522288"/>
          </a:xfrm>
          <a:prstGeom prst="rect">
            <a:avLst/>
          </a:prstGeom>
          <a:noFill/>
          <a:ln w="12699">
            <a:noFill/>
          </a:ln>
        </p:spPr>
        <p:txBody>
          <a:bodyPr anchor="t" anchorCtr="0">
            <a:spAutoFit/>
          </a:bodyPr>
          <a:lstStyle/>
          <a:p>
            <a:pPr defTabSz="762000" eaLnBrk="0" hangingPunct="0">
              <a:spcBef>
                <a:spcPct val="50000"/>
              </a:spcBef>
            </a:pPr>
            <a:r>
              <a:rPr lang="en-US" altLang="zh-CN" sz="2800" b="1" dirty="0">
                <a:solidFill>
                  <a:srgbClr val="FF66CC"/>
                </a:solidFill>
                <a:latin typeface="Times New Roman" panose="02020603050405020304" pitchFamily="18" charset="0"/>
                <a:ea typeface="楷体_GB2312" pitchFamily="49" charset="-122"/>
              </a:rPr>
              <a:t>§9-2 </a:t>
            </a:r>
            <a:r>
              <a:rPr lang="zh-CN" altLang="en-US" sz="2800" b="1" dirty="0">
                <a:solidFill>
                  <a:srgbClr val="FF66CC"/>
                </a:solidFill>
                <a:latin typeface="Times New Roman" panose="02020603050405020304" pitchFamily="18" charset="0"/>
                <a:ea typeface="楷体_GB2312" pitchFamily="49" charset="-122"/>
              </a:rPr>
              <a:t>电场  电场强度  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23850" y="2132013"/>
            <a:ext cx="8066088" cy="1752600"/>
            <a:chOff x="510" y="3358"/>
            <a:chExt cx="12703" cy="2760"/>
          </a:xfrm>
        </p:grpSpPr>
        <p:graphicFrame>
          <p:nvGraphicFramePr>
            <p:cNvPr id="9222" name="Object 4"/>
            <p:cNvGraphicFramePr>
              <a:graphicFrameLocks noChangeAspect="1"/>
            </p:cNvGraphicFramePr>
            <p:nvPr/>
          </p:nvGraphicFramePr>
          <p:xfrm>
            <a:off x="4100" y="3732"/>
            <a:ext cx="2155" cy="1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84200" imgH="571500" progId="Equation.3">
                    <p:embed/>
                  </p:oleObj>
                </mc:Choice>
                <mc:Fallback>
                  <p:oleObj r:id="rId4" imgW="584200" imgH="5715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00" y="3732"/>
                          <a:ext cx="2155" cy="16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3" name="Rectangle 6"/>
            <p:cNvSpPr/>
            <p:nvPr/>
          </p:nvSpPr>
          <p:spPr>
            <a:xfrm>
              <a:off x="510" y="4040"/>
              <a:ext cx="3375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1：电场强度</a:t>
              </a:r>
            </a:p>
          </p:txBody>
        </p:sp>
        <p:grpSp>
          <p:nvGrpSpPr>
            <p:cNvPr id="9224" name="Group 17"/>
            <p:cNvGrpSpPr/>
            <p:nvPr/>
          </p:nvGrpSpPr>
          <p:grpSpPr>
            <a:xfrm>
              <a:off x="7652" y="3357"/>
              <a:ext cx="5560" cy="2760"/>
              <a:chOff x="3321" y="1253"/>
              <a:chExt cx="2224" cy="1104"/>
            </a:xfrm>
          </p:grpSpPr>
          <p:sp>
            <p:nvSpPr>
              <p:cNvPr id="9225" name="Text Box 7"/>
              <p:cNvSpPr txBox="1"/>
              <p:nvPr/>
            </p:nvSpPr>
            <p:spPr>
              <a:xfrm>
                <a:off x="3321" y="1253"/>
                <a:ext cx="2224" cy="110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  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</a:rPr>
                  <a:t>电场中某点的电场强度   等于单位正电荷在该点所受的电场力；</a:t>
                </a:r>
              </a:p>
            </p:txBody>
          </p:sp>
          <p:graphicFrame>
            <p:nvGraphicFramePr>
              <p:cNvPr id="9226" name="Object 11"/>
              <p:cNvGraphicFramePr>
                <a:graphicFrameLocks noChangeAspect="1"/>
              </p:cNvGraphicFramePr>
              <p:nvPr/>
            </p:nvGraphicFramePr>
            <p:xfrm>
              <a:off x="3600" y="1661"/>
              <a:ext cx="255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52400" imgH="203200" progId="Equation.3">
                      <p:embed/>
                    </p:oleObj>
                  </mc:Choice>
                  <mc:Fallback>
                    <p:oleObj r:id="rId6" imgW="152400" imgH="203200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3600" y="1661"/>
                            <a:ext cx="255" cy="31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227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3" name="组合 9"/>
          <p:cNvGrpSpPr/>
          <p:nvPr/>
        </p:nvGrpSpPr>
        <p:grpSpPr>
          <a:xfrm>
            <a:off x="352425" y="4149725"/>
            <a:ext cx="6951663" cy="1724025"/>
            <a:chOff x="454" y="6534"/>
            <a:chExt cx="10947" cy="2717"/>
          </a:xfrm>
        </p:grpSpPr>
        <p:sp>
          <p:nvSpPr>
            <p:cNvPr id="9229" name="Text Box 4"/>
            <p:cNvSpPr txBox="1"/>
            <p:nvPr/>
          </p:nvSpPr>
          <p:spPr>
            <a:xfrm>
              <a:off x="454" y="6761"/>
              <a:ext cx="580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、点电荷的电场强度</a:t>
              </a:r>
            </a:p>
          </p:txBody>
        </p:sp>
        <p:graphicFrame>
          <p:nvGraphicFramePr>
            <p:cNvPr id="9230" name="Object 7"/>
            <p:cNvGraphicFramePr>
              <a:graphicFrameLocks noChangeAspect="1"/>
            </p:cNvGraphicFramePr>
            <p:nvPr/>
          </p:nvGraphicFramePr>
          <p:xfrm>
            <a:off x="5499" y="6534"/>
            <a:ext cx="4129" cy="1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143000" imgH="469900" progId="Equation.DSMT4">
                    <p:embed/>
                  </p:oleObj>
                </mc:Choice>
                <mc:Fallback>
                  <p:oleObj r:id="rId8" imgW="1143000" imgH="4699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499" y="6534"/>
                          <a:ext cx="4129" cy="14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1" name="Object 164"/>
            <p:cNvGraphicFramePr>
              <a:graphicFrameLocks noChangeAspect="1"/>
            </p:cNvGraphicFramePr>
            <p:nvPr/>
          </p:nvGraphicFramePr>
          <p:xfrm>
            <a:off x="5953" y="8576"/>
            <a:ext cx="514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65100" imgH="190500" progId="Equation.DSMT4">
                    <p:embed/>
                  </p:oleObj>
                </mc:Choice>
                <mc:Fallback>
                  <p:oleObj r:id="rId10" imgW="165100" imgH="1905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953" y="8576"/>
                          <a:ext cx="514" cy="5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矩形 9"/>
            <p:cNvSpPr/>
            <p:nvPr/>
          </p:nvSpPr>
          <p:spPr>
            <a:xfrm>
              <a:off x="6406" y="8235"/>
              <a:ext cx="4994" cy="10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>
                <a:lnSpc>
                  <a:spcPct val="200000"/>
                </a:lnSpc>
              </a:pPr>
              <a:r>
                <a:rPr lang="zh-CN" altLang="en-US" b="1" dirty="0">
                  <a:solidFill>
                    <a:srgbClr val="000000"/>
                  </a:solidFill>
                  <a:latin typeface="Verdana" panose="020B0604030504040204" pitchFamily="34" charset="0"/>
                  <a:ea typeface="楷体_GB2312" pitchFamily="49" charset="-122"/>
                </a:rPr>
                <a:t>：从源点指向场点的单位矢量</a:t>
              </a:r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/>
        </p:nvGrpSpPr>
        <p:grpSpPr>
          <a:xfrm>
            <a:off x="549275" y="1196340"/>
            <a:ext cx="8045450" cy="5121275"/>
            <a:chOff x="564515" y="796923"/>
            <a:chExt cx="8045450" cy="5121469"/>
          </a:xfrm>
        </p:grpSpPr>
        <p:sp>
          <p:nvSpPr>
            <p:cNvPr id="5126" name="矩形 7"/>
            <p:cNvSpPr/>
            <p:nvPr/>
          </p:nvSpPr>
          <p:spPr>
            <a:xfrm>
              <a:off x="626745" y="796923"/>
              <a:ext cx="6080760" cy="5219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solidFill>
                    <a:schemeClr val="tx1"/>
                  </a:solidFill>
                  <a:latin typeface="Verdana" panose="020B0604030504040204" pitchFamily="34" charset="0"/>
                </a:rPr>
                <a:t>、下列几个说法中哪一个是正确的？</a:t>
              </a:r>
            </a:p>
          </p:txBody>
        </p:sp>
        <p:sp>
          <p:nvSpPr>
            <p:cNvPr id="5127" name="矩形 8"/>
            <p:cNvSpPr/>
            <p:nvPr/>
          </p:nvSpPr>
          <p:spPr>
            <a:xfrm>
              <a:off x="564515" y="1301744"/>
              <a:ext cx="8045450" cy="46166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电场中某点场强的方向，就是将点电荷放在该点所受电场力的方向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在以点电荷为中心的球面上， 由该点电荷所产生的场强处处相同．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场强可由                   定出，其中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为试验电荷，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可正、可负，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为试验电荷所受的电场力．</a:t>
              </a:r>
              <a:endPara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 </a:t>
              </a: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以上说法都不正确</a:t>
              </a:r>
              <a:r>
                <a:rPr lang="zh-CN" altLang="en-US" sz="2800" dirty="0">
                  <a:latin typeface="Verdana" panose="020B0604030504040204" pitchFamily="34" charset="0"/>
                </a:rPr>
                <a:t>．</a:t>
              </a:r>
            </a:p>
          </p:txBody>
        </p:sp>
        <p:graphicFrame>
          <p:nvGraphicFramePr>
            <p:cNvPr id="5122" name="Object 2"/>
            <p:cNvGraphicFramePr/>
            <p:nvPr/>
          </p:nvGraphicFramePr>
          <p:xfrm>
            <a:off x="2714625" y="3999349"/>
            <a:ext cx="1582420" cy="646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59765" imgH="254000" progId="Equation.DSMT4">
                    <p:embed/>
                  </p:oleObj>
                </mc:Choice>
                <mc:Fallback>
                  <p:oleObj r:id="rId2" imgW="659765" imgH="2540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14625" y="3999349"/>
                          <a:ext cx="1582420" cy="6464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/>
          <p:nvPr/>
        </p:nvSpPr>
        <p:spPr>
          <a:xfrm>
            <a:off x="6626860" y="5898515"/>
            <a:ext cx="15335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答案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r>
              <a:rPr lang="en-US" altLang="zh-CN" sz="2800" dirty="0">
                <a:solidFill>
                  <a:srgbClr val="C00000"/>
                </a:solidFill>
                <a:latin typeface="Verdana" panose="020B0604030504040204" pitchFamily="34" charset="0"/>
              </a:rPr>
              <a:t> </a:t>
            </a:r>
            <a:endParaRPr lang="zh-CN" altLang="en-US" dirty="0">
              <a:solidFill>
                <a:srgbClr val="C00000"/>
              </a:solidFill>
              <a:latin typeface="Verdana" panose="020B0604030504040204" pitchFamily="34" charset="0"/>
            </a:endParaRPr>
          </a:p>
        </p:txBody>
      </p:sp>
      <p:sp>
        <p:nvSpPr>
          <p:cNvPr id="5125" name="矩形 5"/>
          <p:cNvSpPr/>
          <p:nvPr/>
        </p:nvSpPr>
        <p:spPr>
          <a:xfrm>
            <a:off x="467360" y="548640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33CC"/>
                </a:solidFill>
                <a:latin typeface="Verdana" panose="020B0604030504040204" pitchFamily="34" charset="0"/>
              </a:rPr>
              <a:t>课前侧：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9218" name="组合 6"/>
          <p:cNvGrpSpPr/>
          <p:nvPr/>
        </p:nvGrpSpPr>
        <p:grpSpPr>
          <a:xfrm>
            <a:off x="250825" y="722313"/>
            <a:ext cx="8486775" cy="2259012"/>
            <a:chOff x="396" y="1138"/>
            <a:chExt cx="13365" cy="3556"/>
          </a:xfrm>
        </p:grpSpPr>
        <p:sp>
          <p:nvSpPr>
            <p:cNvPr id="10243" name="Rectangle 53"/>
            <p:cNvSpPr/>
            <p:nvPr/>
          </p:nvSpPr>
          <p:spPr>
            <a:xfrm>
              <a:off x="396" y="1138"/>
              <a:ext cx="13365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0000CC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3、场强叠加原理:</a:t>
              </a: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电场中某点的场强等于每个电荷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单独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在该点产生的场强的叠加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矢量和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)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  <a:r>
                <a:rPr lang="zh-CN" altLang="en-US" sz="2400" dirty="0"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10244" name="对象 1"/>
            <p:cNvGraphicFramePr/>
            <p:nvPr/>
          </p:nvGraphicFramePr>
          <p:xfrm>
            <a:off x="1984" y="3313"/>
            <a:ext cx="2280" cy="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11300" imgH="685800" progId="Equation.DSMT4">
                    <p:embed/>
                  </p:oleObj>
                </mc:Choice>
                <mc:Fallback>
                  <p:oleObj r:id="rId2" imgW="1511300" imgH="6858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984" y="3313"/>
                          <a:ext cx="2280" cy="1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5" name="Object 87"/>
            <p:cNvGraphicFramePr>
              <a:graphicFrameLocks noChangeAspect="1"/>
            </p:cNvGraphicFramePr>
            <p:nvPr/>
          </p:nvGraphicFramePr>
          <p:xfrm>
            <a:off x="5839" y="3135"/>
            <a:ext cx="5089" cy="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27200" imgH="469900" progId="Equation.DSMT4">
                    <p:embed/>
                  </p:oleObj>
                </mc:Choice>
                <mc:Fallback>
                  <p:oleObj r:id="rId4" imgW="1727200" imgH="4699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839" y="3135"/>
                          <a:ext cx="5089" cy="15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214313" y="3141663"/>
            <a:ext cx="8561387" cy="3095625"/>
            <a:chOff x="338" y="4948"/>
            <a:chExt cx="13482" cy="4874"/>
          </a:xfrm>
        </p:grpSpPr>
        <p:grpSp>
          <p:nvGrpSpPr>
            <p:cNvPr id="10247" name="组合 5"/>
            <p:cNvGrpSpPr/>
            <p:nvPr/>
          </p:nvGrpSpPr>
          <p:grpSpPr>
            <a:xfrm>
              <a:off x="337" y="4947"/>
              <a:ext cx="13482" cy="2137"/>
              <a:chOff x="280" y="4822"/>
              <a:chExt cx="13482" cy="2139"/>
            </a:xfrm>
          </p:grpSpPr>
          <p:grpSp>
            <p:nvGrpSpPr>
              <p:cNvPr id="10248" name="Group 131"/>
              <p:cNvGrpSpPr/>
              <p:nvPr/>
            </p:nvGrpSpPr>
            <p:grpSpPr>
              <a:xfrm>
                <a:off x="280" y="4822"/>
                <a:ext cx="10102" cy="1417"/>
                <a:chOff x="287" y="2618"/>
                <a:chExt cx="4041" cy="567"/>
              </a:xfrm>
            </p:grpSpPr>
            <p:sp>
              <p:nvSpPr>
                <p:cNvPr id="10249" name="Rectangle 124"/>
                <p:cNvSpPr/>
                <p:nvPr/>
              </p:nvSpPr>
              <p:spPr>
                <a:xfrm>
                  <a:off x="287" y="2895"/>
                  <a:ext cx="2619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0000CC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rPr>
                    <a:t>4</a:t>
                  </a:r>
                  <a:r>
                    <a:rPr lang="zh-CN" altLang="en-US" sz="2400" b="1" dirty="0">
                      <a:solidFill>
                        <a:srgbClr val="0000CC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rPr>
                    <a:t>、无限长带电直线外一点</a:t>
                  </a:r>
                </a:p>
              </p:txBody>
            </p:sp>
            <p:graphicFrame>
              <p:nvGraphicFramePr>
                <p:cNvPr id="10250" name="Object 130"/>
                <p:cNvGraphicFramePr>
                  <a:graphicFrameLocks noChangeAspect="1"/>
                </p:cNvGraphicFramePr>
                <p:nvPr/>
              </p:nvGraphicFramePr>
              <p:xfrm>
                <a:off x="3547" y="2618"/>
                <a:ext cx="781" cy="4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774065" imgH="457200" progId="Equation.3">
                        <p:embed/>
                      </p:oleObj>
                    </mc:Choice>
                    <mc:Fallback>
                      <p:oleObj r:id="rId6" imgW="774065" imgH="457200" progId="Equation.3">
                        <p:embed/>
                        <p:pic>
                          <p:nvPicPr>
                            <p:cNvPr id="0" name="图片 3101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47" y="2618"/>
                              <a:ext cx="781" cy="46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251" name="文本框 3"/>
              <p:cNvSpPr txBox="1"/>
              <p:nvPr/>
            </p:nvSpPr>
            <p:spPr>
              <a:xfrm>
                <a:off x="6860" y="6236"/>
                <a:ext cx="6902" cy="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宋体" panose="02010600030101010101" pitchFamily="2" charset="-122"/>
                  </a:rPr>
                  <a:t>方向：沿柱坐标系径向方向</a:t>
                </a:r>
              </a:p>
            </p:txBody>
          </p:sp>
          <p:sp>
            <p:nvSpPr>
              <p:cNvPr id="10252" name="文本框 4"/>
              <p:cNvSpPr txBox="1"/>
              <p:nvPr/>
            </p:nvSpPr>
            <p:spPr>
              <a:xfrm>
                <a:off x="6891" y="5060"/>
                <a:ext cx="1493" cy="7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000CC"/>
                    </a:solidFill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大小</a:t>
                </a:r>
              </a:p>
            </p:txBody>
          </p:sp>
        </p:grpSp>
        <p:grpSp>
          <p:nvGrpSpPr>
            <p:cNvPr id="10253" name="Group 83"/>
            <p:cNvGrpSpPr/>
            <p:nvPr/>
          </p:nvGrpSpPr>
          <p:grpSpPr>
            <a:xfrm>
              <a:off x="2550" y="8690"/>
              <a:ext cx="9580" cy="1132"/>
              <a:chOff x="1406" y="890"/>
              <a:chExt cx="3832" cy="453"/>
            </a:xfrm>
          </p:grpSpPr>
          <p:sp>
            <p:nvSpPr>
              <p:cNvPr id="10254" name="Line 69"/>
              <p:cNvSpPr/>
              <p:nvPr/>
            </p:nvSpPr>
            <p:spPr>
              <a:xfrm rot="-5400000">
                <a:off x="4931" y="1014"/>
                <a:ext cx="0" cy="5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5" name="Line 68"/>
              <p:cNvSpPr/>
              <p:nvPr/>
            </p:nvSpPr>
            <p:spPr>
              <a:xfrm rot="5400000" flipV="1">
                <a:off x="3185" y="-85"/>
                <a:ext cx="1" cy="2812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6" name="Line 70"/>
              <p:cNvSpPr/>
              <p:nvPr/>
            </p:nvSpPr>
            <p:spPr>
              <a:xfrm rot="-5400000">
                <a:off x="1688" y="1014"/>
                <a:ext cx="0" cy="58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7" name="Line 71"/>
              <p:cNvSpPr/>
              <p:nvPr/>
            </p:nvSpPr>
            <p:spPr>
              <a:xfrm rot="-5400000">
                <a:off x="3016" y="1094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8" name="Oval 72"/>
              <p:cNvSpPr/>
              <p:nvPr/>
            </p:nvSpPr>
            <p:spPr>
              <a:xfrm rot="-5400000">
                <a:off x="3198" y="890"/>
                <a:ext cx="68" cy="6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9" name="Line 73"/>
              <p:cNvSpPr/>
              <p:nvPr/>
            </p:nvSpPr>
            <p:spPr>
              <a:xfrm rot="-5400000">
                <a:off x="2301" y="401"/>
                <a:ext cx="363" cy="140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60" name="Line 74"/>
              <p:cNvSpPr/>
              <p:nvPr/>
            </p:nvSpPr>
            <p:spPr>
              <a:xfrm rot="-5400000" flipH="1">
                <a:off x="3718" y="458"/>
                <a:ext cx="363" cy="129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0261" name="Object 78"/>
              <p:cNvGraphicFramePr>
                <a:graphicFrameLocks noChangeAspect="1"/>
              </p:cNvGraphicFramePr>
              <p:nvPr/>
            </p:nvGraphicFramePr>
            <p:xfrm>
              <a:off x="2971" y="1026"/>
              <a:ext cx="185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39700" progId="Equation.3">
                      <p:embed/>
                    </p:oleObj>
                  </mc:Choice>
                  <mc:Fallback>
                    <p:oleObj r:id="rId8" imgW="127000" imgH="139700" progId="Equation.3">
                      <p:embed/>
                      <p:pic>
                        <p:nvPicPr>
                          <p:cNvPr id="0" name="图片 3098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971" y="1026"/>
                            <a:ext cx="185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2" name="Object 80"/>
              <p:cNvGraphicFramePr>
                <a:graphicFrameLocks noChangeAspect="1"/>
              </p:cNvGraphicFramePr>
              <p:nvPr/>
            </p:nvGraphicFramePr>
            <p:xfrm>
              <a:off x="2381" y="1094"/>
              <a:ext cx="176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52400" imgH="215900" progId="Equation.3">
                      <p:embed/>
                    </p:oleObj>
                  </mc:Choice>
                  <mc:Fallback>
                    <p:oleObj r:id="rId10" imgW="152400" imgH="215900" progId="Equation.3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381" y="1094"/>
                            <a:ext cx="176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3" name="Object 81"/>
              <p:cNvGraphicFramePr>
                <a:graphicFrameLocks noChangeAspect="1"/>
              </p:cNvGraphicFramePr>
              <p:nvPr/>
            </p:nvGraphicFramePr>
            <p:xfrm>
              <a:off x="4490" y="1026"/>
              <a:ext cx="190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65100" imgH="215900" progId="Equation.3">
                      <p:embed/>
                    </p:oleObj>
                  </mc:Choice>
                  <mc:Fallback>
                    <p:oleObj r:id="rId12" imgW="165100" imgH="215900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4490" y="1026"/>
                            <a:ext cx="190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64" name="Line 85"/>
            <p:cNvSpPr/>
            <p:nvPr/>
          </p:nvSpPr>
          <p:spPr>
            <a:xfrm flipV="1">
              <a:off x="7102" y="7402"/>
              <a:ext cx="0" cy="1395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6084888" y="1052513"/>
          <a:ext cx="164306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28700" imgH="495300" progId="Equation.DSMT4">
                  <p:embed/>
                </p:oleObj>
              </mc:Choice>
              <mc:Fallback>
                <p:oleObj r:id="rId2" imgW="1028700" imgH="4953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084888" y="1052513"/>
                        <a:ext cx="1643062" cy="8715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31" name="Text Box 83"/>
          <p:cNvSpPr txBox="1"/>
          <p:nvPr/>
        </p:nvSpPr>
        <p:spPr>
          <a:xfrm>
            <a:off x="323850" y="1268413"/>
            <a:ext cx="59769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楷体_GB2312" pitchFamily="49" charset="-122"/>
              </a:rPr>
              <a:t>5、无限大均匀带正（负）电平面的场强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" name="Group 84"/>
          <p:cNvGrpSpPr/>
          <p:nvPr/>
        </p:nvGrpSpPr>
        <p:grpSpPr>
          <a:xfrm>
            <a:off x="274638" y="2178050"/>
            <a:ext cx="4267200" cy="2667000"/>
            <a:chOff x="113" y="1984"/>
            <a:chExt cx="2688" cy="1680"/>
          </a:xfrm>
        </p:grpSpPr>
        <p:grpSp>
          <p:nvGrpSpPr>
            <p:cNvPr id="11269" name="Group 46"/>
            <p:cNvGrpSpPr/>
            <p:nvPr/>
          </p:nvGrpSpPr>
          <p:grpSpPr>
            <a:xfrm>
              <a:off x="518" y="2482"/>
              <a:ext cx="1842" cy="972"/>
              <a:chOff x="501" y="2418"/>
              <a:chExt cx="1842" cy="972"/>
            </a:xfrm>
          </p:grpSpPr>
          <p:sp>
            <p:nvSpPr>
              <p:cNvPr id="11270" name="Line 47"/>
              <p:cNvSpPr/>
              <p:nvPr/>
            </p:nvSpPr>
            <p:spPr>
              <a:xfrm>
                <a:off x="1417" y="2418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1" name="Line 48"/>
              <p:cNvSpPr/>
              <p:nvPr/>
            </p:nvSpPr>
            <p:spPr>
              <a:xfrm>
                <a:off x="1417" y="2613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2" name="Line 49"/>
              <p:cNvSpPr/>
              <p:nvPr/>
            </p:nvSpPr>
            <p:spPr>
              <a:xfrm>
                <a:off x="1417" y="2808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3" name="Line 50"/>
              <p:cNvSpPr/>
              <p:nvPr/>
            </p:nvSpPr>
            <p:spPr>
              <a:xfrm>
                <a:off x="1417" y="3001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4" name="Line 51"/>
              <p:cNvSpPr/>
              <p:nvPr/>
            </p:nvSpPr>
            <p:spPr>
              <a:xfrm>
                <a:off x="1417" y="3196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5" name="Line 52"/>
              <p:cNvSpPr/>
              <p:nvPr/>
            </p:nvSpPr>
            <p:spPr>
              <a:xfrm>
                <a:off x="1417" y="3390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6" name="Line 53"/>
              <p:cNvSpPr/>
              <p:nvPr/>
            </p:nvSpPr>
            <p:spPr>
              <a:xfrm flipH="1">
                <a:off x="501" y="2418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7" name="Line 54"/>
              <p:cNvSpPr/>
              <p:nvPr/>
            </p:nvSpPr>
            <p:spPr>
              <a:xfrm flipH="1">
                <a:off x="501" y="2613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8" name="Line 55"/>
              <p:cNvSpPr/>
              <p:nvPr/>
            </p:nvSpPr>
            <p:spPr>
              <a:xfrm flipH="1">
                <a:off x="501" y="2808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79" name="Line 56"/>
              <p:cNvSpPr/>
              <p:nvPr/>
            </p:nvSpPr>
            <p:spPr>
              <a:xfrm flipH="1">
                <a:off x="501" y="3001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80" name="Line 57"/>
              <p:cNvSpPr/>
              <p:nvPr/>
            </p:nvSpPr>
            <p:spPr>
              <a:xfrm flipH="1">
                <a:off x="501" y="3196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1281" name="Line 58"/>
              <p:cNvSpPr/>
              <p:nvPr/>
            </p:nvSpPr>
            <p:spPr>
              <a:xfrm flipH="1">
                <a:off x="501" y="3390"/>
                <a:ext cx="92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aphicFrame>
          <p:nvGraphicFramePr>
            <p:cNvPr id="11282" name="Object 59"/>
            <p:cNvGraphicFramePr>
              <a:graphicFrameLocks noChangeAspect="1"/>
            </p:cNvGraphicFramePr>
            <p:nvPr/>
          </p:nvGraphicFramePr>
          <p:xfrm>
            <a:off x="113" y="2569"/>
            <a:ext cx="40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27000" imgH="177800" progId="Equation.3">
                    <p:embed/>
                  </p:oleObj>
                </mc:Choice>
                <mc:Fallback>
                  <p:oleObj r:id="rId4" imgW="127000" imgH="1778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3" y="2569"/>
                          <a:ext cx="408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60"/>
            <p:cNvGraphicFramePr>
              <a:graphicFrameLocks noChangeAspect="1"/>
            </p:cNvGraphicFramePr>
            <p:nvPr/>
          </p:nvGraphicFramePr>
          <p:xfrm>
            <a:off x="1169" y="1984"/>
            <a:ext cx="564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79400" imgH="127000" progId="Equation.3">
                    <p:embed/>
                  </p:oleObj>
                </mc:Choice>
                <mc:Fallback>
                  <p:oleObj r:id="rId6" imgW="279400" imgH="12700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169" y="1984"/>
                          <a:ext cx="564" cy="3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61"/>
            <p:cNvGraphicFramePr>
              <a:graphicFrameLocks noChangeAspect="1"/>
            </p:cNvGraphicFramePr>
            <p:nvPr/>
          </p:nvGraphicFramePr>
          <p:xfrm>
            <a:off x="2393" y="2560"/>
            <a:ext cx="40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7000" imgH="177800" progId="Equation.3">
                    <p:embed/>
                  </p:oleObj>
                </mc:Choice>
                <mc:Fallback>
                  <p:oleObj r:id="rId8" imgW="127000" imgH="1778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93" y="2560"/>
                          <a:ext cx="408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5" name="Line 62"/>
            <p:cNvSpPr/>
            <p:nvPr/>
          </p:nvSpPr>
          <p:spPr>
            <a:xfrm>
              <a:off x="1457" y="2320"/>
              <a:ext cx="0" cy="1344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Group 86"/>
          <p:cNvGrpSpPr/>
          <p:nvPr/>
        </p:nvGrpSpPr>
        <p:grpSpPr>
          <a:xfrm>
            <a:off x="4746625" y="2124075"/>
            <a:ext cx="4152900" cy="2646363"/>
            <a:chOff x="2993" y="1997"/>
            <a:chExt cx="2616" cy="1667"/>
          </a:xfrm>
        </p:grpSpPr>
        <p:graphicFrame>
          <p:nvGraphicFramePr>
            <p:cNvPr id="11287" name="Object 79"/>
            <p:cNvGraphicFramePr>
              <a:graphicFrameLocks noChangeAspect="1"/>
            </p:cNvGraphicFramePr>
            <p:nvPr/>
          </p:nvGraphicFramePr>
          <p:xfrm>
            <a:off x="2993" y="2569"/>
            <a:ext cx="40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27000" imgH="177800" progId="Equation.3">
                    <p:embed/>
                  </p:oleObj>
                </mc:Choice>
                <mc:Fallback>
                  <p:oleObj r:id="rId10" imgW="127000" imgH="177800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93" y="2569"/>
                          <a:ext cx="408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288" name="Group 85"/>
            <p:cNvGrpSpPr/>
            <p:nvPr/>
          </p:nvGrpSpPr>
          <p:grpSpPr>
            <a:xfrm>
              <a:off x="3329" y="1997"/>
              <a:ext cx="2280" cy="1667"/>
              <a:chOff x="3329" y="1997"/>
              <a:chExt cx="2280" cy="1667"/>
            </a:xfrm>
          </p:grpSpPr>
          <p:grpSp>
            <p:nvGrpSpPr>
              <p:cNvPr id="11289" name="Group 65"/>
              <p:cNvGrpSpPr/>
              <p:nvPr/>
            </p:nvGrpSpPr>
            <p:grpSpPr>
              <a:xfrm>
                <a:off x="3329" y="2500"/>
                <a:ext cx="926" cy="972"/>
                <a:chOff x="4297" y="2418"/>
                <a:chExt cx="926" cy="972"/>
              </a:xfrm>
            </p:grpSpPr>
            <p:sp>
              <p:nvSpPr>
                <p:cNvPr id="11290" name="Line 66"/>
                <p:cNvSpPr/>
                <p:nvPr/>
              </p:nvSpPr>
              <p:spPr>
                <a:xfrm>
                  <a:off x="4297" y="2418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1" name="Line 67"/>
                <p:cNvSpPr/>
                <p:nvPr/>
              </p:nvSpPr>
              <p:spPr>
                <a:xfrm>
                  <a:off x="4297" y="2613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2" name="Line 68"/>
                <p:cNvSpPr/>
                <p:nvPr/>
              </p:nvSpPr>
              <p:spPr>
                <a:xfrm>
                  <a:off x="4297" y="2808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3" name="Line 69"/>
                <p:cNvSpPr/>
                <p:nvPr/>
              </p:nvSpPr>
              <p:spPr>
                <a:xfrm>
                  <a:off x="4297" y="3001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4" name="Line 70"/>
                <p:cNvSpPr/>
                <p:nvPr/>
              </p:nvSpPr>
              <p:spPr>
                <a:xfrm>
                  <a:off x="4297" y="3196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5" name="Line 71"/>
                <p:cNvSpPr/>
                <p:nvPr/>
              </p:nvSpPr>
              <p:spPr>
                <a:xfrm>
                  <a:off x="4297" y="3390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grpSp>
            <p:nvGrpSpPr>
              <p:cNvPr id="11296" name="Group 72"/>
              <p:cNvGrpSpPr/>
              <p:nvPr/>
            </p:nvGrpSpPr>
            <p:grpSpPr>
              <a:xfrm>
                <a:off x="4323" y="2501"/>
                <a:ext cx="926" cy="972"/>
                <a:chOff x="3381" y="2418"/>
                <a:chExt cx="926" cy="972"/>
              </a:xfrm>
            </p:grpSpPr>
            <p:sp>
              <p:nvSpPr>
                <p:cNvPr id="11297" name="Line 73"/>
                <p:cNvSpPr/>
                <p:nvPr/>
              </p:nvSpPr>
              <p:spPr>
                <a:xfrm flipH="1">
                  <a:off x="3381" y="2418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8" name="Line 74"/>
                <p:cNvSpPr/>
                <p:nvPr/>
              </p:nvSpPr>
              <p:spPr>
                <a:xfrm flipH="1">
                  <a:off x="3381" y="2613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299" name="Line 75"/>
                <p:cNvSpPr/>
                <p:nvPr/>
              </p:nvSpPr>
              <p:spPr>
                <a:xfrm flipH="1">
                  <a:off x="3381" y="2808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300" name="Line 76"/>
                <p:cNvSpPr/>
                <p:nvPr/>
              </p:nvSpPr>
              <p:spPr>
                <a:xfrm flipH="1">
                  <a:off x="3381" y="3001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301" name="Line 77"/>
                <p:cNvSpPr/>
                <p:nvPr/>
              </p:nvSpPr>
              <p:spPr>
                <a:xfrm flipH="1">
                  <a:off x="3381" y="3196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1302" name="Line 78"/>
                <p:cNvSpPr/>
                <p:nvPr/>
              </p:nvSpPr>
              <p:spPr>
                <a:xfrm flipH="1">
                  <a:off x="3381" y="3390"/>
                  <a:ext cx="926" cy="0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graphicFrame>
            <p:nvGraphicFramePr>
              <p:cNvPr id="11303" name="Object 80"/>
              <p:cNvGraphicFramePr>
                <a:graphicFrameLocks noChangeAspect="1"/>
              </p:cNvGraphicFramePr>
              <p:nvPr/>
            </p:nvGraphicFramePr>
            <p:xfrm>
              <a:off x="4049" y="1997"/>
              <a:ext cx="564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79400" imgH="114300" progId="Equation.3">
                      <p:embed/>
                    </p:oleObj>
                  </mc:Choice>
                  <mc:Fallback>
                    <p:oleObj r:id="rId12" imgW="279400" imgH="1143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49" y="1997"/>
                            <a:ext cx="564" cy="2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4" name="Line 81"/>
              <p:cNvSpPr/>
              <p:nvPr/>
            </p:nvSpPr>
            <p:spPr>
              <a:xfrm>
                <a:off x="4289" y="2320"/>
                <a:ext cx="0" cy="1344"/>
              </a:xfrm>
              <a:prstGeom prst="line">
                <a:avLst/>
              </a:prstGeom>
              <a:ln w="571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1305" name="Object 82"/>
              <p:cNvGraphicFramePr>
                <a:graphicFrameLocks noChangeAspect="1"/>
              </p:cNvGraphicFramePr>
              <p:nvPr/>
            </p:nvGraphicFramePr>
            <p:xfrm>
              <a:off x="5201" y="2560"/>
              <a:ext cx="408" cy="4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27000" imgH="177800" progId="Equation.3">
                      <p:embed/>
                    </p:oleObj>
                  </mc:Choice>
                  <mc:Fallback>
                    <p:oleObj r:id="rId14" imgW="127000" imgH="1778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01" y="2560"/>
                            <a:ext cx="408" cy="47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3337" name="Object 89"/>
          <p:cNvGraphicFramePr>
            <a:graphicFrameLocks noChangeAspect="1"/>
          </p:cNvGraphicFramePr>
          <p:nvPr/>
        </p:nvGraphicFramePr>
        <p:xfrm>
          <a:off x="633413" y="5040313"/>
          <a:ext cx="18351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28700" imgH="495300" progId="Equation.3">
                  <p:embed/>
                </p:oleObj>
              </mc:Choice>
              <mc:Fallback>
                <p:oleObj r:id="rId16" imgW="1028700" imgH="495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33413" y="5040313"/>
                        <a:ext cx="1835150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38" name="Object 90"/>
          <p:cNvGraphicFramePr>
            <a:graphicFrameLocks noChangeAspect="1"/>
          </p:cNvGraphicFramePr>
          <p:nvPr/>
        </p:nvGraphicFramePr>
        <p:xfrm>
          <a:off x="4933950" y="5108575"/>
          <a:ext cx="17256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028700" imgH="495300" progId="Equation.3">
                  <p:embed/>
                </p:oleObj>
              </mc:Choice>
              <mc:Fallback>
                <p:oleObj r:id="rId16" imgW="1028700" imgH="4953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33950" y="5108575"/>
                        <a:ext cx="1725613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39" name="Object 91"/>
          <p:cNvGraphicFramePr>
            <a:graphicFrameLocks noChangeAspect="1"/>
          </p:cNvGraphicFramePr>
          <p:nvPr/>
        </p:nvGraphicFramePr>
        <p:xfrm>
          <a:off x="7132638" y="5116513"/>
          <a:ext cx="1725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28700" imgH="495300" progId="Equation.3">
                  <p:embed/>
                </p:oleObj>
              </mc:Choice>
              <mc:Fallback>
                <p:oleObj r:id="rId19" imgW="1028700" imgH="4953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32638" y="5116513"/>
                        <a:ext cx="1725612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40" name="Object 92"/>
          <p:cNvGraphicFramePr>
            <a:graphicFrameLocks noChangeAspect="1"/>
          </p:cNvGraphicFramePr>
          <p:nvPr/>
        </p:nvGraphicFramePr>
        <p:xfrm>
          <a:off x="2584450" y="5029200"/>
          <a:ext cx="183515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28700" imgH="495300" progId="Equation.3">
                  <p:embed/>
                </p:oleObj>
              </mc:Choice>
              <mc:Fallback>
                <p:oleObj r:id="rId19" imgW="1028700" imgH="495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84450" y="5029200"/>
                        <a:ext cx="1835150" cy="960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33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0" name="Rectangle 34" descr="羊皮纸"/>
          <p:cNvSpPr/>
          <p:nvPr/>
        </p:nvSpPr>
        <p:spPr>
          <a:xfrm>
            <a:off x="0" y="0"/>
            <a:ext cx="9144000" cy="43656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Text Box 4"/>
          <p:cNvSpPr txBox="1"/>
          <p:nvPr/>
        </p:nvSpPr>
        <p:spPr>
          <a:xfrm>
            <a:off x="323850" y="1081088"/>
            <a:ext cx="8656638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两个无限大均匀带电平板，带电量为</a:t>
            </a:r>
            <a:r>
              <a:rPr lang="zh-CN" altLang="en-US" sz="2400" b="1" dirty="0">
                <a:solidFill>
                  <a:srgbClr val="CC0000"/>
                </a:solidFill>
                <a:latin typeface="Arial" panose="020B0604020202020204" pitchFamily="34" charset="0"/>
                <a:ea typeface="楷体_GB2312" pitchFamily="49" charset="-122"/>
              </a:rPr>
              <a:t>等量异号</a:t>
            </a: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，其场强的分布情况</a:t>
            </a:r>
          </a:p>
        </p:txBody>
      </p:sp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3348038" y="4699000"/>
          <a:ext cx="1905000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50900" imgH="495300" progId="Equation.3">
                  <p:embed/>
                </p:oleObj>
              </mc:Choice>
              <mc:Fallback>
                <p:oleObj r:id="rId3" imgW="850900" imgH="495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3348038" y="4699000"/>
                        <a:ext cx="1905000" cy="117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/>
          <p:nvPr/>
        </p:nvGrpSpPr>
        <p:grpSpPr>
          <a:xfrm>
            <a:off x="2843213" y="2276475"/>
            <a:ext cx="2882900" cy="517525"/>
            <a:chOff x="2256" y="2688"/>
            <a:chExt cx="1816" cy="326"/>
          </a:xfrm>
        </p:grpSpPr>
        <p:graphicFrame>
          <p:nvGraphicFramePr>
            <p:cNvPr id="12294" name="Object 7"/>
            <p:cNvGraphicFramePr>
              <a:graphicFrameLocks noChangeAspect="1"/>
            </p:cNvGraphicFramePr>
            <p:nvPr/>
          </p:nvGraphicFramePr>
          <p:xfrm>
            <a:off x="2256" y="2688"/>
            <a:ext cx="568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79400" imgH="127000" progId="Equation.3">
                    <p:embed/>
                  </p:oleObj>
                </mc:Choice>
                <mc:Fallback>
                  <p:oleObj r:id="rId5" imgW="279400" imgH="1270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56" y="2688"/>
                          <a:ext cx="568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5" name="Object 8"/>
            <p:cNvGraphicFramePr>
              <a:graphicFrameLocks noChangeAspect="1"/>
            </p:cNvGraphicFramePr>
            <p:nvPr/>
          </p:nvGraphicFramePr>
          <p:xfrm>
            <a:off x="3505" y="2725"/>
            <a:ext cx="56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79400" imgH="114300" progId="Equation.3">
                    <p:embed/>
                  </p:oleObj>
                </mc:Choice>
                <mc:Fallback>
                  <p:oleObj r:id="rId7" imgW="279400" imgH="1143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05" y="2725"/>
                          <a:ext cx="567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/>
          <p:nvPr/>
        </p:nvGrpSpPr>
        <p:grpSpPr>
          <a:xfrm>
            <a:off x="1476375" y="3978275"/>
            <a:ext cx="5791200" cy="76200"/>
            <a:chOff x="1408" y="3148"/>
            <a:chExt cx="3571" cy="0"/>
          </a:xfrm>
        </p:grpSpPr>
        <p:sp>
          <p:nvSpPr>
            <p:cNvPr id="12297" name="Line 10"/>
            <p:cNvSpPr/>
            <p:nvPr/>
          </p:nvSpPr>
          <p:spPr>
            <a:xfrm>
              <a:off x="2555" y="3148"/>
              <a:ext cx="119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8" name="Line 11"/>
            <p:cNvSpPr/>
            <p:nvPr/>
          </p:nvSpPr>
          <p:spPr>
            <a:xfrm flipH="1">
              <a:off x="1408" y="3148"/>
              <a:ext cx="979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299" name="Line 12"/>
            <p:cNvSpPr/>
            <p:nvPr/>
          </p:nvSpPr>
          <p:spPr>
            <a:xfrm>
              <a:off x="3826" y="3148"/>
              <a:ext cx="1153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4" name="Group 13"/>
          <p:cNvGrpSpPr/>
          <p:nvPr/>
        </p:nvGrpSpPr>
        <p:grpSpPr>
          <a:xfrm>
            <a:off x="1547813" y="4554538"/>
            <a:ext cx="5638800" cy="7937"/>
            <a:chOff x="1427" y="3307"/>
            <a:chExt cx="3552" cy="5"/>
          </a:xfrm>
        </p:grpSpPr>
        <p:sp>
          <p:nvSpPr>
            <p:cNvPr id="12301" name="Line 14"/>
            <p:cNvSpPr/>
            <p:nvPr/>
          </p:nvSpPr>
          <p:spPr>
            <a:xfrm flipV="1">
              <a:off x="2565" y="3307"/>
              <a:ext cx="1179" cy="5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302" name="Line 15"/>
            <p:cNvSpPr/>
            <p:nvPr/>
          </p:nvSpPr>
          <p:spPr>
            <a:xfrm flipH="1">
              <a:off x="3845" y="3307"/>
              <a:ext cx="1134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2303" name="Line 16"/>
            <p:cNvSpPr/>
            <p:nvPr/>
          </p:nvSpPr>
          <p:spPr>
            <a:xfrm>
              <a:off x="1427" y="3307"/>
              <a:ext cx="967" cy="0"/>
            </a:xfrm>
            <a:prstGeom prst="line">
              <a:avLst/>
            </a:prstGeom>
            <a:ln w="38100" cap="flat" cmpd="sng">
              <a:solidFill>
                <a:srgbClr val="3333FF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aphicFrame>
        <p:nvGraphicFramePr>
          <p:cNvPr id="110611" name="Object 19"/>
          <p:cNvGraphicFramePr>
            <a:graphicFrameLocks noChangeAspect="1"/>
          </p:cNvGraphicFramePr>
          <p:nvPr/>
        </p:nvGraphicFramePr>
        <p:xfrm>
          <a:off x="1331913" y="4986338"/>
          <a:ext cx="15779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80365" imgH="177800" progId="Equation.3">
                  <p:embed/>
                </p:oleObj>
              </mc:Choice>
              <mc:Fallback>
                <p:oleObj r:id="rId9" imgW="380365" imgH="177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913" y="4986338"/>
                        <a:ext cx="1577975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7"/>
          <p:cNvGrpSpPr/>
          <p:nvPr/>
        </p:nvGrpSpPr>
        <p:grpSpPr>
          <a:xfrm>
            <a:off x="3203575" y="3043238"/>
            <a:ext cx="2093913" cy="2514600"/>
            <a:chOff x="930" y="2341"/>
            <a:chExt cx="1319" cy="1584"/>
          </a:xfrm>
        </p:grpSpPr>
        <p:grpSp>
          <p:nvGrpSpPr>
            <p:cNvPr id="12306" name="Group 21"/>
            <p:cNvGrpSpPr/>
            <p:nvPr/>
          </p:nvGrpSpPr>
          <p:grpSpPr>
            <a:xfrm>
              <a:off x="930" y="2596"/>
              <a:ext cx="1319" cy="1037"/>
              <a:chOff x="1920" y="1200"/>
              <a:chExt cx="1680" cy="2256"/>
            </a:xfrm>
          </p:grpSpPr>
          <p:sp>
            <p:nvSpPr>
              <p:cNvPr id="12307" name="Line 22"/>
              <p:cNvSpPr/>
              <p:nvPr/>
            </p:nvSpPr>
            <p:spPr>
              <a:xfrm>
                <a:off x="1920" y="1200"/>
                <a:ext cx="0" cy="2256"/>
              </a:xfrm>
              <a:prstGeom prst="line">
                <a:avLst/>
              </a:prstGeom>
              <a:ln w="412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08" name="Line 23"/>
              <p:cNvSpPr/>
              <p:nvPr/>
            </p:nvSpPr>
            <p:spPr>
              <a:xfrm>
                <a:off x="3600" y="1200"/>
                <a:ext cx="0" cy="2256"/>
              </a:xfrm>
              <a:prstGeom prst="line">
                <a:avLst/>
              </a:prstGeom>
              <a:ln w="412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2309" name="Group 24"/>
            <p:cNvGrpSpPr/>
            <p:nvPr/>
          </p:nvGrpSpPr>
          <p:grpSpPr>
            <a:xfrm>
              <a:off x="930" y="2341"/>
              <a:ext cx="1319" cy="1584"/>
              <a:chOff x="2473" y="576"/>
              <a:chExt cx="1367" cy="1791"/>
            </a:xfrm>
          </p:grpSpPr>
          <p:sp>
            <p:nvSpPr>
              <p:cNvPr id="12310" name="Line 25"/>
              <p:cNvSpPr/>
              <p:nvPr/>
            </p:nvSpPr>
            <p:spPr>
              <a:xfrm>
                <a:off x="2473" y="576"/>
                <a:ext cx="0" cy="1791"/>
              </a:xfrm>
              <a:prstGeom prst="line">
                <a:avLst/>
              </a:prstGeom>
              <a:ln w="41275" cap="flat" cmpd="sng">
                <a:solidFill>
                  <a:srgbClr val="0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12311" name="Line 26"/>
              <p:cNvSpPr/>
              <p:nvPr/>
            </p:nvSpPr>
            <p:spPr>
              <a:xfrm>
                <a:off x="3840" y="576"/>
                <a:ext cx="0" cy="1791"/>
              </a:xfrm>
              <a:prstGeom prst="line">
                <a:avLst/>
              </a:prstGeom>
              <a:ln w="41275" cap="flat" cmpd="sng">
                <a:solidFill>
                  <a:srgbClr val="000000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110620" name="Object 28"/>
          <p:cNvGraphicFramePr>
            <a:graphicFrameLocks noChangeAspect="1"/>
          </p:cNvGraphicFramePr>
          <p:nvPr/>
        </p:nvGraphicFramePr>
        <p:xfrm>
          <a:off x="5651500" y="5059363"/>
          <a:ext cx="15779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80365" imgH="177800" progId="Equation.3">
                  <p:embed/>
                </p:oleObj>
              </mc:Choice>
              <mc:Fallback>
                <p:oleObj r:id="rId9" imgW="380365" imgH="177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651500" y="5059363"/>
                        <a:ext cx="1577975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3" name="Object 31"/>
          <p:cNvGraphicFramePr>
            <a:graphicFrameLocks noChangeAspect="1"/>
          </p:cNvGraphicFramePr>
          <p:nvPr/>
        </p:nvGraphicFramePr>
        <p:xfrm>
          <a:off x="900113" y="1916113"/>
          <a:ext cx="1944687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28700" imgH="495300" progId="Equation.3">
                  <p:embed/>
                </p:oleObj>
              </mc:Choice>
              <mc:Fallback>
                <p:oleObj r:id="rId11" imgW="1028700" imgH="4953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1916113"/>
                        <a:ext cx="1944687" cy="1017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4" name="Object 32"/>
          <p:cNvGraphicFramePr>
            <a:graphicFrameLocks noChangeAspect="1"/>
          </p:cNvGraphicFramePr>
          <p:nvPr/>
        </p:nvGraphicFramePr>
        <p:xfrm>
          <a:off x="5867400" y="2060575"/>
          <a:ext cx="19446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28700" imgH="495300" progId="Equation.3">
                  <p:embed/>
                </p:oleObj>
              </mc:Choice>
              <mc:Fallback>
                <p:oleObj r:id="rId11" imgW="1028700" imgH="4953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7400" y="2060575"/>
                        <a:ext cx="1944688" cy="101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31" name="Text Box 83"/>
          <p:cNvSpPr txBox="1"/>
          <p:nvPr/>
        </p:nvSpPr>
        <p:spPr>
          <a:xfrm>
            <a:off x="179388" y="471488"/>
            <a:ext cx="37131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楷体_GB2312" pitchFamily="49" charset="-122"/>
              </a:rPr>
              <a:t>、平行板电容器的场强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图片 1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l="7782" t="16187" r="77521" b="40662"/>
          <a:stretch>
            <a:fillRect/>
          </a:stretch>
        </p:blipFill>
        <p:spPr>
          <a:xfrm>
            <a:off x="565150" y="2710815"/>
            <a:ext cx="1855788" cy="3127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2770" name="组合 3"/>
          <p:cNvGrpSpPr/>
          <p:nvPr/>
        </p:nvGrpSpPr>
        <p:grpSpPr>
          <a:xfrm>
            <a:off x="381000" y="404178"/>
            <a:ext cx="8191500" cy="2307272"/>
            <a:chOff x="515" y="4558"/>
            <a:chExt cx="12900" cy="3634"/>
          </a:xfrm>
        </p:grpSpPr>
        <p:sp>
          <p:nvSpPr>
            <p:cNvPr id="32771" name="文本框 99"/>
            <p:cNvSpPr txBox="1"/>
            <p:nvPr>
              <p:custDataLst>
                <p:tags r:id="rId2"/>
              </p:custDataLst>
            </p:nvPr>
          </p:nvSpPr>
          <p:spPr>
            <a:xfrm>
              <a:off x="515" y="4558"/>
              <a:ext cx="12900" cy="36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400" b="1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讨论题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：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如图所示，一圆环带有均匀分布的正电荷。一个小的带正电粒子沿着环的中心轴线运动，当它通过环心时速度为</a:t>
              </a: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。不计粒子重力，定性分析粒子离开环心后的加速度如何变化？</a:t>
              </a:r>
            </a:p>
          </p:txBody>
        </p:sp>
        <p:graphicFrame>
          <p:nvGraphicFramePr>
            <p:cNvPr id="32772" name="Object 22"/>
            <p:cNvGraphicFramePr>
              <a:graphicFrameLocks noChangeAspect="1"/>
            </p:cNvGraphicFramePr>
            <p:nvPr>
              <p:custDataLst>
                <p:tags r:id="rId3"/>
              </p:custDataLst>
            </p:nvPr>
          </p:nvGraphicFramePr>
          <p:xfrm>
            <a:off x="12272" y="6490"/>
            <a:ext cx="602" cy="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65100" imgH="228600" progId="Equation.3">
                    <p:embed/>
                  </p:oleObj>
                </mc:Choice>
                <mc:Fallback>
                  <p:oleObj r:id="rId6" imgW="165100" imgH="228600" progId="Equation.3">
                    <p:embed/>
                    <p:pic>
                      <p:nvPicPr>
                        <p:cNvPr id="0" name="图片 3228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2272" y="6490"/>
                          <a:ext cx="602" cy="8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文本框 24"/>
          <p:cNvSpPr txBox="1"/>
          <p:nvPr>
            <p:custDataLst>
              <p:tags r:id="rId1"/>
            </p:custDataLst>
          </p:nvPr>
        </p:nvSpPr>
        <p:spPr>
          <a:xfrm>
            <a:off x="328613" y="425450"/>
            <a:ext cx="15986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讨论题</a:t>
            </a:r>
            <a:r>
              <a:rPr lang="zh-CN" altLang="zh-CN" sz="2400"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</a:p>
        </p:txBody>
      </p:sp>
      <p:pic>
        <p:nvPicPr>
          <p:cNvPr id="40962" name="图片 9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2000" y="3149600"/>
            <a:ext cx="2911475" cy="20716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63" name="组合 8"/>
          <p:cNvGrpSpPr/>
          <p:nvPr/>
        </p:nvGrpSpPr>
        <p:grpSpPr>
          <a:xfrm>
            <a:off x="439738" y="1103313"/>
            <a:ext cx="7948612" cy="1752600"/>
            <a:chOff x="693" y="2009"/>
            <a:chExt cx="12516" cy="2760"/>
          </a:xfrm>
        </p:grpSpPr>
        <p:sp>
          <p:nvSpPr>
            <p:cNvPr id="40964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693" y="2009"/>
              <a:ext cx="12516" cy="27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一均匀带电圆盘，半径为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，所带电荷面密度为</a:t>
              </a: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σ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，</a:t>
              </a:r>
              <a:r>
                <a:rPr lang="en-US" altLang="zh-CN" sz="2400" i="1">
                  <a:latin typeface="宋体" panose="02010600030101010101" pitchFamily="2" charset="-122"/>
                  <a:ea typeface="宋体" panose="02010600030101010101" pitchFamily="2" charset="-122"/>
                </a:rPr>
                <a:t>P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点为轴线上一点，点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离圆心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的距离为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。点</a:t>
              </a: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zh-CN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离圆盘很近和很远的电场强度</a:t>
              </a: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2400">
                  <a:latin typeface="Verdana" panose="020B0604030504040204" pitchFamily="34" charset="0"/>
                  <a:ea typeface="宋体" panose="02010600030101010101" pitchFamily="2" charset="-122"/>
                </a:rPr>
                <a:t>的大小各</a:t>
              </a:r>
              <a:r>
                <a:rPr lang="en-US" altLang="zh-CN" sz="2400">
                  <a:latin typeface="Verdana" panose="020B0604030504040204" pitchFamily="34" charset="0"/>
                  <a:ea typeface="宋体" panose="02010600030101010101" pitchFamily="2" charset="-122"/>
                </a:rPr>
                <a:t>趋近于</a:t>
              </a:r>
              <a:r>
                <a:rPr lang="zh-CN" altLang="en-US" sz="2400">
                  <a:latin typeface="Verdana" panose="020B0604030504040204" pitchFamily="34" charset="0"/>
                  <a:ea typeface="宋体" panose="02010600030101010101" pitchFamily="2" charset="-122"/>
                </a:rPr>
                <a:t>多少？</a:t>
              </a:r>
            </a:p>
          </p:txBody>
        </p:sp>
        <p:graphicFrame>
          <p:nvGraphicFramePr>
            <p:cNvPr id="40965" name="Object 66"/>
            <p:cNvGraphicFramePr>
              <a:graphicFrameLocks noChangeAspect="1"/>
            </p:cNvGraphicFramePr>
            <p:nvPr>
              <p:custDataLst>
                <p:tags r:id="rId4"/>
              </p:custDataLst>
            </p:nvPr>
          </p:nvGraphicFramePr>
          <p:xfrm>
            <a:off x="4690" y="4059"/>
            <a:ext cx="400" cy="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52400" imgH="190500" progId="Equation.3">
                    <p:embed/>
                  </p:oleObj>
                </mc:Choice>
                <mc:Fallback>
                  <p:oleObj r:id="rId7" imgW="152400" imgH="190500" progId="Equation.3">
                    <p:embed/>
                    <p:pic>
                      <p:nvPicPr>
                        <p:cNvPr id="0" name="图片 3297"/>
                        <p:cNvPicPr/>
                        <p:nvPr/>
                      </p:nvPicPr>
                      <p:blipFill>
                        <a:blip r:embed="rId8">
                          <a:lum bright="-85999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90" y="4059"/>
                          <a:ext cx="400" cy="600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文本框 124"/>
          <p:cNvSpPr txBox="1"/>
          <p:nvPr>
            <p:custDataLst>
              <p:tags r:id="rId1"/>
            </p:custDataLst>
          </p:nvPr>
        </p:nvSpPr>
        <p:spPr>
          <a:xfrm>
            <a:off x="467043" y="404178"/>
            <a:ext cx="8343900" cy="3322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课前测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：设有一“无限大”均匀带正电荷的平面。取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轴垂直带电平面，坐标原点在带电平面上，则其周围空间各点的电场强度随距离平面的位置坐标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变化的关系曲线为（规定场强方向沿</a:t>
            </a:r>
            <a:r>
              <a:rPr lang="en-US" altLang="zh-CN" sz="28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轴正向为正、反之为负）：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7171" name="组合 4848"/>
          <p:cNvGrpSpPr/>
          <p:nvPr/>
        </p:nvGrpSpPr>
        <p:grpSpPr>
          <a:xfrm>
            <a:off x="440690" y="3979545"/>
            <a:ext cx="8370570" cy="2287270"/>
            <a:chOff x="1102" y="4419"/>
            <a:chExt cx="8576" cy="1862"/>
          </a:xfrm>
        </p:grpSpPr>
        <p:grpSp>
          <p:nvGrpSpPr>
            <p:cNvPr id="7172" name="Group 738"/>
            <p:cNvGrpSpPr/>
            <p:nvPr/>
          </p:nvGrpSpPr>
          <p:grpSpPr>
            <a:xfrm>
              <a:off x="1102" y="4419"/>
              <a:ext cx="2033" cy="1765"/>
              <a:chOff x="3356" y="4446"/>
              <a:chExt cx="2033" cy="1765"/>
            </a:xfrm>
          </p:grpSpPr>
          <p:sp>
            <p:nvSpPr>
              <p:cNvPr id="7173" name="Rectangle 739"/>
              <p:cNvSpPr/>
              <p:nvPr>
                <p:custDataLst>
                  <p:tags r:id="rId98"/>
                </p:custDataLst>
              </p:nvPr>
            </p:nvSpPr>
            <p:spPr>
              <a:xfrm>
                <a:off x="3361" y="4477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4" name="Line 740"/>
              <p:cNvSpPr/>
              <p:nvPr>
                <p:custDataLst>
                  <p:tags r:id="rId99"/>
                </p:custDataLst>
              </p:nvPr>
            </p:nvSpPr>
            <p:spPr>
              <a:xfrm>
                <a:off x="4107" y="5495"/>
                <a:ext cx="689" cy="1"/>
              </a:xfrm>
              <a:prstGeom prst="line">
                <a:avLst/>
              </a:prstGeom>
              <a:ln w="1206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175" name="Group 741"/>
              <p:cNvGrpSpPr/>
              <p:nvPr/>
            </p:nvGrpSpPr>
            <p:grpSpPr>
              <a:xfrm>
                <a:off x="3774" y="5490"/>
                <a:ext cx="1363" cy="15"/>
                <a:chOff x="3774" y="5490"/>
                <a:chExt cx="1363" cy="15"/>
              </a:xfrm>
            </p:grpSpPr>
            <p:sp>
              <p:nvSpPr>
                <p:cNvPr id="7176" name="Freeform 742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3774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7" y="0"/>
                    </a:cxn>
                    <a:cxn ang="0">
                      <a:pos x="5" y="3"/>
                    </a:cxn>
                    <a:cxn ang="0">
                      <a:pos x="2" y="5"/>
                    </a:cxn>
                    <a:cxn ang="0">
                      <a:pos x="0" y="7"/>
                    </a:cxn>
                    <a:cxn ang="0">
                      <a:pos x="2" y="10"/>
                    </a:cxn>
                    <a:cxn ang="0">
                      <a:pos x="5" y="12"/>
                    </a:cxn>
                    <a:cxn ang="0">
                      <a:pos x="7" y="15"/>
                    </a:cxn>
                    <a:cxn ang="0">
                      <a:pos x="62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9" y="0"/>
                    </a:cxn>
                  </a:cxnLst>
                  <a:rect l="0" t="0" r="0" b="0"/>
                  <a:pathLst>
                    <a:path w="72" h="15">
                      <a:moveTo>
                        <a:pt x="9" y="0"/>
                      </a:moveTo>
                      <a:lnTo>
                        <a:pt x="7" y="0"/>
                      </a:lnTo>
                      <a:lnTo>
                        <a:pt x="5" y="3"/>
                      </a:lnTo>
                      <a:lnTo>
                        <a:pt x="2" y="5"/>
                      </a:lnTo>
                      <a:lnTo>
                        <a:pt x="0" y="7"/>
                      </a:lnTo>
                      <a:lnTo>
                        <a:pt x="2" y="10"/>
                      </a:lnTo>
                      <a:lnTo>
                        <a:pt x="5" y="12"/>
                      </a:lnTo>
                      <a:lnTo>
                        <a:pt x="7" y="15"/>
                      </a:lnTo>
                      <a:lnTo>
                        <a:pt x="62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7" name="Freeform 743"/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3875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4" y="15"/>
                    </a:cxn>
                    <a:cxn ang="0">
                      <a:pos x="62" y="15"/>
                    </a:cxn>
                    <a:cxn ang="0">
                      <a:pos x="64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4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4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62" y="15"/>
                      </a:lnTo>
                      <a:lnTo>
                        <a:pt x="64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4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8" name="Freeform 744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3975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63" y="15"/>
                    </a:cxn>
                    <a:cxn ang="0">
                      <a:pos x="65" y="15"/>
                    </a:cxn>
                    <a:cxn ang="0">
                      <a:pos x="68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8" y="3"/>
                    </a:cxn>
                    <a:cxn ang="0">
                      <a:pos x="65" y="0"/>
                    </a:cxn>
                    <a:cxn ang="0">
                      <a:pos x="8" y="0"/>
                    </a:cxn>
                  </a:cxnLst>
                  <a:rect l="0" t="0" r="0" b="0"/>
                  <a:pathLst>
                    <a:path w="72" h="15">
                      <a:moveTo>
                        <a:pt x="8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63" y="15"/>
                      </a:lnTo>
                      <a:lnTo>
                        <a:pt x="65" y="15"/>
                      </a:lnTo>
                      <a:lnTo>
                        <a:pt x="68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8" y="3"/>
                      </a:lnTo>
                      <a:lnTo>
                        <a:pt x="65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79" name="Freeform 745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4076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63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63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0" name="Freeform 746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4177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5" y="15"/>
                    </a:cxn>
                    <a:cxn ang="0">
                      <a:pos x="62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5" y="15"/>
                      </a:lnTo>
                      <a:lnTo>
                        <a:pt x="62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1" name="Freeform 747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4278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5" y="15"/>
                    </a:cxn>
                    <a:cxn ang="0">
                      <a:pos x="62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5" y="15"/>
                      </a:lnTo>
                      <a:lnTo>
                        <a:pt x="62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2" name="Freeform 748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4379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4" y="15"/>
                    </a:cxn>
                    <a:cxn ang="0">
                      <a:pos x="62" y="15"/>
                    </a:cxn>
                    <a:cxn ang="0">
                      <a:pos x="64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4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4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62" y="15"/>
                      </a:lnTo>
                      <a:lnTo>
                        <a:pt x="64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4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3" name="Freeform 749"/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4479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63" y="15"/>
                    </a:cxn>
                    <a:cxn ang="0">
                      <a:pos x="65" y="15"/>
                    </a:cxn>
                    <a:cxn ang="0">
                      <a:pos x="68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8" y="3"/>
                    </a:cxn>
                    <a:cxn ang="0">
                      <a:pos x="65" y="0"/>
                    </a:cxn>
                    <a:cxn ang="0">
                      <a:pos x="8" y="0"/>
                    </a:cxn>
                  </a:cxnLst>
                  <a:rect l="0" t="0" r="0" b="0"/>
                  <a:pathLst>
                    <a:path w="72" h="15">
                      <a:moveTo>
                        <a:pt x="8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63" y="15"/>
                      </a:lnTo>
                      <a:lnTo>
                        <a:pt x="65" y="15"/>
                      </a:lnTo>
                      <a:lnTo>
                        <a:pt x="68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8" y="3"/>
                      </a:lnTo>
                      <a:lnTo>
                        <a:pt x="65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4" name="Freeform 750"/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4580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63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63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5" name="Freeform 751"/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4681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5" y="15"/>
                    </a:cxn>
                    <a:cxn ang="0">
                      <a:pos x="62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5" y="15"/>
                      </a:lnTo>
                      <a:lnTo>
                        <a:pt x="62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6" name="Freeform 752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4782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5" y="15"/>
                    </a:cxn>
                    <a:cxn ang="0">
                      <a:pos x="62" y="15"/>
                    </a:cxn>
                    <a:cxn ang="0">
                      <a:pos x="65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5" y="15"/>
                      </a:lnTo>
                      <a:lnTo>
                        <a:pt x="62" y="15"/>
                      </a:lnTo>
                      <a:lnTo>
                        <a:pt x="65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7" name="Freeform 753"/>
                <p:cNvSpPr/>
                <p:nvPr>
                  <p:custDataLst>
                    <p:tags r:id="rId125"/>
                  </p:custDataLst>
                </p:nvPr>
              </p:nvSpPr>
              <p:spPr>
                <a:xfrm>
                  <a:off x="4883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" y="0"/>
                    </a:cxn>
                    <a:cxn ang="0">
                      <a:pos x="2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4" y="15"/>
                    </a:cxn>
                    <a:cxn ang="0">
                      <a:pos x="62" y="15"/>
                    </a:cxn>
                    <a:cxn ang="0">
                      <a:pos x="64" y="15"/>
                    </a:cxn>
                    <a:cxn ang="0">
                      <a:pos x="67" y="15"/>
                    </a:cxn>
                    <a:cxn ang="0">
                      <a:pos x="69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3"/>
                    </a:cxn>
                    <a:cxn ang="0">
                      <a:pos x="64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5">
                      <a:moveTo>
                        <a:pt x="7" y="0"/>
                      </a:moveTo>
                      <a:lnTo>
                        <a:pt x="4" y="0"/>
                      </a:lnTo>
                      <a:lnTo>
                        <a:pt x="2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4" y="15"/>
                      </a:lnTo>
                      <a:lnTo>
                        <a:pt x="62" y="15"/>
                      </a:lnTo>
                      <a:lnTo>
                        <a:pt x="64" y="15"/>
                      </a:lnTo>
                      <a:lnTo>
                        <a:pt x="67" y="15"/>
                      </a:lnTo>
                      <a:lnTo>
                        <a:pt x="69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3"/>
                      </a:lnTo>
                      <a:lnTo>
                        <a:pt x="64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8" name="Freeform 754"/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4983" y="5490"/>
                  <a:ext cx="72" cy="15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63" y="15"/>
                    </a:cxn>
                    <a:cxn ang="0">
                      <a:pos x="65" y="15"/>
                    </a:cxn>
                    <a:cxn ang="0">
                      <a:pos x="68" y="15"/>
                    </a:cxn>
                    <a:cxn ang="0">
                      <a:pos x="70" y="12"/>
                    </a:cxn>
                    <a:cxn ang="0">
                      <a:pos x="72" y="10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8" y="3"/>
                    </a:cxn>
                    <a:cxn ang="0">
                      <a:pos x="65" y="0"/>
                    </a:cxn>
                    <a:cxn ang="0">
                      <a:pos x="8" y="0"/>
                    </a:cxn>
                  </a:cxnLst>
                  <a:rect l="0" t="0" r="0" b="0"/>
                  <a:pathLst>
                    <a:path w="72" h="15">
                      <a:moveTo>
                        <a:pt x="8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63" y="15"/>
                      </a:lnTo>
                      <a:lnTo>
                        <a:pt x="65" y="15"/>
                      </a:lnTo>
                      <a:lnTo>
                        <a:pt x="68" y="15"/>
                      </a:lnTo>
                      <a:lnTo>
                        <a:pt x="70" y="12"/>
                      </a:lnTo>
                      <a:lnTo>
                        <a:pt x="72" y="10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8" y="3"/>
                      </a:lnTo>
                      <a:lnTo>
                        <a:pt x="65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89" name="Freeform 755"/>
                <p:cNvSpPr/>
                <p:nvPr>
                  <p:custDataLst>
                    <p:tags r:id="rId127"/>
                  </p:custDataLst>
                </p:nvPr>
              </p:nvSpPr>
              <p:spPr>
                <a:xfrm>
                  <a:off x="5084" y="5490"/>
                  <a:ext cx="53" cy="1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3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10"/>
                    </a:cxn>
                    <a:cxn ang="0">
                      <a:pos x="0" y="12"/>
                    </a:cxn>
                    <a:cxn ang="0">
                      <a:pos x="3" y="15"/>
                    </a:cxn>
                    <a:cxn ang="0">
                      <a:pos x="5" y="15"/>
                    </a:cxn>
                    <a:cxn ang="0">
                      <a:pos x="46" y="15"/>
                    </a:cxn>
                    <a:cxn ang="0">
                      <a:pos x="48" y="12"/>
                    </a:cxn>
                    <a:cxn ang="0">
                      <a:pos x="51" y="10"/>
                    </a:cxn>
                    <a:cxn ang="0">
                      <a:pos x="53" y="7"/>
                    </a:cxn>
                    <a:cxn ang="0">
                      <a:pos x="51" y="5"/>
                    </a:cxn>
                    <a:cxn ang="0">
                      <a:pos x="48" y="3"/>
                    </a:cxn>
                    <a:cxn ang="0">
                      <a:pos x="48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53" h="15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10"/>
                      </a:lnTo>
                      <a:lnTo>
                        <a:pt x="0" y="12"/>
                      </a:lnTo>
                      <a:lnTo>
                        <a:pt x="3" y="15"/>
                      </a:lnTo>
                      <a:lnTo>
                        <a:pt x="5" y="15"/>
                      </a:lnTo>
                      <a:lnTo>
                        <a:pt x="46" y="15"/>
                      </a:lnTo>
                      <a:lnTo>
                        <a:pt x="48" y="12"/>
                      </a:lnTo>
                      <a:lnTo>
                        <a:pt x="51" y="10"/>
                      </a:lnTo>
                      <a:lnTo>
                        <a:pt x="53" y="7"/>
                      </a:lnTo>
                      <a:lnTo>
                        <a:pt x="51" y="5"/>
                      </a:lnTo>
                      <a:lnTo>
                        <a:pt x="48" y="3"/>
                      </a:lnTo>
                      <a:lnTo>
                        <a:pt x="48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90" name="Group 756"/>
              <p:cNvGrpSpPr/>
              <p:nvPr/>
            </p:nvGrpSpPr>
            <p:grpSpPr>
              <a:xfrm>
                <a:off x="3716" y="5145"/>
                <a:ext cx="1531" cy="103"/>
                <a:chOff x="3716" y="5145"/>
                <a:chExt cx="1531" cy="103"/>
              </a:xfrm>
            </p:grpSpPr>
            <p:sp>
              <p:nvSpPr>
                <p:cNvPr id="7191" name="Line 757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3716" y="5195"/>
                  <a:ext cx="1531" cy="1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192" name="Freeform 758"/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5091" y="5145"/>
                  <a:ext cx="156" cy="103"/>
                </a:xfrm>
                <a:custGeom>
                  <a:avLst/>
                  <a:gdLst/>
                  <a:ahLst/>
                  <a:cxnLst>
                    <a:cxn ang="0">
                      <a:pos x="0" y="103"/>
                    </a:cxn>
                    <a:cxn ang="0">
                      <a:pos x="156" y="52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56" h="103">
                      <a:moveTo>
                        <a:pt x="0" y="103"/>
                      </a:moveTo>
                      <a:lnTo>
                        <a:pt x="156" y="5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93" name="Group 759"/>
              <p:cNvGrpSpPr/>
              <p:nvPr/>
            </p:nvGrpSpPr>
            <p:grpSpPr>
              <a:xfrm>
                <a:off x="4386" y="4535"/>
                <a:ext cx="103" cy="1320"/>
                <a:chOff x="4386" y="4535"/>
                <a:chExt cx="103" cy="1320"/>
              </a:xfrm>
            </p:grpSpPr>
            <p:sp>
              <p:nvSpPr>
                <p:cNvPr id="7194" name="Line 760"/>
                <p:cNvSpPr/>
                <p:nvPr>
                  <p:custDataLst>
                    <p:tags r:id="rId110"/>
                  </p:custDataLst>
                </p:nvPr>
              </p:nvSpPr>
              <p:spPr>
                <a:xfrm flipV="1">
                  <a:off x="4436" y="4535"/>
                  <a:ext cx="1" cy="1320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195" name="Freeform 761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4386" y="4535"/>
                  <a:ext cx="103" cy="158"/>
                </a:xfrm>
                <a:custGeom>
                  <a:avLst/>
                  <a:gdLst/>
                  <a:ahLst/>
                  <a:cxnLst>
                    <a:cxn ang="0">
                      <a:pos x="103" y="158"/>
                    </a:cxn>
                    <a:cxn ang="0">
                      <a:pos x="50" y="0"/>
                    </a:cxn>
                    <a:cxn ang="0">
                      <a:pos x="0" y="158"/>
                    </a:cxn>
                  </a:cxnLst>
                  <a:rect l="0" t="0" r="0" b="0"/>
                  <a:pathLst>
                    <a:path w="103" h="158">
                      <a:moveTo>
                        <a:pt x="103" y="158"/>
                      </a:moveTo>
                      <a:lnTo>
                        <a:pt x="50" y="0"/>
                      </a:lnTo>
                      <a:lnTo>
                        <a:pt x="0" y="158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196" name="Rectangle 76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4110" y="5099"/>
                <a:ext cx="662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7" name="Rectangle 763"/>
              <p:cNvSpPr/>
              <p:nvPr>
                <p:custDataLst>
                  <p:tags r:id="rId101"/>
                </p:custDataLst>
              </p:nvPr>
            </p:nvSpPr>
            <p:spPr>
              <a:xfrm>
                <a:off x="4254" y="5212"/>
                <a:ext cx="2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O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8" name="Rectangle 764"/>
              <p:cNvSpPr/>
              <p:nvPr>
                <p:custDataLst>
                  <p:tags r:id="rId102"/>
                </p:custDataLst>
              </p:nvPr>
            </p:nvSpPr>
            <p:spPr>
              <a:xfrm>
                <a:off x="4407" y="5212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9" name="Rectangle 765"/>
              <p:cNvSpPr/>
              <p:nvPr>
                <p:custDataLst>
                  <p:tags r:id="rId103"/>
                </p:custDataLst>
              </p:nvPr>
            </p:nvSpPr>
            <p:spPr>
              <a:xfrm>
                <a:off x="5151" y="5217"/>
                <a:ext cx="18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0" name="Rectangle 76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5245" y="5217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1" name="Rectangle 767"/>
              <p:cNvSpPr/>
              <p:nvPr>
                <p:custDataLst>
                  <p:tags r:id="rId105"/>
                </p:custDataLst>
              </p:nvPr>
            </p:nvSpPr>
            <p:spPr>
              <a:xfrm>
                <a:off x="4047" y="4446"/>
                <a:ext cx="572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2" name="Rectangle 768"/>
              <p:cNvSpPr/>
              <p:nvPr>
                <p:custDataLst>
                  <p:tags r:id="rId106"/>
                </p:custDataLst>
              </p:nvPr>
            </p:nvSpPr>
            <p:spPr>
              <a:xfrm>
                <a:off x="4191" y="4557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3" name="Rectangle 769"/>
              <p:cNvSpPr/>
              <p:nvPr>
                <p:custDataLst>
                  <p:tags r:id="rId107"/>
                </p:custDataLst>
              </p:nvPr>
            </p:nvSpPr>
            <p:spPr>
              <a:xfrm>
                <a:off x="4321" y="4557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4" name="Rectangle 770"/>
              <p:cNvSpPr/>
              <p:nvPr>
                <p:custDataLst>
                  <p:tags r:id="rId108"/>
                </p:custDataLst>
              </p:nvPr>
            </p:nvSpPr>
            <p:spPr>
              <a:xfrm>
                <a:off x="3356" y="4595"/>
                <a:ext cx="634" cy="4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5" name="Rectangle 771"/>
              <p:cNvSpPr/>
              <p:nvPr>
                <p:custDataLst>
                  <p:tags r:id="rId109"/>
                </p:custDataLst>
              </p:nvPr>
            </p:nvSpPr>
            <p:spPr>
              <a:xfrm>
                <a:off x="4193" y="5909"/>
                <a:ext cx="488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(A)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206" name="Group 773"/>
            <p:cNvGrpSpPr/>
            <p:nvPr/>
          </p:nvGrpSpPr>
          <p:grpSpPr>
            <a:xfrm>
              <a:off x="5242" y="4468"/>
              <a:ext cx="1980" cy="1749"/>
              <a:chOff x="3361" y="5939"/>
              <a:chExt cx="1980" cy="1749"/>
            </a:xfrm>
          </p:grpSpPr>
          <p:grpSp>
            <p:nvGrpSpPr>
              <p:cNvPr id="7207" name="Group 774"/>
              <p:cNvGrpSpPr/>
              <p:nvPr/>
            </p:nvGrpSpPr>
            <p:grpSpPr>
              <a:xfrm>
                <a:off x="3721" y="6637"/>
                <a:ext cx="1531" cy="104"/>
                <a:chOff x="3721" y="6637"/>
                <a:chExt cx="1531" cy="104"/>
              </a:xfrm>
            </p:grpSpPr>
            <p:sp>
              <p:nvSpPr>
                <p:cNvPr id="7208" name="Line 775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3721" y="6688"/>
                  <a:ext cx="1529" cy="1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09" name="Freeform 776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5094" y="6637"/>
                  <a:ext cx="158" cy="104"/>
                </a:xfrm>
                <a:custGeom>
                  <a:avLst/>
                  <a:gdLst/>
                  <a:ahLst/>
                  <a:cxnLst>
                    <a:cxn ang="0">
                      <a:pos x="0" y="104"/>
                    </a:cxn>
                    <a:cxn ang="0">
                      <a:pos x="158" y="53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58" h="104">
                      <a:moveTo>
                        <a:pt x="0" y="104"/>
                      </a:moveTo>
                      <a:lnTo>
                        <a:pt x="158" y="5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10" name="Group 777"/>
              <p:cNvGrpSpPr/>
              <p:nvPr/>
            </p:nvGrpSpPr>
            <p:grpSpPr>
              <a:xfrm>
                <a:off x="4391" y="6028"/>
                <a:ext cx="103" cy="1320"/>
                <a:chOff x="4391" y="6028"/>
                <a:chExt cx="103" cy="1320"/>
              </a:xfrm>
            </p:grpSpPr>
            <p:sp>
              <p:nvSpPr>
                <p:cNvPr id="7211" name="Line 778"/>
                <p:cNvSpPr/>
                <p:nvPr>
                  <p:custDataLst>
                    <p:tags r:id="rId94"/>
                  </p:custDataLst>
                </p:nvPr>
              </p:nvSpPr>
              <p:spPr>
                <a:xfrm flipV="1">
                  <a:off x="4441" y="6028"/>
                  <a:ext cx="1" cy="1320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12" name="Freeform 779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4391" y="6028"/>
                  <a:ext cx="103" cy="158"/>
                </a:xfrm>
                <a:custGeom>
                  <a:avLst/>
                  <a:gdLst/>
                  <a:ahLst/>
                  <a:cxnLst>
                    <a:cxn ang="0">
                      <a:pos x="103" y="158"/>
                    </a:cxn>
                    <a:cxn ang="0">
                      <a:pos x="50" y="0"/>
                    </a:cxn>
                    <a:cxn ang="0">
                      <a:pos x="0" y="158"/>
                    </a:cxn>
                  </a:cxnLst>
                  <a:rect l="0" t="0" r="0" b="0"/>
                  <a:pathLst>
                    <a:path w="103" h="158">
                      <a:moveTo>
                        <a:pt x="103" y="158"/>
                      </a:moveTo>
                      <a:lnTo>
                        <a:pt x="50" y="0"/>
                      </a:lnTo>
                      <a:lnTo>
                        <a:pt x="0" y="158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13" name="Rectangle 780"/>
              <p:cNvSpPr/>
              <p:nvPr>
                <p:custDataLst>
                  <p:tags r:id="rId72"/>
                </p:custDataLst>
              </p:nvPr>
            </p:nvSpPr>
            <p:spPr>
              <a:xfrm>
                <a:off x="4112" y="6570"/>
                <a:ext cx="663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4" name="Rectangle 781"/>
              <p:cNvSpPr/>
              <p:nvPr>
                <p:custDataLst>
                  <p:tags r:id="rId73"/>
                </p:custDataLst>
              </p:nvPr>
            </p:nvSpPr>
            <p:spPr>
              <a:xfrm>
                <a:off x="4254" y="6681"/>
                <a:ext cx="2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O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5" name="Rectangle 782"/>
              <p:cNvSpPr/>
              <p:nvPr>
                <p:custDataLst>
                  <p:tags r:id="rId74"/>
                </p:custDataLst>
              </p:nvPr>
            </p:nvSpPr>
            <p:spPr>
              <a:xfrm>
                <a:off x="4407" y="6681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6" name="Rectangle 783"/>
              <p:cNvSpPr/>
              <p:nvPr>
                <p:custDataLst>
                  <p:tags r:id="rId75"/>
                </p:custDataLst>
              </p:nvPr>
            </p:nvSpPr>
            <p:spPr>
              <a:xfrm>
                <a:off x="5154" y="6712"/>
                <a:ext cx="18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7" name="Rectangle 784"/>
              <p:cNvSpPr/>
              <p:nvPr>
                <p:custDataLst>
                  <p:tags r:id="rId76"/>
                </p:custDataLst>
              </p:nvPr>
            </p:nvSpPr>
            <p:spPr>
              <a:xfrm>
                <a:off x="4052" y="5939"/>
                <a:ext cx="571" cy="4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8" name="Rectangle 785"/>
              <p:cNvSpPr/>
              <p:nvPr>
                <p:custDataLst>
                  <p:tags r:id="rId77"/>
                </p:custDataLst>
              </p:nvPr>
            </p:nvSpPr>
            <p:spPr>
              <a:xfrm>
                <a:off x="4194" y="6052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9" name="Rectangle 786"/>
              <p:cNvSpPr/>
              <p:nvPr>
                <p:custDataLst>
                  <p:tags r:id="rId78"/>
                </p:custDataLst>
              </p:nvPr>
            </p:nvSpPr>
            <p:spPr>
              <a:xfrm>
                <a:off x="4323" y="6052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0" name="Rectangle 787"/>
              <p:cNvSpPr/>
              <p:nvPr>
                <p:custDataLst>
                  <p:tags r:id="rId79"/>
                </p:custDataLst>
              </p:nvPr>
            </p:nvSpPr>
            <p:spPr>
              <a:xfrm>
                <a:off x="3361" y="6090"/>
                <a:ext cx="634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1" name="Rectangle 788"/>
              <p:cNvSpPr/>
              <p:nvPr>
                <p:custDataLst>
                  <p:tags r:id="rId80"/>
                </p:custDataLst>
              </p:nvPr>
            </p:nvSpPr>
            <p:spPr>
              <a:xfrm>
                <a:off x="4218" y="7386"/>
                <a:ext cx="5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(C)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22" name="Group 790"/>
              <p:cNvGrpSpPr/>
              <p:nvPr/>
            </p:nvGrpSpPr>
            <p:grpSpPr>
              <a:xfrm>
                <a:off x="3954" y="7041"/>
                <a:ext cx="475" cy="14"/>
                <a:chOff x="3954" y="7041"/>
                <a:chExt cx="475" cy="14"/>
              </a:xfrm>
            </p:grpSpPr>
            <p:sp>
              <p:nvSpPr>
                <p:cNvPr id="7223" name="Freeform 791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3954" y="7041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7" y="0"/>
                    </a:cxn>
                    <a:cxn ang="0">
                      <a:pos x="5" y="2"/>
                    </a:cxn>
                    <a:cxn ang="0">
                      <a:pos x="2" y="4"/>
                    </a:cxn>
                    <a:cxn ang="0">
                      <a:pos x="0" y="7"/>
                    </a:cxn>
                    <a:cxn ang="0">
                      <a:pos x="2" y="9"/>
                    </a:cxn>
                    <a:cxn ang="0">
                      <a:pos x="5" y="12"/>
                    </a:cxn>
                    <a:cxn ang="0">
                      <a:pos x="7" y="14"/>
                    </a:cxn>
                    <a:cxn ang="0">
                      <a:pos x="62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69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69" y="4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9" y="0"/>
                    </a:cxn>
                  </a:cxnLst>
                  <a:rect l="0" t="0" r="0" b="0"/>
                  <a:pathLst>
                    <a:path w="72" h="14">
                      <a:moveTo>
                        <a:pt x="9" y="0"/>
                      </a:moveTo>
                      <a:lnTo>
                        <a:pt x="7" y="0"/>
                      </a:lnTo>
                      <a:lnTo>
                        <a:pt x="5" y="2"/>
                      </a:lnTo>
                      <a:lnTo>
                        <a:pt x="2" y="4"/>
                      </a:lnTo>
                      <a:lnTo>
                        <a:pt x="0" y="7"/>
                      </a:lnTo>
                      <a:lnTo>
                        <a:pt x="2" y="9"/>
                      </a:lnTo>
                      <a:lnTo>
                        <a:pt x="5" y="12"/>
                      </a:lnTo>
                      <a:lnTo>
                        <a:pt x="7" y="14"/>
                      </a:lnTo>
                      <a:lnTo>
                        <a:pt x="62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69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69" y="4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4" name="Freeform 792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4055" y="7041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" y="0"/>
                    </a:cxn>
                    <a:cxn ang="0">
                      <a:pos x="2" y="2"/>
                    </a:cxn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4"/>
                    </a:cxn>
                    <a:cxn ang="0">
                      <a:pos x="62" y="14"/>
                    </a:cxn>
                    <a:cxn ang="0">
                      <a:pos x="64" y="14"/>
                    </a:cxn>
                    <a:cxn ang="0">
                      <a:pos x="67" y="14"/>
                    </a:cxn>
                    <a:cxn ang="0">
                      <a:pos x="69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69" y="4"/>
                    </a:cxn>
                    <a:cxn ang="0">
                      <a:pos x="67" y="2"/>
                    </a:cxn>
                    <a:cxn ang="0">
                      <a:pos x="64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4"/>
                      </a:lnTo>
                      <a:lnTo>
                        <a:pt x="62" y="14"/>
                      </a:lnTo>
                      <a:lnTo>
                        <a:pt x="64" y="14"/>
                      </a:lnTo>
                      <a:lnTo>
                        <a:pt x="67" y="14"/>
                      </a:lnTo>
                      <a:lnTo>
                        <a:pt x="69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69" y="4"/>
                      </a:lnTo>
                      <a:lnTo>
                        <a:pt x="67" y="2"/>
                      </a:lnTo>
                      <a:lnTo>
                        <a:pt x="64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5" name="Freeform 793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4155" y="7041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5" y="0"/>
                    </a:cxn>
                    <a:cxn ang="0">
                      <a:pos x="3" y="2"/>
                    </a:cxn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3" y="14"/>
                    </a:cxn>
                    <a:cxn ang="0">
                      <a:pos x="5" y="14"/>
                    </a:cxn>
                    <a:cxn ang="0">
                      <a:pos x="63" y="14"/>
                    </a:cxn>
                    <a:cxn ang="0">
                      <a:pos x="65" y="14"/>
                    </a:cxn>
                    <a:cxn ang="0">
                      <a:pos x="68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4"/>
                    </a:cxn>
                    <a:cxn ang="0">
                      <a:pos x="68" y="2"/>
                    </a:cxn>
                    <a:cxn ang="0">
                      <a:pos x="65" y="0"/>
                    </a:cxn>
                    <a:cxn ang="0">
                      <a:pos x="8" y="0"/>
                    </a:cxn>
                  </a:cxnLst>
                  <a:rect l="0" t="0" r="0" b="0"/>
                  <a:pathLst>
                    <a:path w="72" h="14">
                      <a:moveTo>
                        <a:pt x="8" y="0"/>
                      </a:move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3" y="14"/>
                      </a:lnTo>
                      <a:lnTo>
                        <a:pt x="5" y="14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68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4"/>
                      </a:lnTo>
                      <a:lnTo>
                        <a:pt x="68" y="2"/>
                      </a:lnTo>
                      <a:lnTo>
                        <a:pt x="65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6" name="Freeform 794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4256" y="7041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2"/>
                    </a:cxn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3" y="14"/>
                    </a:cxn>
                    <a:cxn ang="0">
                      <a:pos x="5" y="14"/>
                    </a:cxn>
                    <a:cxn ang="0">
                      <a:pos x="63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4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3" y="14"/>
                      </a:lnTo>
                      <a:lnTo>
                        <a:pt x="5" y="14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4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27" name="Freeform 795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4357" y="7041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2"/>
                    </a:cxn>
                    <a:cxn ang="0">
                      <a:pos x="0" y="4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5" y="14"/>
                    </a:cxn>
                    <a:cxn ang="0">
                      <a:pos x="62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4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5" y="14"/>
                      </a:lnTo>
                      <a:lnTo>
                        <a:pt x="62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4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28" name="Line 796"/>
              <p:cNvSpPr/>
              <p:nvPr>
                <p:custDataLst>
                  <p:tags r:id="rId81"/>
                </p:custDataLst>
              </p:nvPr>
            </p:nvSpPr>
            <p:spPr>
              <a:xfrm flipV="1">
                <a:off x="4179" y="7038"/>
                <a:ext cx="262" cy="10"/>
              </a:xfrm>
              <a:prstGeom prst="line">
                <a:avLst/>
              </a:prstGeom>
              <a:ln w="1206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7229" name="Group 797"/>
              <p:cNvGrpSpPr/>
              <p:nvPr/>
            </p:nvGrpSpPr>
            <p:grpSpPr>
              <a:xfrm>
                <a:off x="4463" y="6292"/>
                <a:ext cx="525" cy="14"/>
                <a:chOff x="4463" y="6292"/>
                <a:chExt cx="525" cy="14"/>
              </a:xfrm>
            </p:grpSpPr>
            <p:sp>
              <p:nvSpPr>
                <p:cNvPr id="7230" name="Freeform 798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4463" y="6292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7" y="0"/>
                    </a:cxn>
                    <a:cxn ang="0">
                      <a:pos x="4" y="2"/>
                    </a:cxn>
                    <a:cxn ang="0">
                      <a:pos x="2" y="5"/>
                    </a:cxn>
                    <a:cxn ang="0">
                      <a:pos x="0" y="7"/>
                    </a:cxn>
                    <a:cxn ang="0">
                      <a:pos x="2" y="9"/>
                    </a:cxn>
                    <a:cxn ang="0">
                      <a:pos x="4" y="12"/>
                    </a:cxn>
                    <a:cxn ang="0">
                      <a:pos x="7" y="14"/>
                    </a:cxn>
                    <a:cxn ang="0">
                      <a:pos x="62" y="14"/>
                    </a:cxn>
                    <a:cxn ang="0">
                      <a:pos x="64" y="14"/>
                    </a:cxn>
                    <a:cxn ang="0">
                      <a:pos x="67" y="14"/>
                    </a:cxn>
                    <a:cxn ang="0">
                      <a:pos x="69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2"/>
                    </a:cxn>
                    <a:cxn ang="0">
                      <a:pos x="64" y="0"/>
                    </a:cxn>
                    <a:cxn ang="0">
                      <a:pos x="9" y="0"/>
                    </a:cxn>
                  </a:cxnLst>
                  <a:rect l="0" t="0" r="0" b="0"/>
                  <a:pathLst>
                    <a:path w="72" h="14">
                      <a:moveTo>
                        <a:pt x="9" y="0"/>
                      </a:moveTo>
                      <a:lnTo>
                        <a:pt x="7" y="0"/>
                      </a:lnTo>
                      <a:lnTo>
                        <a:pt x="4" y="2"/>
                      </a:lnTo>
                      <a:lnTo>
                        <a:pt x="2" y="5"/>
                      </a:lnTo>
                      <a:lnTo>
                        <a:pt x="0" y="7"/>
                      </a:lnTo>
                      <a:lnTo>
                        <a:pt x="2" y="9"/>
                      </a:lnTo>
                      <a:lnTo>
                        <a:pt x="4" y="12"/>
                      </a:lnTo>
                      <a:lnTo>
                        <a:pt x="7" y="14"/>
                      </a:lnTo>
                      <a:lnTo>
                        <a:pt x="62" y="14"/>
                      </a:lnTo>
                      <a:lnTo>
                        <a:pt x="64" y="14"/>
                      </a:lnTo>
                      <a:lnTo>
                        <a:pt x="67" y="14"/>
                      </a:lnTo>
                      <a:lnTo>
                        <a:pt x="69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2"/>
                      </a:lnTo>
                      <a:lnTo>
                        <a:pt x="64" y="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1" name="Freeform 799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4563" y="6292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5" y="0"/>
                    </a:cxn>
                    <a:cxn ang="0">
                      <a:pos x="3" y="2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3" y="14"/>
                    </a:cxn>
                    <a:cxn ang="0">
                      <a:pos x="5" y="14"/>
                    </a:cxn>
                    <a:cxn ang="0">
                      <a:pos x="63" y="14"/>
                    </a:cxn>
                    <a:cxn ang="0">
                      <a:pos x="65" y="14"/>
                    </a:cxn>
                    <a:cxn ang="0">
                      <a:pos x="68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8" y="2"/>
                    </a:cxn>
                    <a:cxn ang="0">
                      <a:pos x="65" y="0"/>
                    </a:cxn>
                    <a:cxn ang="0">
                      <a:pos x="8" y="0"/>
                    </a:cxn>
                  </a:cxnLst>
                  <a:rect l="0" t="0" r="0" b="0"/>
                  <a:pathLst>
                    <a:path w="72" h="14">
                      <a:moveTo>
                        <a:pt x="8" y="0"/>
                      </a:move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3" y="14"/>
                      </a:lnTo>
                      <a:lnTo>
                        <a:pt x="5" y="14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68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8" y="2"/>
                      </a:lnTo>
                      <a:lnTo>
                        <a:pt x="65" y="0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2" name="Freeform 800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4664" y="6292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3" y="2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3" y="14"/>
                    </a:cxn>
                    <a:cxn ang="0">
                      <a:pos x="5" y="14"/>
                    </a:cxn>
                    <a:cxn ang="0">
                      <a:pos x="63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3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3" y="14"/>
                      </a:lnTo>
                      <a:lnTo>
                        <a:pt x="5" y="14"/>
                      </a:lnTo>
                      <a:lnTo>
                        <a:pt x="63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3" name="Freeform 801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4765" y="6292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2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5" y="14"/>
                    </a:cxn>
                    <a:cxn ang="0">
                      <a:pos x="62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70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70" y="5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5" y="14"/>
                      </a:lnTo>
                      <a:lnTo>
                        <a:pt x="62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70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70" y="5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4" name="Freeform 802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4866" y="6292"/>
                  <a:ext cx="72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5" y="0"/>
                    </a:cxn>
                    <a:cxn ang="0">
                      <a:pos x="2" y="2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5" y="14"/>
                    </a:cxn>
                    <a:cxn ang="0">
                      <a:pos x="62" y="14"/>
                    </a:cxn>
                    <a:cxn ang="0">
                      <a:pos x="65" y="14"/>
                    </a:cxn>
                    <a:cxn ang="0">
                      <a:pos x="67" y="14"/>
                    </a:cxn>
                    <a:cxn ang="0">
                      <a:pos x="69" y="12"/>
                    </a:cxn>
                    <a:cxn ang="0">
                      <a:pos x="72" y="9"/>
                    </a:cxn>
                    <a:cxn ang="0">
                      <a:pos x="72" y="7"/>
                    </a:cxn>
                    <a:cxn ang="0">
                      <a:pos x="69" y="5"/>
                    </a:cxn>
                    <a:cxn ang="0">
                      <a:pos x="67" y="2"/>
                    </a:cxn>
                    <a:cxn ang="0">
                      <a:pos x="65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72" h="14">
                      <a:moveTo>
                        <a:pt x="7" y="0"/>
                      </a:move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5" y="14"/>
                      </a:lnTo>
                      <a:lnTo>
                        <a:pt x="62" y="14"/>
                      </a:lnTo>
                      <a:lnTo>
                        <a:pt x="65" y="14"/>
                      </a:lnTo>
                      <a:lnTo>
                        <a:pt x="67" y="14"/>
                      </a:lnTo>
                      <a:lnTo>
                        <a:pt x="69" y="12"/>
                      </a:lnTo>
                      <a:lnTo>
                        <a:pt x="72" y="9"/>
                      </a:lnTo>
                      <a:lnTo>
                        <a:pt x="72" y="7"/>
                      </a:lnTo>
                      <a:lnTo>
                        <a:pt x="69" y="5"/>
                      </a:lnTo>
                      <a:lnTo>
                        <a:pt x="67" y="2"/>
                      </a:lnTo>
                      <a:lnTo>
                        <a:pt x="65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35" name="Freeform 803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4967" y="6292"/>
                  <a:ext cx="21" cy="14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4" y="0"/>
                    </a:cxn>
                    <a:cxn ang="0">
                      <a:pos x="2" y="2"/>
                    </a:cxn>
                    <a:cxn ang="0">
                      <a:pos x="0" y="5"/>
                    </a:cxn>
                    <a:cxn ang="0">
                      <a:pos x="0" y="7"/>
                    </a:cxn>
                    <a:cxn ang="0">
                      <a:pos x="0" y="9"/>
                    </a:cxn>
                    <a:cxn ang="0">
                      <a:pos x="0" y="12"/>
                    </a:cxn>
                    <a:cxn ang="0">
                      <a:pos x="2" y="14"/>
                    </a:cxn>
                    <a:cxn ang="0">
                      <a:pos x="4" y="14"/>
                    </a:cxn>
                    <a:cxn ang="0">
                      <a:pos x="14" y="14"/>
                    </a:cxn>
                    <a:cxn ang="0">
                      <a:pos x="16" y="12"/>
                    </a:cxn>
                    <a:cxn ang="0">
                      <a:pos x="19" y="9"/>
                    </a:cxn>
                    <a:cxn ang="0">
                      <a:pos x="21" y="7"/>
                    </a:cxn>
                    <a:cxn ang="0">
                      <a:pos x="19" y="5"/>
                    </a:cxn>
                    <a:cxn ang="0">
                      <a:pos x="16" y="2"/>
                    </a:cxn>
                    <a:cxn ang="0">
                      <a:pos x="16" y="0"/>
                    </a:cxn>
                    <a:cxn ang="0">
                      <a:pos x="7" y="0"/>
                    </a:cxn>
                  </a:cxnLst>
                  <a:rect l="0" t="0" r="0" b="0"/>
                  <a:pathLst>
                    <a:path w="21" h="14">
                      <a:moveTo>
                        <a:pt x="7" y="0"/>
                      </a:moveTo>
                      <a:lnTo>
                        <a:pt x="4" y="0"/>
                      </a:lnTo>
                      <a:lnTo>
                        <a:pt x="2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lnTo>
                        <a:pt x="0" y="9"/>
                      </a:lnTo>
                      <a:lnTo>
                        <a:pt x="0" y="12"/>
                      </a:lnTo>
                      <a:lnTo>
                        <a:pt x="2" y="14"/>
                      </a:lnTo>
                      <a:lnTo>
                        <a:pt x="4" y="14"/>
                      </a:lnTo>
                      <a:lnTo>
                        <a:pt x="14" y="14"/>
                      </a:lnTo>
                      <a:lnTo>
                        <a:pt x="16" y="12"/>
                      </a:lnTo>
                      <a:lnTo>
                        <a:pt x="19" y="9"/>
                      </a:lnTo>
                      <a:lnTo>
                        <a:pt x="21" y="7"/>
                      </a:lnTo>
                      <a:lnTo>
                        <a:pt x="19" y="5"/>
                      </a:lnTo>
                      <a:lnTo>
                        <a:pt x="16" y="2"/>
                      </a:lnTo>
                      <a:lnTo>
                        <a:pt x="16" y="0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36" name="Line 804"/>
              <p:cNvSpPr/>
              <p:nvPr>
                <p:custDataLst>
                  <p:tags r:id="rId82"/>
                </p:custDataLst>
              </p:nvPr>
            </p:nvSpPr>
            <p:spPr>
              <a:xfrm>
                <a:off x="4441" y="6299"/>
                <a:ext cx="269" cy="1"/>
              </a:xfrm>
              <a:prstGeom prst="line">
                <a:avLst/>
              </a:prstGeom>
              <a:ln w="1206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237" name="Group 805"/>
            <p:cNvGrpSpPr/>
            <p:nvPr/>
          </p:nvGrpSpPr>
          <p:grpSpPr>
            <a:xfrm>
              <a:off x="7798" y="4659"/>
              <a:ext cx="1880" cy="1622"/>
              <a:chOff x="5540" y="6009"/>
              <a:chExt cx="1880" cy="1622"/>
            </a:xfrm>
          </p:grpSpPr>
          <p:grpSp>
            <p:nvGrpSpPr>
              <p:cNvPr id="7238" name="Group 806"/>
              <p:cNvGrpSpPr/>
              <p:nvPr/>
            </p:nvGrpSpPr>
            <p:grpSpPr>
              <a:xfrm>
                <a:off x="5540" y="6618"/>
                <a:ext cx="1531" cy="103"/>
                <a:chOff x="5540" y="6618"/>
                <a:chExt cx="1531" cy="103"/>
              </a:xfrm>
            </p:grpSpPr>
            <p:sp>
              <p:nvSpPr>
                <p:cNvPr id="7239" name="Line 807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5540" y="6669"/>
                  <a:ext cx="1531" cy="1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40" name="Freeform 808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6915" y="6618"/>
                  <a:ext cx="156" cy="103"/>
                </a:xfrm>
                <a:custGeom>
                  <a:avLst/>
                  <a:gdLst/>
                  <a:ahLst/>
                  <a:cxnLst>
                    <a:cxn ang="0">
                      <a:pos x="0" y="103"/>
                    </a:cxn>
                    <a:cxn ang="0">
                      <a:pos x="156" y="53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56" h="103">
                      <a:moveTo>
                        <a:pt x="0" y="103"/>
                      </a:moveTo>
                      <a:lnTo>
                        <a:pt x="156" y="5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41" name="Group 809"/>
              <p:cNvGrpSpPr/>
              <p:nvPr/>
            </p:nvGrpSpPr>
            <p:grpSpPr>
              <a:xfrm>
                <a:off x="6210" y="6009"/>
                <a:ext cx="103" cy="1320"/>
                <a:chOff x="6210" y="6009"/>
                <a:chExt cx="103" cy="1320"/>
              </a:xfrm>
            </p:grpSpPr>
            <p:sp>
              <p:nvSpPr>
                <p:cNvPr id="7242" name="Line 810"/>
                <p:cNvSpPr/>
                <p:nvPr>
                  <p:custDataLst>
                    <p:tags r:id="rId68"/>
                  </p:custDataLst>
                </p:nvPr>
              </p:nvSpPr>
              <p:spPr>
                <a:xfrm flipV="1">
                  <a:off x="6260" y="6009"/>
                  <a:ext cx="1" cy="1320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43" name="Freeform 811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6210" y="6009"/>
                  <a:ext cx="103" cy="158"/>
                </a:xfrm>
                <a:custGeom>
                  <a:avLst/>
                  <a:gdLst/>
                  <a:ahLst/>
                  <a:cxnLst>
                    <a:cxn ang="0">
                      <a:pos x="103" y="158"/>
                    </a:cxn>
                    <a:cxn ang="0">
                      <a:pos x="50" y="0"/>
                    </a:cxn>
                    <a:cxn ang="0">
                      <a:pos x="0" y="158"/>
                    </a:cxn>
                  </a:cxnLst>
                  <a:rect l="0" t="0" r="0" b="0"/>
                  <a:pathLst>
                    <a:path w="103" h="158">
                      <a:moveTo>
                        <a:pt x="103" y="158"/>
                      </a:moveTo>
                      <a:lnTo>
                        <a:pt x="50" y="0"/>
                      </a:lnTo>
                      <a:lnTo>
                        <a:pt x="0" y="158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44" name="Rectangle 812"/>
              <p:cNvSpPr/>
              <p:nvPr>
                <p:custDataLst>
                  <p:tags r:id="rId40"/>
                </p:custDataLst>
              </p:nvPr>
            </p:nvSpPr>
            <p:spPr>
              <a:xfrm>
                <a:off x="5931" y="6549"/>
                <a:ext cx="663" cy="4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5" name="Rectangle 813"/>
              <p:cNvSpPr/>
              <p:nvPr>
                <p:custDataLst>
                  <p:tags r:id="rId41"/>
                </p:custDataLst>
              </p:nvPr>
            </p:nvSpPr>
            <p:spPr>
              <a:xfrm>
                <a:off x="6075" y="6661"/>
                <a:ext cx="2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O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6" name="Rectangle 814"/>
              <p:cNvSpPr/>
              <p:nvPr>
                <p:custDataLst>
                  <p:tags r:id="rId42"/>
                </p:custDataLst>
              </p:nvPr>
            </p:nvSpPr>
            <p:spPr>
              <a:xfrm>
                <a:off x="6229" y="6661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7" name="Rectangle 815"/>
              <p:cNvSpPr/>
              <p:nvPr>
                <p:custDataLst>
                  <p:tags r:id="rId43"/>
                </p:custDataLst>
              </p:nvPr>
            </p:nvSpPr>
            <p:spPr>
              <a:xfrm>
                <a:off x="6831" y="6580"/>
                <a:ext cx="572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8" name="Rectangle 816"/>
              <p:cNvSpPr/>
              <p:nvPr>
                <p:custDataLst>
                  <p:tags r:id="rId44"/>
                </p:custDataLst>
              </p:nvPr>
            </p:nvSpPr>
            <p:spPr>
              <a:xfrm>
                <a:off x="6975" y="6690"/>
                <a:ext cx="18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9" name="Rectangle 817"/>
              <p:cNvSpPr/>
              <p:nvPr>
                <p:custDataLst>
                  <p:tags r:id="rId45"/>
                </p:custDataLst>
              </p:nvPr>
            </p:nvSpPr>
            <p:spPr>
              <a:xfrm>
                <a:off x="7069" y="6690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50" name="Rectangle 818"/>
              <p:cNvSpPr/>
              <p:nvPr>
                <p:custDataLst>
                  <p:tags r:id="rId46"/>
                </p:custDataLst>
              </p:nvPr>
            </p:nvSpPr>
            <p:spPr>
              <a:xfrm>
                <a:off x="6015" y="6030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51" name="Rectangle 819"/>
              <p:cNvSpPr/>
              <p:nvPr>
                <p:custDataLst>
                  <p:tags r:id="rId47"/>
                </p:custDataLst>
              </p:nvPr>
            </p:nvSpPr>
            <p:spPr>
              <a:xfrm>
                <a:off x="6145" y="6030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52" name="Rectangle 821"/>
              <p:cNvSpPr/>
              <p:nvPr>
                <p:custDataLst>
                  <p:tags r:id="rId48"/>
                </p:custDataLst>
              </p:nvPr>
            </p:nvSpPr>
            <p:spPr>
              <a:xfrm>
                <a:off x="5973" y="7329"/>
                <a:ext cx="57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（D）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53" name="Rectangle 823"/>
              <p:cNvSpPr/>
              <p:nvPr>
                <p:custDataLst>
                  <p:tags r:id="rId49"/>
                </p:custDataLst>
              </p:nvPr>
            </p:nvSpPr>
            <p:spPr>
              <a:xfrm>
                <a:off x="5617" y="6181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54" name="Group 824"/>
              <p:cNvGrpSpPr/>
              <p:nvPr/>
            </p:nvGrpSpPr>
            <p:grpSpPr>
              <a:xfrm>
                <a:off x="5636" y="6174"/>
                <a:ext cx="639" cy="463"/>
                <a:chOff x="5636" y="6174"/>
                <a:chExt cx="639" cy="463"/>
              </a:xfrm>
            </p:grpSpPr>
            <p:sp>
              <p:nvSpPr>
                <p:cNvPr id="7255" name="Freeform 825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5636" y="6609"/>
                  <a:ext cx="77" cy="28"/>
                </a:xfrm>
                <a:custGeom>
                  <a:avLst/>
                  <a:gdLst/>
                  <a:ahLst/>
                  <a:cxnLst>
                    <a:cxn ang="0">
                      <a:pos x="0" y="9"/>
                    </a:cxn>
                    <a:cxn ang="0">
                      <a:pos x="3" y="28"/>
                    </a:cxn>
                    <a:cxn ang="0">
                      <a:pos x="75" y="19"/>
                    </a:cxn>
                    <a:cxn ang="0">
                      <a:pos x="77" y="19"/>
                    </a:cxn>
                    <a:cxn ang="0">
                      <a:pos x="75" y="0"/>
                    </a:cxn>
                    <a:cxn ang="0">
                      <a:pos x="0" y="9"/>
                    </a:cxn>
                  </a:cxnLst>
                  <a:rect l="0" t="0" r="0" b="0"/>
                  <a:pathLst>
                    <a:path w="77" h="28">
                      <a:moveTo>
                        <a:pt x="0" y="9"/>
                      </a:moveTo>
                      <a:lnTo>
                        <a:pt x="3" y="28"/>
                      </a:lnTo>
                      <a:lnTo>
                        <a:pt x="75" y="19"/>
                      </a:lnTo>
                      <a:lnTo>
                        <a:pt x="77" y="19"/>
                      </a:lnTo>
                      <a:lnTo>
                        <a:pt x="75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6" name="Freeform 826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5768" y="6582"/>
                  <a:ext cx="77" cy="36"/>
                </a:xfrm>
                <a:custGeom>
                  <a:avLst/>
                  <a:gdLst/>
                  <a:ahLst/>
                  <a:cxnLst>
                    <a:cxn ang="0">
                      <a:pos x="0" y="17"/>
                    </a:cxn>
                    <a:cxn ang="0">
                      <a:pos x="3" y="36"/>
                    </a:cxn>
                    <a:cxn ang="0">
                      <a:pos x="12" y="34"/>
                    </a:cxn>
                    <a:cxn ang="0">
                      <a:pos x="77" y="17"/>
                    </a:cxn>
                    <a:cxn ang="0">
                      <a:pos x="75" y="0"/>
                    </a:cxn>
                    <a:cxn ang="0">
                      <a:pos x="12" y="15"/>
                    </a:cxn>
                    <a:cxn ang="0">
                      <a:pos x="0" y="17"/>
                    </a:cxn>
                  </a:cxnLst>
                  <a:rect l="0" t="0" r="0" b="0"/>
                  <a:pathLst>
                    <a:path w="77" h="36">
                      <a:moveTo>
                        <a:pt x="0" y="17"/>
                      </a:moveTo>
                      <a:lnTo>
                        <a:pt x="3" y="36"/>
                      </a:lnTo>
                      <a:lnTo>
                        <a:pt x="12" y="34"/>
                      </a:lnTo>
                      <a:lnTo>
                        <a:pt x="77" y="17"/>
                      </a:lnTo>
                      <a:lnTo>
                        <a:pt x="75" y="0"/>
                      </a:lnTo>
                      <a:lnTo>
                        <a:pt x="12" y="15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7" name="Freeform 827"/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5895" y="6527"/>
                  <a:ext cx="75" cy="53"/>
                </a:xfrm>
                <a:custGeom>
                  <a:avLst/>
                  <a:gdLst/>
                  <a:ahLst/>
                  <a:cxnLst>
                    <a:cxn ang="0">
                      <a:pos x="0" y="36"/>
                    </a:cxn>
                    <a:cxn ang="0">
                      <a:pos x="8" y="53"/>
                    </a:cxn>
                    <a:cxn ang="0">
                      <a:pos x="17" y="50"/>
                    </a:cxn>
                    <a:cxn ang="0">
                      <a:pos x="46" y="34"/>
                    </a:cxn>
                    <a:cxn ang="0">
                      <a:pos x="70" y="19"/>
                    </a:cxn>
                    <a:cxn ang="0">
                      <a:pos x="75" y="14"/>
                    </a:cxn>
                    <a:cxn ang="0">
                      <a:pos x="63" y="0"/>
                    </a:cxn>
                    <a:cxn ang="0">
                      <a:pos x="56" y="5"/>
                    </a:cxn>
                    <a:cxn ang="0">
                      <a:pos x="32" y="19"/>
                    </a:cxn>
                    <a:cxn ang="0">
                      <a:pos x="10" y="34"/>
                    </a:cxn>
                    <a:cxn ang="0">
                      <a:pos x="0" y="36"/>
                    </a:cxn>
                  </a:cxnLst>
                  <a:rect l="0" t="0" r="0" b="0"/>
                  <a:pathLst>
                    <a:path w="75" h="53">
                      <a:moveTo>
                        <a:pt x="0" y="36"/>
                      </a:moveTo>
                      <a:lnTo>
                        <a:pt x="8" y="53"/>
                      </a:lnTo>
                      <a:lnTo>
                        <a:pt x="17" y="50"/>
                      </a:lnTo>
                      <a:lnTo>
                        <a:pt x="46" y="34"/>
                      </a:lnTo>
                      <a:lnTo>
                        <a:pt x="70" y="19"/>
                      </a:lnTo>
                      <a:lnTo>
                        <a:pt x="75" y="14"/>
                      </a:lnTo>
                      <a:lnTo>
                        <a:pt x="63" y="0"/>
                      </a:lnTo>
                      <a:lnTo>
                        <a:pt x="56" y="5"/>
                      </a:lnTo>
                      <a:lnTo>
                        <a:pt x="32" y="19"/>
                      </a:lnTo>
                      <a:lnTo>
                        <a:pt x="10" y="34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8" name="Freeform 828"/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6003" y="6438"/>
                  <a:ext cx="68" cy="67"/>
                </a:xfrm>
                <a:custGeom>
                  <a:avLst/>
                  <a:gdLst/>
                  <a:ahLst/>
                  <a:cxnLst>
                    <a:cxn ang="0">
                      <a:pos x="0" y="53"/>
                    </a:cxn>
                    <a:cxn ang="0">
                      <a:pos x="12" y="67"/>
                    </a:cxn>
                    <a:cxn ang="0">
                      <a:pos x="48" y="34"/>
                    </a:cxn>
                    <a:cxn ang="0">
                      <a:pos x="68" y="12"/>
                    </a:cxn>
                    <a:cxn ang="0">
                      <a:pos x="53" y="0"/>
                    </a:cxn>
                    <a:cxn ang="0">
                      <a:pos x="34" y="19"/>
                    </a:cxn>
                    <a:cxn ang="0">
                      <a:pos x="0" y="53"/>
                    </a:cxn>
                  </a:cxnLst>
                  <a:rect l="0" t="0" r="0" b="0"/>
                  <a:pathLst>
                    <a:path w="68" h="67">
                      <a:moveTo>
                        <a:pt x="0" y="53"/>
                      </a:moveTo>
                      <a:lnTo>
                        <a:pt x="12" y="67"/>
                      </a:lnTo>
                      <a:lnTo>
                        <a:pt x="48" y="34"/>
                      </a:lnTo>
                      <a:lnTo>
                        <a:pt x="68" y="12"/>
                      </a:lnTo>
                      <a:lnTo>
                        <a:pt x="53" y="0"/>
                      </a:lnTo>
                      <a:lnTo>
                        <a:pt x="34" y="19"/>
                      </a:lnTo>
                      <a:lnTo>
                        <a:pt x="0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59" name="Freeform 829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6095" y="6335"/>
                  <a:ext cx="62" cy="72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14" y="72"/>
                    </a:cxn>
                    <a:cxn ang="0">
                      <a:pos x="24" y="62"/>
                    </a:cxn>
                    <a:cxn ang="0">
                      <a:pos x="48" y="31"/>
                    </a:cxn>
                    <a:cxn ang="0">
                      <a:pos x="62" y="12"/>
                    </a:cxn>
                    <a:cxn ang="0">
                      <a:pos x="48" y="0"/>
                    </a:cxn>
                    <a:cxn ang="0">
                      <a:pos x="33" y="17"/>
                    </a:cxn>
                    <a:cxn ang="0">
                      <a:pos x="9" y="48"/>
                    </a:cxn>
                    <a:cxn ang="0">
                      <a:pos x="0" y="60"/>
                    </a:cxn>
                  </a:cxnLst>
                  <a:rect l="0" t="0" r="0" b="0"/>
                  <a:pathLst>
                    <a:path w="62" h="72">
                      <a:moveTo>
                        <a:pt x="0" y="60"/>
                      </a:moveTo>
                      <a:lnTo>
                        <a:pt x="14" y="72"/>
                      </a:lnTo>
                      <a:lnTo>
                        <a:pt x="24" y="62"/>
                      </a:lnTo>
                      <a:lnTo>
                        <a:pt x="48" y="31"/>
                      </a:lnTo>
                      <a:lnTo>
                        <a:pt x="62" y="12"/>
                      </a:lnTo>
                      <a:lnTo>
                        <a:pt x="48" y="0"/>
                      </a:lnTo>
                      <a:lnTo>
                        <a:pt x="33" y="17"/>
                      </a:lnTo>
                      <a:lnTo>
                        <a:pt x="9" y="48"/>
                      </a:lnTo>
                      <a:lnTo>
                        <a:pt x="0" y="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0" name="Freeform 830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6176" y="6225"/>
                  <a:ext cx="58" cy="74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15" y="74"/>
                    </a:cxn>
                    <a:cxn ang="0">
                      <a:pos x="17" y="72"/>
                    </a:cxn>
                    <a:cxn ang="0">
                      <a:pos x="41" y="36"/>
                    </a:cxn>
                    <a:cxn ang="0">
                      <a:pos x="58" y="9"/>
                    </a:cxn>
                    <a:cxn ang="0">
                      <a:pos x="43" y="0"/>
                    </a:cxn>
                    <a:cxn ang="0">
                      <a:pos x="27" y="21"/>
                    </a:cxn>
                    <a:cxn ang="0">
                      <a:pos x="3" y="57"/>
                    </a:cxn>
                    <a:cxn ang="0">
                      <a:pos x="0" y="64"/>
                    </a:cxn>
                  </a:cxnLst>
                  <a:rect l="0" t="0" r="0" b="0"/>
                  <a:pathLst>
                    <a:path w="58" h="74">
                      <a:moveTo>
                        <a:pt x="0" y="64"/>
                      </a:moveTo>
                      <a:lnTo>
                        <a:pt x="15" y="74"/>
                      </a:lnTo>
                      <a:lnTo>
                        <a:pt x="17" y="72"/>
                      </a:lnTo>
                      <a:lnTo>
                        <a:pt x="41" y="36"/>
                      </a:lnTo>
                      <a:lnTo>
                        <a:pt x="58" y="9"/>
                      </a:lnTo>
                      <a:lnTo>
                        <a:pt x="43" y="0"/>
                      </a:lnTo>
                      <a:lnTo>
                        <a:pt x="27" y="21"/>
                      </a:lnTo>
                      <a:lnTo>
                        <a:pt x="3" y="57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1" name="Freeform 831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6255" y="6174"/>
                  <a:ext cx="20" cy="17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15" y="17"/>
                    </a:cxn>
                    <a:cxn ang="0">
                      <a:pos x="20" y="12"/>
                    </a:cxn>
                    <a:cxn ang="0">
                      <a:pos x="5" y="0"/>
                    </a:cxn>
                    <a:cxn ang="0">
                      <a:pos x="0" y="5"/>
                    </a:cxn>
                  </a:cxnLst>
                  <a:rect l="0" t="0" r="0" b="0"/>
                  <a:pathLst>
                    <a:path w="20" h="17">
                      <a:moveTo>
                        <a:pt x="0" y="5"/>
                      </a:moveTo>
                      <a:lnTo>
                        <a:pt x="15" y="17"/>
                      </a:lnTo>
                      <a:lnTo>
                        <a:pt x="20" y="12"/>
                      </a:lnTo>
                      <a:lnTo>
                        <a:pt x="5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62" name="Group 832"/>
              <p:cNvGrpSpPr/>
              <p:nvPr/>
            </p:nvGrpSpPr>
            <p:grpSpPr>
              <a:xfrm>
                <a:off x="6282" y="6220"/>
                <a:ext cx="600" cy="417"/>
                <a:chOff x="6282" y="6220"/>
                <a:chExt cx="600" cy="417"/>
              </a:xfrm>
            </p:grpSpPr>
            <p:sp>
              <p:nvSpPr>
                <p:cNvPr id="7263" name="Freeform 833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6803" y="6609"/>
                  <a:ext cx="79" cy="28"/>
                </a:xfrm>
                <a:custGeom>
                  <a:avLst/>
                  <a:gdLst/>
                  <a:ahLst/>
                  <a:cxnLst>
                    <a:cxn ang="0">
                      <a:pos x="76" y="28"/>
                    </a:cxn>
                    <a:cxn ang="0">
                      <a:pos x="79" y="9"/>
                    </a:cxn>
                    <a:cxn ang="0">
                      <a:pos x="7" y="0"/>
                    </a:cxn>
                    <a:cxn ang="0">
                      <a:pos x="2" y="0"/>
                    </a:cxn>
                    <a:cxn ang="0">
                      <a:pos x="0" y="19"/>
                    </a:cxn>
                    <a:cxn ang="0">
                      <a:pos x="7" y="19"/>
                    </a:cxn>
                    <a:cxn ang="0">
                      <a:pos x="76" y="28"/>
                    </a:cxn>
                  </a:cxnLst>
                  <a:rect l="0" t="0" r="0" b="0"/>
                  <a:pathLst>
                    <a:path w="79" h="28">
                      <a:moveTo>
                        <a:pt x="76" y="28"/>
                      </a:moveTo>
                      <a:lnTo>
                        <a:pt x="79" y="9"/>
                      </a:lnTo>
                      <a:lnTo>
                        <a:pt x="7" y="0"/>
                      </a:lnTo>
                      <a:lnTo>
                        <a:pt x="2" y="0"/>
                      </a:lnTo>
                      <a:lnTo>
                        <a:pt x="0" y="19"/>
                      </a:lnTo>
                      <a:lnTo>
                        <a:pt x="7" y="19"/>
                      </a:lnTo>
                      <a:lnTo>
                        <a:pt x="76" y="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4" name="Freeform 834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6668" y="6582"/>
                  <a:ext cx="79" cy="36"/>
                </a:xfrm>
                <a:custGeom>
                  <a:avLst/>
                  <a:gdLst/>
                  <a:ahLst/>
                  <a:cxnLst>
                    <a:cxn ang="0">
                      <a:pos x="77" y="36"/>
                    </a:cxn>
                    <a:cxn ang="0">
                      <a:pos x="79" y="17"/>
                    </a:cxn>
                    <a:cxn ang="0">
                      <a:pos x="72" y="15"/>
                    </a:cxn>
                    <a:cxn ang="0">
                      <a:pos x="7" y="0"/>
                    </a:cxn>
                    <a:cxn ang="0">
                      <a:pos x="7" y="10"/>
                    </a:cxn>
                    <a:cxn ang="0">
                      <a:pos x="15" y="3"/>
                    </a:cxn>
                    <a:cxn ang="0">
                      <a:pos x="7" y="0"/>
                    </a:cxn>
                    <a:cxn ang="0">
                      <a:pos x="0" y="17"/>
                    </a:cxn>
                    <a:cxn ang="0">
                      <a:pos x="7" y="19"/>
                    </a:cxn>
                    <a:cxn ang="0">
                      <a:pos x="72" y="34"/>
                    </a:cxn>
                    <a:cxn ang="0">
                      <a:pos x="77" y="36"/>
                    </a:cxn>
                  </a:cxnLst>
                  <a:rect l="0" t="0" r="0" b="0"/>
                  <a:pathLst>
                    <a:path w="79" h="36">
                      <a:moveTo>
                        <a:pt x="77" y="36"/>
                      </a:moveTo>
                      <a:lnTo>
                        <a:pt x="79" y="17"/>
                      </a:lnTo>
                      <a:lnTo>
                        <a:pt x="72" y="15"/>
                      </a:lnTo>
                      <a:lnTo>
                        <a:pt x="7" y="0"/>
                      </a:lnTo>
                      <a:lnTo>
                        <a:pt x="7" y="10"/>
                      </a:lnTo>
                      <a:lnTo>
                        <a:pt x="15" y="3"/>
                      </a:ln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7" y="19"/>
                      </a:lnTo>
                      <a:lnTo>
                        <a:pt x="72" y="34"/>
                      </a:lnTo>
                      <a:lnTo>
                        <a:pt x="77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5" name="Freeform 835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6546" y="6525"/>
                  <a:ext cx="77" cy="55"/>
                </a:xfrm>
                <a:custGeom>
                  <a:avLst/>
                  <a:gdLst/>
                  <a:ahLst/>
                  <a:cxnLst>
                    <a:cxn ang="0">
                      <a:pos x="69" y="55"/>
                    </a:cxn>
                    <a:cxn ang="0">
                      <a:pos x="77" y="38"/>
                    </a:cxn>
                    <a:cxn ang="0">
                      <a:pos x="53" y="26"/>
                    </a:cxn>
                    <a:cxn ang="0">
                      <a:pos x="29" y="9"/>
                    </a:cxn>
                    <a:cxn ang="0">
                      <a:pos x="12" y="0"/>
                    </a:cxn>
                    <a:cxn ang="0">
                      <a:pos x="0" y="14"/>
                    </a:cxn>
                    <a:cxn ang="0">
                      <a:pos x="14" y="24"/>
                    </a:cxn>
                    <a:cxn ang="0">
                      <a:pos x="38" y="40"/>
                    </a:cxn>
                    <a:cxn ang="0">
                      <a:pos x="69" y="55"/>
                    </a:cxn>
                  </a:cxnLst>
                  <a:rect l="0" t="0" r="0" b="0"/>
                  <a:pathLst>
                    <a:path w="77" h="55">
                      <a:moveTo>
                        <a:pt x="69" y="55"/>
                      </a:moveTo>
                      <a:lnTo>
                        <a:pt x="77" y="38"/>
                      </a:lnTo>
                      <a:lnTo>
                        <a:pt x="53" y="26"/>
                      </a:lnTo>
                      <a:lnTo>
                        <a:pt x="29" y="9"/>
                      </a:lnTo>
                      <a:lnTo>
                        <a:pt x="12" y="0"/>
                      </a:lnTo>
                      <a:lnTo>
                        <a:pt x="0" y="14"/>
                      </a:lnTo>
                      <a:lnTo>
                        <a:pt x="14" y="24"/>
                      </a:lnTo>
                      <a:lnTo>
                        <a:pt x="38" y="40"/>
                      </a:lnTo>
                      <a:lnTo>
                        <a:pt x="69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6" name="Freeform 836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6447" y="6433"/>
                  <a:ext cx="68" cy="68"/>
                </a:xfrm>
                <a:custGeom>
                  <a:avLst/>
                  <a:gdLst/>
                  <a:ahLst/>
                  <a:cxnLst>
                    <a:cxn ang="0">
                      <a:pos x="53" y="68"/>
                    </a:cxn>
                    <a:cxn ang="0">
                      <a:pos x="68" y="53"/>
                    </a:cxn>
                    <a:cxn ang="0">
                      <a:pos x="44" y="29"/>
                    </a:cxn>
                    <a:cxn ang="0">
                      <a:pos x="15" y="0"/>
                    </a:cxn>
                    <a:cxn ang="0">
                      <a:pos x="0" y="12"/>
                    </a:cxn>
                    <a:cxn ang="0">
                      <a:pos x="29" y="44"/>
                    </a:cxn>
                    <a:cxn ang="0">
                      <a:pos x="53" y="68"/>
                    </a:cxn>
                  </a:cxnLst>
                  <a:rect l="0" t="0" r="0" b="0"/>
                  <a:pathLst>
                    <a:path w="68" h="68">
                      <a:moveTo>
                        <a:pt x="53" y="68"/>
                      </a:moveTo>
                      <a:lnTo>
                        <a:pt x="68" y="53"/>
                      </a:lnTo>
                      <a:lnTo>
                        <a:pt x="44" y="29"/>
                      </a:lnTo>
                      <a:lnTo>
                        <a:pt x="15" y="0"/>
                      </a:lnTo>
                      <a:lnTo>
                        <a:pt x="0" y="12"/>
                      </a:lnTo>
                      <a:lnTo>
                        <a:pt x="29" y="44"/>
                      </a:lnTo>
                      <a:lnTo>
                        <a:pt x="53" y="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7" name="Freeform 837"/>
                <p:cNvSpPr/>
                <p:nvPr>
                  <p:custDataLst>
                    <p:tags r:id="rId59"/>
                  </p:custDataLst>
                </p:nvPr>
              </p:nvSpPr>
              <p:spPr>
                <a:xfrm>
                  <a:off x="6361" y="6330"/>
                  <a:ext cx="62" cy="72"/>
                </a:xfrm>
                <a:custGeom>
                  <a:avLst/>
                  <a:gdLst/>
                  <a:ahLst/>
                  <a:cxnLst>
                    <a:cxn ang="0">
                      <a:pos x="48" y="72"/>
                    </a:cxn>
                    <a:cxn ang="0">
                      <a:pos x="62" y="60"/>
                    </a:cxn>
                    <a:cxn ang="0">
                      <a:pos x="41" y="34"/>
                    </a:cxn>
                    <a:cxn ang="0">
                      <a:pos x="17" y="0"/>
                    </a:cxn>
                    <a:cxn ang="0">
                      <a:pos x="14" y="0"/>
                    </a:cxn>
                    <a:cxn ang="0">
                      <a:pos x="0" y="12"/>
                    </a:cxn>
                    <a:cxn ang="0">
                      <a:pos x="2" y="15"/>
                    </a:cxn>
                    <a:cxn ang="0">
                      <a:pos x="26" y="48"/>
                    </a:cxn>
                    <a:cxn ang="0">
                      <a:pos x="48" y="72"/>
                    </a:cxn>
                  </a:cxnLst>
                  <a:rect l="0" t="0" r="0" b="0"/>
                  <a:pathLst>
                    <a:path w="62" h="72">
                      <a:moveTo>
                        <a:pt x="48" y="72"/>
                      </a:moveTo>
                      <a:lnTo>
                        <a:pt x="62" y="60"/>
                      </a:lnTo>
                      <a:lnTo>
                        <a:pt x="41" y="34"/>
                      </a:lnTo>
                      <a:lnTo>
                        <a:pt x="17" y="0"/>
                      </a:lnTo>
                      <a:lnTo>
                        <a:pt x="14" y="0"/>
                      </a:lnTo>
                      <a:lnTo>
                        <a:pt x="0" y="12"/>
                      </a:lnTo>
                      <a:lnTo>
                        <a:pt x="2" y="15"/>
                      </a:lnTo>
                      <a:lnTo>
                        <a:pt x="26" y="48"/>
                      </a:lnTo>
                      <a:lnTo>
                        <a:pt x="48" y="7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68" name="Freeform 838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6282" y="6220"/>
                  <a:ext cx="60" cy="74"/>
                </a:xfrm>
                <a:custGeom>
                  <a:avLst/>
                  <a:gdLst/>
                  <a:ahLst/>
                  <a:cxnLst>
                    <a:cxn ang="0">
                      <a:pos x="45" y="74"/>
                    </a:cxn>
                    <a:cxn ang="0">
                      <a:pos x="60" y="62"/>
                    </a:cxn>
                    <a:cxn ang="0">
                      <a:pos x="48" y="45"/>
                    </a:cxn>
                    <a:cxn ang="0">
                      <a:pos x="26" y="14"/>
                    </a:cxn>
                    <a:cxn ang="0">
                      <a:pos x="14" y="0"/>
                    </a:cxn>
                    <a:cxn ang="0">
                      <a:pos x="0" y="12"/>
                    </a:cxn>
                    <a:cxn ang="0">
                      <a:pos x="12" y="29"/>
                    </a:cxn>
                    <a:cxn ang="0">
                      <a:pos x="33" y="60"/>
                    </a:cxn>
                    <a:cxn ang="0">
                      <a:pos x="45" y="74"/>
                    </a:cxn>
                  </a:cxnLst>
                  <a:rect l="0" t="0" r="0" b="0"/>
                  <a:pathLst>
                    <a:path w="60" h="74">
                      <a:moveTo>
                        <a:pt x="45" y="74"/>
                      </a:moveTo>
                      <a:lnTo>
                        <a:pt x="60" y="62"/>
                      </a:lnTo>
                      <a:lnTo>
                        <a:pt x="48" y="45"/>
                      </a:lnTo>
                      <a:lnTo>
                        <a:pt x="26" y="14"/>
                      </a:lnTo>
                      <a:lnTo>
                        <a:pt x="14" y="0"/>
                      </a:lnTo>
                      <a:lnTo>
                        <a:pt x="0" y="12"/>
                      </a:lnTo>
                      <a:lnTo>
                        <a:pt x="12" y="29"/>
                      </a:lnTo>
                      <a:lnTo>
                        <a:pt x="33" y="60"/>
                      </a:lnTo>
                      <a:lnTo>
                        <a:pt x="45" y="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69" name="Freeform 839"/>
              <p:cNvSpPr/>
              <p:nvPr>
                <p:custDataLst>
                  <p:tags r:id="rId50"/>
                </p:custDataLst>
              </p:nvPr>
            </p:nvSpPr>
            <p:spPr>
              <a:xfrm>
                <a:off x="5840" y="6227"/>
                <a:ext cx="840" cy="372"/>
              </a:xfrm>
              <a:custGeom>
                <a:avLst/>
                <a:gdLst/>
                <a:ahLst/>
                <a:cxnLst>
                  <a:cxn ang="0">
                    <a:pos x="0" y="372"/>
                  </a:cxn>
                  <a:cxn ang="0">
                    <a:pos x="46" y="358"/>
                  </a:cxn>
                  <a:cxn ang="0">
                    <a:pos x="89" y="341"/>
                  </a:cxn>
                  <a:cxn ang="0">
                    <a:pos x="132" y="317"/>
                  </a:cxn>
                  <a:cxn ang="0">
                    <a:pos x="154" y="302"/>
                  </a:cxn>
                  <a:cxn ang="0">
                    <a:pos x="173" y="286"/>
                  </a:cxn>
                  <a:cxn ang="0">
                    <a:pos x="192" y="266"/>
                  </a:cxn>
                  <a:cxn ang="0">
                    <a:pos x="211" y="240"/>
                  </a:cxn>
                  <a:cxn ang="0">
                    <a:pos x="231" y="214"/>
                  </a:cxn>
                  <a:cxn ang="0">
                    <a:pos x="250" y="187"/>
                  </a:cxn>
                  <a:cxn ang="0">
                    <a:pos x="269" y="158"/>
                  </a:cxn>
                  <a:cxn ang="0">
                    <a:pos x="286" y="132"/>
                  </a:cxn>
                  <a:cxn ang="0">
                    <a:pos x="303" y="108"/>
                  </a:cxn>
                  <a:cxn ang="0">
                    <a:pos x="319" y="86"/>
                  </a:cxn>
                  <a:cxn ang="0">
                    <a:pos x="351" y="50"/>
                  </a:cxn>
                  <a:cxn ang="0">
                    <a:pos x="365" y="36"/>
                  </a:cxn>
                  <a:cxn ang="0">
                    <a:pos x="379" y="22"/>
                  </a:cxn>
                  <a:cxn ang="0">
                    <a:pos x="394" y="10"/>
                  </a:cxn>
                  <a:cxn ang="0">
                    <a:pos x="406" y="2"/>
                  </a:cxn>
                  <a:cxn ang="0">
                    <a:pos x="420" y="0"/>
                  </a:cxn>
                  <a:cxn ang="0">
                    <a:pos x="435" y="0"/>
                  </a:cxn>
                  <a:cxn ang="0">
                    <a:pos x="449" y="7"/>
                  </a:cxn>
                  <a:cxn ang="0">
                    <a:pos x="463" y="22"/>
                  </a:cxn>
                  <a:cxn ang="0">
                    <a:pos x="478" y="38"/>
                  </a:cxn>
                  <a:cxn ang="0">
                    <a:pos x="492" y="60"/>
                  </a:cxn>
                  <a:cxn ang="0">
                    <a:pos x="521" y="106"/>
                  </a:cxn>
                  <a:cxn ang="0">
                    <a:pos x="535" y="125"/>
                  </a:cxn>
                  <a:cxn ang="0">
                    <a:pos x="550" y="144"/>
                  </a:cxn>
                  <a:cxn ang="0">
                    <a:pos x="610" y="204"/>
                  </a:cxn>
                  <a:cxn ang="0">
                    <a:pos x="639" y="230"/>
                  </a:cxn>
                  <a:cxn ang="0">
                    <a:pos x="667" y="257"/>
                  </a:cxn>
                  <a:cxn ang="0">
                    <a:pos x="691" y="281"/>
                  </a:cxn>
                  <a:cxn ang="0">
                    <a:pos x="713" y="305"/>
                  </a:cxn>
                  <a:cxn ang="0">
                    <a:pos x="732" y="326"/>
                  </a:cxn>
                  <a:cxn ang="0">
                    <a:pos x="754" y="343"/>
                  </a:cxn>
                  <a:cxn ang="0">
                    <a:pos x="775" y="355"/>
                  </a:cxn>
                  <a:cxn ang="0">
                    <a:pos x="797" y="362"/>
                  </a:cxn>
                  <a:cxn ang="0">
                    <a:pos x="819" y="367"/>
                  </a:cxn>
                  <a:cxn ang="0">
                    <a:pos x="840" y="372"/>
                  </a:cxn>
                </a:cxnLst>
                <a:rect l="0" t="0" r="0" b="0"/>
                <a:pathLst>
                  <a:path w="840" h="372">
                    <a:moveTo>
                      <a:pt x="0" y="372"/>
                    </a:moveTo>
                    <a:lnTo>
                      <a:pt x="46" y="358"/>
                    </a:lnTo>
                    <a:lnTo>
                      <a:pt x="89" y="341"/>
                    </a:lnTo>
                    <a:lnTo>
                      <a:pt x="132" y="317"/>
                    </a:lnTo>
                    <a:lnTo>
                      <a:pt x="154" y="302"/>
                    </a:lnTo>
                    <a:lnTo>
                      <a:pt x="173" y="286"/>
                    </a:lnTo>
                    <a:lnTo>
                      <a:pt x="192" y="266"/>
                    </a:lnTo>
                    <a:lnTo>
                      <a:pt x="211" y="240"/>
                    </a:lnTo>
                    <a:lnTo>
                      <a:pt x="231" y="214"/>
                    </a:lnTo>
                    <a:lnTo>
                      <a:pt x="250" y="187"/>
                    </a:lnTo>
                    <a:lnTo>
                      <a:pt x="269" y="158"/>
                    </a:lnTo>
                    <a:lnTo>
                      <a:pt x="286" y="132"/>
                    </a:lnTo>
                    <a:lnTo>
                      <a:pt x="303" y="108"/>
                    </a:lnTo>
                    <a:lnTo>
                      <a:pt x="319" y="86"/>
                    </a:lnTo>
                    <a:lnTo>
                      <a:pt x="351" y="50"/>
                    </a:lnTo>
                    <a:lnTo>
                      <a:pt x="365" y="36"/>
                    </a:lnTo>
                    <a:lnTo>
                      <a:pt x="379" y="22"/>
                    </a:lnTo>
                    <a:lnTo>
                      <a:pt x="394" y="10"/>
                    </a:lnTo>
                    <a:lnTo>
                      <a:pt x="406" y="2"/>
                    </a:lnTo>
                    <a:lnTo>
                      <a:pt x="420" y="0"/>
                    </a:lnTo>
                    <a:lnTo>
                      <a:pt x="435" y="0"/>
                    </a:lnTo>
                    <a:lnTo>
                      <a:pt x="449" y="7"/>
                    </a:lnTo>
                    <a:lnTo>
                      <a:pt x="463" y="22"/>
                    </a:lnTo>
                    <a:lnTo>
                      <a:pt x="478" y="38"/>
                    </a:lnTo>
                    <a:lnTo>
                      <a:pt x="492" y="60"/>
                    </a:lnTo>
                    <a:lnTo>
                      <a:pt x="521" y="106"/>
                    </a:lnTo>
                    <a:lnTo>
                      <a:pt x="535" y="125"/>
                    </a:lnTo>
                    <a:lnTo>
                      <a:pt x="550" y="144"/>
                    </a:lnTo>
                    <a:lnTo>
                      <a:pt x="610" y="204"/>
                    </a:lnTo>
                    <a:lnTo>
                      <a:pt x="639" y="230"/>
                    </a:lnTo>
                    <a:lnTo>
                      <a:pt x="667" y="257"/>
                    </a:lnTo>
                    <a:lnTo>
                      <a:pt x="691" y="281"/>
                    </a:lnTo>
                    <a:lnTo>
                      <a:pt x="713" y="305"/>
                    </a:lnTo>
                    <a:lnTo>
                      <a:pt x="732" y="326"/>
                    </a:lnTo>
                    <a:lnTo>
                      <a:pt x="754" y="343"/>
                    </a:lnTo>
                    <a:lnTo>
                      <a:pt x="775" y="355"/>
                    </a:lnTo>
                    <a:lnTo>
                      <a:pt x="797" y="362"/>
                    </a:lnTo>
                    <a:lnTo>
                      <a:pt x="819" y="367"/>
                    </a:lnTo>
                    <a:lnTo>
                      <a:pt x="840" y="372"/>
                    </a:lnTo>
                  </a:path>
                </a:pathLst>
              </a:custGeom>
              <a:noFill/>
              <a:ln w="1206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0" name="Rectangle 840"/>
              <p:cNvSpPr/>
              <p:nvPr>
                <p:custDataLst>
                  <p:tags r:id="rId51"/>
                </p:custDataLst>
              </p:nvPr>
            </p:nvSpPr>
            <p:spPr>
              <a:xfrm>
                <a:off x="6464" y="6052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1" name="Rectangle 841"/>
              <p:cNvSpPr/>
              <p:nvPr>
                <p:custDataLst>
                  <p:tags r:id="rId52"/>
                </p:custDataLst>
              </p:nvPr>
            </p:nvSpPr>
            <p:spPr>
              <a:xfrm>
                <a:off x="6594" y="6059"/>
                <a:ext cx="331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∝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2" name="Rectangle 842"/>
              <p:cNvSpPr/>
              <p:nvPr>
                <p:custDataLst>
                  <p:tags r:id="rId53"/>
                </p:custDataLst>
              </p:nvPr>
            </p:nvSpPr>
            <p:spPr>
              <a:xfrm>
                <a:off x="6805" y="6052"/>
                <a:ext cx="408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1/|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3" name="Rectangle 843"/>
              <p:cNvSpPr/>
              <p:nvPr>
                <p:custDataLst>
                  <p:tags r:id="rId54"/>
                </p:custDataLst>
              </p:nvPr>
            </p:nvSpPr>
            <p:spPr>
              <a:xfrm>
                <a:off x="7173" y="6051"/>
                <a:ext cx="247" cy="2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x|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274" name="Group 845"/>
            <p:cNvGrpSpPr/>
            <p:nvPr/>
          </p:nvGrpSpPr>
          <p:grpSpPr>
            <a:xfrm>
              <a:off x="3082" y="4473"/>
              <a:ext cx="2371" cy="1744"/>
              <a:chOff x="5192" y="4439"/>
              <a:chExt cx="2371" cy="1744"/>
            </a:xfrm>
          </p:grpSpPr>
          <p:grpSp>
            <p:nvGrpSpPr>
              <p:cNvPr id="7275" name="Group 846"/>
              <p:cNvGrpSpPr/>
              <p:nvPr/>
            </p:nvGrpSpPr>
            <p:grpSpPr>
              <a:xfrm>
                <a:off x="5550" y="5137"/>
                <a:ext cx="1531" cy="104"/>
                <a:chOff x="5550" y="5137"/>
                <a:chExt cx="1531" cy="104"/>
              </a:xfrm>
            </p:grpSpPr>
            <p:sp>
              <p:nvSpPr>
                <p:cNvPr id="7276" name="Line 84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550" y="5209"/>
                  <a:ext cx="1531" cy="1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77" name="Freeform 84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925" y="5137"/>
                  <a:ext cx="156" cy="104"/>
                </a:xfrm>
                <a:custGeom>
                  <a:avLst/>
                  <a:gdLst/>
                  <a:ahLst/>
                  <a:cxnLst>
                    <a:cxn ang="0">
                      <a:pos x="0" y="104"/>
                    </a:cxn>
                    <a:cxn ang="0">
                      <a:pos x="156" y="51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56" h="104">
                      <a:moveTo>
                        <a:pt x="0" y="104"/>
                      </a:moveTo>
                      <a:lnTo>
                        <a:pt x="156" y="5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78" name="Group 849"/>
              <p:cNvGrpSpPr/>
              <p:nvPr/>
            </p:nvGrpSpPr>
            <p:grpSpPr>
              <a:xfrm>
                <a:off x="6219" y="4528"/>
                <a:ext cx="104" cy="1320"/>
                <a:chOff x="6219" y="4528"/>
                <a:chExt cx="104" cy="1320"/>
              </a:xfrm>
            </p:grpSpPr>
            <p:sp>
              <p:nvSpPr>
                <p:cNvPr id="7279" name="Line 850"/>
                <p:cNvSpPr/>
                <p:nvPr>
                  <p:custDataLst>
                    <p:tags r:id="rId36"/>
                  </p:custDataLst>
                </p:nvPr>
              </p:nvSpPr>
              <p:spPr>
                <a:xfrm flipV="1">
                  <a:off x="6270" y="4528"/>
                  <a:ext cx="1" cy="1320"/>
                </a:xfrm>
                <a:prstGeom prst="line">
                  <a:avLst/>
                </a:prstGeom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7280" name="Freeform 851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6219" y="4530"/>
                  <a:ext cx="104" cy="156"/>
                </a:xfrm>
                <a:custGeom>
                  <a:avLst/>
                  <a:gdLst/>
                  <a:ahLst/>
                  <a:cxnLst>
                    <a:cxn ang="0">
                      <a:pos x="104" y="156"/>
                    </a:cxn>
                    <a:cxn ang="0">
                      <a:pos x="51" y="0"/>
                    </a:cxn>
                    <a:cxn ang="0">
                      <a:pos x="0" y="156"/>
                    </a:cxn>
                  </a:cxnLst>
                  <a:rect l="0" t="0" r="0" b="0"/>
                  <a:pathLst>
                    <a:path w="104" h="156">
                      <a:moveTo>
                        <a:pt x="104" y="156"/>
                      </a:moveTo>
                      <a:lnTo>
                        <a:pt x="51" y="0"/>
                      </a:lnTo>
                      <a:lnTo>
                        <a:pt x="0" y="156"/>
                      </a:lnTo>
                    </a:path>
                  </a:pathLst>
                </a:custGeom>
                <a:noFill/>
                <a:ln w="889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281" name="Rectangle 852"/>
              <p:cNvSpPr/>
              <p:nvPr>
                <p:custDataLst>
                  <p:tags r:id="rId2"/>
                </p:custDataLst>
              </p:nvPr>
            </p:nvSpPr>
            <p:spPr>
              <a:xfrm>
                <a:off x="5941" y="5070"/>
                <a:ext cx="662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2" name="Rectangle 853"/>
              <p:cNvSpPr/>
              <p:nvPr>
                <p:custDataLst>
                  <p:tags r:id="rId3"/>
                </p:custDataLst>
              </p:nvPr>
            </p:nvSpPr>
            <p:spPr>
              <a:xfrm>
                <a:off x="6085" y="5181"/>
                <a:ext cx="2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O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3" name="Rectangle 854"/>
              <p:cNvSpPr/>
              <p:nvPr>
                <p:custDataLst>
                  <p:tags r:id="rId4"/>
                </p:custDataLst>
              </p:nvPr>
            </p:nvSpPr>
            <p:spPr>
              <a:xfrm>
                <a:off x="6239" y="5181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4" name="Rectangle 855"/>
              <p:cNvSpPr/>
              <p:nvPr>
                <p:custDataLst>
                  <p:tags r:id="rId5"/>
                </p:custDataLst>
              </p:nvPr>
            </p:nvSpPr>
            <p:spPr>
              <a:xfrm>
                <a:off x="6841" y="5099"/>
                <a:ext cx="574" cy="4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5" name="Rectangle 856"/>
              <p:cNvSpPr/>
              <p:nvPr>
                <p:custDataLst>
                  <p:tags r:id="rId6"/>
                </p:custDataLst>
              </p:nvPr>
            </p:nvSpPr>
            <p:spPr>
              <a:xfrm>
                <a:off x="6985" y="5212"/>
                <a:ext cx="18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6" name="Rectangle 857"/>
              <p:cNvSpPr/>
              <p:nvPr>
                <p:custDataLst>
                  <p:tags r:id="rId7"/>
                </p:custDataLst>
              </p:nvPr>
            </p:nvSpPr>
            <p:spPr>
              <a:xfrm>
                <a:off x="7079" y="5212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7" name="Rectangle 858"/>
              <p:cNvSpPr/>
              <p:nvPr>
                <p:custDataLst>
                  <p:tags r:id="rId8"/>
                </p:custDataLst>
              </p:nvPr>
            </p:nvSpPr>
            <p:spPr>
              <a:xfrm>
                <a:off x="5881" y="4439"/>
                <a:ext cx="574" cy="4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8" name="Rectangle 859"/>
              <p:cNvSpPr/>
              <p:nvPr>
                <p:custDataLst>
                  <p:tags r:id="rId9"/>
                </p:custDataLst>
              </p:nvPr>
            </p:nvSpPr>
            <p:spPr>
              <a:xfrm>
                <a:off x="6025" y="4552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9" name="Rectangle 860"/>
              <p:cNvSpPr/>
              <p:nvPr>
                <p:custDataLst>
                  <p:tags r:id="rId10"/>
                </p:custDataLst>
              </p:nvPr>
            </p:nvSpPr>
            <p:spPr>
              <a:xfrm>
                <a:off x="6155" y="4552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90" name="Rectangle 861"/>
              <p:cNvSpPr/>
              <p:nvPr>
                <p:custDataLst>
                  <p:tags r:id="rId11"/>
                </p:custDataLst>
              </p:nvPr>
            </p:nvSpPr>
            <p:spPr>
              <a:xfrm>
                <a:off x="5192" y="4590"/>
                <a:ext cx="631" cy="4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91" name="Rectangle 862"/>
              <p:cNvSpPr/>
              <p:nvPr>
                <p:custDataLst>
                  <p:tags r:id="rId12"/>
                </p:custDataLst>
              </p:nvPr>
            </p:nvSpPr>
            <p:spPr>
              <a:xfrm>
                <a:off x="6018" y="5881"/>
                <a:ext cx="54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(B)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92" name="Group 864"/>
              <p:cNvGrpSpPr/>
              <p:nvPr/>
            </p:nvGrpSpPr>
            <p:grpSpPr>
              <a:xfrm>
                <a:off x="5694" y="4641"/>
                <a:ext cx="1214" cy="1125"/>
                <a:chOff x="5694" y="4641"/>
                <a:chExt cx="1214" cy="1125"/>
              </a:xfrm>
            </p:grpSpPr>
            <p:sp>
              <p:nvSpPr>
                <p:cNvPr id="7293" name="Freeform 86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5694" y="5713"/>
                  <a:ext cx="57" cy="53"/>
                </a:xfrm>
                <a:custGeom>
                  <a:avLst/>
                  <a:gdLst/>
                  <a:ahLst/>
                  <a:cxnLst>
                    <a:cxn ang="0">
                      <a:pos x="5" y="41"/>
                    </a:cxn>
                    <a:cxn ang="0">
                      <a:pos x="2" y="44"/>
                    </a:cxn>
                    <a:cxn ang="0">
                      <a:pos x="0" y="46"/>
                    </a:cxn>
                    <a:cxn ang="0">
                      <a:pos x="2" y="48"/>
                    </a:cxn>
                    <a:cxn ang="0">
                      <a:pos x="5" y="51"/>
                    </a:cxn>
                    <a:cxn ang="0">
                      <a:pos x="7" y="53"/>
                    </a:cxn>
                    <a:cxn ang="0">
                      <a:pos x="12" y="53"/>
                    </a:cxn>
                    <a:cxn ang="0">
                      <a:pos x="53" y="12"/>
                    </a:cxn>
                    <a:cxn ang="0">
                      <a:pos x="55" y="10"/>
                    </a:cxn>
                    <a:cxn ang="0">
                      <a:pos x="57" y="8"/>
                    </a:cxn>
                    <a:cxn ang="0">
                      <a:pos x="57" y="5"/>
                    </a:cxn>
                    <a:cxn ang="0">
                      <a:pos x="55" y="3"/>
                    </a:cxn>
                    <a:cxn ang="0">
                      <a:pos x="53" y="0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0"/>
                    </a:cxn>
                    <a:cxn ang="0">
                      <a:pos x="5" y="41"/>
                    </a:cxn>
                  </a:cxnLst>
                  <a:rect l="0" t="0" r="0" b="0"/>
                  <a:pathLst>
                    <a:path w="57" h="53">
                      <a:moveTo>
                        <a:pt x="5" y="41"/>
                      </a:moveTo>
                      <a:lnTo>
                        <a:pt x="2" y="44"/>
                      </a:lnTo>
                      <a:lnTo>
                        <a:pt x="0" y="46"/>
                      </a:lnTo>
                      <a:lnTo>
                        <a:pt x="2" y="48"/>
                      </a:lnTo>
                      <a:lnTo>
                        <a:pt x="5" y="51"/>
                      </a:lnTo>
                      <a:lnTo>
                        <a:pt x="7" y="53"/>
                      </a:lnTo>
                      <a:lnTo>
                        <a:pt x="12" y="53"/>
                      </a:lnTo>
                      <a:lnTo>
                        <a:pt x="53" y="12"/>
                      </a:lnTo>
                      <a:lnTo>
                        <a:pt x="55" y="10"/>
                      </a:lnTo>
                      <a:lnTo>
                        <a:pt x="57" y="8"/>
                      </a:lnTo>
                      <a:lnTo>
                        <a:pt x="57" y="5"/>
                      </a:lnTo>
                      <a:lnTo>
                        <a:pt x="55" y="3"/>
                      </a:lnTo>
                      <a:lnTo>
                        <a:pt x="53" y="0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0"/>
                      </a:lnTo>
                      <a:lnTo>
                        <a:pt x="5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4" name="Freeform 866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768" y="5644"/>
                  <a:ext cx="55" cy="53"/>
                </a:xfrm>
                <a:custGeom>
                  <a:avLst/>
                  <a:gdLst/>
                  <a:ahLst/>
                  <a:cxnLst>
                    <a:cxn ang="0">
                      <a:pos x="3" y="41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0" y="50"/>
                    </a:cxn>
                    <a:cxn ang="0">
                      <a:pos x="3" y="53"/>
                    </a:cxn>
                    <a:cxn ang="0">
                      <a:pos x="5" y="53"/>
                    </a:cxn>
                    <a:cxn ang="0">
                      <a:pos x="7" y="53"/>
                    </a:cxn>
                    <a:cxn ang="0">
                      <a:pos x="10" y="53"/>
                    </a:cxn>
                    <a:cxn ang="0">
                      <a:pos x="53" y="14"/>
                    </a:cxn>
                    <a:cxn ang="0">
                      <a:pos x="55" y="12"/>
                    </a:cxn>
                    <a:cxn ang="0">
                      <a:pos x="55" y="9"/>
                    </a:cxn>
                    <a:cxn ang="0">
                      <a:pos x="55" y="7"/>
                    </a:cxn>
                    <a:cxn ang="0">
                      <a:pos x="55" y="5"/>
                    </a:cxn>
                    <a:cxn ang="0">
                      <a:pos x="53" y="2"/>
                    </a:cxn>
                    <a:cxn ang="0">
                      <a:pos x="51" y="0"/>
                    </a:cxn>
                    <a:cxn ang="0">
                      <a:pos x="48" y="0"/>
                    </a:cxn>
                    <a:cxn ang="0">
                      <a:pos x="46" y="2"/>
                    </a:cxn>
                    <a:cxn ang="0">
                      <a:pos x="3" y="41"/>
                    </a:cxn>
                  </a:cxnLst>
                  <a:rect l="0" t="0" r="0" b="0"/>
                  <a:pathLst>
                    <a:path w="55" h="53">
                      <a:moveTo>
                        <a:pt x="3" y="41"/>
                      </a:move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3" y="53"/>
                      </a:lnTo>
                      <a:lnTo>
                        <a:pt x="5" y="53"/>
                      </a:lnTo>
                      <a:lnTo>
                        <a:pt x="7" y="53"/>
                      </a:lnTo>
                      <a:lnTo>
                        <a:pt x="10" y="53"/>
                      </a:lnTo>
                      <a:lnTo>
                        <a:pt x="53" y="14"/>
                      </a:lnTo>
                      <a:lnTo>
                        <a:pt x="55" y="12"/>
                      </a:lnTo>
                      <a:lnTo>
                        <a:pt x="55" y="9"/>
                      </a:lnTo>
                      <a:lnTo>
                        <a:pt x="55" y="7"/>
                      </a:lnTo>
                      <a:lnTo>
                        <a:pt x="55" y="5"/>
                      </a:lnTo>
                      <a:lnTo>
                        <a:pt x="53" y="2"/>
                      </a:lnTo>
                      <a:lnTo>
                        <a:pt x="51" y="0"/>
                      </a:lnTo>
                      <a:lnTo>
                        <a:pt x="48" y="0"/>
                      </a:lnTo>
                      <a:lnTo>
                        <a:pt x="46" y="2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5" name="Freeform 867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5843" y="5577"/>
                  <a:ext cx="55" cy="52"/>
                </a:xfrm>
                <a:custGeom>
                  <a:avLst/>
                  <a:gdLst/>
                  <a:ahLst/>
                  <a:cxnLst>
                    <a:cxn ang="0">
                      <a:pos x="2" y="38"/>
                    </a:cxn>
                    <a:cxn ang="0">
                      <a:pos x="0" y="40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4" y="52"/>
                    </a:cxn>
                    <a:cxn ang="0">
                      <a:pos x="7" y="52"/>
                    </a:cxn>
                    <a:cxn ang="0">
                      <a:pos x="9" y="50"/>
                    </a:cxn>
                    <a:cxn ang="0">
                      <a:pos x="52" y="12"/>
                    </a:cxn>
                    <a:cxn ang="0">
                      <a:pos x="55" y="9"/>
                    </a:cxn>
                    <a:cxn ang="0">
                      <a:pos x="55" y="7"/>
                    </a:cxn>
                    <a:cxn ang="0">
                      <a:pos x="55" y="4"/>
                    </a:cxn>
                    <a:cxn ang="0">
                      <a:pos x="55" y="2"/>
                    </a:cxn>
                    <a:cxn ang="0">
                      <a:pos x="52" y="0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0"/>
                    </a:cxn>
                    <a:cxn ang="0">
                      <a:pos x="2" y="38"/>
                    </a:cxn>
                  </a:cxnLst>
                  <a:rect l="0" t="0" r="0" b="0"/>
                  <a:pathLst>
                    <a:path w="55" h="52">
                      <a:moveTo>
                        <a:pt x="2" y="38"/>
                      </a:moveTo>
                      <a:lnTo>
                        <a:pt x="0" y="40"/>
                      </a:ln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4" y="52"/>
                      </a:lnTo>
                      <a:lnTo>
                        <a:pt x="7" y="52"/>
                      </a:lnTo>
                      <a:lnTo>
                        <a:pt x="9" y="50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5" y="7"/>
                      </a:lnTo>
                      <a:lnTo>
                        <a:pt x="55" y="4"/>
                      </a:lnTo>
                      <a:lnTo>
                        <a:pt x="55" y="2"/>
                      </a:lnTo>
                      <a:lnTo>
                        <a:pt x="52" y="0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0"/>
                      </a:lnTo>
                      <a:lnTo>
                        <a:pt x="2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6" name="Freeform 868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5915" y="5507"/>
                  <a:ext cx="57" cy="53"/>
                </a:xfrm>
                <a:custGeom>
                  <a:avLst/>
                  <a:gdLst/>
                  <a:ahLst/>
                  <a:cxnLst>
                    <a:cxn ang="0">
                      <a:pos x="4" y="41"/>
                    </a:cxn>
                    <a:cxn ang="0">
                      <a:pos x="2" y="43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4" y="53"/>
                    </a:cxn>
                    <a:cxn ang="0">
                      <a:pos x="7" y="53"/>
                    </a:cxn>
                    <a:cxn ang="0">
                      <a:pos x="9" y="53"/>
                    </a:cxn>
                    <a:cxn ang="0">
                      <a:pos x="12" y="53"/>
                    </a:cxn>
                    <a:cxn ang="0">
                      <a:pos x="55" y="14"/>
                    </a:cxn>
                    <a:cxn ang="0">
                      <a:pos x="57" y="12"/>
                    </a:cxn>
                    <a:cxn ang="0">
                      <a:pos x="57" y="10"/>
                    </a:cxn>
                    <a:cxn ang="0">
                      <a:pos x="57" y="7"/>
                    </a:cxn>
                    <a:cxn ang="0">
                      <a:pos x="57" y="5"/>
                    </a:cxn>
                    <a:cxn ang="0">
                      <a:pos x="55" y="2"/>
                    </a:cxn>
                    <a:cxn ang="0">
                      <a:pos x="52" y="0"/>
                    </a:cxn>
                    <a:cxn ang="0">
                      <a:pos x="50" y="0"/>
                    </a:cxn>
                    <a:cxn ang="0">
                      <a:pos x="48" y="2"/>
                    </a:cxn>
                    <a:cxn ang="0">
                      <a:pos x="4" y="41"/>
                    </a:cxn>
                  </a:cxnLst>
                  <a:rect l="0" t="0" r="0" b="0"/>
                  <a:pathLst>
                    <a:path w="57" h="53">
                      <a:moveTo>
                        <a:pt x="4" y="41"/>
                      </a:moveTo>
                      <a:lnTo>
                        <a:pt x="2" y="43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4" y="53"/>
                      </a:lnTo>
                      <a:lnTo>
                        <a:pt x="7" y="53"/>
                      </a:lnTo>
                      <a:lnTo>
                        <a:pt x="9" y="53"/>
                      </a:lnTo>
                      <a:lnTo>
                        <a:pt x="12" y="53"/>
                      </a:lnTo>
                      <a:lnTo>
                        <a:pt x="55" y="14"/>
                      </a:lnTo>
                      <a:lnTo>
                        <a:pt x="57" y="12"/>
                      </a:lnTo>
                      <a:lnTo>
                        <a:pt x="57" y="10"/>
                      </a:lnTo>
                      <a:lnTo>
                        <a:pt x="57" y="7"/>
                      </a:lnTo>
                      <a:lnTo>
                        <a:pt x="57" y="5"/>
                      </a:lnTo>
                      <a:lnTo>
                        <a:pt x="55" y="2"/>
                      </a:lnTo>
                      <a:lnTo>
                        <a:pt x="52" y="0"/>
                      </a:lnTo>
                      <a:lnTo>
                        <a:pt x="50" y="0"/>
                      </a:lnTo>
                      <a:lnTo>
                        <a:pt x="48" y="2"/>
                      </a:lnTo>
                      <a:lnTo>
                        <a:pt x="4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7" name="Freeform 869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5989" y="5440"/>
                  <a:ext cx="58" cy="53"/>
                </a:xfrm>
                <a:custGeom>
                  <a:avLst/>
                  <a:gdLst/>
                  <a:ahLst/>
                  <a:cxnLst>
                    <a:cxn ang="0">
                      <a:pos x="5" y="38"/>
                    </a:cxn>
                    <a:cxn ang="0">
                      <a:pos x="2" y="41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2" y="48"/>
                    </a:cxn>
                    <a:cxn ang="0">
                      <a:pos x="5" y="50"/>
                    </a:cxn>
                    <a:cxn ang="0">
                      <a:pos x="7" y="53"/>
                    </a:cxn>
                    <a:cxn ang="0">
                      <a:pos x="10" y="53"/>
                    </a:cxn>
                    <a:cxn ang="0">
                      <a:pos x="12" y="50"/>
                    </a:cxn>
                    <a:cxn ang="0">
                      <a:pos x="53" y="12"/>
                    </a:cxn>
                    <a:cxn ang="0">
                      <a:pos x="55" y="9"/>
                    </a:cxn>
                    <a:cxn ang="0">
                      <a:pos x="58" y="7"/>
                    </a:cxn>
                    <a:cxn ang="0">
                      <a:pos x="58" y="5"/>
                    </a:cxn>
                    <a:cxn ang="0">
                      <a:pos x="55" y="2"/>
                    </a:cxn>
                    <a:cxn ang="0">
                      <a:pos x="53" y="0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6" y="0"/>
                    </a:cxn>
                    <a:cxn ang="0">
                      <a:pos x="5" y="38"/>
                    </a:cxn>
                  </a:cxnLst>
                  <a:rect l="0" t="0" r="0" b="0"/>
                  <a:pathLst>
                    <a:path w="58" h="53">
                      <a:moveTo>
                        <a:pt x="5" y="38"/>
                      </a:moveTo>
                      <a:lnTo>
                        <a:pt x="2" y="41"/>
                      </a:ln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2" y="48"/>
                      </a:lnTo>
                      <a:lnTo>
                        <a:pt x="5" y="50"/>
                      </a:lnTo>
                      <a:lnTo>
                        <a:pt x="7" y="53"/>
                      </a:lnTo>
                      <a:lnTo>
                        <a:pt x="10" y="53"/>
                      </a:lnTo>
                      <a:lnTo>
                        <a:pt x="12" y="50"/>
                      </a:lnTo>
                      <a:lnTo>
                        <a:pt x="53" y="12"/>
                      </a:lnTo>
                      <a:lnTo>
                        <a:pt x="55" y="9"/>
                      </a:lnTo>
                      <a:lnTo>
                        <a:pt x="58" y="7"/>
                      </a:lnTo>
                      <a:lnTo>
                        <a:pt x="58" y="5"/>
                      </a:lnTo>
                      <a:lnTo>
                        <a:pt x="55" y="2"/>
                      </a:lnTo>
                      <a:lnTo>
                        <a:pt x="53" y="0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6" y="0"/>
                      </a:lnTo>
                      <a:lnTo>
                        <a:pt x="5" y="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8" name="Freeform 870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063" y="5370"/>
                  <a:ext cx="58" cy="53"/>
                </a:xfrm>
                <a:custGeom>
                  <a:avLst/>
                  <a:gdLst/>
                  <a:ahLst/>
                  <a:cxnLst>
                    <a:cxn ang="0">
                      <a:pos x="5" y="41"/>
                    </a:cxn>
                    <a:cxn ang="0">
                      <a:pos x="3" y="43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3" y="51"/>
                    </a:cxn>
                    <a:cxn ang="0">
                      <a:pos x="5" y="53"/>
                    </a:cxn>
                    <a:cxn ang="0">
                      <a:pos x="8" y="53"/>
                    </a:cxn>
                    <a:cxn ang="0">
                      <a:pos x="10" y="53"/>
                    </a:cxn>
                    <a:cxn ang="0">
                      <a:pos x="12" y="53"/>
                    </a:cxn>
                    <a:cxn ang="0">
                      <a:pos x="53" y="15"/>
                    </a:cxn>
                    <a:cxn ang="0">
                      <a:pos x="56" y="12"/>
                    </a:cxn>
                    <a:cxn ang="0">
                      <a:pos x="58" y="10"/>
                    </a:cxn>
                    <a:cxn ang="0">
                      <a:pos x="58" y="7"/>
                    </a:cxn>
                    <a:cxn ang="0">
                      <a:pos x="56" y="5"/>
                    </a:cxn>
                    <a:cxn ang="0">
                      <a:pos x="53" y="3"/>
                    </a:cxn>
                    <a:cxn ang="0">
                      <a:pos x="51" y="0"/>
                    </a:cxn>
                    <a:cxn ang="0">
                      <a:pos x="48" y="0"/>
                    </a:cxn>
                    <a:cxn ang="0">
                      <a:pos x="46" y="3"/>
                    </a:cxn>
                    <a:cxn ang="0">
                      <a:pos x="5" y="41"/>
                    </a:cxn>
                  </a:cxnLst>
                  <a:rect l="0" t="0" r="0" b="0"/>
                  <a:pathLst>
                    <a:path w="58" h="53">
                      <a:moveTo>
                        <a:pt x="5" y="41"/>
                      </a:moveTo>
                      <a:lnTo>
                        <a:pt x="3" y="43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3" y="51"/>
                      </a:lnTo>
                      <a:lnTo>
                        <a:pt x="5" y="53"/>
                      </a:lnTo>
                      <a:lnTo>
                        <a:pt x="8" y="53"/>
                      </a:lnTo>
                      <a:lnTo>
                        <a:pt x="10" y="53"/>
                      </a:lnTo>
                      <a:lnTo>
                        <a:pt x="12" y="53"/>
                      </a:lnTo>
                      <a:lnTo>
                        <a:pt x="53" y="15"/>
                      </a:lnTo>
                      <a:lnTo>
                        <a:pt x="56" y="12"/>
                      </a:lnTo>
                      <a:lnTo>
                        <a:pt x="58" y="10"/>
                      </a:lnTo>
                      <a:lnTo>
                        <a:pt x="58" y="7"/>
                      </a:lnTo>
                      <a:lnTo>
                        <a:pt x="56" y="5"/>
                      </a:lnTo>
                      <a:lnTo>
                        <a:pt x="53" y="3"/>
                      </a:lnTo>
                      <a:lnTo>
                        <a:pt x="51" y="0"/>
                      </a:lnTo>
                      <a:lnTo>
                        <a:pt x="48" y="0"/>
                      </a:lnTo>
                      <a:lnTo>
                        <a:pt x="46" y="3"/>
                      </a:lnTo>
                      <a:lnTo>
                        <a:pt x="5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299" name="Freeform 871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6138" y="5301"/>
                  <a:ext cx="57" cy="55"/>
                </a:xfrm>
                <a:custGeom>
                  <a:avLst/>
                  <a:gdLst/>
                  <a:ahLst/>
                  <a:cxnLst>
                    <a:cxn ang="0">
                      <a:pos x="2" y="40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0" y="50"/>
                    </a:cxn>
                    <a:cxn ang="0">
                      <a:pos x="2" y="52"/>
                    </a:cxn>
                    <a:cxn ang="0">
                      <a:pos x="5" y="55"/>
                    </a:cxn>
                    <a:cxn ang="0">
                      <a:pos x="7" y="55"/>
                    </a:cxn>
                    <a:cxn ang="0">
                      <a:pos x="9" y="52"/>
                    </a:cxn>
                    <a:cxn ang="0">
                      <a:pos x="53" y="14"/>
                    </a:cxn>
                    <a:cxn ang="0">
                      <a:pos x="55" y="12"/>
                    </a:cxn>
                    <a:cxn ang="0">
                      <a:pos x="57" y="9"/>
                    </a:cxn>
                    <a:cxn ang="0">
                      <a:pos x="57" y="7"/>
                    </a:cxn>
                    <a:cxn ang="0">
                      <a:pos x="55" y="4"/>
                    </a:cxn>
                    <a:cxn ang="0">
                      <a:pos x="53" y="2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2"/>
                    </a:cxn>
                    <a:cxn ang="0">
                      <a:pos x="2" y="40"/>
                    </a:cxn>
                  </a:cxnLst>
                  <a:rect l="0" t="0" r="0" b="0"/>
                  <a:pathLst>
                    <a:path w="57" h="55">
                      <a:moveTo>
                        <a:pt x="2" y="40"/>
                      </a:move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2" y="52"/>
                      </a:lnTo>
                      <a:lnTo>
                        <a:pt x="5" y="55"/>
                      </a:lnTo>
                      <a:lnTo>
                        <a:pt x="7" y="55"/>
                      </a:lnTo>
                      <a:lnTo>
                        <a:pt x="9" y="52"/>
                      </a:lnTo>
                      <a:lnTo>
                        <a:pt x="53" y="14"/>
                      </a:lnTo>
                      <a:lnTo>
                        <a:pt x="55" y="12"/>
                      </a:lnTo>
                      <a:lnTo>
                        <a:pt x="57" y="9"/>
                      </a:lnTo>
                      <a:lnTo>
                        <a:pt x="57" y="7"/>
                      </a:lnTo>
                      <a:lnTo>
                        <a:pt x="55" y="4"/>
                      </a:lnTo>
                      <a:lnTo>
                        <a:pt x="53" y="2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2"/>
                      </a:lnTo>
                      <a:lnTo>
                        <a:pt x="2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0" name="Freeform 87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6212" y="5233"/>
                  <a:ext cx="55" cy="53"/>
                </a:xfrm>
                <a:custGeom>
                  <a:avLst/>
                  <a:gdLst/>
                  <a:ahLst/>
                  <a:cxnLst>
                    <a:cxn ang="0">
                      <a:pos x="3" y="41"/>
                    </a:cxn>
                    <a:cxn ang="0">
                      <a:pos x="0" y="44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0" y="51"/>
                    </a:cxn>
                    <a:cxn ang="0">
                      <a:pos x="3" y="53"/>
                    </a:cxn>
                    <a:cxn ang="0">
                      <a:pos x="5" y="53"/>
                    </a:cxn>
                    <a:cxn ang="0">
                      <a:pos x="7" y="53"/>
                    </a:cxn>
                    <a:cxn ang="0">
                      <a:pos x="10" y="53"/>
                    </a:cxn>
                    <a:cxn ang="0">
                      <a:pos x="53" y="12"/>
                    </a:cxn>
                    <a:cxn ang="0">
                      <a:pos x="55" y="10"/>
                    </a:cxn>
                    <a:cxn ang="0">
                      <a:pos x="55" y="8"/>
                    </a:cxn>
                    <a:cxn ang="0">
                      <a:pos x="55" y="5"/>
                    </a:cxn>
                    <a:cxn ang="0">
                      <a:pos x="55" y="3"/>
                    </a:cxn>
                    <a:cxn ang="0">
                      <a:pos x="53" y="0"/>
                    </a:cxn>
                    <a:cxn ang="0">
                      <a:pos x="51" y="0"/>
                    </a:cxn>
                    <a:cxn ang="0">
                      <a:pos x="48" y="0"/>
                    </a:cxn>
                    <a:cxn ang="0">
                      <a:pos x="46" y="0"/>
                    </a:cxn>
                    <a:cxn ang="0">
                      <a:pos x="3" y="41"/>
                    </a:cxn>
                  </a:cxnLst>
                  <a:rect l="0" t="0" r="0" b="0"/>
                  <a:pathLst>
                    <a:path w="55" h="53">
                      <a:moveTo>
                        <a:pt x="3" y="41"/>
                      </a:moveTo>
                      <a:lnTo>
                        <a:pt x="0" y="44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0" y="51"/>
                      </a:lnTo>
                      <a:lnTo>
                        <a:pt x="3" y="53"/>
                      </a:lnTo>
                      <a:lnTo>
                        <a:pt x="5" y="53"/>
                      </a:lnTo>
                      <a:lnTo>
                        <a:pt x="7" y="53"/>
                      </a:lnTo>
                      <a:lnTo>
                        <a:pt x="10" y="53"/>
                      </a:lnTo>
                      <a:lnTo>
                        <a:pt x="53" y="12"/>
                      </a:lnTo>
                      <a:lnTo>
                        <a:pt x="55" y="10"/>
                      </a:lnTo>
                      <a:lnTo>
                        <a:pt x="55" y="8"/>
                      </a:lnTo>
                      <a:lnTo>
                        <a:pt x="55" y="5"/>
                      </a:lnTo>
                      <a:lnTo>
                        <a:pt x="55" y="3"/>
                      </a:lnTo>
                      <a:lnTo>
                        <a:pt x="53" y="0"/>
                      </a:lnTo>
                      <a:lnTo>
                        <a:pt x="51" y="0"/>
                      </a:lnTo>
                      <a:lnTo>
                        <a:pt x="48" y="0"/>
                      </a:lnTo>
                      <a:lnTo>
                        <a:pt x="46" y="0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1" name="Freeform 873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6287" y="5164"/>
                  <a:ext cx="55" cy="55"/>
                </a:xfrm>
                <a:custGeom>
                  <a:avLst/>
                  <a:gdLst/>
                  <a:ahLst/>
                  <a:cxnLst>
                    <a:cxn ang="0">
                      <a:pos x="2" y="41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0" y="50"/>
                    </a:cxn>
                    <a:cxn ang="0">
                      <a:pos x="2" y="53"/>
                    </a:cxn>
                    <a:cxn ang="0">
                      <a:pos x="4" y="55"/>
                    </a:cxn>
                    <a:cxn ang="0">
                      <a:pos x="7" y="55"/>
                    </a:cxn>
                    <a:cxn ang="0">
                      <a:pos x="9" y="53"/>
                    </a:cxn>
                    <a:cxn ang="0">
                      <a:pos x="52" y="14"/>
                    </a:cxn>
                    <a:cxn ang="0">
                      <a:pos x="55" y="12"/>
                    </a:cxn>
                    <a:cxn ang="0">
                      <a:pos x="55" y="9"/>
                    </a:cxn>
                    <a:cxn ang="0">
                      <a:pos x="55" y="7"/>
                    </a:cxn>
                    <a:cxn ang="0">
                      <a:pos x="55" y="5"/>
                    </a:cxn>
                    <a:cxn ang="0">
                      <a:pos x="52" y="2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2"/>
                    </a:cxn>
                    <a:cxn ang="0">
                      <a:pos x="2" y="41"/>
                    </a:cxn>
                  </a:cxnLst>
                  <a:rect l="0" t="0" r="0" b="0"/>
                  <a:pathLst>
                    <a:path w="55" h="55">
                      <a:moveTo>
                        <a:pt x="2" y="41"/>
                      </a:move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2" y="53"/>
                      </a:lnTo>
                      <a:lnTo>
                        <a:pt x="4" y="55"/>
                      </a:lnTo>
                      <a:lnTo>
                        <a:pt x="7" y="55"/>
                      </a:lnTo>
                      <a:lnTo>
                        <a:pt x="9" y="53"/>
                      </a:lnTo>
                      <a:lnTo>
                        <a:pt x="52" y="14"/>
                      </a:lnTo>
                      <a:lnTo>
                        <a:pt x="55" y="12"/>
                      </a:lnTo>
                      <a:lnTo>
                        <a:pt x="55" y="9"/>
                      </a:lnTo>
                      <a:lnTo>
                        <a:pt x="55" y="7"/>
                      </a:lnTo>
                      <a:lnTo>
                        <a:pt x="55" y="5"/>
                      </a:lnTo>
                      <a:lnTo>
                        <a:pt x="52" y="2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2"/>
                      </a:lnTo>
                      <a:lnTo>
                        <a:pt x="2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2" name="Freeform 874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6359" y="5097"/>
                  <a:ext cx="57" cy="52"/>
                </a:xfrm>
                <a:custGeom>
                  <a:avLst/>
                  <a:gdLst/>
                  <a:ahLst/>
                  <a:cxnLst>
                    <a:cxn ang="0">
                      <a:pos x="4" y="40"/>
                    </a:cxn>
                    <a:cxn ang="0">
                      <a:pos x="2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4" y="52"/>
                    </a:cxn>
                    <a:cxn ang="0">
                      <a:pos x="7" y="52"/>
                    </a:cxn>
                    <a:cxn ang="0">
                      <a:pos x="9" y="52"/>
                    </a:cxn>
                    <a:cxn ang="0">
                      <a:pos x="12" y="52"/>
                    </a:cxn>
                    <a:cxn ang="0">
                      <a:pos x="52" y="12"/>
                    </a:cxn>
                    <a:cxn ang="0">
                      <a:pos x="55" y="9"/>
                    </a:cxn>
                    <a:cxn ang="0">
                      <a:pos x="57" y="7"/>
                    </a:cxn>
                    <a:cxn ang="0">
                      <a:pos x="57" y="4"/>
                    </a:cxn>
                    <a:cxn ang="0">
                      <a:pos x="55" y="2"/>
                    </a:cxn>
                    <a:cxn ang="0">
                      <a:pos x="52" y="0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0"/>
                    </a:cxn>
                    <a:cxn ang="0">
                      <a:pos x="4" y="40"/>
                    </a:cxn>
                  </a:cxnLst>
                  <a:rect l="0" t="0" r="0" b="0"/>
                  <a:pathLst>
                    <a:path w="57" h="52">
                      <a:moveTo>
                        <a:pt x="4" y="40"/>
                      </a:moveTo>
                      <a:lnTo>
                        <a:pt x="2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4" y="52"/>
                      </a:lnTo>
                      <a:lnTo>
                        <a:pt x="7" y="52"/>
                      </a:lnTo>
                      <a:lnTo>
                        <a:pt x="9" y="52"/>
                      </a:lnTo>
                      <a:lnTo>
                        <a:pt x="12" y="52"/>
                      </a:lnTo>
                      <a:lnTo>
                        <a:pt x="52" y="12"/>
                      </a:lnTo>
                      <a:lnTo>
                        <a:pt x="55" y="9"/>
                      </a:lnTo>
                      <a:lnTo>
                        <a:pt x="57" y="7"/>
                      </a:lnTo>
                      <a:lnTo>
                        <a:pt x="57" y="4"/>
                      </a:lnTo>
                      <a:lnTo>
                        <a:pt x="55" y="2"/>
                      </a:lnTo>
                      <a:lnTo>
                        <a:pt x="52" y="0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0"/>
                      </a:lnTo>
                      <a:lnTo>
                        <a:pt x="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3" name="Freeform 875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6433" y="5027"/>
                  <a:ext cx="58" cy="55"/>
                </a:xfrm>
                <a:custGeom>
                  <a:avLst/>
                  <a:gdLst/>
                  <a:ahLst/>
                  <a:cxnLst>
                    <a:cxn ang="0">
                      <a:pos x="5" y="41"/>
                    </a:cxn>
                    <a:cxn ang="0">
                      <a:pos x="2" y="43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2" y="50"/>
                    </a:cxn>
                    <a:cxn ang="0">
                      <a:pos x="5" y="53"/>
                    </a:cxn>
                    <a:cxn ang="0">
                      <a:pos x="7" y="55"/>
                    </a:cxn>
                    <a:cxn ang="0">
                      <a:pos x="10" y="55"/>
                    </a:cxn>
                    <a:cxn ang="0">
                      <a:pos x="12" y="53"/>
                    </a:cxn>
                    <a:cxn ang="0">
                      <a:pos x="53" y="14"/>
                    </a:cxn>
                    <a:cxn ang="0">
                      <a:pos x="55" y="12"/>
                    </a:cxn>
                    <a:cxn ang="0">
                      <a:pos x="58" y="10"/>
                    </a:cxn>
                    <a:cxn ang="0">
                      <a:pos x="58" y="7"/>
                    </a:cxn>
                    <a:cxn ang="0">
                      <a:pos x="55" y="5"/>
                    </a:cxn>
                    <a:cxn ang="0">
                      <a:pos x="53" y="2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6" y="2"/>
                    </a:cxn>
                    <a:cxn ang="0">
                      <a:pos x="5" y="41"/>
                    </a:cxn>
                  </a:cxnLst>
                  <a:rect l="0" t="0" r="0" b="0"/>
                  <a:pathLst>
                    <a:path w="58" h="55">
                      <a:moveTo>
                        <a:pt x="5" y="41"/>
                      </a:moveTo>
                      <a:lnTo>
                        <a:pt x="2" y="43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2" y="50"/>
                      </a:lnTo>
                      <a:lnTo>
                        <a:pt x="5" y="53"/>
                      </a:lnTo>
                      <a:lnTo>
                        <a:pt x="7" y="55"/>
                      </a:lnTo>
                      <a:lnTo>
                        <a:pt x="10" y="55"/>
                      </a:lnTo>
                      <a:lnTo>
                        <a:pt x="12" y="53"/>
                      </a:lnTo>
                      <a:lnTo>
                        <a:pt x="53" y="14"/>
                      </a:lnTo>
                      <a:lnTo>
                        <a:pt x="55" y="12"/>
                      </a:lnTo>
                      <a:lnTo>
                        <a:pt x="58" y="10"/>
                      </a:lnTo>
                      <a:lnTo>
                        <a:pt x="58" y="7"/>
                      </a:lnTo>
                      <a:lnTo>
                        <a:pt x="55" y="5"/>
                      </a:lnTo>
                      <a:lnTo>
                        <a:pt x="53" y="2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6" y="2"/>
                      </a:lnTo>
                      <a:lnTo>
                        <a:pt x="5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4" name="Freeform 8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6507" y="4960"/>
                  <a:ext cx="58" cy="53"/>
                </a:xfrm>
                <a:custGeom>
                  <a:avLst/>
                  <a:gdLst/>
                  <a:ahLst/>
                  <a:cxnLst>
                    <a:cxn ang="0">
                      <a:pos x="3" y="41"/>
                    </a:cxn>
                    <a:cxn ang="0">
                      <a:pos x="0" y="43"/>
                    </a:cxn>
                    <a:cxn ang="0">
                      <a:pos x="0" y="45"/>
                    </a:cxn>
                    <a:cxn ang="0">
                      <a:pos x="0" y="48"/>
                    </a:cxn>
                    <a:cxn ang="0">
                      <a:pos x="0" y="50"/>
                    </a:cxn>
                    <a:cxn ang="0">
                      <a:pos x="3" y="53"/>
                    </a:cxn>
                    <a:cxn ang="0">
                      <a:pos x="5" y="53"/>
                    </a:cxn>
                    <a:cxn ang="0">
                      <a:pos x="8" y="53"/>
                    </a:cxn>
                    <a:cxn ang="0">
                      <a:pos x="10" y="53"/>
                    </a:cxn>
                    <a:cxn ang="0">
                      <a:pos x="53" y="12"/>
                    </a:cxn>
                    <a:cxn ang="0">
                      <a:pos x="56" y="9"/>
                    </a:cxn>
                    <a:cxn ang="0">
                      <a:pos x="58" y="7"/>
                    </a:cxn>
                    <a:cxn ang="0">
                      <a:pos x="58" y="5"/>
                    </a:cxn>
                    <a:cxn ang="0">
                      <a:pos x="56" y="2"/>
                    </a:cxn>
                    <a:cxn ang="0">
                      <a:pos x="53" y="0"/>
                    </a:cxn>
                    <a:cxn ang="0">
                      <a:pos x="51" y="0"/>
                    </a:cxn>
                    <a:cxn ang="0">
                      <a:pos x="48" y="0"/>
                    </a:cxn>
                    <a:cxn ang="0">
                      <a:pos x="46" y="0"/>
                    </a:cxn>
                    <a:cxn ang="0">
                      <a:pos x="3" y="41"/>
                    </a:cxn>
                  </a:cxnLst>
                  <a:rect l="0" t="0" r="0" b="0"/>
                  <a:pathLst>
                    <a:path w="58" h="53">
                      <a:moveTo>
                        <a:pt x="3" y="41"/>
                      </a:moveTo>
                      <a:lnTo>
                        <a:pt x="0" y="43"/>
                      </a:lnTo>
                      <a:lnTo>
                        <a:pt x="0" y="45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3" y="53"/>
                      </a:lnTo>
                      <a:lnTo>
                        <a:pt x="5" y="53"/>
                      </a:lnTo>
                      <a:lnTo>
                        <a:pt x="8" y="53"/>
                      </a:lnTo>
                      <a:lnTo>
                        <a:pt x="10" y="53"/>
                      </a:lnTo>
                      <a:lnTo>
                        <a:pt x="53" y="12"/>
                      </a:lnTo>
                      <a:lnTo>
                        <a:pt x="56" y="9"/>
                      </a:lnTo>
                      <a:lnTo>
                        <a:pt x="58" y="7"/>
                      </a:lnTo>
                      <a:lnTo>
                        <a:pt x="58" y="5"/>
                      </a:lnTo>
                      <a:lnTo>
                        <a:pt x="56" y="2"/>
                      </a:lnTo>
                      <a:lnTo>
                        <a:pt x="53" y="0"/>
                      </a:lnTo>
                      <a:lnTo>
                        <a:pt x="51" y="0"/>
                      </a:lnTo>
                      <a:lnTo>
                        <a:pt x="48" y="0"/>
                      </a:lnTo>
                      <a:lnTo>
                        <a:pt x="46" y="0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5" name="Freeform 877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6582" y="4890"/>
                  <a:ext cx="55" cy="55"/>
                </a:xfrm>
                <a:custGeom>
                  <a:avLst/>
                  <a:gdLst/>
                  <a:ahLst/>
                  <a:cxnLst>
                    <a:cxn ang="0">
                      <a:pos x="2" y="41"/>
                    </a:cxn>
                    <a:cxn ang="0">
                      <a:pos x="0" y="43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0" y="51"/>
                    </a:cxn>
                    <a:cxn ang="0">
                      <a:pos x="2" y="53"/>
                    </a:cxn>
                    <a:cxn ang="0">
                      <a:pos x="5" y="55"/>
                    </a:cxn>
                    <a:cxn ang="0">
                      <a:pos x="7" y="55"/>
                    </a:cxn>
                    <a:cxn ang="0">
                      <a:pos x="9" y="53"/>
                    </a:cxn>
                    <a:cxn ang="0">
                      <a:pos x="53" y="15"/>
                    </a:cxn>
                    <a:cxn ang="0">
                      <a:pos x="55" y="12"/>
                    </a:cxn>
                    <a:cxn ang="0">
                      <a:pos x="55" y="10"/>
                    </a:cxn>
                    <a:cxn ang="0">
                      <a:pos x="55" y="7"/>
                    </a:cxn>
                    <a:cxn ang="0">
                      <a:pos x="55" y="5"/>
                    </a:cxn>
                    <a:cxn ang="0">
                      <a:pos x="53" y="3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3"/>
                    </a:cxn>
                    <a:cxn ang="0">
                      <a:pos x="2" y="41"/>
                    </a:cxn>
                  </a:cxnLst>
                  <a:rect l="0" t="0" r="0" b="0"/>
                  <a:pathLst>
                    <a:path w="55" h="55">
                      <a:moveTo>
                        <a:pt x="2" y="41"/>
                      </a:moveTo>
                      <a:lnTo>
                        <a:pt x="0" y="43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0" y="51"/>
                      </a:lnTo>
                      <a:lnTo>
                        <a:pt x="2" y="53"/>
                      </a:lnTo>
                      <a:lnTo>
                        <a:pt x="5" y="55"/>
                      </a:lnTo>
                      <a:lnTo>
                        <a:pt x="7" y="55"/>
                      </a:lnTo>
                      <a:lnTo>
                        <a:pt x="9" y="53"/>
                      </a:lnTo>
                      <a:lnTo>
                        <a:pt x="53" y="15"/>
                      </a:lnTo>
                      <a:lnTo>
                        <a:pt x="55" y="12"/>
                      </a:lnTo>
                      <a:lnTo>
                        <a:pt x="55" y="10"/>
                      </a:lnTo>
                      <a:lnTo>
                        <a:pt x="55" y="7"/>
                      </a:lnTo>
                      <a:lnTo>
                        <a:pt x="55" y="5"/>
                      </a:lnTo>
                      <a:lnTo>
                        <a:pt x="53" y="3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3"/>
                      </a:lnTo>
                      <a:lnTo>
                        <a:pt x="2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6" name="Freeform 878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6656" y="4823"/>
                  <a:ext cx="55" cy="53"/>
                </a:xfrm>
                <a:custGeom>
                  <a:avLst/>
                  <a:gdLst/>
                  <a:ahLst/>
                  <a:cxnLst>
                    <a:cxn ang="0">
                      <a:pos x="3" y="41"/>
                    </a:cxn>
                    <a:cxn ang="0">
                      <a:pos x="0" y="43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0" y="50"/>
                    </a:cxn>
                    <a:cxn ang="0">
                      <a:pos x="3" y="53"/>
                    </a:cxn>
                    <a:cxn ang="0">
                      <a:pos x="5" y="53"/>
                    </a:cxn>
                    <a:cxn ang="0">
                      <a:pos x="7" y="53"/>
                    </a:cxn>
                    <a:cxn ang="0">
                      <a:pos x="10" y="53"/>
                    </a:cxn>
                    <a:cxn ang="0">
                      <a:pos x="53" y="12"/>
                    </a:cxn>
                    <a:cxn ang="0">
                      <a:pos x="55" y="10"/>
                    </a:cxn>
                    <a:cxn ang="0">
                      <a:pos x="55" y="7"/>
                    </a:cxn>
                    <a:cxn ang="0">
                      <a:pos x="55" y="5"/>
                    </a:cxn>
                    <a:cxn ang="0">
                      <a:pos x="55" y="2"/>
                    </a:cxn>
                    <a:cxn ang="0">
                      <a:pos x="53" y="0"/>
                    </a:cxn>
                    <a:cxn ang="0">
                      <a:pos x="51" y="0"/>
                    </a:cxn>
                    <a:cxn ang="0">
                      <a:pos x="48" y="0"/>
                    </a:cxn>
                    <a:cxn ang="0">
                      <a:pos x="46" y="0"/>
                    </a:cxn>
                    <a:cxn ang="0">
                      <a:pos x="3" y="41"/>
                    </a:cxn>
                  </a:cxnLst>
                  <a:rect l="0" t="0" r="0" b="0"/>
                  <a:pathLst>
                    <a:path w="55" h="53">
                      <a:moveTo>
                        <a:pt x="3" y="41"/>
                      </a:moveTo>
                      <a:lnTo>
                        <a:pt x="0" y="43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3" y="53"/>
                      </a:lnTo>
                      <a:lnTo>
                        <a:pt x="5" y="53"/>
                      </a:lnTo>
                      <a:lnTo>
                        <a:pt x="7" y="53"/>
                      </a:lnTo>
                      <a:lnTo>
                        <a:pt x="10" y="53"/>
                      </a:lnTo>
                      <a:lnTo>
                        <a:pt x="53" y="12"/>
                      </a:lnTo>
                      <a:lnTo>
                        <a:pt x="55" y="10"/>
                      </a:lnTo>
                      <a:lnTo>
                        <a:pt x="55" y="7"/>
                      </a:lnTo>
                      <a:lnTo>
                        <a:pt x="55" y="5"/>
                      </a:lnTo>
                      <a:lnTo>
                        <a:pt x="55" y="2"/>
                      </a:lnTo>
                      <a:lnTo>
                        <a:pt x="53" y="0"/>
                      </a:lnTo>
                      <a:lnTo>
                        <a:pt x="51" y="0"/>
                      </a:lnTo>
                      <a:lnTo>
                        <a:pt x="48" y="0"/>
                      </a:lnTo>
                      <a:lnTo>
                        <a:pt x="46" y="0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7" name="Freeform 879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6728" y="4753"/>
                  <a:ext cx="58" cy="53"/>
                </a:xfrm>
                <a:custGeom>
                  <a:avLst/>
                  <a:gdLst/>
                  <a:ahLst/>
                  <a:cxnLst>
                    <a:cxn ang="0">
                      <a:pos x="5" y="41"/>
                    </a:cxn>
                    <a:cxn ang="0">
                      <a:pos x="3" y="44"/>
                    </a:cxn>
                    <a:cxn ang="0">
                      <a:pos x="0" y="46"/>
                    </a:cxn>
                    <a:cxn ang="0">
                      <a:pos x="0" y="48"/>
                    </a:cxn>
                    <a:cxn ang="0">
                      <a:pos x="3" y="51"/>
                    </a:cxn>
                    <a:cxn ang="0">
                      <a:pos x="5" y="53"/>
                    </a:cxn>
                    <a:cxn ang="0">
                      <a:pos x="7" y="53"/>
                    </a:cxn>
                    <a:cxn ang="0">
                      <a:pos x="10" y="53"/>
                    </a:cxn>
                    <a:cxn ang="0">
                      <a:pos x="12" y="53"/>
                    </a:cxn>
                    <a:cxn ang="0">
                      <a:pos x="55" y="15"/>
                    </a:cxn>
                    <a:cxn ang="0">
                      <a:pos x="58" y="12"/>
                    </a:cxn>
                    <a:cxn ang="0">
                      <a:pos x="58" y="10"/>
                    </a:cxn>
                    <a:cxn ang="0">
                      <a:pos x="58" y="8"/>
                    </a:cxn>
                    <a:cxn ang="0">
                      <a:pos x="58" y="5"/>
                    </a:cxn>
                    <a:cxn ang="0">
                      <a:pos x="55" y="3"/>
                    </a:cxn>
                    <a:cxn ang="0">
                      <a:pos x="53" y="0"/>
                    </a:cxn>
                    <a:cxn ang="0">
                      <a:pos x="51" y="0"/>
                    </a:cxn>
                    <a:cxn ang="0">
                      <a:pos x="48" y="3"/>
                    </a:cxn>
                    <a:cxn ang="0">
                      <a:pos x="5" y="41"/>
                    </a:cxn>
                  </a:cxnLst>
                  <a:rect l="0" t="0" r="0" b="0"/>
                  <a:pathLst>
                    <a:path w="58" h="53">
                      <a:moveTo>
                        <a:pt x="5" y="41"/>
                      </a:moveTo>
                      <a:lnTo>
                        <a:pt x="3" y="44"/>
                      </a:lnTo>
                      <a:lnTo>
                        <a:pt x="0" y="46"/>
                      </a:lnTo>
                      <a:lnTo>
                        <a:pt x="0" y="48"/>
                      </a:lnTo>
                      <a:lnTo>
                        <a:pt x="3" y="51"/>
                      </a:lnTo>
                      <a:lnTo>
                        <a:pt x="5" y="53"/>
                      </a:lnTo>
                      <a:lnTo>
                        <a:pt x="7" y="53"/>
                      </a:lnTo>
                      <a:lnTo>
                        <a:pt x="10" y="53"/>
                      </a:lnTo>
                      <a:lnTo>
                        <a:pt x="12" y="53"/>
                      </a:lnTo>
                      <a:lnTo>
                        <a:pt x="55" y="15"/>
                      </a:lnTo>
                      <a:lnTo>
                        <a:pt x="58" y="12"/>
                      </a:lnTo>
                      <a:lnTo>
                        <a:pt x="58" y="10"/>
                      </a:lnTo>
                      <a:lnTo>
                        <a:pt x="58" y="8"/>
                      </a:lnTo>
                      <a:lnTo>
                        <a:pt x="58" y="5"/>
                      </a:lnTo>
                      <a:lnTo>
                        <a:pt x="55" y="3"/>
                      </a:lnTo>
                      <a:lnTo>
                        <a:pt x="53" y="0"/>
                      </a:lnTo>
                      <a:lnTo>
                        <a:pt x="51" y="0"/>
                      </a:lnTo>
                      <a:lnTo>
                        <a:pt x="48" y="3"/>
                      </a:lnTo>
                      <a:lnTo>
                        <a:pt x="5" y="4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8" name="Freeform 880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6803" y="4686"/>
                  <a:ext cx="57" cy="53"/>
                </a:xfrm>
                <a:custGeom>
                  <a:avLst/>
                  <a:gdLst/>
                  <a:ahLst/>
                  <a:cxnLst>
                    <a:cxn ang="0">
                      <a:pos x="4" y="39"/>
                    </a:cxn>
                    <a:cxn ang="0">
                      <a:pos x="2" y="41"/>
                    </a:cxn>
                    <a:cxn ang="0">
                      <a:pos x="0" y="43"/>
                    </a:cxn>
                    <a:cxn ang="0">
                      <a:pos x="0" y="46"/>
                    </a:cxn>
                    <a:cxn ang="0">
                      <a:pos x="2" y="48"/>
                    </a:cxn>
                    <a:cxn ang="0">
                      <a:pos x="4" y="51"/>
                    </a:cxn>
                    <a:cxn ang="0">
                      <a:pos x="7" y="53"/>
                    </a:cxn>
                    <a:cxn ang="0">
                      <a:pos x="9" y="53"/>
                    </a:cxn>
                    <a:cxn ang="0">
                      <a:pos x="12" y="51"/>
                    </a:cxn>
                    <a:cxn ang="0">
                      <a:pos x="52" y="12"/>
                    </a:cxn>
                    <a:cxn ang="0">
                      <a:pos x="55" y="10"/>
                    </a:cxn>
                    <a:cxn ang="0">
                      <a:pos x="57" y="7"/>
                    </a:cxn>
                    <a:cxn ang="0">
                      <a:pos x="57" y="5"/>
                    </a:cxn>
                    <a:cxn ang="0">
                      <a:pos x="55" y="3"/>
                    </a:cxn>
                    <a:cxn ang="0">
                      <a:pos x="52" y="0"/>
                    </a:cxn>
                    <a:cxn ang="0">
                      <a:pos x="50" y="0"/>
                    </a:cxn>
                    <a:cxn ang="0">
                      <a:pos x="48" y="0"/>
                    </a:cxn>
                    <a:cxn ang="0">
                      <a:pos x="45" y="0"/>
                    </a:cxn>
                    <a:cxn ang="0">
                      <a:pos x="4" y="39"/>
                    </a:cxn>
                  </a:cxnLst>
                  <a:rect l="0" t="0" r="0" b="0"/>
                  <a:pathLst>
                    <a:path w="57" h="53">
                      <a:moveTo>
                        <a:pt x="4" y="39"/>
                      </a:moveTo>
                      <a:lnTo>
                        <a:pt x="2" y="41"/>
                      </a:lnTo>
                      <a:lnTo>
                        <a:pt x="0" y="43"/>
                      </a:lnTo>
                      <a:lnTo>
                        <a:pt x="0" y="46"/>
                      </a:lnTo>
                      <a:lnTo>
                        <a:pt x="2" y="48"/>
                      </a:lnTo>
                      <a:lnTo>
                        <a:pt x="4" y="51"/>
                      </a:lnTo>
                      <a:lnTo>
                        <a:pt x="7" y="53"/>
                      </a:lnTo>
                      <a:lnTo>
                        <a:pt x="9" y="53"/>
                      </a:lnTo>
                      <a:lnTo>
                        <a:pt x="12" y="51"/>
                      </a:lnTo>
                      <a:lnTo>
                        <a:pt x="52" y="12"/>
                      </a:lnTo>
                      <a:lnTo>
                        <a:pt x="55" y="10"/>
                      </a:lnTo>
                      <a:lnTo>
                        <a:pt x="57" y="7"/>
                      </a:lnTo>
                      <a:lnTo>
                        <a:pt x="57" y="5"/>
                      </a:lnTo>
                      <a:lnTo>
                        <a:pt x="55" y="3"/>
                      </a:lnTo>
                      <a:lnTo>
                        <a:pt x="52" y="0"/>
                      </a:lnTo>
                      <a:lnTo>
                        <a:pt x="50" y="0"/>
                      </a:lnTo>
                      <a:lnTo>
                        <a:pt x="48" y="0"/>
                      </a:lnTo>
                      <a:lnTo>
                        <a:pt x="45" y="0"/>
                      </a:lnTo>
                      <a:lnTo>
                        <a:pt x="4" y="3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309" name="Freeform 881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6877" y="4641"/>
                  <a:ext cx="31" cy="28"/>
                </a:xfrm>
                <a:custGeom>
                  <a:avLst/>
                  <a:gdLst/>
                  <a:ahLst/>
                  <a:cxnLst>
                    <a:cxn ang="0">
                      <a:pos x="5" y="16"/>
                    </a:cxn>
                    <a:cxn ang="0">
                      <a:pos x="2" y="19"/>
                    </a:cxn>
                    <a:cxn ang="0">
                      <a:pos x="0" y="21"/>
                    </a:cxn>
                    <a:cxn ang="0">
                      <a:pos x="0" y="24"/>
                    </a:cxn>
                    <a:cxn ang="0">
                      <a:pos x="2" y="26"/>
                    </a:cxn>
                    <a:cxn ang="0">
                      <a:pos x="5" y="28"/>
                    </a:cxn>
                    <a:cxn ang="0">
                      <a:pos x="7" y="28"/>
                    </a:cxn>
                    <a:cxn ang="0">
                      <a:pos x="10" y="28"/>
                    </a:cxn>
                    <a:cxn ang="0">
                      <a:pos x="12" y="28"/>
                    </a:cxn>
                    <a:cxn ang="0">
                      <a:pos x="29" y="14"/>
                    </a:cxn>
                    <a:cxn ang="0">
                      <a:pos x="29" y="9"/>
                    </a:cxn>
                    <a:cxn ang="0">
                      <a:pos x="31" y="7"/>
                    </a:cxn>
                    <a:cxn ang="0">
                      <a:pos x="29" y="4"/>
                    </a:cxn>
                    <a:cxn ang="0">
                      <a:pos x="26" y="2"/>
                    </a:cxn>
                    <a:cxn ang="0">
                      <a:pos x="24" y="0"/>
                    </a:cxn>
                    <a:cxn ang="0">
                      <a:pos x="22" y="2"/>
                    </a:cxn>
                    <a:cxn ang="0">
                      <a:pos x="5" y="16"/>
                    </a:cxn>
                  </a:cxnLst>
                  <a:rect l="0" t="0" r="0" b="0"/>
                  <a:pathLst>
                    <a:path w="31" h="28">
                      <a:moveTo>
                        <a:pt x="5" y="16"/>
                      </a:moveTo>
                      <a:lnTo>
                        <a:pt x="2" y="19"/>
                      </a:lnTo>
                      <a:lnTo>
                        <a:pt x="0" y="21"/>
                      </a:lnTo>
                      <a:lnTo>
                        <a:pt x="0" y="24"/>
                      </a:lnTo>
                      <a:lnTo>
                        <a:pt x="2" y="26"/>
                      </a:lnTo>
                      <a:lnTo>
                        <a:pt x="5" y="28"/>
                      </a:lnTo>
                      <a:lnTo>
                        <a:pt x="7" y="28"/>
                      </a:lnTo>
                      <a:lnTo>
                        <a:pt x="10" y="28"/>
                      </a:lnTo>
                      <a:lnTo>
                        <a:pt x="12" y="28"/>
                      </a:lnTo>
                      <a:lnTo>
                        <a:pt x="29" y="14"/>
                      </a:lnTo>
                      <a:lnTo>
                        <a:pt x="29" y="9"/>
                      </a:lnTo>
                      <a:lnTo>
                        <a:pt x="31" y="7"/>
                      </a:lnTo>
                      <a:lnTo>
                        <a:pt x="29" y="4"/>
                      </a:lnTo>
                      <a:lnTo>
                        <a:pt x="26" y="2"/>
                      </a:lnTo>
                      <a:lnTo>
                        <a:pt x="24" y="0"/>
                      </a:lnTo>
                      <a:lnTo>
                        <a:pt x="22" y="2"/>
                      </a:lnTo>
                      <a:lnTo>
                        <a:pt x="5" y="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310" name="Line 882"/>
              <p:cNvSpPr/>
              <p:nvPr>
                <p:custDataLst>
                  <p:tags r:id="rId13"/>
                </p:custDataLst>
              </p:nvPr>
            </p:nvSpPr>
            <p:spPr>
              <a:xfrm flipV="1">
                <a:off x="5850" y="4859"/>
                <a:ext cx="811" cy="749"/>
              </a:xfrm>
              <a:prstGeom prst="line">
                <a:avLst/>
              </a:prstGeom>
              <a:ln w="1206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11" name="Rectangle 883"/>
              <p:cNvSpPr/>
              <p:nvPr>
                <p:custDataLst>
                  <p:tags r:id="rId14"/>
                </p:custDataLst>
              </p:nvPr>
            </p:nvSpPr>
            <p:spPr>
              <a:xfrm>
                <a:off x="6690" y="4619"/>
                <a:ext cx="873" cy="4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2" name="Rectangle 884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4" y="4732"/>
                <a:ext cx="223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E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3" name="Rectangle 88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963" y="4739"/>
                <a:ext cx="331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∝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4" name="Rectangle 886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75" y="4732"/>
                <a:ext cx="187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x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5" name="Rectangle 887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68" y="4732"/>
                <a:ext cx="144" cy="30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t" anchorCtr="0"/>
              <a:lstStyle/>
              <a:p>
                <a:r>
                  <a:rPr lang="zh-CN" altLang="en-US"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endParaRPr lang="zh-CN" altLang="en-US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2945765" y="314071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90" name="Rectangle 182"/>
          <p:cNvSpPr>
            <a:spLocks noChangeArrowheads="1"/>
          </p:cNvSpPr>
          <p:nvPr/>
        </p:nvSpPr>
        <p:spPr bwMode="auto">
          <a:xfrm>
            <a:off x="2627313" y="765175"/>
            <a:ext cx="3589338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accent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§9-3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电场线 高斯定理</a:t>
            </a:r>
          </a:p>
        </p:txBody>
      </p:sp>
      <p:sp>
        <p:nvSpPr>
          <p:cNvPr id="13314" name="文本框 8"/>
          <p:cNvSpPr txBox="1"/>
          <p:nvPr/>
        </p:nvSpPr>
        <p:spPr>
          <a:xfrm>
            <a:off x="684213" y="117475"/>
            <a:ext cx="766762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10" name="组合 10"/>
          <p:cNvGrpSpPr/>
          <p:nvPr/>
        </p:nvGrpSpPr>
        <p:grpSpPr>
          <a:xfrm>
            <a:off x="179388" y="3184525"/>
            <a:ext cx="8678862" cy="1198563"/>
            <a:chOff x="357158" y="1285866"/>
            <a:chExt cx="8130540" cy="1198880"/>
          </a:xfrm>
        </p:grpSpPr>
        <p:sp>
          <p:nvSpPr>
            <p:cNvPr id="13316" name="Text Box 7"/>
            <p:cNvSpPr txBox="1"/>
            <p:nvPr/>
          </p:nvSpPr>
          <p:spPr>
            <a:xfrm>
              <a:off x="357158" y="1285866"/>
              <a:ext cx="8130540" cy="1198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r>
                <a:rPr lang="zh-CN" altLang="zh-CN" sz="2400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r>
                <a:rPr lang="zh-CN" altLang="en-US" sz="2400" dirty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高斯定理：</a:t>
              </a:r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在真空中</a:t>
              </a:r>
              <a:r>
                <a: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通过任一闭合曲面的电场强度通量</a:t>
              </a:r>
              <a:r>
                <a: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  <a:r>
                <a:rPr lang="zh-CN" altLang="en-US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等于该曲面所包围的电荷的代数和除以   </a:t>
              </a:r>
              <a:r>
                <a:rPr lang="en-US" altLang="zh-CN" sz="2400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.</a:t>
              </a:r>
            </a:p>
          </p:txBody>
        </p:sp>
        <p:graphicFrame>
          <p:nvGraphicFramePr>
            <p:cNvPr id="13317" name="Object 8"/>
            <p:cNvGraphicFramePr>
              <a:graphicFrameLocks noChangeAspect="1"/>
            </p:cNvGraphicFramePr>
            <p:nvPr/>
          </p:nvGraphicFramePr>
          <p:xfrm>
            <a:off x="5078940" y="1886584"/>
            <a:ext cx="428628" cy="5980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962400" imgH="5486400" progId="Equation.3">
                    <p:embed/>
                  </p:oleObj>
                </mc:Choice>
                <mc:Fallback>
                  <p:oleObj r:id="rId2" imgW="3962400" imgH="54864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078940" y="1886584"/>
                          <a:ext cx="428628" cy="5980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4" name="组合 1"/>
          <p:cNvGrpSpPr/>
          <p:nvPr/>
        </p:nvGrpSpPr>
        <p:grpSpPr>
          <a:xfrm>
            <a:off x="107950" y="4514850"/>
            <a:ext cx="7672388" cy="2133600"/>
            <a:chOff x="997" y="3753"/>
            <a:chExt cx="12083" cy="3359"/>
          </a:xfrm>
        </p:grpSpPr>
        <p:graphicFrame>
          <p:nvGraphicFramePr>
            <p:cNvPr id="13319" name="Object 10"/>
            <p:cNvGraphicFramePr>
              <a:graphicFrameLocks noChangeAspect="1"/>
            </p:cNvGraphicFramePr>
            <p:nvPr/>
          </p:nvGraphicFramePr>
          <p:xfrm>
            <a:off x="2706" y="3753"/>
            <a:ext cx="7601" cy="18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803400" imgH="469900" progId="Equation.3">
                    <p:embed/>
                  </p:oleObj>
                </mc:Choice>
                <mc:Fallback>
                  <p:oleObj r:id="rId4" imgW="1803400" imgH="4699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706" y="3753"/>
                          <a:ext cx="7601" cy="1879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127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501" name="WordArt 69"/>
            <p:cNvSpPr>
              <a:spLocks noTextEdit="1"/>
            </p:cNvSpPr>
            <p:nvPr/>
          </p:nvSpPr>
          <p:spPr>
            <a:xfrm>
              <a:off x="996" y="6082"/>
              <a:ext cx="1127" cy="4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/>
            </a:bodyPr>
            <a:lstStyle/>
            <a:p>
              <a:pPr algn="ctr" fontAlgn="base"/>
              <a:r>
                <a:rPr lang="zh-CN" altLang="en-US" sz="3600" b="1" strike="noStrike" noProof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注意:</a:t>
              </a:r>
              <a:endParaRPr lang="zh-CN" altLang="en-US" sz="3600" b="1" strike="noStrike" noProof="1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3321" name="Group 70"/>
            <p:cNvGrpSpPr/>
            <p:nvPr/>
          </p:nvGrpSpPr>
          <p:grpSpPr>
            <a:xfrm>
              <a:off x="2292" y="4230"/>
              <a:ext cx="6042" cy="2882"/>
              <a:chOff x="962" y="2822"/>
              <a:chExt cx="2417" cy="1153"/>
            </a:xfrm>
          </p:grpSpPr>
          <p:sp>
            <p:nvSpPr>
              <p:cNvPr id="13322" name="Rectangle 71"/>
              <p:cNvSpPr/>
              <p:nvPr/>
            </p:nvSpPr>
            <p:spPr>
              <a:xfrm>
                <a:off x="962" y="3458"/>
                <a:ext cx="2395" cy="509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96969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23" name="WordArt 72"/>
              <p:cNvSpPr>
                <a:spLocks noTextEdit="1"/>
              </p:cNvSpPr>
              <p:nvPr/>
            </p:nvSpPr>
            <p:spPr>
              <a:xfrm>
                <a:off x="3044" y="3508"/>
                <a:ext cx="159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面</a:t>
                </a:r>
              </a:p>
            </p:txBody>
          </p:sp>
          <p:sp>
            <p:nvSpPr>
              <p:cNvPr id="13324" name="WordArt 73"/>
              <p:cNvSpPr>
                <a:spLocks noTextEdit="1"/>
              </p:cNvSpPr>
              <p:nvPr/>
            </p:nvSpPr>
            <p:spPr>
              <a:xfrm>
                <a:off x="2834" y="3519"/>
                <a:ext cx="154" cy="1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325" name="WordArt 74"/>
              <p:cNvSpPr>
                <a:spLocks noTextEdit="1"/>
              </p:cNvSpPr>
              <p:nvPr/>
            </p:nvSpPr>
            <p:spPr>
              <a:xfrm>
                <a:off x="1028" y="3512"/>
                <a:ext cx="188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66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326" name="WordArt 75"/>
              <p:cNvSpPr>
                <a:spLocks noTextEdit="1"/>
              </p:cNvSpPr>
              <p:nvPr/>
            </p:nvSpPr>
            <p:spPr>
              <a:xfrm>
                <a:off x="1269" y="3506"/>
                <a:ext cx="554" cy="1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内、外</a:t>
                </a:r>
              </a:p>
            </p:txBody>
          </p:sp>
          <p:grpSp>
            <p:nvGrpSpPr>
              <p:cNvPr id="13327" name="Group 76"/>
              <p:cNvGrpSpPr/>
              <p:nvPr/>
            </p:nvGrpSpPr>
            <p:grpSpPr>
              <a:xfrm>
                <a:off x="1688" y="3733"/>
                <a:ext cx="237" cy="152"/>
                <a:chOff x="1846" y="3748"/>
                <a:chExt cx="304" cy="194"/>
              </a:xfrm>
            </p:grpSpPr>
            <p:sp>
              <p:nvSpPr>
                <p:cNvPr id="13328" name="WordArt 77"/>
                <p:cNvSpPr>
                  <a:spLocks noTextEdit="1"/>
                </p:cNvSpPr>
                <p:nvPr/>
              </p:nvSpPr>
              <p:spPr>
                <a:xfrm>
                  <a:off x="1846" y="3760"/>
                  <a:ext cx="106" cy="17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13329" name="WordArt 78"/>
                <p:cNvSpPr>
                  <a:spLocks noTextEdit="1"/>
                </p:cNvSpPr>
                <p:nvPr/>
              </p:nvSpPr>
              <p:spPr>
                <a:xfrm>
                  <a:off x="1992" y="3820"/>
                  <a:ext cx="112" cy="12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13330" name="Line 79"/>
                <p:cNvSpPr/>
                <p:nvPr/>
              </p:nvSpPr>
              <p:spPr>
                <a:xfrm>
                  <a:off x="1951" y="3748"/>
                  <a:ext cx="199" cy="1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331" name="WordArt 80"/>
              <p:cNvSpPr>
                <a:spLocks noTextEdit="1"/>
              </p:cNvSpPr>
              <p:nvPr/>
            </p:nvSpPr>
            <p:spPr>
              <a:xfrm>
                <a:off x="2367" y="3741"/>
                <a:ext cx="843" cy="13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合场强</a:t>
                </a:r>
              </a:p>
            </p:txBody>
          </p:sp>
          <p:sp>
            <p:nvSpPr>
              <p:cNvPr id="13332" name="WordArt 81"/>
              <p:cNvSpPr>
                <a:spLocks noTextEdit="1"/>
              </p:cNvSpPr>
              <p:nvPr/>
            </p:nvSpPr>
            <p:spPr>
              <a:xfrm>
                <a:off x="1879" y="3512"/>
                <a:ext cx="716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一切电荷</a:t>
                </a:r>
              </a:p>
            </p:txBody>
          </p:sp>
          <p:sp>
            <p:nvSpPr>
              <p:cNvPr id="13333" name="WordArt 82"/>
              <p:cNvSpPr>
                <a:spLocks noTextEdit="1"/>
              </p:cNvSpPr>
              <p:nvPr/>
            </p:nvSpPr>
            <p:spPr>
              <a:xfrm>
                <a:off x="1082" y="3731"/>
                <a:ext cx="533" cy="15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的面元</a:t>
                </a:r>
              </a:p>
            </p:txBody>
          </p:sp>
          <p:sp>
            <p:nvSpPr>
              <p:cNvPr id="13334" name="Freeform 83"/>
              <p:cNvSpPr/>
              <p:nvPr/>
            </p:nvSpPr>
            <p:spPr>
              <a:xfrm>
                <a:off x="999" y="3500"/>
                <a:ext cx="2380" cy="475"/>
              </a:xfrm>
              <a:custGeom>
                <a:avLst/>
                <a:gdLst/>
                <a:ahLst/>
                <a:cxnLst>
                  <a:cxn ang="0">
                    <a:pos x="0" y="319"/>
                  </a:cxn>
                  <a:cxn ang="0">
                    <a:pos x="1820" y="319"/>
                  </a:cxn>
                  <a:cxn ang="0">
                    <a:pos x="1820" y="0"/>
                  </a:cxn>
                </a:cxnLst>
                <a:rect l="0" t="0" r="0" b="0"/>
                <a:pathLst>
                  <a:path w="3113" h="707">
                    <a:moveTo>
                      <a:pt x="0" y="707"/>
                    </a:moveTo>
                    <a:lnTo>
                      <a:pt x="3113" y="707"/>
                    </a:lnTo>
                    <a:lnTo>
                      <a:pt x="3113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" name="WordArt 84"/>
              <p:cNvSpPr>
                <a:spLocks noTextEdit="1"/>
              </p:cNvSpPr>
              <p:nvPr/>
            </p:nvSpPr>
            <p:spPr>
              <a:xfrm>
                <a:off x="2629" y="3504"/>
                <a:ext cx="163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在</a:t>
                </a:r>
              </a:p>
            </p:txBody>
          </p:sp>
          <p:sp>
            <p:nvSpPr>
              <p:cNvPr id="13336" name="WordArt 85"/>
              <p:cNvSpPr>
                <a:spLocks noTextEdit="1"/>
              </p:cNvSpPr>
              <p:nvPr/>
            </p:nvSpPr>
            <p:spPr>
              <a:xfrm>
                <a:off x="1977" y="3732"/>
                <a:ext cx="349" cy="1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处的</a:t>
                </a:r>
              </a:p>
            </p:txBody>
          </p:sp>
          <p:sp>
            <p:nvSpPr>
              <p:cNvPr id="13337" name="AutoShape 86"/>
              <p:cNvSpPr/>
              <p:nvPr/>
            </p:nvSpPr>
            <p:spPr>
              <a:xfrm>
                <a:off x="2048" y="3226"/>
                <a:ext cx="411" cy="219"/>
              </a:xfrm>
              <a:prstGeom prst="downArrow">
                <a:avLst>
                  <a:gd name="adj1" fmla="val 51685"/>
                  <a:gd name="adj2" fmla="val 46074"/>
                </a:avLst>
              </a:prstGeom>
              <a:solidFill>
                <a:schemeClr val="bg1"/>
              </a:solidFill>
              <a:ln w="28575" cap="flat" cmpd="sng">
                <a:solidFill>
                  <a:srgbClr val="C0C0C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38" name="Rectangle 87"/>
              <p:cNvSpPr/>
              <p:nvPr/>
            </p:nvSpPr>
            <p:spPr>
              <a:xfrm>
                <a:off x="2106" y="2822"/>
                <a:ext cx="290" cy="394"/>
              </a:xfrm>
              <a:prstGeom prst="rect">
                <a:avLst/>
              </a:prstGeom>
              <a:noFill/>
              <a:ln w="28575" cap="flat" cmpd="sng">
                <a:solidFill>
                  <a:srgbClr val="C0C0C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39" name="Rectangle 88"/>
              <p:cNvSpPr/>
              <p:nvPr/>
            </p:nvSpPr>
            <p:spPr>
              <a:xfrm>
                <a:off x="2165" y="3207"/>
                <a:ext cx="177" cy="51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340" name="Group 89"/>
            <p:cNvGrpSpPr/>
            <p:nvPr/>
          </p:nvGrpSpPr>
          <p:grpSpPr>
            <a:xfrm>
              <a:off x="8872" y="4357"/>
              <a:ext cx="4207" cy="2717"/>
              <a:chOff x="3594" y="2873"/>
              <a:chExt cx="1683" cy="1087"/>
            </a:xfrm>
          </p:grpSpPr>
          <p:sp>
            <p:nvSpPr>
              <p:cNvPr id="13341" name="Rectangle 90"/>
              <p:cNvSpPr/>
              <p:nvPr/>
            </p:nvSpPr>
            <p:spPr>
              <a:xfrm>
                <a:off x="3626" y="3465"/>
                <a:ext cx="1651" cy="48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96969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3342" name="Group 91"/>
              <p:cNvGrpSpPr/>
              <p:nvPr/>
            </p:nvGrpSpPr>
            <p:grpSpPr>
              <a:xfrm>
                <a:off x="3875" y="3504"/>
                <a:ext cx="433" cy="138"/>
                <a:chOff x="3877" y="3451"/>
                <a:chExt cx="464" cy="164"/>
              </a:xfrm>
            </p:grpSpPr>
            <p:sp>
              <p:nvSpPr>
                <p:cNvPr id="13343" name="WordArt 92"/>
                <p:cNvSpPr>
                  <a:spLocks noTextEdit="1"/>
                </p:cNvSpPr>
                <p:nvPr/>
              </p:nvSpPr>
              <p:spPr>
                <a:xfrm>
                  <a:off x="3877" y="3476"/>
                  <a:ext cx="176" cy="13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FF66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66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13344" name="WordArt 93"/>
                <p:cNvSpPr>
                  <a:spLocks noTextEdit="1"/>
                </p:cNvSpPr>
                <p:nvPr/>
              </p:nvSpPr>
              <p:spPr>
                <a:xfrm>
                  <a:off x="4117" y="3451"/>
                  <a:ext cx="224" cy="16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内</a:t>
                  </a:r>
                </a:p>
              </p:txBody>
            </p:sp>
          </p:grpSp>
          <p:sp>
            <p:nvSpPr>
              <p:cNvPr id="13345" name="WordArt 94"/>
              <p:cNvSpPr>
                <a:spLocks noTextEdit="1"/>
              </p:cNvSpPr>
              <p:nvPr/>
            </p:nvSpPr>
            <p:spPr>
              <a:xfrm>
                <a:off x="4402" y="3516"/>
                <a:ext cx="641" cy="14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的电荷</a:t>
                </a:r>
              </a:p>
            </p:txBody>
          </p:sp>
          <p:sp>
            <p:nvSpPr>
              <p:cNvPr id="13346" name="WordArt 95"/>
              <p:cNvSpPr>
                <a:spLocks noTextEdit="1"/>
              </p:cNvSpPr>
              <p:nvPr/>
            </p:nvSpPr>
            <p:spPr>
              <a:xfrm>
                <a:off x="3740" y="3718"/>
                <a:ext cx="598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电量的</a:t>
                </a:r>
              </a:p>
            </p:txBody>
          </p:sp>
          <p:sp>
            <p:nvSpPr>
              <p:cNvPr id="13347" name="WordArt 96"/>
              <p:cNvSpPr>
                <a:spLocks noTextEdit="1"/>
              </p:cNvSpPr>
              <p:nvPr/>
            </p:nvSpPr>
            <p:spPr>
              <a:xfrm>
                <a:off x="4398" y="3722"/>
                <a:ext cx="780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代数和</a:t>
                </a:r>
              </a:p>
            </p:txBody>
          </p:sp>
          <p:sp>
            <p:nvSpPr>
              <p:cNvPr id="13348" name="Freeform 97"/>
              <p:cNvSpPr/>
              <p:nvPr/>
            </p:nvSpPr>
            <p:spPr>
              <a:xfrm>
                <a:off x="3594" y="3504"/>
                <a:ext cx="1667" cy="456"/>
              </a:xfrm>
              <a:custGeom>
                <a:avLst/>
                <a:gdLst/>
                <a:ahLst/>
                <a:cxnLst>
                  <a:cxn ang="0">
                    <a:pos x="0" y="312"/>
                  </a:cxn>
                  <a:cxn ang="0">
                    <a:pos x="1440" y="312"/>
                  </a:cxn>
                  <a:cxn ang="0">
                    <a:pos x="1440" y="0"/>
                  </a:cxn>
                </a:cxnLst>
                <a:rect l="0" t="0" r="0" b="0"/>
                <a:pathLst>
                  <a:path w="1930" h="667">
                    <a:moveTo>
                      <a:pt x="0" y="667"/>
                    </a:moveTo>
                    <a:lnTo>
                      <a:pt x="1930" y="667"/>
                    </a:lnTo>
                    <a:lnTo>
                      <a:pt x="1930" y="0"/>
                    </a:lnTo>
                  </a:path>
                </a:pathLst>
              </a:custGeom>
              <a:noFill/>
              <a:ln w="571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AutoShape 98"/>
              <p:cNvSpPr/>
              <p:nvPr/>
            </p:nvSpPr>
            <p:spPr>
              <a:xfrm>
                <a:off x="3867" y="3290"/>
                <a:ext cx="357" cy="171"/>
              </a:xfrm>
              <a:prstGeom prst="downArrow">
                <a:avLst>
                  <a:gd name="adj1" fmla="val 48638"/>
                  <a:gd name="adj2" fmla="val 62875"/>
                </a:avLst>
              </a:prstGeom>
              <a:solidFill>
                <a:schemeClr val="bg1"/>
              </a:solidFill>
              <a:ln w="28575" cap="flat" cmpd="sng">
                <a:solidFill>
                  <a:srgbClr val="C0C0C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50" name="Rectangle 99"/>
              <p:cNvSpPr/>
              <p:nvPr/>
            </p:nvSpPr>
            <p:spPr>
              <a:xfrm>
                <a:off x="3880" y="2873"/>
                <a:ext cx="309" cy="414"/>
              </a:xfrm>
              <a:prstGeom prst="rect">
                <a:avLst/>
              </a:prstGeom>
              <a:noFill/>
              <a:ln w="28575" cap="flat" cmpd="sng">
                <a:solidFill>
                  <a:srgbClr val="C0C0C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51" name="Rectangle 100"/>
              <p:cNvSpPr/>
              <p:nvPr/>
            </p:nvSpPr>
            <p:spPr>
              <a:xfrm>
                <a:off x="4323" y="3265"/>
                <a:ext cx="125" cy="50"/>
              </a:xfrm>
              <a:prstGeom prst="rect">
                <a:avLst/>
              </a:prstGeom>
              <a:solidFill>
                <a:schemeClr val="bg1"/>
              </a:solidFill>
              <a:ln w="2857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52" name="Line 101"/>
              <p:cNvSpPr/>
              <p:nvPr/>
            </p:nvSpPr>
            <p:spPr>
              <a:xfrm>
                <a:off x="4312" y="3266"/>
                <a:ext cx="0" cy="64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3" name="Line 102"/>
              <p:cNvSpPr/>
              <p:nvPr/>
            </p:nvSpPr>
            <p:spPr>
              <a:xfrm>
                <a:off x="4456" y="3263"/>
                <a:ext cx="0" cy="64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" name="Group 96"/>
          <p:cNvGrpSpPr/>
          <p:nvPr/>
        </p:nvGrpSpPr>
        <p:grpSpPr>
          <a:xfrm>
            <a:off x="6202363" y="4076700"/>
            <a:ext cx="2782887" cy="1162050"/>
            <a:chOff x="2057" y="936"/>
            <a:chExt cx="3165" cy="964"/>
          </a:xfrm>
        </p:grpSpPr>
        <p:sp>
          <p:nvSpPr>
            <p:cNvPr id="13355" name="Freeform 97"/>
            <p:cNvSpPr/>
            <p:nvPr/>
          </p:nvSpPr>
          <p:spPr>
            <a:xfrm>
              <a:off x="2659" y="936"/>
              <a:ext cx="2176" cy="964"/>
            </a:xfrm>
            <a:custGeom>
              <a:avLst/>
              <a:gdLst/>
              <a:ahLst/>
              <a:cxnLst>
                <a:cxn ang="0">
                  <a:pos x="177" y="104"/>
                </a:cxn>
                <a:cxn ang="0">
                  <a:pos x="246" y="74"/>
                </a:cxn>
                <a:cxn ang="0">
                  <a:pos x="362" y="37"/>
                </a:cxn>
                <a:cxn ang="0">
                  <a:pos x="417" y="25"/>
                </a:cxn>
                <a:cxn ang="0">
                  <a:pos x="491" y="13"/>
                </a:cxn>
                <a:cxn ang="0">
                  <a:pos x="618" y="0"/>
                </a:cxn>
                <a:cxn ang="0">
                  <a:pos x="717" y="0"/>
                </a:cxn>
                <a:cxn ang="0">
                  <a:pos x="788" y="2"/>
                </a:cxn>
                <a:cxn ang="0">
                  <a:pos x="894" y="11"/>
                </a:cxn>
                <a:cxn ang="0">
                  <a:pos x="989" y="27"/>
                </a:cxn>
                <a:cxn ang="0">
                  <a:pos x="1116" y="60"/>
                </a:cxn>
                <a:cxn ang="0">
                  <a:pos x="1191" y="84"/>
                </a:cxn>
                <a:cxn ang="0">
                  <a:pos x="1287" y="110"/>
                </a:cxn>
                <a:cxn ang="0">
                  <a:pos x="1365" y="129"/>
                </a:cxn>
                <a:cxn ang="0">
                  <a:pos x="1444" y="150"/>
                </a:cxn>
                <a:cxn ang="0">
                  <a:pos x="1518" y="166"/>
                </a:cxn>
                <a:cxn ang="0">
                  <a:pos x="1590" y="180"/>
                </a:cxn>
                <a:cxn ang="0">
                  <a:pos x="1703" y="204"/>
                </a:cxn>
                <a:cxn ang="0">
                  <a:pos x="1781" y="226"/>
                </a:cxn>
                <a:cxn ang="0">
                  <a:pos x="1859" y="256"/>
                </a:cxn>
                <a:cxn ang="0">
                  <a:pos x="1907" y="279"/>
                </a:cxn>
                <a:cxn ang="0">
                  <a:pos x="1965" y="315"/>
                </a:cxn>
                <a:cxn ang="0">
                  <a:pos x="2000" y="353"/>
                </a:cxn>
                <a:cxn ang="0">
                  <a:pos x="2006" y="372"/>
                </a:cxn>
                <a:cxn ang="0">
                  <a:pos x="2010" y="382"/>
                </a:cxn>
                <a:cxn ang="0">
                  <a:pos x="2006" y="406"/>
                </a:cxn>
                <a:cxn ang="0">
                  <a:pos x="1993" y="438"/>
                </a:cxn>
                <a:cxn ang="0">
                  <a:pos x="1952" y="474"/>
                </a:cxn>
                <a:cxn ang="0">
                  <a:pos x="1883" y="511"/>
                </a:cxn>
                <a:cxn ang="0">
                  <a:pos x="1771" y="554"/>
                </a:cxn>
                <a:cxn ang="0">
                  <a:pos x="1573" y="598"/>
                </a:cxn>
                <a:cxn ang="0">
                  <a:pos x="1337" y="627"/>
                </a:cxn>
                <a:cxn ang="0">
                  <a:pos x="1089" y="640"/>
                </a:cxn>
                <a:cxn ang="0">
                  <a:pos x="921" y="637"/>
                </a:cxn>
                <a:cxn ang="0">
                  <a:pos x="683" y="624"/>
                </a:cxn>
                <a:cxn ang="0">
                  <a:pos x="471" y="600"/>
                </a:cxn>
                <a:cxn ang="0">
                  <a:pos x="310" y="562"/>
                </a:cxn>
                <a:cxn ang="0">
                  <a:pos x="195" y="520"/>
                </a:cxn>
                <a:cxn ang="0">
                  <a:pos x="113" y="474"/>
                </a:cxn>
                <a:cxn ang="0">
                  <a:pos x="48" y="418"/>
                </a:cxn>
                <a:cxn ang="0">
                  <a:pos x="10" y="355"/>
                </a:cxn>
                <a:cxn ang="0">
                  <a:pos x="0" y="319"/>
                </a:cxn>
                <a:cxn ang="0">
                  <a:pos x="4" y="263"/>
                </a:cxn>
                <a:cxn ang="0">
                  <a:pos x="24" y="217"/>
                </a:cxn>
                <a:cxn ang="0">
                  <a:pos x="48" y="191"/>
                </a:cxn>
                <a:cxn ang="0">
                  <a:pos x="85" y="157"/>
                </a:cxn>
                <a:cxn ang="0">
                  <a:pos x="129" y="125"/>
                </a:cxn>
                <a:cxn ang="0">
                  <a:pos x="177" y="104"/>
                </a:cxn>
              </a:cxnLst>
              <a:rect l="0" t="0" r="0" b="0"/>
              <a:pathLst>
                <a:path w="2356" h="1452">
                  <a:moveTo>
                    <a:pt x="208" y="236"/>
                  </a:moveTo>
                  <a:lnTo>
                    <a:pt x="288" y="168"/>
                  </a:lnTo>
                  <a:lnTo>
                    <a:pt x="424" y="84"/>
                  </a:lnTo>
                  <a:lnTo>
                    <a:pt x="488" y="56"/>
                  </a:lnTo>
                  <a:lnTo>
                    <a:pt x="576" y="28"/>
                  </a:lnTo>
                  <a:lnTo>
                    <a:pt x="724" y="0"/>
                  </a:lnTo>
                  <a:lnTo>
                    <a:pt x="840" y="0"/>
                  </a:lnTo>
                  <a:lnTo>
                    <a:pt x="924" y="4"/>
                  </a:lnTo>
                  <a:lnTo>
                    <a:pt x="1048" y="24"/>
                  </a:lnTo>
                  <a:lnTo>
                    <a:pt x="1160" y="60"/>
                  </a:lnTo>
                  <a:lnTo>
                    <a:pt x="1308" y="136"/>
                  </a:lnTo>
                  <a:lnTo>
                    <a:pt x="1396" y="192"/>
                  </a:lnTo>
                  <a:lnTo>
                    <a:pt x="1508" y="248"/>
                  </a:lnTo>
                  <a:lnTo>
                    <a:pt x="1600" y="292"/>
                  </a:lnTo>
                  <a:lnTo>
                    <a:pt x="1692" y="340"/>
                  </a:lnTo>
                  <a:lnTo>
                    <a:pt x="1780" y="376"/>
                  </a:lnTo>
                  <a:lnTo>
                    <a:pt x="1864" y="408"/>
                  </a:lnTo>
                  <a:lnTo>
                    <a:pt x="1996" y="464"/>
                  </a:lnTo>
                  <a:lnTo>
                    <a:pt x="2088" y="512"/>
                  </a:lnTo>
                  <a:lnTo>
                    <a:pt x="2180" y="580"/>
                  </a:lnTo>
                  <a:lnTo>
                    <a:pt x="2236" y="632"/>
                  </a:lnTo>
                  <a:lnTo>
                    <a:pt x="2304" y="716"/>
                  </a:lnTo>
                  <a:lnTo>
                    <a:pt x="2344" y="800"/>
                  </a:lnTo>
                  <a:lnTo>
                    <a:pt x="2352" y="844"/>
                  </a:lnTo>
                  <a:lnTo>
                    <a:pt x="2356" y="868"/>
                  </a:lnTo>
                  <a:lnTo>
                    <a:pt x="2352" y="920"/>
                  </a:lnTo>
                  <a:lnTo>
                    <a:pt x="2336" y="992"/>
                  </a:lnTo>
                  <a:lnTo>
                    <a:pt x="2288" y="1076"/>
                  </a:lnTo>
                  <a:lnTo>
                    <a:pt x="2208" y="1160"/>
                  </a:lnTo>
                  <a:lnTo>
                    <a:pt x="2076" y="1256"/>
                  </a:lnTo>
                  <a:lnTo>
                    <a:pt x="1844" y="1356"/>
                  </a:lnTo>
                  <a:lnTo>
                    <a:pt x="1568" y="1424"/>
                  </a:lnTo>
                  <a:lnTo>
                    <a:pt x="1276" y="1452"/>
                  </a:lnTo>
                  <a:lnTo>
                    <a:pt x="1080" y="1444"/>
                  </a:lnTo>
                  <a:lnTo>
                    <a:pt x="800" y="1416"/>
                  </a:lnTo>
                  <a:lnTo>
                    <a:pt x="552" y="1360"/>
                  </a:lnTo>
                  <a:lnTo>
                    <a:pt x="364" y="1276"/>
                  </a:lnTo>
                  <a:lnTo>
                    <a:pt x="228" y="1180"/>
                  </a:lnTo>
                  <a:lnTo>
                    <a:pt x="132" y="1076"/>
                  </a:lnTo>
                  <a:lnTo>
                    <a:pt x="56" y="948"/>
                  </a:lnTo>
                  <a:lnTo>
                    <a:pt x="12" y="804"/>
                  </a:lnTo>
                  <a:lnTo>
                    <a:pt x="0" y="724"/>
                  </a:lnTo>
                  <a:lnTo>
                    <a:pt x="4" y="596"/>
                  </a:lnTo>
                  <a:lnTo>
                    <a:pt x="28" y="492"/>
                  </a:lnTo>
                  <a:lnTo>
                    <a:pt x="56" y="432"/>
                  </a:lnTo>
                  <a:lnTo>
                    <a:pt x="100" y="356"/>
                  </a:lnTo>
                  <a:lnTo>
                    <a:pt x="152" y="284"/>
                  </a:lnTo>
                  <a:lnTo>
                    <a:pt x="208" y="23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F8ECB8"/>
                </a:gs>
              </a:gsLst>
              <a:path path="rect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56" name="Group 98"/>
            <p:cNvGrpSpPr/>
            <p:nvPr/>
          </p:nvGrpSpPr>
          <p:grpSpPr>
            <a:xfrm>
              <a:off x="2057" y="941"/>
              <a:ext cx="3165" cy="783"/>
              <a:chOff x="1187" y="827"/>
              <a:chExt cx="3716" cy="901"/>
            </a:xfrm>
          </p:grpSpPr>
          <p:grpSp>
            <p:nvGrpSpPr>
              <p:cNvPr id="13357" name="Group 99"/>
              <p:cNvGrpSpPr/>
              <p:nvPr/>
            </p:nvGrpSpPr>
            <p:grpSpPr>
              <a:xfrm>
                <a:off x="1187" y="1399"/>
                <a:ext cx="176" cy="172"/>
                <a:chOff x="4640" y="1474"/>
                <a:chExt cx="184" cy="196"/>
              </a:xfrm>
            </p:grpSpPr>
            <p:sp>
              <p:nvSpPr>
                <p:cNvPr id="13358" name="Oval 100"/>
                <p:cNvSpPr/>
                <p:nvPr/>
              </p:nvSpPr>
              <p:spPr>
                <a:xfrm>
                  <a:off x="4640" y="1474"/>
                  <a:ext cx="184" cy="1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3300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rgbClr val="FF9B8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59" name="WordArt 101"/>
                <p:cNvSpPr>
                  <a:spLocks noTextEdit="1"/>
                </p:cNvSpPr>
                <p:nvPr/>
              </p:nvSpPr>
              <p:spPr>
                <a:xfrm>
                  <a:off x="4684" y="1523"/>
                  <a:ext cx="108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8100" cap="flat" cmpd="sng">
                        <a:solidFill>
                          <a:srgbClr val="FF9B83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33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13360" name="Group 102"/>
              <p:cNvGrpSpPr/>
              <p:nvPr/>
            </p:nvGrpSpPr>
            <p:grpSpPr>
              <a:xfrm>
                <a:off x="2352" y="1428"/>
                <a:ext cx="173" cy="176"/>
                <a:chOff x="4686" y="1968"/>
                <a:chExt cx="183" cy="196"/>
              </a:xfrm>
            </p:grpSpPr>
            <p:sp>
              <p:nvSpPr>
                <p:cNvPr id="157799" name="Oval 103"/>
                <p:cNvSpPr>
                  <a:spLocks noChangeArrowheads="1"/>
                </p:cNvSpPr>
                <p:nvPr/>
              </p:nvSpPr>
              <p:spPr bwMode="auto">
                <a:xfrm>
                  <a:off x="4685" y="1968"/>
                  <a:ext cx="185" cy="19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0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45FFC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62" name="WordArt 104"/>
                <p:cNvSpPr>
                  <a:spLocks noTextEdit="1"/>
                </p:cNvSpPr>
                <p:nvPr/>
              </p:nvSpPr>
              <p:spPr>
                <a:xfrm flipV="1">
                  <a:off x="4735" y="2055"/>
                  <a:ext cx="100" cy="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45FFCE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5FFCE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-</a:t>
                  </a:r>
                </a:p>
              </p:txBody>
            </p:sp>
          </p:grpSp>
          <p:grpSp>
            <p:nvGrpSpPr>
              <p:cNvPr id="13363" name="Group 105"/>
              <p:cNvGrpSpPr/>
              <p:nvPr/>
            </p:nvGrpSpPr>
            <p:grpSpPr>
              <a:xfrm>
                <a:off x="3037" y="1067"/>
                <a:ext cx="176" cy="172"/>
                <a:chOff x="4640" y="1474"/>
                <a:chExt cx="184" cy="196"/>
              </a:xfrm>
            </p:grpSpPr>
            <p:sp>
              <p:nvSpPr>
                <p:cNvPr id="13364" name="Oval 106"/>
                <p:cNvSpPr/>
                <p:nvPr/>
              </p:nvSpPr>
              <p:spPr>
                <a:xfrm>
                  <a:off x="4640" y="1474"/>
                  <a:ext cx="184" cy="1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3300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rgbClr val="FF9B8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65" name="WordArt 107"/>
                <p:cNvSpPr>
                  <a:spLocks noTextEdit="1"/>
                </p:cNvSpPr>
                <p:nvPr/>
              </p:nvSpPr>
              <p:spPr>
                <a:xfrm>
                  <a:off x="4684" y="1523"/>
                  <a:ext cx="108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8100" cap="flat" cmpd="sng">
                        <a:solidFill>
                          <a:srgbClr val="FF9B83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33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13366" name="Group 108"/>
              <p:cNvGrpSpPr/>
              <p:nvPr/>
            </p:nvGrpSpPr>
            <p:grpSpPr>
              <a:xfrm>
                <a:off x="3588" y="1556"/>
                <a:ext cx="176" cy="172"/>
                <a:chOff x="4640" y="1474"/>
                <a:chExt cx="184" cy="196"/>
              </a:xfrm>
            </p:grpSpPr>
            <p:sp>
              <p:nvSpPr>
                <p:cNvPr id="13367" name="Oval 109"/>
                <p:cNvSpPr/>
                <p:nvPr/>
              </p:nvSpPr>
              <p:spPr>
                <a:xfrm>
                  <a:off x="4640" y="1474"/>
                  <a:ext cx="184" cy="1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3300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9525" cap="flat" cmpd="sng">
                  <a:solidFill>
                    <a:srgbClr val="FF9B8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68" name="WordArt 110"/>
                <p:cNvSpPr>
                  <a:spLocks noTextEdit="1"/>
                </p:cNvSpPr>
                <p:nvPr/>
              </p:nvSpPr>
              <p:spPr>
                <a:xfrm>
                  <a:off x="4684" y="1523"/>
                  <a:ext cx="108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8100" cap="flat" cmpd="sng">
                        <a:solidFill>
                          <a:srgbClr val="FF9B83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33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+</a:t>
                  </a:r>
                </a:p>
              </p:txBody>
            </p:sp>
          </p:grpSp>
          <p:grpSp>
            <p:nvGrpSpPr>
              <p:cNvPr id="13369" name="Group 111"/>
              <p:cNvGrpSpPr/>
              <p:nvPr/>
            </p:nvGrpSpPr>
            <p:grpSpPr>
              <a:xfrm>
                <a:off x="4730" y="827"/>
                <a:ext cx="173" cy="176"/>
                <a:chOff x="4686" y="1968"/>
                <a:chExt cx="183" cy="196"/>
              </a:xfrm>
            </p:grpSpPr>
            <p:sp>
              <p:nvSpPr>
                <p:cNvPr id="157808" name="Oval 112"/>
                <p:cNvSpPr>
                  <a:spLocks noChangeArrowheads="1"/>
                </p:cNvSpPr>
                <p:nvPr/>
              </p:nvSpPr>
              <p:spPr bwMode="auto">
                <a:xfrm>
                  <a:off x="4687" y="1968"/>
                  <a:ext cx="182" cy="19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0"/>
                        <a:invGamma/>
                      </a:schemeClr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rgbClr val="45FFCE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371" name="WordArt 113"/>
                <p:cNvSpPr>
                  <a:spLocks noTextEdit="1"/>
                </p:cNvSpPr>
                <p:nvPr/>
              </p:nvSpPr>
              <p:spPr>
                <a:xfrm flipV="1">
                  <a:off x="4735" y="2055"/>
                  <a:ext cx="100" cy="1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3175" cap="flat" cmpd="sng">
                        <a:solidFill>
                          <a:srgbClr val="45FFCE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5FFCE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-</a:t>
                  </a:r>
                </a:p>
              </p:txBody>
            </p:sp>
          </p:grpSp>
        </p:grpSp>
      </p:grpSp>
      <p:sp>
        <p:nvSpPr>
          <p:cNvPr id="13372" name="WordArt 53"/>
          <p:cNvSpPr>
            <a:spLocks noTextEdit="1"/>
          </p:cNvSpPr>
          <p:nvPr/>
        </p:nvSpPr>
        <p:spPr>
          <a:xfrm>
            <a:off x="215900" y="1581150"/>
            <a:ext cx="1581150" cy="285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0000CC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0000CC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1、电通量的计算</a:t>
            </a:r>
          </a:p>
        </p:txBody>
      </p:sp>
      <p:grpSp>
        <p:nvGrpSpPr>
          <p:cNvPr id="6" name="Group 55"/>
          <p:cNvGrpSpPr/>
          <p:nvPr/>
        </p:nvGrpSpPr>
        <p:grpSpPr>
          <a:xfrm>
            <a:off x="2382838" y="1397000"/>
            <a:ext cx="2822575" cy="585788"/>
            <a:chOff x="1583" y="437"/>
            <a:chExt cx="1778" cy="369"/>
          </a:xfrm>
        </p:grpSpPr>
        <p:graphicFrame>
          <p:nvGraphicFramePr>
            <p:cNvPr id="13374" name="Object 56"/>
            <p:cNvGraphicFramePr>
              <a:graphicFrameLocks noChangeAspect="1"/>
            </p:cNvGraphicFramePr>
            <p:nvPr/>
          </p:nvGraphicFramePr>
          <p:xfrm>
            <a:off x="2282" y="437"/>
            <a:ext cx="107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824865" imgH="304800" progId="Equation.3">
                    <p:embed/>
                  </p:oleObj>
                </mc:Choice>
                <mc:Fallback>
                  <p:oleObj r:id="rId6" imgW="824865" imgH="3048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282" y="437"/>
                          <a:ext cx="1079" cy="3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5" name="WordArt 57"/>
            <p:cNvSpPr>
              <a:spLocks noTextEdit="1"/>
            </p:cNvSpPr>
            <p:nvPr/>
          </p:nvSpPr>
          <p:spPr>
            <a:xfrm>
              <a:off x="1583" y="575"/>
              <a:ext cx="593" cy="10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CC"/>
                  </a:solidFill>
                  <a:effectLst>
                    <a:outerShdw dist="35921" dir="2699999" algn="ctr" rotWithShape="0">
                      <a:srgbClr val="C0C0C0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曲面S</a:t>
              </a:r>
            </a:p>
          </p:txBody>
        </p:sp>
      </p:grpSp>
      <p:grpSp>
        <p:nvGrpSpPr>
          <p:cNvPr id="11" name="Group 58"/>
          <p:cNvGrpSpPr/>
          <p:nvPr/>
        </p:nvGrpSpPr>
        <p:grpSpPr>
          <a:xfrm>
            <a:off x="1762125" y="2233613"/>
            <a:ext cx="2808288" cy="623887"/>
            <a:chOff x="3625" y="433"/>
            <a:chExt cx="1769" cy="393"/>
          </a:xfrm>
        </p:grpSpPr>
        <p:graphicFrame>
          <p:nvGraphicFramePr>
            <p:cNvPr id="13377" name="Object 59"/>
            <p:cNvGraphicFramePr>
              <a:graphicFrameLocks noChangeAspect="1"/>
            </p:cNvGraphicFramePr>
            <p:nvPr/>
          </p:nvGraphicFramePr>
          <p:xfrm>
            <a:off x="4227" y="433"/>
            <a:ext cx="1167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99465" imgH="292100" progId="Equation.3">
                    <p:embed/>
                  </p:oleObj>
                </mc:Choice>
                <mc:Fallback>
                  <p:oleObj r:id="rId8" imgW="799465" imgH="2921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227" y="433"/>
                          <a:ext cx="1167" cy="3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8" name="WordArt 60"/>
            <p:cNvSpPr>
              <a:spLocks noTextEdit="1"/>
            </p:cNvSpPr>
            <p:nvPr/>
          </p:nvSpPr>
          <p:spPr>
            <a:xfrm>
              <a:off x="3625" y="541"/>
              <a:ext cx="593" cy="10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00CC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00CC"/>
                  </a:solidFill>
                  <a:effectLst>
                    <a:outerShdw dist="35921" dir="2699999" algn="ctr" rotWithShape="0">
                      <a:srgbClr val="C0C0C0">
                        <a:alpha val="79999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闭曲面S</a:t>
              </a:r>
            </a:p>
          </p:txBody>
        </p:sp>
      </p:grpSp>
      <p:grpSp>
        <p:nvGrpSpPr>
          <p:cNvPr id="14" name="Group 61"/>
          <p:cNvGrpSpPr/>
          <p:nvPr/>
        </p:nvGrpSpPr>
        <p:grpSpPr>
          <a:xfrm>
            <a:off x="6780213" y="717550"/>
            <a:ext cx="1862137" cy="1714500"/>
            <a:chOff x="2937" y="573"/>
            <a:chExt cx="2489" cy="2040"/>
          </a:xfrm>
        </p:grpSpPr>
        <p:grpSp>
          <p:nvGrpSpPr>
            <p:cNvPr id="13380" name="Group 62"/>
            <p:cNvGrpSpPr/>
            <p:nvPr/>
          </p:nvGrpSpPr>
          <p:grpSpPr>
            <a:xfrm>
              <a:off x="2937" y="573"/>
              <a:ext cx="2489" cy="2040"/>
              <a:chOff x="3168" y="384"/>
              <a:chExt cx="2355" cy="1968"/>
            </a:xfrm>
          </p:grpSpPr>
          <p:sp>
            <p:nvSpPr>
              <p:cNvPr id="13381" name="Freeform 63"/>
              <p:cNvSpPr/>
              <p:nvPr/>
            </p:nvSpPr>
            <p:spPr>
              <a:xfrm rot="1243955">
                <a:off x="3360" y="863"/>
                <a:ext cx="1778" cy="1278"/>
              </a:xfrm>
              <a:custGeom>
                <a:avLst/>
                <a:gdLst/>
                <a:ahLst/>
                <a:cxnLst>
                  <a:cxn ang="0">
                    <a:pos x="800" y="11"/>
                  </a:cxn>
                  <a:cxn ang="0">
                    <a:pos x="856" y="22"/>
                  </a:cxn>
                  <a:cxn ang="0">
                    <a:pos x="922" y="44"/>
                  </a:cxn>
                  <a:cxn ang="0">
                    <a:pos x="1022" y="89"/>
                  </a:cxn>
                  <a:cxn ang="0">
                    <a:pos x="1056" y="100"/>
                  </a:cxn>
                  <a:cxn ang="0">
                    <a:pos x="1089" y="122"/>
                  </a:cxn>
                  <a:cxn ang="0">
                    <a:pos x="1122" y="133"/>
                  </a:cxn>
                  <a:cxn ang="0">
                    <a:pos x="1178" y="167"/>
                  </a:cxn>
                  <a:cxn ang="0">
                    <a:pos x="1211" y="200"/>
                  </a:cxn>
                  <a:cxn ang="0">
                    <a:pos x="1256" y="222"/>
                  </a:cxn>
                  <a:cxn ang="0">
                    <a:pos x="1278" y="255"/>
                  </a:cxn>
                  <a:cxn ang="0">
                    <a:pos x="1345" y="289"/>
                  </a:cxn>
                  <a:cxn ang="0">
                    <a:pos x="1423" y="333"/>
                  </a:cxn>
                  <a:cxn ang="0">
                    <a:pos x="1511" y="433"/>
                  </a:cxn>
                  <a:cxn ang="0">
                    <a:pos x="1534" y="467"/>
                  </a:cxn>
                  <a:cxn ang="0">
                    <a:pos x="1600" y="511"/>
                  </a:cxn>
                  <a:cxn ang="0">
                    <a:pos x="1667" y="611"/>
                  </a:cxn>
                  <a:cxn ang="0">
                    <a:pos x="1700" y="644"/>
                  </a:cxn>
                  <a:cxn ang="0">
                    <a:pos x="1756" y="733"/>
                  </a:cxn>
                  <a:cxn ang="0">
                    <a:pos x="1778" y="789"/>
                  </a:cxn>
                  <a:cxn ang="0">
                    <a:pos x="1567" y="855"/>
                  </a:cxn>
                  <a:cxn ang="0">
                    <a:pos x="1434" y="900"/>
                  </a:cxn>
                  <a:cxn ang="0">
                    <a:pos x="1367" y="922"/>
                  </a:cxn>
                  <a:cxn ang="0">
                    <a:pos x="1289" y="978"/>
                  </a:cxn>
                  <a:cxn ang="0">
                    <a:pos x="1256" y="1000"/>
                  </a:cxn>
                  <a:cxn ang="0">
                    <a:pos x="1122" y="1089"/>
                  </a:cxn>
                  <a:cxn ang="0">
                    <a:pos x="1022" y="1144"/>
                  </a:cxn>
                  <a:cxn ang="0">
                    <a:pos x="956" y="1278"/>
                  </a:cxn>
                  <a:cxn ang="0">
                    <a:pos x="878" y="1178"/>
                  </a:cxn>
                  <a:cxn ang="0">
                    <a:pos x="800" y="1055"/>
                  </a:cxn>
                  <a:cxn ang="0">
                    <a:pos x="711" y="989"/>
                  </a:cxn>
                  <a:cxn ang="0">
                    <a:pos x="545" y="855"/>
                  </a:cxn>
                  <a:cxn ang="0">
                    <a:pos x="322" y="800"/>
                  </a:cxn>
                  <a:cxn ang="0">
                    <a:pos x="167" y="811"/>
                  </a:cxn>
                  <a:cxn ang="0">
                    <a:pos x="0" y="867"/>
                  </a:cxn>
                  <a:cxn ang="0">
                    <a:pos x="11" y="678"/>
                  </a:cxn>
                  <a:cxn ang="0">
                    <a:pos x="133" y="489"/>
                  </a:cxn>
                  <a:cxn ang="0">
                    <a:pos x="211" y="344"/>
                  </a:cxn>
                  <a:cxn ang="0">
                    <a:pos x="256" y="311"/>
                  </a:cxn>
                  <a:cxn ang="0">
                    <a:pos x="333" y="200"/>
                  </a:cxn>
                  <a:cxn ang="0">
                    <a:pos x="478" y="122"/>
                  </a:cxn>
                  <a:cxn ang="0">
                    <a:pos x="689" y="0"/>
                  </a:cxn>
                  <a:cxn ang="0">
                    <a:pos x="800" y="11"/>
                  </a:cxn>
                </a:cxnLst>
                <a:rect l="0" t="0" r="0" b="0"/>
                <a:pathLst>
                  <a:path w="1778" h="1278">
                    <a:moveTo>
                      <a:pt x="800" y="11"/>
                    </a:moveTo>
                    <a:cubicBezTo>
                      <a:pt x="819" y="15"/>
                      <a:pt x="838" y="17"/>
                      <a:pt x="856" y="22"/>
                    </a:cubicBezTo>
                    <a:cubicBezTo>
                      <a:pt x="878" y="28"/>
                      <a:pt x="922" y="44"/>
                      <a:pt x="922" y="44"/>
                    </a:cubicBezTo>
                    <a:cubicBezTo>
                      <a:pt x="975" y="80"/>
                      <a:pt x="944" y="63"/>
                      <a:pt x="1022" y="89"/>
                    </a:cubicBezTo>
                    <a:cubicBezTo>
                      <a:pt x="1033" y="93"/>
                      <a:pt x="1056" y="100"/>
                      <a:pt x="1056" y="100"/>
                    </a:cubicBezTo>
                    <a:cubicBezTo>
                      <a:pt x="1067" y="107"/>
                      <a:pt x="1077" y="116"/>
                      <a:pt x="1089" y="122"/>
                    </a:cubicBezTo>
                    <a:cubicBezTo>
                      <a:pt x="1099" y="127"/>
                      <a:pt x="1112" y="127"/>
                      <a:pt x="1122" y="133"/>
                    </a:cubicBezTo>
                    <a:cubicBezTo>
                      <a:pt x="1205" y="182"/>
                      <a:pt x="1079" y="131"/>
                      <a:pt x="1178" y="167"/>
                    </a:cubicBezTo>
                    <a:cubicBezTo>
                      <a:pt x="1189" y="178"/>
                      <a:pt x="1198" y="191"/>
                      <a:pt x="1211" y="200"/>
                    </a:cubicBezTo>
                    <a:cubicBezTo>
                      <a:pt x="1225" y="210"/>
                      <a:pt x="1243" y="211"/>
                      <a:pt x="1256" y="222"/>
                    </a:cubicBezTo>
                    <a:cubicBezTo>
                      <a:pt x="1266" y="230"/>
                      <a:pt x="1269" y="246"/>
                      <a:pt x="1278" y="255"/>
                    </a:cubicBezTo>
                    <a:cubicBezTo>
                      <a:pt x="1301" y="278"/>
                      <a:pt x="1316" y="280"/>
                      <a:pt x="1345" y="289"/>
                    </a:cubicBezTo>
                    <a:cubicBezTo>
                      <a:pt x="1370" y="306"/>
                      <a:pt x="1402" y="312"/>
                      <a:pt x="1423" y="333"/>
                    </a:cubicBezTo>
                    <a:cubicBezTo>
                      <a:pt x="1564" y="474"/>
                      <a:pt x="1419" y="372"/>
                      <a:pt x="1511" y="433"/>
                    </a:cubicBezTo>
                    <a:cubicBezTo>
                      <a:pt x="1519" y="444"/>
                      <a:pt x="1524" y="458"/>
                      <a:pt x="1534" y="467"/>
                    </a:cubicBezTo>
                    <a:cubicBezTo>
                      <a:pt x="1554" y="484"/>
                      <a:pt x="1600" y="511"/>
                      <a:pt x="1600" y="511"/>
                    </a:cubicBezTo>
                    <a:cubicBezTo>
                      <a:pt x="1652" y="589"/>
                      <a:pt x="1630" y="556"/>
                      <a:pt x="1667" y="611"/>
                    </a:cubicBezTo>
                    <a:cubicBezTo>
                      <a:pt x="1676" y="624"/>
                      <a:pt x="1691" y="631"/>
                      <a:pt x="1700" y="644"/>
                    </a:cubicBezTo>
                    <a:cubicBezTo>
                      <a:pt x="1721" y="672"/>
                      <a:pt x="1756" y="733"/>
                      <a:pt x="1756" y="733"/>
                    </a:cubicBezTo>
                    <a:cubicBezTo>
                      <a:pt x="1770" y="775"/>
                      <a:pt x="1762" y="756"/>
                      <a:pt x="1778" y="789"/>
                    </a:cubicBezTo>
                    <a:cubicBezTo>
                      <a:pt x="1708" y="812"/>
                      <a:pt x="1639" y="837"/>
                      <a:pt x="1567" y="855"/>
                    </a:cubicBezTo>
                    <a:cubicBezTo>
                      <a:pt x="1530" y="893"/>
                      <a:pt x="1483" y="885"/>
                      <a:pt x="1434" y="900"/>
                    </a:cubicBezTo>
                    <a:cubicBezTo>
                      <a:pt x="1411" y="907"/>
                      <a:pt x="1367" y="922"/>
                      <a:pt x="1367" y="922"/>
                    </a:cubicBezTo>
                    <a:cubicBezTo>
                      <a:pt x="1341" y="941"/>
                      <a:pt x="1315" y="960"/>
                      <a:pt x="1289" y="978"/>
                    </a:cubicBezTo>
                    <a:cubicBezTo>
                      <a:pt x="1278" y="986"/>
                      <a:pt x="1256" y="1000"/>
                      <a:pt x="1256" y="1000"/>
                    </a:cubicBezTo>
                    <a:cubicBezTo>
                      <a:pt x="1220" y="1054"/>
                      <a:pt x="1184" y="1069"/>
                      <a:pt x="1122" y="1089"/>
                    </a:cubicBezTo>
                    <a:cubicBezTo>
                      <a:pt x="1089" y="1111"/>
                      <a:pt x="1056" y="1122"/>
                      <a:pt x="1022" y="1144"/>
                    </a:cubicBezTo>
                    <a:cubicBezTo>
                      <a:pt x="1000" y="1189"/>
                      <a:pt x="978" y="1233"/>
                      <a:pt x="956" y="1278"/>
                    </a:cubicBezTo>
                    <a:cubicBezTo>
                      <a:pt x="939" y="1207"/>
                      <a:pt x="921" y="1230"/>
                      <a:pt x="878" y="1178"/>
                    </a:cubicBezTo>
                    <a:cubicBezTo>
                      <a:pt x="846" y="1140"/>
                      <a:pt x="838" y="1089"/>
                      <a:pt x="800" y="1055"/>
                    </a:cubicBezTo>
                    <a:cubicBezTo>
                      <a:pt x="773" y="1030"/>
                      <a:pt x="737" y="1015"/>
                      <a:pt x="711" y="989"/>
                    </a:cubicBezTo>
                    <a:cubicBezTo>
                      <a:pt x="663" y="940"/>
                      <a:pt x="612" y="880"/>
                      <a:pt x="545" y="855"/>
                    </a:cubicBezTo>
                    <a:cubicBezTo>
                      <a:pt x="476" y="830"/>
                      <a:pt x="395" y="812"/>
                      <a:pt x="322" y="800"/>
                    </a:cubicBezTo>
                    <a:cubicBezTo>
                      <a:pt x="270" y="804"/>
                      <a:pt x="218" y="803"/>
                      <a:pt x="167" y="811"/>
                    </a:cubicBezTo>
                    <a:cubicBezTo>
                      <a:pt x="107" y="820"/>
                      <a:pt x="61" y="867"/>
                      <a:pt x="0" y="867"/>
                    </a:cubicBezTo>
                    <a:cubicBezTo>
                      <a:pt x="4" y="804"/>
                      <a:pt x="3" y="741"/>
                      <a:pt x="11" y="678"/>
                    </a:cubicBezTo>
                    <a:cubicBezTo>
                      <a:pt x="22" y="594"/>
                      <a:pt x="94" y="557"/>
                      <a:pt x="133" y="489"/>
                    </a:cubicBezTo>
                    <a:cubicBezTo>
                      <a:pt x="157" y="447"/>
                      <a:pt x="171" y="374"/>
                      <a:pt x="211" y="344"/>
                    </a:cubicBezTo>
                    <a:cubicBezTo>
                      <a:pt x="226" y="333"/>
                      <a:pt x="243" y="324"/>
                      <a:pt x="256" y="311"/>
                    </a:cubicBezTo>
                    <a:cubicBezTo>
                      <a:pt x="288" y="279"/>
                      <a:pt x="296" y="225"/>
                      <a:pt x="333" y="200"/>
                    </a:cubicBezTo>
                    <a:cubicBezTo>
                      <a:pt x="384" y="166"/>
                      <a:pt x="421" y="141"/>
                      <a:pt x="478" y="122"/>
                    </a:cubicBezTo>
                    <a:cubicBezTo>
                      <a:pt x="535" y="66"/>
                      <a:pt x="604" y="0"/>
                      <a:pt x="689" y="0"/>
                    </a:cubicBezTo>
                    <a:cubicBezTo>
                      <a:pt x="726" y="0"/>
                      <a:pt x="763" y="7"/>
                      <a:pt x="800" y="11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rgbClr val="FFFF99"/>
                  </a:gs>
                </a:gsLst>
                <a:path path="rect">
                  <a:fillToRect l="50000" t="50000" r="50000" b="50000"/>
                </a:path>
                <a:tileRect/>
              </a:gradFill>
              <a:ln w="19050" cap="flat" cmpd="sng">
                <a:solidFill>
                  <a:srgbClr val="4E3A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" name="Freeform 64"/>
              <p:cNvSpPr/>
              <p:nvPr/>
            </p:nvSpPr>
            <p:spPr>
              <a:xfrm>
                <a:off x="3168" y="1391"/>
                <a:ext cx="336" cy="288"/>
              </a:xfrm>
              <a:custGeom>
                <a:avLst/>
                <a:gdLst/>
                <a:ahLst/>
                <a:cxnLst>
                  <a:cxn ang="0">
                    <a:pos x="336" y="0"/>
                  </a:cxn>
                  <a:cxn ang="0">
                    <a:pos x="0" y="288"/>
                  </a:cxn>
                </a:cxnLst>
                <a:rect l="0" t="0" r="0" b="0"/>
                <a:pathLst>
                  <a:path w="336" h="288">
                    <a:moveTo>
                      <a:pt x="336" y="0"/>
                    </a:moveTo>
                    <a:cubicBezTo>
                      <a:pt x="196" y="116"/>
                      <a:pt x="56" y="232"/>
                      <a:pt x="0" y="288"/>
                    </a:cubicBezTo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Line 65"/>
              <p:cNvSpPr/>
              <p:nvPr/>
            </p:nvSpPr>
            <p:spPr>
              <a:xfrm flipH="1">
                <a:off x="3264" y="1487"/>
                <a:ext cx="432" cy="336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3384" name="Line 66"/>
              <p:cNvSpPr/>
              <p:nvPr/>
            </p:nvSpPr>
            <p:spPr>
              <a:xfrm flipH="1">
                <a:off x="3456" y="1631"/>
                <a:ext cx="432" cy="288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3385" name="Line 67"/>
              <p:cNvSpPr/>
              <p:nvPr/>
            </p:nvSpPr>
            <p:spPr>
              <a:xfrm flipH="1">
                <a:off x="3504" y="1823"/>
                <a:ext cx="480" cy="240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3386" name="Line 68"/>
              <p:cNvSpPr/>
              <p:nvPr/>
            </p:nvSpPr>
            <p:spPr>
              <a:xfrm flipH="1">
                <a:off x="3600" y="1967"/>
                <a:ext cx="432" cy="192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3387" name="Arc 69"/>
              <p:cNvSpPr/>
              <p:nvPr/>
            </p:nvSpPr>
            <p:spPr>
              <a:xfrm>
                <a:off x="4368" y="1920"/>
                <a:ext cx="1155" cy="4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4" y="6"/>
                  </a:cxn>
                  <a:cxn ang="0">
                    <a:pos x="0" y="0"/>
                  </a:cxn>
                  <a:cxn ang="0">
                    <a:pos x="64" y="6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0" b="0"/>
                <a:pathLst>
                  <a:path w="20792" h="21600" fill="none">
                    <a:moveTo>
                      <a:pt x="-1" y="0"/>
                    </a:moveTo>
                    <a:cubicBezTo>
                      <a:pt x="9674" y="0"/>
                      <a:pt x="18169" y="6433"/>
                      <a:pt x="20791" y="15746"/>
                    </a:cubicBezTo>
                  </a:path>
                  <a:path w="20792" h="21600" stroke="0">
                    <a:moveTo>
                      <a:pt x="-1" y="0"/>
                    </a:moveTo>
                    <a:cubicBezTo>
                      <a:pt x="9674" y="0"/>
                      <a:pt x="18169" y="6433"/>
                      <a:pt x="20791" y="15746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Arc 70"/>
              <p:cNvSpPr/>
              <p:nvPr/>
            </p:nvSpPr>
            <p:spPr>
              <a:xfrm rot="304380" flipH="1">
                <a:off x="4317" y="1625"/>
                <a:ext cx="1195" cy="2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9" y="1"/>
                  </a:cxn>
                  <a:cxn ang="0">
                    <a:pos x="0" y="0"/>
                  </a:cxn>
                  <a:cxn ang="0">
                    <a:pos x="79" y="1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0" b="0"/>
                <a:pathLst>
                  <a:path w="18089" h="21600" fill="none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</a:path>
                  <a:path w="18089" h="21600" stroke="0">
                    <a:moveTo>
                      <a:pt x="-1" y="0"/>
                    </a:moveTo>
                    <a:cubicBezTo>
                      <a:pt x="7297" y="0"/>
                      <a:pt x="14100" y="3684"/>
                      <a:pt x="18088" y="979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Arc 71"/>
              <p:cNvSpPr/>
              <p:nvPr/>
            </p:nvSpPr>
            <p:spPr>
              <a:xfrm flipH="1">
                <a:off x="4316" y="1295"/>
                <a:ext cx="1207" cy="3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2" y="3"/>
                  </a:cxn>
                  <a:cxn ang="0">
                    <a:pos x="0" y="0"/>
                  </a:cxn>
                  <a:cxn ang="0">
                    <a:pos x="82" y="3"/>
                  </a:cxn>
                  <a:cxn ang="0">
                    <a:pos x="0" y="7"/>
                  </a:cxn>
                  <a:cxn ang="0">
                    <a:pos x="0" y="0"/>
                  </a:cxn>
                </a:cxnLst>
                <a:rect l="0" t="0" r="0" b="0"/>
                <a:pathLst>
                  <a:path w="17843" h="21600" fill="none">
                    <a:moveTo>
                      <a:pt x="-1" y="0"/>
                    </a:moveTo>
                    <a:cubicBezTo>
                      <a:pt x="7139" y="0"/>
                      <a:pt x="13818" y="3528"/>
                      <a:pt x="17842" y="9426"/>
                    </a:cubicBezTo>
                  </a:path>
                  <a:path w="17843" h="21600" stroke="0">
                    <a:moveTo>
                      <a:pt x="-1" y="0"/>
                    </a:moveTo>
                    <a:cubicBezTo>
                      <a:pt x="7139" y="0"/>
                      <a:pt x="13818" y="3528"/>
                      <a:pt x="17842" y="9426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" name="Arc 72"/>
              <p:cNvSpPr/>
              <p:nvPr/>
            </p:nvSpPr>
            <p:spPr>
              <a:xfrm rot="-818578" flipH="1">
                <a:off x="4032" y="959"/>
                <a:ext cx="1360" cy="1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8" y="1"/>
                  </a:cxn>
                  <a:cxn ang="0">
                    <a:pos x="0" y="0"/>
                  </a:cxn>
                  <a:cxn ang="0">
                    <a:pos x="88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0" b="0"/>
                <a:pathLst>
                  <a:path w="21111" h="21600" fill="none">
                    <a:moveTo>
                      <a:pt x="-1" y="0"/>
                    </a:moveTo>
                    <a:cubicBezTo>
                      <a:pt x="10169" y="0"/>
                      <a:pt x="18960" y="7092"/>
                      <a:pt x="21111" y="17031"/>
                    </a:cubicBezTo>
                  </a:path>
                  <a:path w="21111" h="21600" stroke="0">
                    <a:moveTo>
                      <a:pt x="-1" y="0"/>
                    </a:moveTo>
                    <a:cubicBezTo>
                      <a:pt x="10169" y="0"/>
                      <a:pt x="18960" y="7092"/>
                      <a:pt x="21111" y="17031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" name="Line 73"/>
              <p:cNvSpPr/>
              <p:nvPr/>
            </p:nvSpPr>
            <p:spPr>
              <a:xfrm flipV="1">
                <a:off x="3840" y="479"/>
                <a:ext cx="768" cy="672"/>
              </a:xfrm>
              <a:prstGeom prst="line">
                <a:avLst/>
              </a:prstGeom>
              <a:ln w="12700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triangle" w="sm" len="lg"/>
              </a:ln>
            </p:spPr>
          </p:sp>
          <p:graphicFrame>
            <p:nvGraphicFramePr>
              <p:cNvPr id="13392" name="Object 74"/>
              <p:cNvGraphicFramePr>
                <a:graphicFrameLocks noChangeAspect="1"/>
              </p:cNvGraphicFramePr>
              <p:nvPr/>
            </p:nvGraphicFramePr>
            <p:xfrm>
              <a:off x="3950" y="384"/>
              <a:ext cx="32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15900" imgH="266065" progId="Equation.3">
                      <p:embed/>
                    </p:oleObj>
                  </mc:Choice>
                  <mc:Fallback>
                    <p:oleObj r:id="rId10" imgW="215900" imgH="266065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3950" y="384"/>
                            <a:ext cx="327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93" name="Group 75"/>
            <p:cNvGrpSpPr/>
            <p:nvPr/>
          </p:nvGrpSpPr>
          <p:grpSpPr>
            <a:xfrm>
              <a:off x="4024" y="753"/>
              <a:ext cx="720" cy="1086"/>
              <a:chOff x="2256" y="1392"/>
              <a:chExt cx="720" cy="1086"/>
            </a:xfrm>
          </p:grpSpPr>
          <p:sp>
            <p:nvSpPr>
              <p:cNvPr id="13394" name="Freeform 76"/>
              <p:cNvSpPr/>
              <p:nvPr/>
            </p:nvSpPr>
            <p:spPr>
              <a:xfrm>
                <a:off x="2256" y="2232"/>
                <a:ext cx="326" cy="246"/>
              </a:xfrm>
              <a:custGeom>
                <a:avLst/>
                <a:gdLst/>
                <a:ahLst/>
                <a:cxnLst>
                  <a:cxn ang="0">
                    <a:pos x="0" y="72"/>
                  </a:cxn>
                  <a:cxn ang="0">
                    <a:pos x="96" y="32"/>
                  </a:cxn>
                  <a:cxn ang="0">
                    <a:pos x="196" y="0"/>
                  </a:cxn>
                  <a:cxn ang="0">
                    <a:pos x="260" y="80"/>
                  </a:cxn>
                  <a:cxn ang="0">
                    <a:pos x="326" y="180"/>
                  </a:cxn>
                  <a:cxn ang="0">
                    <a:pos x="224" y="208"/>
                  </a:cxn>
                  <a:cxn ang="0">
                    <a:pos x="130" y="246"/>
                  </a:cxn>
                  <a:cxn ang="0">
                    <a:pos x="92" y="168"/>
                  </a:cxn>
                  <a:cxn ang="0">
                    <a:pos x="0" y="72"/>
                  </a:cxn>
                </a:cxnLst>
                <a:rect l="0" t="0" r="0" b="0"/>
                <a:pathLst>
                  <a:path w="326" h="246">
                    <a:moveTo>
                      <a:pt x="0" y="72"/>
                    </a:moveTo>
                    <a:lnTo>
                      <a:pt x="96" y="32"/>
                    </a:lnTo>
                    <a:lnTo>
                      <a:pt x="196" y="0"/>
                    </a:lnTo>
                    <a:lnTo>
                      <a:pt x="260" y="80"/>
                    </a:lnTo>
                    <a:lnTo>
                      <a:pt x="326" y="180"/>
                    </a:lnTo>
                    <a:lnTo>
                      <a:pt x="224" y="208"/>
                    </a:lnTo>
                    <a:lnTo>
                      <a:pt x="130" y="246"/>
                    </a:lnTo>
                    <a:lnTo>
                      <a:pt x="92" y="168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00FF0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3395" name="Object 77"/>
              <p:cNvGraphicFramePr>
                <a:graphicFrameLocks noChangeAspect="1"/>
              </p:cNvGraphicFramePr>
              <p:nvPr/>
            </p:nvGraphicFramePr>
            <p:xfrm>
              <a:off x="2546" y="1392"/>
              <a:ext cx="430" cy="3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15900" imgH="203200" progId="Equation.3">
                      <p:embed/>
                    </p:oleObj>
                  </mc:Choice>
                  <mc:Fallback>
                    <p:oleObj r:id="rId12" imgW="215900" imgH="203200" progId="Equation.3">
                      <p:embed/>
                      <p:pic>
                        <p:nvPicPr>
                          <p:cNvPr id="0" name="图片 3113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2546" y="1392"/>
                            <a:ext cx="430" cy="3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96" name="Line 78"/>
              <p:cNvSpPr/>
              <p:nvPr/>
            </p:nvSpPr>
            <p:spPr>
              <a:xfrm flipV="1">
                <a:off x="2352" y="1773"/>
                <a:ext cx="384" cy="575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3397" name="Group 79"/>
            <p:cNvGrpSpPr/>
            <p:nvPr/>
          </p:nvGrpSpPr>
          <p:grpSpPr>
            <a:xfrm>
              <a:off x="4111" y="1096"/>
              <a:ext cx="1169" cy="624"/>
              <a:chOff x="3878" y="1298"/>
              <a:chExt cx="1169" cy="624"/>
            </a:xfrm>
          </p:grpSpPr>
          <p:graphicFrame>
            <p:nvGraphicFramePr>
              <p:cNvPr id="13398" name="Object 80"/>
              <p:cNvGraphicFramePr>
                <a:graphicFrameLocks noChangeAspect="1"/>
              </p:cNvGraphicFramePr>
              <p:nvPr/>
            </p:nvGraphicFramePr>
            <p:xfrm>
              <a:off x="4742" y="1298"/>
              <a:ext cx="305" cy="3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52400" imgH="190500" progId="Equation.3">
                      <p:embed/>
                    </p:oleObj>
                  </mc:Choice>
                  <mc:Fallback>
                    <p:oleObj r:id="rId14" imgW="152400" imgH="190500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742" y="1298"/>
                            <a:ext cx="305" cy="3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99" name="Line 81"/>
              <p:cNvSpPr/>
              <p:nvPr/>
            </p:nvSpPr>
            <p:spPr>
              <a:xfrm flipV="1">
                <a:off x="3878" y="1538"/>
                <a:ext cx="864" cy="384"/>
              </a:xfrm>
              <a:prstGeom prst="line">
                <a:avLst/>
              </a:prstGeom>
              <a:ln w="38100" cap="flat" cmpd="sng">
                <a:solidFill>
                  <a:srgbClr val="339966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3400" name="Object 82"/>
              <p:cNvGraphicFramePr>
                <a:graphicFrameLocks noChangeAspect="1"/>
              </p:cNvGraphicFramePr>
              <p:nvPr/>
            </p:nvGraphicFramePr>
            <p:xfrm>
              <a:off x="4195" y="1480"/>
              <a:ext cx="211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27000" imgH="177165" progId="Equation.3">
                      <p:embed/>
                    </p:oleObj>
                  </mc:Choice>
                  <mc:Fallback>
                    <p:oleObj r:id="rId16" imgW="127000" imgH="177165" progId="Equation.3">
                      <p:embed/>
                      <p:pic>
                        <p:nvPicPr>
                          <p:cNvPr id="0" name="图片 3114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195" y="1480"/>
                            <a:ext cx="211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401" name="Arc 83"/>
              <p:cNvSpPr/>
              <p:nvPr/>
            </p:nvSpPr>
            <p:spPr>
              <a:xfrm>
                <a:off x="4079" y="1635"/>
                <a:ext cx="135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0" b="0"/>
                <a:pathLst>
                  <a:path w="20648" h="21600" fill="none">
                    <a:moveTo>
                      <a:pt x="-1" y="0"/>
                    </a:moveTo>
                    <a:cubicBezTo>
                      <a:pt x="9486" y="0"/>
                      <a:pt x="17862" y="6189"/>
                      <a:pt x="20647" y="15257"/>
                    </a:cubicBezTo>
                  </a:path>
                  <a:path w="20648" h="21600" stroke="0">
                    <a:moveTo>
                      <a:pt x="-1" y="0"/>
                    </a:moveTo>
                    <a:cubicBezTo>
                      <a:pt x="9486" y="0"/>
                      <a:pt x="17862" y="6189"/>
                      <a:pt x="20647" y="1525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402" name="Group 84"/>
            <p:cNvGrpSpPr/>
            <p:nvPr/>
          </p:nvGrpSpPr>
          <p:grpSpPr>
            <a:xfrm>
              <a:off x="3127" y="1072"/>
              <a:ext cx="1905" cy="1323"/>
              <a:chOff x="3360" y="864"/>
              <a:chExt cx="1778" cy="1278"/>
            </a:xfrm>
          </p:grpSpPr>
          <p:sp>
            <p:nvSpPr>
              <p:cNvPr id="13403" name="Freeform 85"/>
              <p:cNvSpPr/>
              <p:nvPr/>
            </p:nvSpPr>
            <p:spPr>
              <a:xfrm rot="1243955">
                <a:off x="3360" y="864"/>
                <a:ext cx="1778" cy="1278"/>
              </a:xfrm>
              <a:custGeom>
                <a:avLst/>
                <a:gdLst/>
                <a:ahLst/>
                <a:cxnLst>
                  <a:cxn ang="0">
                    <a:pos x="800" y="11"/>
                  </a:cxn>
                  <a:cxn ang="0">
                    <a:pos x="856" y="22"/>
                  </a:cxn>
                  <a:cxn ang="0">
                    <a:pos x="922" y="44"/>
                  </a:cxn>
                  <a:cxn ang="0">
                    <a:pos x="1022" y="89"/>
                  </a:cxn>
                  <a:cxn ang="0">
                    <a:pos x="1056" y="100"/>
                  </a:cxn>
                  <a:cxn ang="0">
                    <a:pos x="1089" y="122"/>
                  </a:cxn>
                  <a:cxn ang="0">
                    <a:pos x="1122" y="133"/>
                  </a:cxn>
                  <a:cxn ang="0">
                    <a:pos x="1178" y="167"/>
                  </a:cxn>
                  <a:cxn ang="0">
                    <a:pos x="1211" y="200"/>
                  </a:cxn>
                  <a:cxn ang="0">
                    <a:pos x="1256" y="222"/>
                  </a:cxn>
                  <a:cxn ang="0">
                    <a:pos x="1278" y="255"/>
                  </a:cxn>
                  <a:cxn ang="0">
                    <a:pos x="1345" y="289"/>
                  </a:cxn>
                  <a:cxn ang="0">
                    <a:pos x="1423" y="333"/>
                  </a:cxn>
                  <a:cxn ang="0">
                    <a:pos x="1511" y="433"/>
                  </a:cxn>
                  <a:cxn ang="0">
                    <a:pos x="1534" y="467"/>
                  </a:cxn>
                  <a:cxn ang="0">
                    <a:pos x="1600" y="511"/>
                  </a:cxn>
                  <a:cxn ang="0">
                    <a:pos x="1667" y="611"/>
                  </a:cxn>
                  <a:cxn ang="0">
                    <a:pos x="1700" y="644"/>
                  </a:cxn>
                  <a:cxn ang="0">
                    <a:pos x="1756" y="733"/>
                  </a:cxn>
                  <a:cxn ang="0">
                    <a:pos x="1778" y="789"/>
                  </a:cxn>
                  <a:cxn ang="0">
                    <a:pos x="1567" y="855"/>
                  </a:cxn>
                  <a:cxn ang="0">
                    <a:pos x="1434" y="900"/>
                  </a:cxn>
                  <a:cxn ang="0">
                    <a:pos x="1367" y="922"/>
                  </a:cxn>
                  <a:cxn ang="0">
                    <a:pos x="1289" y="978"/>
                  </a:cxn>
                  <a:cxn ang="0">
                    <a:pos x="1256" y="1000"/>
                  </a:cxn>
                  <a:cxn ang="0">
                    <a:pos x="1122" y="1089"/>
                  </a:cxn>
                  <a:cxn ang="0">
                    <a:pos x="1022" y="1144"/>
                  </a:cxn>
                  <a:cxn ang="0">
                    <a:pos x="956" y="1278"/>
                  </a:cxn>
                  <a:cxn ang="0">
                    <a:pos x="878" y="1178"/>
                  </a:cxn>
                  <a:cxn ang="0">
                    <a:pos x="800" y="1055"/>
                  </a:cxn>
                  <a:cxn ang="0">
                    <a:pos x="711" y="989"/>
                  </a:cxn>
                  <a:cxn ang="0">
                    <a:pos x="545" y="855"/>
                  </a:cxn>
                  <a:cxn ang="0">
                    <a:pos x="322" y="800"/>
                  </a:cxn>
                  <a:cxn ang="0">
                    <a:pos x="167" y="811"/>
                  </a:cxn>
                  <a:cxn ang="0">
                    <a:pos x="0" y="867"/>
                  </a:cxn>
                  <a:cxn ang="0">
                    <a:pos x="11" y="678"/>
                  </a:cxn>
                  <a:cxn ang="0">
                    <a:pos x="133" y="489"/>
                  </a:cxn>
                  <a:cxn ang="0">
                    <a:pos x="211" y="344"/>
                  </a:cxn>
                  <a:cxn ang="0">
                    <a:pos x="256" y="311"/>
                  </a:cxn>
                  <a:cxn ang="0">
                    <a:pos x="333" y="200"/>
                  </a:cxn>
                  <a:cxn ang="0">
                    <a:pos x="478" y="122"/>
                  </a:cxn>
                  <a:cxn ang="0">
                    <a:pos x="689" y="0"/>
                  </a:cxn>
                  <a:cxn ang="0">
                    <a:pos x="800" y="11"/>
                  </a:cxn>
                </a:cxnLst>
                <a:rect l="0" t="0" r="0" b="0"/>
                <a:pathLst>
                  <a:path w="1778" h="1278">
                    <a:moveTo>
                      <a:pt x="800" y="11"/>
                    </a:moveTo>
                    <a:cubicBezTo>
                      <a:pt x="819" y="15"/>
                      <a:pt x="838" y="17"/>
                      <a:pt x="856" y="22"/>
                    </a:cubicBezTo>
                    <a:cubicBezTo>
                      <a:pt x="878" y="28"/>
                      <a:pt x="922" y="44"/>
                      <a:pt x="922" y="44"/>
                    </a:cubicBezTo>
                    <a:cubicBezTo>
                      <a:pt x="975" y="80"/>
                      <a:pt x="944" y="63"/>
                      <a:pt x="1022" y="89"/>
                    </a:cubicBezTo>
                    <a:cubicBezTo>
                      <a:pt x="1033" y="93"/>
                      <a:pt x="1056" y="100"/>
                      <a:pt x="1056" y="100"/>
                    </a:cubicBezTo>
                    <a:cubicBezTo>
                      <a:pt x="1067" y="107"/>
                      <a:pt x="1077" y="116"/>
                      <a:pt x="1089" y="122"/>
                    </a:cubicBezTo>
                    <a:cubicBezTo>
                      <a:pt x="1099" y="127"/>
                      <a:pt x="1112" y="127"/>
                      <a:pt x="1122" y="133"/>
                    </a:cubicBezTo>
                    <a:cubicBezTo>
                      <a:pt x="1205" y="182"/>
                      <a:pt x="1079" y="131"/>
                      <a:pt x="1178" y="167"/>
                    </a:cubicBezTo>
                    <a:cubicBezTo>
                      <a:pt x="1189" y="178"/>
                      <a:pt x="1198" y="191"/>
                      <a:pt x="1211" y="200"/>
                    </a:cubicBezTo>
                    <a:cubicBezTo>
                      <a:pt x="1225" y="210"/>
                      <a:pt x="1243" y="211"/>
                      <a:pt x="1256" y="222"/>
                    </a:cubicBezTo>
                    <a:cubicBezTo>
                      <a:pt x="1266" y="230"/>
                      <a:pt x="1269" y="246"/>
                      <a:pt x="1278" y="255"/>
                    </a:cubicBezTo>
                    <a:cubicBezTo>
                      <a:pt x="1301" y="278"/>
                      <a:pt x="1316" y="280"/>
                      <a:pt x="1345" y="289"/>
                    </a:cubicBezTo>
                    <a:cubicBezTo>
                      <a:pt x="1370" y="306"/>
                      <a:pt x="1402" y="312"/>
                      <a:pt x="1423" y="333"/>
                    </a:cubicBezTo>
                    <a:cubicBezTo>
                      <a:pt x="1564" y="474"/>
                      <a:pt x="1419" y="372"/>
                      <a:pt x="1511" y="433"/>
                    </a:cubicBezTo>
                    <a:cubicBezTo>
                      <a:pt x="1519" y="444"/>
                      <a:pt x="1524" y="458"/>
                      <a:pt x="1534" y="467"/>
                    </a:cubicBezTo>
                    <a:cubicBezTo>
                      <a:pt x="1554" y="484"/>
                      <a:pt x="1600" y="511"/>
                      <a:pt x="1600" y="511"/>
                    </a:cubicBezTo>
                    <a:cubicBezTo>
                      <a:pt x="1652" y="589"/>
                      <a:pt x="1630" y="556"/>
                      <a:pt x="1667" y="611"/>
                    </a:cubicBezTo>
                    <a:cubicBezTo>
                      <a:pt x="1676" y="624"/>
                      <a:pt x="1691" y="631"/>
                      <a:pt x="1700" y="644"/>
                    </a:cubicBezTo>
                    <a:cubicBezTo>
                      <a:pt x="1721" y="672"/>
                      <a:pt x="1756" y="733"/>
                      <a:pt x="1756" y="733"/>
                    </a:cubicBezTo>
                    <a:cubicBezTo>
                      <a:pt x="1770" y="775"/>
                      <a:pt x="1762" y="756"/>
                      <a:pt x="1778" y="789"/>
                    </a:cubicBezTo>
                    <a:cubicBezTo>
                      <a:pt x="1708" y="812"/>
                      <a:pt x="1639" y="837"/>
                      <a:pt x="1567" y="855"/>
                    </a:cubicBezTo>
                    <a:cubicBezTo>
                      <a:pt x="1530" y="893"/>
                      <a:pt x="1483" y="885"/>
                      <a:pt x="1434" y="900"/>
                    </a:cubicBezTo>
                    <a:cubicBezTo>
                      <a:pt x="1411" y="907"/>
                      <a:pt x="1367" y="922"/>
                      <a:pt x="1367" y="922"/>
                    </a:cubicBezTo>
                    <a:cubicBezTo>
                      <a:pt x="1341" y="941"/>
                      <a:pt x="1315" y="960"/>
                      <a:pt x="1289" y="978"/>
                    </a:cubicBezTo>
                    <a:cubicBezTo>
                      <a:pt x="1278" y="986"/>
                      <a:pt x="1256" y="1000"/>
                      <a:pt x="1256" y="1000"/>
                    </a:cubicBezTo>
                    <a:cubicBezTo>
                      <a:pt x="1220" y="1054"/>
                      <a:pt x="1184" y="1069"/>
                      <a:pt x="1122" y="1089"/>
                    </a:cubicBezTo>
                    <a:cubicBezTo>
                      <a:pt x="1089" y="1111"/>
                      <a:pt x="1056" y="1122"/>
                      <a:pt x="1022" y="1144"/>
                    </a:cubicBezTo>
                    <a:cubicBezTo>
                      <a:pt x="1000" y="1189"/>
                      <a:pt x="978" y="1233"/>
                      <a:pt x="956" y="1278"/>
                    </a:cubicBezTo>
                    <a:cubicBezTo>
                      <a:pt x="939" y="1207"/>
                      <a:pt x="921" y="1230"/>
                      <a:pt x="878" y="1178"/>
                    </a:cubicBezTo>
                    <a:cubicBezTo>
                      <a:pt x="846" y="1140"/>
                      <a:pt x="838" y="1089"/>
                      <a:pt x="800" y="1055"/>
                    </a:cubicBezTo>
                    <a:cubicBezTo>
                      <a:pt x="773" y="1030"/>
                      <a:pt x="737" y="1015"/>
                      <a:pt x="711" y="989"/>
                    </a:cubicBezTo>
                    <a:cubicBezTo>
                      <a:pt x="663" y="940"/>
                      <a:pt x="612" y="880"/>
                      <a:pt x="545" y="855"/>
                    </a:cubicBezTo>
                    <a:cubicBezTo>
                      <a:pt x="476" y="830"/>
                      <a:pt x="395" y="812"/>
                      <a:pt x="322" y="800"/>
                    </a:cubicBezTo>
                    <a:cubicBezTo>
                      <a:pt x="270" y="804"/>
                      <a:pt x="218" y="803"/>
                      <a:pt x="167" y="811"/>
                    </a:cubicBezTo>
                    <a:cubicBezTo>
                      <a:pt x="107" y="820"/>
                      <a:pt x="61" y="867"/>
                      <a:pt x="0" y="867"/>
                    </a:cubicBezTo>
                    <a:cubicBezTo>
                      <a:pt x="4" y="804"/>
                      <a:pt x="3" y="741"/>
                      <a:pt x="11" y="678"/>
                    </a:cubicBezTo>
                    <a:cubicBezTo>
                      <a:pt x="22" y="594"/>
                      <a:pt x="94" y="557"/>
                      <a:pt x="133" y="489"/>
                    </a:cubicBezTo>
                    <a:cubicBezTo>
                      <a:pt x="157" y="447"/>
                      <a:pt x="171" y="374"/>
                      <a:pt x="211" y="344"/>
                    </a:cubicBezTo>
                    <a:cubicBezTo>
                      <a:pt x="226" y="333"/>
                      <a:pt x="243" y="324"/>
                      <a:pt x="256" y="311"/>
                    </a:cubicBezTo>
                    <a:cubicBezTo>
                      <a:pt x="288" y="279"/>
                      <a:pt x="296" y="225"/>
                      <a:pt x="333" y="200"/>
                    </a:cubicBezTo>
                    <a:cubicBezTo>
                      <a:pt x="384" y="166"/>
                      <a:pt x="421" y="141"/>
                      <a:pt x="478" y="122"/>
                    </a:cubicBezTo>
                    <a:cubicBezTo>
                      <a:pt x="535" y="66"/>
                      <a:pt x="604" y="0"/>
                      <a:pt x="689" y="0"/>
                    </a:cubicBezTo>
                    <a:cubicBezTo>
                      <a:pt x="726" y="0"/>
                      <a:pt x="763" y="7"/>
                      <a:pt x="800" y="1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404" name="Group 86"/>
              <p:cNvGrpSpPr/>
              <p:nvPr/>
            </p:nvGrpSpPr>
            <p:grpSpPr>
              <a:xfrm>
                <a:off x="3504" y="864"/>
                <a:ext cx="1488" cy="1152"/>
                <a:chOff x="2640" y="1728"/>
                <a:chExt cx="1488" cy="1152"/>
              </a:xfrm>
            </p:grpSpPr>
            <p:sp>
              <p:nvSpPr>
                <p:cNvPr id="13405" name="Freeform 87"/>
                <p:cNvSpPr/>
                <p:nvPr/>
              </p:nvSpPr>
              <p:spPr>
                <a:xfrm>
                  <a:off x="3264" y="1728"/>
                  <a:ext cx="720" cy="110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8" y="240"/>
                    </a:cxn>
                    <a:cxn ang="0">
                      <a:pos x="432" y="432"/>
                    </a:cxn>
                    <a:cxn ang="0">
                      <a:pos x="624" y="720"/>
                    </a:cxn>
                    <a:cxn ang="0">
                      <a:pos x="720" y="1104"/>
                    </a:cxn>
                  </a:cxnLst>
                  <a:rect l="0" t="0" r="0" b="0"/>
                  <a:pathLst>
                    <a:path w="720" h="1104">
                      <a:moveTo>
                        <a:pt x="0" y="0"/>
                      </a:moveTo>
                      <a:cubicBezTo>
                        <a:pt x="108" y="84"/>
                        <a:pt x="216" y="168"/>
                        <a:pt x="288" y="240"/>
                      </a:cubicBezTo>
                      <a:cubicBezTo>
                        <a:pt x="360" y="312"/>
                        <a:pt x="376" y="352"/>
                        <a:pt x="432" y="432"/>
                      </a:cubicBezTo>
                      <a:cubicBezTo>
                        <a:pt x="488" y="512"/>
                        <a:pt x="576" y="608"/>
                        <a:pt x="624" y="720"/>
                      </a:cubicBezTo>
                      <a:cubicBezTo>
                        <a:pt x="672" y="832"/>
                        <a:pt x="704" y="1040"/>
                        <a:pt x="720" y="1104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6" name="Freeform 88"/>
                <p:cNvSpPr/>
                <p:nvPr/>
              </p:nvSpPr>
              <p:spPr>
                <a:xfrm>
                  <a:off x="3024" y="1776"/>
                  <a:ext cx="720" cy="100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8" y="200"/>
                    </a:cxn>
                    <a:cxn ang="0">
                      <a:pos x="432" y="360"/>
                    </a:cxn>
                    <a:cxn ang="0">
                      <a:pos x="624" y="600"/>
                    </a:cxn>
                    <a:cxn ang="0">
                      <a:pos x="720" y="920"/>
                    </a:cxn>
                  </a:cxnLst>
                  <a:rect l="0" t="0" r="0" b="0"/>
                  <a:pathLst>
                    <a:path w="720" h="1104">
                      <a:moveTo>
                        <a:pt x="0" y="0"/>
                      </a:moveTo>
                      <a:cubicBezTo>
                        <a:pt x="108" y="84"/>
                        <a:pt x="216" y="168"/>
                        <a:pt x="288" y="240"/>
                      </a:cubicBezTo>
                      <a:cubicBezTo>
                        <a:pt x="360" y="312"/>
                        <a:pt x="376" y="352"/>
                        <a:pt x="432" y="432"/>
                      </a:cubicBezTo>
                      <a:cubicBezTo>
                        <a:pt x="488" y="512"/>
                        <a:pt x="576" y="608"/>
                        <a:pt x="624" y="720"/>
                      </a:cubicBezTo>
                      <a:cubicBezTo>
                        <a:pt x="672" y="832"/>
                        <a:pt x="704" y="1040"/>
                        <a:pt x="720" y="1104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7" name="Freeform 89"/>
                <p:cNvSpPr/>
                <p:nvPr/>
              </p:nvSpPr>
              <p:spPr>
                <a:xfrm>
                  <a:off x="2832" y="1872"/>
                  <a:ext cx="720" cy="96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88" y="182"/>
                    </a:cxn>
                    <a:cxn ang="0">
                      <a:pos x="432" y="327"/>
                    </a:cxn>
                    <a:cxn ang="0">
                      <a:pos x="624" y="544"/>
                    </a:cxn>
                    <a:cxn ang="0">
                      <a:pos x="720" y="835"/>
                    </a:cxn>
                  </a:cxnLst>
                  <a:rect l="0" t="0" r="0" b="0"/>
                  <a:pathLst>
                    <a:path w="720" h="1104">
                      <a:moveTo>
                        <a:pt x="0" y="0"/>
                      </a:moveTo>
                      <a:cubicBezTo>
                        <a:pt x="108" y="84"/>
                        <a:pt x="216" y="168"/>
                        <a:pt x="288" y="240"/>
                      </a:cubicBezTo>
                      <a:cubicBezTo>
                        <a:pt x="360" y="312"/>
                        <a:pt x="376" y="352"/>
                        <a:pt x="432" y="432"/>
                      </a:cubicBezTo>
                      <a:cubicBezTo>
                        <a:pt x="488" y="512"/>
                        <a:pt x="576" y="608"/>
                        <a:pt x="624" y="720"/>
                      </a:cubicBezTo>
                      <a:cubicBezTo>
                        <a:pt x="672" y="832"/>
                        <a:pt x="704" y="1040"/>
                        <a:pt x="720" y="1104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8" name="Freeform 90"/>
                <p:cNvSpPr/>
                <p:nvPr/>
              </p:nvSpPr>
              <p:spPr>
                <a:xfrm>
                  <a:off x="2640" y="2016"/>
                  <a:ext cx="768" cy="86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7" y="147"/>
                    </a:cxn>
                    <a:cxn ang="0">
                      <a:pos x="492" y="265"/>
                    </a:cxn>
                    <a:cxn ang="0">
                      <a:pos x="710" y="441"/>
                    </a:cxn>
                    <a:cxn ang="0">
                      <a:pos x="819" y="676"/>
                    </a:cxn>
                  </a:cxnLst>
                  <a:rect l="0" t="0" r="0" b="0"/>
                  <a:pathLst>
                    <a:path w="720" h="1104">
                      <a:moveTo>
                        <a:pt x="0" y="0"/>
                      </a:moveTo>
                      <a:cubicBezTo>
                        <a:pt x="108" y="84"/>
                        <a:pt x="216" y="168"/>
                        <a:pt x="288" y="240"/>
                      </a:cubicBezTo>
                      <a:cubicBezTo>
                        <a:pt x="360" y="312"/>
                        <a:pt x="376" y="352"/>
                        <a:pt x="432" y="432"/>
                      </a:cubicBezTo>
                      <a:cubicBezTo>
                        <a:pt x="488" y="512"/>
                        <a:pt x="576" y="608"/>
                        <a:pt x="624" y="720"/>
                      </a:cubicBezTo>
                      <a:cubicBezTo>
                        <a:pt x="672" y="832"/>
                        <a:pt x="704" y="1040"/>
                        <a:pt x="720" y="1104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09" name="Freeform 91"/>
                <p:cNvSpPr/>
                <p:nvPr/>
              </p:nvSpPr>
              <p:spPr>
                <a:xfrm>
                  <a:off x="2640" y="1824"/>
                  <a:ext cx="960" cy="432"/>
                </a:xfrm>
                <a:custGeom>
                  <a:avLst/>
                  <a:gdLst/>
                  <a:ahLst/>
                  <a:cxnLst>
                    <a:cxn ang="0">
                      <a:pos x="0" y="432"/>
                    </a:cxn>
                    <a:cxn ang="0">
                      <a:pos x="240" y="240"/>
                    </a:cxn>
                    <a:cxn ang="0">
                      <a:pos x="528" y="96"/>
                    </a:cxn>
                    <a:cxn ang="0">
                      <a:pos x="960" y="0"/>
                    </a:cxn>
                  </a:cxnLst>
                  <a:rect l="0" t="0" r="0" b="0"/>
                  <a:pathLst>
                    <a:path w="960" h="432">
                      <a:moveTo>
                        <a:pt x="0" y="432"/>
                      </a:moveTo>
                      <a:cubicBezTo>
                        <a:pt x="76" y="364"/>
                        <a:pt x="152" y="296"/>
                        <a:pt x="240" y="240"/>
                      </a:cubicBezTo>
                      <a:cubicBezTo>
                        <a:pt x="328" y="184"/>
                        <a:pt x="408" y="136"/>
                        <a:pt x="528" y="96"/>
                      </a:cubicBezTo>
                      <a:cubicBezTo>
                        <a:pt x="648" y="56"/>
                        <a:pt x="888" y="16"/>
                        <a:pt x="960" y="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0" name="Freeform 92"/>
                <p:cNvSpPr/>
                <p:nvPr/>
              </p:nvSpPr>
              <p:spPr>
                <a:xfrm>
                  <a:off x="2832" y="1968"/>
                  <a:ext cx="960" cy="384"/>
                </a:xfrm>
                <a:custGeom>
                  <a:avLst/>
                  <a:gdLst/>
                  <a:ahLst/>
                  <a:cxnLst>
                    <a:cxn ang="0">
                      <a:pos x="0" y="341"/>
                    </a:cxn>
                    <a:cxn ang="0">
                      <a:pos x="240" y="189"/>
                    </a:cxn>
                    <a:cxn ang="0">
                      <a:pos x="528" y="76"/>
                    </a:cxn>
                    <a:cxn ang="0">
                      <a:pos x="960" y="0"/>
                    </a:cxn>
                  </a:cxnLst>
                  <a:rect l="0" t="0" r="0" b="0"/>
                  <a:pathLst>
                    <a:path w="960" h="432">
                      <a:moveTo>
                        <a:pt x="0" y="432"/>
                      </a:moveTo>
                      <a:cubicBezTo>
                        <a:pt x="76" y="364"/>
                        <a:pt x="152" y="296"/>
                        <a:pt x="240" y="240"/>
                      </a:cubicBezTo>
                      <a:cubicBezTo>
                        <a:pt x="328" y="184"/>
                        <a:pt x="408" y="136"/>
                        <a:pt x="528" y="96"/>
                      </a:cubicBezTo>
                      <a:cubicBezTo>
                        <a:pt x="648" y="56"/>
                        <a:pt x="888" y="16"/>
                        <a:pt x="960" y="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1" name="Freeform 93"/>
                <p:cNvSpPr/>
                <p:nvPr/>
              </p:nvSpPr>
              <p:spPr>
                <a:xfrm>
                  <a:off x="3024" y="2160"/>
                  <a:ext cx="864" cy="336"/>
                </a:xfrm>
                <a:custGeom>
                  <a:avLst/>
                  <a:gdLst/>
                  <a:ahLst/>
                  <a:cxnLst>
                    <a:cxn ang="0">
                      <a:pos x="0" y="261"/>
                    </a:cxn>
                    <a:cxn ang="0">
                      <a:pos x="194" y="145"/>
                    </a:cxn>
                    <a:cxn ang="0">
                      <a:pos x="428" y="58"/>
                    </a:cxn>
                    <a:cxn ang="0">
                      <a:pos x="778" y="0"/>
                    </a:cxn>
                  </a:cxnLst>
                  <a:rect l="0" t="0" r="0" b="0"/>
                  <a:pathLst>
                    <a:path w="960" h="432">
                      <a:moveTo>
                        <a:pt x="0" y="432"/>
                      </a:moveTo>
                      <a:cubicBezTo>
                        <a:pt x="76" y="364"/>
                        <a:pt x="152" y="296"/>
                        <a:pt x="240" y="240"/>
                      </a:cubicBezTo>
                      <a:cubicBezTo>
                        <a:pt x="328" y="184"/>
                        <a:pt x="408" y="136"/>
                        <a:pt x="528" y="96"/>
                      </a:cubicBezTo>
                      <a:cubicBezTo>
                        <a:pt x="648" y="56"/>
                        <a:pt x="888" y="16"/>
                        <a:pt x="960" y="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2" name="Freeform 94"/>
                <p:cNvSpPr/>
                <p:nvPr/>
              </p:nvSpPr>
              <p:spPr>
                <a:xfrm>
                  <a:off x="3120" y="2352"/>
                  <a:ext cx="864" cy="336"/>
                </a:xfrm>
                <a:custGeom>
                  <a:avLst/>
                  <a:gdLst/>
                  <a:ahLst/>
                  <a:cxnLst>
                    <a:cxn ang="0">
                      <a:pos x="0" y="261"/>
                    </a:cxn>
                    <a:cxn ang="0">
                      <a:pos x="194" y="145"/>
                    </a:cxn>
                    <a:cxn ang="0">
                      <a:pos x="428" y="58"/>
                    </a:cxn>
                    <a:cxn ang="0">
                      <a:pos x="778" y="0"/>
                    </a:cxn>
                  </a:cxnLst>
                  <a:rect l="0" t="0" r="0" b="0"/>
                  <a:pathLst>
                    <a:path w="960" h="432">
                      <a:moveTo>
                        <a:pt x="0" y="432"/>
                      </a:moveTo>
                      <a:cubicBezTo>
                        <a:pt x="76" y="364"/>
                        <a:pt x="152" y="296"/>
                        <a:pt x="240" y="240"/>
                      </a:cubicBezTo>
                      <a:cubicBezTo>
                        <a:pt x="328" y="184"/>
                        <a:pt x="408" y="136"/>
                        <a:pt x="528" y="96"/>
                      </a:cubicBezTo>
                      <a:cubicBezTo>
                        <a:pt x="648" y="56"/>
                        <a:pt x="888" y="16"/>
                        <a:pt x="960" y="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13" name="Freeform 95"/>
                <p:cNvSpPr/>
                <p:nvPr/>
              </p:nvSpPr>
              <p:spPr>
                <a:xfrm>
                  <a:off x="3168" y="2544"/>
                  <a:ext cx="960" cy="336"/>
                </a:xfrm>
                <a:custGeom>
                  <a:avLst/>
                  <a:gdLst/>
                  <a:ahLst/>
                  <a:cxnLst>
                    <a:cxn ang="0">
                      <a:pos x="0" y="261"/>
                    </a:cxn>
                    <a:cxn ang="0">
                      <a:pos x="240" y="145"/>
                    </a:cxn>
                    <a:cxn ang="0">
                      <a:pos x="528" y="58"/>
                    </a:cxn>
                    <a:cxn ang="0">
                      <a:pos x="960" y="0"/>
                    </a:cxn>
                  </a:cxnLst>
                  <a:rect l="0" t="0" r="0" b="0"/>
                  <a:pathLst>
                    <a:path w="960" h="432">
                      <a:moveTo>
                        <a:pt x="0" y="432"/>
                      </a:moveTo>
                      <a:cubicBezTo>
                        <a:pt x="76" y="364"/>
                        <a:pt x="152" y="296"/>
                        <a:pt x="240" y="240"/>
                      </a:cubicBezTo>
                      <a:cubicBezTo>
                        <a:pt x="328" y="184"/>
                        <a:pt x="408" y="136"/>
                        <a:pt x="528" y="96"/>
                      </a:cubicBezTo>
                      <a:cubicBezTo>
                        <a:pt x="648" y="56"/>
                        <a:pt x="888" y="16"/>
                        <a:pt x="960" y="0"/>
                      </a:cubicBezTo>
                    </a:path>
                  </a:pathLst>
                </a:custGeom>
                <a:noFill/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5" name="Group 114"/>
          <p:cNvGrpSpPr/>
          <p:nvPr/>
        </p:nvGrpSpPr>
        <p:grpSpPr>
          <a:xfrm>
            <a:off x="5114925" y="1984375"/>
            <a:ext cx="1585913" cy="1190625"/>
            <a:chOff x="287" y="1923"/>
            <a:chExt cx="1520" cy="1024"/>
          </a:xfrm>
        </p:grpSpPr>
        <p:sp>
          <p:nvSpPr>
            <p:cNvPr id="13415" name="Line 115"/>
            <p:cNvSpPr/>
            <p:nvPr/>
          </p:nvSpPr>
          <p:spPr>
            <a:xfrm>
              <a:off x="380" y="1923"/>
              <a:ext cx="1427" cy="9"/>
            </a:xfrm>
            <a:prstGeom prst="line">
              <a:avLst/>
            </a:prstGeom>
            <a:ln w="28575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3416" name="Line 116"/>
            <p:cNvSpPr/>
            <p:nvPr/>
          </p:nvSpPr>
          <p:spPr>
            <a:xfrm flipV="1">
              <a:off x="363" y="2194"/>
              <a:ext cx="1427" cy="0"/>
            </a:xfrm>
            <a:prstGeom prst="line">
              <a:avLst/>
            </a:prstGeom>
            <a:ln w="28575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3417" name="Line 117"/>
            <p:cNvSpPr/>
            <p:nvPr/>
          </p:nvSpPr>
          <p:spPr>
            <a:xfrm>
              <a:off x="379" y="2451"/>
              <a:ext cx="1427" cy="0"/>
            </a:xfrm>
            <a:prstGeom prst="line">
              <a:avLst/>
            </a:prstGeom>
            <a:ln w="28575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3418" name="Line 118"/>
            <p:cNvSpPr/>
            <p:nvPr/>
          </p:nvSpPr>
          <p:spPr>
            <a:xfrm>
              <a:off x="384" y="2703"/>
              <a:ext cx="1399" cy="0"/>
            </a:xfrm>
            <a:prstGeom prst="line">
              <a:avLst/>
            </a:prstGeom>
            <a:ln w="28575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sp>
          <p:nvSpPr>
            <p:cNvPr id="13419" name="Line 119"/>
            <p:cNvSpPr/>
            <p:nvPr/>
          </p:nvSpPr>
          <p:spPr>
            <a:xfrm>
              <a:off x="373" y="2947"/>
              <a:ext cx="1363" cy="0"/>
            </a:xfrm>
            <a:prstGeom prst="line">
              <a:avLst/>
            </a:prstGeom>
            <a:ln w="28575" cap="flat" cmpd="sng">
              <a:solidFill>
                <a:srgbClr val="969696"/>
              </a:solidFill>
              <a:prstDash val="solid"/>
              <a:round/>
              <a:headEnd type="none" w="med" len="med"/>
              <a:tailEnd type="triangle" w="med" len="lg"/>
            </a:ln>
          </p:spPr>
        </p:sp>
        <p:grpSp>
          <p:nvGrpSpPr>
            <p:cNvPr id="13420" name="Group 120"/>
            <p:cNvGrpSpPr/>
            <p:nvPr/>
          </p:nvGrpSpPr>
          <p:grpSpPr>
            <a:xfrm>
              <a:off x="287" y="1976"/>
              <a:ext cx="1341" cy="894"/>
              <a:chOff x="292" y="2645"/>
              <a:chExt cx="1341" cy="894"/>
            </a:xfrm>
          </p:grpSpPr>
          <p:grpSp>
            <p:nvGrpSpPr>
              <p:cNvPr id="13421" name="Group 121"/>
              <p:cNvGrpSpPr/>
              <p:nvPr/>
            </p:nvGrpSpPr>
            <p:grpSpPr>
              <a:xfrm>
                <a:off x="666" y="2645"/>
                <a:ext cx="777" cy="885"/>
                <a:chOff x="666" y="2519"/>
                <a:chExt cx="777" cy="885"/>
              </a:xfrm>
            </p:grpSpPr>
            <p:sp>
              <p:nvSpPr>
                <p:cNvPr id="13422" name="Arc 122"/>
                <p:cNvSpPr/>
                <p:nvPr/>
              </p:nvSpPr>
              <p:spPr>
                <a:xfrm>
                  <a:off x="666" y="2519"/>
                  <a:ext cx="548" cy="885"/>
                </a:xfrm>
                <a:custGeom>
                  <a:avLst/>
                  <a:gdLst/>
                  <a:ahLst/>
                  <a:cxnLst>
                    <a:cxn ang="0">
                      <a:pos x="12" y="18"/>
                    </a:cxn>
                    <a:cxn ang="0">
                      <a:pos x="11" y="18"/>
                    </a:cxn>
                    <a:cxn ang="0">
                      <a:pos x="0" y="9"/>
                    </a:cxn>
                    <a:cxn ang="0">
                      <a:pos x="11" y="0"/>
                    </a:cxn>
                    <a:cxn ang="0">
                      <a:pos x="12" y="0"/>
                    </a:cxn>
                    <a:cxn ang="0">
                      <a:pos x="12" y="18"/>
                    </a:cxn>
                    <a:cxn ang="0">
                      <a:pos x="11" y="18"/>
                    </a:cxn>
                    <a:cxn ang="0">
                      <a:pos x="0" y="9"/>
                    </a:cxn>
                    <a:cxn ang="0">
                      <a:pos x="11" y="0"/>
                    </a:cxn>
                    <a:cxn ang="0">
                      <a:pos x="12" y="0"/>
                    </a:cxn>
                    <a:cxn ang="0">
                      <a:pos x="11" y="9"/>
                    </a:cxn>
                    <a:cxn ang="0">
                      <a:pos x="12" y="18"/>
                    </a:cxn>
                  </a:cxnLst>
                  <a:rect l="0" t="0" r="0" b="0"/>
                  <a:pathLst>
                    <a:path w="24406" h="43200" fill="none">
                      <a:moveTo>
                        <a:pt x="24346" y="43024"/>
                      </a:moveTo>
                      <a:cubicBezTo>
                        <a:pt x="23435" y="43141"/>
                        <a:pt x="2251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538" y="-1"/>
                        <a:pt x="23475" y="61"/>
                        <a:pt x="24405" y="183"/>
                      </a:cubicBezTo>
                    </a:path>
                    <a:path w="24406" h="43200" stroke="0">
                      <a:moveTo>
                        <a:pt x="24346" y="43024"/>
                      </a:moveTo>
                      <a:cubicBezTo>
                        <a:pt x="23435" y="43141"/>
                        <a:pt x="22518" y="43199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538" y="-1"/>
                        <a:pt x="23475" y="61"/>
                        <a:pt x="24405" y="183"/>
                      </a:cubicBezTo>
                      <a:lnTo>
                        <a:pt x="21600" y="21600"/>
                      </a:lnTo>
                      <a:lnTo>
                        <a:pt x="24346" y="4302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/>
                    </a:gs>
                    <a:gs pos="100000">
                      <a:srgbClr val="CCCCA3"/>
                    </a:gs>
                  </a:gsLst>
                  <a:lin ang="5400000" scaled="1"/>
                  <a:tileRect/>
                </a:gra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423" name="Oval 123"/>
                <p:cNvSpPr/>
                <p:nvPr/>
              </p:nvSpPr>
              <p:spPr>
                <a:xfrm>
                  <a:off x="985" y="2522"/>
                  <a:ext cx="414" cy="880"/>
                </a:xfrm>
                <a:prstGeom prst="ellipse">
                  <a:avLst/>
                </a:prstGeom>
                <a:solidFill>
                  <a:srgbClr val="F3E8B9"/>
                </a:solidFill>
                <a:ln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4" name="Line 124"/>
                <p:cNvSpPr/>
                <p:nvPr/>
              </p:nvSpPr>
              <p:spPr>
                <a:xfrm>
                  <a:off x="1179" y="2734"/>
                  <a:ext cx="258" cy="3"/>
                </a:xfrm>
                <a:prstGeom prst="line">
                  <a:avLst/>
                </a:prstGeom>
                <a:ln w="28575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425" name="Line 125"/>
                <p:cNvSpPr/>
                <p:nvPr/>
              </p:nvSpPr>
              <p:spPr>
                <a:xfrm>
                  <a:off x="1182" y="2992"/>
                  <a:ext cx="258" cy="3"/>
                </a:xfrm>
                <a:prstGeom prst="line">
                  <a:avLst/>
                </a:prstGeom>
                <a:ln w="28575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426" name="Line 126"/>
                <p:cNvSpPr/>
                <p:nvPr/>
              </p:nvSpPr>
              <p:spPr>
                <a:xfrm>
                  <a:off x="1185" y="3244"/>
                  <a:ext cx="258" cy="3"/>
                </a:xfrm>
                <a:prstGeom prst="line">
                  <a:avLst/>
                </a:prstGeom>
                <a:ln w="28575" cap="flat" cmpd="sng">
                  <a:solidFill>
                    <a:srgbClr val="96969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427" name="Oval 127"/>
                <p:cNvSpPr/>
                <p:nvPr/>
              </p:nvSpPr>
              <p:spPr>
                <a:xfrm>
                  <a:off x="1159" y="2725"/>
                  <a:ext cx="27" cy="27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8" name="Oval 128"/>
                <p:cNvSpPr/>
                <p:nvPr/>
              </p:nvSpPr>
              <p:spPr>
                <a:xfrm>
                  <a:off x="1171" y="3235"/>
                  <a:ext cx="27" cy="27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29" name="Oval 129"/>
                <p:cNvSpPr/>
                <p:nvPr/>
              </p:nvSpPr>
              <p:spPr>
                <a:xfrm>
                  <a:off x="1168" y="2980"/>
                  <a:ext cx="27" cy="27"/>
                </a:xfrm>
                <a:prstGeom prst="ellipse">
                  <a:avLst/>
                </a:prstGeom>
                <a:solidFill>
                  <a:schemeClr val="bg1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3430" name="Line 130"/>
              <p:cNvSpPr/>
              <p:nvPr/>
            </p:nvSpPr>
            <p:spPr>
              <a:xfrm flipH="1">
                <a:off x="459" y="3362"/>
                <a:ext cx="318" cy="177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431" name="Line 131"/>
              <p:cNvSpPr/>
              <p:nvPr/>
            </p:nvSpPr>
            <p:spPr>
              <a:xfrm flipH="1" flipV="1">
                <a:off x="422" y="2674"/>
                <a:ext cx="321" cy="174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432" name="Line 132"/>
              <p:cNvSpPr/>
              <p:nvPr/>
            </p:nvSpPr>
            <p:spPr>
              <a:xfrm flipH="1" flipV="1">
                <a:off x="292" y="3120"/>
                <a:ext cx="369" cy="3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433" name="Line 133"/>
              <p:cNvSpPr/>
              <p:nvPr/>
            </p:nvSpPr>
            <p:spPr>
              <a:xfrm>
                <a:off x="1211" y="3116"/>
                <a:ext cx="420" cy="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434" name="Line 134"/>
              <p:cNvSpPr/>
              <p:nvPr/>
            </p:nvSpPr>
            <p:spPr>
              <a:xfrm>
                <a:off x="1201" y="3366"/>
                <a:ext cx="420" cy="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3435" name="Line 135"/>
              <p:cNvSpPr/>
              <p:nvPr/>
            </p:nvSpPr>
            <p:spPr>
              <a:xfrm>
                <a:off x="1213" y="2856"/>
                <a:ext cx="420" cy="6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3436" name="Group 136"/>
            <p:cNvGrpSpPr/>
            <p:nvPr/>
          </p:nvGrpSpPr>
          <p:grpSpPr>
            <a:xfrm>
              <a:off x="335" y="2192"/>
              <a:ext cx="204" cy="159"/>
              <a:chOff x="774" y="3789"/>
              <a:chExt cx="236" cy="221"/>
            </a:xfrm>
          </p:grpSpPr>
          <p:sp>
            <p:nvSpPr>
              <p:cNvPr id="13437" name="WordArt 137"/>
              <p:cNvSpPr>
                <a:spLocks noTextEdit="1"/>
              </p:cNvSpPr>
              <p:nvPr/>
            </p:nvSpPr>
            <p:spPr>
              <a:xfrm>
                <a:off x="792" y="3855"/>
                <a:ext cx="159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7620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3438" name="Line 138"/>
              <p:cNvSpPr/>
              <p:nvPr/>
            </p:nvSpPr>
            <p:spPr>
              <a:xfrm>
                <a:off x="774" y="3792"/>
                <a:ext cx="236" cy="0"/>
              </a:xfrm>
              <a:prstGeom prst="line">
                <a:avLst/>
              </a:prstGeom>
              <a:ln w="381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3439" name="WordArt 139"/>
              <p:cNvSpPr>
                <a:spLocks noTextEdit="1"/>
              </p:cNvSpPr>
              <p:nvPr/>
            </p:nvSpPr>
            <p:spPr>
              <a:xfrm>
                <a:off x="786" y="3855"/>
                <a:ext cx="159" cy="15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</a:t>
                </a:r>
              </a:p>
            </p:txBody>
          </p:sp>
          <p:sp>
            <p:nvSpPr>
              <p:cNvPr id="13440" name="Line 140"/>
              <p:cNvSpPr/>
              <p:nvPr/>
            </p:nvSpPr>
            <p:spPr>
              <a:xfrm flipV="1">
                <a:off x="792" y="3789"/>
                <a:ext cx="188" cy="3"/>
              </a:xfrm>
              <a:prstGeom prst="line">
                <a:avLst/>
              </a:prstGeom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组合 5"/>
          <p:cNvGrpSpPr/>
          <p:nvPr/>
        </p:nvGrpSpPr>
        <p:grpSpPr>
          <a:xfrm>
            <a:off x="201613" y="2990850"/>
            <a:ext cx="8442325" cy="3379788"/>
            <a:chOff x="317" y="4145"/>
            <a:chExt cx="13296" cy="5322"/>
          </a:xfrm>
        </p:grpSpPr>
        <p:sp>
          <p:nvSpPr>
            <p:cNvPr id="14338" name="Text Box 4"/>
            <p:cNvSpPr txBox="1"/>
            <p:nvPr/>
          </p:nvSpPr>
          <p:spPr>
            <a:xfrm>
              <a:off x="317" y="4747"/>
              <a:ext cx="7850" cy="13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均匀带电球面（半径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zh-CN" altLang="en-US" sz="24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所带电荷量为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的电场分布</a:t>
              </a:r>
              <a:endParaRPr lang="zh-CN" altLang="en-US" sz="2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4339" name="Object 3"/>
            <p:cNvGraphicFramePr>
              <a:graphicFrameLocks noChangeAspect="1"/>
            </p:cNvGraphicFramePr>
            <p:nvPr/>
          </p:nvGraphicFramePr>
          <p:xfrm>
            <a:off x="963" y="6387"/>
            <a:ext cx="6795" cy="2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628900" imgH="1003300" progId="Equation.DSMT4">
                    <p:embed/>
                  </p:oleObj>
                </mc:Choice>
                <mc:Fallback>
                  <p:oleObj r:id="rId2" imgW="2628900" imgH="10033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63" y="6387"/>
                          <a:ext cx="6795" cy="244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40" name="组合 3"/>
            <p:cNvGrpSpPr/>
            <p:nvPr/>
          </p:nvGrpSpPr>
          <p:grpSpPr>
            <a:xfrm>
              <a:off x="8901" y="4145"/>
              <a:ext cx="4712" cy="5322"/>
              <a:chOff x="8965" y="4345"/>
              <a:chExt cx="4712" cy="5322"/>
            </a:xfrm>
          </p:grpSpPr>
          <p:grpSp>
            <p:nvGrpSpPr>
              <p:cNvPr id="14341" name="Group 116"/>
              <p:cNvGrpSpPr/>
              <p:nvPr/>
            </p:nvGrpSpPr>
            <p:grpSpPr>
              <a:xfrm>
                <a:off x="8965" y="4345"/>
                <a:ext cx="4712" cy="5322"/>
                <a:chOff x="3348" y="817"/>
                <a:chExt cx="1885" cy="2129"/>
              </a:xfrm>
            </p:grpSpPr>
            <p:graphicFrame>
              <p:nvGraphicFramePr>
                <p:cNvPr id="14342" name="Object 117"/>
                <p:cNvGraphicFramePr>
                  <a:graphicFrameLocks noChangeAspect="1"/>
                </p:cNvGraphicFramePr>
                <p:nvPr/>
              </p:nvGraphicFramePr>
              <p:xfrm>
                <a:off x="3584" y="2770"/>
                <a:ext cx="160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355600" imgH="393700" progId="Equation.3">
                        <p:embed/>
                      </p:oleObj>
                    </mc:Choice>
                    <mc:Fallback>
                      <p:oleObj r:id="rId4" imgW="355600" imgH="393700" progId="Equation.3">
                        <p:embed/>
                        <p:pic>
                          <p:nvPicPr>
                            <p:cNvPr id="0" name="图片 3145"/>
                            <p:cNvPicPr/>
                            <p:nvPr/>
                          </p:nvPicPr>
                          <p:blipFill>
                            <a:blip r:embed="rId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  <a:lum bright="-100000" contrast="100000"/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84" y="2770"/>
                              <a:ext cx="160" cy="17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43" name="Object 118"/>
                <p:cNvGraphicFramePr>
                  <a:graphicFrameLocks noChangeAspect="1"/>
                </p:cNvGraphicFramePr>
                <p:nvPr/>
              </p:nvGraphicFramePr>
              <p:xfrm>
                <a:off x="4064" y="2770"/>
                <a:ext cx="152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330200" imgH="381000" progId="Equation.3">
                        <p:embed/>
                      </p:oleObj>
                    </mc:Choice>
                    <mc:Fallback>
                      <p:oleObj r:id="rId6" imgW="330200" imgH="381000" progId="Equation.3">
                        <p:embed/>
                        <p:pic>
                          <p:nvPicPr>
                            <p:cNvPr id="0" name="图片 3146"/>
                            <p:cNvPicPr/>
                            <p:nvPr/>
                          </p:nvPicPr>
                          <p:blipFill>
                            <a:blip r:embed="rId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  <a:lum bright="-100000" contrast="100000"/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064" y="2770"/>
                              <a:ext cx="152" cy="16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44" name="Object 119"/>
                <p:cNvGraphicFramePr>
                  <a:graphicFrameLocks noChangeAspect="1"/>
                </p:cNvGraphicFramePr>
                <p:nvPr/>
              </p:nvGraphicFramePr>
              <p:xfrm>
                <a:off x="5044" y="2736"/>
                <a:ext cx="189" cy="2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8" imgW="228600" imgH="241300" progId="Equation.3">
                        <p:embed/>
                      </p:oleObj>
                    </mc:Choice>
                    <mc:Fallback>
                      <p:oleObj r:id="rId8" imgW="228600" imgH="241300" progId="Equation.3">
                        <p:embed/>
                        <p:pic>
                          <p:nvPicPr>
                            <p:cNvPr id="0" name="图片 3147"/>
                            <p:cNvPicPr/>
                            <p:nvPr/>
                          </p:nvPicPr>
                          <p:blipFill>
                            <a:blip r:embed="rId9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  <a:lum bright="-100000" contrast="100000"/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4" y="2736"/>
                              <a:ext cx="189" cy="20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45" name="Object 120"/>
                <p:cNvGraphicFramePr>
                  <a:graphicFrameLocks noChangeAspect="1"/>
                </p:cNvGraphicFramePr>
                <p:nvPr/>
              </p:nvGraphicFramePr>
              <p:xfrm>
                <a:off x="3536" y="1654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0" imgW="355600" imgH="381000" progId="Equation.3">
                        <p:embed/>
                      </p:oleObj>
                    </mc:Choice>
                    <mc:Fallback>
                      <p:oleObj r:id="rId10" imgW="355600" imgH="381000" progId="Equation.3">
                        <p:embed/>
                        <p:pic>
                          <p:nvPicPr>
                            <p:cNvPr id="0" name="图片 3148"/>
                            <p:cNvPicPr/>
                            <p:nvPr/>
                          </p:nvPicPr>
                          <p:blipFill>
                            <a:blip r:embed="rId11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  <a:lum bright="-100000" contrast="100000"/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36" y="1654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46" name="Line 121"/>
                <p:cNvSpPr/>
                <p:nvPr/>
              </p:nvSpPr>
              <p:spPr>
                <a:xfrm flipV="1">
                  <a:off x="3740" y="1642"/>
                  <a:ext cx="0" cy="1119"/>
                </a:xfrm>
                <a:prstGeom prst="line">
                  <a:avLst/>
                </a:prstGeom>
                <a:ln w="31750" cap="flat" cmpd="sng">
                  <a:solidFill>
                    <a:srgbClr val="00008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4347" name="Line 122"/>
                <p:cNvSpPr/>
                <p:nvPr/>
              </p:nvSpPr>
              <p:spPr>
                <a:xfrm>
                  <a:off x="3740" y="2746"/>
                  <a:ext cx="1404" cy="0"/>
                </a:xfrm>
                <a:prstGeom prst="line">
                  <a:avLst/>
                </a:prstGeom>
                <a:ln w="31750" cap="flat" cmpd="sng">
                  <a:solidFill>
                    <a:srgbClr val="00008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14348" name="Line 123"/>
                <p:cNvSpPr/>
                <p:nvPr/>
              </p:nvSpPr>
              <p:spPr>
                <a:xfrm flipH="1">
                  <a:off x="4136" y="1298"/>
                  <a:ext cx="14" cy="1448"/>
                </a:xfrm>
                <a:prstGeom prst="line">
                  <a:avLst/>
                </a:prstGeom>
                <a:ln w="25400" cap="flat" cmpd="sng">
                  <a:solidFill>
                    <a:srgbClr val="008080"/>
                  </a:solidFill>
                  <a:prstDash val="lgDash"/>
                  <a:round/>
                  <a:headEnd type="none" w="med" len="med"/>
                  <a:tailEnd type="none" w="sm" len="med"/>
                </a:ln>
              </p:spPr>
            </p:sp>
            <p:sp>
              <p:nvSpPr>
                <p:cNvPr id="14349" name="Freeform 124"/>
                <p:cNvSpPr/>
                <p:nvPr/>
              </p:nvSpPr>
              <p:spPr>
                <a:xfrm>
                  <a:off x="4139" y="2146"/>
                  <a:ext cx="830" cy="5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7" y="165"/>
                    </a:cxn>
                    <a:cxn ang="0">
                      <a:pos x="267" y="366"/>
                    </a:cxn>
                    <a:cxn ang="0">
                      <a:pos x="546" y="525"/>
                    </a:cxn>
                    <a:cxn ang="0">
                      <a:pos x="789" y="567"/>
                    </a:cxn>
                    <a:cxn ang="0">
                      <a:pos x="792" y="561"/>
                    </a:cxn>
                  </a:cxnLst>
                  <a:rect l="0" t="0" r="0" b="0"/>
                  <a:pathLst>
                    <a:path w="830" h="573">
                      <a:moveTo>
                        <a:pt x="0" y="0"/>
                      </a:moveTo>
                      <a:cubicBezTo>
                        <a:pt x="14" y="27"/>
                        <a:pt x="43" y="104"/>
                        <a:pt x="87" y="165"/>
                      </a:cubicBezTo>
                      <a:cubicBezTo>
                        <a:pt x="131" y="226"/>
                        <a:pt x="191" y="306"/>
                        <a:pt x="267" y="366"/>
                      </a:cubicBezTo>
                      <a:cubicBezTo>
                        <a:pt x="343" y="426"/>
                        <a:pt x="459" y="492"/>
                        <a:pt x="546" y="525"/>
                      </a:cubicBezTo>
                      <a:cubicBezTo>
                        <a:pt x="633" y="558"/>
                        <a:pt x="748" y="561"/>
                        <a:pt x="789" y="567"/>
                      </a:cubicBezTo>
                      <a:cubicBezTo>
                        <a:pt x="830" y="573"/>
                        <a:pt x="792" y="562"/>
                        <a:pt x="792" y="561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50" name="Line 125"/>
                <p:cNvSpPr/>
                <p:nvPr/>
              </p:nvSpPr>
              <p:spPr>
                <a:xfrm>
                  <a:off x="3752" y="2746"/>
                  <a:ext cx="384" cy="0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med"/>
                </a:ln>
              </p:spPr>
            </p:sp>
            <p:grpSp>
              <p:nvGrpSpPr>
                <p:cNvPr id="14351" name="Group 126"/>
                <p:cNvGrpSpPr/>
                <p:nvPr/>
              </p:nvGrpSpPr>
              <p:grpSpPr>
                <a:xfrm>
                  <a:off x="3348" y="817"/>
                  <a:ext cx="794" cy="796"/>
                  <a:chOff x="3334" y="434"/>
                  <a:chExt cx="794" cy="796"/>
                </a:xfrm>
              </p:grpSpPr>
              <p:sp>
                <p:nvSpPr>
                  <p:cNvPr id="14352" name="Line 127"/>
                  <p:cNvSpPr/>
                  <p:nvPr/>
                </p:nvSpPr>
                <p:spPr>
                  <a:xfrm>
                    <a:off x="3360" y="846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3" name="Line 128"/>
                  <p:cNvSpPr/>
                  <p:nvPr/>
                </p:nvSpPr>
                <p:spPr>
                  <a:xfrm rot="-5400000">
                    <a:off x="3360" y="846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4" name="Line 129"/>
                  <p:cNvSpPr/>
                  <p:nvPr/>
                </p:nvSpPr>
                <p:spPr>
                  <a:xfrm>
                    <a:off x="4032" y="83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5" name="Line 130"/>
                  <p:cNvSpPr/>
                  <p:nvPr/>
                </p:nvSpPr>
                <p:spPr>
                  <a:xfrm rot="-5400000">
                    <a:off x="4032" y="83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6" name="Line 131"/>
                  <p:cNvSpPr/>
                  <p:nvPr/>
                </p:nvSpPr>
                <p:spPr>
                  <a:xfrm>
                    <a:off x="3990" y="100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7" name="Line 132"/>
                  <p:cNvSpPr/>
                  <p:nvPr/>
                </p:nvSpPr>
                <p:spPr>
                  <a:xfrm rot="-5400000">
                    <a:off x="3990" y="100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8" name="Line 133"/>
                  <p:cNvSpPr/>
                  <p:nvPr/>
                </p:nvSpPr>
                <p:spPr>
                  <a:xfrm>
                    <a:off x="3680" y="118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59" name="Line 134"/>
                  <p:cNvSpPr/>
                  <p:nvPr/>
                </p:nvSpPr>
                <p:spPr>
                  <a:xfrm rot="-5400000">
                    <a:off x="3680" y="118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0" name="Line 135"/>
                  <p:cNvSpPr/>
                  <p:nvPr/>
                </p:nvSpPr>
                <p:spPr>
                  <a:xfrm>
                    <a:off x="3378" y="99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1" name="Line 136"/>
                  <p:cNvSpPr/>
                  <p:nvPr/>
                </p:nvSpPr>
                <p:spPr>
                  <a:xfrm rot="-5400000">
                    <a:off x="3378" y="99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2" name="Line 137"/>
                  <p:cNvSpPr/>
                  <p:nvPr/>
                </p:nvSpPr>
                <p:spPr>
                  <a:xfrm>
                    <a:off x="3500" y="113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3" name="Line 138"/>
                  <p:cNvSpPr/>
                  <p:nvPr/>
                </p:nvSpPr>
                <p:spPr>
                  <a:xfrm rot="-5400000">
                    <a:off x="3500" y="1134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4" name="Line 139"/>
                  <p:cNvSpPr/>
                  <p:nvPr/>
                </p:nvSpPr>
                <p:spPr>
                  <a:xfrm>
                    <a:off x="3884" y="112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5" name="Line 140"/>
                  <p:cNvSpPr/>
                  <p:nvPr/>
                </p:nvSpPr>
                <p:spPr>
                  <a:xfrm rot="-5400000">
                    <a:off x="3884" y="112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6" name="Line 141"/>
                  <p:cNvSpPr/>
                  <p:nvPr/>
                </p:nvSpPr>
                <p:spPr>
                  <a:xfrm flipV="1">
                    <a:off x="3998" y="66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7" name="Line 142"/>
                  <p:cNvSpPr/>
                  <p:nvPr/>
                </p:nvSpPr>
                <p:spPr>
                  <a:xfrm rot="5400000" flipV="1">
                    <a:off x="3998" y="66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8" name="Line 143"/>
                  <p:cNvSpPr/>
                  <p:nvPr/>
                </p:nvSpPr>
                <p:spPr>
                  <a:xfrm flipV="1">
                    <a:off x="3688" y="48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69" name="Line 144"/>
                  <p:cNvSpPr/>
                  <p:nvPr/>
                </p:nvSpPr>
                <p:spPr>
                  <a:xfrm rot="5400000" flipV="1">
                    <a:off x="3688" y="48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0" name="Line 145"/>
                  <p:cNvSpPr/>
                  <p:nvPr/>
                </p:nvSpPr>
                <p:spPr>
                  <a:xfrm flipV="1">
                    <a:off x="3386" y="670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1" name="Line 146"/>
                  <p:cNvSpPr/>
                  <p:nvPr/>
                </p:nvSpPr>
                <p:spPr>
                  <a:xfrm rot="5400000" flipV="1">
                    <a:off x="3386" y="670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2" name="Line 147"/>
                  <p:cNvSpPr/>
                  <p:nvPr/>
                </p:nvSpPr>
                <p:spPr>
                  <a:xfrm flipV="1">
                    <a:off x="3508" y="530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3" name="Line 148"/>
                  <p:cNvSpPr/>
                  <p:nvPr/>
                </p:nvSpPr>
                <p:spPr>
                  <a:xfrm rot="5400000" flipV="1">
                    <a:off x="3508" y="530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4" name="Line 149"/>
                  <p:cNvSpPr/>
                  <p:nvPr/>
                </p:nvSpPr>
                <p:spPr>
                  <a:xfrm flipV="1">
                    <a:off x="3892" y="54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sp>
                <p:nvSpPr>
                  <p:cNvPr id="14375" name="Line 150"/>
                  <p:cNvSpPr/>
                  <p:nvPr/>
                </p:nvSpPr>
                <p:spPr>
                  <a:xfrm rot="5400000" flipV="1">
                    <a:off x="3892" y="542"/>
                    <a:ext cx="96" cy="0"/>
                  </a:xfrm>
                  <a:prstGeom prst="line">
                    <a:avLst/>
                  </a:prstGeom>
                  <a:ln w="1905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</p:sp>
              <p:graphicFrame>
                <p:nvGraphicFramePr>
                  <p:cNvPr id="14376" name="Object 151"/>
                  <p:cNvGraphicFramePr>
                    <a:graphicFrameLocks noChangeAspect="1"/>
                  </p:cNvGraphicFramePr>
                  <p:nvPr/>
                </p:nvGraphicFramePr>
                <p:xfrm>
                  <a:off x="3638" y="650"/>
                  <a:ext cx="160" cy="17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12" imgW="355600" imgH="393700" progId="Equation.3">
                          <p:embed/>
                        </p:oleObj>
                      </mc:Choice>
                      <mc:Fallback>
                        <p:oleObj r:id="rId12" imgW="355600" imgH="393700" progId="Equation.3">
                          <p:embed/>
                          <p:pic>
                            <p:nvPicPr>
                              <p:cNvPr id="0" name="图片 3149"/>
                              <p:cNvPicPr/>
                              <p:nvPr/>
                            </p:nvPicPr>
                            <p:blipFill>
                              <a:blip r:embed="rId13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0000">
                                      <a:alpha val="0"/>
                                    </a:srgbClr>
                                  </a:clrTo>
                                </a:clrChange>
                                <a:lum bright="-100000" contrast="100000"/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638" y="650"/>
                                <a:ext cx="160" cy="176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4377" name="Oval 153"/>
                  <p:cNvSpPr/>
                  <p:nvPr/>
                </p:nvSpPr>
                <p:spPr>
                  <a:xfrm>
                    <a:off x="3334" y="437"/>
                    <a:ext cx="793" cy="793"/>
                  </a:xfrm>
                  <a:prstGeom prst="ellipse">
                    <a:avLst/>
                  </a:prstGeom>
                  <a:noFill/>
                  <a:ln w="508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  <p:txBody>
                  <a:bodyPr anchor="ctr" anchorCtr="0">
                    <a:spAutoFit/>
                  </a:bodyPr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4378" name="Oval 154"/>
                  <p:cNvSpPr/>
                  <p:nvPr/>
                </p:nvSpPr>
                <p:spPr>
                  <a:xfrm>
                    <a:off x="3718" y="816"/>
                    <a:ext cx="45" cy="45"/>
                  </a:xfrm>
                  <a:prstGeom prst="ellipse">
                    <a:avLst/>
                  </a:prstGeom>
                  <a:solidFill>
                    <a:srgbClr val="FF9900"/>
                  </a:solidFill>
                  <a:ln w="25400" cap="flat" cmpd="sng">
                    <a:solidFill>
                      <a:srgbClr val="FF0000"/>
                    </a:solidFill>
                    <a:prstDash val="solid"/>
                    <a:round/>
                    <a:headEnd type="none" w="med" len="med"/>
                    <a:tailEnd type="none" w="sm" len="med"/>
                  </a:ln>
                </p:spPr>
                <p:txBody>
                  <a:bodyPr wrap="none" anchor="ctr" anchorCtr="0">
                    <a:spAutoFit/>
                  </a:bodyPr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14379" name="Object 155"/>
                  <p:cNvGraphicFramePr>
                    <a:graphicFrameLocks noChangeAspect="1"/>
                  </p:cNvGraphicFramePr>
                  <p:nvPr/>
                </p:nvGraphicFramePr>
                <p:xfrm>
                  <a:off x="3788" y="709"/>
                  <a:ext cx="238" cy="25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14" imgW="177800" imgH="190500" progId="Equation.3">
                          <p:embed/>
                        </p:oleObj>
                      </mc:Choice>
                      <mc:Fallback>
                        <p:oleObj r:id="rId14" imgW="177800" imgH="190500" progId="Equation.3">
                          <p:embed/>
                          <p:pic>
                            <p:nvPicPr>
                              <p:cNvPr id="0" name="图片 3150"/>
                              <p:cNvPicPr/>
                              <p:nvPr/>
                            </p:nvPicPr>
                            <p:blipFill>
                              <a:blip r:embed="rId15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0000">
                                      <a:alpha val="0"/>
                                    </a:srgbClr>
                                  </a:clrTo>
                                </a:clrChange>
                                <a:lum bright="-100000" contrast="100000"/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788" y="709"/>
                                <a:ext cx="238" cy="258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</p:grpSp>
          <p:graphicFrame>
            <p:nvGraphicFramePr>
              <p:cNvPr id="14380" name="对象 1"/>
              <p:cNvGraphicFramePr/>
              <p:nvPr/>
            </p:nvGraphicFramePr>
            <p:xfrm>
              <a:off x="11169" y="4687"/>
              <a:ext cx="1280" cy="9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363220" imgH="392430" progId="Equation.DSMT4">
                      <p:embed/>
                    </p:oleObj>
                  </mc:Choice>
                  <mc:Fallback>
                    <p:oleObj r:id="rId16" imgW="363220" imgH="392430" progId="Equation.DSMT4">
                      <p:embed/>
                      <p:pic>
                        <p:nvPicPr>
                          <p:cNvPr id="0" name="图片 3154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1169" y="4687"/>
                            <a:ext cx="1280" cy="9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201613" y="2008188"/>
            <a:ext cx="86042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5000"/>
              </a:lnSpc>
              <a:spcBef>
                <a:spcPct val="1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静电场为有源场。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电场线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起源于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正电荷，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终止于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负电荷，不会在没有电荷的地方中断。</a:t>
            </a:r>
          </a:p>
        </p:txBody>
      </p:sp>
      <p:sp>
        <p:nvSpPr>
          <p:cNvPr id="32773" name="Rectangle 5"/>
          <p:cNvSpPr/>
          <p:nvPr/>
        </p:nvSpPr>
        <p:spPr>
          <a:xfrm>
            <a:off x="179388" y="1125538"/>
            <a:ext cx="8153400" cy="922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  <a:spcBef>
                <a:spcPct val="10000"/>
              </a:spcBef>
              <a:spcAft>
                <a:spcPct val="1000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）高斯定理不但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适用于静止电荷和</a:t>
            </a:r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静电场</a:t>
            </a: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，也适用于运动电荷和变化的</a:t>
            </a:r>
            <a:r>
              <a:rPr lang="zh-CN" altLang="en-US" sz="20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电磁场</a:t>
            </a:r>
            <a:r>
              <a:rPr lang="zh-CN" altLang="en-US" sz="20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2785" name="Text Box 17"/>
          <p:cNvSpPr txBox="1"/>
          <p:nvPr/>
        </p:nvSpPr>
        <p:spPr>
          <a:xfrm>
            <a:off x="179388" y="665163"/>
            <a:ext cx="64801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）高斯面可以任意取，高斯定理总成立。</a:t>
            </a:r>
          </a:p>
        </p:txBody>
      </p:sp>
      <p:sp>
        <p:nvSpPr>
          <p:cNvPr id="14384" name="文本框 8"/>
          <p:cNvSpPr txBox="1"/>
          <p:nvPr/>
        </p:nvSpPr>
        <p:spPr>
          <a:xfrm>
            <a:off x="684213" y="117475"/>
            <a:ext cx="7667625" cy="520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32773" grpId="0"/>
      <p:bldP spid="327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Group 82"/>
          <p:cNvGrpSpPr/>
          <p:nvPr/>
        </p:nvGrpSpPr>
        <p:grpSpPr>
          <a:xfrm>
            <a:off x="5386388" y="414338"/>
            <a:ext cx="3076575" cy="3159125"/>
            <a:chOff x="3243" y="981"/>
            <a:chExt cx="1938" cy="1990"/>
          </a:xfrm>
        </p:grpSpPr>
        <p:grpSp>
          <p:nvGrpSpPr>
            <p:cNvPr id="14338" name="Group 44"/>
            <p:cNvGrpSpPr/>
            <p:nvPr/>
          </p:nvGrpSpPr>
          <p:grpSpPr>
            <a:xfrm>
              <a:off x="3644" y="1413"/>
              <a:ext cx="1125" cy="1146"/>
              <a:chOff x="3644" y="1413"/>
              <a:chExt cx="1125" cy="1146"/>
            </a:xfrm>
          </p:grpSpPr>
          <p:sp>
            <p:nvSpPr>
              <p:cNvPr id="14339" name="Line 5"/>
              <p:cNvSpPr/>
              <p:nvPr>
                <p:custDataLst>
                  <p:tags r:id="rId33"/>
                </p:custDataLst>
              </p:nvPr>
            </p:nvSpPr>
            <p:spPr>
              <a:xfrm>
                <a:off x="3681" y="2030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0" name="Line 6"/>
              <p:cNvSpPr/>
              <p:nvPr>
                <p:custDataLst>
                  <p:tags r:id="rId34"/>
                </p:custDataLst>
              </p:nvPr>
            </p:nvSpPr>
            <p:spPr>
              <a:xfrm rot="-5400000">
                <a:off x="3683" y="2030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1" name="Line 7"/>
              <p:cNvSpPr/>
              <p:nvPr>
                <p:custDataLst>
                  <p:tags r:id="rId35"/>
                </p:custDataLst>
              </p:nvPr>
            </p:nvSpPr>
            <p:spPr>
              <a:xfrm>
                <a:off x="4633" y="2013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2" name="Line 8"/>
              <p:cNvSpPr/>
              <p:nvPr>
                <p:custDataLst>
                  <p:tags r:id="rId36"/>
                </p:custDataLst>
              </p:nvPr>
            </p:nvSpPr>
            <p:spPr>
              <a:xfrm rot="-5400000">
                <a:off x="4635" y="2013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3" name="Line 9"/>
              <p:cNvSpPr/>
              <p:nvPr>
                <p:custDataLst>
                  <p:tags r:id="rId37"/>
                </p:custDataLst>
              </p:nvPr>
            </p:nvSpPr>
            <p:spPr>
              <a:xfrm>
                <a:off x="4573" y="2245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4" name="Line 10"/>
              <p:cNvSpPr/>
              <p:nvPr>
                <p:custDataLst>
                  <p:tags r:id="rId38"/>
                </p:custDataLst>
              </p:nvPr>
            </p:nvSpPr>
            <p:spPr>
              <a:xfrm rot="-5400000">
                <a:off x="4575" y="2245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5" name="Line 11"/>
              <p:cNvSpPr/>
              <p:nvPr>
                <p:custDataLst>
                  <p:tags r:id="rId39"/>
                </p:custDataLst>
              </p:nvPr>
            </p:nvSpPr>
            <p:spPr>
              <a:xfrm>
                <a:off x="4134" y="2493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6" name="Line 12"/>
              <p:cNvSpPr/>
              <p:nvPr>
                <p:custDataLst>
                  <p:tags r:id="rId40"/>
                </p:custDataLst>
              </p:nvPr>
            </p:nvSpPr>
            <p:spPr>
              <a:xfrm rot="-5400000">
                <a:off x="4136" y="2493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7" name="Line 13"/>
              <p:cNvSpPr/>
              <p:nvPr>
                <p:custDataLst>
                  <p:tags r:id="rId41"/>
                </p:custDataLst>
              </p:nvPr>
            </p:nvSpPr>
            <p:spPr>
              <a:xfrm>
                <a:off x="3706" y="2234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8" name="Line 14"/>
              <p:cNvSpPr/>
              <p:nvPr>
                <p:custDataLst>
                  <p:tags r:id="rId42"/>
                </p:custDataLst>
              </p:nvPr>
            </p:nvSpPr>
            <p:spPr>
              <a:xfrm rot="-5400000">
                <a:off x="3708" y="2234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49" name="Line 15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79" y="2427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0" name="Line 16"/>
              <p:cNvSpPr/>
              <p:nvPr>
                <p:custDataLst>
                  <p:tags r:id="rId44"/>
                </p:custDataLst>
              </p:nvPr>
            </p:nvSpPr>
            <p:spPr>
              <a:xfrm rot="-5400000">
                <a:off x="3881" y="2427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1" name="Line 17"/>
              <p:cNvSpPr/>
              <p:nvPr>
                <p:custDataLst>
                  <p:tags r:id="rId45"/>
                </p:custDataLst>
              </p:nvPr>
            </p:nvSpPr>
            <p:spPr>
              <a:xfrm>
                <a:off x="4423" y="2410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2" name="Line 18"/>
              <p:cNvSpPr/>
              <p:nvPr>
                <p:custDataLst>
                  <p:tags r:id="rId46"/>
                </p:custDataLst>
              </p:nvPr>
            </p:nvSpPr>
            <p:spPr>
              <a:xfrm rot="-5400000">
                <a:off x="4425" y="2410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3" name="Line 19"/>
              <p:cNvSpPr/>
              <p:nvPr>
                <p:custDataLst>
                  <p:tags r:id="rId47"/>
                </p:custDataLst>
              </p:nvPr>
            </p:nvSpPr>
            <p:spPr>
              <a:xfrm flipV="1">
                <a:off x="4585" y="1776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4" name="Line 20"/>
              <p:cNvSpPr/>
              <p:nvPr>
                <p:custDataLst>
                  <p:tags r:id="rId48"/>
                </p:custDataLst>
              </p:nvPr>
            </p:nvSpPr>
            <p:spPr>
              <a:xfrm rot="5400000" flipV="1">
                <a:off x="4587" y="1776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5" name="Line 21"/>
              <p:cNvSpPr/>
              <p:nvPr>
                <p:custDataLst>
                  <p:tags r:id="rId49"/>
                </p:custDataLst>
              </p:nvPr>
            </p:nvSpPr>
            <p:spPr>
              <a:xfrm flipV="1">
                <a:off x="4145" y="1528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6" name="Line 22"/>
              <p:cNvSpPr/>
              <p:nvPr>
                <p:custDataLst>
                  <p:tags r:id="rId50"/>
                </p:custDataLst>
              </p:nvPr>
            </p:nvSpPr>
            <p:spPr>
              <a:xfrm rot="5400000" flipV="1">
                <a:off x="4147" y="1528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7" name="Line 23"/>
              <p:cNvSpPr/>
              <p:nvPr>
                <p:custDataLst>
                  <p:tags r:id="rId51"/>
                </p:custDataLst>
              </p:nvPr>
            </p:nvSpPr>
            <p:spPr>
              <a:xfrm flipV="1">
                <a:off x="3718" y="1787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8" name="Line 24"/>
              <p:cNvSpPr/>
              <p:nvPr>
                <p:custDataLst>
                  <p:tags r:id="rId52"/>
                </p:custDataLst>
              </p:nvPr>
            </p:nvSpPr>
            <p:spPr>
              <a:xfrm rot="5400000" flipV="1">
                <a:off x="3720" y="1787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59" name="Line 25"/>
              <p:cNvSpPr/>
              <p:nvPr>
                <p:custDataLst>
                  <p:tags r:id="rId53"/>
                </p:custDataLst>
              </p:nvPr>
            </p:nvSpPr>
            <p:spPr>
              <a:xfrm flipV="1">
                <a:off x="3890" y="1594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60" name="Line 26"/>
              <p:cNvSpPr/>
              <p:nvPr>
                <p:custDataLst>
                  <p:tags r:id="rId54"/>
                </p:custDataLst>
              </p:nvPr>
            </p:nvSpPr>
            <p:spPr>
              <a:xfrm rot="5400000" flipV="1">
                <a:off x="3892" y="1594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61" name="Line 27"/>
              <p:cNvSpPr/>
              <p:nvPr>
                <p:custDataLst>
                  <p:tags r:id="rId55"/>
                </p:custDataLst>
              </p:nvPr>
            </p:nvSpPr>
            <p:spPr>
              <a:xfrm flipV="1">
                <a:off x="4434" y="1611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14362" name="Line 28"/>
              <p:cNvSpPr/>
              <p:nvPr>
                <p:custDataLst>
                  <p:tags r:id="rId56"/>
                </p:custDataLst>
              </p:nvPr>
            </p:nvSpPr>
            <p:spPr>
              <a:xfrm rot="5400000" flipV="1">
                <a:off x="4426" y="1601"/>
                <a:ext cx="133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graphicFrame>
            <p:nvGraphicFramePr>
              <p:cNvPr id="14363" name="Object 29"/>
              <p:cNvGraphicFramePr>
                <a:graphicFrameLocks noChangeAspect="1"/>
              </p:cNvGraphicFramePr>
              <p:nvPr>
                <p:custDataLst>
                  <p:tags r:id="rId57"/>
                </p:custDataLst>
              </p:nvPr>
            </p:nvGraphicFramePr>
            <p:xfrm>
              <a:off x="4097" y="2060"/>
              <a:ext cx="157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4" imgW="355600" imgH="393700" progId="Equation.3">
                      <p:embed/>
                    </p:oleObj>
                  </mc:Choice>
                  <mc:Fallback>
                    <p:oleObj r:id="rId64" imgW="355600" imgH="393700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6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97" y="2060"/>
                            <a:ext cx="157" cy="1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4" name="Object 30"/>
              <p:cNvGraphicFramePr>
                <a:graphicFrameLocks noChangeAspect="1"/>
              </p:cNvGraphicFramePr>
              <p:nvPr>
                <p:custDataLst>
                  <p:tags r:id="rId58"/>
                </p:custDataLst>
              </p:nvPr>
            </p:nvGraphicFramePr>
            <p:xfrm>
              <a:off x="4133" y="1413"/>
              <a:ext cx="261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6" imgW="190500" imgH="304800" progId="Equation.DSMT4">
                      <p:embed/>
                    </p:oleObj>
                  </mc:Choice>
                  <mc:Fallback>
                    <p:oleObj r:id="rId66" imgW="190500" imgH="304800" progId="Equation.DSMT4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6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33" y="1413"/>
                            <a:ext cx="261" cy="3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5" name="Object 31"/>
              <p:cNvGraphicFramePr>
                <a:graphicFrameLocks noChangeAspect="1"/>
              </p:cNvGraphicFramePr>
              <p:nvPr>
                <p:custDataLst>
                  <p:tags r:id="rId59"/>
                </p:custDataLst>
              </p:nvPr>
            </p:nvGraphicFramePr>
            <p:xfrm>
              <a:off x="3708" y="2031"/>
              <a:ext cx="330" cy="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8" imgW="177800" imgH="304800" progId="Equation.DSMT4">
                      <p:embed/>
                    </p:oleObj>
                  </mc:Choice>
                  <mc:Fallback>
                    <p:oleObj r:id="rId68" imgW="177800" imgH="304800" progId="Equation.DSMT4">
                      <p:embed/>
                      <p:pic>
                        <p:nvPicPr>
                          <p:cNvPr id="0" name="图片 3113"/>
                          <p:cNvPicPr/>
                          <p:nvPr/>
                        </p:nvPicPr>
                        <p:blipFill>
                          <a:blip r:embed="rId6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08" y="2031"/>
                            <a:ext cx="330" cy="4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6" name="Oval 32"/>
              <p:cNvSpPr/>
              <p:nvPr>
                <p:custDataLst>
                  <p:tags r:id="rId60"/>
                </p:custDataLst>
              </p:nvPr>
            </p:nvSpPr>
            <p:spPr>
              <a:xfrm>
                <a:off x="3644" y="1466"/>
                <a:ext cx="1123" cy="1093"/>
              </a:xfrm>
              <a:prstGeom prst="ellipse">
                <a:avLst/>
              </a:prstGeom>
              <a:noFill/>
              <a:ln w="508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7" name="Line 33"/>
              <p:cNvSpPr/>
              <p:nvPr>
                <p:custDataLst>
                  <p:tags r:id="rId61"/>
                </p:custDataLst>
              </p:nvPr>
            </p:nvSpPr>
            <p:spPr>
              <a:xfrm flipV="1">
                <a:off x="4234" y="1516"/>
                <a:ext cx="181" cy="499"/>
              </a:xfrm>
              <a:prstGeom prst="line">
                <a:avLst/>
              </a:prstGeom>
              <a:ln w="254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14368" name="Oval 34"/>
              <p:cNvSpPr/>
              <p:nvPr>
                <p:custDataLst>
                  <p:tags r:id="rId62"/>
                </p:custDataLst>
              </p:nvPr>
            </p:nvSpPr>
            <p:spPr>
              <a:xfrm>
                <a:off x="4188" y="1988"/>
                <a:ext cx="64" cy="62"/>
              </a:xfrm>
              <a:prstGeom prst="ellipse">
                <a:avLst/>
              </a:prstGeom>
              <a:solidFill>
                <a:srgbClr val="FF99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369" name="Group 79"/>
            <p:cNvGrpSpPr/>
            <p:nvPr/>
          </p:nvGrpSpPr>
          <p:grpSpPr>
            <a:xfrm>
              <a:off x="3243" y="981"/>
              <a:ext cx="1938" cy="1990"/>
              <a:chOff x="657" y="989"/>
              <a:chExt cx="1938" cy="1990"/>
            </a:xfrm>
          </p:grpSpPr>
          <p:graphicFrame>
            <p:nvGraphicFramePr>
              <p:cNvPr id="14370" name="Object 71"/>
              <p:cNvGraphicFramePr>
                <a:graphicFrameLocks noChangeAspect="1"/>
              </p:cNvGraphicFramePr>
              <p:nvPr>
                <p:custDataLst>
                  <p:tags r:id="rId29"/>
                </p:custDataLst>
              </p:nvPr>
            </p:nvGraphicFramePr>
            <p:xfrm>
              <a:off x="748" y="1434"/>
              <a:ext cx="29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0" imgW="241300" imgH="304800" progId="Equation.DSMT4">
                      <p:embed/>
                    </p:oleObj>
                  </mc:Choice>
                  <mc:Fallback>
                    <p:oleObj r:id="rId70" imgW="241300" imgH="304800" progId="Equation.DSMT4">
                      <p:embed/>
                      <p:pic>
                        <p:nvPicPr>
                          <p:cNvPr id="0" name="图片 3109"/>
                          <p:cNvPicPr/>
                          <p:nvPr/>
                        </p:nvPicPr>
                        <p:blipFill>
                          <a:blip r:embed="rId71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48" y="1434"/>
                            <a:ext cx="294" cy="3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1" name="Object 72"/>
              <p:cNvGraphicFramePr>
                <a:graphicFrameLocks noChangeAspect="1"/>
              </p:cNvGraphicFramePr>
              <p:nvPr>
                <p:custDataLst>
                  <p:tags r:id="rId30"/>
                </p:custDataLst>
              </p:nvPr>
            </p:nvGraphicFramePr>
            <p:xfrm>
              <a:off x="2064" y="2160"/>
              <a:ext cx="352" cy="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2" imgW="190500" imgH="304800" progId="Equation.DSMT4">
                      <p:embed/>
                    </p:oleObj>
                  </mc:Choice>
                  <mc:Fallback>
                    <p:oleObj r:id="rId72" imgW="190500" imgH="304800" progId="Equation.DSMT4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73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64" y="2160"/>
                            <a:ext cx="352" cy="4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72" name="Oval 73"/>
              <p:cNvSpPr/>
              <p:nvPr>
                <p:custDataLst>
                  <p:tags r:id="rId31"/>
                </p:custDataLst>
              </p:nvPr>
            </p:nvSpPr>
            <p:spPr>
              <a:xfrm>
                <a:off x="657" y="989"/>
                <a:ext cx="1938" cy="1990"/>
              </a:xfrm>
              <a:prstGeom prst="ellipse">
                <a:avLst/>
              </a:prstGeom>
              <a:noFill/>
              <a:ln w="50800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73" name="Line 74"/>
              <p:cNvSpPr/>
              <p:nvPr>
                <p:custDataLst>
                  <p:tags r:id="rId32"/>
                </p:custDataLst>
              </p:nvPr>
            </p:nvSpPr>
            <p:spPr>
              <a:xfrm rot="-5400000" flipV="1">
                <a:off x="1001" y="1409"/>
                <a:ext cx="312" cy="908"/>
              </a:xfrm>
              <a:prstGeom prst="line">
                <a:avLst/>
              </a:prstGeom>
              <a:ln w="254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</p:grpSp>
      </p:grpSp>
      <p:sp>
        <p:nvSpPr>
          <p:cNvPr id="14374" name="Text Box 80"/>
          <p:cNvSpPr txBox="1"/>
          <p:nvPr>
            <p:custDataLst>
              <p:tags r:id="rId1"/>
            </p:custDataLst>
          </p:nvPr>
        </p:nvSpPr>
        <p:spPr>
          <a:xfrm>
            <a:off x="257175" y="773113"/>
            <a:ext cx="510222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讨论题：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两个带电球壳（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）（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i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lang="zh-CN" altLang="en-US" sz="2400" b="1" dirty="0">
                <a:latin typeface="Verdana" panose="020B0604030504040204" pitchFamily="34" charset="0"/>
                <a:ea typeface="楷体_GB2312" pitchFamily="49" charset="-122"/>
              </a:rPr>
              <a:t>求电场分布</a:t>
            </a:r>
          </a:p>
        </p:txBody>
      </p:sp>
      <p:grpSp>
        <p:nvGrpSpPr>
          <p:cNvPr id="14375" name="Group 124"/>
          <p:cNvGrpSpPr/>
          <p:nvPr/>
        </p:nvGrpSpPr>
        <p:grpSpPr>
          <a:xfrm>
            <a:off x="5286375" y="296863"/>
            <a:ext cx="3276600" cy="3311525"/>
            <a:chOff x="3356" y="754"/>
            <a:chExt cx="2064" cy="2086"/>
          </a:xfrm>
        </p:grpSpPr>
        <p:grpSp>
          <p:nvGrpSpPr>
            <p:cNvPr id="14376" name="Group 87"/>
            <p:cNvGrpSpPr/>
            <p:nvPr/>
          </p:nvGrpSpPr>
          <p:grpSpPr>
            <a:xfrm>
              <a:off x="3674" y="2478"/>
              <a:ext cx="136" cy="136"/>
              <a:chOff x="3334" y="3339"/>
              <a:chExt cx="136" cy="136"/>
            </a:xfrm>
          </p:grpSpPr>
          <p:sp>
            <p:nvSpPr>
              <p:cNvPr id="14377" name="Line 85"/>
              <p:cNvSpPr/>
              <p:nvPr>
                <p:custDataLst>
                  <p:tags r:id="rId27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78" name="Line 86"/>
              <p:cNvSpPr/>
              <p:nvPr>
                <p:custDataLst>
                  <p:tags r:id="rId28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79" name="Group 88"/>
            <p:cNvGrpSpPr/>
            <p:nvPr/>
          </p:nvGrpSpPr>
          <p:grpSpPr>
            <a:xfrm>
              <a:off x="4127" y="2704"/>
              <a:ext cx="136" cy="136"/>
              <a:chOff x="3334" y="3339"/>
              <a:chExt cx="136" cy="136"/>
            </a:xfrm>
          </p:grpSpPr>
          <p:sp>
            <p:nvSpPr>
              <p:cNvPr id="14380" name="Line 89"/>
              <p:cNvSpPr/>
              <p:nvPr>
                <p:custDataLst>
                  <p:tags r:id="rId25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1" name="Line 90"/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82" name="Group 91"/>
            <p:cNvGrpSpPr/>
            <p:nvPr/>
          </p:nvGrpSpPr>
          <p:grpSpPr>
            <a:xfrm>
              <a:off x="4581" y="2704"/>
              <a:ext cx="136" cy="136"/>
              <a:chOff x="3334" y="3339"/>
              <a:chExt cx="136" cy="136"/>
            </a:xfrm>
          </p:grpSpPr>
          <p:sp>
            <p:nvSpPr>
              <p:cNvPr id="14383" name="Line 92"/>
              <p:cNvSpPr/>
              <p:nvPr>
                <p:custDataLst>
                  <p:tags r:id="rId23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4" name="Line 93"/>
              <p:cNvSpPr/>
              <p:nvPr>
                <p:custDataLst>
                  <p:tags r:id="rId24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85" name="Group 94"/>
            <p:cNvGrpSpPr/>
            <p:nvPr/>
          </p:nvGrpSpPr>
          <p:grpSpPr>
            <a:xfrm>
              <a:off x="5012" y="2478"/>
              <a:ext cx="136" cy="136"/>
              <a:chOff x="3334" y="3339"/>
              <a:chExt cx="136" cy="136"/>
            </a:xfrm>
          </p:grpSpPr>
          <p:sp>
            <p:nvSpPr>
              <p:cNvPr id="14386" name="Line 95"/>
              <p:cNvSpPr/>
              <p:nvPr>
                <p:custDataLst>
                  <p:tags r:id="rId21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87" name="Line 96"/>
              <p:cNvSpPr/>
              <p:nvPr>
                <p:custDataLst>
                  <p:tags r:id="rId22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88" name="Group 97"/>
            <p:cNvGrpSpPr/>
            <p:nvPr/>
          </p:nvGrpSpPr>
          <p:grpSpPr>
            <a:xfrm>
              <a:off x="5261" y="2001"/>
              <a:ext cx="136" cy="136"/>
              <a:chOff x="3334" y="3339"/>
              <a:chExt cx="136" cy="136"/>
            </a:xfrm>
          </p:grpSpPr>
          <p:sp>
            <p:nvSpPr>
              <p:cNvPr id="14389" name="Line 98"/>
              <p:cNvSpPr/>
              <p:nvPr>
                <p:custDataLst>
                  <p:tags r:id="rId19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0" name="Line 99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91" name="Group 100"/>
            <p:cNvGrpSpPr/>
            <p:nvPr/>
          </p:nvGrpSpPr>
          <p:grpSpPr>
            <a:xfrm>
              <a:off x="5284" y="1457"/>
              <a:ext cx="136" cy="136"/>
              <a:chOff x="3334" y="3339"/>
              <a:chExt cx="136" cy="136"/>
            </a:xfrm>
          </p:grpSpPr>
          <p:sp>
            <p:nvSpPr>
              <p:cNvPr id="14392" name="Line 101"/>
              <p:cNvSpPr/>
              <p:nvPr>
                <p:custDataLst>
                  <p:tags r:id="rId17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3" name="Line 102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94" name="Group 103"/>
            <p:cNvGrpSpPr/>
            <p:nvPr/>
          </p:nvGrpSpPr>
          <p:grpSpPr>
            <a:xfrm>
              <a:off x="4967" y="1026"/>
              <a:ext cx="136" cy="136"/>
              <a:chOff x="3334" y="3339"/>
              <a:chExt cx="136" cy="136"/>
            </a:xfrm>
          </p:grpSpPr>
          <p:sp>
            <p:nvSpPr>
              <p:cNvPr id="14395" name="Line 104"/>
              <p:cNvSpPr/>
              <p:nvPr>
                <p:custDataLst>
                  <p:tags r:id="rId15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6" name="Line 105"/>
              <p:cNvSpPr/>
              <p:nvPr>
                <p:custDataLst>
                  <p:tags r:id="rId16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397" name="Group 106"/>
            <p:cNvGrpSpPr/>
            <p:nvPr/>
          </p:nvGrpSpPr>
          <p:grpSpPr>
            <a:xfrm>
              <a:off x="4626" y="822"/>
              <a:ext cx="136" cy="136"/>
              <a:chOff x="3334" y="3339"/>
              <a:chExt cx="136" cy="136"/>
            </a:xfrm>
          </p:grpSpPr>
          <p:sp>
            <p:nvSpPr>
              <p:cNvPr id="14398" name="Line 10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399" name="Line 108"/>
              <p:cNvSpPr/>
              <p:nvPr>
                <p:custDataLst>
                  <p:tags r:id="rId14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00" name="Group 109"/>
            <p:cNvGrpSpPr/>
            <p:nvPr/>
          </p:nvGrpSpPr>
          <p:grpSpPr>
            <a:xfrm>
              <a:off x="4127" y="754"/>
              <a:ext cx="136" cy="136"/>
              <a:chOff x="3334" y="3339"/>
              <a:chExt cx="136" cy="136"/>
            </a:xfrm>
          </p:grpSpPr>
          <p:sp>
            <p:nvSpPr>
              <p:cNvPr id="14401" name="Line 110"/>
              <p:cNvSpPr/>
              <p:nvPr>
                <p:custDataLst>
                  <p:tags r:id="rId11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02" name="Line 111"/>
              <p:cNvSpPr/>
              <p:nvPr>
                <p:custDataLst>
                  <p:tags r:id="rId12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03" name="Group 112"/>
            <p:cNvGrpSpPr/>
            <p:nvPr/>
          </p:nvGrpSpPr>
          <p:grpSpPr>
            <a:xfrm>
              <a:off x="3447" y="2205"/>
              <a:ext cx="136" cy="136"/>
              <a:chOff x="3334" y="3339"/>
              <a:chExt cx="136" cy="136"/>
            </a:xfrm>
          </p:grpSpPr>
          <p:sp>
            <p:nvSpPr>
              <p:cNvPr id="14404" name="Line 113"/>
              <p:cNvSpPr/>
              <p:nvPr>
                <p:custDataLst>
                  <p:tags r:id="rId9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05" name="Line 114"/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06" name="Group 115"/>
            <p:cNvGrpSpPr/>
            <p:nvPr/>
          </p:nvGrpSpPr>
          <p:grpSpPr>
            <a:xfrm>
              <a:off x="3356" y="1865"/>
              <a:ext cx="136" cy="136"/>
              <a:chOff x="3334" y="3339"/>
              <a:chExt cx="136" cy="136"/>
            </a:xfrm>
          </p:grpSpPr>
          <p:sp>
            <p:nvSpPr>
              <p:cNvPr id="14407" name="Line 116"/>
              <p:cNvSpPr/>
              <p:nvPr>
                <p:custDataLst>
                  <p:tags r:id="rId7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08" name="Line 117"/>
              <p:cNvSpPr/>
              <p:nvPr>
                <p:custDataLst>
                  <p:tags r:id="rId8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09" name="Group 118"/>
            <p:cNvGrpSpPr/>
            <p:nvPr/>
          </p:nvGrpSpPr>
          <p:grpSpPr>
            <a:xfrm>
              <a:off x="3402" y="1389"/>
              <a:ext cx="136" cy="136"/>
              <a:chOff x="3334" y="3339"/>
              <a:chExt cx="136" cy="136"/>
            </a:xfrm>
          </p:grpSpPr>
          <p:sp>
            <p:nvSpPr>
              <p:cNvPr id="14410" name="Line 119"/>
              <p:cNvSpPr/>
              <p:nvPr>
                <p:custDataLst>
                  <p:tags r:id="rId5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1" name="Line 120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4412" name="Group 121"/>
            <p:cNvGrpSpPr/>
            <p:nvPr/>
          </p:nvGrpSpPr>
          <p:grpSpPr>
            <a:xfrm>
              <a:off x="3674" y="981"/>
              <a:ext cx="136" cy="136"/>
              <a:chOff x="3334" y="3339"/>
              <a:chExt cx="136" cy="136"/>
            </a:xfrm>
          </p:grpSpPr>
          <p:sp>
            <p:nvSpPr>
              <p:cNvPr id="14413" name="Line 122"/>
              <p:cNvSpPr/>
              <p:nvPr>
                <p:custDataLst>
                  <p:tags r:id="rId3"/>
                </p:custDataLst>
              </p:nvPr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4414" name="Line 123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14415" name="文本框 3"/>
          <p:cNvSpPr txBox="1"/>
          <p:nvPr>
            <p:custDataLst>
              <p:tags r:id="rId2"/>
            </p:custDataLst>
          </p:nvPr>
        </p:nvSpPr>
        <p:spPr>
          <a:xfrm>
            <a:off x="304800" y="3821113"/>
            <a:ext cx="8532813" cy="23069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讨论题：</a:t>
            </a:r>
            <a:endParaRPr lang="zh-CN" altLang="en-US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400">
                <a:latin typeface="Verdana" panose="020B0604030504040204" pitchFamily="34" charset="0"/>
                <a:ea typeface="宋体" panose="02010600030101010101" pitchFamily="2" charset="-122"/>
              </a:rPr>
              <a:t>对于特定对称性的电荷分布带电体，如球分布、无限大带电平面以及无线长带电直线，探讨如何利用高斯定理求解其产生的电场强度？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127"/>
          <p:cNvSpPr txBox="1"/>
          <p:nvPr>
            <p:custDataLst>
              <p:tags r:id="rId1"/>
            </p:custDataLst>
          </p:nvPr>
        </p:nvSpPr>
        <p:spPr>
          <a:xfrm>
            <a:off x="323850" y="1588135"/>
            <a:ext cx="873125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266700" eaLnBrk="0" hangingPunct="0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(A)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适用于任何静电场</a:t>
            </a:r>
          </a:p>
          <a:p>
            <a:pPr indent="266700" eaLnBrk="0" hangingPunct="0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(B)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只适用于真空中的静电场</a:t>
            </a:r>
          </a:p>
          <a:p>
            <a:pPr indent="266700" eaLnBrk="0" hangingPunct="0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(C)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只适用于具有球对称性、轴对称性和平面对称性的静电场</a:t>
            </a:r>
          </a:p>
          <a:p>
            <a:pPr indent="266700" eaLnBrk="0" hangingPunct="0">
              <a:lnSpc>
                <a:spcPct val="150000"/>
              </a:lnSpc>
            </a:pP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(D)   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只适用于虽然不具有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(C)</a:t>
            </a:r>
            <a:r>
              <a:rPr lang="zh-CN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中所述的对称性、但可以找到合适的高斯面的静电场</a:t>
            </a:r>
            <a:endParaRPr lang="zh-CN" altLang="en-US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291" name="组合 2"/>
          <p:cNvGrpSpPr/>
          <p:nvPr/>
        </p:nvGrpSpPr>
        <p:grpSpPr>
          <a:xfrm>
            <a:off x="467995" y="404547"/>
            <a:ext cx="6392545" cy="1353553"/>
            <a:chOff x="535" y="3186"/>
            <a:chExt cx="10067" cy="2133"/>
          </a:xfrm>
        </p:grpSpPr>
        <p:sp>
          <p:nvSpPr>
            <p:cNvPr id="12292" name="文本框 124"/>
            <p:cNvSpPr txBox="1"/>
            <p:nvPr>
              <p:custDataLst>
                <p:tags r:id="rId2"/>
              </p:custDataLst>
            </p:nvPr>
          </p:nvSpPr>
          <p:spPr>
            <a:xfrm>
              <a:off x="535" y="3671"/>
              <a:ext cx="5739" cy="1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课前测</a:t>
              </a:r>
              <a:r>
                <a:rPr lang="zh-CN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：高斯定理</a:t>
              </a:r>
              <a:r>
                <a:rPr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en-US" sz="2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2293" name="Object 17"/>
            <p:cNvGraphicFramePr>
              <a:graphicFrameLocks noChangeAspect="1"/>
            </p:cNvGraphicFramePr>
            <p:nvPr>
              <p:custDataLst>
                <p:tags r:id="rId3"/>
              </p:custDataLst>
            </p:nvPr>
          </p:nvGraphicFramePr>
          <p:xfrm>
            <a:off x="5639" y="3186"/>
            <a:ext cx="4963" cy="2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79500" imgH="520700" progId="Equation.3">
                    <p:embed/>
                  </p:oleObj>
                </mc:Choice>
                <mc:Fallback>
                  <p:oleObj r:id="rId5" imgW="1079500" imgH="520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39" y="3186"/>
                          <a:ext cx="4963" cy="21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539750" y="580517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答案：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(A)</a:t>
            </a:r>
            <a:r>
              <a:rPr lang="en-US" altLang="zh-CN" sz="2800">
                <a:latin typeface="Times New Roman" panose="0202060305040502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5362" name="Text Box 6"/>
          <p:cNvSpPr>
            <a:spLocks noGrp="1"/>
          </p:cNvSpPr>
          <p:nvPr>
            <p:ph type="title"/>
          </p:nvPr>
        </p:nvSpPr>
        <p:spPr>
          <a:xfrm>
            <a:off x="1763713" y="836613"/>
            <a:ext cx="5162550" cy="436562"/>
          </a:xfrm>
        </p:spPr>
        <p:txBody>
          <a:bodyPr vert="horz" wrap="square" lIns="91440" tIns="45720" rIns="91440" bIns="45720" anchor="b" anchorCtr="0"/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§9-4</a:t>
            </a:r>
            <a:r>
              <a:rPr lang="en-US" altLang="zh-CN" sz="2800" b="1" dirty="0">
                <a:solidFill>
                  <a:srgbClr val="CC0000"/>
                </a:solidFill>
              </a:rPr>
              <a:t>  </a:t>
            </a:r>
            <a:r>
              <a:rPr lang="zh-CN" altLang="en-US" sz="2800" b="1" dirty="0">
                <a:solidFill>
                  <a:srgbClr val="CC0000"/>
                </a:solidFill>
              </a:rPr>
              <a:t>静电场的环路定理  电势</a:t>
            </a:r>
          </a:p>
        </p:txBody>
      </p:sp>
      <p:grpSp>
        <p:nvGrpSpPr>
          <p:cNvPr id="15363" name="组合 9"/>
          <p:cNvGrpSpPr/>
          <p:nvPr/>
        </p:nvGrpSpPr>
        <p:grpSpPr>
          <a:xfrm>
            <a:off x="5799138" y="1443038"/>
            <a:ext cx="3038475" cy="4030662"/>
            <a:chOff x="8765" y="3013"/>
            <a:chExt cx="4785" cy="6347"/>
          </a:xfrm>
        </p:grpSpPr>
        <p:grpSp>
          <p:nvGrpSpPr>
            <p:cNvPr id="15364" name="Group 71"/>
            <p:cNvGrpSpPr/>
            <p:nvPr/>
          </p:nvGrpSpPr>
          <p:grpSpPr>
            <a:xfrm>
              <a:off x="8833" y="7540"/>
              <a:ext cx="607" cy="1360"/>
              <a:chOff x="3515" y="3022"/>
              <a:chExt cx="243" cy="544"/>
            </a:xfrm>
          </p:grpSpPr>
          <p:graphicFrame>
            <p:nvGraphicFramePr>
              <p:cNvPr id="15365" name="Object 4"/>
              <p:cNvGraphicFramePr>
                <a:graphicFrameLocks noChangeAspect="1"/>
              </p:cNvGraphicFramePr>
              <p:nvPr/>
            </p:nvGraphicFramePr>
            <p:xfrm>
              <a:off x="3515" y="3022"/>
              <a:ext cx="190" cy="1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381000" imgH="390525" progId="MS_ClipArt_Gallery.5">
                      <p:embed/>
                    </p:oleObj>
                  </mc:Choice>
                  <mc:Fallback>
                    <p:oleObj r:id="rId2" imgW="381000" imgH="390525" progId="MS_ClipArt_Gallery.5">
                      <p:embed/>
                      <p:pic>
                        <p:nvPicPr>
                          <p:cNvPr id="0" name="图片 3155"/>
                          <p:cNvPicPr/>
                          <p:nvPr/>
                        </p:nvPicPr>
                        <p:blipFill>
                          <a:blip r:embed="rId3">
                            <a:lum bright="12000" contrast="23999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515" y="3022"/>
                            <a:ext cx="190" cy="19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66" name="Object 5"/>
              <p:cNvGraphicFramePr>
                <a:graphicFrameLocks noChangeAspect="1"/>
              </p:cNvGraphicFramePr>
              <p:nvPr/>
            </p:nvGraphicFramePr>
            <p:xfrm>
              <a:off x="3515" y="3249"/>
              <a:ext cx="243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127000" imgH="165100" progId="Equation.3">
                      <p:embed/>
                    </p:oleObj>
                  </mc:Choice>
                  <mc:Fallback>
                    <p:oleObj r:id="rId4" imgW="127000" imgH="165100" progId="Equation.3">
                      <p:embed/>
                      <p:pic>
                        <p:nvPicPr>
                          <p:cNvPr id="0" name="图片 3152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515" y="3249"/>
                            <a:ext cx="243" cy="31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367" name="Freeform 7"/>
            <p:cNvSpPr/>
            <p:nvPr/>
          </p:nvSpPr>
          <p:spPr>
            <a:xfrm>
              <a:off x="9928" y="3613"/>
              <a:ext cx="2732" cy="492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0"/>
                </a:cxn>
              </a:cxnLst>
              <a:rect l="0" t="0" r="0" b="0"/>
              <a:pathLst>
                <a:path w="1093" h="1968">
                  <a:moveTo>
                    <a:pt x="1048" y="1968"/>
                  </a:moveTo>
                  <a:cubicBezTo>
                    <a:pt x="1055" y="1919"/>
                    <a:pt x="1085" y="1774"/>
                    <a:pt x="1089" y="1675"/>
                  </a:cubicBezTo>
                  <a:cubicBezTo>
                    <a:pt x="1093" y="1576"/>
                    <a:pt x="1089" y="1478"/>
                    <a:pt x="1074" y="1376"/>
                  </a:cubicBezTo>
                  <a:cubicBezTo>
                    <a:pt x="1059" y="1274"/>
                    <a:pt x="1035" y="1170"/>
                    <a:pt x="999" y="1062"/>
                  </a:cubicBezTo>
                  <a:cubicBezTo>
                    <a:pt x="963" y="954"/>
                    <a:pt x="929" y="861"/>
                    <a:pt x="858" y="727"/>
                  </a:cubicBezTo>
                  <a:cubicBezTo>
                    <a:pt x="787" y="593"/>
                    <a:pt x="662" y="364"/>
                    <a:pt x="572" y="257"/>
                  </a:cubicBezTo>
                  <a:cubicBezTo>
                    <a:pt x="482" y="150"/>
                    <a:pt x="414" y="125"/>
                    <a:pt x="319" y="82"/>
                  </a:cubicBezTo>
                  <a:cubicBezTo>
                    <a:pt x="224" y="39"/>
                    <a:pt x="66" y="17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68" name="Group 8"/>
            <p:cNvGrpSpPr/>
            <p:nvPr/>
          </p:nvGrpSpPr>
          <p:grpSpPr>
            <a:xfrm>
              <a:off x="12348" y="7653"/>
              <a:ext cx="1202" cy="1260"/>
              <a:chOff x="5121" y="2448"/>
              <a:chExt cx="481" cy="504"/>
            </a:xfrm>
          </p:grpSpPr>
          <p:graphicFrame>
            <p:nvGraphicFramePr>
              <p:cNvPr id="15369" name="Object 9"/>
              <p:cNvGraphicFramePr>
                <a:graphicFrameLocks noChangeAspect="1"/>
              </p:cNvGraphicFramePr>
              <p:nvPr/>
            </p:nvGraphicFramePr>
            <p:xfrm>
              <a:off x="5242" y="2448"/>
              <a:ext cx="360" cy="5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65100" imgH="228600" progId="Equation.3">
                      <p:embed/>
                    </p:oleObj>
                  </mc:Choice>
                  <mc:Fallback>
                    <p:oleObj r:id="rId6" imgW="165100" imgH="228600" progId="Equation.3">
                      <p:embed/>
                      <p:pic>
                        <p:nvPicPr>
                          <p:cNvPr id="0" name="图片 3153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5242" y="2448"/>
                            <a:ext cx="360" cy="50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0" name="Oval 10"/>
              <p:cNvSpPr/>
              <p:nvPr/>
            </p:nvSpPr>
            <p:spPr>
              <a:xfrm>
                <a:off x="5121" y="2736"/>
                <a:ext cx="96" cy="96"/>
              </a:xfrm>
              <a:prstGeom prst="ellipse">
                <a:avLst/>
              </a:prstGeom>
              <a:solidFill>
                <a:srgbClr val="FF505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71" name="Group 11"/>
            <p:cNvGrpSpPr/>
            <p:nvPr/>
          </p:nvGrpSpPr>
          <p:grpSpPr>
            <a:xfrm>
              <a:off x="9208" y="5080"/>
              <a:ext cx="2582" cy="2400"/>
              <a:chOff x="3825" y="1440"/>
              <a:chExt cx="1033" cy="960"/>
            </a:xfrm>
          </p:grpSpPr>
          <p:graphicFrame>
            <p:nvGraphicFramePr>
              <p:cNvPr id="15372" name="Object 12"/>
              <p:cNvGraphicFramePr>
                <a:graphicFrameLocks noChangeAspect="1"/>
              </p:cNvGraphicFramePr>
              <p:nvPr/>
            </p:nvGraphicFramePr>
            <p:xfrm>
              <a:off x="4473" y="1785"/>
              <a:ext cx="215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65100" imgH="203200" progId="Equation.DSMT4">
                      <p:embed/>
                    </p:oleObj>
                  </mc:Choice>
                  <mc:Fallback>
                    <p:oleObj r:id="rId8" imgW="165100" imgH="203200" progId="Equation.DSMT4">
                      <p:embed/>
                      <p:pic>
                        <p:nvPicPr>
                          <p:cNvPr id="0" name="图片 3156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73" y="1785"/>
                            <a:ext cx="215" cy="22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3" name="Line 13"/>
              <p:cNvSpPr/>
              <p:nvPr/>
            </p:nvSpPr>
            <p:spPr>
              <a:xfrm flipV="1">
                <a:off x="3825" y="1440"/>
                <a:ext cx="1033" cy="960"/>
              </a:xfrm>
              <a:prstGeom prst="line">
                <a:avLst/>
              </a:prstGeom>
              <a:ln w="28575" cap="flat" cmpd="sng">
                <a:solidFill>
                  <a:srgbClr val="33CC33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sp>
          <p:nvSpPr>
            <p:cNvPr id="15374" name="Line 17"/>
            <p:cNvSpPr/>
            <p:nvPr/>
          </p:nvSpPr>
          <p:spPr>
            <a:xfrm flipV="1">
              <a:off x="9208" y="4213"/>
              <a:ext cx="2160" cy="336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dash"/>
              <a:round/>
              <a:headEnd type="none" w="med" len="med"/>
              <a:tailEnd type="none" w="med" len="med"/>
            </a:ln>
          </p:spPr>
        </p:sp>
        <p:grpSp>
          <p:nvGrpSpPr>
            <p:cNvPr id="15375" name="Group 22"/>
            <p:cNvGrpSpPr/>
            <p:nvPr/>
          </p:nvGrpSpPr>
          <p:grpSpPr>
            <a:xfrm>
              <a:off x="11008" y="3013"/>
              <a:ext cx="1022" cy="2160"/>
              <a:chOff x="4545" y="576"/>
              <a:chExt cx="409" cy="864"/>
            </a:xfrm>
          </p:grpSpPr>
          <p:graphicFrame>
            <p:nvGraphicFramePr>
              <p:cNvPr id="15376" name="Object 23"/>
              <p:cNvGraphicFramePr>
                <a:graphicFrameLocks noChangeAspect="1"/>
              </p:cNvGraphicFramePr>
              <p:nvPr/>
            </p:nvGraphicFramePr>
            <p:xfrm>
              <a:off x="4545" y="576"/>
              <a:ext cx="409" cy="4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317500" imgH="317500" progId="Equation.3">
                      <p:embed/>
                    </p:oleObj>
                  </mc:Choice>
                  <mc:Fallback>
                    <p:oleObj r:id="rId10" imgW="317500" imgH="317500" progId="Equation.3">
                      <p:embed/>
                      <p:pic>
                        <p:nvPicPr>
                          <p:cNvPr id="0" name="图片 3151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545" y="576"/>
                            <a:ext cx="409" cy="41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7" name="Line 24"/>
              <p:cNvSpPr/>
              <p:nvPr/>
            </p:nvSpPr>
            <p:spPr>
              <a:xfrm flipH="1" flipV="1">
                <a:off x="4689" y="1056"/>
                <a:ext cx="192" cy="336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5378" name="Oval 25"/>
              <p:cNvSpPr/>
              <p:nvPr/>
            </p:nvSpPr>
            <p:spPr>
              <a:xfrm>
                <a:off x="4833" y="1344"/>
                <a:ext cx="96" cy="96"/>
              </a:xfrm>
              <a:prstGeom prst="ellipse">
                <a:avLst/>
              </a:prstGeom>
              <a:solidFill>
                <a:srgbClr val="FF505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379" name="Group 26"/>
            <p:cNvGrpSpPr/>
            <p:nvPr/>
          </p:nvGrpSpPr>
          <p:grpSpPr>
            <a:xfrm>
              <a:off x="10110" y="3853"/>
              <a:ext cx="1680" cy="1320"/>
              <a:chOff x="4186" y="912"/>
              <a:chExt cx="672" cy="528"/>
            </a:xfrm>
          </p:grpSpPr>
          <p:graphicFrame>
            <p:nvGraphicFramePr>
              <p:cNvPr id="15380" name="Object 27"/>
              <p:cNvGraphicFramePr>
                <a:graphicFrameLocks noChangeAspect="1"/>
              </p:cNvGraphicFramePr>
              <p:nvPr/>
            </p:nvGraphicFramePr>
            <p:xfrm>
              <a:off x="4186" y="912"/>
              <a:ext cx="414" cy="3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92100" imgH="266700" progId="Equation.3">
                      <p:embed/>
                    </p:oleObj>
                  </mc:Choice>
                  <mc:Fallback>
                    <p:oleObj r:id="rId12" imgW="292100" imgH="26670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86" y="912"/>
                            <a:ext cx="414" cy="3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1" name="Line 28"/>
              <p:cNvSpPr/>
              <p:nvPr/>
            </p:nvSpPr>
            <p:spPr>
              <a:xfrm flipH="1" flipV="1">
                <a:off x="4570" y="1248"/>
                <a:ext cx="288" cy="19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ys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15382" name="Line 29"/>
              <p:cNvSpPr/>
              <p:nvPr/>
            </p:nvSpPr>
            <p:spPr>
              <a:xfrm flipV="1">
                <a:off x="4564" y="1056"/>
                <a:ext cx="129" cy="19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5383" name="Group 30"/>
            <p:cNvGrpSpPr/>
            <p:nvPr/>
          </p:nvGrpSpPr>
          <p:grpSpPr>
            <a:xfrm>
              <a:off x="9188" y="6950"/>
              <a:ext cx="3487" cy="2410"/>
              <a:chOff x="3825" y="2160"/>
              <a:chExt cx="1395" cy="964"/>
            </a:xfrm>
          </p:grpSpPr>
          <p:graphicFrame>
            <p:nvGraphicFramePr>
              <p:cNvPr id="15384" name="Object 31"/>
              <p:cNvGraphicFramePr>
                <a:graphicFrameLocks noChangeAspect="1"/>
              </p:cNvGraphicFramePr>
              <p:nvPr/>
            </p:nvGraphicFramePr>
            <p:xfrm>
              <a:off x="4478" y="2160"/>
              <a:ext cx="370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52400" imgH="215900" progId="Equation.3">
                      <p:embed/>
                    </p:oleObj>
                  </mc:Choice>
                  <mc:Fallback>
                    <p:oleObj r:id="rId14" imgW="152400" imgH="215900" progId="Equation.3">
                      <p:embed/>
                      <p:pic>
                        <p:nvPicPr>
                          <p:cNvPr id="0" name="图片 3165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478" y="2160"/>
                            <a:ext cx="370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5" name="Line 32"/>
              <p:cNvSpPr/>
              <p:nvPr/>
            </p:nvSpPr>
            <p:spPr>
              <a:xfrm>
                <a:off x="3825" y="2400"/>
                <a:ext cx="1344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5386" name="Object 33"/>
              <p:cNvGraphicFramePr>
                <a:graphicFrameLocks noChangeAspect="1"/>
              </p:cNvGraphicFramePr>
              <p:nvPr/>
            </p:nvGraphicFramePr>
            <p:xfrm>
              <a:off x="4906" y="2784"/>
              <a:ext cx="314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152400" imgH="165100" progId="Equation.3">
                      <p:embed/>
                    </p:oleObj>
                  </mc:Choice>
                  <mc:Fallback>
                    <p:oleObj r:id="rId16" imgW="152400" imgH="165100" progId="Equation.3">
                      <p:embed/>
                      <p:pic>
                        <p:nvPicPr>
                          <p:cNvPr id="0" name="图片 3159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906" y="2784"/>
                            <a:ext cx="314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387" name="Group 34"/>
            <p:cNvGrpSpPr/>
            <p:nvPr/>
          </p:nvGrpSpPr>
          <p:grpSpPr>
            <a:xfrm>
              <a:off x="8765" y="3133"/>
              <a:ext cx="1163" cy="4440"/>
              <a:chOff x="3648" y="624"/>
              <a:chExt cx="465" cy="1776"/>
            </a:xfrm>
          </p:grpSpPr>
          <p:graphicFrame>
            <p:nvGraphicFramePr>
              <p:cNvPr id="15388" name="Object 35"/>
              <p:cNvGraphicFramePr>
                <a:graphicFrameLocks noChangeAspect="1"/>
              </p:cNvGraphicFramePr>
              <p:nvPr/>
            </p:nvGraphicFramePr>
            <p:xfrm>
              <a:off x="3648" y="1196"/>
              <a:ext cx="342" cy="5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52400" imgH="215900" progId="Equation.3">
                      <p:embed/>
                    </p:oleObj>
                  </mc:Choice>
                  <mc:Fallback>
                    <p:oleObj r:id="rId18" imgW="152400" imgH="215900" progId="Equation.3">
                      <p:embed/>
                      <p:pic>
                        <p:nvPicPr>
                          <p:cNvPr id="0" name="图片 3157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3648" y="1196"/>
                            <a:ext cx="342" cy="5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9" name="Line 36"/>
              <p:cNvSpPr/>
              <p:nvPr/>
            </p:nvSpPr>
            <p:spPr>
              <a:xfrm flipV="1">
                <a:off x="3825" y="829"/>
                <a:ext cx="288" cy="157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5390" name="Object 37"/>
              <p:cNvGraphicFramePr>
                <a:graphicFrameLocks noChangeAspect="1"/>
              </p:cNvGraphicFramePr>
              <p:nvPr/>
            </p:nvGraphicFramePr>
            <p:xfrm>
              <a:off x="3728" y="624"/>
              <a:ext cx="314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152400" imgH="165100" progId="Equation.3">
                      <p:embed/>
                    </p:oleObj>
                  </mc:Choice>
                  <mc:Fallback>
                    <p:oleObj r:id="rId20" imgW="152400" imgH="165100" progId="Equation.3">
                      <p:embed/>
                      <p:pic>
                        <p:nvPicPr>
                          <p:cNvPr id="0" name="图片 316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3728" y="624"/>
                            <a:ext cx="314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391" name="Group 38"/>
            <p:cNvGrpSpPr/>
            <p:nvPr/>
          </p:nvGrpSpPr>
          <p:grpSpPr>
            <a:xfrm>
              <a:off x="11645" y="3853"/>
              <a:ext cx="1693" cy="1320"/>
              <a:chOff x="4810" y="912"/>
              <a:chExt cx="667" cy="528"/>
            </a:xfrm>
          </p:grpSpPr>
          <p:graphicFrame>
            <p:nvGraphicFramePr>
              <p:cNvPr id="15392" name="Object 39"/>
              <p:cNvGraphicFramePr>
                <a:graphicFrameLocks noChangeAspect="1"/>
              </p:cNvGraphicFramePr>
              <p:nvPr/>
            </p:nvGraphicFramePr>
            <p:xfrm>
              <a:off x="4858" y="912"/>
              <a:ext cx="23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127000" imgH="177165" progId="Equation.3">
                      <p:embed/>
                    </p:oleObj>
                  </mc:Choice>
                  <mc:Fallback>
                    <p:oleObj r:id="rId22" imgW="127000" imgH="177165" progId="Equation.3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858" y="912"/>
                            <a:ext cx="239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393" name="Group 40"/>
              <p:cNvGrpSpPr/>
              <p:nvPr/>
            </p:nvGrpSpPr>
            <p:grpSpPr>
              <a:xfrm>
                <a:off x="4881" y="912"/>
                <a:ext cx="596" cy="528"/>
                <a:chOff x="4881" y="912"/>
                <a:chExt cx="596" cy="528"/>
              </a:xfrm>
            </p:grpSpPr>
            <p:graphicFrame>
              <p:nvGraphicFramePr>
                <p:cNvPr id="15394" name="Object 41"/>
                <p:cNvGraphicFramePr>
                  <a:graphicFrameLocks noChangeAspect="1"/>
                </p:cNvGraphicFramePr>
                <p:nvPr/>
              </p:nvGraphicFramePr>
              <p:xfrm>
                <a:off x="5136" y="1008"/>
                <a:ext cx="341" cy="43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4" imgW="127000" imgH="177800" progId="Equation.3">
                        <p:embed/>
                      </p:oleObj>
                    </mc:Choice>
                    <mc:Fallback>
                      <p:oleObj r:id="rId24" imgW="127000" imgH="177800" progId="Equation.3">
                        <p:embed/>
                        <p:pic>
                          <p:nvPicPr>
                            <p:cNvPr id="0" name="图片 3160"/>
                            <p:cNvPicPr/>
                            <p:nvPr/>
                          </p:nvPicPr>
                          <p:blipFill>
                            <a:blip r:embed="rId2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136" y="1008"/>
                              <a:ext cx="341" cy="43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395" name="Line 42"/>
                <p:cNvSpPr/>
                <p:nvPr/>
              </p:nvSpPr>
              <p:spPr>
                <a:xfrm flipV="1">
                  <a:off x="4881" y="912"/>
                  <a:ext cx="495" cy="480"/>
                </a:xfrm>
                <a:prstGeom prst="line">
                  <a:avLst/>
                </a:prstGeom>
                <a:ln w="38100" cap="flat" cmpd="sng">
                  <a:solidFill>
                    <a:srgbClr val="CC00CC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</p:grpSp>
          <p:sp>
            <p:nvSpPr>
              <p:cNvPr id="15396" name="Freeform 43"/>
              <p:cNvSpPr/>
              <p:nvPr/>
            </p:nvSpPr>
            <p:spPr>
              <a:xfrm>
                <a:off x="4810" y="1200"/>
                <a:ext cx="192" cy="56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96" y="8"/>
                  </a:cxn>
                  <a:cxn ang="0">
                    <a:pos x="192" y="56"/>
                  </a:cxn>
                </a:cxnLst>
                <a:rect l="0" t="0" r="0" b="0"/>
                <a:pathLst>
                  <a:path w="192" h="56">
                    <a:moveTo>
                      <a:pt x="0" y="8"/>
                    </a:moveTo>
                    <a:cubicBezTo>
                      <a:pt x="32" y="4"/>
                      <a:pt x="64" y="0"/>
                      <a:pt x="96" y="8"/>
                    </a:cubicBezTo>
                    <a:cubicBezTo>
                      <a:pt x="128" y="16"/>
                      <a:pt x="160" y="36"/>
                      <a:pt x="192" y="5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373" name="组合 11"/>
          <p:cNvGrpSpPr/>
          <p:nvPr/>
        </p:nvGrpSpPr>
        <p:grpSpPr>
          <a:xfrm>
            <a:off x="1258888" y="2284413"/>
            <a:ext cx="2390775" cy="728662"/>
            <a:chOff x="1869" y="3844"/>
            <a:chExt cx="3766" cy="1148"/>
          </a:xfrm>
        </p:grpSpPr>
        <p:graphicFrame>
          <p:nvGraphicFramePr>
            <p:cNvPr id="15398" name="Object 16"/>
            <p:cNvGraphicFramePr>
              <a:graphicFrameLocks noChangeAspect="1"/>
            </p:cNvGraphicFramePr>
            <p:nvPr/>
          </p:nvGraphicFramePr>
          <p:xfrm>
            <a:off x="1869" y="3844"/>
            <a:ext cx="2280" cy="1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571500" imgH="304800" progId="Equation.DSMT4">
                    <p:embed/>
                  </p:oleObj>
                </mc:Choice>
                <mc:Fallback>
                  <p:oleObj r:id="rId26" imgW="571500" imgH="3048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869" y="3844"/>
                          <a:ext cx="2280" cy="11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99" name="Object 18"/>
            <p:cNvGraphicFramePr>
              <a:graphicFrameLocks noChangeAspect="1"/>
            </p:cNvGraphicFramePr>
            <p:nvPr/>
          </p:nvGraphicFramePr>
          <p:xfrm>
            <a:off x="4138" y="3980"/>
            <a:ext cx="1497" cy="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304165" imgH="177800" progId="Equation.3">
                    <p:embed/>
                  </p:oleObj>
                </mc:Choice>
                <mc:Fallback>
                  <p:oleObj r:id="rId28" imgW="304165" imgH="177800" progId="Equation.3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138" y="3980"/>
                          <a:ext cx="1497" cy="8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6" name="文本框 10"/>
          <p:cNvSpPr txBox="1"/>
          <p:nvPr/>
        </p:nvSpPr>
        <p:spPr>
          <a:xfrm>
            <a:off x="250825" y="1443038"/>
            <a:ext cx="4572000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计算电场力的功、电势时常用的一个公式</a:t>
            </a:r>
          </a:p>
        </p:txBody>
      </p:sp>
      <p:sp>
        <p:nvSpPr>
          <p:cNvPr id="14377" name="文本框 12"/>
          <p:cNvSpPr txBox="1"/>
          <p:nvPr/>
        </p:nvSpPr>
        <p:spPr>
          <a:xfrm>
            <a:off x="395288" y="3171825"/>
            <a:ext cx="930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例如：</a:t>
            </a:r>
          </a:p>
        </p:txBody>
      </p:sp>
      <p:grpSp>
        <p:nvGrpSpPr>
          <p:cNvPr id="14378" name="组合 15"/>
          <p:cNvGrpSpPr/>
          <p:nvPr/>
        </p:nvGrpSpPr>
        <p:grpSpPr>
          <a:xfrm>
            <a:off x="1460500" y="3098800"/>
            <a:ext cx="3228975" cy="2641600"/>
            <a:chOff x="2151" y="5523"/>
            <a:chExt cx="5085" cy="4161"/>
          </a:xfrm>
        </p:grpSpPr>
        <p:graphicFrame>
          <p:nvGraphicFramePr>
            <p:cNvPr id="15403" name="Object 14"/>
            <p:cNvGraphicFramePr>
              <a:graphicFrameLocks noChangeAspect="1"/>
            </p:cNvGraphicFramePr>
            <p:nvPr/>
          </p:nvGraphicFramePr>
          <p:xfrm>
            <a:off x="2151" y="5523"/>
            <a:ext cx="5085" cy="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1625600" imgH="254000" progId="Equation.DSMT4">
                    <p:embed/>
                  </p:oleObj>
                </mc:Choice>
                <mc:Fallback>
                  <p:oleObj r:id="rId30" imgW="1625600" imgH="254000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2151" y="5523"/>
                          <a:ext cx="5085" cy="9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4" name="Object 15"/>
            <p:cNvGraphicFramePr>
              <a:graphicFrameLocks noChangeAspect="1"/>
            </p:cNvGraphicFramePr>
            <p:nvPr/>
          </p:nvGraphicFramePr>
          <p:xfrm>
            <a:off x="2758" y="6428"/>
            <a:ext cx="4363" cy="1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1155700" imgH="431800" progId="Equation.DSMT4">
                    <p:embed/>
                  </p:oleObj>
                </mc:Choice>
                <mc:Fallback>
                  <p:oleObj r:id="rId32" imgW="1155700" imgH="4318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2758" y="6428"/>
                          <a:ext cx="4363" cy="16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5" name="Object 15"/>
            <p:cNvGraphicFramePr>
              <a:graphicFrameLocks noChangeAspect="1"/>
            </p:cNvGraphicFramePr>
            <p:nvPr/>
          </p:nvGraphicFramePr>
          <p:xfrm>
            <a:off x="2890" y="8056"/>
            <a:ext cx="2924" cy="1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774065" imgH="431800" progId="Equation.DSMT4">
                    <p:embed/>
                  </p:oleObj>
                </mc:Choice>
                <mc:Fallback>
                  <p:oleObj r:id="rId34" imgW="774065" imgH="431800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2890" y="8056"/>
                          <a:ext cx="2924" cy="16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82" name="对象 16"/>
          <p:cNvGraphicFramePr/>
          <p:nvPr/>
        </p:nvGraphicFramePr>
        <p:xfrm>
          <a:off x="1331913" y="5805488"/>
          <a:ext cx="42164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1917065" imgH="279400" progId="Equation.DSMT4">
                  <p:embed/>
                </p:oleObj>
              </mc:Choice>
              <mc:Fallback>
                <p:oleObj r:id="rId36" imgW="1917065" imgH="2794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331913" y="5805488"/>
                        <a:ext cx="4216400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83" name="文本框 18"/>
          <p:cNvSpPr txBox="1"/>
          <p:nvPr/>
        </p:nvSpPr>
        <p:spPr>
          <a:xfrm>
            <a:off x="323850" y="5805488"/>
            <a:ext cx="930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又如：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6" grpId="0"/>
      <p:bldP spid="14376" grpId="1"/>
      <p:bldP spid="14377" grpId="0"/>
      <p:bldP spid="14377" grpId="1"/>
      <p:bldP spid="14383" grpId="0"/>
      <p:bldP spid="1438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17792" name="Rectangle 32"/>
          <p:cNvSpPr/>
          <p:nvPr/>
        </p:nvSpPr>
        <p:spPr>
          <a:xfrm>
            <a:off x="179388" y="909638"/>
            <a:ext cx="8721725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、静电力是保守力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在任何静电场中移动试探电荷时，电场力所做的功除了与电场本身有关外，只与试验电荷的大小及其起点、终点位置有关，与移动电荷所走过的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路径无关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</a:p>
        </p:txBody>
      </p:sp>
      <p:sp>
        <p:nvSpPr>
          <p:cNvPr id="15363" name="Text Box 4"/>
          <p:cNvSpPr txBox="1"/>
          <p:nvPr/>
        </p:nvSpPr>
        <p:spPr>
          <a:xfrm>
            <a:off x="179388" y="2925763"/>
            <a:ext cx="32559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、静电场的环路定理</a:t>
            </a:r>
          </a:p>
        </p:txBody>
      </p:sp>
      <p:graphicFrame>
        <p:nvGraphicFramePr>
          <p:cNvPr id="34" name="Object 6"/>
          <p:cNvGraphicFramePr>
            <a:graphicFrameLocks noChangeAspect="1"/>
          </p:cNvGraphicFramePr>
          <p:nvPr/>
        </p:nvGraphicFramePr>
        <p:xfrm>
          <a:off x="3635375" y="2781300"/>
          <a:ext cx="2246313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98500" imgH="292100" progId="Equation.3">
                  <p:embed/>
                </p:oleObj>
              </mc:Choice>
              <mc:Fallback>
                <p:oleObj r:id="rId2" imgW="698500" imgH="2921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5375" y="2781300"/>
                        <a:ext cx="2246313" cy="8556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>
                              <a:alpha val="32001"/>
                            </a:schemeClr>
                          </a:gs>
                          <a:gs pos="50000">
                            <a:srgbClr val="FFFFFF"/>
                          </a:gs>
                          <a:gs pos="100000">
                            <a:schemeClr val="accent1">
                              <a:alpha val="32001"/>
                            </a:schemeClr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3"/>
          <p:cNvSpPr/>
          <p:nvPr/>
        </p:nvSpPr>
        <p:spPr>
          <a:xfrm>
            <a:off x="827088" y="4508500"/>
            <a:ext cx="5949950" cy="534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环路定理说明：电场线不能形成闭合曲线。</a:t>
            </a:r>
            <a:endParaRPr lang="zh-CN" altLang="en-US" sz="2400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" name="Rectangle 34"/>
          <p:cNvSpPr/>
          <p:nvPr/>
        </p:nvSpPr>
        <p:spPr>
          <a:xfrm>
            <a:off x="971550" y="5218113"/>
            <a:ext cx="3725863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静电场是有源场、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无旋场。</a:t>
            </a:r>
            <a:endParaRPr lang="zh-CN" altLang="en-US" sz="24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474788" y="3860800"/>
            <a:ext cx="6288087" cy="474663"/>
            <a:chOff x="203" y="1928"/>
            <a:chExt cx="5375" cy="299"/>
          </a:xfrm>
        </p:grpSpPr>
        <p:sp>
          <p:nvSpPr>
            <p:cNvPr id="39" name="Text Box 8"/>
            <p:cNvSpPr txBox="1">
              <a:spLocks noChangeArrowheads="1"/>
            </p:cNvSpPr>
            <p:nvPr/>
          </p:nvSpPr>
          <p:spPr bwMode="auto">
            <a:xfrm>
              <a:off x="203" y="1937"/>
              <a:ext cx="5375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  在静电场中，电场强度   的环流等于零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。</a:t>
              </a:r>
            </a:p>
          </p:txBody>
        </p:sp>
        <p:graphicFrame>
          <p:nvGraphicFramePr>
            <p:cNvPr id="16393" name="Object 36"/>
            <p:cNvGraphicFramePr>
              <a:graphicFrameLocks noChangeAspect="1"/>
            </p:cNvGraphicFramePr>
            <p:nvPr/>
          </p:nvGraphicFramePr>
          <p:xfrm>
            <a:off x="3342" y="1928"/>
            <a:ext cx="22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2400" imgH="203200" progId="Equation.3">
                    <p:embed/>
                  </p:oleObj>
                </mc:Choice>
                <mc:Fallback>
                  <p:oleObj r:id="rId4" imgW="152400" imgH="20320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42" y="1928"/>
                          <a:ext cx="225" cy="2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92" grpId="0"/>
      <p:bldP spid="15363" grpId="0"/>
      <p:bldP spid="15363" grpId="1"/>
      <p:bldP spid="3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17410" name="Group 28"/>
          <p:cNvGrpSpPr/>
          <p:nvPr/>
        </p:nvGrpSpPr>
        <p:grpSpPr>
          <a:xfrm>
            <a:off x="1174750" y="1196975"/>
            <a:ext cx="1897063" cy="492125"/>
            <a:chOff x="979" y="685"/>
            <a:chExt cx="1662" cy="387"/>
          </a:xfrm>
        </p:grpSpPr>
        <p:graphicFrame>
          <p:nvGraphicFramePr>
            <p:cNvPr id="17411" name="Object 21"/>
            <p:cNvGraphicFramePr>
              <a:graphicFrameLocks noChangeAspect="1"/>
            </p:cNvGraphicFramePr>
            <p:nvPr/>
          </p:nvGraphicFramePr>
          <p:xfrm>
            <a:off x="979" y="699"/>
            <a:ext cx="640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44500" imgH="215900" progId="Equation.3">
                    <p:embed/>
                  </p:oleObj>
                </mc:Choice>
                <mc:Fallback>
                  <p:oleObj r:id="rId2" imgW="444500" imgH="215900" progId="Equation.3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62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79" y="699"/>
                          <a:ext cx="640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2" name="Object 27"/>
            <p:cNvGraphicFramePr>
              <a:graphicFrameLocks noChangeAspect="1"/>
            </p:cNvGraphicFramePr>
            <p:nvPr/>
          </p:nvGraphicFramePr>
          <p:xfrm>
            <a:off x="1668" y="685"/>
            <a:ext cx="973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635000" imgH="215900" progId="Equation.3">
                    <p:embed/>
                  </p:oleObj>
                </mc:Choice>
                <mc:Fallback>
                  <p:oleObj r:id="rId4" imgW="635000" imgH="21590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51999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68" y="685"/>
                          <a:ext cx="973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13" name="Group 36"/>
          <p:cNvGrpSpPr/>
          <p:nvPr/>
        </p:nvGrpSpPr>
        <p:grpSpPr>
          <a:xfrm>
            <a:off x="5394325" y="1063625"/>
            <a:ext cx="2662238" cy="2441575"/>
            <a:chOff x="3657" y="1861"/>
            <a:chExt cx="1677" cy="1538"/>
          </a:xfrm>
        </p:grpSpPr>
        <p:grpSp>
          <p:nvGrpSpPr>
            <p:cNvPr id="17414" name="Group 37"/>
            <p:cNvGrpSpPr/>
            <p:nvPr/>
          </p:nvGrpSpPr>
          <p:grpSpPr>
            <a:xfrm>
              <a:off x="3720" y="1861"/>
              <a:ext cx="1614" cy="1538"/>
              <a:chOff x="3941" y="2247"/>
              <a:chExt cx="1614" cy="1538"/>
            </a:xfrm>
          </p:grpSpPr>
          <p:sp>
            <p:nvSpPr>
              <p:cNvPr id="17415" name="Freeform 38"/>
              <p:cNvSpPr/>
              <p:nvPr/>
            </p:nvSpPr>
            <p:spPr>
              <a:xfrm>
                <a:off x="3941" y="2247"/>
                <a:ext cx="502" cy="1004"/>
              </a:xfrm>
              <a:custGeom>
                <a:avLst/>
                <a:gdLst/>
                <a:ahLst/>
                <a:cxnLst>
                  <a:cxn ang="0">
                    <a:pos x="0" y="1004"/>
                  </a:cxn>
                  <a:cxn ang="0">
                    <a:pos x="165" y="486"/>
                  </a:cxn>
                  <a:cxn ang="0">
                    <a:pos x="502" y="0"/>
                  </a:cxn>
                </a:cxnLst>
                <a:rect l="0" t="0" r="0" b="0"/>
                <a:pathLst>
                  <a:path w="502" h="1004">
                    <a:moveTo>
                      <a:pt x="0" y="1004"/>
                    </a:moveTo>
                    <a:cubicBezTo>
                      <a:pt x="40" y="828"/>
                      <a:pt x="81" y="653"/>
                      <a:pt x="165" y="486"/>
                    </a:cubicBezTo>
                    <a:cubicBezTo>
                      <a:pt x="249" y="319"/>
                      <a:pt x="375" y="159"/>
                      <a:pt x="502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16" name="Freeform 39"/>
              <p:cNvSpPr/>
              <p:nvPr/>
            </p:nvSpPr>
            <p:spPr>
              <a:xfrm>
                <a:off x="4040" y="2312"/>
                <a:ext cx="1111" cy="1111"/>
              </a:xfrm>
              <a:custGeom>
                <a:avLst/>
                <a:gdLst/>
                <a:ahLst/>
                <a:cxnLst>
                  <a:cxn ang="0">
                    <a:pos x="0" y="1111"/>
                  </a:cxn>
                  <a:cxn ang="0">
                    <a:pos x="230" y="650"/>
                  </a:cxn>
                  <a:cxn ang="0">
                    <a:pos x="773" y="173"/>
                  </a:cxn>
                  <a:cxn ang="0">
                    <a:pos x="1111" y="0"/>
                  </a:cxn>
                </a:cxnLst>
                <a:rect l="0" t="0" r="0" b="0"/>
                <a:pathLst>
                  <a:path w="1111" h="1111">
                    <a:moveTo>
                      <a:pt x="0" y="1111"/>
                    </a:moveTo>
                    <a:cubicBezTo>
                      <a:pt x="50" y="958"/>
                      <a:pt x="101" y="806"/>
                      <a:pt x="230" y="650"/>
                    </a:cubicBezTo>
                    <a:cubicBezTo>
                      <a:pt x="359" y="494"/>
                      <a:pt x="626" y="281"/>
                      <a:pt x="773" y="173"/>
                    </a:cubicBezTo>
                    <a:cubicBezTo>
                      <a:pt x="920" y="65"/>
                      <a:pt x="1015" y="32"/>
                      <a:pt x="1111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17" name="Freeform 40"/>
              <p:cNvSpPr/>
              <p:nvPr/>
            </p:nvSpPr>
            <p:spPr>
              <a:xfrm>
                <a:off x="4238" y="2641"/>
                <a:ext cx="1259" cy="988"/>
              </a:xfrm>
              <a:custGeom>
                <a:avLst/>
                <a:gdLst/>
                <a:ahLst/>
                <a:cxnLst>
                  <a:cxn ang="0">
                    <a:pos x="0" y="988"/>
                  </a:cxn>
                  <a:cxn ang="0">
                    <a:pos x="214" y="585"/>
                  </a:cxn>
                  <a:cxn ang="0">
                    <a:pos x="617" y="247"/>
                  </a:cxn>
                  <a:cxn ang="0">
                    <a:pos x="1259" y="0"/>
                  </a:cxn>
                </a:cxnLst>
                <a:rect l="0" t="0" r="0" b="0"/>
                <a:pathLst>
                  <a:path w="1259" h="988">
                    <a:moveTo>
                      <a:pt x="0" y="988"/>
                    </a:moveTo>
                    <a:cubicBezTo>
                      <a:pt x="55" y="848"/>
                      <a:pt x="111" y="708"/>
                      <a:pt x="214" y="585"/>
                    </a:cubicBezTo>
                    <a:cubicBezTo>
                      <a:pt x="317" y="462"/>
                      <a:pt x="443" y="345"/>
                      <a:pt x="617" y="247"/>
                    </a:cubicBezTo>
                    <a:cubicBezTo>
                      <a:pt x="791" y="149"/>
                      <a:pt x="1152" y="43"/>
                      <a:pt x="1259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18" name="Freeform 41"/>
              <p:cNvSpPr/>
              <p:nvPr/>
            </p:nvSpPr>
            <p:spPr>
              <a:xfrm>
                <a:off x="4444" y="3078"/>
                <a:ext cx="1111" cy="707"/>
              </a:xfrm>
              <a:custGeom>
                <a:avLst/>
                <a:gdLst/>
                <a:ahLst/>
                <a:cxnLst>
                  <a:cxn ang="0">
                    <a:pos x="0" y="707"/>
                  </a:cxn>
                  <a:cxn ang="0">
                    <a:pos x="411" y="271"/>
                  </a:cxn>
                  <a:cxn ang="0">
                    <a:pos x="1111" y="0"/>
                  </a:cxn>
                </a:cxnLst>
                <a:rect l="0" t="0" r="0" b="0"/>
                <a:pathLst>
                  <a:path w="1111" h="707">
                    <a:moveTo>
                      <a:pt x="0" y="707"/>
                    </a:moveTo>
                    <a:cubicBezTo>
                      <a:pt x="113" y="548"/>
                      <a:pt x="226" y="389"/>
                      <a:pt x="411" y="271"/>
                    </a:cubicBezTo>
                    <a:cubicBezTo>
                      <a:pt x="596" y="153"/>
                      <a:pt x="853" y="76"/>
                      <a:pt x="1111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19" name="Oval 42"/>
            <p:cNvSpPr/>
            <p:nvPr/>
          </p:nvSpPr>
          <p:spPr>
            <a:xfrm>
              <a:off x="3961" y="2585"/>
              <a:ext cx="85" cy="8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420" name="Group 43"/>
            <p:cNvGrpSpPr/>
            <p:nvPr/>
          </p:nvGrpSpPr>
          <p:grpSpPr>
            <a:xfrm>
              <a:off x="3910" y="2333"/>
              <a:ext cx="175" cy="177"/>
              <a:chOff x="4038" y="3620"/>
              <a:chExt cx="211" cy="234"/>
            </a:xfrm>
          </p:grpSpPr>
          <p:sp>
            <p:nvSpPr>
              <p:cNvPr id="17421" name="WordArt 44"/>
              <p:cNvSpPr>
                <a:spLocks noTextEdit="1"/>
              </p:cNvSpPr>
              <p:nvPr/>
            </p:nvSpPr>
            <p:spPr>
              <a:xfrm>
                <a:off x="4184" y="3727"/>
                <a:ext cx="65" cy="1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7422" name="WordArt 45"/>
              <p:cNvSpPr>
                <a:spLocks noTextEdit="1"/>
              </p:cNvSpPr>
              <p:nvPr/>
            </p:nvSpPr>
            <p:spPr>
              <a:xfrm>
                <a:off x="4038" y="3620"/>
                <a:ext cx="125" cy="1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17423" name="Freeform 46"/>
            <p:cNvSpPr/>
            <p:nvPr/>
          </p:nvSpPr>
          <p:spPr>
            <a:xfrm>
              <a:off x="4000" y="2231"/>
              <a:ext cx="1054" cy="500"/>
            </a:xfrm>
            <a:custGeom>
              <a:avLst/>
              <a:gdLst/>
              <a:ahLst/>
              <a:cxnLst>
                <a:cxn ang="0">
                  <a:pos x="0" y="394"/>
                </a:cxn>
                <a:cxn ang="0">
                  <a:pos x="26" y="485"/>
                </a:cxn>
                <a:cxn ang="0">
                  <a:pos x="48" y="485"/>
                </a:cxn>
                <a:cxn ang="0">
                  <a:pos x="76" y="411"/>
                </a:cxn>
                <a:cxn ang="0">
                  <a:pos x="101" y="230"/>
                </a:cxn>
                <a:cxn ang="0">
                  <a:pos x="130" y="57"/>
                </a:cxn>
                <a:cxn ang="0">
                  <a:pos x="171" y="7"/>
                </a:cxn>
                <a:cxn ang="0">
                  <a:pos x="216" y="98"/>
                </a:cxn>
              </a:cxnLst>
              <a:rect l="0" t="0" r="0" b="0"/>
              <a:pathLst>
                <a:path w="1235" h="500">
                  <a:moveTo>
                    <a:pt x="0" y="394"/>
                  </a:moveTo>
                  <a:cubicBezTo>
                    <a:pt x="52" y="432"/>
                    <a:pt x="104" y="470"/>
                    <a:pt x="149" y="485"/>
                  </a:cubicBezTo>
                  <a:cubicBezTo>
                    <a:pt x="194" y="500"/>
                    <a:pt x="224" y="497"/>
                    <a:pt x="272" y="485"/>
                  </a:cubicBezTo>
                  <a:cubicBezTo>
                    <a:pt x="320" y="473"/>
                    <a:pt x="386" y="453"/>
                    <a:pt x="437" y="411"/>
                  </a:cubicBezTo>
                  <a:cubicBezTo>
                    <a:pt x="488" y="369"/>
                    <a:pt x="525" y="289"/>
                    <a:pt x="576" y="230"/>
                  </a:cubicBezTo>
                  <a:cubicBezTo>
                    <a:pt x="627" y="171"/>
                    <a:pt x="675" y="94"/>
                    <a:pt x="741" y="57"/>
                  </a:cubicBezTo>
                  <a:cubicBezTo>
                    <a:pt x="807" y="20"/>
                    <a:pt x="889" y="0"/>
                    <a:pt x="971" y="7"/>
                  </a:cubicBezTo>
                  <a:cubicBezTo>
                    <a:pt x="1053" y="14"/>
                    <a:pt x="1144" y="56"/>
                    <a:pt x="1235" y="9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WordArt 47"/>
            <p:cNvSpPr>
              <a:spLocks noTextEdit="1"/>
            </p:cNvSpPr>
            <p:nvPr/>
          </p:nvSpPr>
          <p:spPr>
            <a:xfrm>
              <a:off x="4710" y="2064"/>
              <a:ext cx="429" cy="1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任意路径</a:t>
              </a:r>
            </a:p>
          </p:txBody>
        </p:sp>
        <p:sp>
          <p:nvSpPr>
            <p:cNvPr id="17425" name="Line 48"/>
            <p:cNvSpPr/>
            <p:nvPr/>
          </p:nvSpPr>
          <p:spPr>
            <a:xfrm flipV="1">
              <a:off x="4518" y="2304"/>
              <a:ext cx="107" cy="11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26" name="Oval 49"/>
            <p:cNvSpPr/>
            <p:nvPr/>
          </p:nvSpPr>
          <p:spPr>
            <a:xfrm>
              <a:off x="5004" y="2312"/>
              <a:ext cx="85" cy="85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7" name="WordArt 50"/>
            <p:cNvSpPr>
              <a:spLocks noTextEdit="1"/>
            </p:cNvSpPr>
            <p:nvPr/>
          </p:nvSpPr>
          <p:spPr>
            <a:xfrm>
              <a:off x="3965" y="2708"/>
              <a:ext cx="78" cy="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428" name="WordArt 51"/>
            <p:cNvSpPr>
              <a:spLocks noTextEdit="1"/>
            </p:cNvSpPr>
            <p:nvPr/>
          </p:nvSpPr>
          <p:spPr>
            <a:xfrm>
              <a:off x="5064" y="2426"/>
              <a:ext cx="75" cy="1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17429" name="Group 52"/>
            <p:cNvGrpSpPr/>
            <p:nvPr/>
          </p:nvGrpSpPr>
          <p:grpSpPr>
            <a:xfrm>
              <a:off x="4619" y="2623"/>
              <a:ext cx="243" cy="210"/>
              <a:chOff x="2102" y="3012"/>
              <a:chExt cx="267" cy="243"/>
            </a:xfrm>
          </p:grpSpPr>
          <p:sp>
            <p:nvSpPr>
              <p:cNvPr id="17430" name="WordArt 53"/>
              <p:cNvSpPr>
                <a:spLocks noTextEdit="1"/>
              </p:cNvSpPr>
              <p:nvPr/>
            </p:nvSpPr>
            <p:spPr>
              <a:xfrm>
                <a:off x="2102" y="3076"/>
                <a:ext cx="212" cy="17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17431" name="Line 54"/>
              <p:cNvSpPr/>
              <p:nvPr/>
            </p:nvSpPr>
            <p:spPr>
              <a:xfrm>
                <a:off x="2145" y="3012"/>
                <a:ext cx="22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</p:grpSp>
        <p:grpSp>
          <p:nvGrpSpPr>
            <p:cNvPr id="17432" name="Group 55"/>
            <p:cNvGrpSpPr/>
            <p:nvPr/>
          </p:nvGrpSpPr>
          <p:grpSpPr>
            <a:xfrm>
              <a:off x="3657" y="2091"/>
              <a:ext cx="489" cy="201"/>
              <a:chOff x="3819" y="2427"/>
              <a:chExt cx="489" cy="201"/>
            </a:xfrm>
          </p:grpSpPr>
          <p:sp>
            <p:nvSpPr>
              <p:cNvPr id="17433" name="Rectangle 56"/>
              <p:cNvSpPr/>
              <p:nvPr/>
            </p:nvSpPr>
            <p:spPr>
              <a:xfrm>
                <a:off x="3819" y="2427"/>
                <a:ext cx="489" cy="201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34" name="WordArt 57"/>
              <p:cNvSpPr>
                <a:spLocks noTextEdit="1"/>
              </p:cNvSpPr>
              <p:nvPr/>
            </p:nvSpPr>
            <p:spPr>
              <a:xfrm>
                <a:off x="3838" y="2456"/>
                <a:ext cx="429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31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试验电荷</a:t>
                </a:r>
              </a:p>
            </p:txBody>
          </p:sp>
        </p:grpSp>
      </p:grpSp>
      <p:sp>
        <p:nvSpPr>
          <p:cNvPr id="17435" name="Text Box 4"/>
          <p:cNvSpPr txBox="1"/>
          <p:nvPr/>
        </p:nvSpPr>
        <p:spPr>
          <a:xfrm>
            <a:off x="419100" y="1228725"/>
            <a:ext cx="6842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</a:p>
        </p:txBody>
      </p:sp>
      <p:graphicFrame>
        <p:nvGraphicFramePr>
          <p:cNvPr id="122888" name="Object 8"/>
          <p:cNvGraphicFramePr>
            <a:graphicFrameLocks noChangeAspect="1"/>
          </p:cNvGraphicFramePr>
          <p:nvPr/>
        </p:nvGraphicFramePr>
        <p:xfrm>
          <a:off x="1116013" y="2090738"/>
          <a:ext cx="265588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71600" imgH="330200" progId="Equation.DSMT4">
                  <p:embed/>
                </p:oleObj>
              </mc:Choice>
              <mc:Fallback>
                <p:oleObj r:id="rId6" imgW="1371600" imgH="3302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6013" y="2090738"/>
                        <a:ext cx="2655887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7"/>
          <p:cNvGrpSpPr/>
          <p:nvPr/>
        </p:nvGrpSpPr>
        <p:grpSpPr>
          <a:xfrm>
            <a:off x="395288" y="3644900"/>
            <a:ext cx="7773987" cy="865188"/>
            <a:chOff x="215" y="1036"/>
            <a:chExt cx="4897" cy="545"/>
          </a:xfrm>
        </p:grpSpPr>
        <p:sp>
          <p:nvSpPr>
            <p:cNvPr id="17438" name="Text Box 10"/>
            <p:cNvSpPr txBox="1"/>
            <p:nvPr/>
          </p:nvSpPr>
          <p:spPr>
            <a:xfrm>
              <a:off x="215" y="1058"/>
              <a:ext cx="4897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试验电荷   在电场中某点的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电势能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，在数值上等于把它从该点移到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零势能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处静电场力所作的功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17439" name="Object 11"/>
            <p:cNvGraphicFramePr>
              <a:graphicFrameLocks noChangeAspect="1"/>
            </p:cNvGraphicFramePr>
            <p:nvPr/>
          </p:nvGraphicFramePr>
          <p:xfrm>
            <a:off x="1402" y="1036"/>
            <a:ext cx="19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41300" imgH="330200" progId="Equation.3">
                    <p:embed/>
                  </p:oleObj>
                </mc:Choice>
                <mc:Fallback>
                  <p:oleObj r:id="rId8" imgW="241300" imgH="330200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402" y="1036"/>
                          <a:ext cx="198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02" name="Rectangle 22"/>
          <p:cNvSpPr/>
          <p:nvPr/>
        </p:nvSpPr>
        <p:spPr>
          <a:xfrm>
            <a:off x="363538" y="4725988"/>
            <a:ext cx="8335962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零势能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的选择原则：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当</a:t>
            </a:r>
            <a:r>
              <a:rPr lang="en-US" altLang="zh-CN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源</a:t>
            </a:r>
            <a:r>
              <a:rPr lang="en-US" altLang="zh-CN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电荷分布在有限范围内时，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零势能</a:t>
            </a: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一般选在无穷远。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17410" name="组合 1"/>
          <p:cNvGrpSpPr/>
          <p:nvPr/>
        </p:nvGrpSpPr>
        <p:grpSpPr>
          <a:xfrm>
            <a:off x="155575" y="836613"/>
            <a:ext cx="8853488" cy="3390900"/>
            <a:chOff x="246" y="1318"/>
            <a:chExt cx="13940" cy="5338"/>
          </a:xfrm>
        </p:grpSpPr>
        <p:graphicFrame>
          <p:nvGraphicFramePr>
            <p:cNvPr id="18435" name="Object 6"/>
            <p:cNvGraphicFramePr>
              <a:graphicFrameLocks noChangeAspect="1"/>
            </p:cNvGraphicFramePr>
            <p:nvPr/>
          </p:nvGraphicFramePr>
          <p:xfrm>
            <a:off x="2776" y="1318"/>
            <a:ext cx="2490" cy="1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47700" imgH="469900" progId="Equation.DSMT4">
                    <p:embed/>
                  </p:oleObj>
                </mc:Choice>
                <mc:Fallback>
                  <p:oleObj r:id="rId2" imgW="647700" imgH="4699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76" y="1318"/>
                          <a:ext cx="2490" cy="15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6" name="Rectangle 29"/>
            <p:cNvSpPr/>
            <p:nvPr/>
          </p:nvSpPr>
          <p:spPr>
            <a:xfrm>
              <a:off x="246" y="1658"/>
              <a:ext cx="236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7</a:t>
              </a:r>
              <a:r>
                <a:rPr lang="zh-CN" altLang="en-US" sz="2400" b="1" dirty="0">
                  <a:solidFill>
                    <a:srgbClr val="0000CC"/>
                  </a:solidFill>
                  <a:latin typeface="楷体_GB2312" pitchFamily="49" charset="-122"/>
                  <a:ea typeface="楷体_GB2312" pitchFamily="49" charset="-122"/>
                </a:rPr>
                <a:t>、电势 </a:t>
              </a:r>
            </a:p>
          </p:txBody>
        </p:sp>
        <p:sp>
          <p:nvSpPr>
            <p:cNvPr id="18437" name="Rectangle 32"/>
            <p:cNvSpPr/>
            <p:nvPr/>
          </p:nvSpPr>
          <p:spPr>
            <a:xfrm>
              <a:off x="283" y="5174"/>
              <a:ext cx="13320" cy="14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电场中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点的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电势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，在数值上等于把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单位正电荷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从点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移到零电势位置时，静电场力所作的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功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sp>
          <p:nvSpPr>
            <p:cNvPr id="18438" name="Rectangle 36"/>
            <p:cNvSpPr/>
            <p:nvPr/>
          </p:nvSpPr>
          <p:spPr>
            <a:xfrm>
              <a:off x="5499" y="1431"/>
              <a:ext cx="8687" cy="147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15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电场中某点的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电势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在数值上等于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单位正电荷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在该点具有的电势能。</a:t>
              </a:r>
            </a:p>
          </p:txBody>
        </p:sp>
        <p:graphicFrame>
          <p:nvGraphicFramePr>
            <p:cNvPr id="18439" name="Object 6"/>
            <p:cNvGraphicFramePr>
              <a:graphicFrameLocks noChangeAspect="1"/>
            </p:cNvGraphicFramePr>
            <p:nvPr/>
          </p:nvGraphicFramePr>
          <p:xfrm>
            <a:off x="1417" y="3131"/>
            <a:ext cx="9105" cy="1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997200" imgH="571500" progId="Equation.DSMT4">
                    <p:embed/>
                  </p:oleObj>
                </mc:Choice>
                <mc:Fallback>
                  <p:oleObj r:id="rId4" imgW="2997200" imgH="5715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417" y="3131"/>
                          <a:ext cx="9105" cy="18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5108" name="Rectangle 4"/>
          <p:cNvSpPr/>
          <p:nvPr/>
        </p:nvSpPr>
        <p:spPr>
          <a:xfrm>
            <a:off x="201613" y="4308475"/>
            <a:ext cx="1879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、电势差 </a:t>
            </a:r>
          </a:p>
        </p:txBody>
      </p:sp>
      <p:sp>
        <p:nvSpPr>
          <p:cNvPr id="175119" name="Rectangle 15"/>
          <p:cNvSpPr/>
          <p:nvPr/>
        </p:nvSpPr>
        <p:spPr>
          <a:xfrm>
            <a:off x="366713" y="5049838"/>
            <a:ext cx="8408987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电势差：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A, 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两点的电势差是从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点到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点移动单位正电荷时电场力所作的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功</a:t>
            </a:r>
          </a:p>
        </p:txBody>
      </p:sp>
      <p:graphicFrame>
        <p:nvGraphicFramePr>
          <p:cNvPr id="175120" name="Object 16"/>
          <p:cNvGraphicFramePr>
            <a:graphicFrameLocks noChangeAspect="1"/>
          </p:cNvGraphicFramePr>
          <p:nvPr/>
        </p:nvGraphicFramePr>
        <p:xfrm>
          <a:off x="1763713" y="4276725"/>
          <a:ext cx="44196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95600" imgH="457200" progId="Equation.DSMT4">
                  <p:embed/>
                </p:oleObj>
              </mc:Choice>
              <mc:Fallback>
                <p:oleObj r:id="rId6" imgW="2895600" imgH="4572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63713" y="4276725"/>
                        <a:ext cx="4419600" cy="77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4" name="Text Box 16"/>
          <p:cNvSpPr txBox="1"/>
          <p:nvPr/>
        </p:nvSpPr>
        <p:spPr>
          <a:xfrm>
            <a:off x="250825" y="6092825"/>
            <a:ext cx="6858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b="1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0" name="Object 26"/>
          <p:cNvGraphicFramePr>
            <a:graphicFrameLocks noChangeAspect="1"/>
          </p:cNvGraphicFramePr>
          <p:nvPr/>
        </p:nvGraphicFramePr>
        <p:xfrm>
          <a:off x="1331913" y="5929313"/>
          <a:ext cx="577215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314700" imgH="393700" progId="Equation.DSMT4">
                  <p:embed/>
                </p:oleObj>
              </mc:Choice>
              <mc:Fallback>
                <p:oleObj r:id="rId8" imgW="3314700" imgH="3937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62000"/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929313"/>
                        <a:ext cx="5772150" cy="763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8" grpId="0"/>
      <p:bldP spid="175119" grpId="0"/>
      <p:bldP spid="194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04811" name="Text Box 11"/>
          <p:cNvSpPr txBox="1"/>
          <p:nvPr/>
        </p:nvSpPr>
        <p:spPr>
          <a:xfrm>
            <a:off x="179388" y="1125538"/>
            <a:ext cx="2946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10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点电荷的电势</a:t>
            </a:r>
          </a:p>
        </p:txBody>
      </p:sp>
      <p:graphicFrame>
        <p:nvGraphicFramePr>
          <p:cNvPr id="204845" name="Object 45"/>
          <p:cNvGraphicFramePr>
            <a:graphicFrameLocks noChangeAspect="1"/>
          </p:cNvGraphicFramePr>
          <p:nvPr/>
        </p:nvGraphicFramePr>
        <p:xfrm>
          <a:off x="3419475" y="909638"/>
          <a:ext cx="16446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23900" imgH="431800" progId="Equation.3">
                  <p:embed/>
                </p:oleObj>
              </mc:Choice>
              <mc:Fallback>
                <p:oleObj r:id="rId2" imgW="723900" imgH="4318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19475" y="909638"/>
                        <a:ext cx="1644650" cy="97948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8" name="Text Box 48"/>
          <p:cNvSpPr txBox="1"/>
          <p:nvPr/>
        </p:nvSpPr>
        <p:spPr>
          <a:xfrm>
            <a:off x="5580063" y="1125538"/>
            <a:ext cx="32781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取无穷远处为电势零点</a:t>
            </a:r>
          </a:p>
        </p:txBody>
      </p:sp>
      <p:sp>
        <p:nvSpPr>
          <p:cNvPr id="18437" name="Text Box 11"/>
          <p:cNvSpPr txBox="1"/>
          <p:nvPr/>
        </p:nvSpPr>
        <p:spPr>
          <a:xfrm>
            <a:off x="179388" y="2133600"/>
            <a:ext cx="324008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11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电势的叠加原理</a:t>
            </a:r>
          </a:p>
        </p:txBody>
      </p:sp>
      <p:graphicFrame>
        <p:nvGraphicFramePr>
          <p:cNvPr id="128014" name="Object 14"/>
          <p:cNvGraphicFramePr>
            <a:graphicFrameLocks noChangeAspect="1"/>
          </p:cNvGraphicFramePr>
          <p:nvPr/>
        </p:nvGraphicFramePr>
        <p:xfrm>
          <a:off x="2555875" y="2592388"/>
          <a:ext cx="208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05865" imgH="546100" progId="Equation.3">
                  <p:embed/>
                </p:oleObj>
              </mc:Choice>
              <mc:Fallback>
                <p:oleObj r:id="rId4" imgW="1205865" imgH="5461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5875" y="2592388"/>
                        <a:ext cx="2082800" cy="93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75" name="Object 75"/>
          <p:cNvGraphicFramePr>
            <a:graphicFrameLocks noChangeAspect="1"/>
          </p:cNvGraphicFramePr>
          <p:nvPr/>
        </p:nvGraphicFramePr>
        <p:xfrm>
          <a:off x="1835150" y="3573463"/>
          <a:ext cx="339883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93800" imgH="228600" progId="Equation.3">
                  <p:embed/>
                </p:oleObj>
              </mc:Choice>
              <mc:Fallback>
                <p:oleObj r:id="rId6" imgW="1193800" imgH="2286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5150" y="3573463"/>
                        <a:ext cx="3398838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40" name="Group 94"/>
          <p:cNvGrpSpPr/>
          <p:nvPr/>
        </p:nvGrpSpPr>
        <p:grpSpPr>
          <a:xfrm>
            <a:off x="6299200" y="2109788"/>
            <a:ext cx="2128838" cy="2197100"/>
            <a:chOff x="4019" y="167"/>
            <a:chExt cx="1341" cy="1384"/>
          </a:xfrm>
        </p:grpSpPr>
        <p:graphicFrame>
          <p:nvGraphicFramePr>
            <p:cNvPr id="19465" name="Object 80"/>
            <p:cNvGraphicFramePr>
              <a:graphicFrameLocks noChangeAspect="1"/>
            </p:cNvGraphicFramePr>
            <p:nvPr/>
          </p:nvGraphicFramePr>
          <p:xfrm>
            <a:off x="4090" y="167"/>
            <a:ext cx="30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52400" imgH="215900" progId="Equation.3">
                    <p:embed/>
                  </p:oleObj>
                </mc:Choice>
                <mc:Fallback>
                  <p:oleObj r:id="rId8" imgW="152400" imgH="2159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90" y="167"/>
                          <a:ext cx="304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81"/>
            <p:cNvGraphicFramePr>
              <a:graphicFrameLocks noChangeAspect="1"/>
            </p:cNvGraphicFramePr>
            <p:nvPr/>
          </p:nvGraphicFramePr>
          <p:xfrm>
            <a:off x="4019" y="771"/>
            <a:ext cx="355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77800" imgH="215900" progId="Equation.3">
                    <p:embed/>
                  </p:oleObj>
                </mc:Choice>
                <mc:Fallback>
                  <p:oleObj r:id="rId10" imgW="177800" imgH="2159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019" y="771"/>
                          <a:ext cx="355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82"/>
            <p:cNvGraphicFramePr>
              <a:graphicFrameLocks noChangeAspect="1"/>
            </p:cNvGraphicFramePr>
            <p:nvPr/>
          </p:nvGraphicFramePr>
          <p:xfrm>
            <a:off x="4632" y="1090"/>
            <a:ext cx="330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65100" imgH="228600" progId="Equation.3">
                    <p:embed/>
                  </p:oleObj>
                </mc:Choice>
                <mc:Fallback>
                  <p:oleObj r:id="rId12" imgW="165100" imgH="228600" progId="Equation.3">
                    <p:embed/>
                    <p:pic>
                      <p:nvPicPr>
                        <p:cNvPr id="0" name="图片 3201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32" y="1090"/>
                          <a:ext cx="330" cy="4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83"/>
            <p:cNvGraphicFramePr>
              <a:graphicFrameLocks noChangeAspect="1"/>
            </p:cNvGraphicFramePr>
            <p:nvPr/>
          </p:nvGraphicFramePr>
          <p:xfrm>
            <a:off x="4331" y="907"/>
            <a:ext cx="140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81000" imgH="390525" progId="MS_ClipArt_Gallery.2">
                    <p:embed/>
                  </p:oleObj>
                </mc:Choice>
                <mc:Fallback>
                  <p:oleObj r:id="rId14" imgW="381000" imgH="390525" progId="MS_ClipArt_Gallery.2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331" y="907"/>
                          <a:ext cx="140" cy="1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84"/>
            <p:cNvGraphicFramePr>
              <a:graphicFrameLocks noChangeAspect="1"/>
            </p:cNvGraphicFramePr>
            <p:nvPr/>
          </p:nvGraphicFramePr>
          <p:xfrm>
            <a:off x="4423" y="331"/>
            <a:ext cx="132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81000" imgH="390525" progId="MS_ClipArt_Gallery.5">
                    <p:embed/>
                  </p:oleObj>
                </mc:Choice>
                <mc:Fallback>
                  <p:oleObj r:id="rId16" imgW="381000" imgH="390525" progId="MS_ClipArt_Gallery.5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23" y="331"/>
                          <a:ext cx="132" cy="1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470" name="Picture 85" descr="BD14866_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989" y="1305"/>
              <a:ext cx="150" cy="1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9471" name="Oval 89"/>
            <p:cNvSpPr/>
            <p:nvPr/>
          </p:nvSpPr>
          <p:spPr>
            <a:xfrm>
              <a:off x="5278" y="583"/>
              <a:ext cx="82" cy="74"/>
            </a:xfrm>
            <a:prstGeom prst="ellipse">
              <a:avLst/>
            </a:prstGeom>
            <a:solidFill>
              <a:srgbClr val="ED392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9472" name="Object 92"/>
            <p:cNvGraphicFramePr>
              <a:graphicFrameLocks noChangeAspect="1"/>
            </p:cNvGraphicFramePr>
            <p:nvPr/>
          </p:nvGraphicFramePr>
          <p:xfrm>
            <a:off x="5092" y="376"/>
            <a:ext cx="216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52400" imgH="165100" progId="Equation.3">
                    <p:embed/>
                  </p:oleObj>
                </mc:Choice>
                <mc:Fallback>
                  <p:oleObj r:id="rId19" imgW="152400" imgH="1651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92" y="376"/>
                          <a:ext cx="216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8096" name="Text Box 96"/>
          <p:cNvSpPr txBox="1"/>
          <p:nvPr/>
        </p:nvSpPr>
        <p:spPr>
          <a:xfrm>
            <a:off x="1092200" y="2838450"/>
            <a:ext cx="14144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点电势</a:t>
            </a:r>
          </a:p>
        </p:txBody>
      </p:sp>
      <p:grpSp>
        <p:nvGrpSpPr>
          <p:cNvPr id="2" name="Group 43"/>
          <p:cNvGrpSpPr/>
          <p:nvPr/>
        </p:nvGrpSpPr>
        <p:grpSpPr>
          <a:xfrm>
            <a:off x="4889500" y="4333875"/>
            <a:ext cx="1835150" cy="2233613"/>
            <a:chOff x="249" y="2115"/>
            <a:chExt cx="1156" cy="1407"/>
          </a:xfrm>
        </p:grpSpPr>
        <p:grpSp>
          <p:nvGrpSpPr>
            <p:cNvPr id="19475" name="Group 8"/>
            <p:cNvGrpSpPr/>
            <p:nvPr/>
          </p:nvGrpSpPr>
          <p:grpSpPr>
            <a:xfrm>
              <a:off x="249" y="2115"/>
              <a:ext cx="960" cy="1260"/>
              <a:chOff x="4896" y="2640"/>
              <a:chExt cx="960" cy="1260"/>
            </a:xfrm>
          </p:grpSpPr>
          <p:sp>
            <p:nvSpPr>
              <p:cNvPr id="19476" name="Freeform 9"/>
              <p:cNvSpPr/>
              <p:nvPr/>
            </p:nvSpPr>
            <p:spPr>
              <a:xfrm>
                <a:off x="4896" y="2640"/>
                <a:ext cx="960" cy="1260"/>
              </a:xfrm>
              <a:custGeom>
                <a:avLst/>
                <a:gdLst/>
                <a:ahLst/>
                <a:cxnLst>
                  <a:cxn ang="0">
                    <a:pos x="2428" y="134"/>
                  </a:cxn>
                  <a:cxn ang="0">
                    <a:pos x="382" y="403"/>
                  </a:cxn>
                  <a:cxn ang="0">
                    <a:pos x="119" y="845"/>
                  </a:cxn>
                  <a:cxn ang="0">
                    <a:pos x="835" y="1076"/>
                  </a:cxn>
                  <a:cxn ang="0">
                    <a:pos x="4094" y="1241"/>
                  </a:cxn>
                  <a:cxn ang="0">
                    <a:pos x="6482" y="1189"/>
                  </a:cxn>
                  <a:cxn ang="0">
                    <a:pos x="7458" y="1039"/>
                  </a:cxn>
                  <a:cxn ang="0">
                    <a:pos x="6749" y="770"/>
                  </a:cxn>
                  <a:cxn ang="0">
                    <a:pos x="6918" y="523"/>
                  </a:cxn>
                  <a:cxn ang="0">
                    <a:pos x="8511" y="306"/>
                  </a:cxn>
                  <a:cxn ang="0">
                    <a:pos x="8511" y="89"/>
                  </a:cxn>
                  <a:cxn ang="0">
                    <a:pos x="5244" y="7"/>
                  </a:cxn>
                  <a:cxn ang="0">
                    <a:pos x="2428" y="134"/>
                  </a:cxn>
                </a:cxnLst>
                <a:rect l="0" t="0" r="0" b="0"/>
                <a:pathLst>
                  <a:path w="767" h="1260">
                    <a:moveTo>
                      <a:pt x="205" y="134"/>
                    </a:moveTo>
                    <a:cubicBezTo>
                      <a:pt x="137" y="200"/>
                      <a:pt x="66" y="284"/>
                      <a:pt x="33" y="403"/>
                    </a:cubicBezTo>
                    <a:cubicBezTo>
                      <a:pt x="0" y="522"/>
                      <a:pt x="4" y="733"/>
                      <a:pt x="10" y="845"/>
                    </a:cubicBezTo>
                    <a:cubicBezTo>
                      <a:pt x="16" y="957"/>
                      <a:pt x="14" y="1010"/>
                      <a:pt x="70" y="1076"/>
                    </a:cubicBezTo>
                    <a:cubicBezTo>
                      <a:pt x="126" y="1142"/>
                      <a:pt x="267" y="1222"/>
                      <a:pt x="347" y="1241"/>
                    </a:cubicBezTo>
                    <a:cubicBezTo>
                      <a:pt x="427" y="1260"/>
                      <a:pt x="502" y="1223"/>
                      <a:pt x="549" y="1189"/>
                    </a:cubicBezTo>
                    <a:cubicBezTo>
                      <a:pt x="596" y="1155"/>
                      <a:pt x="627" y="1109"/>
                      <a:pt x="631" y="1039"/>
                    </a:cubicBezTo>
                    <a:cubicBezTo>
                      <a:pt x="635" y="969"/>
                      <a:pt x="578" y="856"/>
                      <a:pt x="571" y="770"/>
                    </a:cubicBezTo>
                    <a:cubicBezTo>
                      <a:pt x="564" y="684"/>
                      <a:pt x="561" y="600"/>
                      <a:pt x="586" y="523"/>
                    </a:cubicBezTo>
                    <a:cubicBezTo>
                      <a:pt x="611" y="446"/>
                      <a:pt x="699" y="378"/>
                      <a:pt x="721" y="306"/>
                    </a:cubicBezTo>
                    <a:cubicBezTo>
                      <a:pt x="743" y="234"/>
                      <a:pt x="767" y="139"/>
                      <a:pt x="721" y="89"/>
                    </a:cubicBezTo>
                    <a:cubicBezTo>
                      <a:pt x="675" y="39"/>
                      <a:pt x="530" y="0"/>
                      <a:pt x="444" y="7"/>
                    </a:cubicBezTo>
                    <a:cubicBezTo>
                      <a:pt x="358" y="14"/>
                      <a:pt x="273" y="68"/>
                      <a:pt x="205" y="13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rgbClr val="CCECFF"/>
                  </a:gs>
                </a:gsLst>
                <a:path path="rect">
                  <a:fillToRect l="50000" t="50000" r="50000" b="50000"/>
                </a:path>
                <a:tileRect/>
              </a:gradFill>
              <a:ln w="19050" cap="flat" cmpd="sng">
                <a:solidFill>
                  <a:srgbClr val="3366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477" name="Group 10"/>
              <p:cNvGrpSpPr/>
              <p:nvPr/>
            </p:nvGrpSpPr>
            <p:grpSpPr>
              <a:xfrm>
                <a:off x="4896" y="2640"/>
                <a:ext cx="912" cy="1248"/>
                <a:chOff x="4896" y="2640"/>
                <a:chExt cx="912" cy="1248"/>
              </a:xfrm>
            </p:grpSpPr>
            <p:graphicFrame>
              <p:nvGraphicFramePr>
                <p:cNvPr id="19478" name="Object 11"/>
                <p:cNvGraphicFramePr>
                  <a:graphicFrameLocks noChangeAspect="1"/>
                </p:cNvGraphicFramePr>
                <p:nvPr/>
              </p:nvGraphicFramePr>
              <p:xfrm>
                <a:off x="5088" y="2736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1" imgW="114300" imgH="114300" progId="Equation.3">
                        <p:embed/>
                      </p:oleObj>
                    </mc:Choice>
                    <mc:Fallback>
                      <p:oleObj r:id="rId21" imgW="114300" imgH="114300" progId="Equation.3">
                        <p:embed/>
                        <p:pic>
                          <p:nvPicPr>
                            <p:cNvPr id="0" name="图片 3181"/>
                            <p:cNvPicPr/>
                            <p:nvPr/>
                          </p:nvPicPr>
                          <p:blipFill>
                            <a:blip r:embed="rId22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88" y="2736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79" name="Object 12"/>
                <p:cNvGraphicFramePr>
                  <a:graphicFrameLocks noChangeAspect="1"/>
                </p:cNvGraphicFramePr>
                <p:nvPr/>
              </p:nvGraphicFramePr>
              <p:xfrm>
                <a:off x="4992" y="2928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85"/>
                            <p:cNvPicPr/>
                            <p:nvPr/>
                          </p:nvPicPr>
                          <p:blipFill>
                            <a:blip r:embed="rId24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92" y="2928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0" name="Object 13"/>
                <p:cNvGraphicFramePr>
                  <a:graphicFrameLocks noChangeAspect="1"/>
                </p:cNvGraphicFramePr>
                <p:nvPr/>
              </p:nvGraphicFramePr>
              <p:xfrm>
                <a:off x="5376" y="3216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83"/>
                            <p:cNvPicPr/>
                            <p:nvPr/>
                          </p:nvPicPr>
                          <p:blipFill>
                            <a:blip r:embed="rId2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76" y="3216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1" name="Object 14"/>
                <p:cNvGraphicFramePr>
                  <a:graphicFrameLocks noChangeAspect="1"/>
                </p:cNvGraphicFramePr>
                <p:nvPr/>
              </p:nvGraphicFramePr>
              <p:xfrm>
                <a:off x="5136" y="3168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84"/>
                            <p:cNvPicPr/>
                            <p:nvPr/>
                          </p:nvPicPr>
                          <p:blipFill>
                            <a:blip r:embed="rId2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136" y="3168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2" name="Object 15"/>
                <p:cNvGraphicFramePr>
                  <a:graphicFrameLocks noChangeAspect="1"/>
                </p:cNvGraphicFramePr>
                <p:nvPr/>
              </p:nvGraphicFramePr>
              <p:xfrm>
                <a:off x="5184" y="3360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91"/>
                            <p:cNvPicPr/>
                            <p:nvPr/>
                          </p:nvPicPr>
                          <p:blipFill>
                            <a:blip r:embed="rId2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184" y="3360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3" name="Object 16"/>
                <p:cNvGraphicFramePr>
                  <a:graphicFrameLocks noChangeAspect="1"/>
                </p:cNvGraphicFramePr>
                <p:nvPr/>
              </p:nvGraphicFramePr>
              <p:xfrm>
                <a:off x="5376" y="3408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95"/>
                            <p:cNvPicPr/>
                            <p:nvPr/>
                          </p:nvPicPr>
                          <p:blipFill>
                            <a:blip r:embed="rId28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76" y="3408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4" name="Object 17"/>
                <p:cNvGraphicFramePr>
                  <a:graphicFrameLocks noChangeAspect="1"/>
                </p:cNvGraphicFramePr>
                <p:nvPr/>
              </p:nvGraphicFramePr>
              <p:xfrm>
                <a:off x="5520" y="2832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200"/>
                            <p:cNvPicPr/>
                            <p:nvPr/>
                          </p:nvPicPr>
                          <p:blipFill>
                            <a:blip r:embed="rId29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520" y="2832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5" name="Object 18"/>
                <p:cNvGraphicFramePr>
                  <a:graphicFrameLocks noChangeAspect="1"/>
                </p:cNvGraphicFramePr>
                <p:nvPr/>
              </p:nvGraphicFramePr>
              <p:xfrm>
                <a:off x="4896" y="3168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96"/>
                            <p:cNvPicPr/>
                            <p:nvPr/>
                          </p:nvPicPr>
                          <p:blipFill>
                            <a:blip r:embed="rId30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896" y="3168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6" name="Object 19"/>
                <p:cNvGraphicFramePr>
                  <a:graphicFrameLocks noChangeAspect="1"/>
                </p:cNvGraphicFramePr>
                <p:nvPr/>
              </p:nvGraphicFramePr>
              <p:xfrm>
                <a:off x="5472" y="2640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97"/>
                            <p:cNvPicPr/>
                            <p:nvPr/>
                          </p:nvPicPr>
                          <p:blipFill>
                            <a:blip r:embed="rId31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472" y="2640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7" name="Object 20"/>
                <p:cNvGraphicFramePr>
                  <a:graphicFrameLocks noChangeAspect="1"/>
                </p:cNvGraphicFramePr>
                <p:nvPr/>
              </p:nvGraphicFramePr>
              <p:xfrm>
                <a:off x="5280" y="2832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3" imgW="114300" imgH="114300" progId="Equation.3">
                        <p:embed/>
                      </p:oleObj>
                    </mc:Choice>
                    <mc:Fallback>
                      <p:oleObj r:id="rId23" imgW="114300" imgH="114300" progId="Equation.3">
                        <p:embed/>
                        <p:pic>
                          <p:nvPicPr>
                            <p:cNvPr id="0" name="图片 3198"/>
                            <p:cNvPicPr/>
                            <p:nvPr/>
                          </p:nvPicPr>
                          <p:blipFill>
                            <a:blip r:embed="rId32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80" y="2832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8" name="Object 21"/>
                <p:cNvGraphicFramePr>
                  <a:graphicFrameLocks noChangeAspect="1"/>
                </p:cNvGraphicFramePr>
                <p:nvPr/>
              </p:nvGraphicFramePr>
              <p:xfrm>
                <a:off x="5328" y="3600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3" imgW="114300" imgH="114300" progId="Equation.3">
                        <p:embed/>
                      </p:oleObj>
                    </mc:Choice>
                    <mc:Fallback>
                      <p:oleObj r:id="rId33" imgW="114300" imgH="114300" progId="Equation.3">
                        <p:embed/>
                        <p:pic>
                          <p:nvPicPr>
                            <p:cNvPr id="0" name="图片 3199"/>
                            <p:cNvPicPr/>
                            <p:nvPr/>
                          </p:nvPicPr>
                          <p:blipFill>
                            <a:blip r:embed="rId34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28" y="3600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89" name="Object 22"/>
                <p:cNvGraphicFramePr>
                  <a:graphicFrameLocks noChangeAspect="1"/>
                </p:cNvGraphicFramePr>
                <p:nvPr/>
              </p:nvGraphicFramePr>
              <p:xfrm>
                <a:off x="5136" y="3552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3" imgW="114300" imgH="114300" progId="Equation.3">
                        <p:embed/>
                      </p:oleObj>
                    </mc:Choice>
                    <mc:Fallback>
                      <p:oleObj r:id="rId33" imgW="114300" imgH="114300" progId="Equation.3">
                        <p:embed/>
                        <p:pic>
                          <p:nvPicPr>
                            <p:cNvPr id="0" name="图片 3187"/>
                            <p:cNvPicPr/>
                            <p:nvPr/>
                          </p:nvPicPr>
                          <p:blipFill>
                            <a:blip r:embed="rId3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136" y="3552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90" name="Object 23"/>
                <p:cNvGraphicFramePr>
                  <a:graphicFrameLocks noChangeAspect="1"/>
                </p:cNvGraphicFramePr>
                <p:nvPr/>
              </p:nvGraphicFramePr>
              <p:xfrm>
                <a:off x="4992" y="3408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3" imgW="114300" imgH="114300" progId="Equation.3">
                        <p:embed/>
                      </p:oleObj>
                    </mc:Choice>
                    <mc:Fallback>
                      <p:oleObj r:id="rId33" imgW="114300" imgH="114300" progId="Equation.3">
                        <p:embed/>
                        <p:pic>
                          <p:nvPicPr>
                            <p:cNvPr id="0" name="图片 3188"/>
                            <p:cNvPicPr/>
                            <p:nvPr/>
                          </p:nvPicPr>
                          <p:blipFill>
                            <a:blip r:embed="rId3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992" y="3408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91" name="Object 24"/>
                <p:cNvGraphicFramePr>
                  <a:graphicFrameLocks noChangeAspect="1"/>
                </p:cNvGraphicFramePr>
                <p:nvPr/>
              </p:nvGraphicFramePr>
              <p:xfrm>
                <a:off x="5184" y="2976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3" imgW="114300" imgH="114300" progId="Equation.3">
                        <p:embed/>
                      </p:oleObj>
                    </mc:Choice>
                    <mc:Fallback>
                      <p:oleObj r:id="rId33" imgW="114300" imgH="114300" progId="Equation.3">
                        <p:embed/>
                        <p:pic>
                          <p:nvPicPr>
                            <p:cNvPr id="0" name="图片 3207"/>
                            <p:cNvPicPr/>
                            <p:nvPr/>
                          </p:nvPicPr>
                          <p:blipFill>
                            <a:blip r:embed="rId3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184" y="2976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92" name="Object 25"/>
                <p:cNvGraphicFramePr>
                  <a:graphicFrameLocks noChangeAspect="1"/>
                </p:cNvGraphicFramePr>
                <p:nvPr/>
              </p:nvGraphicFramePr>
              <p:xfrm>
                <a:off x="5376" y="2976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8" imgW="114300" imgH="114300" progId="Equation.3">
                        <p:embed/>
                      </p:oleObj>
                    </mc:Choice>
                    <mc:Fallback>
                      <p:oleObj r:id="rId38" imgW="114300" imgH="114300" progId="Equation.3">
                        <p:embed/>
                        <p:pic>
                          <p:nvPicPr>
                            <p:cNvPr id="0" name="图片 3206"/>
                            <p:cNvPicPr/>
                            <p:nvPr/>
                          </p:nvPicPr>
                          <p:blipFill>
                            <a:blip r:embed="rId39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76" y="2976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9493" name="Object 26"/>
                <p:cNvGraphicFramePr>
                  <a:graphicFrameLocks noChangeAspect="1"/>
                </p:cNvGraphicFramePr>
                <p:nvPr/>
              </p:nvGraphicFramePr>
              <p:xfrm>
                <a:off x="5232" y="2640"/>
                <a:ext cx="2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38" imgW="114300" imgH="114300" progId="Equation.3">
                        <p:embed/>
                      </p:oleObj>
                    </mc:Choice>
                    <mc:Fallback>
                      <p:oleObj r:id="rId38" imgW="114300" imgH="114300" progId="Equation.3">
                        <p:embed/>
                        <p:pic>
                          <p:nvPicPr>
                            <p:cNvPr id="0" name="图片 3205"/>
                            <p:cNvPicPr/>
                            <p:nvPr/>
                          </p:nvPicPr>
                          <p:blipFill>
                            <a:blip r:embed="rId40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32" y="2640"/>
                              <a:ext cx="2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9494" name="Object 27"/>
            <p:cNvGraphicFramePr>
              <a:graphicFrameLocks noChangeAspect="1"/>
            </p:cNvGraphicFramePr>
            <p:nvPr/>
          </p:nvGraphicFramePr>
          <p:xfrm>
            <a:off x="1073" y="3090"/>
            <a:ext cx="33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1" imgW="127000" imgH="165100" progId="Equation.3">
                    <p:embed/>
                  </p:oleObj>
                </mc:Choice>
                <mc:Fallback>
                  <p:oleObj r:id="rId41" imgW="127000" imgH="16510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073" y="3090"/>
                          <a:ext cx="332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0"/>
          <p:cNvGrpSpPr/>
          <p:nvPr/>
        </p:nvGrpSpPr>
        <p:grpSpPr>
          <a:xfrm>
            <a:off x="5654675" y="4964113"/>
            <a:ext cx="2563813" cy="1196975"/>
            <a:chOff x="3752" y="2467"/>
            <a:chExt cx="1615" cy="754"/>
          </a:xfrm>
        </p:grpSpPr>
        <p:grpSp>
          <p:nvGrpSpPr>
            <p:cNvPr id="19496" name="Group 49"/>
            <p:cNvGrpSpPr/>
            <p:nvPr/>
          </p:nvGrpSpPr>
          <p:grpSpPr>
            <a:xfrm>
              <a:off x="3752" y="2467"/>
              <a:ext cx="1097" cy="754"/>
              <a:chOff x="3752" y="2467"/>
              <a:chExt cx="1097" cy="754"/>
            </a:xfrm>
          </p:grpSpPr>
          <p:sp>
            <p:nvSpPr>
              <p:cNvPr id="19497" name="Line 31"/>
              <p:cNvSpPr/>
              <p:nvPr/>
            </p:nvSpPr>
            <p:spPr>
              <a:xfrm>
                <a:off x="3752" y="2679"/>
                <a:ext cx="1056" cy="20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graphicFrame>
            <p:nvGraphicFramePr>
              <p:cNvPr id="19498" name="Object 32"/>
              <p:cNvGraphicFramePr>
                <a:graphicFrameLocks noChangeAspect="1"/>
              </p:cNvGraphicFramePr>
              <p:nvPr/>
            </p:nvGraphicFramePr>
            <p:xfrm>
              <a:off x="4278" y="2467"/>
              <a:ext cx="322" cy="3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3" imgW="114300" imgH="127000" progId="Equation.3">
                      <p:embed/>
                    </p:oleObj>
                  </mc:Choice>
                  <mc:Fallback>
                    <p:oleObj r:id="rId43" imgW="114300" imgH="127000" progId="Equation.3">
                      <p:embed/>
                      <p:pic>
                        <p:nvPicPr>
                          <p:cNvPr id="0" name="图片 3208"/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4278" y="2467"/>
                            <a:ext cx="322" cy="3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499" name="Group 33"/>
              <p:cNvGrpSpPr/>
              <p:nvPr/>
            </p:nvGrpSpPr>
            <p:grpSpPr>
              <a:xfrm>
                <a:off x="4472" y="2829"/>
                <a:ext cx="377" cy="392"/>
                <a:chOff x="4512" y="1845"/>
                <a:chExt cx="377" cy="392"/>
              </a:xfrm>
            </p:grpSpPr>
            <p:sp>
              <p:nvSpPr>
                <p:cNvPr id="19500" name="Oval 34"/>
                <p:cNvSpPr/>
                <p:nvPr/>
              </p:nvSpPr>
              <p:spPr>
                <a:xfrm>
                  <a:off x="4800" y="1845"/>
                  <a:ext cx="89" cy="104"/>
                </a:xfrm>
                <a:prstGeom prst="ellipse">
                  <a:avLst/>
                </a:prstGeom>
                <a:solidFill>
                  <a:srgbClr val="ED392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19501" name="Object 35"/>
                <p:cNvGraphicFramePr>
                  <a:graphicFrameLocks noChangeAspect="1"/>
                </p:cNvGraphicFramePr>
                <p:nvPr/>
              </p:nvGraphicFramePr>
              <p:xfrm>
                <a:off x="4512" y="1853"/>
                <a:ext cx="355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5" imgW="127000" imgH="139700" progId="Equation.3">
                        <p:embed/>
                      </p:oleObj>
                    </mc:Choice>
                    <mc:Fallback>
                      <p:oleObj r:id="rId45" imgW="127000" imgH="139700" progId="Equation.3">
                        <p:embed/>
                        <p:pic>
                          <p:nvPicPr>
                            <p:cNvPr id="0" name="图片 3212"/>
                            <p:cNvPicPr/>
                            <p:nvPr/>
                          </p:nvPicPr>
                          <p:blipFill>
                            <a:blip r:embed="rId4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00">
                                    <a:alpha val="0"/>
                                  </a:srgbClr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512" y="1853"/>
                              <a:ext cx="355" cy="38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19502" name="Object 42"/>
            <p:cNvGraphicFramePr>
              <a:graphicFrameLocks noChangeAspect="1"/>
            </p:cNvGraphicFramePr>
            <p:nvPr/>
          </p:nvGraphicFramePr>
          <p:xfrm>
            <a:off x="4868" y="2785"/>
            <a:ext cx="499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7" imgW="241300" imgH="177800" progId="Equation.3">
                    <p:embed/>
                  </p:oleObj>
                </mc:Choice>
                <mc:Fallback>
                  <p:oleObj r:id="rId47" imgW="241300" imgH="177800" progId="Equation.3">
                    <p:embed/>
                    <p:pic>
                      <p:nvPicPr>
                        <p:cNvPr id="0" name="图片 3211"/>
                        <p:cNvPicPr/>
                        <p:nvPr/>
                      </p:nvPicPr>
                      <p:blipFill>
                        <a:blip r:embed="rId48"/>
                        <a:stretch>
                          <a:fillRect/>
                        </a:stretch>
                      </p:blipFill>
                      <p:spPr>
                        <a:xfrm>
                          <a:off x="4868" y="2785"/>
                          <a:ext cx="499" cy="3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7200" name="Object 48"/>
          <p:cNvGraphicFramePr>
            <a:graphicFrameLocks noChangeAspect="1"/>
          </p:cNvGraphicFramePr>
          <p:nvPr/>
        </p:nvGraphicFramePr>
        <p:xfrm>
          <a:off x="1114425" y="4851400"/>
          <a:ext cx="289718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9" imgW="1244600" imgH="431800" progId="Equation.DSMT4">
                  <p:embed/>
                </p:oleObj>
              </mc:Choice>
              <mc:Fallback>
                <p:oleObj r:id="rId49" imgW="1244600" imgH="43180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114425" y="4851400"/>
                        <a:ext cx="2897188" cy="1006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504" name="Group 39"/>
          <p:cNvGrpSpPr/>
          <p:nvPr/>
        </p:nvGrpSpPr>
        <p:grpSpPr>
          <a:xfrm>
            <a:off x="5349875" y="4997450"/>
            <a:ext cx="457200" cy="457200"/>
            <a:chOff x="3581" y="1551"/>
            <a:chExt cx="288" cy="288"/>
          </a:xfrm>
        </p:grpSpPr>
        <p:sp>
          <p:nvSpPr>
            <p:cNvPr id="19505" name="Oval 40"/>
            <p:cNvSpPr/>
            <p:nvPr/>
          </p:nvSpPr>
          <p:spPr>
            <a:xfrm>
              <a:off x="3582" y="1576"/>
              <a:ext cx="240" cy="240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9506" name="Object 41"/>
            <p:cNvGraphicFramePr>
              <a:graphicFrameLocks noChangeAspect="1"/>
            </p:cNvGraphicFramePr>
            <p:nvPr/>
          </p:nvGraphicFramePr>
          <p:xfrm>
            <a:off x="3581" y="1551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1" imgW="114300" imgH="114300" progId="Equation.3">
                    <p:embed/>
                  </p:oleObj>
                </mc:Choice>
                <mc:Fallback>
                  <p:oleObj r:id="rId51" imgW="114300" imgH="114300" progId="Equation.3">
                    <p:embed/>
                    <p:pic>
                      <p:nvPicPr>
                        <p:cNvPr id="0" name="图片 3210"/>
                        <p:cNvPicPr/>
                        <p:nvPr/>
                      </p:nvPicPr>
                      <p:blipFill>
                        <a:blip r:embed="rId5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81" y="1551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507" name="对象 2"/>
          <p:cNvGraphicFramePr/>
          <p:nvPr/>
        </p:nvGraphicFramePr>
        <p:xfrm>
          <a:off x="5435600" y="4476750"/>
          <a:ext cx="46831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3" imgW="412115" imgH="365760" progId="Equation.DSMT4">
                  <p:embed/>
                </p:oleObj>
              </mc:Choice>
              <mc:Fallback>
                <p:oleObj r:id="rId53" imgW="412115" imgH="36576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5435600" y="4476750"/>
                        <a:ext cx="468313" cy="56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8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17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11" grpId="0"/>
      <p:bldP spid="204848" grpId="0"/>
      <p:bldP spid="18437" grpId="0"/>
      <p:bldP spid="18437" grpId="1"/>
      <p:bldP spid="1280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pSp>
        <p:nvGrpSpPr>
          <p:cNvPr id="19458" name="组合 2"/>
          <p:cNvGrpSpPr/>
          <p:nvPr/>
        </p:nvGrpSpPr>
        <p:grpSpPr>
          <a:xfrm>
            <a:off x="395288" y="1047750"/>
            <a:ext cx="4281487" cy="3008313"/>
            <a:chOff x="483" y="5093"/>
            <a:chExt cx="6741" cy="4737"/>
          </a:xfrm>
        </p:grpSpPr>
        <p:sp>
          <p:nvSpPr>
            <p:cNvPr id="20483" name="Rectangle 4"/>
            <p:cNvSpPr/>
            <p:nvPr/>
          </p:nvSpPr>
          <p:spPr>
            <a:xfrm>
              <a:off x="483" y="5093"/>
              <a:ext cx="6741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12</a:t>
              </a:r>
              <a:r>
                <a:rPr lang="zh-CN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、均匀带电球面的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电势分布</a:t>
              </a:r>
            </a:p>
          </p:txBody>
        </p:sp>
        <p:graphicFrame>
          <p:nvGraphicFramePr>
            <p:cNvPr id="20484" name="Object 5"/>
            <p:cNvGraphicFramePr>
              <a:graphicFrameLocks noChangeAspect="1"/>
            </p:cNvGraphicFramePr>
            <p:nvPr/>
          </p:nvGraphicFramePr>
          <p:xfrm>
            <a:off x="850" y="7498"/>
            <a:ext cx="1043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25500" imgH="419100" progId="Equation.3">
                    <p:embed/>
                  </p:oleObj>
                </mc:Choice>
                <mc:Fallback>
                  <p:oleObj r:id="rId2" imgW="825500" imgH="4191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95996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50" y="7498"/>
                          <a:ext cx="1043" cy="5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85" name="AutoShape 6"/>
            <p:cNvSpPr/>
            <p:nvPr/>
          </p:nvSpPr>
          <p:spPr>
            <a:xfrm>
              <a:off x="2098" y="6590"/>
              <a:ext cx="340" cy="2608"/>
            </a:xfrm>
            <a:prstGeom prst="leftBrace">
              <a:avLst>
                <a:gd name="adj1" fmla="val 63672"/>
                <a:gd name="adj2" fmla="val 50000"/>
              </a:avLst>
            </a:prstGeom>
            <a:noFill/>
            <a:ln w="317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86" name="Object 7"/>
            <p:cNvGraphicFramePr>
              <a:graphicFrameLocks noChangeAspect="1"/>
            </p:cNvGraphicFramePr>
            <p:nvPr/>
          </p:nvGraphicFramePr>
          <p:xfrm>
            <a:off x="2645" y="6138"/>
            <a:ext cx="4360" cy="1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358900" imgH="495300" progId="Equation.3">
                    <p:embed/>
                  </p:oleObj>
                </mc:Choice>
                <mc:Fallback>
                  <p:oleObj r:id="rId4" imgW="1358900" imgH="4953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95996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5" y="6138"/>
                          <a:ext cx="4360" cy="17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7" name="Object 8"/>
            <p:cNvGraphicFramePr>
              <a:graphicFrameLocks noChangeAspect="1"/>
            </p:cNvGraphicFramePr>
            <p:nvPr/>
          </p:nvGraphicFramePr>
          <p:xfrm>
            <a:off x="2670" y="7975"/>
            <a:ext cx="3855" cy="1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384300" imgH="495300" progId="Equation.3">
                    <p:embed/>
                  </p:oleObj>
                </mc:Choice>
                <mc:Fallback>
                  <p:oleObj r:id="rId6" imgW="1384300" imgH="495300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95996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70" y="7975"/>
                          <a:ext cx="3855" cy="18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4" name="组合 3"/>
          <p:cNvGrpSpPr/>
          <p:nvPr/>
        </p:nvGrpSpPr>
        <p:grpSpPr>
          <a:xfrm>
            <a:off x="5475288" y="1257300"/>
            <a:ext cx="2873375" cy="2765425"/>
            <a:chOff x="8735" y="1980"/>
            <a:chExt cx="4525" cy="4355"/>
          </a:xfrm>
        </p:grpSpPr>
        <p:sp>
          <p:nvSpPr>
            <p:cNvPr id="20489" name="Oval 12"/>
            <p:cNvSpPr/>
            <p:nvPr/>
          </p:nvSpPr>
          <p:spPr>
            <a:xfrm>
              <a:off x="8735" y="2110"/>
              <a:ext cx="3350" cy="3340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CC3300">
                    <a:alpha val="87999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0" name="Rectangle 13"/>
            <p:cNvSpPr/>
            <p:nvPr/>
          </p:nvSpPr>
          <p:spPr>
            <a:xfrm>
              <a:off x="11615" y="1980"/>
              <a:ext cx="683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20491" name="Line 14"/>
            <p:cNvSpPr/>
            <p:nvPr/>
          </p:nvSpPr>
          <p:spPr>
            <a:xfrm>
              <a:off x="10415" y="3780"/>
              <a:ext cx="2280" cy="156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20492" name="Rectangle 15"/>
            <p:cNvSpPr/>
            <p:nvPr/>
          </p:nvSpPr>
          <p:spPr>
            <a:xfrm>
              <a:off x="12533" y="5513"/>
              <a:ext cx="727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2800" i="1" dirty="0">
                  <a:solidFill>
                    <a:srgbClr val="000000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20493" name="Rectangle 16"/>
            <p:cNvSpPr/>
            <p:nvPr/>
          </p:nvSpPr>
          <p:spPr>
            <a:xfrm>
              <a:off x="12478" y="4493"/>
              <a:ext cx="535" cy="12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>
              <a:spAutoFit/>
            </a:bodyPr>
            <a:lstStyle/>
            <a:p>
              <a:pPr eaLnBrk="0" hangingPunct="0"/>
              <a:r>
                <a:rPr lang="en-US" altLang="zh-CN" sz="4400" b="1" dirty="0">
                  <a:solidFill>
                    <a:srgbClr val="0000CC"/>
                  </a:solidFill>
                  <a:latin typeface="Bookman Old Style" panose="02050604050505020204" pitchFamily="18" charset="0"/>
                  <a:ea typeface="宋体" panose="02010600030101010101" pitchFamily="2" charset="-122"/>
                </a:rPr>
                <a:t>.</a:t>
              </a:r>
            </a:p>
          </p:txBody>
        </p:sp>
      </p:grpSp>
      <p:grpSp>
        <p:nvGrpSpPr>
          <p:cNvPr id="2" name="Group 47"/>
          <p:cNvGrpSpPr/>
          <p:nvPr/>
        </p:nvGrpSpPr>
        <p:grpSpPr>
          <a:xfrm>
            <a:off x="5576888" y="3659188"/>
            <a:ext cx="3124200" cy="2713037"/>
            <a:chOff x="3649" y="2305"/>
            <a:chExt cx="1968" cy="1709"/>
          </a:xfrm>
        </p:grpSpPr>
        <p:grpSp>
          <p:nvGrpSpPr>
            <p:cNvPr id="20495" name="Group 45"/>
            <p:cNvGrpSpPr/>
            <p:nvPr/>
          </p:nvGrpSpPr>
          <p:grpSpPr>
            <a:xfrm>
              <a:off x="3649" y="2305"/>
              <a:ext cx="1968" cy="1675"/>
              <a:chOff x="3649" y="2305"/>
              <a:chExt cx="1968" cy="1675"/>
            </a:xfrm>
          </p:grpSpPr>
          <p:grpSp>
            <p:nvGrpSpPr>
              <p:cNvPr id="20496" name="Group 42"/>
              <p:cNvGrpSpPr/>
              <p:nvPr/>
            </p:nvGrpSpPr>
            <p:grpSpPr>
              <a:xfrm>
                <a:off x="3649" y="2325"/>
                <a:ext cx="1968" cy="1655"/>
                <a:chOff x="3649" y="2325"/>
                <a:chExt cx="1968" cy="1655"/>
              </a:xfrm>
            </p:grpSpPr>
            <p:sp>
              <p:nvSpPr>
                <p:cNvPr id="20497" name="Line 37"/>
                <p:cNvSpPr/>
                <p:nvPr/>
              </p:nvSpPr>
              <p:spPr>
                <a:xfrm flipV="1">
                  <a:off x="3649" y="3803"/>
                  <a:ext cx="1893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0498" name="Line 38"/>
                <p:cNvSpPr/>
                <p:nvPr/>
              </p:nvSpPr>
              <p:spPr>
                <a:xfrm flipH="1" flipV="1">
                  <a:off x="4210" y="2325"/>
                  <a:ext cx="18" cy="165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  <p:sp>
              <p:nvSpPr>
                <p:cNvPr id="20499" name="Arc 39"/>
                <p:cNvSpPr/>
                <p:nvPr/>
              </p:nvSpPr>
              <p:spPr>
                <a:xfrm rot="10800000">
                  <a:off x="4847" y="2999"/>
                  <a:ext cx="770" cy="63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2602" h="21600" fill="none">
                      <a:moveTo>
                        <a:pt x="0" y="23"/>
                      </a:moveTo>
                      <a:cubicBezTo>
                        <a:pt x="333" y="7"/>
                        <a:pt x="667" y="-1"/>
                        <a:pt x="1002" y="0"/>
                      </a:cubicBezTo>
                      <a:cubicBezTo>
                        <a:pt x="12931" y="0"/>
                        <a:pt x="22602" y="9670"/>
                        <a:pt x="22602" y="21600"/>
                      </a:cubicBezTo>
                    </a:path>
                    <a:path w="22602" h="21600" stroke="0">
                      <a:moveTo>
                        <a:pt x="0" y="23"/>
                      </a:moveTo>
                      <a:cubicBezTo>
                        <a:pt x="333" y="7"/>
                        <a:pt x="667" y="-1"/>
                        <a:pt x="1002" y="0"/>
                      </a:cubicBezTo>
                      <a:cubicBezTo>
                        <a:pt x="12931" y="0"/>
                        <a:pt x="22602" y="9670"/>
                        <a:pt x="22602" y="21600"/>
                      </a:cubicBezTo>
                      <a:lnTo>
                        <a:pt x="1002" y="21600"/>
                      </a:lnTo>
                      <a:lnTo>
                        <a:pt x="0" y="23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00" name="Line 40"/>
                <p:cNvSpPr/>
                <p:nvPr/>
              </p:nvSpPr>
              <p:spPr>
                <a:xfrm>
                  <a:off x="4242" y="3017"/>
                  <a:ext cx="595" cy="0"/>
                </a:xfrm>
                <a:prstGeom prst="line">
                  <a:avLst/>
                </a:prstGeom>
                <a:ln w="28575" cap="flat" cmpd="sng">
                  <a:solidFill>
                    <a:srgbClr val="CC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20501" name="Line 41"/>
                <p:cNvSpPr/>
                <p:nvPr/>
              </p:nvSpPr>
              <p:spPr>
                <a:xfrm flipH="1">
                  <a:off x="4845" y="3017"/>
                  <a:ext cx="0" cy="81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</p:sp>
          </p:grpSp>
          <p:graphicFrame>
            <p:nvGraphicFramePr>
              <p:cNvPr id="20502" name="Object 43"/>
              <p:cNvGraphicFramePr>
                <a:graphicFrameLocks noChangeAspect="1"/>
              </p:cNvGraphicFramePr>
              <p:nvPr/>
            </p:nvGraphicFramePr>
            <p:xfrm>
              <a:off x="3949" y="2305"/>
              <a:ext cx="214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52400" imgH="177800" progId="Equation.3">
                      <p:embed/>
                    </p:oleObj>
                  </mc:Choice>
                  <mc:Fallback>
                    <p:oleObj r:id="rId8" imgW="152400" imgH="177800" progId="Equation.3">
                      <p:embed/>
                      <p:pic>
                        <p:nvPicPr>
                          <p:cNvPr id="0" name="图片 321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949" y="2305"/>
                            <a:ext cx="214" cy="2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3" name="Object 44"/>
              <p:cNvGraphicFramePr>
                <a:graphicFrameLocks noChangeAspect="1"/>
              </p:cNvGraphicFramePr>
              <p:nvPr/>
            </p:nvGraphicFramePr>
            <p:xfrm>
              <a:off x="5309" y="3617"/>
              <a:ext cx="18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14300" imgH="127000" progId="Equation.3">
                      <p:embed/>
                    </p:oleObj>
                  </mc:Choice>
                  <mc:Fallback>
                    <p:oleObj r:id="rId10" imgW="114300" imgH="127000" progId="Equation.3">
                      <p:embed/>
                      <p:pic>
                        <p:nvPicPr>
                          <p:cNvPr id="0" name="图片 3215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5309" y="3617"/>
                            <a:ext cx="180" cy="20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504" name="Object 46"/>
            <p:cNvGraphicFramePr>
              <a:graphicFrameLocks noChangeAspect="1"/>
            </p:cNvGraphicFramePr>
            <p:nvPr/>
          </p:nvGraphicFramePr>
          <p:xfrm>
            <a:off x="4715" y="3809"/>
            <a:ext cx="189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52400" imgH="165100" progId="Equation.3">
                    <p:embed/>
                  </p:oleObj>
                </mc:Choice>
                <mc:Fallback>
                  <p:oleObj r:id="rId12" imgW="152400" imgH="1651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715" y="3809"/>
                          <a:ext cx="189" cy="2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4"/>
          <p:cNvSpPr txBox="1"/>
          <p:nvPr>
            <p:custDataLst>
              <p:tags r:id="rId1"/>
            </p:custDataLst>
          </p:nvPr>
        </p:nvSpPr>
        <p:spPr>
          <a:xfrm>
            <a:off x="357188" y="3760788"/>
            <a:ext cx="4689475" cy="11239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：定义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法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：电势差与电势零点选择无关</a:t>
            </a:r>
          </a:p>
        </p:txBody>
      </p:sp>
      <p:sp>
        <p:nvSpPr>
          <p:cNvPr id="19458" name="文本框 1"/>
          <p:cNvSpPr txBox="1"/>
          <p:nvPr>
            <p:custDataLst>
              <p:tags r:id="rId2"/>
            </p:custDataLst>
          </p:nvPr>
        </p:nvSpPr>
        <p:spPr>
          <a:xfrm>
            <a:off x="357188" y="612775"/>
            <a:ext cx="197802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讨论题：</a:t>
            </a:r>
          </a:p>
        </p:txBody>
      </p:sp>
      <p:pic>
        <p:nvPicPr>
          <p:cNvPr id="19459" name="Picture 3" descr="IMAGE000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rcRect l="70496" t="25339" r="3220" b="42747"/>
          <a:stretch>
            <a:fillRect/>
          </a:stretch>
        </p:blipFill>
        <p:spPr>
          <a:xfrm>
            <a:off x="6300788" y="781050"/>
            <a:ext cx="2239962" cy="768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文本框 2"/>
          <p:cNvSpPr txBox="1"/>
          <p:nvPr>
            <p:custDataLst>
              <p:tags r:id="rId4"/>
            </p:custDataLst>
          </p:nvPr>
        </p:nvSpPr>
        <p:spPr>
          <a:xfrm>
            <a:off x="357188" y="1549400"/>
            <a:ext cx="8374062" cy="17541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在点电荷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+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的电场中：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）若取无穷远处为电势零点，则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点的电势为多少？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）若取图中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点处为电势零点，则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M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点的电势为多少？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3"/>
          <p:cNvSpPr txBox="1"/>
          <p:nvPr>
            <p:custDataLst>
              <p:tags r:id="rId1"/>
            </p:custDataLst>
          </p:nvPr>
        </p:nvSpPr>
        <p:spPr>
          <a:xfrm>
            <a:off x="464820" y="476250"/>
            <a:ext cx="7864475" cy="4615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课前测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静电场中某点电势的数值等于                                   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(A)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试验电荷</a:t>
            </a:r>
            <a:r>
              <a:rPr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置于该点时具有的电势能．                   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(B)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单位试验电荷置于该点时具有的电势能．                    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(C)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单位正电荷置于该点时具有的电势能．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把单位正电荷从该点移到电势零点外力所作的功．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1505" y="53009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答案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1506" name="Rectangle 6"/>
          <p:cNvSpPr/>
          <p:nvPr/>
        </p:nvSpPr>
        <p:spPr>
          <a:xfrm>
            <a:off x="2124075" y="836613"/>
            <a:ext cx="4321175" cy="519112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9-5</a:t>
            </a: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等势面 电势梯度</a:t>
            </a:r>
          </a:p>
        </p:txBody>
      </p:sp>
      <p:sp>
        <p:nvSpPr>
          <p:cNvPr id="75778" name="Text Box 2"/>
          <p:cNvSpPr txBox="1"/>
          <p:nvPr/>
        </p:nvSpPr>
        <p:spPr>
          <a:xfrm>
            <a:off x="2987675" y="1628775"/>
            <a:ext cx="5797550" cy="460375"/>
          </a:xfrm>
          <a:prstGeom prst="rect">
            <a:avLst/>
          </a:prstGeom>
          <a:noFill/>
          <a:ln w="2857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电势相等的点所形成的面称为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等势面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75780" name="Rectangle 4"/>
          <p:cNvSpPr/>
          <p:nvPr/>
        </p:nvSpPr>
        <p:spPr>
          <a:xfrm>
            <a:off x="250825" y="1628775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等势面的定义</a:t>
            </a:r>
          </a:p>
        </p:txBody>
      </p:sp>
      <p:sp>
        <p:nvSpPr>
          <p:cNvPr id="75799" name="Rectangle 23"/>
          <p:cNvSpPr/>
          <p:nvPr/>
        </p:nvSpPr>
        <p:spPr>
          <a:xfrm>
            <a:off x="755650" y="2205038"/>
            <a:ext cx="58547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规定：任意两个相邻等势面的电势差相等</a:t>
            </a:r>
          </a:p>
        </p:txBody>
      </p:sp>
      <p:sp>
        <p:nvSpPr>
          <p:cNvPr id="8" name="Rectangle 5"/>
          <p:cNvSpPr/>
          <p:nvPr/>
        </p:nvSpPr>
        <p:spPr>
          <a:xfrm>
            <a:off x="642938" y="2814638"/>
            <a:ext cx="6738937" cy="17541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等势面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密集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地方，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场强大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稀疏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的地方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场强弱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电场线从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电势处指向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电势处；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等势面与电场线处处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垂直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80" grpId="0"/>
      <p:bldP spid="7579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2530" name="Rectangle 97"/>
          <p:cNvSpPr/>
          <p:nvPr/>
        </p:nvSpPr>
        <p:spPr>
          <a:xfrm>
            <a:off x="2339975" y="765175"/>
            <a:ext cx="4230688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§10-1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静电场中的导体</a:t>
            </a:r>
          </a:p>
        </p:txBody>
      </p:sp>
      <p:sp>
        <p:nvSpPr>
          <p:cNvPr id="121988" name="Rectangle 132"/>
          <p:cNvSpPr/>
          <p:nvPr/>
        </p:nvSpPr>
        <p:spPr>
          <a:xfrm>
            <a:off x="250825" y="1341438"/>
            <a:ext cx="82216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静电平衡状态：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导体内部和表面都没有电荷的宏观移动。</a:t>
            </a:r>
          </a:p>
        </p:txBody>
      </p:sp>
      <p:sp>
        <p:nvSpPr>
          <p:cNvPr id="123997" name="Rectangle 93"/>
          <p:cNvSpPr/>
          <p:nvPr/>
        </p:nvSpPr>
        <p:spPr>
          <a:xfrm>
            <a:off x="-36512" y="2060575"/>
            <a:ext cx="2930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288925"/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静电平衡条件：</a:t>
            </a:r>
            <a:endParaRPr lang="zh-CN" altLang="en-US" sz="2400" dirty="0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4001" name="Rectangle 97"/>
          <p:cNvSpPr/>
          <p:nvPr/>
        </p:nvSpPr>
        <p:spPr>
          <a:xfrm>
            <a:off x="3109913" y="1992313"/>
            <a:ext cx="5040312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）导体内部的电场强度处处为零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24002" name="Rectangle 98"/>
          <p:cNvSpPr/>
          <p:nvPr/>
        </p:nvSpPr>
        <p:spPr>
          <a:xfrm>
            <a:off x="3060700" y="2565400"/>
            <a:ext cx="5040313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）导体表面的场强垂直于导体表面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24973" name="Rectangle 45"/>
          <p:cNvSpPr/>
          <p:nvPr/>
        </p:nvSpPr>
        <p:spPr>
          <a:xfrm>
            <a:off x="1260475" y="3138488"/>
            <a:ext cx="7331075" cy="1014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静电平衡条件也可用电势描述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导体是一个等势体，导体表面是等势面。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2" name="Rectangle 36"/>
          <p:cNvSpPr/>
          <p:nvPr/>
        </p:nvSpPr>
        <p:spPr>
          <a:xfrm>
            <a:off x="250825" y="4203700"/>
            <a:ext cx="65579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、静电平衡时导体上的电荷分布</a:t>
            </a:r>
          </a:p>
        </p:txBody>
      </p:sp>
      <p:sp>
        <p:nvSpPr>
          <p:cNvPr id="126005" name="Text Box 53"/>
          <p:cNvSpPr txBox="1"/>
          <p:nvPr/>
        </p:nvSpPr>
        <p:spPr>
          <a:xfrm>
            <a:off x="541338" y="4714875"/>
            <a:ext cx="7874000" cy="828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base" hangingPunct="1">
              <a:spcBef>
                <a:spcPct val="50000"/>
              </a:spcBef>
              <a:buNone/>
            </a:pPr>
            <a:r>
              <a:rPr lang="en-US" altLang="zh-CN" sz="2400" strike="noStrike" noProof="1">
                <a:solidFill>
                  <a:srgbClr val="0000CC"/>
                </a:solidFill>
                <a:latin typeface="Verdana" panose="020B0604030504040204" pitchFamily="34" charset="0"/>
                <a:ea typeface="楷体_GB2312" pitchFamily="49" charset="-122"/>
                <a:cs typeface="+mn-cs"/>
              </a:rPr>
              <a:t>3.1. </a:t>
            </a:r>
            <a:r>
              <a:rPr lang="zh-CN" altLang="en-US" sz="2400" strike="noStrike" noProof="1">
                <a:solidFill>
                  <a:srgbClr val="0000CC"/>
                </a:solidFill>
                <a:latin typeface="Verdana" panose="020B0604030504040204" pitchFamily="34" charset="0"/>
                <a:ea typeface="楷体_GB2312" pitchFamily="49" charset="-122"/>
                <a:cs typeface="+mn-cs"/>
              </a:rPr>
              <a:t>导体内电荷分布</a:t>
            </a:r>
            <a:r>
              <a:rPr lang="en-US" altLang="zh-CN" sz="2400" strike="noStrike" noProof="1">
                <a:solidFill>
                  <a:srgbClr val="0000CC"/>
                </a:solidFill>
                <a:latin typeface="Verdana" panose="020B0604030504040204" pitchFamily="34" charset="0"/>
                <a:ea typeface="楷体_GB2312" pitchFamily="49" charset="-122"/>
                <a:cs typeface="+mn-cs"/>
              </a:rPr>
              <a:t>  </a:t>
            </a:r>
            <a:r>
              <a:rPr lang="zh-CN" altLang="en-US" sz="2400" b="1" strike="noStrike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导体处于静电平衡时，电荷只分布在导体表面，导体内部无电荷</a:t>
            </a:r>
            <a:endParaRPr lang="en-US" altLang="zh-CN" sz="2400" i="1" strike="noStrike" noProof="1">
              <a:solidFill>
                <a:srgbClr val="0000CC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146438" name="Text Box 6"/>
          <p:cNvSpPr txBox="1"/>
          <p:nvPr/>
        </p:nvSpPr>
        <p:spPr>
          <a:xfrm>
            <a:off x="477838" y="5518150"/>
            <a:ext cx="8002588" cy="11985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base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3.2 </a:t>
            </a:r>
            <a:r>
              <a:rPr lang="zh-CN" altLang="en-US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空腔内没有带电体时导体空腔电荷分布</a:t>
            </a:r>
            <a:r>
              <a:rPr lang="en-US" altLang="zh-CN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lang="zh-CN" altLang="en-US" sz="2400" b="1" strike="noStrike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空腔导体内表面无电荷，电荷只分布在导体空腔外表面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88" grpId="0"/>
      <p:bldP spid="123997" grpId="0"/>
      <p:bldP spid="124001" grpId="0" bldLvl="0" animBg="1"/>
      <p:bldP spid="124002" grpId="0" bldLvl="0" animBg="1"/>
      <p:bldP spid="124973" grpId="0"/>
      <p:bldP spid="21512" grpId="0"/>
      <p:bldP spid="21512" grpId="1"/>
      <p:bldP spid="126005" grpId="0"/>
      <p:bldP spid="1464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14339" name="Text Box 8"/>
          <p:cNvSpPr txBox="1"/>
          <p:nvPr/>
        </p:nvSpPr>
        <p:spPr>
          <a:xfrm>
            <a:off x="193675" y="903288"/>
            <a:ext cx="8480425" cy="83026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base" hangingPunct="1">
              <a:spcBef>
                <a:spcPct val="50000"/>
              </a:spcBef>
              <a:buNone/>
            </a:pPr>
            <a:r>
              <a:rPr lang="en-US" altLang="zh-CN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3.3 </a:t>
            </a:r>
            <a:r>
              <a:rPr lang="zh-CN" altLang="en-US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空腔内有带电体导体空腔电荷分布</a:t>
            </a:r>
            <a:r>
              <a:rPr lang="en-US" altLang="zh-CN" sz="2400" b="1" strike="noStrike" noProof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lang="zh-CN" altLang="en-US" sz="2400" b="1" strike="noStrike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空腔导体内表面电荷与腔内电荷代数和为零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50539" name="Text Box 11"/>
          <p:cNvSpPr txBox="1"/>
          <p:nvPr/>
        </p:nvSpPr>
        <p:spPr>
          <a:xfrm>
            <a:off x="611188" y="2417763"/>
            <a:ext cx="7696200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导体表面凸出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尖锐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处，电荷面密度最大；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导体表面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平坦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处，电荷面密度小；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导体表面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凹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处，电荷面密度更小。</a:t>
            </a:r>
          </a:p>
        </p:txBody>
      </p:sp>
      <p:sp>
        <p:nvSpPr>
          <p:cNvPr id="22532" name="Rectangle 12"/>
          <p:cNvSpPr/>
          <p:nvPr/>
        </p:nvSpPr>
        <p:spPr>
          <a:xfrm>
            <a:off x="250825" y="1844675"/>
            <a:ext cx="615473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3.4 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导体表面电荷分布与导体形状的关系： </a:t>
            </a:r>
          </a:p>
        </p:txBody>
      </p:sp>
      <p:sp>
        <p:nvSpPr>
          <p:cNvPr id="22533" name="Rectangle 10"/>
          <p:cNvSpPr/>
          <p:nvPr/>
        </p:nvSpPr>
        <p:spPr>
          <a:xfrm>
            <a:off x="153988" y="4165600"/>
            <a:ext cx="47799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、静电平衡时导体表面场强分布</a:t>
            </a:r>
          </a:p>
        </p:txBody>
      </p:sp>
      <p:sp>
        <p:nvSpPr>
          <p:cNvPr id="145425" name="Text Box 17"/>
          <p:cNvSpPr txBox="1"/>
          <p:nvPr/>
        </p:nvSpPr>
        <p:spPr>
          <a:xfrm>
            <a:off x="466725" y="4751388"/>
            <a:ext cx="70199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）导体内部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场强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处处为零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=0</a:t>
            </a:r>
          </a:p>
        </p:txBody>
      </p:sp>
      <p:sp>
        <p:nvSpPr>
          <p:cNvPr id="145426" name="Text Box 18"/>
          <p:cNvSpPr txBox="1"/>
          <p:nvPr/>
        </p:nvSpPr>
        <p:spPr>
          <a:xfrm>
            <a:off x="395288" y="5535613"/>
            <a:ext cx="3913187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）导体表面附近的场强</a:t>
            </a:r>
          </a:p>
        </p:txBody>
      </p:sp>
      <p:grpSp>
        <p:nvGrpSpPr>
          <p:cNvPr id="2" name="Group 30"/>
          <p:cNvGrpSpPr/>
          <p:nvPr/>
        </p:nvGrpSpPr>
        <p:grpSpPr>
          <a:xfrm>
            <a:off x="4203700" y="5213350"/>
            <a:ext cx="3544888" cy="1400175"/>
            <a:chOff x="3040" y="1139"/>
            <a:chExt cx="2241" cy="881"/>
          </a:xfrm>
        </p:grpSpPr>
        <p:grpSp>
          <p:nvGrpSpPr>
            <p:cNvPr id="23561" name="Group 28"/>
            <p:cNvGrpSpPr/>
            <p:nvPr/>
          </p:nvGrpSpPr>
          <p:grpSpPr>
            <a:xfrm>
              <a:off x="3107" y="1430"/>
              <a:ext cx="1542" cy="590"/>
              <a:chOff x="839" y="1685"/>
              <a:chExt cx="1542" cy="590"/>
            </a:xfrm>
          </p:grpSpPr>
          <p:sp>
            <p:nvSpPr>
              <p:cNvPr id="23562" name="Text Box 19"/>
              <p:cNvSpPr txBox="1"/>
              <p:nvPr/>
            </p:nvSpPr>
            <p:spPr>
              <a:xfrm>
                <a:off x="839" y="1888"/>
                <a:ext cx="82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CC0000"/>
                    </a:solidFill>
                    <a:latin typeface="楷体_GB2312" pitchFamily="49" charset="-122"/>
                    <a:ea typeface="楷体_GB2312" pitchFamily="49" charset="-122"/>
                  </a:rPr>
                  <a:t>大小：</a:t>
                </a:r>
              </a:p>
            </p:txBody>
          </p:sp>
          <p:graphicFrame>
            <p:nvGraphicFramePr>
              <p:cNvPr id="23563" name="Object 20"/>
              <p:cNvGraphicFramePr>
                <a:graphicFrameLocks noChangeAspect="1"/>
              </p:cNvGraphicFramePr>
              <p:nvPr/>
            </p:nvGraphicFramePr>
            <p:xfrm>
              <a:off x="1518" y="1685"/>
              <a:ext cx="863" cy="5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711200" imgH="673100" progId="Equation.3">
                      <p:embed/>
                    </p:oleObj>
                  </mc:Choice>
                  <mc:Fallback>
                    <p:oleObj r:id="rId2" imgW="711200" imgH="673100" progId="Equation.3">
                      <p:embed/>
                      <p:pic>
                        <p:nvPicPr>
                          <p:cNvPr id="0" name="图片 3219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518" y="1685"/>
                            <a:ext cx="863" cy="590"/>
                          </a:xfrm>
                          <a:prstGeom prst="rect">
                            <a:avLst/>
                          </a:prstGeom>
                          <a:gradFill rotWithShape="0">
                            <a:gsLst>
                              <a:gs pos="0">
                                <a:srgbClr val="FFFF99"/>
                              </a:gs>
                              <a:gs pos="50000">
                                <a:srgbClr val="FFFFFF"/>
                              </a:gs>
                              <a:gs pos="100000">
                                <a:srgbClr val="FFFF99"/>
                              </a:gs>
                            </a:gsLst>
                            <a:lin ang="5400000" scaled="1"/>
                            <a:tileRect/>
                          </a:gradFill>
                          <a:ln w="12700" cap="flat" cmpd="sng">
                            <a:solidFill>
                              <a:srgbClr val="006666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64" name="Rectangle 22"/>
            <p:cNvSpPr/>
            <p:nvPr/>
          </p:nvSpPr>
          <p:spPr>
            <a:xfrm>
              <a:off x="3078" y="1139"/>
              <a:ext cx="22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方向：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垂直于导体表面</a:t>
              </a:r>
            </a:p>
          </p:txBody>
        </p:sp>
        <p:sp>
          <p:nvSpPr>
            <p:cNvPr id="23565" name="AutoShape 29"/>
            <p:cNvSpPr/>
            <p:nvPr/>
          </p:nvSpPr>
          <p:spPr>
            <a:xfrm>
              <a:off x="3040" y="1273"/>
              <a:ext cx="48" cy="562"/>
            </a:xfrm>
            <a:prstGeom prst="leftBrace">
              <a:avLst>
                <a:gd name="adj1" fmla="val 202022"/>
                <a:gd name="adj2" fmla="val 50000"/>
              </a:avLst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2800" b="1" dirty="0">
                <a:solidFill>
                  <a:srgbClr val="000000"/>
                </a:solidFill>
                <a:latin typeface="Verdan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39" grpId="1"/>
      <p:bldP spid="22532" grpId="0"/>
      <p:bldP spid="22532" grpId="1"/>
      <p:bldP spid="22533" grpId="0"/>
      <p:bldP spid="22533" grpId="1"/>
      <p:bldP spid="145425" grpId="0"/>
      <p:bldP spid="1454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graphicFrame>
        <p:nvGraphicFramePr>
          <p:cNvPr id="149546" name="Object 42"/>
          <p:cNvGraphicFramePr>
            <a:graphicFrameLocks noChangeAspect="1"/>
          </p:cNvGraphicFramePr>
          <p:nvPr/>
        </p:nvGraphicFramePr>
        <p:xfrm>
          <a:off x="1187450" y="1700213"/>
          <a:ext cx="13620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11200" imgH="673100" progId="Equation.3">
                  <p:embed/>
                </p:oleObj>
              </mc:Choice>
              <mc:Fallback>
                <p:oleObj r:id="rId2" imgW="711200" imgH="6731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87450" y="1700213"/>
                        <a:ext cx="1362075" cy="10382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99FF99"/>
                          </a:gs>
                          <a:gs pos="50000">
                            <a:srgbClr val="FFFFFF"/>
                          </a:gs>
                          <a:gs pos="100000">
                            <a:srgbClr val="99FF99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66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80" name="Rectangle 76"/>
          <p:cNvSpPr/>
          <p:nvPr/>
        </p:nvSpPr>
        <p:spPr>
          <a:xfrm>
            <a:off x="2844800" y="1773238"/>
            <a:ext cx="5456238" cy="830262"/>
          </a:xfrm>
          <a:prstGeom prst="rect">
            <a:avLst/>
          </a:prstGeom>
          <a:gradFill rotWithShape="1">
            <a:gsLst>
              <a:gs pos="0">
                <a:srgbClr val="FF0000">
                  <a:alpha val="24001"/>
                </a:srgbClr>
              </a:gs>
              <a:gs pos="100000">
                <a:srgbClr val="FFFFFF"/>
              </a:gs>
            </a:gsLst>
            <a:lin ang="5400000" scaled="1"/>
            <a:tileRect/>
          </a:gradFill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表面电场强度的大小与该表面电荷面密度成正比。</a:t>
            </a:r>
          </a:p>
        </p:txBody>
      </p:sp>
      <p:sp>
        <p:nvSpPr>
          <p:cNvPr id="23556" name="Text Box 4"/>
          <p:cNvSpPr txBox="1"/>
          <p:nvPr/>
        </p:nvSpPr>
        <p:spPr>
          <a:xfrm>
            <a:off x="250825" y="909638"/>
            <a:ext cx="2032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zh-CN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尖端放电</a:t>
            </a:r>
          </a:p>
        </p:txBody>
      </p:sp>
      <p:sp>
        <p:nvSpPr>
          <p:cNvPr id="151561" name="Rectangle 9"/>
          <p:cNvSpPr/>
          <p:nvPr/>
        </p:nvSpPr>
        <p:spPr>
          <a:xfrm>
            <a:off x="611188" y="3068638"/>
            <a:ext cx="4248150" cy="2862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尖端放电现象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：导体表面曲率越大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正曲率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的地方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电荷分布的密度越大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电场强度大，大的场强导致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空气电离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，形成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尖端放电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pic>
        <p:nvPicPr>
          <p:cNvPr id="24583" name="Picture 57" descr="https://timgsa.baidu.com/timg?image&amp;quality=80&amp;size=b9999_10000&amp;sec=1559196386127&amp;di=cad74dba49f4e547963501b7d31f7426&amp;imgtype=0&amp;src=http%3A%2F%2Fpic.baike.soso.com%2Fugc%2Fbaikepic2%2F29849%2F20141209131633-2031177872.jpg%2F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3" y="3141663"/>
            <a:ext cx="3270250" cy="2547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80" grpId="0" bldLvl="0" animBg="1"/>
      <p:bldP spid="23556" grpId="0"/>
      <p:bldP spid="23556" grpId="1"/>
      <p:bldP spid="15156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5602" name="Text Box 54"/>
          <p:cNvSpPr txBox="1"/>
          <p:nvPr/>
        </p:nvSpPr>
        <p:spPr>
          <a:xfrm>
            <a:off x="107950" y="765175"/>
            <a:ext cx="44497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、空腔导体与静电屏蔽</a:t>
            </a:r>
          </a:p>
        </p:txBody>
      </p:sp>
      <p:sp>
        <p:nvSpPr>
          <p:cNvPr id="175120" name="Rectangle 16"/>
          <p:cNvSpPr/>
          <p:nvPr/>
        </p:nvSpPr>
        <p:spPr>
          <a:xfrm>
            <a:off x="395288" y="1125538"/>
            <a:ext cx="8181975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腔外电荷及腔外表面电荷在腔内激发的场强矢量和为零，即：腔内空间电场不受腔外电荷分布及腔外表面电荷分布的影响，此现象称为静电屏蔽现象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 </a:t>
            </a:r>
          </a:p>
        </p:txBody>
      </p:sp>
      <p:sp>
        <p:nvSpPr>
          <p:cNvPr id="2" name="Rectangle 16"/>
          <p:cNvSpPr/>
          <p:nvPr/>
        </p:nvSpPr>
        <p:spPr>
          <a:xfrm>
            <a:off x="323850" y="2708275"/>
            <a:ext cx="8181975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sym typeface="宋体" panose="02010600030101010101" pitchFamily="2" charset="-122"/>
              </a:rPr>
              <a:t>腔内电荷及腔内表面电荷在腔外激发的场强矢量和为零，即：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腔外空间电场不受腔内电荷分布及腔内表面电荷分布的影响，此现象称为静电屏蔽现象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 </a:t>
            </a:r>
          </a:p>
        </p:txBody>
      </p:sp>
      <p:sp>
        <p:nvSpPr>
          <p:cNvPr id="25605" name="Text Box 54"/>
          <p:cNvSpPr txBox="1"/>
          <p:nvPr/>
        </p:nvSpPr>
        <p:spPr>
          <a:xfrm>
            <a:off x="107950" y="4676775"/>
            <a:ext cx="56515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</a:p>
        </p:txBody>
      </p:sp>
      <p:sp>
        <p:nvSpPr>
          <p:cNvPr id="25606" name="Text Box 4"/>
          <p:cNvSpPr txBox="1"/>
          <p:nvPr/>
        </p:nvSpPr>
        <p:spPr>
          <a:xfrm>
            <a:off x="539750" y="4581525"/>
            <a:ext cx="3629025" cy="1530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两个平行放置的无限大均匀带电导体平板，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四个表面上的电荷面密度 </a:t>
            </a:r>
          </a:p>
        </p:txBody>
      </p:sp>
      <p:grpSp>
        <p:nvGrpSpPr>
          <p:cNvPr id="25607" name="组合 7"/>
          <p:cNvGrpSpPr/>
          <p:nvPr/>
        </p:nvGrpSpPr>
        <p:grpSpPr>
          <a:xfrm>
            <a:off x="4344988" y="4652963"/>
            <a:ext cx="1414462" cy="1520825"/>
            <a:chOff x="7048" y="7843"/>
            <a:chExt cx="2228" cy="2394"/>
          </a:xfrm>
        </p:grpSpPr>
        <p:graphicFrame>
          <p:nvGraphicFramePr>
            <p:cNvPr id="25608" name="对象 3"/>
            <p:cNvGraphicFramePr/>
            <p:nvPr/>
          </p:nvGraphicFramePr>
          <p:xfrm>
            <a:off x="7048" y="9143"/>
            <a:ext cx="2228" cy="10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49375" imgH="624205" progId="Equation.DSMT4">
                    <p:embed/>
                  </p:oleObj>
                </mc:Choice>
                <mc:Fallback>
                  <p:oleObj r:id="rId2" imgW="1349375" imgH="624205" progId="Equation.DSMT4">
                    <p:embed/>
                    <p:pic>
                      <p:nvPicPr>
                        <p:cNvPr id="0" name="图片 322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048" y="9143"/>
                          <a:ext cx="2228" cy="10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9" name="对象 5"/>
            <p:cNvGraphicFramePr/>
            <p:nvPr/>
          </p:nvGraphicFramePr>
          <p:xfrm>
            <a:off x="7087" y="7843"/>
            <a:ext cx="2097" cy="1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955675" imgH="563880" progId="Equation.DSMT4">
                    <p:embed/>
                  </p:oleObj>
                </mc:Choice>
                <mc:Fallback>
                  <p:oleObj r:id="rId4" imgW="955675" imgH="563880" progId="Equation.DSMT4">
                    <p:embed/>
                    <p:pic>
                      <p:nvPicPr>
                        <p:cNvPr id="0" name="图片 322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087" y="7843"/>
                          <a:ext cx="2097" cy="11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10" name="Group 35"/>
          <p:cNvGrpSpPr/>
          <p:nvPr/>
        </p:nvGrpSpPr>
        <p:grpSpPr>
          <a:xfrm>
            <a:off x="6300788" y="4287838"/>
            <a:ext cx="1995487" cy="2265362"/>
            <a:chOff x="3957" y="2075"/>
            <a:chExt cx="1414" cy="1622"/>
          </a:xfrm>
        </p:grpSpPr>
        <p:grpSp>
          <p:nvGrpSpPr>
            <p:cNvPr id="25611" name="Group 34"/>
            <p:cNvGrpSpPr/>
            <p:nvPr/>
          </p:nvGrpSpPr>
          <p:grpSpPr>
            <a:xfrm>
              <a:off x="4829" y="2075"/>
              <a:ext cx="542" cy="1622"/>
              <a:chOff x="4829" y="2075"/>
              <a:chExt cx="542" cy="1622"/>
            </a:xfrm>
          </p:grpSpPr>
          <p:sp>
            <p:nvSpPr>
              <p:cNvPr id="25612" name="Freeform 16"/>
              <p:cNvSpPr/>
              <p:nvPr/>
            </p:nvSpPr>
            <p:spPr>
              <a:xfrm>
                <a:off x="5059" y="2079"/>
                <a:ext cx="91" cy="1618"/>
              </a:xfrm>
              <a:custGeom>
                <a:avLst/>
                <a:gdLst/>
                <a:ahLst/>
                <a:cxnLst>
                  <a:cxn ang="0">
                    <a:pos x="0" y="1993"/>
                  </a:cxn>
                  <a:cxn ang="0">
                    <a:pos x="0" y="53004"/>
                  </a:cxn>
                  <a:cxn ang="0">
                    <a:pos x="2" y="51333"/>
                  </a:cxn>
                  <a:cxn ang="0">
                    <a:pos x="2" y="53650"/>
                  </a:cxn>
                  <a:cxn ang="0">
                    <a:pos x="2" y="50661"/>
                  </a:cxn>
                  <a:cxn ang="0">
                    <a:pos x="4" y="51648"/>
                  </a:cxn>
                  <a:cxn ang="0">
                    <a:pos x="4" y="0"/>
                  </a:cxn>
                  <a:cxn ang="0">
                    <a:pos x="2" y="3304"/>
                  </a:cxn>
                  <a:cxn ang="0">
                    <a:pos x="2" y="512"/>
                  </a:cxn>
                  <a:cxn ang="0">
                    <a:pos x="2" y="3667"/>
                  </a:cxn>
                  <a:cxn ang="0">
                    <a:pos x="0" y="1993"/>
                  </a:cxn>
                </a:cxnLst>
                <a:rect l="0" t="0" r="0" b="0"/>
                <a:pathLst>
                  <a:path w="112" h="1300">
                    <a:moveTo>
                      <a:pt x="0" y="48"/>
                    </a:moveTo>
                    <a:lnTo>
                      <a:pt x="0" y="1284"/>
                    </a:lnTo>
                    <a:lnTo>
                      <a:pt x="48" y="1244"/>
                    </a:lnTo>
                    <a:lnTo>
                      <a:pt x="48" y="1300"/>
                    </a:lnTo>
                    <a:lnTo>
                      <a:pt x="76" y="1228"/>
                    </a:lnTo>
                    <a:lnTo>
                      <a:pt x="112" y="1252"/>
                    </a:lnTo>
                    <a:lnTo>
                      <a:pt x="112" y="0"/>
                    </a:lnTo>
                    <a:lnTo>
                      <a:pt x="76" y="80"/>
                    </a:lnTo>
                    <a:lnTo>
                      <a:pt x="68" y="12"/>
                    </a:lnTo>
                    <a:lnTo>
                      <a:pt x="44" y="88"/>
                    </a:lnTo>
                    <a:lnTo>
                      <a:pt x="0" y="48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13" name="Object 18"/>
              <p:cNvGraphicFramePr>
                <a:graphicFrameLocks noChangeAspect="1"/>
              </p:cNvGraphicFramePr>
              <p:nvPr/>
            </p:nvGraphicFramePr>
            <p:xfrm>
              <a:off x="5197" y="3412"/>
              <a:ext cx="152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266700" imgH="304800" progId="Equation.3">
                      <p:embed/>
                    </p:oleObj>
                  </mc:Choice>
                  <mc:Fallback>
                    <p:oleObj r:id="rId6" imgW="266700" imgH="304800" progId="Equation.3">
                      <p:embed/>
                      <p:pic>
                        <p:nvPicPr>
                          <p:cNvPr id="0" name="图片 3224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65997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197" y="3412"/>
                            <a:ext cx="152" cy="1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4" name="Object 21"/>
              <p:cNvGraphicFramePr>
                <a:graphicFrameLocks noChangeAspect="1"/>
              </p:cNvGraphicFramePr>
              <p:nvPr/>
            </p:nvGraphicFramePr>
            <p:xfrm>
              <a:off x="4829" y="2079"/>
              <a:ext cx="184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342900" imgH="406400" progId="Equation.DSMT4">
                      <p:embed/>
                    </p:oleObj>
                  </mc:Choice>
                  <mc:Fallback>
                    <p:oleObj r:id="rId8" imgW="342900" imgH="406400" progId="Equation.DSMT4">
                      <p:embed/>
                      <p:pic>
                        <p:nvPicPr>
                          <p:cNvPr id="0" name="图片 3227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29" y="2079"/>
                            <a:ext cx="184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5" name="Object 22"/>
              <p:cNvGraphicFramePr>
                <a:graphicFrameLocks noChangeAspect="1"/>
              </p:cNvGraphicFramePr>
              <p:nvPr/>
            </p:nvGraphicFramePr>
            <p:xfrm>
              <a:off x="5179" y="2075"/>
              <a:ext cx="19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355600" imgH="406400" progId="Equation.DSMT4">
                      <p:embed/>
                    </p:oleObj>
                  </mc:Choice>
                  <mc:Fallback>
                    <p:oleObj r:id="rId10" imgW="355600" imgH="406400" progId="Equation.DSMT4">
                      <p:embed/>
                      <p:pic>
                        <p:nvPicPr>
                          <p:cNvPr id="0" name="图片 3220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179" y="2075"/>
                            <a:ext cx="19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16" name="Object 23"/>
              <p:cNvGraphicFramePr>
                <a:graphicFrameLocks noChangeAspect="1"/>
              </p:cNvGraphicFramePr>
              <p:nvPr/>
            </p:nvGraphicFramePr>
            <p:xfrm>
              <a:off x="5052" y="2788"/>
              <a:ext cx="102" cy="1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54000" imgH="266700" progId="Equation.DSMT4">
                      <p:embed/>
                    </p:oleObj>
                  </mc:Choice>
                  <mc:Fallback>
                    <p:oleObj r:id="rId12" imgW="254000" imgH="266700" progId="Equation.DSMT4">
                      <p:embed/>
                      <p:pic>
                        <p:nvPicPr>
                          <p:cNvPr id="0" name="图片 3221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052" y="2788"/>
                            <a:ext cx="102" cy="10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17" name="Oval 24"/>
              <p:cNvSpPr/>
              <p:nvPr/>
            </p:nvSpPr>
            <p:spPr>
              <a:xfrm>
                <a:off x="5063" y="2699"/>
                <a:ext cx="60" cy="60"/>
              </a:xfrm>
              <a:prstGeom prst="ellipse">
                <a:avLst/>
              </a:prstGeom>
              <a:solidFill>
                <a:srgbClr val="993366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sz="2800" b="1" dirty="0">
                  <a:solidFill>
                    <a:srgbClr val="000000"/>
                  </a:solidFill>
                  <a:latin typeface="Verdana" panose="020B0604030504040204" pitchFamily="34" charset="0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25618" name="Group 33"/>
            <p:cNvGrpSpPr/>
            <p:nvPr/>
          </p:nvGrpSpPr>
          <p:grpSpPr>
            <a:xfrm>
              <a:off x="3957" y="2075"/>
              <a:ext cx="586" cy="1622"/>
              <a:chOff x="3957" y="2075"/>
              <a:chExt cx="586" cy="1622"/>
            </a:xfrm>
          </p:grpSpPr>
          <p:sp>
            <p:nvSpPr>
              <p:cNvPr id="25619" name="Freeform 15"/>
              <p:cNvSpPr/>
              <p:nvPr/>
            </p:nvSpPr>
            <p:spPr>
              <a:xfrm>
                <a:off x="4207" y="2079"/>
                <a:ext cx="91" cy="1618"/>
              </a:xfrm>
              <a:custGeom>
                <a:avLst/>
                <a:gdLst/>
                <a:ahLst/>
                <a:cxnLst>
                  <a:cxn ang="0">
                    <a:pos x="0" y="1993"/>
                  </a:cxn>
                  <a:cxn ang="0">
                    <a:pos x="0" y="53004"/>
                  </a:cxn>
                  <a:cxn ang="0">
                    <a:pos x="2" y="51333"/>
                  </a:cxn>
                  <a:cxn ang="0">
                    <a:pos x="2" y="53650"/>
                  </a:cxn>
                  <a:cxn ang="0">
                    <a:pos x="2" y="50661"/>
                  </a:cxn>
                  <a:cxn ang="0">
                    <a:pos x="4" y="51648"/>
                  </a:cxn>
                  <a:cxn ang="0">
                    <a:pos x="4" y="0"/>
                  </a:cxn>
                  <a:cxn ang="0">
                    <a:pos x="2" y="3304"/>
                  </a:cxn>
                  <a:cxn ang="0">
                    <a:pos x="2" y="512"/>
                  </a:cxn>
                  <a:cxn ang="0">
                    <a:pos x="2" y="3667"/>
                  </a:cxn>
                  <a:cxn ang="0">
                    <a:pos x="0" y="1993"/>
                  </a:cxn>
                </a:cxnLst>
                <a:rect l="0" t="0" r="0" b="0"/>
                <a:pathLst>
                  <a:path w="112" h="1300">
                    <a:moveTo>
                      <a:pt x="0" y="48"/>
                    </a:moveTo>
                    <a:lnTo>
                      <a:pt x="0" y="1284"/>
                    </a:lnTo>
                    <a:lnTo>
                      <a:pt x="48" y="1244"/>
                    </a:lnTo>
                    <a:lnTo>
                      <a:pt x="48" y="1300"/>
                    </a:lnTo>
                    <a:lnTo>
                      <a:pt x="76" y="1228"/>
                    </a:lnTo>
                    <a:lnTo>
                      <a:pt x="112" y="1252"/>
                    </a:lnTo>
                    <a:lnTo>
                      <a:pt x="112" y="0"/>
                    </a:lnTo>
                    <a:lnTo>
                      <a:pt x="76" y="80"/>
                    </a:lnTo>
                    <a:lnTo>
                      <a:pt x="68" y="12"/>
                    </a:lnTo>
                    <a:lnTo>
                      <a:pt x="44" y="88"/>
                    </a:lnTo>
                    <a:lnTo>
                      <a:pt x="0" y="48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5620" name="Object 17"/>
              <p:cNvGraphicFramePr>
                <a:graphicFrameLocks noChangeAspect="1"/>
              </p:cNvGraphicFramePr>
              <p:nvPr/>
            </p:nvGraphicFramePr>
            <p:xfrm>
              <a:off x="4337" y="3416"/>
              <a:ext cx="144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254000" imgH="292100" progId="Equation.DSMT4">
                      <p:embed/>
                    </p:oleObj>
                  </mc:Choice>
                  <mc:Fallback>
                    <p:oleObj r:id="rId14" imgW="254000" imgH="292100" progId="Equation.DSMT4">
                      <p:embed/>
                      <p:pic>
                        <p:nvPicPr>
                          <p:cNvPr id="0" name="图片 3228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65997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37" y="3416"/>
                            <a:ext cx="144" cy="1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1" name="Object 19"/>
              <p:cNvGraphicFramePr>
                <a:graphicFrameLocks noChangeAspect="1"/>
              </p:cNvGraphicFramePr>
              <p:nvPr/>
            </p:nvGraphicFramePr>
            <p:xfrm>
              <a:off x="3957" y="2075"/>
              <a:ext cx="176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317500" imgH="406400" progId="Equation.DSMT4">
                      <p:embed/>
                    </p:oleObj>
                  </mc:Choice>
                  <mc:Fallback>
                    <p:oleObj r:id="rId16" imgW="317500" imgH="406400" progId="Equation.DSMT4">
                      <p:embed/>
                      <p:pic>
                        <p:nvPicPr>
                          <p:cNvPr id="0" name="图片 3229"/>
                          <p:cNvPicPr/>
                          <p:nvPr/>
                        </p:nvPicPr>
                        <p:blipFill>
                          <a:blip r:embed="rId17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57" y="2075"/>
                            <a:ext cx="176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22" name="Object 20"/>
              <p:cNvGraphicFramePr>
                <a:graphicFrameLocks noChangeAspect="1"/>
              </p:cNvGraphicFramePr>
              <p:nvPr/>
            </p:nvGraphicFramePr>
            <p:xfrm>
              <a:off x="4351" y="2075"/>
              <a:ext cx="19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355600" imgH="406400" progId="Equation.DSMT4">
                      <p:embed/>
                    </p:oleObj>
                  </mc:Choice>
                  <mc:Fallback>
                    <p:oleObj r:id="rId18" imgW="355600" imgH="406400" progId="Equation.DSMT4">
                      <p:embed/>
                      <p:pic>
                        <p:nvPicPr>
                          <p:cNvPr id="0" name="图片 3222"/>
                          <p:cNvPicPr/>
                          <p:nvPr/>
                        </p:nvPicPr>
                        <p:blipFill>
                          <a:blip r:embed="rId19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51" y="2075"/>
                            <a:ext cx="19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23" name="Oval 27"/>
              <p:cNvSpPr/>
              <p:nvPr/>
            </p:nvSpPr>
            <p:spPr>
              <a:xfrm>
                <a:off x="4212" y="2727"/>
                <a:ext cx="60" cy="60"/>
              </a:xfrm>
              <a:prstGeom prst="ellipse">
                <a:avLst/>
              </a:prstGeom>
              <a:solidFill>
                <a:srgbClr val="993366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sz="2800" b="1" dirty="0">
                  <a:solidFill>
                    <a:srgbClr val="000000"/>
                  </a:solidFill>
                  <a:latin typeface="Verdana" panose="020B0604030504040204" pitchFamily="34" charset="0"/>
                  <a:ea typeface="华文中宋" panose="02010600040101010101" pitchFamily="2" charset="-122"/>
                </a:endParaRPr>
              </a:p>
            </p:txBody>
          </p:sp>
          <p:graphicFrame>
            <p:nvGraphicFramePr>
              <p:cNvPr id="25624" name="Object 32"/>
              <p:cNvGraphicFramePr>
                <a:graphicFrameLocks noChangeAspect="1"/>
              </p:cNvGraphicFramePr>
              <p:nvPr/>
            </p:nvGraphicFramePr>
            <p:xfrm>
              <a:off x="4195" y="2812"/>
              <a:ext cx="102" cy="1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254000" imgH="266700" progId="Equation.DSMT4">
                      <p:embed/>
                    </p:oleObj>
                  </mc:Choice>
                  <mc:Fallback>
                    <p:oleObj r:id="rId12" imgW="254000" imgH="266700" progId="Equation.DSMT4">
                      <p:embed/>
                      <p:pic>
                        <p:nvPicPr>
                          <p:cNvPr id="0" name="图片 3223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95" y="2812"/>
                            <a:ext cx="102" cy="10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0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文本框 3"/>
          <p:cNvSpPr txBox="1"/>
          <p:nvPr>
            <p:custDataLst>
              <p:tags r:id="rId1"/>
            </p:custDataLst>
          </p:nvPr>
        </p:nvSpPr>
        <p:spPr>
          <a:xfrm>
            <a:off x="467360" y="692785"/>
            <a:ext cx="827532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课前测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当一个带电导体达到静电平衡时：［      ］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  表面上电荷密度较大处电势较高         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  表面曲率较大处电势较高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(C)  导体内部的电势比导体表面的电势高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  导体内任一点与其表面上任一点的电势差等于零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71550" y="5445125"/>
            <a:ext cx="4572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答案(D)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6626" name="Text Box 20"/>
          <p:cNvSpPr txBox="1"/>
          <p:nvPr/>
        </p:nvSpPr>
        <p:spPr>
          <a:xfrm>
            <a:off x="2268538" y="765175"/>
            <a:ext cx="4191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§10-2  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电容  电容器</a:t>
            </a:r>
          </a:p>
        </p:txBody>
      </p:sp>
      <p:sp>
        <p:nvSpPr>
          <p:cNvPr id="121858" name="Text Box 2"/>
          <p:cNvSpPr txBox="1"/>
          <p:nvPr/>
        </p:nvSpPr>
        <p:spPr>
          <a:xfrm>
            <a:off x="179388" y="1557338"/>
            <a:ext cx="4191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孤立导体的电容</a:t>
            </a:r>
          </a:p>
        </p:txBody>
      </p:sp>
      <p:grpSp>
        <p:nvGrpSpPr>
          <p:cNvPr id="2" name="Group 104"/>
          <p:cNvGrpSpPr/>
          <p:nvPr/>
        </p:nvGrpSpPr>
        <p:grpSpPr>
          <a:xfrm>
            <a:off x="2916238" y="1385888"/>
            <a:ext cx="5832475" cy="784225"/>
            <a:chOff x="295" y="2478"/>
            <a:chExt cx="3674" cy="494"/>
          </a:xfrm>
        </p:grpSpPr>
        <p:graphicFrame>
          <p:nvGraphicFramePr>
            <p:cNvPr id="26629" name="Object 24"/>
            <p:cNvGraphicFramePr>
              <a:graphicFrameLocks noChangeAspect="1"/>
            </p:cNvGraphicFramePr>
            <p:nvPr/>
          </p:nvGraphicFramePr>
          <p:xfrm>
            <a:off x="3288" y="2478"/>
            <a:ext cx="681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71500" imgH="508000" progId="Equation.3">
                    <p:embed/>
                  </p:oleObj>
                </mc:Choice>
                <mc:Fallback>
                  <p:oleObj r:id="rId2" imgW="571500" imgH="508000" progId="Equation.3">
                    <p:embed/>
                    <p:pic>
                      <p:nvPicPr>
                        <p:cNvPr id="0" name="图片 3231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288" y="2478"/>
                          <a:ext cx="681" cy="4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0" name="Rectangle 39"/>
            <p:cNvSpPr/>
            <p:nvPr/>
          </p:nvSpPr>
          <p:spPr>
            <a:xfrm>
              <a:off x="295" y="2568"/>
              <a:ext cx="29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电容：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导体带电量与其电压之比</a:t>
              </a:r>
            </a:p>
          </p:txBody>
        </p:sp>
      </p:grpSp>
      <p:sp>
        <p:nvSpPr>
          <p:cNvPr id="130053" name="Text Box 5"/>
          <p:cNvSpPr txBox="1"/>
          <p:nvPr/>
        </p:nvSpPr>
        <p:spPr>
          <a:xfrm>
            <a:off x="107950" y="2276475"/>
            <a:ext cx="33829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电容器的电容</a:t>
            </a:r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2987675" y="2178050"/>
          <a:ext cx="2303463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066800" imgH="431800" progId="Equation.3">
                  <p:embed/>
                </p:oleObj>
              </mc:Choice>
              <mc:Fallback>
                <p:oleObj r:id="rId4" imgW="1066800" imgH="4318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75" y="2178050"/>
                        <a:ext cx="2303463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36" name="Object 32"/>
          <p:cNvGraphicFramePr>
            <a:graphicFrameLocks noChangeAspect="1"/>
          </p:cNvGraphicFramePr>
          <p:nvPr/>
        </p:nvGraphicFramePr>
        <p:xfrm>
          <a:off x="3562350" y="3286125"/>
          <a:ext cx="208915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88365" imgH="393700" progId="Equation.3">
                  <p:embed/>
                </p:oleObj>
              </mc:Choice>
              <mc:Fallback>
                <p:oleObj r:id="rId6" imgW="888365" imgH="3937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62350" y="3286125"/>
                        <a:ext cx="2089150" cy="1001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127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37" name="Rectangle 33"/>
          <p:cNvSpPr/>
          <p:nvPr/>
        </p:nvSpPr>
        <p:spPr>
          <a:xfrm>
            <a:off x="179388" y="3429000"/>
            <a:ext cx="3708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  </a:t>
            </a:r>
            <a:r>
              <a:rPr lang="zh-CN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平板电容器电容</a:t>
            </a:r>
          </a:p>
        </p:txBody>
      </p:sp>
      <p:sp>
        <p:nvSpPr>
          <p:cNvPr id="26635" name="Text Box 13"/>
          <p:cNvSpPr txBox="1"/>
          <p:nvPr/>
        </p:nvSpPr>
        <p:spPr>
          <a:xfrm>
            <a:off x="250825" y="4725988"/>
            <a:ext cx="46482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　球形电容器的电容</a:t>
            </a:r>
          </a:p>
        </p:txBody>
      </p:sp>
      <p:graphicFrame>
        <p:nvGraphicFramePr>
          <p:cNvPr id="139346" name="Object 82"/>
          <p:cNvGraphicFramePr>
            <a:graphicFrameLocks noChangeAspect="1"/>
          </p:cNvGraphicFramePr>
          <p:nvPr/>
        </p:nvGraphicFramePr>
        <p:xfrm>
          <a:off x="4284663" y="4652963"/>
          <a:ext cx="21431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88365" imgH="431800" progId="Equation.DSMT4">
                  <p:embed/>
                </p:oleObj>
              </mc:Choice>
              <mc:Fallback>
                <p:oleObj r:id="rId6" imgW="888365" imgH="431800" progId="Equation.DSMT4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84663" y="4652963"/>
                        <a:ext cx="2143125" cy="10445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2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8" grpId="0"/>
      <p:bldP spid="130053" grpId="0"/>
      <p:bldP spid="1239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文本框 3"/>
          <p:cNvSpPr txBox="1"/>
          <p:nvPr>
            <p:custDataLst>
              <p:tags r:id="rId1"/>
            </p:custDataLst>
          </p:nvPr>
        </p:nvSpPr>
        <p:spPr>
          <a:xfrm>
            <a:off x="503555" y="620395"/>
            <a:ext cx="8154670" cy="4615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</a:t>
            </a: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两个半径相同的金属球，一为空心，一为实心，把两者各自孤立时的电容加以比较，则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）空心球电容值大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）实心球电容值大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）两球电容值相等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）大小关系无法确定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31595" y="5516880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答案（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文本框 1"/>
          <p:cNvSpPr txBox="1"/>
          <p:nvPr/>
        </p:nvSpPr>
        <p:spPr>
          <a:xfrm>
            <a:off x="7000875" y="5245100"/>
            <a:ext cx="782638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800" b="0">
                <a:latin typeface="Verdana" panose="020B0604030504040204" pitchFamily="34" charset="0"/>
                <a:ea typeface="宋体" panose="02010600030101010101" pitchFamily="2" charset="-122"/>
              </a:rPr>
              <a:t>(D)</a:t>
            </a:r>
          </a:p>
        </p:txBody>
      </p:sp>
      <p:sp>
        <p:nvSpPr>
          <p:cNvPr id="3" name="矩形 2"/>
          <p:cNvSpPr/>
          <p:nvPr/>
        </p:nvSpPr>
        <p:spPr>
          <a:xfrm>
            <a:off x="6700838" y="5154613"/>
            <a:ext cx="1082675" cy="5508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1440" tIns="45720" rIns="91440" bIns="45720" anchor="t" anchorCtr="0"/>
          <a:lstStyle/>
          <a:p>
            <a:pPr>
              <a:buClrTx/>
              <a:buFontTx/>
            </a:pPr>
            <a:endParaRPr lang="zh-CN" altLang="en-US"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9219" name="文本框 105"/>
          <p:cNvSpPr txBox="1"/>
          <p:nvPr/>
        </p:nvSpPr>
        <p:spPr>
          <a:xfrm>
            <a:off x="485775" y="509588"/>
            <a:ext cx="6435725" cy="2168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indent="266700" eaLnBrk="0" hangingPunct="0">
              <a:lnSpc>
                <a:spcPct val="150000"/>
              </a:lnSpc>
            </a:pPr>
            <a:r>
              <a:rPr lang="zh-CN" altLang="en-US" sz="1800" b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</a:t>
            </a:r>
            <a:r>
              <a:rPr lang="en-US" altLang="zh-CN" sz="1800" b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 b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</a:p>
          <a:p>
            <a:pPr indent="266700" eaLnBrk="0" hangingPunct="0">
              <a:lnSpc>
                <a:spcPct val="150000"/>
              </a:lnSpc>
            </a:pP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一个未带电的空腔导体球壳，内半径为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b="0">
                <a:latin typeface="Verdana" panose="020B0604030504040204" pitchFamily="34" charset="0"/>
                <a:ea typeface="宋体" panose="02010600030101010101" pitchFamily="2" charset="-122"/>
              </a:rPr>
              <a:t>。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在腔内离球心的距离为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处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，固定一点电荷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，如图所示</a:t>
            </a:r>
            <a:r>
              <a:rPr lang="zh-CN" altLang="en-US" sz="1800" b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用导线把球壳接地后，再把地线撤去</a:t>
            </a:r>
            <a:r>
              <a:rPr lang="zh-CN" altLang="zh-CN" sz="1800" b="0">
                <a:latin typeface="Verdana" panose="020B0604030504040204" pitchFamily="34" charset="0"/>
                <a:ea typeface="宋体" panose="02010600030101010101" pitchFamily="2" charset="-122"/>
              </a:rPr>
              <a:t>。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选无穷远处为电势零点，则球心</a:t>
            </a:r>
            <a:r>
              <a:rPr lang="en-US" altLang="zh-CN" sz="1800" b="0" i="1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处的电势为［</a:t>
            </a: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］</a:t>
            </a:r>
            <a:endParaRPr lang="zh-CN" altLang="en-US" sz="18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0" name="文本框 106"/>
          <p:cNvSpPr txBox="1"/>
          <p:nvPr/>
        </p:nvSpPr>
        <p:spPr>
          <a:xfrm>
            <a:off x="1630363" y="2768600"/>
            <a:ext cx="4830762" cy="175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300000"/>
              </a:lnSpc>
            </a:pP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 (A)  0                                          (B)  </a:t>
            </a:r>
          </a:p>
          <a:p>
            <a:pPr eaLnBrk="0" hangingPunct="0">
              <a:lnSpc>
                <a:spcPct val="300000"/>
              </a:lnSpc>
            </a:pPr>
            <a:r>
              <a:rPr lang="en-US" altLang="zh-CN" sz="1800" b="0">
                <a:latin typeface="Times New Roman" panose="02020603050405020304" pitchFamily="18" charset="0"/>
                <a:ea typeface="宋体" panose="02010600030101010101" pitchFamily="2" charset="-122"/>
              </a:rPr>
              <a:t> (C)                                              (D) </a:t>
            </a:r>
            <a:endParaRPr lang="en-US" altLang="en-US" sz="18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221" name="Picture 12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12000" y="944563"/>
            <a:ext cx="1527175" cy="148113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222" name="对象 -2147482620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5243513" y="3044825"/>
          <a:ext cx="6540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44500" imgH="457200" progId="Equation.DSMT4">
                  <p:embed/>
                </p:oleObj>
              </mc:Choice>
              <mc:Fallback>
                <p:oleObj r:id="rId7" imgW="444500" imgH="4572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43513" y="3044825"/>
                        <a:ext cx="654050" cy="614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-2147482619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182813" y="3944938"/>
          <a:ext cx="84137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71500" imgH="457200" progId="Equation.DSMT4">
                  <p:embed/>
                </p:oleObj>
              </mc:Choice>
              <mc:Fallback>
                <p:oleObj r:id="rId9" imgW="571500" imgH="4572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82813" y="3944938"/>
                        <a:ext cx="841375" cy="639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-2147482618"/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5184775" y="3890963"/>
          <a:ext cx="127476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989965" imgH="469900" progId="Equation.DSMT4">
                  <p:embed/>
                </p:oleObj>
              </mc:Choice>
              <mc:Fallback>
                <p:oleObj r:id="rId11" imgW="989965" imgH="4699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84775" y="3890963"/>
                        <a:ext cx="1274763" cy="614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7" grpId="1"/>
      <p:bldP spid="3" grpId="1" animBg="1"/>
      <p:bldP spid="3" grpId="2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7650" name="Text Box 74"/>
          <p:cNvSpPr txBox="1"/>
          <p:nvPr/>
        </p:nvSpPr>
        <p:spPr>
          <a:xfrm>
            <a:off x="2051050" y="711200"/>
            <a:ext cx="44132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§10-3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静电场中的电介质</a:t>
            </a:r>
          </a:p>
        </p:txBody>
      </p:sp>
      <p:sp>
        <p:nvSpPr>
          <p:cNvPr id="27651" name="Text Box 29"/>
          <p:cNvSpPr txBox="1"/>
          <p:nvPr/>
        </p:nvSpPr>
        <p:spPr>
          <a:xfrm>
            <a:off x="107950" y="1412875"/>
            <a:ext cx="45069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、电介质对电容及电场的影响</a:t>
            </a:r>
          </a:p>
        </p:txBody>
      </p:sp>
      <p:graphicFrame>
        <p:nvGraphicFramePr>
          <p:cNvPr id="29" name="Object 13"/>
          <p:cNvGraphicFramePr>
            <a:graphicFrameLocks noChangeAspect="1"/>
          </p:cNvGraphicFramePr>
          <p:nvPr/>
        </p:nvGraphicFramePr>
        <p:xfrm>
          <a:off x="1835150" y="1989138"/>
          <a:ext cx="12477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600" imgH="457200" progId="Equation.DSMT4">
                  <p:embed/>
                </p:oleObj>
              </mc:Choice>
              <mc:Fallback>
                <p:oleObj r:id="rId2" imgW="736600" imgH="457200" progId="Equation.DSMT4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5150" y="1989138"/>
                        <a:ext cx="1247775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275013" y="2205038"/>
            <a:ext cx="26336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成立条件：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不变</a:t>
            </a:r>
          </a:p>
        </p:txBody>
      </p:sp>
      <p:graphicFrame>
        <p:nvGraphicFramePr>
          <p:cNvPr id="30940" name="Object 220"/>
          <p:cNvGraphicFramePr>
            <a:graphicFrameLocks noChangeAspect="1"/>
          </p:cNvGraphicFramePr>
          <p:nvPr/>
        </p:nvGraphicFramePr>
        <p:xfrm>
          <a:off x="4826000" y="1327150"/>
          <a:ext cx="158273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1500" imgH="228600" progId="Equation.3">
                  <p:embed/>
                </p:oleObj>
              </mc:Choice>
              <mc:Fallback>
                <p:oleObj r:id="rId4" imgW="571500" imgH="2286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6000" y="1327150"/>
                        <a:ext cx="1582738" cy="6334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WordArt 5"/>
          <p:cNvSpPr>
            <a:spLocks noTextEdit="1"/>
          </p:cNvSpPr>
          <p:nvPr/>
        </p:nvSpPr>
        <p:spPr>
          <a:xfrm>
            <a:off x="171450" y="2925763"/>
            <a:ext cx="4575175" cy="3825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50000"/>
          </a:bodyPr>
          <a:lstStyle/>
          <a:p>
            <a:pPr algn="ctr" fontAlgn="base"/>
            <a:r>
              <a:rPr lang="en-US" altLang="zh-CN" sz="3600" b="1" strike="noStrike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3600" b="1" strike="noStrike" noProof="1">
                <a:ln w="9525" cap="flat" cmpd="sng">
                  <a:solidFill>
                    <a:srgbClr val="0066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、静电场的高斯定理的三种形式</a:t>
            </a:r>
            <a:endParaRPr lang="zh-CN" altLang="en-US" sz="3600" b="1" strike="noStrike" noProof="1">
              <a:ln w="9525" cap="flat" cmpd="sng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1188" y="3435350"/>
            <a:ext cx="7219950" cy="1774825"/>
            <a:chOff x="511399" y="3390953"/>
            <a:chExt cx="7219581" cy="1774220"/>
          </a:xfrm>
        </p:grpSpPr>
        <p:graphicFrame>
          <p:nvGraphicFramePr>
            <p:cNvPr id="27657" name="Object 3"/>
            <p:cNvGraphicFramePr>
              <a:graphicFrameLocks noChangeAspect="1"/>
            </p:cNvGraphicFramePr>
            <p:nvPr/>
          </p:nvGraphicFramePr>
          <p:xfrm>
            <a:off x="616170" y="3390953"/>
            <a:ext cx="2665423" cy="911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93800" imgH="431800" progId="Equation.DSMT4">
                    <p:embed/>
                  </p:oleObj>
                </mc:Choice>
                <mc:Fallback>
                  <p:oleObj r:id="rId2" imgW="1193800" imgH="431800" progId="Equation.DSMT4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6170" y="3390953"/>
                          <a:ext cx="2665423" cy="911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58" name="Object 2"/>
            <p:cNvGraphicFramePr>
              <a:graphicFrameLocks noChangeAspect="1"/>
            </p:cNvGraphicFramePr>
            <p:nvPr/>
          </p:nvGraphicFramePr>
          <p:xfrm>
            <a:off x="511399" y="4487310"/>
            <a:ext cx="2874963" cy="677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028065" imgH="292100" progId="Equation.DSMT4">
                    <p:embed/>
                  </p:oleObj>
                </mc:Choice>
                <mc:Fallback>
                  <p:oleObj r:id="rId2" imgW="1028065" imgH="292100" progId="Equation.DSMT4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11399" y="4487310"/>
                          <a:ext cx="2874963" cy="6778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9" name="右大括号 7"/>
            <p:cNvSpPr/>
            <p:nvPr/>
          </p:nvSpPr>
          <p:spPr>
            <a:xfrm>
              <a:off x="3445945" y="3614823"/>
              <a:ext cx="324036" cy="1317338"/>
            </a:xfrm>
            <a:prstGeom prst="rightBrace">
              <a:avLst>
                <a:gd name="adj1" fmla="val 8168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矩形 8"/>
            <p:cNvSpPr/>
            <p:nvPr/>
          </p:nvSpPr>
          <p:spPr>
            <a:xfrm>
              <a:off x="3892256" y="3646363"/>
              <a:ext cx="3838724" cy="11999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eaLnBrk="0" hangingPunct="0"/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形式不同，但</a:t>
              </a:r>
              <a:r>
                <a:rPr lang="zh-CN" altLang="en-US" sz="2400" dirty="0">
                  <a:solidFill>
                    <a:srgbClr val="FF0000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等价</a:t>
              </a:r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的。适用于任何静电场（包括真空中和介质中）</a:t>
              </a:r>
            </a:p>
          </p:txBody>
        </p:sp>
      </p:grpSp>
      <p:graphicFrame>
        <p:nvGraphicFramePr>
          <p:cNvPr id="42" name="Object 2"/>
          <p:cNvGraphicFramePr>
            <a:graphicFrameLocks noChangeAspect="1"/>
          </p:cNvGraphicFramePr>
          <p:nvPr/>
        </p:nvGraphicFramePr>
        <p:xfrm>
          <a:off x="636588" y="5451475"/>
          <a:ext cx="29098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40765" imgH="431800" progId="Equation.DSMT4">
                  <p:embed/>
                </p:oleObj>
              </mc:Choice>
              <mc:Fallback>
                <p:oleObj r:id="rId2" imgW="1040765" imgH="431800" progId="Equation.DSMT4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6588" y="5451475"/>
                        <a:ext cx="2909887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/>
          <p:nvPr/>
        </p:nvSpPr>
        <p:spPr>
          <a:xfrm>
            <a:off x="3779838" y="5661025"/>
            <a:ext cx="43608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sz="2400" dirty="0">
                <a:latin typeface="Verdana" panose="020B0604030504040204" pitchFamily="34" charset="0"/>
                <a:ea typeface="宋体" panose="02010600030101010101" pitchFamily="2" charset="-122"/>
              </a:rPr>
              <a:t>只适用于各向同性均匀电介质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21513" grpId="0"/>
      <p:bldP spid="21513" grpId="1"/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组合 12"/>
          <p:cNvGrpSpPr/>
          <p:nvPr/>
        </p:nvGrpSpPr>
        <p:grpSpPr>
          <a:xfrm>
            <a:off x="558800" y="695325"/>
            <a:ext cx="8105823" cy="3969385"/>
            <a:chOff x="742" y="990"/>
            <a:chExt cx="12764" cy="6251"/>
          </a:xfrm>
        </p:grpSpPr>
        <p:grpSp>
          <p:nvGrpSpPr>
            <p:cNvPr id="10242" name="组合 3"/>
            <p:cNvGrpSpPr/>
            <p:nvPr/>
          </p:nvGrpSpPr>
          <p:grpSpPr>
            <a:xfrm>
              <a:off x="742" y="990"/>
              <a:ext cx="12764" cy="6251"/>
              <a:chOff x="445" y="6428"/>
              <a:chExt cx="12764" cy="6251"/>
            </a:xfrm>
          </p:grpSpPr>
          <p:sp>
            <p:nvSpPr>
              <p:cNvPr id="10243" name="文本框 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445" y="6428"/>
                <a:ext cx="12764" cy="6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eaLnBrk="0" hangingPunct="0">
                  <a:lnSpc>
                    <a:spcPct val="150000"/>
                  </a:lnSpc>
                </a:pPr>
                <a:r>
                  <a:rPr lang="zh-CN" altLang="en-US" sz="2800" b="1">
                    <a:solidFill>
                      <a:srgbClr val="0000FF"/>
                    </a:solidFill>
                    <a:latin typeface="Verdana" panose="020B0604030504040204" pitchFamily="34" charset="0"/>
                    <a:ea typeface="宋体" panose="02010600030101010101" pitchFamily="2" charset="-122"/>
                  </a:rPr>
                  <a:t>讨论题：</a:t>
                </a:r>
                <a:endParaRPr lang="zh-CN" altLang="en-US" sz="28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  <a:p>
                <a:pPr eaLnBrk="0" hangingPunct="0">
                  <a:lnSpc>
                    <a:spcPct val="150000"/>
                  </a:lnSpc>
                </a:pPr>
                <a:r>
                  <a:rPr lang="zh-CN" altLang="en-US" sz="2800">
                    <a:solidFill>
                      <a:srgbClr val="0000FF"/>
                    </a:solidFill>
                    <a:latin typeface="Verdan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2800">
                    <a:solidFill>
                      <a:srgbClr val="0000FF"/>
                    </a:solidFill>
                    <a:latin typeface="Verdana" panose="020B0604030504040204" pitchFamily="34" charset="0"/>
                    <a:ea typeface="宋体" panose="02010600030101010101" pitchFamily="2" charset="-122"/>
                  </a:rPr>
                  <a:t> 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一导体球外</a:t>
                </a:r>
                <a:r>
                  <a:rPr lang="zh-CN" altLang="zh-CN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为空气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，若测得导体表面附近场强为</a:t>
                </a: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，则导体球面上的电荷面密度</a:t>
                </a: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</a:rPr>
                  <a:t>为多少？</a:t>
                </a:r>
              </a:p>
              <a:p>
                <a:pPr eaLnBrk="0" hangingPunct="0">
                  <a:lnSpc>
                    <a:spcPct val="150000"/>
                  </a:lnSpc>
                </a:pP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  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一导体球外充满</a:t>
                </a:r>
                <a:r>
                  <a:rPr lang="zh-CN" altLang="zh-CN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相对介电常数为</a:t>
                </a: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的各向同性均匀电介质，若测得导体表面附近场强为</a:t>
                </a: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，则导体球面上的电荷面密度</a:t>
                </a:r>
                <a:r>
                  <a:rPr lang="en-US" altLang="zh-CN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    </a:t>
                </a:r>
                <a:r>
                  <a:rPr lang="zh-CN" altLang="en-US" sz="2800" b="1">
                    <a:latin typeface="Verdana" panose="020B060403050404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为多少？</a:t>
                </a:r>
                <a:endParaRPr lang="en-US" altLang="zh-CN" sz="2800" b="1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0244" name="Object 31"/>
              <p:cNvGraphicFramePr>
                <a:graphicFrameLocks noChangeAspect="1"/>
              </p:cNvGraphicFramePr>
              <p:nvPr>
                <p:custDataLst>
                  <p:tags r:id="rId5"/>
                </p:custDataLst>
              </p:nvPr>
            </p:nvGraphicFramePr>
            <p:xfrm>
              <a:off x="7331" y="11867"/>
              <a:ext cx="640" cy="6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52400" imgH="139700" progId="Equation.3">
                      <p:embed/>
                    </p:oleObj>
                  </mc:Choice>
                  <mc:Fallback>
                    <p:oleObj r:id="rId8" imgW="152400" imgH="1397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9">
                            <a:lum bright="-71994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331" y="11867"/>
                            <a:ext cx="640" cy="65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5" name="Object 31"/>
              <p:cNvGraphicFramePr>
                <a:graphicFrameLocks noChangeAspect="1"/>
              </p:cNvGraphicFramePr>
              <p:nvPr>
                <p:custDataLst>
                  <p:tags r:id="rId6"/>
                </p:custDataLst>
              </p:nvPr>
            </p:nvGraphicFramePr>
            <p:xfrm>
              <a:off x="9712" y="9599"/>
              <a:ext cx="812" cy="10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65100" imgH="215900" progId="Equation.3">
                      <p:embed/>
                    </p:oleObj>
                  </mc:Choice>
                  <mc:Fallback>
                    <p:oleObj r:id="rId10" imgW="165100" imgH="21590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11">
                            <a:lum bright="-71994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712" y="9599"/>
                            <a:ext cx="812" cy="10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46" name="组合 11"/>
            <p:cNvGrpSpPr/>
            <p:nvPr/>
          </p:nvGrpSpPr>
          <p:grpSpPr>
            <a:xfrm>
              <a:off x="1392" y="3393"/>
              <a:ext cx="10991" cy="2718"/>
              <a:chOff x="1392" y="3393"/>
              <a:chExt cx="10991" cy="2718"/>
            </a:xfrm>
          </p:grpSpPr>
          <p:graphicFrame>
            <p:nvGraphicFramePr>
              <p:cNvPr id="10247" name="Object 31"/>
              <p:cNvGraphicFramePr>
                <a:graphicFrameLocks noChangeAspect="1"/>
              </p:cNvGraphicFramePr>
              <p:nvPr>
                <p:custDataLst>
                  <p:tags r:id="rId1"/>
                </p:custDataLst>
              </p:nvPr>
            </p:nvGraphicFramePr>
            <p:xfrm>
              <a:off x="1392" y="3452"/>
              <a:ext cx="703" cy="6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52400" imgH="165100" progId="Equation.3">
                      <p:embed/>
                    </p:oleObj>
                  </mc:Choice>
                  <mc:Fallback>
                    <p:oleObj r:id="rId12" imgW="152400" imgH="165100" progId="Equation.3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13">
                            <a:lum bright="-71994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392" y="3452"/>
                            <a:ext cx="703" cy="6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8" name="Object 31"/>
              <p:cNvGraphicFramePr>
                <a:graphicFrameLocks noChangeAspect="1"/>
              </p:cNvGraphicFramePr>
              <p:nvPr>
                <p:custDataLst>
                  <p:tags r:id="rId2"/>
                </p:custDataLst>
              </p:nvPr>
            </p:nvGraphicFramePr>
            <p:xfrm>
              <a:off x="11628" y="5408"/>
              <a:ext cx="755" cy="7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52400" imgH="165100" progId="Equation.3">
                      <p:embed/>
                    </p:oleObj>
                  </mc:Choice>
                  <mc:Fallback>
                    <p:oleObj r:id="rId12" imgW="152400" imgH="165100" progId="Equation.3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13">
                            <a:lum bright="-71994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628" y="5408"/>
                            <a:ext cx="755" cy="7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49" name="Object 31"/>
              <p:cNvGraphicFramePr>
                <a:graphicFrameLocks noChangeAspect="1"/>
              </p:cNvGraphicFramePr>
              <p:nvPr>
                <p:custDataLst>
                  <p:tags r:id="rId3"/>
                </p:custDataLst>
              </p:nvPr>
            </p:nvGraphicFramePr>
            <p:xfrm>
              <a:off x="9641" y="3393"/>
              <a:ext cx="635" cy="6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152400" imgH="139700" progId="Equation.3">
                      <p:embed/>
                    </p:oleObj>
                  </mc:Choice>
                  <mc:Fallback>
                    <p:oleObj r:id="rId14" imgW="152400" imgH="1397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9">
                            <a:lum bright="-71994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641" y="3393"/>
                            <a:ext cx="635" cy="6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" name="Object 31"/>
          <p:cNvGraphicFramePr>
            <a:graphicFrameLocks noChangeAspect="1"/>
          </p:cNvGraphicFramePr>
          <p:nvPr/>
        </p:nvGraphicFramePr>
        <p:xfrm>
          <a:off x="971550" y="4942205"/>
          <a:ext cx="1863090" cy="6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698500" imgH="241300" progId="Equation.3">
                  <p:embed/>
                </p:oleObj>
              </mc:Choice>
              <mc:Fallback>
                <p:oleObj r:id="rId15" imgW="698500" imgH="2413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6">
                        <a:lum bright="-71994"/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942205"/>
                        <a:ext cx="1863090" cy="6432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1"/>
          <p:cNvGraphicFramePr>
            <a:graphicFrameLocks noChangeAspect="1"/>
          </p:cNvGraphicFramePr>
          <p:nvPr/>
        </p:nvGraphicFramePr>
        <p:xfrm>
          <a:off x="3935798" y="4868863"/>
          <a:ext cx="2270125" cy="71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50900" imgH="241300" progId="Equation.3">
                  <p:embed/>
                </p:oleObj>
              </mc:Choice>
              <mc:Fallback>
                <p:oleObj r:id="rId17" imgW="850900" imgH="2413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8">
                        <a:lum bright="-71994"/>
                      </a:blip>
                      <a:stretch>
                        <a:fillRect/>
                      </a:stretch>
                    </p:blipFill>
                    <p:spPr>
                      <a:xfrm>
                        <a:off x="3935798" y="4868863"/>
                        <a:ext cx="2270125" cy="716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文本框 3"/>
          <p:cNvSpPr txBox="1"/>
          <p:nvPr>
            <p:custDataLst>
              <p:tags r:id="rId1"/>
            </p:custDataLst>
          </p:nvPr>
        </p:nvSpPr>
        <p:spPr>
          <a:xfrm>
            <a:off x="539750" y="595630"/>
            <a:ext cx="2130425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课前测： </a:t>
            </a:r>
            <a:r>
              <a:rPr lang="en-US" altLang="zh-CN" sz="2800" b="1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80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</a:t>
            </a:r>
            <a:endParaRPr lang="zh-CN" altLang="en-US" sz="2800">
              <a:solidFill>
                <a:srgbClr val="00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16" name="组合 6"/>
          <p:cNvGrpSpPr/>
          <p:nvPr/>
        </p:nvGrpSpPr>
        <p:grpSpPr>
          <a:xfrm>
            <a:off x="539427" y="1124921"/>
            <a:ext cx="8102600" cy="4548374"/>
            <a:chOff x="906" y="5231"/>
            <a:chExt cx="12758" cy="7166"/>
          </a:xfrm>
        </p:grpSpPr>
        <p:sp>
          <p:nvSpPr>
            <p:cNvPr id="13317" name="文本框 111"/>
            <p:cNvSpPr txBox="1"/>
            <p:nvPr>
              <p:custDataLst>
                <p:tags r:id="rId2"/>
              </p:custDataLst>
            </p:nvPr>
          </p:nvSpPr>
          <p:spPr>
            <a:xfrm>
              <a:off x="1020" y="8180"/>
              <a:ext cx="12194" cy="421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indent="228600">
                <a:lnSpc>
                  <a:spcPct val="150000"/>
                </a:lnSpc>
              </a:pP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(A)  </a:t>
              </a:r>
              <a:r>
                <a:rPr lang="zh-CN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既无自由电荷，也无束缚电荷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;         </a:t>
              </a:r>
            </a:p>
            <a:p>
              <a:pPr indent="228600">
                <a:lnSpc>
                  <a:spcPct val="150000"/>
                </a:lnSpc>
              </a:pP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 (B)  </a:t>
              </a:r>
              <a:r>
                <a:rPr lang="zh-CN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没有自由电荷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;</a:t>
              </a:r>
            </a:p>
            <a:p>
              <a:pPr indent="228600">
                <a:lnSpc>
                  <a:spcPct val="150000"/>
                </a:lnSpc>
              </a:pP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 (C)  </a:t>
              </a:r>
              <a:r>
                <a:rPr lang="zh-CN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自由电荷和束缚电荷的代数和为零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 ;    </a:t>
              </a:r>
            </a:p>
            <a:p>
              <a:pPr indent="228600">
                <a:lnSpc>
                  <a:spcPct val="150000"/>
                </a:lnSpc>
              </a:pP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 (D)  </a:t>
              </a:r>
              <a:r>
                <a:rPr lang="zh-CN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自由电荷的代数和为零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.</a:t>
              </a:r>
            </a:p>
          </p:txBody>
        </p:sp>
        <p:grpSp>
          <p:nvGrpSpPr>
            <p:cNvPr id="13318" name="组合 4"/>
            <p:cNvGrpSpPr/>
            <p:nvPr/>
          </p:nvGrpSpPr>
          <p:grpSpPr>
            <a:xfrm>
              <a:off x="906" y="5231"/>
              <a:ext cx="12758" cy="2859"/>
              <a:chOff x="906" y="5231"/>
              <a:chExt cx="12758" cy="2859"/>
            </a:xfrm>
          </p:grpSpPr>
          <p:sp>
            <p:nvSpPr>
              <p:cNvPr id="13319" name="文本框 10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06" y="5231"/>
                <a:ext cx="12758" cy="28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 indent="228600">
                  <a:lnSpc>
                    <a:spcPct val="200000"/>
                  </a:lnSpc>
                </a:pPr>
                <a:r>
                  <a:rPr lang="zh-CN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在静电场中，作闭合曲面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zh-CN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，若有</a:t>
                </a:r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                </a:t>
                </a:r>
                <a:r>
                  <a:rPr lang="zh-CN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（式中</a:t>
                </a:r>
                <a:r>
                  <a:rPr lang="en-US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    </a:t>
                </a:r>
                <a:r>
                  <a:rPr lang="zh-CN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为电位移矢量），则</a:t>
                </a:r>
                <a:r>
                  <a:rPr lang="en-US" altLang="zh-CN" sz="2800" b="1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S</a:t>
                </a:r>
                <a:r>
                  <a:rPr lang="zh-CN" altLang="zh-CN" sz="28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面内必定</a:t>
                </a:r>
                <a:endParaRPr lang="zh-CN" altLang="en-US" sz="28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3320" name="对象 -2147482621"/>
              <p:cNvGraphicFramePr>
                <a:graphicFrameLocks noChangeAspect="1"/>
              </p:cNvGraphicFramePr>
              <p:nvPr>
                <p:custDataLst>
                  <p:tags r:id="rId4"/>
                </p:custDataLst>
              </p:nvPr>
            </p:nvGraphicFramePr>
            <p:xfrm>
              <a:off x="9637" y="5685"/>
              <a:ext cx="3806" cy="1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977265" imgH="292100" progId="Equation.DSMT4">
                      <p:embed/>
                    </p:oleObj>
                  </mc:Choice>
                  <mc:Fallback>
                    <p:oleObj r:id="rId8" imgW="977265" imgH="292100" progId="Equation.DSMT4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637" y="5685"/>
                            <a:ext cx="3806" cy="11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21" name="对象 -2147482624"/>
              <p:cNvGraphicFramePr>
                <a:graphicFrameLocks noChangeAspect="1"/>
              </p:cNvGraphicFramePr>
              <p:nvPr>
                <p:custDataLst>
                  <p:tags r:id="rId5"/>
                </p:custDataLst>
              </p:nvPr>
            </p:nvGraphicFramePr>
            <p:xfrm>
              <a:off x="2720" y="7044"/>
              <a:ext cx="647" cy="8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65100" imgH="203200" progId="Equation.DSMT4">
                      <p:embed/>
                    </p:oleObj>
                  </mc:Choice>
                  <mc:Fallback>
                    <p:oleObj r:id="rId10" imgW="165100" imgH="203200" progId="Equation.DSMT4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720" y="7044"/>
                            <a:ext cx="647" cy="83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3322" name="文本框 1"/>
          <p:cNvSpPr txBox="1"/>
          <p:nvPr/>
        </p:nvSpPr>
        <p:spPr>
          <a:xfrm>
            <a:off x="899795" y="5865495"/>
            <a:ext cx="19837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答案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" grpId="0"/>
      <p:bldP spid="1332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文本框 8"/>
          <p:cNvSpPr txBox="1"/>
          <p:nvPr/>
        </p:nvSpPr>
        <p:spPr>
          <a:xfrm>
            <a:off x="541338" y="188913"/>
            <a:ext cx="7980362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各节必须记住的基本概念、定律、定理和公式</a:t>
            </a:r>
          </a:p>
        </p:txBody>
      </p:sp>
      <p:sp>
        <p:nvSpPr>
          <p:cNvPr id="28674" name="Rectangle 2"/>
          <p:cNvSpPr/>
          <p:nvPr/>
        </p:nvSpPr>
        <p:spPr>
          <a:xfrm>
            <a:off x="2051050" y="836613"/>
            <a:ext cx="5314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§10-4   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电容器储能  电场的能量</a:t>
            </a:r>
          </a:p>
        </p:txBody>
      </p:sp>
      <p:sp>
        <p:nvSpPr>
          <p:cNvPr id="14344" name="Rectangle 8"/>
          <p:cNvSpPr/>
          <p:nvPr/>
        </p:nvSpPr>
        <p:spPr>
          <a:xfrm>
            <a:off x="179388" y="1773238"/>
            <a:ext cx="2803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1、电容器储能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</a:p>
        </p:txBody>
      </p: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2982913" y="1557338"/>
          <a:ext cx="3419475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0300" imgH="419100" progId="Equation.3">
                  <p:embed/>
                </p:oleObj>
              </mc:Choice>
              <mc:Fallback>
                <p:oleObj r:id="rId2" imgW="1130300" imgH="4191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82913" y="1557338"/>
                        <a:ext cx="3419475" cy="11318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2"/>
          <p:cNvSpPr txBox="1"/>
          <p:nvPr/>
        </p:nvSpPr>
        <p:spPr>
          <a:xfrm>
            <a:off x="277813" y="3059113"/>
            <a:ext cx="4267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、电场能量密度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205163" y="3143250"/>
          <a:ext cx="4318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0500" imgH="228600" progId="Equation.DSMT4">
                  <p:embed/>
                </p:oleObj>
              </mc:Choice>
              <mc:Fallback>
                <p:oleObj r:id="rId4" imgW="190500" imgH="228600" progId="Equation.DSMT4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05163" y="3143250"/>
                        <a:ext cx="431800" cy="517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3779838" y="2892425"/>
          <a:ext cx="14033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20700" imgH="393700" progId="Equation.DSMT4">
                  <p:embed/>
                </p:oleObj>
              </mc:Choice>
              <mc:Fallback>
                <p:oleObj r:id="rId6" imgW="520700" imgH="393700" progId="Equation.DSMT4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79838" y="2892425"/>
                        <a:ext cx="1403350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Rectangle 10"/>
          <p:cNvSpPr/>
          <p:nvPr/>
        </p:nvSpPr>
        <p:spPr>
          <a:xfrm>
            <a:off x="3149600" y="4005263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楷体_GB2312" pitchFamily="49" charset="-122"/>
              </a:rPr>
              <a:t>对任意静电场成立</a:t>
            </a:r>
          </a:p>
        </p:txBody>
      </p:sp>
      <p:sp>
        <p:nvSpPr>
          <p:cNvPr id="17415" name="Text Box 7"/>
          <p:cNvSpPr txBox="1"/>
          <p:nvPr/>
        </p:nvSpPr>
        <p:spPr>
          <a:xfrm>
            <a:off x="393700" y="4868863"/>
            <a:ext cx="23749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电场能量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2916238" y="4652963"/>
          <a:ext cx="245903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91565" imgH="444500" progId="Equation.DSMT4">
                  <p:embed/>
                </p:oleObj>
              </mc:Choice>
              <mc:Fallback>
                <p:oleObj r:id="rId8" imgW="1091565" imgH="444500" progId="Equation.DSMT4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16238" y="4652963"/>
                        <a:ext cx="2459037" cy="998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/>
      <p:bldP spid="27653" grpId="0"/>
      <p:bldP spid="27653" grpId="1"/>
      <p:bldP spid="17418" grpId="0"/>
      <p:bldP spid="174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32"/>
          <p:cNvGrpSpPr/>
          <p:nvPr/>
        </p:nvGrpSpPr>
        <p:grpSpPr>
          <a:xfrm>
            <a:off x="6310313" y="2709863"/>
            <a:ext cx="1981200" cy="1944687"/>
            <a:chOff x="4014" y="1389"/>
            <a:chExt cx="1248" cy="1225"/>
          </a:xfrm>
        </p:grpSpPr>
        <p:sp>
          <p:nvSpPr>
            <p:cNvPr id="10242" name="Line 10"/>
            <p:cNvSpPr/>
            <p:nvPr/>
          </p:nvSpPr>
          <p:spPr>
            <a:xfrm flipH="1">
              <a:off x="4604" y="2251"/>
              <a:ext cx="0" cy="363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3" name="Line 12"/>
            <p:cNvSpPr/>
            <p:nvPr/>
          </p:nvSpPr>
          <p:spPr>
            <a:xfrm>
              <a:off x="4686" y="2352"/>
              <a:ext cx="0" cy="19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4" name="Line 14"/>
            <p:cNvSpPr/>
            <p:nvPr/>
          </p:nvSpPr>
          <p:spPr>
            <a:xfrm flipV="1">
              <a:off x="4830" y="1824"/>
              <a:ext cx="432" cy="1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5" name="Line 15"/>
            <p:cNvSpPr/>
            <p:nvPr/>
          </p:nvSpPr>
          <p:spPr>
            <a:xfrm>
              <a:off x="4686" y="2448"/>
              <a:ext cx="57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6" name="Line 16"/>
            <p:cNvSpPr/>
            <p:nvPr/>
          </p:nvSpPr>
          <p:spPr>
            <a:xfrm>
              <a:off x="5262" y="1824"/>
              <a:ext cx="0" cy="62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7" name="Line 17"/>
            <p:cNvSpPr/>
            <p:nvPr/>
          </p:nvSpPr>
          <p:spPr>
            <a:xfrm flipH="1" flipV="1">
              <a:off x="4014" y="1824"/>
              <a:ext cx="408" cy="18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8" name="Line 18"/>
            <p:cNvSpPr/>
            <p:nvPr/>
          </p:nvSpPr>
          <p:spPr>
            <a:xfrm flipH="1">
              <a:off x="4014" y="2448"/>
              <a:ext cx="57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249" name="Line 19"/>
            <p:cNvSpPr/>
            <p:nvPr/>
          </p:nvSpPr>
          <p:spPr>
            <a:xfrm flipV="1">
              <a:off x="4014" y="1824"/>
              <a:ext cx="0" cy="624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0250" name="Group 31"/>
            <p:cNvGrpSpPr/>
            <p:nvPr/>
          </p:nvGrpSpPr>
          <p:grpSpPr>
            <a:xfrm>
              <a:off x="4438" y="1389"/>
              <a:ext cx="363" cy="635"/>
              <a:chOff x="4377" y="1389"/>
              <a:chExt cx="363" cy="635"/>
            </a:xfrm>
          </p:grpSpPr>
          <p:sp>
            <p:nvSpPr>
              <p:cNvPr id="10251" name="Line 9"/>
              <p:cNvSpPr/>
              <p:nvPr/>
            </p:nvSpPr>
            <p:spPr>
              <a:xfrm>
                <a:off x="4377" y="1706"/>
                <a:ext cx="0" cy="318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2" name="Line 11"/>
              <p:cNvSpPr/>
              <p:nvPr/>
            </p:nvSpPr>
            <p:spPr>
              <a:xfrm>
                <a:off x="4740" y="1706"/>
                <a:ext cx="0" cy="318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0253" name="Rectangle 20" descr="50%"/>
              <p:cNvSpPr/>
              <p:nvPr/>
            </p:nvSpPr>
            <p:spPr>
              <a:xfrm>
                <a:off x="4377" y="1389"/>
                <a:ext cx="363" cy="288"/>
              </a:xfrm>
              <a:prstGeom prst="rect">
                <a:avLst/>
              </a:prstGeom>
              <a:blipFill rotWithShape="0">
                <a:blip r:embed="rId9"/>
              </a:blip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4" name="Line 21"/>
              <p:cNvSpPr/>
              <p:nvPr/>
            </p:nvSpPr>
            <p:spPr>
              <a:xfrm>
                <a:off x="4558" y="1706"/>
                <a:ext cx="0" cy="192"/>
              </a:xfrm>
              <a:prstGeom prst="line">
                <a:avLst/>
              </a:prstGeom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sp>
        <p:nvSpPr>
          <p:cNvPr id="27671" name="Text Box 23"/>
          <p:cNvSpPr txBox="1"/>
          <p:nvPr/>
        </p:nvSpPr>
        <p:spPr>
          <a:xfrm>
            <a:off x="503238" y="2438400"/>
            <a:ext cx="4146550" cy="534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电源保持连接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U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一定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673" name="Text Box 25"/>
          <p:cNvSpPr txBox="1"/>
          <p:nvPr/>
        </p:nvSpPr>
        <p:spPr>
          <a:xfrm>
            <a:off x="1116013" y="3068638"/>
            <a:ext cx="32258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插入介质后</a:t>
            </a:r>
            <a:r>
              <a:rPr lang="zh-CN" altLang="en-US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增大</a:t>
            </a:r>
            <a:endParaRPr lang="zh-CN" altLang="en-US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27684" name="Text Box 36"/>
          <p:cNvSpPr txBox="1"/>
          <p:nvPr/>
        </p:nvSpPr>
        <p:spPr>
          <a:xfrm>
            <a:off x="647700" y="5013325"/>
            <a:ext cx="7980363" cy="449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若将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电源保持连接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改为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电源断开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结果？</a:t>
            </a:r>
          </a:p>
        </p:txBody>
      </p:sp>
      <p:grpSp>
        <p:nvGrpSpPr>
          <p:cNvPr id="4" name="Group 42"/>
          <p:cNvGrpSpPr/>
          <p:nvPr/>
        </p:nvGrpSpPr>
        <p:grpSpPr>
          <a:xfrm>
            <a:off x="1202373" y="5588953"/>
            <a:ext cx="3441700" cy="792162"/>
            <a:chOff x="1075" y="3612"/>
            <a:chExt cx="2168" cy="499"/>
          </a:xfrm>
        </p:grpSpPr>
        <p:graphicFrame>
          <p:nvGraphicFramePr>
            <p:cNvPr id="10261" name="Object 37"/>
            <p:cNvGraphicFramePr>
              <a:graphicFrameLocks noChangeAspect="1"/>
            </p:cNvGraphicFramePr>
            <p:nvPr/>
          </p:nvGraphicFramePr>
          <p:xfrm>
            <a:off x="1474" y="3612"/>
            <a:ext cx="680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71500" imgH="419100" progId="Equation.3">
                    <p:embed/>
                  </p:oleObj>
                </mc:Choice>
                <mc:Fallback>
                  <p:oleObj r:id="rId10" imgW="571500" imgH="4191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474" y="3612"/>
                          <a:ext cx="680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2" name="Text Box 38"/>
            <p:cNvSpPr txBox="1"/>
            <p:nvPr/>
          </p:nvSpPr>
          <p:spPr>
            <a:xfrm>
              <a:off x="1075" y="3716"/>
              <a:ext cx="27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rPr>
                <a:t>由</a:t>
              </a:r>
            </a:p>
          </p:txBody>
        </p:sp>
        <p:graphicFrame>
          <p:nvGraphicFramePr>
            <p:cNvPr id="10263" name="Object 39"/>
            <p:cNvGraphicFramePr>
              <a:graphicFrameLocks noChangeAspect="1"/>
            </p:cNvGraphicFramePr>
            <p:nvPr/>
          </p:nvGraphicFramePr>
          <p:xfrm>
            <a:off x="2744" y="3748"/>
            <a:ext cx="49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57200" imgH="215900" progId="Equation.3">
                    <p:embed/>
                  </p:oleObj>
                </mc:Choice>
                <mc:Fallback>
                  <p:oleObj r:id="rId12" imgW="457200" imgH="2159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744" y="3748"/>
                          <a:ext cx="499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3"/>
          <p:cNvGrpSpPr/>
          <p:nvPr/>
        </p:nvGrpSpPr>
        <p:grpSpPr>
          <a:xfrm>
            <a:off x="5651818" y="5754053"/>
            <a:ext cx="1522412" cy="530225"/>
            <a:chOff x="3696" y="3679"/>
            <a:chExt cx="1104" cy="288"/>
          </a:xfrm>
        </p:grpSpPr>
        <p:graphicFrame>
          <p:nvGraphicFramePr>
            <p:cNvPr id="10265" name="Object 40"/>
            <p:cNvGraphicFramePr>
              <a:graphicFrameLocks noChangeAspect="1"/>
            </p:cNvGraphicFramePr>
            <p:nvPr/>
          </p:nvGraphicFramePr>
          <p:xfrm>
            <a:off x="3696" y="3702"/>
            <a:ext cx="363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279400" imgH="203200" progId="Equation.3">
                    <p:embed/>
                  </p:oleObj>
                </mc:Choice>
                <mc:Fallback>
                  <p:oleObj r:id="rId14" imgW="279400" imgH="2032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696" y="3702"/>
                          <a:ext cx="363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6" name="Object 41"/>
            <p:cNvGraphicFramePr>
              <a:graphicFrameLocks noChangeAspect="1"/>
            </p:cNvGraphicFramePr>
            <p:nvPr/>
          </p:nvGraphicFramePr>
          <p:xfrm>
            <a:off x="4407" y="3679"/>
            <a:ext cx="39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330200" imgH="241300" progId="Equation.3">
                    <p:embed/>
                  </p:oleObj>
                </mc:Choice>
                <mc:Fallback>
                  <p:oleObj r:id="rId16" imgW="330200" imgH="2413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407" y="3679"/>
                          <a:ext cx="393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67" name="组合 3"/>
          <p:cNvGrpSpPr/>
          <p:nvPr/>
        </p:nvGrpSpPr>
        <p:grpSpPr>
          <a:xfrm>
            <a:off x="323850" y="254000"/>
            <a:ext cx="8267700" cy="1937702"/>
            <a:chOff x="445" y="6428"/>
            <a:chExt cx="13021" cy="3049"/>
          </a:xfrm>
        </p:grpSpPr>
        <p:sp>
          <p:nvSpPr>
            <p:cNvPr id="10268" name="文本框 3"/>
            <p:cNvSpPr txBox="1"/>
            <p:nvPr>
              <p:custDataLst>
                <p:tags r:id="rId6"/>
              </p:custDataLst>
            </p:nvPr>
          </p:nvSpPr>
          <p:spPr>
            <a:xfrm>
              <a:off x="445" y="6428"/>
              <a:ext cx="13021" cy="30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eaLnBrk="0" hangingPunct="0">
                <a:lnSpc>
                  <a:spcPct val="150000"/>
                </a:lnSpc>
              </a:pPr>
              <a:r>
                <a:rPr lang="zh-CN" altLang="en-US" sz="20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讨论题：</a:t>
              </a:r>
            </a:p>
            <a:p>
              <a:pPr eaLnBrk="0" hangingPunct="0">
                <a:lnSpc>
                  <a:spcPct val="150000"/>
                </a:lnSpc>
              </a:pPr>
              <a:r>
                <a:rPr lang="zh-CN" altLang="en-US" sz="20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2000">
                  <a:solidFill>
                    <a:srgbClr val="0000FF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      </a:t>
              </a:r>
              <a:r>
                <a:rPr lang="zh-CN" altLang="en-US" sz="2000">
                  <a:latin typeface="Verdana" panose="020B0604030504040204" pitchFamily="34" charset="0"/>
                  <a:ea typeface="宋体" panose="02010600030101010101" pitchFamily="2" charset="-122"/>
                </a:rPr>
                <a:t>一空气平行板电容器接电源后，</a:t>
              </a:r>
              <a:r>
                <a:rPr lang="zh-CN" altLang="zh-CN" sz="2000">
                  <a:latin typeface="Verdana" panose="020B0604030504040204" pitchFamily="34" charset="0"/>
                  <a:ea typeface="宋体" panose="02010600030101010101" pitchFamily="2" charset="-122"/>
                </a:rPr>
                <a:t>在电源保持接通的情况下，将相对介电常数为</a:t>
              </a:r>
              <a:r>
                <a:rPr lang="en-US" altLang="zh-CN" sz="2000">
                  <a:latin typeface="Verdana" panose="020B0604030504040204" pitchFamily="34" charset="0"/>
                  <a:ea typeface="宋体" panose="02010600030101010101" pitchFamily="2" charset="-122"/>
                </a:rPr>
                <a:t>    </a:t>
              </a:r>
              <a:r>
                <a:rPr lang="zh-CN" altLang="en-US" sz="2000">
                  <a:latin typeface="Verdana" panose="020B0604030504040204" pitchFamily="34" charset="0"/>
                  <a:ea typeface="宋体" panose="02010600030101010101" pitchFamily="2" charset="-122"/>
                </a:rPr>
                <a:t>的各向同性均匀电介质充满其内。忽略边缘效应，静电场的能量变为多少？</a:t>
              </a:r>
            </a:p>
          </p:txBody>
        </p:sp>
        <p:graphicFrame>
          <p:nvGraphicFramePr>
            <p:cNvPr id="10269" name="Object 31"/>
            <p:cNvGraphicFramePr>
              <a:graphicFrameLocks noChangeAspect="1"/>
            </p:cNvGraphicFramePr>
            <p:nvPr>
              <p:custDataLst>
                <p:tags r:id="rId7"/>
              </p:custDataLst>
            </p:nvPr>
          </p:nvGraphicFramePr>
          <p:xfrm>
            <a:off x="2657" y="8073"/>
            <a:ext cx="412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65100" imgH="215900" progId="Equation.3">
                    <p:embed/>
                  </p:oleObj>
                </mc:Choice>
                <mc:Fallback>
                  <p:oleObj r:id="rId18" imgW="165100" imgH="2159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19">
                          <a:lum bright="-71994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57" y="8073"/>
                          <a:ext cx="412" cy="5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70" name="组合 6"/>
          <p:cNvGrpSpPr/>
          <p:nvPr/>
        </p:nvGrpSpPr>
        <p:grpSpPr>
          <a:xfrm>
            <a:off x="4356100" y="1181100"/>
            <a:ext cx="3971925" cy="1025525"/>
            <a:chOff x="1081" y="8120"/>
            <a:chExt cx="6255" cy="1616"/>
          </a:xfrm>
        </p:grpSpPr>
        <p:sp>
          <p:nvSpPr>
            <p:cNvPr id="10271" name="矩形 5"/>
            <p:cNvSpPr/>
            <p:nvPr>
              <p:custDataLst>
                <p:tags r:id="rId3"/>
              </p:custDataLst>
            </p:nvPr>
          </p:nvSpPr>
          <p:spPr>
            <a:xfrm>
              <a:off x="1081" y="9108"/>
              <a:ext cx="6255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Verdana" panose="020B0604030504040204" pitchFamily="34" charset="0"/>
                  <a:ea typeface="楷体_GB2312" pitchFamily="49" charset="-122"/>
                </a:rPr>
                <a:t>在断开电源的情况下，结果如何？</a:t>
              </a:r>
            </a:p>
          </p:txBody>
        </p:sp>
        <p:cxnSp>
          <p:nvCxnSpPr>
            <p:cNvPr id="10272" name="直接连接符 4"/>
            <p:cNvCxnSpPr/>
            <p:nvPr>
              <p:custDataLst>
                <p:tags r:id="rId4"/>
              </p:custDataLst>
            </p:nvPr>
          </p:nvCxnSpPr>
          <p:spPr>
            <a:xfrm flipV="1">
              <a:off x="1081" y="8120"/>
              <a:ext cx="3884" cy="27"/>
            </a:xfrm>
            <a:prstGeom prst="line">
              <a:avLst/>
            </a:prstGeom>
            <a:ln w="158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73" name="直接箭头连接符 5"/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2612" y="8145"/>
              <a:ext cx="257" cy="920"/>
            </a:xfrm>
            <a:prstGeom prst="straightConnector1">
              <a:avLst/>
            </a:prstGeom>
            <a:ln w="15875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8" name="组合 7"/>
          <p:cNvGrpSpPr/>
          <p:nvPr/>
        </p:nvGrpSpPr>
        <p:grpSpPr>
          <a:xfrm>
            <a:off x="1187450" y="3783965"/>
            <a:ext cx="4009390" cy="848995"/>
            <a:chOff x="596" y="5030"/>
            <a:chExt cx="9155" cy="3394"/>
          </a:xfrm>
        </p:grpSpPr>
        <p:graphicFrame>
          <p:nvGraphicFramePr>
            <p:cNvPr id="2" name="对象 1"/>
            <p:cNvGraphicFramePr/>
            <p:nvPr>
              <p:custDataLst>
                <p:tags r:id="rId1"/>
              </p:custDataLst>
            </p:nvPr>
          </p:nvGraphicFramePr>
          <p:xfrm>
            <a:off x="596" y="5030"/>
            <a:ext cx="5828" cy="3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651000" imgH="964565" progId="Equation.KSEE3">
                    <p:embed/>
                  </p:oleObj>
                </mc:Choice>
                <mc:Fallback>
                  <p:oleObj r:id="rId20" imgW="1651000" imgH="964565" progId="Equation.KSEE3">
                    <p:embed/>
                    <p:pic>
                      <p:nvPicPr>
                        <p:cNvPr id="0" name="图片 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96" y="5030"/>
                          <a:ext cx="5828" cy="33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/>
            <p:nvPr>
              <p:custDataLst>
                <p:tags r:id="rId2"/>
              </p:custDataLst>
            </p:nvPr>
          </p:nvGraphicFramePr>
          <p:xfrm>
            <a:off x="6381" y="5807"/>
            <a:ext cx="3370" cy="1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559560" imgH="512445" progId="Equation.KSEE3">
                    <p:embed/>
                  </p:oleObj>
                </mc:Choice>
                <mc:Fallback>
                  <p:oleObj r:id="rId22" imgW="1559560" imgH="512445" progId="Equation.KSEE3">
                    <p:embed/>
                    <p:pic>
                      <p:nvPicPr>
                        <p:cNvPr id="0" name="图片 6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381" y="5807"/>
                          <a:ext cx="3370" cy="18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7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76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75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27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1" grpId="0" build="p"/>
      <p:bldP spid="27673" grpId="0" build="p"/>
      <p:bldP spid="27684" grpId="0" build="p" advAuto="100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/>
          <p:nvPr>
            <p:custDataLst>
              <p:tags r:id="rId1"/>
            </p:custDataLst>
          </p:nvPr>
        </p:nvSpPr>
        <p:spPr>
          <a:xfrm>
            <a:off x="395605" y="620395"/>
            <a:ext cx="662241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sz="2800" b="1" dirty="0">
                <a:solidFill>
                  <a:srgbClr val="0033CC"/>
                </a:solidFill>
                <a:latin typeface="宋体" panose="02010600030101010101" pitchFamily="2" charset="-122"/>
              </a:rPr>
              <a:t>课前测：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如图，一带电量为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的球形导体置于一任意形状的空腔导体中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若用导线将两者连接，则系统静电场能将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增加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(B)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减少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(C)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不变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(D)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无法确定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629" name="Text Box 5"/>
          <p:cNvSpPr txBox="1"/>
          <p:nvPr>
            <p:custDataLst>
              <p:tags r:id="rId2"/>
            </p:custDataLst>
          </p:nvPr>
        </p:nvSpPr>
        <p:spPr>
          <a:xfrm>
            <a:off x="460058" y="3543300"/>
            <a:ext cx="82232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解：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连接前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腔内外均有电场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sp>
        <p:nvSpPr>
          <p:cNvPr id="26630" name="Text Box 6"/>
          <p:cNvSpPr txBox="1"/>
          <p:nvPr>
            <p:custDataLst>
              <p:tags r:id="rId3"/>
            </p:custDataLst>
          </p:nvPr>
        </p:nvSpPr>
        <p:spPr>
          <a:xfrm>
            <a:off x="467043" y="4148773"/>
            <a:ext cx="822325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连接后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腔内电场消失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腔外电场不变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所以静电场能量减少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.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6854508" y="1154748"/>
            <a:ext cx="1828800" cy="2214562"/>
            <a:chOff x="384" y="1746"/>
            <a:chExt cx="1152" cy="1440"/>
          </a:xfrm>
        </p:grpSpPr>
        <p:sp>
          <p:nvSpPr>
            <p:cNvPr id="8199" name="Freeform 8" descr="浅色上对角线"/>
            <p:cNvSpPr/>
            <p:nvPr>
              <p:custDataLst>
                <p:tags r:id="rId5"/>
              </p:custDataLst>
            </p:nvPr>
          </p:nvSpPr>
          <p:spPr>
            <a:xfrm>
              <a:off x="384" y="1746"/>
              <a:ext cx="1152" cy="1440"/>
            </a:xfrm>
            <a:custGeom>
              <a:avLst/>
              <a:gdLst>
                <a:gd name="txL" fmla="*/ 0 w 1112"/>
                <a:gd name="txT" fmla="*/ 0 h 1048"/>
                <a:gd name="txR" fmla="*/ 1112 w 1112"/>
                <a:gd name="txB" fmla="*/ 1048 h 1048"/>
              </a:gdLst>
              <a:ahLst/>
              <a:cxnLst>
                <a:cxn ang="0">
                  <a:pos x="1451" y="1962"/>
                </a:cxn>
                <a:cxn ang="0">
                  <a:pos x="1320" y="276"/>
                </a:cxn>
                <a:cxn ang="0">
                  <a:pos x="924" y="276"/>
                </a:cxn>
                <a:cxn ang="0">
                  <a:pos x="595" y="1962"/>
                </a:cxn>
                <a:cxn ang="0">
                  <a:pos x="527" y="6153"/>
                </a:cxn>
                <a:cxn ang="0">
                  <a:pos x="330" y="8661"/>
                </a:cxn>
                <a:cxn ang="0">
                  <a:pos x="66" y="11171"/>
                </a:cxn>
                <a:cxn ang="0">
                  <a:pos x="66" y="14532"/>
                </a:cxn>
                <a:cxn ang="0">
                  <a:pos x="461" y="17872"/>
                </a:cxn>
                <a:cxn ang="0">
                  <a:pos x="924" y="17040"/>
                </a:cxn>
                <a:cxn ang="0">
                  <a:pos x="1320" y="14532"/>
                </a:cxn>
                <a:cxn ang="0">
                  <a:pos x="1451" y="10329"/>
                </a:cxn>
                <a:cxn ang="0">
                  <a:pos x="1518" y="6993"/>
                </a:cxn>
                <a:cxn ang="0">
                  <a:pos x="1518" y="3636"/>
                </a:cxn>
                <a:cxn ang="0">
                  <a:pos x="1451" y="1962"/>
                </a:cxn>
              </a:cxnLst>
              <a:rect l="txL" t="txT" r="txR" b="txB"/>
              <a:pathLst>
                <a:path w="1112" h="1048">
                  <a:moveTo>
                    <a:pt x="1056" y="112"/>
                  </a:moveTo>
                  <a:cubicBezTo>
                    <a:pt x="1032" y="80"/>
                    <a:pt x="1024" y="32"/>
                    <a:pt x="960" y="16"/>
                  </a:cubicBezTo>
                  <a:cubicBezTo>
                    <a:pt x="896" y="0"/>
                    <a:pt x="760" y="0"/>
                    <a:pt x="672" y="16"/>
                  </a:cubicBezTo>
                  <a:cubicBezTo>
                    <a:pt x="584" y="32"/>
                    <a:pt x="480" y="56"/>
                    <a:pt x="432" y="112"/>
                  </a:cubicBezTo>
                  <a:cubicBezTo>
                    <a:pt x="384" y="168"/>
                    <a:pt x="416" y="288"/>
                    <a:pt x="384" y="352"/>
                  </a:cubicBezTo>
                  <a:cubicBezTo>
                    <a:pt x="352" y="416"/>
                    <a:pt x="296" y="448"/>
                    <a:pt x="240" y="496"/>
                  </a:cubicBezTo>
                  <a:cubicBezTo>
                    <a:pt x="184" y="544"/>
                    <a:pt x="80" y="584"/>
                    <a:pt x="48" y="640"/>
                  </a:cubicBezTo>
                  <a:cubicBezTo>
                    <a:pt x="16" y="696"/>
                    <a:pt x="0" y="768"/>
                    <a:pt x="48" y="832"/>
                  </a:cubicBezTo>
                  <a:cubicBezTo>
                    <a:pt x="96" y="896"/>
                    <a:pt x="232" y="1000"/>
                    <a:pt x="336" y="1024"/>
                  </a:cubicBezTo>
                  <a:cubicBezTo>
                    <a:pt x="440" y="1048"/>
                    <a:pt x="568" y="1008"/>
                    <a:pt x="672" y="976"/>
                  </a:cubicBezTo>
                  <a:cubicBezTo>
                    <a:pt x="776" y="944"/>
                    <a:pt x="896" y="896"/>
                    <a:pt x="960" y="832"/>
                  </a:cubicBezTo>
                  <a:cubicBezTo>
                    <a:pt x="1024" y="768"/>
                    <a:pt x="1032" y="664"/>
                    <a:pt x="1056" y="592"/>
                  </a:cubicBezTo>
                  <a:cubicBezTo>
                    <a:pt x="1080" y="520"/>
                    <a:pt x="1096" y="464"/>
                    <a:pt x="1104" y="400"/>
                  </a:cubicBezTo>
                  <a:cubicBezTo>
                    <a:pt x="1112" y="336"/>
                    <a:pt x="1112" y="256"/>
                    <a:pt x="1104" y="208"/>
                  </a:cubicBezTo>
                  <a:cubicBezTo>
                    <a:pt x="1096" y="160"/>
                    <a:pt x="1080" y="144"/>
                    <a:pt x="1056" y="112"/>
                  </a:cubicBezTo>
                  <a:close/>
                </a:path>
              </a:pathLst>
            </a:custGeom>
            <a:pattFill prst="ltUpDiag">
              <a:fgClr>
                <a:schemeClr val="accent1">
                  <a:alpha val="100000"/>
                </a:schemeClr>
              </a:fgClr>
              <a:bgClr>
                <a:srgbClr val="FFFFFF">
                  <a:alpha val="100000"/>
                </a:srgbClr>
              </a:bgClr>
            </a:pattFill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8200" name="Freeform 9"/>
            <p:cNvSpPr/>
            <p:nvPr>
              <p:custDataLst>
                <p:tags r:id="rId6"/>
              </p:custDataLst>
            </p:nvPr>
          </p:nvSpPr>
          <p:spPr>
            <a:xfrm>
              <a:off x="528" y="1842"/>
              <a:ext cx="912" cy="1248"/>
            </a:xfrm>
            <a:custGeom>
              <a:avLst/>
              <a:gdLst>
                <a:gd name="txL" fmla="*/ 0 w 1112"/>
                <a:gd name="txT" fmla="*/ 0 h 1048"/>
                <a:gd name="txR" fmla="*/ 1112 w 1112"/>
                <a:gd name="txB" fmla="*/ 1048 h 1048"/>
              </a:gdLst>
              <a:ahLst/>
              <a:cxnLst>
                <a:cxn ang="0">
                  <a:pos x="177" y="537"/>
                </a:cxn>
                <a:cxn ang="0">
                  <a:pos x="161" y="76"/>
                </a:cxn>
                <a:cxn ang="0">
                  <a:pos x="112" y="76"/>
                </a:cxn>
                <a:cxn ang="0">
                  <a:pos x="72" y="537"/>
                </a:cxn>
                <a:cxn ang="0">
                  <a:pos x="65" y="1693"/>
                </a:cxn>
                <a:cxn ang="0">
                  <a:pos x="40" y="2390"/>
                </a:cxn>
                <a:cxn ang="0">
                  <a:pos x="7" y="3078"/>
                </a:cxn>
                <a:cxn ang="0">
                  <a:pos x="7" y="4006"/>
                </a:cxn>
                <a:cxn ang="0">
                  <a:pos x="57" y="4931"/>
                </a:cxn>
                <a:cxn ang="0">
                  <a:pos x="112" y="4701"/>
                </a:cxn>
                <a:cxn ang="0">
                  <a:pos x="161" y="4006"/>
                </a:cxn>
                <a:cxn ang="0">
                  <a:pos x="177" y="2852"/>
                </a:cxn>
                <a:cxn ang="0">
                  <a:pos x="185" y="1926"/>
                </a:cxn>
                <a:cxn ang="0">
                  <a:pos x="185" y="1001"/>
                </a:cxn>
                <a:cxn ang="0">
                  <a:pos x="177" y="537"/>
                </a:cxn>
              </a:cxnLst>
              <a:rect l="txL" t="txT" r="txR" b="txB"/>
              <a:pathLst>
                <a:path w="1112" h="1048">
                  <a:moveTo>
                    <a:pt x="1056" y="112"/>
                  </a:moveTo>
                  <a:cubicBezTo>
                    <a:pt x="1032" y="80"/>
                    <a:pt x="1024" y="32"/>
                    <a:pt x="960" y="16"/>
                  </a:cubicBezTo>
                  <a:cubicBezTo>
                    <a:pt x="896" y="0"/>
                    <a:pt x="760" y="0"/>
                    <a:pt x="672" y="16"/>
                  </a:cubicBezTo>
                  <a:cubicBezTo>
                    <a:pt x="584" y="32"/>
                    <a:pt x="480" y="56"/>
                    <a:pt x="432" y="112"/>
                  </a:cubicBezTo>
                  <a:cubicBezTo>
                    <a:pt x="384" y="168"/>
                    <a:pt x="416" y="288"/>
                    <a:pt x="384" y="352"/>
                  </a:cubicBezTo>
                  <a:cubicBezTo>
                    <a:pt x="352" y="416"/>
                    <a:pt x="296" y="448"/>
                    <a:pt x="240" y="496"/>
                  </a:cubicBezTo>
                  <a:cubicBezTo>
                    <a:pt x="184" y="544"/>
                    <a:pt x="80" y="584"/>
                    <a:pt x="48" y="640"/>
                  </a:cubicBezTo>
                  <a:cubicBezTo>
                    <a:pt x="16" y="696"/>
                    <a:pt x="0" y="768"/>
                    <a:pt x="48" y="832"/>
                  </a:cubicBezTo>
                  <a:cubicBezTo>
                    <a:pt x="96" y="896"/>
                    <a:pt x="232" y="1000"/>
                    <a:pt x="336" y="1024"/>
                  </a:cubicBezTo>
                  <a:cubicBezTo>
                    <a:pt x="440" y="1048"/>
                    <a:pt x="568" y="1008"/>
                    <a:pt x="672" y="976"/>
                  </a:cubicBezTo>
                  <a:cubicBezTo>
                    <a:pt x="776" y="944"/>
                    <a:pt x="896" y="896"/>
                    <a:pt x="960" y="832"/>
                  </a:cubicBezTo>
                  <a:cubicBezTo>
                    <a:pt x="1024" y="768"/>
                    <a:pt x="1032" y="664"/>
                    <a:pt x="1056" y="592"/>
                  </a:cubicBezTo>
                  <a:cubicBezTo>
                    <a:pt x="1080" y="520"/>
                    <a:pt x="1096" y="464"/>
                    <a:pt x="1104" y="400"/>
                  </a:cubicBezTo>
                  <a:cubicBezTo>
                    <a:pt x="1112" y="336"/>
                    <a:pt x="1112" y="256"/>
                    <a:pt x="1104" y="208"/>
                  </a:cubicBezTo>
                  <a:cubicBezTo>
                    <a:pt x="1096" y="160"/>
                    <a:pt x="1080" y="144"/>
                    <a:pt x="1056" y="112"/>
                  </a:cubicBezTo>
                  <a:close/>
                </a:path>
              </a:pathLst>
            </a:custGeom>
            <a:ln w="222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" name="Oval 10"/>
            <p:cNvSpPr/>
            <p:nvPr>
              <p:custDataLst>
                <p:tags r:id="rId7"/>
              </p:custDataLst>
            </p:nvPr>
          </p:nvSpPr>
          <p:spPr>
            <a:xfrm>
              <a:off x="912" y="2370"/>
              <a:ext cx="288" cy="288"/>
            </a:xfrm>
            <a:prstGeom prst="ellipse">
              <a:avLst/>
            </a:prstGeom>
            <a:gradFill rotWithShape="1">
              <a:gsLst>
                <a:gs pos="0">
                  <a:srgbClr val="FF3300"/>
                </a:gs>
                <a:gs pos="100000">
                  <a:srgbClr val="CC0000"/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02" name="Line 11"/>
            <p:cNvSpPr/>
            <p:nvPr>
              <p:custDataLst>
                <p:tags r:id="rId8"/>
              </p:custDataLst>
            </p:nvPr>
          </p:nvSpPr>
          <p:spPr>
            <a:xfrm>
              <a:off x="1104" y="2658"/>
              <a:ext cx="96" cy="288"/>
            </a:xfrm>
            <a:prstGeom prst="line">
              <a:avLst/>
            </a:prstGeom>
            <a:ln w="57150" cap="flat" cmpd="sng">
              <a:solidFill>
                <a:srgbClr val="0000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8203" name="Text Box 12"/>
            <p:cNvSpPr txBox="1"/>
            <p:nvPr>
              <p:custDataLst>
                <p:tags r:id="rId9"/>
              </p:custDataLst>
            </p:nvPr>
          </p:nvSpPr>
          <p:spPr>
            <a:xfrm>
              <a:off x="912" y="1968"/>
              <a:ext cx="480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33"/>
                  </a:solidFill>
                  <a:latin typeface="Times New Roman" panose="02020603050405020304" pitchFamily="18" charset="0"/>
                </a:rPr>
                <a:t>q</a:t>
              </a:r>
              <a:endParaRPr lang="en-US" altLang="zh-CN" sz="2800" b="1" i="1" dirty="0">
                <a:solidFill>
                  <a:srgbClr val="FF0033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6637" name="Text Box 13"/>
          <p:cNvSpPr txBox="1"/>
          <p:nvPr>
            <p:custDataLst>
              <p:tags r:id="rId4"/>
            </p:custDataLst>
          </p:nvPr>
        </p:nvSpPr>
        <p:spPr>
          <a:xfrm>
            <a:off x="1331595" y="5732463"/>
            <a:ext cx="21717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答案</a:t>
            </a:r>
            <a:r>
              <a:rPr lang="en-US" altLang="zh-CN" sz="2800" b="1" dirty="0">
                <a:solidFill>
                  <a:srgbClr val="CC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26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26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9" grpId="0" build="p"/>
      <p:bldP spid="26630" grpId="0" build="p"/>
      <p:bldP spid="2663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文本框 8"/>
          <p:cNvSpPr txBox="1"/>
          <p:nvPr/>
        </p:nvSpPr>
        <p:spPr>
          <a:xfrm>
            <a:off x="827405" y="3284855"/>
            <a:ext cx="787654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l"/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惯例：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分计算题。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下面复习第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9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章、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章的计算题基本题型</a:t>
            </a:r>
          </a:p>
        </p:txBody>
      </p:sp>
      <p:sp>
        <p:nvSpPr>
          <p:cNvPr id="29698" name="文本框 8"/>
          <p:cNvSpPr txBox="1"/>
          <p:nvPr>
            <p:custDataLst>
              <p:tags r:id="rId1"/>
            </p:custDataLst>
          </p:nvPr>
        </p:nvSpPr>
        <p:spPr>
          <a:xfrm>
            <a:off x="755650" y="703580"/>
            <a:ext cx="7919085" cy="28092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ctr"/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9</a:t>
            </a: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章、第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章复习重点：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、课前测、讨论题、课件图片题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、课件例题</a:t>
            </a: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、各节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QQ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群中发布的补充作业（此补充作业在智慧树平台中也有）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组合 23"/>
          <p:cNvGrpSpPr/>
          <p:nvPr/>
        </p:nvGrpSpPr>
        <p:grpSpPr>
          <a:xfrm>
            <a:off x="42863" y="117475"/>
            <a:ext cx="8767762" cy="989013"/>
            <a:chOff x="-78" y="305"/>
            <a:chExt cx="13809" cy="1559"/>
          </a:xfrm>
        </p:grpSpPr>
        <p:sp>
          <p:nvSpPr>
            <p:cNvPr id="30722" name="文本框 1"/>
            <p:cNvSpPr txBox="1"/>
            <p:nvPr/>
          </p:nvSpPr>
          <p:spPr>
            <a:xfrm>
              <a:off x="-78" y="418"/>
              <a:ext cx="5382" cy="13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本部分计算题考点</a:t>
              </a:r>
              <a:r>
                <a: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  <a:p>
              <a:r>
                <a:rPr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场强叠加原理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求电场</a:t>
              </a:r>
            </a:p>
          </p:txBody>
        </p:sp>
        <p:graphicFrame>
          <p:nvGraphicFramePr>
            <p:cNvPr id="30723" name="对象 1"/>
            <p:cNvGraphicFramePr/>
            <p:nvPr/>
          </p:nvGraphicFramePr>
          <p:xfrm>
            <a:off x="5807" y="488"/>
            <a:ext cx="2280" cy="1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11300" imgH="685800" progId="Equation.DSMT4">
                    <p:embed/>
                  </p:oleObj>
                </mc:Choice>
                <mc:Fallback>
                  <p:oleObj r:id="rId2" imgW="1511300" imgH="685800" progId="Equation.DSMT4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807" y="488"/>
                          <a:ext cx="2280" cy="1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4" name="Object 87"/>
            <p:cNvGraphicFramePr>
              <a:graphicFrameLocks noChangeAspect="1"/>
            </p:cNvGraphicFramePr>
            <p:nvPr/>
          </p:nvGraphicFramePr>
          <p:xfrm>
            <a:off x="8642" y="305"/>
            <a:ext cx="5089" cy="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727200" imgH="469900" progId="Equation.DSMT4">
                    <p:embed/>
                  </p:oleObj>
                </mc:Choice>
                <mc:Fallback>
                  <p:oleObj r:id="rId4" imgW="1727200" imgH="469900" progId="Equation.DSMT4">
                    <p:embed/>
                    <p:pic>
                      <p:nvPicPr>
                        <p:cNvPr id="0" name="图片 324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642" y="305"/>
                          <a:ext cx="5089" cy="155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821" name="组合 12"/>
          <p:cNvGrpSpPr/>
          <p:nvPr/>
        </p:nvGrpSpPr>
        <p:grpSpPr>
          <a:xfrm>
            <a:off x="58738" y="1350963"/>
            <a:ext cx="6537325" cy="1566862"/>
            <a:chOff x="-2035" y="3866"/>
            <a:chExt cx="10296" cy="2471"/>
          </a:xfrm>
        </p:grpSpPr>
        <p:sp>
          <p:nvSpPr>
            <p:cNvPr id="30726" name="文本框 2"/>
            <p:cNvSpPr txBox="1"/>
            <p:nvPr/>
          </p:nvSpPr>
          <p:spPr>
            <a:xfrm>
              <a:off x="-2035" y="3866"/>
              <a:ext cx="3934" cy="24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题型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：不同</a:t>
              </a: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d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q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在</a:t>
              </a:r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P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点激发的电场方向</a:t>
              </a:r>
              <a:r>
                <a:rPr lang="zh-CN" alt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在</a:t>
              </a:r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同一条直线上</a:t>
              </a:r>
            </a:p>
          </p:txBody>
        </p:sp>
        <p:graphicFrame>
          <p:nvGraphicFramePr>
            <p:cNvPr id="30727" name="Object 87"/>
            <p:cNvGraphicFramePr>
              <a:graphicFrameLocks noChangeAspect="1"/>
            </p:cNvGraphicFramePr>
            <p:nvPr/>
          </p:nvGraphicFramePr>
          <p:xfrm>
            <a:off x="2124" y="4455"/>
            <a:ext cx="1984" cy="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73100" imgH="279400" progId="Equation.DSMT4">
                    <p:embed/>
                  </p:oleObj>
                </mc:Choice>
                <mc:Fallback>
                  <p:oleObj r:id="rId6" imgW="673100" imgH="279400" progId="Equation.DSMT4">
                    <p:embed/>
                    <p:pic>
                      <p:nvPicPr>
                        <p:cNvPr id="0" name="图片 325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124" y="4455"/>
                          <a:ext cx="1984" cy="9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87"/>
            <p:cNvGraphicFramePr>
              <a:graphicFrameLocks noChangeAspect="1"/>
            </p:cNvGraphicFramePr>
            <p:nvPr/>
          </p:nvGraphicFramePr>
          <p:xfrm>
            <a:off x="4178" y="4192"/>
            <a:ext cx="599" cy="1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03200" imgH="457200" progId="Equation.DSMT4">
                    <p:embed/>
                  </p:oleObj>
                </mc:Choice>
                <mc:Fallback>
                  <p:oleObj r:id="rId8" imgW="203200" imgH="457200" progId="Equation.DSMT4">
                    <p:embed/>
                    <p:pic>
                      <p:nvPicPr>
                        <p:cNvPr id="0" name="图片 324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78" y="4192"/>
                          <a:ext cx="599" cy="1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Object 87"/>
            <p:cNvGraphicFramePr>
              <a:graphicFrameLocks noChangeAspect="1"/>
            </p:cNvGraphicFramePr>
            <p:nvPr/>
          </p:nvGraphicFramePr>
          <p:xfrm>
            <a:off x="5866" y="3965"/>
            <a:ext cx="1984" cy="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673100" imgH="279400" progId="Equation.DSMT4">
                    <p:embed/>
                  </p:oleObj>
                </mc:Choice>
                <mc:Fallback>
                  <p:oleObj r:id="rId10" imgW="673100" imgH="279400" progId="Equation.DSMT4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866" y="3965"/>
                          <a:ext cx="1984" cy="9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0" name="文本框 9"/>
            <p:cNvSpPr txBox="1"/>
            <p:nvPr/>
          </p:nvSpPr>
          <p:spPr>
            <a:xfrm>
              <a:off x="4532" y="5224"/>
              <a:ext cx="3729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方向：具体分析</a:t>
              </a:r>
            </a:p>
          </p:txBody>
        </p:sp>
        <p:sp>
          <p:nvSpPr>
            <p:cNvPr id="30731" name="文本框 10"/>
            <p:cNvSpPr txBox="1"/>
            <p:nvPr/>
          </p:nvSpPr>
          <p:spPr>
            <a:xfrm>
              <a:off x="4558" y="4058"/>
              <a:ext cx="155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  <a:sym typeface="宋体" panose="02010600030101010101" pitchFamily="2" charset="-122"/>
                </a:rPr>
                <a:t>大小：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107950" y="5507038"/>
            <a:ext cx="6419850" cy="1198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楷体_GB2312" pitchFamily="49" charset="-122"/>
              </a:rPr>
              <a:t>当源分布有对称性时，建议先对称性分析（由源分布的对称性，分析场的性质），简化计算过程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4829" name="组合 31"/>
          <p:cNvGrpSpPr/>
          <p:nvPr/>
        </p:nvGrpSpPr>
        <p:grpSpPr>
          <a:xfrm>
            <a:off x="106363" y="3070225"/>
            <a:ext cx="6529387" cy="2436813"/>
            <a:chOff x="262" y="4173"/>
            <a:chExt cx="10283" cy="3837"/>
          </a:xfrm>
        </p:grpSpPr>
        <p:grpSp>
          <p:nvGrpSpPr>
            <p:cNvPr id="30734" name="组合 24"/>
            <p:cNvGrpSpPr/>
            <p:nvPr/>
          </p:nvGrpSpPr>
          <p:grpSpPr>
            <a:xfrm>
              <a:off x="262" y="4173"/>
              <a:ext cx="10283" cy="3837"/>
              <a:chOff x="-963" y="5033"/>
              <a:chExt cx="10283" cy="3837"/>
            </a:xfrm>
          </p:grpSpPr>
          <p:sp>
            <p:nvSpPr>
              <p:cNvPr id="30735" name="文本框 11"/>
              <p:cNvSpPr txBox="1"/>
              <p:nvPr/>
            </p:nvSpPr>
            <p:spPr>
              <a:xfrm>
                <a:off x="-963" y="5254"/>
                <a:ext cx="3547" cy="24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题型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：不同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d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q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在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P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点激发的电场方向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不在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同一条直线上</a:t>
                </a:r>
              </a:p>
            </p:txBody>
          </p:sp>
          <p:graphicFrame>
            <p:nvGraphicFramePr>
              <p:cNvPr id="30736" name="Object 87"/>
              <p:cNvGraphicFramePr>
                <a:graphicFrameLocks noChangeAspect="1"/>
              </p:cNvGraphicFramePr>
              <p:nvPr/>
            </p:nvGraphicFramePr>
            <p:xfrm>
              <a:off x="2916" y="6123"/>
              <a:ext cx="1984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673100" imgH="279400" progId="Equation.DSMT4">
                      <p:embed/>
                    </p:oleObj>
                  </mc:Choice>
                  <mc:Fallback>
                    <p:oleObj r:id="rId6" imgW="673100" imgH="279400" progId="Equation.DSMT4">
                      <p:embed/>
                      <p:pic>
                        <p:nvPicPr>
                          <p:cNvPr id="0" name="图片 3250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916" y="6123"/>
                            <a:ext cx="1984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7" name="Object 87"/>
              <p:cNvGraphicFramePr>
                <a:graphicFrameLocks noChangeAspect="1"/>
              </p:cNvGraphicFramePr>
              <p:nvPr/>
            </p:nvGraphicFramePr>
            <p:xfrm>
              <a:off x="6972" y="5033"/>
              <a:ext cx="2321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787400" imgH="279400" progId="Equation.DSMT4">
                      <p:embed/>
                    </p:oleObj>
                  </mc:Choice>
                  <mc:Fallback>
                    <p:oleObj r:id="rId12" imgW="787400" imgH="279400" progId="Equation.DSMT4">
                      <p:embed/>
                      <p:pic>
                        <p:nvPicPr>
                          <p:cNvPr id="0" name="图片 3247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972" y="5033"/>
                            <a:ext cx="2321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8" name="Object 87"/>
              <p:cNvGraphicFramePr>
                <a:graphicFrameLocks noChangeAspect="1"/>
              </p:cNvGraphicFramePr>
              <p:nvPr/>
            </p:nvGraphicFramePr>
            <p:xfrm>
              <a:off x="6999" y="5983"/>
              <a:ext cx="2321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787400" imgH="279400" progId="Equation.DSMT4">
                      <p:embed/>
                    </p:oleObj>
                  </mc:Choice>
                  <mc:Fallback>
                    <p:oleObj r:id="rId14" imgW="787400" imgH="279400" progId="Equation.DSMT4">
                      <p:embed/>
                      <p:pic>
                        <p:nvPicPr>
                          <p:cNvPr id="0" name="图片 3253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6999" y="5983"/>
                            <a:ext cx="2321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39" name="Object 87"/>
              <p:cNvGraphicFramePr>
                <a:graphicFrameLocks noChangeAspect="1"/>
              </p:cNvGraphicFramePr>
              <p:nvPr/>
            </p:nvGraphicFramePr>
            <p:xfrm>
              <a:off x="6977" y="7055"/>
              <a:ext cx="2282" cy="9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774065" imgH="279400" progId="Equation.DSMT4">
                      <p:embed/>
                    </p:oleObj>
                  </mc:Choice>
                  <mc:Fallback>
                    <p:oleObj r:id="rId16" imgW="774065" imgH="279400" progId="Equation.DSMT4">
                      <p:embed/>
                      <p:pic>
                        <p:nvPicPr>
                          <p:cNvPr id="0" name="图片 3248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6977" y="7055"/>
                            <a:ext cx="2282" cy="9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40" name="Object 87"/>
              <p:cNvGraphicFramePr>
                <a:graphicFrameLocks noChangeAspect="1"/>
              </p:cNvGraphicFramePr>
              <p:nvPr/>
            </p:nvGraphicFramePr>
            <p:xfrm>
              <a:off x="2955" y="7984"/>
              <a:ext cx="4418" cy="8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498600" imgH="266700" progId="Equation.DSMT4">
                      <p:embed/>
                    </p:oleObj>
                  </mc:Choice>
                  <mc:Fallback>
                    <p:oleObj r:id="rId18" imgW="1498600" imgH="266700" progId="Equation.DSMT4">
                      <p:embed/>
                      <p:pic>
                        <p:nvPicPr>
                          <p:cNvPr id="0" name="图片 3249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2955" y="7984"/>
                            <a:ext cx="4418" cy="8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41" name="组合 30"/>
            <p:cNvGrpSpPr/>
            <p:nvPr/>
          </p:nvGrpSpPr>
          <p:grpSpPr>
            <a:xfrm>
              <a:off x="6614" y="4285"/>
              <a:ext cx="1507" cy="2449"/>
              <a:chOff x="6614" y="4285"/>
              <a:chExt cx="1507" cy="2449"/>
            </a:xfrm>
          </p:grpSpPr>
          <p:sp>
            <p:nvSpPr>
              <p:cNvPr id="30742" name="文本框 27"/>
              <p:cNvSpPr txBox="1"/>
              <p:nvPr/>
            </p:nvSpPr>
            <p:spPr>
              <a:xfrm>
                <a:off x="6614" y="4716"/>
                <a:ext cx="683" cy="18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  <a:sym typeface="宋体" panose="02010600030101010101" pitchFamily="2" charset="-122"/>
                  </a:rPr>
                  <a:t>分量式</a:t>
                </a:r>
              </a:p>
            </p:txBody>
          </p:sp>
          <p:graphicFrame>
            <p:nvGraphicFramePr>
              <p:cNvPr id="30743" name="Object 87"/>
              <p:cNvGraphicFramePr>
                <a:graphicFrameLocks noChangeAspect="1"/>
              </p:cNvGraphicFramePr>
              <p:nvPr/>
            </p:nvGraphicFramePr>
            <p:xfrm>
              <a:off x="7522" y="4285"/>
              <a:ext cx="599" cy="2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203200" imgH="736600" progId="Equation.DSMT4">
                      <p:embed/>
                    </p:oleObj>
                  </mc:Choice>
                  <mc:Fallback>
                    <p:oleObj r:id="rId20" imgW="203200" imgH="736600" progId="Equation.DSMT4">
                      <p:embed/>
                      <p:pic>
                        <p:nvPicPr>
                          <p:cNvPr id="0" name="图片 3251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522" y="4285"/>
                            <a:ext cx="599" cy="24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4840" name="Rectangle 2" descr="羊皮纸"/>
          <p:cNvSpPr/>
          <p:nvPr/>
        </p:nvSpPr>
        <p:spPr>
          <a:xfrm>
            <a:off x="-12700" y="2873375"/>
            <a:ext cx="6859588" cy="984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1" name="Rectangle 2" descr="羊皮纸"/>
          <p:cNvSpPr/>
          <p:nvPr/>
        </p:nvSpPr>
        <p:spPr>
          <a:xfrm>
            <a:off x="-36512" y="1174750"/>
            <a:ext cx="9144000" cy="76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2" name="Rectangle 2" descr="羊皮纸"/>
          <p:cNvSpPr/>
          <p:nvPr/>
        </p:nvSpPr>
        <p:spPr>
          <a:xfrm>
            <a:off x="6846888" y="2860675"/>
            <a:ext cx="2260600" cy="1254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3" name="Rectangle 2" descr="羊皮纸"/>
          <p:cNvSpPr/>
          <p:nvPr/>
        </p:nvSpPr>
        <p:spPr>
          <a:xfrm>
            <a:off x="6804025" y="1236663"/>
            <a:ext cx="100013" cy="56213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44" name="文本框 35"/>
          <p:cNvSpPr txBox="1"/>
          <p:nvPr/>
        </p:nvSpPr>
        <p:spPr>
          <a:xfrm>
            <a:off x="6970713" y="1298575"/>
            <a:ext cx="201295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</a:t>
            </a:r>
            <a:r>
              <a:rPr lang="zh-CN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利用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导体静电平衡条件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场强叠加原理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求电场</a:t>
            </a:r>
          </a:p>
        </p:txBody>
      </p:sp>
      <p:sp>
        <p:nvSpPr>
          <p:cNvPr id="34845" name="文本框 36"/>
          <p:cNvSpPr txBox="1"/>
          <p:nvPr/>
        </p:nvSpPr>
        <p:spPr>
          <a:xfrm>
            <a:off x="6964363" y="3213100"/>
            <a:ext cx="201295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利用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导体静电平衡条件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场强叠加原理求电荷分布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，再利用场强叠加原理求电场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34840" grpId="0" animBg="1"/>
      <p:bldP spid="34840" grpId="1" animBg="1"/>
      <p:bldP spid="34841" grpId="0" animBg="1"/>
      <p:bldP spid="34841" grpId="1" animBg="1"/>
      <p:bldP spid="34842" grpId="0" animBg="1"/>
      <p:bldP spid="34842" grpId="1" animBg="1"/>
      <p:bldP spid="34843" grpId="0" animBg="1"/>
      <p:bldP spid="34843" grpId="1" animBg="1"/>
      <p:bldP spid="34844" grpId="0"/>
      <p:bldP spid="34844" grpId="1"/>
      <p:bldP spid="34845" grpId="0"/>
      <p:bldP spid="34845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6" name="Rectangle 3" descr="羊皮纸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Text Box 4"/>
          <p:cNvSpPr txBox="1"/>
          <p:nvPr/>
        </p:nvSpPr>
        <p:spPr>
          <a:xfrm>
            <a:off x="107950" y="881063"/>
            <a:ext cx="8785225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如图所示，真空中一长为</a:t>
            </a:r>
            <a:r>
              <a:rPr lang="en-US" altLang="zh-CN" sz="2400" b="1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400" b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的带电细直杆，总电荷为</a:t>
            </a:r>
            <a:r>
              <a:rPr lang="en-US" altLang="zh-CN" sz="2400" b="1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b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，试求在直杆延长线上距杆一端为</a:t>
            </a:r>
            <a:r>
              <a:rPr lang="en-US" altLang="zh-CN" sz="2400" b="1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的一点的电场强度。</a:t>
            </a:r>
          </a:p>
        </p:txBody>
      </p:sp>
      <p:sp>
        <p:nvSpPr>
          <p:cNvPr id="225285" name="Text Box 5"/>
          <p:cNvSpPr txBox="1"/>
          <p:nvPr/>
        </p:nvSpPr>
        <p:spPr>
          <a:xfrm>
            <a:off x="203200" y="2149475"/>
            <a:ext cx="3116263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建立如图坐标系</a:t>
            </a:r>
          </a:p>
        </p:txBody>
      </p:sp>
      <p:grpSp>
        <p:nvGrpSpPr>
          <p:cNvPr id="31749" name="Group 67"/>
          <p:cNvGrpSpPr/>
          <p:nvPr/>
        </p:nvGrpSpPr>
        <p:grpSpPr>
          <a:xfrm>
            <a:off x="3925888" y="1931988"/>
            <a:ext cx="4078287" cy="703262"/>
            <a:chOff x="2761" y="675"/>
            <a:chExt cx="2569" cy="443"/>
          </a:xfrm>
        </p:grpSpPr>
        <p:grpSp>
          <p:nvGrpSpPr>
            <p:cNvPr id="31750" name="Group 56"/>
            <p:cNvGrpSpPr/>
            <p:nvPr/>
          </p:nvGrpSpPr>
          <p:grpSpPr>
            <a:xfrm>
              <a:off x="2761" y="850"/>
              <a:ext cx="2569" cy="56"/>
              <a:chOff x="2761" y="850"/>
              <a:chExt cx="2569" cy="56"/>
            </a:xfrm>
          </p:grpSpPr>
          <p:sp>
            <p:nvSpPr>
              <p:cNvPr id="31751" name="Rectangle 53"/>
              <p:cNvSpPr/>
              <p:nvPr/>
            </p:nvSpPr>
            <p:spPr>
              <a:xfrm>
                <a:off x="2761" y="850"/>
                <a:ext cx="1673" cy="38"/>
              </a:xfrm>
              <a:prstGeom prst="rect">
                <a:avLst/>
              </a:prstGeom>
              <a:solidFill>
                <a:srgbClr val="0066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2" name="Oval 54"/>
              <p:cNvSpPr/>
              <p:nvPr/>
            </p:nvSpPr>
            <p:spPr>
              <a:xfrm>
                <a:off x="5266" y="850"/>
                <a:ext cx="64" cy="56"/>
              </a:xfrm>
              <a:prstGeom prst="ellipse">
                <a:avLst/>
              </a:prstGeom>
              <a:solidFill>
                <a:srgbClr val="0066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53" name="Line 55"/>
              <p:cNvSpPr/>
              <p:nvPr/>
            </p:nvSpPr>
            <p:spPr>
              <a:xfrm flipV="1">
                <a:off x="2789" y="869"/>
                <a:ext cx="25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1754" name="Line 57"/>
            <p:cNvSpPr/>
            <p:nvPr/>
          </p:nvSpPr>
          <p:spPr>
            <a:xfrm>
              <a:off x="2761" y="951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5" name="Line 58"/>
            <p:cNvSpPr/>
            <p:nvPr/>
          </p:nvSpPr>
          <p:spPr>
            <a:xfrm>
              <a:off x="4419" y="954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6" name="Line 59"/>
            <p:cNvSpPr/>
            <p:nvPr/>
          </p:nvSpPr>
          <p:spPr>
            <a:xfrm>
              <a:off x="5291" y="949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757" name="Line 60"/>
            <p:cNvSpPr/>
            <p:nvPr/>
          </p:nvSpPr>
          <p:spPr>
            <a:xfrm flipH="1">
              <a:off x="2779" y="1006"/>
              <a:ext cx="6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758" name="Line 61"/>
            <p:cNvSpPr/>
            <p:nvPr/>
          </p:nvSpPr>
          <p:spPr>
            <a:xfrm flipH="1">
              <a:off x="4437" y="1018"/>
              <a:ext cx="3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759" name="Line 62"/>
            <p:cNvSpPr/>
            <p:nvPr/>
          </p:nvSpPr>
          <p:spPr>
            <a:xfrm flipV="1">
              <a:off x="4989" y="1012"/>
              <a:ext cx="301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1760" name="Line 63"/>
            <p:cNvSpPr/>
            <p:nvPr/>
          </p:nvSpPr>
          <p:spPr>
            <a:xfrm>
              <a:off x="3795" y="1016"/>
              <a:ext cx="58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1761" name="Object 64"/>
            <p:cNvGraphicFramePr>
              <a:graphicFrameLocks noChangeAspect="1"/>
            </p:cNvGraphicFramePr>
            <p:nvPr/>
          </p:nvGraphicFramePr>
          <p:xfrm>
            <a:off x="3521" y="928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39700" imgH="165100" progId="Equation.3">
                    <p:embed/>
                  </p:oleObj>
                </mc:Choice>
                <mc:Fallback>
                  <p:oleObj r:id="rId3" imgW="139700" imgH="165100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21" y="928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2" name="Object 65"/>
            <p:cNvGraphicFramePr>
              <a:graphicFrameLocks noChangeAspect="1"/>
            </p:cNvGraphicFramePr>
            <p:nvPr/>
          </p:nvGraphicFramePr>
          <p:xfrm>
            <a:off x="4804" y="934"/>
            <a:ext cx="14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9700" imgH="177800" progId="Equation.3">
                    <p:embed/>
                  </p:oleObj>
                </mc:Choice>
                <mc:Fallback>
                  <p:oleObj r:id="rId5" imgW="139700" imgH="177800" progId="Equation.3">
                    <p:embed/>
                    <p:pic>
                      <p:nvPicPr>
                        <p:cNvPr id="0" name="图片 326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04" y="934"/>
                          <a:ext cx="142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3" name="Object 66"/>
            <p:cNvGraphicFramePr>
              <a:graphicFrameLocks noChangeAspect="1"/>
            </p:cNvGraphicFramePr>
            <p:nvPr/>
          </p:nvGraphicFramePr>
          <p:xfrm>
            <a:off x="3540" y="675"/>
            <a:ext cx="129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27000" imgH="165100" progId="Equation.3">
                    <p:embed/>
                  </p:oleObj>
                </mc:Choice>
                <mc:Fallback>
                  <p:oleObj r:id="rId7" imgW="127000" imgH="165100" progId="Equation.3">
                    <p:embed/>
                    <p:pic>
                      <p:nvPicPr>
                        <p:cNvPr id="0" name="图片 326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40" y="675"/>
                          <a:ext cx="129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75"/>
          <p:cNvGrpSpPr/>
          <p:nvPr/>
        </p:nvGrpSpPr>
        <p:grpSpPr>
          <a:xfrm>
            <a:off x="3341688" y="1768475"/>
            <a:ext cx="5588000" cy="382588"/>
            <a:chOff x="2150" y="583"/>
            <a:chExt cx="3520" cy="241"/>
          </a:xfrm>
        </p:grpSpPr>
        <p:sp>
          <p:nvSpPr>
            <p:cNvPr id="31765" name="Line 68"/>
            <p:cNvSpPr/>
            <p:nvPr/>
          </p:nvSpPr>
          <p:spPr>
            <a:xfrm>
              <a:off x="2518" y="783"/>
              <a:ext cx="3152" cy="16"/>
            </a:xfrm>
            <a:prstGeom prst="line">
              <a:avLst/>
            </a:prstGeom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1766" name="Object 70"/>
            <p:cNvGraphicFramePr>
              <a:graphicFrameLocks noChangeAspect="1"/>
            </p:cNvGraphicFramePr>
            <p:nvPr/>
          </p:nvGraphicFramePr>
          <p:xfrm>
            <a:off x="2150" y="626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50" y="626"/>
                          <a:ext cx="180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67" name="Group 74"/>
            <p:cNvGrpSpPr/>
            <p:nvPr/>
          </p:nvGrpSpPr>
          <p:grpSpPr>
            <a:xfrm>
              <a:off x="4964" y="583"/>
              <a:ext cx="285" cy="240"/>
              <a:chOff x="4964" y="583"/>
              <a:chExt cx="285" cy="240"/>
            </a:xfrm>
          </p:grpSpPr>
          <p:sp>
            <p:nvSpPr>
              <p:cNvPr id="31768" name="Oval 69"/>
              <p:cNvSpPr/>
              <p:nvPr/>
            </p:nvSpPr>
            <p:spPr>
              <a:xfrm>
                <a:off x="5043" y="796"/>
                <a:ext cx="27" cy="27"/>
              </a:xfrm>
              <a:prstGeom prst="ellipse">
                <a:avLst/>
              </a:prstGeom>
              <a:solidFill>
                <a:srgbClr val="CC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1769" name="Object 72"/>
              <p:cNvGraphicFramePr>
                <a:graphicFrameLocks noChangeAspect="1"/>
              </p:cNvGraphicFramePr>
              <p:nvPr/>
            </p:nvGraphicFramePr>
            <p:xfrm>
              <a:off x="4964" y="583"/>
              <a:ext cx="285" cy="2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27000" imgH="152400" progId="Equation.3">
                      <p:embed/>
                    </p:oleObj>
                  </mc:Choice>
                  <mc:Fallback>
                    <p:oleObj r:id="rId11" imgW="127000" imgH="152400" progId="Equation.3">
                      <p:embed/>
                      <p:pic>
                        <p:nvPicPr>
                          <p:cNvPr id="0" name="图片 3265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964" y="583"/>
                            <a:ext cx="285" cy="21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1770" name="Group 79"/>
          <p:cNvGrpSpPr/>
          <p:nvPr/>
        </p:nvGrpSpPr>
        <p:grpSpPr>
          <a:xfrm>
            <a:off x="5500688" y="1751013"/>
            <a:ext cx="3443287" cy="896937"/>
            <a:chOff x="3510" y="561"/>
            <a:chExt cx="2169" cy="565"/>
          </a:xfrm>
        </p:grpSpPr>
        <p:graphicFrame>
          <p:nvGraphicFramePr>
            <p:cNvPr id="31771" name="Object 71"/>
            <p:cNvGraphicFramePr>
              <a:graphicFrameLocks noChangeAspect="1"/>
            </p:cNvGraphicFramePr>
            <p:nvPr/>
          </p:nvGraphicFramePr>
          <p:xfrm>
            <a:off x="4055" y="602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55" y="602"/>
                          <a:ext cx="180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2" name="Rectangle 73"/>
            <p:cNvSpPr/>
            <p:nvPr/>
          </p:nvSpPr>
          <p:spPr>
            <a:xfrm>
              <a:off x="3561" y="850"/>
              <a:ext cx="146" cy="37"/>
            </a:xfrm>
            <a:prstGeom prst="rect">
              <a:avLst/>
            </a:prstGeom>
            <a:solidFill>
              <a:srgbClr val="CC0000"/>
            </a:solidFill>
            <a:ln w="19050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73" name="Object 76"/>
            <p:cNvGraphicFramePr>
              <a:graphicFrameLocks noChangeAspect="1"/>
            </p:cNvGraphicFramePr>
            <p:nvPr/>
          </p:nvGraphicFramePr>
          <p:xfrm>
            <a:off x="3510" y="561"/>
            <a:ext cx="27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90500" imgH="177800" progId="Equation.3">
                    <p:embed/>
                  </p:oleObj>
                </mc:Choice>
                <mc:Fallback>
                  <p:oleObj r:id="rId13" imgW="190500" imgH="17780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10" y="561"/>
                          <a:ext cx="270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4" name="Line 77"/>
            <p:cNvSpPr/>
            <p:nvPr/>
          </p:nvSpPr>
          <p:spPr>
            <a:xfrm>
              <a:off x="5038" y="869"/>
              <a:ext cx="4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1775" name="Object 78"/>
            <p:cNvGraphicFramePr>
              <a:graphicFrameLocks noChangeAspect="1"/>
            </p:cNvGraphicFramePr>
            <p:nvPr/>
          </p:nvGraphicFramePr>
          <p:xfrm>
            <a:off x="5401" y="879"/>
            <a:ext cx="27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28600" imgH="203200" progId="Equation.3">
                    <p:embed/>
                  </p:oleObj>
                </mc:Choice>
                <mc:Fallback>
                  <p:oleObj r:id="rId15" imgW="228600" imgH="2032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01" y="879"/>
                          <a:ext cx="27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4"/>
          <p:cNvGrpSpPr/>
          <p:nvPr/>
        </p:nvGrpSpPr>
        <p:grpSpPr>
          <a:xfrm>
            <a:off x="509588" y="2873375"/>
            <a:ext cx="6076950" cy="446088"/>
            <a:chOff x="334" y="1208"/>
            <a:chExt cx="3828" cy="281"/>
          </a:xfrm>
        </p:grpSpPr>
        <p:sp>
          <p:nvSpPr>
            <p:cNvPr id="31777" name="Text Box 80"/>
            <p:cNvSpPr txBox="1"/>
            <p:nvPr/>
          </p:nvSpPr>
          <p:spPr>
            <a:xfrm>
              <a:off x="334" y="1223"/>
              <a:ext cx="38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取微元       ，带有电荷                    ，其中</a:t>
              </a:r>
            </a:p>
          </p:txBody>
        </p:sp>
        <p:graphicFrame>
          <p:nvGraphicFramePr>
            <p:cNvPr id="31778" name="Object 81"/>
            <p:cNvGraphicFramePr>
              <a:graphicFrameLocks noChangeAspect="1"/>
            </p:cNvGraphicFramePr>
            <p:nvPr/>
          </p:nvGraphicFramePr>
          <p:xfrm>
            <a:off x="891" y="1236"/>
            <a:ext cx="25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90500" imgH="177800" progId="Equation.3">
                    <p:embed/>
                  </p:oleObj>
                </mc:Choice>
                <mc:Fallback>
                  <p:oleObj r:id="rId17" imgW="190500" imgH="177800" progId="Equation.3">
                    <p:embed/>
                    <p:pic>
                      <p:nvPicPr>
                        <p:cNvPr id="0" name="图片 326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91" y="1236"/>
                          <a:ext cx="25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9" name="Object 82"/>
            <p:cNvGraphicFramePr>
              <a:graphicFrameLocks noChangeAspect="1"/>
            </p:cNvGraphicFramePr>
            <p:nvPr/>
          </p:nvGraphicFramePr>
          <p:xfrm>
            <a:off x="2046" y="1213"/>
            <a:ext cx="76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584200" imgH="203200" progId="Equation.3">
                    <p:embed/>
                  </p:oleObj>
                </mc:Choice>
                <mc:Fallback>
                  <p:oleObj r:id="rId19" imgW="584200" imgH="2032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46" y="1213"/>
                          <a:ext cx="76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80" name="Object 83"/>
            <p:cNvGraphicFramePr>
              <a:graphicFrameLocks noChangeAspect="1"/>
            </p:cNvGraphicFramePr>
            <p:nvPr/>
          </p:nvGraphicFramePr>
          <p:xfrm>
            <a:off x="3271" y="1208"/>
            <a:ext cx="69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532765" imgH="215900" progId="Equation.3">
                    <p:embed/>
                  </p:oleObj>
                </mc:Choice>
                <mc:Fallback>
                  <p:oleObj r:id="rId21" imgW="532765" imgH="21590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71" y="1208"/>
                          <a:ext cx="694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96"/>
          <p:cNvGrpSpPr/>
          <p:nvPr/>
        </p:nvGrpSpPr>
        <p:grpSpPr>
          <a:xfrm>
            <a:off x="395288" y="3540125"/>
            <a:ext cx="7505700" cy="963613"/>
            <a:chOff x="289" y="1509"/>
            <a:chExt cx="4728" cy="607"/>
          </a:xfrm>
        </p:grpSpPr>
        <p:graphicFrame>
          <p:nvGraphicFramePr>
            <p:cNvPr id="31782" name="Object 85"/>
            <p:cNvGraphicFramePr>
              <a:graphicFrameLocks noChangeAspect="1"/>
            </p:cNvGraphicFramePr>
            <p:nvPr/>
          </p:nvGraphicFramePr>
          <p:xfrm>
            <a:off x="2278" y="1509"/>
            <a:ext cx="2739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2120900" imgH="469900" progId="Equation.DSMT4">
                    <p:embed/>
                  </p:oleObj>
                </mc:Choice>
                <mc:Fallback>
                  <p:oleObj r:id="rId23" imgW="2120900" imgH="469900" progId="Equation.DSMT4">
                    <p:embed/>
                    <p:pic>
                      <p:nvPicPr>
                        <p:cNvPr id="0" name="图片 326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78" y="1509"/>
                          <a:ext cx="2739" cy="6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1783" name="Group 95"/>
            <p:cNvGrpSpPr/>
            <p:nvPr/>
          </p:nvGrpSpPr>
          <p:grpSpPr>
            <a:xfrm>
              <a:off x="289" y="1648"/>
              <a:ext cx="1882" cy="252"/>
              <a:chOff x="289" y="1648"/>
              <a:chExt cx="1882" cy="252"/>
            </a:xfrm>
          </p:grpSpPr>
          <p:sp>
            <p:nvSpPr>
              <p:cNvPr id="31784" name="Text Box 91"/>
              <p:cNvSpPr txBox="1"/>
              <p:nvPr/>
            </p:nvSpPr>
            <p:spPr>
              <a:xfrm>
                <a:off x="289" y="1648"/>
                <a:ext cx="1882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       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产生的电场强度大小</a:t>
                </a:r>
              </a:p>
            </p:txBody>
          </p:sp>
          <p:graphicFrame>
            <p:nvGraphicFramePr>
              <p:cNvPr id="31785" name="Object 92"/>
              <p:cNvGraphicFramePr>
                <a:graphicFrameLocks noChangeAspect="1"/>
              </p:cNvGraphicFramePr>
              <p:nvPr/>
            </p:nvGraphicFramePr>
            <p:xfrm>
              <a:off x="369" y="1652"/>
              <a:ext cx="228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5" imgW="203200" imgH="203200" progId="Equation.3">
                      <p:embed/>
                    </p:oleObj>
                  </mc:Choice>
                  <mc:Fallback>
                    <p:oleObj r:id="rId25" imgW="203200" imgH="203200" progId="Equation.3">
                      <p:embed/>
                      <p:pic>
                        <p:nvPicPr>
                          <p:cNvPr id="0" name="图片 3261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369" y="1652"/>
                            <a:ext cx="228" cy="2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" name="Group 97"/>
          <p:cNvGrpSpPr/>
          <p:nvPr/>
        </p:nvGrpSpPr>
        <p:grpSpPr>
          <a:xfrm>
            <a:off x="382588" y="5067300"/>
            <a:ext cx="8656637" cy="960438"/>
            <a:chOff x="250" y="2054"/>
            <a:chExt cx="5453" cy="605"/>
          </a:xfrm>
        </p:grpSpPr>
        <p:graphicFrame>
          <p:nvGraphicFramePr>
            <p:cNvPr id="31787" name="Object 90"/>
            <p:cNvGraphicFramePr>
              <a:graphicFrameLocks noChangeAspect="1"/>
            </p:cNvGraphicFramePr>
            <p:nvPr/>
          </p:nvGraphicFramePr>
          <p:xfrm>
            <a:off x="2138" y="2054"/>
            <a:ext cx="3565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2921000" imgH="495300" progId="Equation.DSMT4">
                    <p:embed/>
                  </p:oleObj>
                </mc:Choice>
                <mc:Fallback>
                  <p:oleObj r:id="rId27" imgW="2921000" imgH="495300" progId="Equation.DSMT4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138" y="2054"/>
                          <a:ext cx="3565" cy="6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8" name="Text Box 93"/>
            <p:cNvSpPr txBox="1"/>
            <p:nvPr/>
          </p:nvSpPr>
          <p:spPr>
            <a:xfrm>
              <a:off x="250" y="2203"/>
              <a:ext cx="209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细杆产生的电场强度大小</a:t>
              </a:r>
            </a:p>
          </p:txBody>
        </p:sp>
      </p:grpSp>
      <p:sp>
        <p:nvSpPr>
          <p:cNvPr id="55" name="Text Box 5"/>
          <p:cNvSpPr txBox="1"/>
          <p:nvPr/>
        </p:nvSpPr>
        <p:spPr>
          <a:xfrm>
            <a:off x="509588" y="6027738"/>
            <a:ext cx="2600325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的方向沿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轴方向</a:t>
            </a:r>
          </a:p>
        </p:txBody>
      </p:sp>
      <p:sp>
        <p:nvSpPr>
          <p:cNvPr id="56" name="Text Box 5"/>
          <p:cNvSpPr txBox="1"/>
          <p:nvPr/>
        </p:nvSpPr>
        <p:spPr>
          <a:xfrm>
            <a:off x="450850" y="4581525"/>
            <a:ext cx="2600325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的方向沿</a:t>
            </a:r>
            <a:r>
              <a:rPr lang="en-US" altLang="zh-CN" sz="20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轴方向</a:t>
            </a:r>
          </a:p>
        </p:txBody>
      </p:sp>
      <p:sp>
        <p:nvSpPr>
          <p:cNvPr id="31791" name="文本框 2"/>
          <p:cNvSpPr txBox="1"/>
          <p:nvPr/>
        </p:nvSpPr>
        <p:spPr>
          <a:xfrm>
            <a:off x="476250" y="133350"/>
            <a:ext cx="80470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：不同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d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点激发的电场方向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同一条直线上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/>
      <p:bldP spid="55" grpId="0"/>
      <p:bldP spid="5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25" descr="羊皮纸"/>
          <p:cNvSpPr/>
          <p:nvPr/>
        </p:nvSpPr>
        <p:spPr>
          <a:xfrm>
            <a:off x="0" y="6472238"/>
            <a:ext cx="9144000" cy="385762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0" name="Rectangle 126" descr="羊皮纸"/>
          <p:cNvSpPr/>
          <p:nvPr/>
        </p:nvSpPr>
        <p:spPr>
          <a:xfrm>
            <a:off x="0" y="0"/>
            <a:ext cx="9144000" cy="10525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2771" name="Group 82"/>
          <p:cNvGrpSpPr/>
          <p:nvPr/>
        </p:nvGrpSpPr>
        <p:grpSpPr>
          <a:xfrm>
            <a:off x="5464175" y="2401888"/>
            <a:ext cx="3076575" cy="3159125"/>
            <a:chOff x="3243" y="981"/>
            <a:chExt cx="1938" cy="1990"/>
          </a:xfrm>
        </p:grpSpPr>
        <p:grpSp>
          <p:nvGrpSpPr>
            <p:cNvPr id="32772" name="Group 44"/>
            <p:cNvGrpSpPr/>
            <p:nvPr/>
          </p:nvGrpSpPr>
          <p:grpSpPr>
            <a:xfrm>
              <a:off x="3644" y="1413"/>
              <a:ext cx="1125" cy="1146"/>
              <a:chOff x="3644" y="1413"/>
              <a:chExt cx="1125" cy="1146"/>
            </a:xfrm>
          </p:grpSpPr>
          <p:sp>
            <p:nvSpPr>
              <p:cNvPr id="32773" name="Line 5"/>
              <p:cNvSpPr/>
              <p:nvPr/>
            </p:nvSpPr>
            <p:spPr>
              <a:xfrm>
                <a:off x="3681" y="2030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4" name="Line 6"/>
              <p:cNvSpPr/>
              <p:nvPr/>
            </p:nvSpPr>
            <p:spPr>
              <a:xfrm rot="-5400000">
                <a:off x="3683" y="2030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5" name="Line 7"/>
              <p:cNvSpPr/>
              <p:nvPr/>
            </p:nvSpPr>
            <p:spPr>
              <a:xfrm>
                <a:off x="4633" y="2013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6" name="Line 8"/>
              <p:cNvSpPr/>
              <p:nvPr/>
            </p:nvSpPr>
            <p:spPr>
              <a:xfrm rot="-5400000">
                <a:off x="4635" y="2013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7" name="Line 9"/>
              <p:cNvSpPr/>
              <p:nvPr/>
            </p:nvSpPr>
            <p:spPr>
              <a:xfrm>
                <a:off x="4573" y="2245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8" name="Line 10"/>
              <p:cNvSpPr/>
              <p:nvPr/>
            </p:nvSpPr>
            <p:spPr>
              <a:xfrm rot="-5400000">
                <a:off x="4575" y="2245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79" name="Line 11"/>
              <p:cNvSpPr/>
              <p:nvPr/>
            </p:nvSpPr>
            <p:spPr>
              <a:xfrm>
                <a:off x="4134" y="2493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0" name="Line 12"/>
              <p:cNvSpPr/>
              <p:nvPr/>
            </p:nvSpPr>
            <p:spPr>
              <a:xfrm rot="-5400000">
                <a:off x="4136" y="2493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1" name="Line 13"/>
              <p:cNvSpPr/>
              <p:nvPr/>
            </p:nvSpPr>
            <p:spPr>
              <a:xfrm>
                <a:off x="3706" y="2234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2" name="Line 14"/>
              <p:cNvSpPr/>
              <p:nvPr/>
            </p:nvSpPr>
            <p:spPr>
              <a:xfrm rot="-5400000">
                <a:off x="3708" y="2234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3" name="Line 15"/>
              <p:cNvSpPr/>
              <p:nvPr/>
            </p:nvSpPr>
            <p:spPr>
              <a:xfrm>
                <a:off x="3879" y="2427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4" name="Line 16"/>
              <p:cNvSpPr/>
              <p:nvPr/>
            </p:nvSpPr>
            <p:spPr>
              <a:xfrm rot="-5400000">
                <a:off x="3881" y="2427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5" name="Line 17"/>
              <p:cNvSpPr/>
              <p:nvPr/>
            </p:nvSpPr>
            <p:spPr>
              <a:xfrm>
                <a:off x="4423" y="2410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6" name="Line 18"/>
              <p:cNvSpPr/>
              <p:nvPr/>
            </p:nvSpPr>
            <p:spPr>
              <a:xfrm rot="-5400000">
                <a:off x="4425" y="2410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7" name="Line 19"/>
              <p:cNvSpPr/>
              <p:nvPr/>
            </p:nvSpPr>
            <p:spPr>
              <a:xfrm flipV="1">
                <a:off x="4585" y="1776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8" name="Line 20"/>
              <p:cNvSpPr/>
              <p:nvPr/>
            </p:nvSpPr>
            <p:spPr>
              <a:xfrm rot="5400000" flipV="1">
                <a:off x="4587" y="1776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89" name="Line 21"/>
              <p:cNvSpPr/>
              <p:nvPr/>
            </p:nvSpPr>
            <p:spPr>
              <a:xfrm flipV="1">
                <a:off x="4145" y="1528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0" name="Line 22"/>
              <p:cNvSpPr/>
              <p:nvPr/>
            </p:nvSpPr>
            <p:spPr>
              <a:xfrm rot="5400000" flipV="1">
                <a:off x="4147" y="1528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1" name="Line 23"/>
              <p:cNvSpPr/>
              <p:nvPr/>
            </p:nvSpPr>
            <p:spPr>
              <a:xfrm flipV="1">
                <a:off x="3718" y="1787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2" name="Line 24"/>
              <p:cNvSpPr/>
              <p:nvPr/>
            </p:nvSpPr>
            <p:spPr>
              <a:xfrm rot="5400000" flipV="1">
                <a:off x="3720" y="1787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3" name="Line 25"/>
              <p:cNvSpPr/>
              <p:nvPr/>
            </p:nvSpPr>
            <p:spPr>
              <a:xfrm flipV="1">
                <a:off x="3890" y="1594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4" name="Line 26"/>
              <p:cNvSpPr/>
              <p:nvPr/>
            </p:nvSpPr>
            <p:spPr>
              <a:xfrm rot="5400000" flipV="1">
                <a:off x="3892" y="1594"/>
                <a:ext cx="132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5" name="Line 27"/>
              <p:cNvSpPr/>
              <p:nvPr/>
            </p:nvSpPr>
            <p:spPr>
              <a:xfrm flipV="1">
                <a:off x="4434" y="1611"/>
                <a:ext cx="136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sp>
            <p:nvSpPr>
              <p:cNvPr id="32796" name="Line 28"/>
              <p:cNvSpPr/>
              <p:nvPr/>
            </p:nvSpPr>
            <p:spPr>
              <a:xfrm rot="5400000" flipV="1">
                <a:off x="4425" y="1600"/>
                <a:ext cx="133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</p:sp>
          <p:graphicFrame>
            <p:nvGraphicFramePr>
              <p:cNvPr id="32797" name="Object 29"/>
              <p:cNvGraphicFramePr>
                <a:graphicFrameLocks noChangeAspect="1"/>
              </p:cNvGraphicFramePr>
              <p:nvPr/>
            </p:nvGraphicFramePr>
            <p:xfrm>
              <a:off x="4097" y="2060"/>
              <a:ext cx="157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355600" imgH="393700" progId="Equation.3">
                      <p:embed/>
                    </p:oleObj>
                  </mc:Choice>
                  <mc:Fallback>
                    <p:oleObj r:id="rId3" imgW="355600" imgH="393700" progId="Equation.3">
                      <p:embed/>
                      <p:pic>
                        <p:nvPicPr>
                          <p:cNvPr id="0" name="图片 3271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097" y="2060"/>
                            <a:ext cx="157" cy="16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8" name="Object 30"/>
              <p:cNvGraphicFramePr>
                <a:graphicFrameLocks noChangeAspect="1"/>
              </p:cNvGraphicFramePr>
              <p:nvPr/>
            </p:nvGraphicFramePr>
            <p:xfrm>
              <a:off x="4133" y="1413"/>
              <a:ext cx="261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190500" imgH="304800" progId="Equation.DSMT4">
                      <p:embed/>
                    </p:oleObj>
                  </mc:Choice>
                  <mc:Fallback>
                    <p:oleObj r:id="rId5" imgW="190500" imgH="304800" progId="Equation.DSMT4">
                      <p:embed/>
                      <p:pic>
                        <p:nvPicPr>
                          <p:cNvPr id="0" name="图片 3269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33" y="1413"/>
                            <a:ext cx="261" cy="3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9" name="Object 31"/>
              <p:cNvGraphicFramePr>
                <a:graphicFrameLocks noChangeAspect="1"/>
              </p:cNvGraphicFramePr>
              <p:nvPr/>
            </p:nvGraphicFramePr>
            <p:xfrm>
              <a:off x="3708" y="2031"/>
              <a:ext cx="330" cy="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177800" imgH="304800" progId="Equation.DSMT4">
                      <p:embed/>
                    </p:oleObj>
                  </mc:Choice>
                  <mc:Fallback>
                    <p:oleObj r:id="rId7" imgW="177800" imgH="304800" progId="Equation.DSMT4">
                      <p:embed/>
                      <p:pic>
                        <p:nvPicPr>
                          <p:cNvPr id="0" name="图片 3268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08" y="2031"/>
                            <a:ext cx="330" cy="4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0" name="Oval 32"/>
              <p:cNvSpPr/>
              <p:nvPr/>
            </p:nvSpPr>
            <p:spPr>
              <a:xfrm>
                <a:off x="3644" y="1466"/>
                <a:ext cx="1123" cy="1093"/>
              </a:xfrm>
              <a:prstGeom prst="ellipse">
                <a:avLst/>
              </a:prstGeom>
              <a:noFill/>
              <a:ln w="508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801" name="Line 33"/>
              <p:cNvSpPr/>
              <p:nvPr/>
            </p:nvSpPr>
            <p:spPr>
              <a:xfrm flipV="1">
                <a:off x="4234" y="1516"/>
                <a:ext cx="181" cy="499"/>
              </a:xfrm>
              <a:prstGeom prst="line">
                <a:avLst/>
              </a:prstGeom>
              <a:ln w="254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  <p:sp>
            <p:nvSpPr>
              <p:cNvPr id="32802" name="Oval 34"/>
              <p:cNvSpPr/>
              <p:nvPr/>
            </p:nvSpPr>
            <p:spPr>
              <a:xfrm>
                <a:off x="4188" y="1988"/>
                <a:ext cx="64" cy="62"/>
              </a:xfrm>
              <a:prstGeom prst="ellipse">
                <a:avLst/>
              </a:prstGeom>
              <a:solidFill>
                <a:srgbClr val="FF9900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03" name="Group 79"/>
            <p:cNvGrpSpPr/>
            <p:nvPr/>
          </p:nvGrpSpPr>
          <p:grpSpPr>
            <a:xfrm>
              <a:off x="3243" y="981"/>
              <a:ext cx="1938" cy="1990"/>
              <a:chOff x="657" y="989"/>
              <a:chExt cx="1938" cy="1990"/>
            </a:xfrm>
          </p:grpSpPr>
          <p:graphicFrame>
            <p:nvGraphicFramePr>
              <p:cNvPr id="32804" name="Object 71"/>
              <p:cNvGraphicFramePr>
                <a:graphicFrameLocks noChangeAspect="1"/>
              </p:cNvGraphicFramePr>
              <p:nvPr/>
            </p:nvGraphicFramePr>
            <p:xfrm>
              <a:off x="748" y="1434"/>
              <a:ext cx="294" cy="3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241300" imgH="304800" progId="Equation.DSMT4">
                      <p:embed/>
                    </p:oleObj>
                  </mc:Choice>
                  <mc:Fallback>
                    <p:oleObj r:id="rId9" imgW="241300" imgH="304800" progId="Equation.DSMT4">
                      <p:embed/>
                      <p:pic>
                        <p:nvPicPr>
                          <p:cNvPr id="0" name="图片 3274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48" y="1434"/>
                            <a:ext cx="294" cy="36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805" name="Object 72"/>
              <p:cNvGraphicFramePr>
                <a:graphicFrameLocks noChangeAspect="1"/>
              </p:cNvGraphicFramePr>
              <p:nvPr/>
            </p:nvGraphicFramePr>
            <p:xfrm>
              <a:off x="2064" y="2160"/>
              <a:ext cx="352" cy="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90500" imgH="304800" progId="Equation.DSMT4">
                      <p:embed/>
                    </p:oleObj>
                  </mc:Choice>
                  <mc:Fallback>
                    <p:oleObj r:id="rId11" imgW="190500" imgH="304800" progId="Equation.DSMT4">
                      <p:embed/>
                      <p:pic>
                        <p:nvPicPr>
                          <p:cNvPr id="0" name="图片 3270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00">
                                  <a:alpha val="0"/>
                                </a:srgbClr>
                              </a:clrTo>
                            </a:clrChange>
                            <a:lum bright="-100000" contrast="100000"/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64" y="2160"/>
                            <a:ext cx="352" cy="49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806" name="Oval 73"/>
              <p:cNvSpPr/>
              <p:nvPr/>
            </p:nvSpPr>
            <p:spPr>
              <a:xfrm>
                <a:off x="657" y="989"/>
                <a:ext cx="1938" cy="1990"/>
              </a:xfrm>
              <a:prstGeom prst="ellipse">
                <a:avLst/>
              </a:prstGeom>
              <a:noFill/>
              <a:ln w="50800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807" name="Line 74"/>
              <p:cNvSpPr/>
              <p:nvPr/>
            </p:nvSpPr>
            <p:spPr>
              <a:xfrm rot="-5400000" flipV="1">
                <a:off x="1001" y="1409"/>
                <a:ext cx="312" cy="908"/>
              </a:xfrm>
              <a:prstGeom prst="line">
                <a:avLst/>
              </a:prstGeom>
              <a:ln w="25400" cap="flat" cmpd="sng">
                <a:solidFill>
                  <a:srgbClr val="000080"/>
                </a:solidFill>
                <a:prstDash val="solid"/>
                <a:round/>
                <a:headEnd type="none" w="med" len="med"/>
                <a:tailEnd type="triangle" w="sm" len="sm"/>
              </a:ln>
            </p:spPr>
          </p:sp>
        </p:grpSp>
      </p:grpSp>
      <p:sp>
        <p:nvSpPr>
          <p:cNvPr id="32808" name="Text Box 80"/>
          <p:cNvSpPr txBox="1"/>
          <p:nvPr/>
        </p:nvSpPr>
        <p:spPr>
          <a:xfrm>
            <a:off x="179388" y="981075"/>
            <a:ext cx="8662987" cy="10144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：两个带电球壳（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,R</a:t>
            </a:r>
            <a:r>
              <a:rPr lang="en-US" altLang="zh-CN" sz="2400" b="1" baseline="-25000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）（</a:t>
            </a:r>
            <a:r>
              <a:rPr lang="en-US" altLang="zh-CN" sz="2400" b="1" i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q</a:t>
            </a:r>
            <a:r>
              <a:rPr lang="en-US" altLang="zh-CN" sz="2400" b="1" i="1" baseline="-25000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1</a:t>
            </a:r>
            <a:r>
              <a:rPr lang="zh-CN" altLang="en-US" sz="2400" b="1" i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、</a:t>
            </a:r>
            <a:r>
              <a:rPr lang="en-US" altLang="zh-CN" sz="2400" b="1" i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q</a:t>
            </a:r>
            <a:r>
              <a:rPr lang="en-US" altLang="zh-CN" sz="2400" b="1" i="1" baseline="-25000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）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,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求电场分布</a:t>
            </a:r>
            <a:endParaRPr lang="en-US" altLang="zh-CN" sz="2400" b="1" dirty="0">
              <a:solidFill>
                <a:srgbClr val="CC0000"/>
              </a:solidFill>
              <a:latin typeface="Verdana" panose="020B0604030504040204" pitchFamily="34" charset="0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（场强叠加原理）</a:t>
            </a:r>
          </a:p>
        </p:txBody>
      </p:sp>
      <p:graphicFrame>
        <p:nvGraphicFramePr>
          <p:cNvPr id="132177" name="Object 81"/>
          <p:cNvGraphicFramePr>
            <a:graphicFrameLocks noChangeAspect="1"/>
          </p:cNvGraphicFramePr>
          <p:nvPr/>
        </p:nvGraphicFramePr>
        <p:xfrm>
          <a:off x="539750" y="4037013"/>
          <a:ext cx="2640013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476500" imgH="660400" progId="Equation.DSMT4">
                  <p:embed/>
                </p:oleObj>
              </mc:Choice>
              <mc:Fallback>
                <p:oleObj r:id="rId13" imgW="2476500" imgH="660400" progId="Equation.DSMT4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037013"/>
                        <a:ext cx="2640013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79" name="Object 83"/>
          <p:cNvGraphicFramePr>
            <a:graphicFrameLocks noChangeAspect="1"/>
          </p:cNvGraphicFramePr>
          <p:nvPr/>
        </p:nvGraphicFramePr>
        <p:xfrm>
          <a:off x="466725" y="4786313"/>
          <a:ext cx="31146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692400" imgH="660400" progId="Equation.DSMT4">
                  <p:embed/>
                </p:oleObj>
              </mc:Choice>
              <mc:Fallback>
                <p:oleObj r:id="rId15" imgW="2692400" imgH="660400" progId="Equation.DSMT4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 contrast="100000"/>
                      </a:blip>
                      <a:stretch>
                        <a:fillRect/>
                      </a:stretch>
                    </p:blipFill>
                    <p:spPr>
                      <a:xfrm>
                        <a:off x="466725" y="4786313"/>
                        <a:ext cx="3114675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80" name="Object 84"/>
          <p:cNvGraphicFramePr>
            <a:graphicFrameLocks noChangeAspect="1"/>
          </p:cNvGraphicFramePr>
          <p:nvPr/>
        </p:nvGraphicFramePr>
        <p:xfrm>
          <a:off x="539750" y="5641975"/>
          <a:ext cx="18510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752600" imgH="304800" progId="Equation.DSMT4">
                  <p:embed/>
                </p:oleObj>
              </mc:Choice>
              <mc:Fallback>
                <p:oleObj r:id="rId17" imgW="1752600" imgH="304800" progId="Equation.DSMT4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5641975"/>
                        <a:ext cx="1851025" cy="407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812" name="Group 124"/>
          <p:cNvGrpSpPr/>
          <p:nvPr/>
        </p:nvGrpSpPr>
        <p:grpSpPr>
          <a:xfrm>
            <a:off x="5327650" y="2344738"/>
            <a:ext cx="3276600" cy="3311525"/>
            <a:chOff x="3356" y="754"/>
            <a:chExt cx="2064" cy="2086"/>
          </a:xfrm>
        </p:grpSpPr>
        <p:grpSp>
          <p:nvGrpSpPr>
            <p:cNvPr id="32813" name="Group 87"/>
            <p:cNvGrpSpPr/>
            <p:nvPr/>
          </p:nvGrpSpPr>
          <p:grpSpPr>
            <a:xfrm>
              <a:off x="3674" y="2478"/>
              <a:ext cx="136" cy="136"/>
              <a:chOff x="3334" y="3339"/>
              <a:chExt cx="136" cy="136"/>
            </a:xfrm>
          </p:grpSpPr>
          <p:sp>
            <p:nvSpPr>
              <p:cNvPr id="32814" name="Line 85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15" name="Line 86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16" name="Group 88"/>
            <p:cNvGrpSpPr/>
            <p:nvPr/>
          </p:nvGrpSpPr>
          <p:grpSpPr>
            <a:xfrm>
              <a:off x="4127" y="2704"/>
              <a:ext cx="136" cy="136"/>
              <a:chOff x="3334" y="3339"/>
              <a:chExt cx="136" cy="136"/>
            </a:xfrm>
          </p:grpSpPr>
          <p:sp>
            <p:nvSpPr>
              <p:cNvPr id="32817" name="Line 89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18" name="Line 90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19" name="Group 91"/>
            <p:cNvGrpSpPr/>
            <p:nvPr/>
          </p:nvGrpSpPr>
          <p:grpSpPr>
            <a:xfrm>
              <a:off x="4581" y="2704"/>
              <a:ext cx="136" cy="136"/>
              <a:chOff x="3334" y="3339"/>
              <a:chExt cx="136" cy="136"/>
            </a:xfrm>
          </p:grpSpPr>
          <p:sp>
            <p:nvSpPr>
              <p:cNvPr id="32820" name="Line 92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21" name="Line 93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22" name="Group 94"/>
            <p:cNvGrpSpPr/>
            <p:nvPr/>
          </p:nvGrpSpPr>
          <p:grpSpPr>
            <a:xfrm>
              <a:off x="5012" y="2478"/>
              <a:ext cx="136" cy="136"/>
              <a:chOff x="3334" y="3339"/>
              <a:chExt cx="136" cy="136"/>
            </a:xfrm>
          </p:grpSpPr>
          <p:sp>
            <p:nvSpPr>
              <p:cNvPr id="32823" name="Line 95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24" name="Line 96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25" name="Group 97"/>
            <p:cNvGrpSpPr/>
            <p:nvPr/>
          </p:nvGrpSpPr>
          <p:grpSpPr>
            <a:xfrm>
              <a:off x="5261" y="2001"/>
              <a:ext cx="136" cy="136"/>
              <a:chOff x="3334" y="3339"/>
              <a:chExt cx="136" cy="136"/>
            </a:xfrm>
          </p:grpSpPr>
          <p:sp>
            <p:nvSpPr>
              <p:cNvPr id="32826" name="Line 98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27" name="Line 99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28" name="Group 100"/>
            <p:cNvGrpSpPr/>
            <p:nvPr/>
          </p:nvGrpSpPr>
          <p:grpSpPr>
            <a:xfrm>
              <a:off x="5284" y="1457"/>
              <a:ext cx="136" cy="136"/>
              <a:chOff x="3334" y="3339"/>
              <a:chExt cx="136" cy="136"/>
            </a:xfrm>
          </p:grpSpPr>
          <p:sp>
            <p:nvSpPr>
              <p:cNvPr id="32829" name="Line 101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30" name="Line 102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31" name="Group 103"/>
            <p:cNvGrpSpPr/>
            <p:nvPr/>
          </p:nvGrpSpPr>
          <p:grpSpPr>
            <a:xfrm>
              <a:off x="4967" y="1026"/>
              <a:ext cx="136" cy="136"/>
              <a:chOff x="3334" y="3339"/>
              <a:chExt cx="136" cy="136"/>
            </a:xfrm>
          </p:grpSpPr>
          <p:sp>
            <p:nvSpPr>
              <p:cNvPr id="32832" name="Line 104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33" name="Line 105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34" name="Group 106"/>
            <p:cNvGrpSpPr/>
            <p:nvPr/>
          </p:nvGrpSpPr>
          <p:grpSpPr>
            <a:xfrm>
              <a:off x="4626" y="822"/>
              <a:ext cx="136" cy="136"/>
              <a:chOff x="3334" y="3339"/>
              <a:chExt cx="136" cy="136"/>
            </a:xfrm>
          </p:grpSpPr>
          <p:sp>
            <p:nvSpPr>
              <p:cNvPr id="32835" name="Line 107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36" name="Line 108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37" name="Group 109"/>
            <p:cNvGrpSpPr/>
            <p:nvPr/>
          </p:nvGrpSpPr>
          <p:grpSpPr>
            <a:xfrm>
              <a:off x="4127" y="754"/>
              <a:ext cx="136" cy="136"/>
              <a:chOff x="3334" y="3339"/>
              <a:chExt cx="136" cy="136"/>
            </a:xfrm>
          </p:grpSpPr>
          <p:sp>
            <p:nvSpPr>
              <p:cNvPr id="32838" name="Line 110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39" name="Line 111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40" name="Group 112"/>
            <p:cNvGrpSpPr/>
            <p:nvPr/>
          </p:nvGrpSpPr>
          <p:grpSpPr>
            <a:xfrm>
              <a:off x="3447" y="2205"/>
              <a:ext cx="136" cy="136"/>
              <a:chOff x="3334" y="3339"/>
              <a:chExt cx="136" cy="136"/>
            </a:xfrm>
          </p:grpSpPr>
          <p:sp>
            <p:nvSpPr>
              <p:cNvPr id="32841" name="Line 113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42" name="Line 114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43" name="Group 115"/>
            <p:cNvGrpSpPr/>
            <p:nvPr/>
          </p:nvGrpSpPr>
          <p:grpSpPr>
            <a:xfrm>
              <a:off x="3356" y="1865"/>
              <a:ext cx="136" cy="136"/>
              <a:chOff x="3334" y="3339"/>
              <a:chExt cx="136" cy="136"/>
            </a:xfrm>
          </p:grpSpPr>
          <p:sp>
            <p:nvSpPr>
              <p:cNvPr id="32844" name="Line 116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45" name="Line 117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46" name="Group 118"/>
            <p:cNvGrpSpPr/>
            <p:nvPr/>
          </p:nvGrpSpPr>
          <p:grpSpPr>
            <a:xfrm>
              <a:off x="3402" y="1389"/>
              <a:ext cx="136" cy="136"/>
              <a:chOff x="3334" y="3339"/>
              <a:chExt cx="136" cy="136"/>
            </a:xfrm>
          </p:grpSpPr>
          <p:sp>
            <p:nvSpPr>
              <p:cNvPr id="32847" name="Line 119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48" name="Line 120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2849" name="Group 121"/>
            <p:cNvGrpSpPr/>
            <p:nvPr/>
          </p:nvGrpSpPr>
          <p:grpSpPr>
            <a:xfrm>
              <a:off x="3674" y="981"/>
              <a:ext cx="136" cy="136"/>
              <a:chOff x="3334" y="3339"/>
              <a:chExt cx="136" cy="136"/>
            </a:xfrm>
          </p:grpSpPr>
          <p:sp>
            <p:nvSpPr>
              <p:cNvPr id="32850" name="Line 122"/>
              <p:cNvSpPr/>
              <p:nvPr/>
            </p:nvSpPr>
            <p:spPr>
              <a:xfrm>
                <a:off x="3334" y="3407"/>
                <a:ext cx="136" cy="0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51" name="Line 123"/>
              <p:cNvSpPr/>
              <p:nvPr/>
            </p:nvSpPr>
            <p:spPr>
              <a:xfrm flipH="1">
                <a:off x="3402" y="3339"/>
                <a:ext cx="0" cy="136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" name="Group 136"/>
          <p:cNvGrpSpPr/>
          <p:nvPr/>
        </p:nvGrpSpPr>
        <p:grpSpPr>
          <a:xfrm>
            <a:off x="5827713" y="4443413"/>
            <a:ext cx="3127375" cy="1824037"/>
            <a:chOff x="3671" y="2076"/>
            <a:chExt cx="1970" cy="1149"/>
          </a:xfrm>
        </p:grpSpPr>
        <p:sp>
          <p:nvSpPr>
            <p:cNvPr id="32853" name="Line 128"/>
            <p:cNvSpPr/>
            <p:nvPr/>
          </p:nvSpPr>
          <p:spPr>
            <a:xfrm flipH="1">
              <a:off x="3905" y="2368"/>
              <a:ext cx="201" cy="30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4" name="Line 129"/>
            <p:cNvSpPr/>
            <p:nvPr/>
          </p:nvSpPr>
          <p:spPr>
            <a:xfrm flipH="1">
              <a:off x="3671" y="2709"/>
              <a:ext cx="201" cy="30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5" name="Line 130"/>
            <p:cNvSpPr/>
            <p:nvPr/>
          </p:nvSpPr>
          <p:spPr>
            <a:xfrm>
              <a:off x="4579" y="2411"/>
              <a:ext cx="118" cy="291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6" name="Line 131"/>
            <p:cNvSpPr/>
            <p:nvPr/>
          </p:nvSpPr>
          <p:spPr>
            <a:xfrm>
              <a:off x="4974" y="2076"/>
              <a:ext cx="238" cy="14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7" name="Line 132"/>
            <p:cNvSpPr/>
            <p:nvPr/>
          </p:nvSpPr>
          <p:spPr>
            <a:xfrm>
              <a:off x="4696" y="2774"/>
              <a:ext cx="155" cy="38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8" name="Line 133"/>
            <p:cNvSpPr/>
            <p:nvPr/>
          </p:nvSpPr>
          <p:spPr>
            <a:xfrm>
              <a:off x="5065" y="2603"/>
              <a:ext cx="237" cy="319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59" name="Line 134"/>
            <p:cNvSpPr/>
            <p:nvPr/>
          </p:nvSpPr>
          <p:spPr>
            <a:xfrm>
              <a:off x="5325" y="2314"/>
              <a:ext cx="316" cy="282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2860" name="Line 135"/>
            <p:cNvSpPr/>
            <p:nvPr/>
          </p:nvSpPr>
          <p:spPr>
            <a:xfrm flipH="1">
              <a:off x="4242" y="2805"/>
              <a:ext cx="46" cy="42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100" name="Object 3"/>
          <p:cNvGraphicFramePr>
            <a:graphicFrameLocks noChangeAspect="1"/>
          </p:cNvGraphicFramePr>
          <p:nvPr/>
        </p:nvGraphicFramePr>
        <p:xfrm>
          <a:off x="1474788" y="2003425"/>
          <a:ext cx="3252787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628900" imgH="1003300" progId="Equation.DSMT4">
                  <p:embed/>
                </p:oleObj>
              </mc:Choice>
              <mc:Fallback>
                <p:oleObj r:id="rId19" imgW="2628900" imgH="1003300" progId="Equation.DSMT4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474788" y="2003425"/>
                        <a:ext cx="3252787" cy="1168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62" name="文本框 2"/>
          <p:cNvSpPr txBox="1"/>
          <p:nvPr/>
        </p:nvSpPr>
        <p:spPr>
          <a:xfrm>
            <a:off x="304800" y="188913"/>
            <a:ext cx="80470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：不同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d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点激发的电场方向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同一条直线上</a:t>
            </a:r>
          </a:p>
        </p:txBody>
      </p:sp>
      <p:sp>
        <p:nvSpPr>
          <p:cNvPr id="32863" name="文本框 1"/>
          <p:cNvSpPr txBox="1"/>
          <p:nvPr/>
        </p:nvSpPr>
        <p:spPr>
          <a:xfrm>
            <a:off x="1331913" y="3270250"/>
            <a:ext cx="21510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选球面为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</a:p>
        </p:txBody>
      </p:sp>
      <p:sp>
        <p:nvSpPr>
          <p:cNvPr id="32864" name="文本框 2"/>
          <p:cNvSpPr txBox="1"/>
          <p:nvPr/>
        </p:nvSpPr>
        <p:spPr>
          <a:xfrm>
            <a:off x="107950" y="2276475"/>
            <a:ext cx="10906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分析：</a:t>
            </a:r>
            <a:endParaRPr lang="zh-CN" altLang="zh-CN" sz="2400" b="1" i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  <p:sp>
        <p:nvSpPr>
          <p:cNvPr id="32865" name="文本框 3"/>
          <p:cNvSpPr txBox="1"/>
          <p:nvPr/>
        </p:nvSpPr>
        <p:spPr>
          <a:xfrm>
            <a:off x="107950" y="3663950"/>
            <a:ext cx="10906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答案：</a:t>
            </a:r>
            <a:endParaRPr lang="zh-CN" altLang="zh-CN" sz="2400" b="1" i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5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692150"/>
            <a:ext cx="8458200" cy="1914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4" name="Picture 6" descr="IMAGE0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5" y="2925763"/>
            <a:ext cx="3287713" cy="3581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文本框 2"/>
          <p:cNvSpPr txBox="1"/>
          <p:nvPr/>
        </p:nvSpPr>
        <p:spPr>
          <a:xfrm>
            <a:off x="250825" y="188913"/>
            <a:ext cx="8048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：不同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d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点激发的电场方向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同一条直线上</a:t>
            </a:r>
          </a:p>
        </p:txBody>
      </p:sp>
      <p:sp>
        <p:nvSpPr>
          <p:cNvPr id="33796" name="文本框 1"/>
          <p:cNvSpPr txBox="1"/>
          <p:nvPr/>
        </p:nvSpPr>
        <p:spPr>
          <a:xfrm>
            <a:off x="179388" y="692150"/>
            <a:ext cx="4572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</a:rPr>
              <a:t>：</a:t>
            </a:r>
          </a:p>
        </p:txBody>
      </p:sp>
      <p:sp>
        <p:nvSpPr>
          <p:cNvPr id="33797" name="文本框 1"/>
          <p:cNvSpPr txBox="1"/>
          <p:nvPr/>
        </p:nvSpPr>
        <p:spPr>
          <a:xfrm>
            <a:off x="468313" y="3860800"/>
            <a:ext cx="2151062" cy="830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选无限大带电平面为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d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</a:p>
        </p:txBody>
      </p:sp>
      <p:sp>
        <p:nvSpPr>
          <p:cNvPr id="33798" name="文本框 2"/>
          <p:cNvSpPr txBox="1"/>
          <p:nvPr/>
        </p:nvSpPr>
        <p:spPr>
          <a:xfrm>
            <a:off x="250825" y="3198813"/>
            <a:ext cx="1092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b="1" dirty="0">
                <a:solidFill>
                  <a:srgbClr val="CC0000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分析：</a:t>
            </a:r>
            <a:endParaRPr lang="zh-CN" altLang="zh-CN" sz="2400" b="1" i="1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4" descr="IMAGE0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3400"/>
            <a:ext cx="7620000" cy="6015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1" name="Object 4"/>
          <p:cNvGraphicFramePr>
            <a:graphicFrameLocks noChangeAspect="1"/>
          </p:cNvGraphicFramePr>
          <p:nvPr/>
        </p:nvGraphicFramePr>
        <p:xfrm>
          <a:off x="4502150" y="1763713"/>
          <a:ext cx="4976813" cy="425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0330" imgH="86360" progId="Visio.Drawing.11">
                  <p:embed/>
                </p:oleObj>
              </mc:Choice>
              <mc:Fallback>
                <p:oleObj r:id="rId2" imgW="100330" imgH="86360" progId="Visio.Drawing.11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2150" y="1763713"/>
                        <a:ext cx="4976813" cy="425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2" name="Rectangle 9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Rectangle 10" descr="羊皮纸"/>
          <p:cNvSpPr/>
          <p:nvPr/>
        </p:nvSpPr>
        <p:spPr>
          <a:xfrm>
            <a:off x="0" y="0"/>
            <a:ext cx="9144000" cy="1882775"/>
          </a:xfrm>
          <a:prstGeom prst="rect">
            <a:avLst/>
          </a:prstGeom>
          <a:blipFill rotWithShape="0">
            <a:blip r:embed="rId4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Rectangle 2"/>
          <p:cNvSpPr/>
          <p:nvPr/>
        </p:nvSpPr>
        <p:spPr>
          <a:xfrm>
            <a:off x="107950" y="1052513"/>
            <a:ext cx="8507413" cy="8302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一绝缘细棒为半径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的半圆形，其上均匀带正电，电荷线密度为</a:t>
            </a:r>
            <a:r>
              <a:rPr lang="el-GR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λ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，求半圆圆心处的电场强度。</a:t>
            </a:r>
          </a:p>
        </p:txBody>
      </p:sp>
      <p:sp>
        <p:nvSpPr>
          <p:cNvPr id="35845" name="Rectangle 3"/>
          <p:cNvSpPr/>
          <p:nvPr/>
        </p:nvSpPr>
        <p:spPr>
          <a:xfrm>
            <a:off x="0" y="25527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29" name="Rectangle 5"/>
          <p:cNvSpPr/>
          <p:nvPr/>
        </p:nvSpPr>
        <p:spPr>
          <a:xfrm>
            <a:off x="309563" y="1819275"/>
            <a:ext cx="5446712" cy="12017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解：如图建立坐标，取小圆弧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dl,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带电量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dq=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dl= </a:t>
            </a:r>
            <a:r>
              <a:rPr lang="el-GR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Rd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</a:t>
            </a:r>
            <a:endParaRPr lang="en-US" altLang="zh-CN" sz="2400" b="1" i="1" dirty="0">
              <a:solidFill>
                <a:srgbClr val="000000"/>
              </a:solidFill>
              <a:latin typeface="Times New Roman" panose="02020603050405020304" pitchFamily="18" charset="0"/>
              <a:ea typeface="Batang" pitchFamily="18" charset="-127"/>
              <a:sym typeface="Symbol" panose="05050102010706020507" pitchFamily="18" charset="2"/>
            </a:endParaRPr>
          </a:p>
        </p:txBody>
      </p:sp>
      <p:sp>
        <p:nvSpPr>
          <p:cNvPr id="154630" name="Rectangle 6"/>
          <p:cNvSpPr/>
          <p:nvPr/>
        </p:nvSpPr>
        <p:spPr>
          <a:xfrm>
            <a:off x="420688" y="3011488"/>
            <a:ext cx="3248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在圆心电荷强度大小为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154631" name="Object 7"/>
          <p:cNvGraphicFramePr>
            <a:graphicFrameLocks noChangeAspect="1"/>
          </p:cNvGraphicFramePr>
          <p:nvPr/>
        </p:nvGraphicFramePr>
        <p:xfrm>
          <a:off x="539750" y="3656013"/>
          <a:ext cx="2474913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17600" imgH="469900" progId="Equation.DSMT4">
                  <p:embed/>
                </p:oleObj>
              </mc:Choice>
              <mc:Fallback>
                <p:oleObj r:id="rId5" imgW="1117600" imgH="469900" progId="Equation.DSMT4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3656013"/>
                        <a:ext cx="2474913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2" name="Text Box 8"/>
          <p:cNvSpPr txBox="1"/>
          <p:nvPr/>
        </p:nvSpPr>
        <p:spPr>
          <a:xfrm>
            <a:off x="323850" y="4868863"/>
            <a:ext cx="4010025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由对称性分析可知：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E=E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</a:p>
        </p:txBody>
      </p:sp>
      <p:grpSp>
        <p:nvGrpSpPr>
          <p:cNvPr id="35850" name="Group 24"/>
          <p:cNvGrpSpPr/>
          <p:nvPr/>
        </p:nvGrpSpPr>
        <p:grpSpPr>
          <a:xfrm>
            <a:off x="5259388" y="2708275"/>
            <a:ext cx="1365250" cy="2655888"/>
            <a:chOff x="3313" y="1706"/>
            <a:chExt cx="860" cy="1673"/>
          </a:xfrm>
        </p:grpSpPr>
        <p:sp>
          <p:nvSpPr>
            <p:cNvPr id="35851" name="Arc 13"/>
            <p:cNvSpPr/>
            <p:nvPr/>
          </p:nvSpPr>
          <p:spPr>
            <a:xfrm flipH="1">
              <a:off x="3355" y="1747"/>
              <a:ext cx="816" cy="16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899" h="43200" fill="none">
                  <a:moveTo>
                    <a:pt x="599" y="66"/>
                  </a:moveTo>
                  <a:cubicBezTo>
                    <a:pt x="1165" y="22"/>
                    <a:pt x="1732" y="-1"/>
                    <a:pt x="2299" y="0"/>
                  </a:cubicBezTo>
                  <a:cubicBezTo>
                    <a:pt x="14228" y="0"/>
                    <a:pt x="23899" y="9670"/>
                    <a:pt x="23899" y="21600"/>
                  </a:cubicBezTo>
                  <a:cubicBezTo>
                    <a:pt x="23899" y="33529"/>
                    <a:pt x="14228" y="43200"/>
                    <a:pt x="2299" y="43200"/>
                  </a:cubicBezTo>
                  <a:cubicBezTo>
                    <a:pt x="1531" y="43200"/>
                    <a:pt x="763" y="43159"/>
                    <a:pt x="-1" y="43077"/>
                  </a:cubicBezTo>
                </a:path>
                <a:path w="23899" h="43200" stroke="0">
                  <a:moveTo>
                    <a:pt x="599" y="66"/>
                  </a:moveTo>
                  <a:cubicBezTo>
                    <a:pt x="1165" y="22"/>
                    <a:pt x="1732" y="-1"/>
                    <a:pt x="2299" y="0"/>
                  </a:cubicBezTo>
                  <a:cubicBezTo>
                    <a:pt x="14228" y="0"/>
                    <a:pt x="23899" y="9670"/>
                    <a:pt x="23899" y="21600"/>
                  </a:cubicBezTo>
                  <a:cubicBezTo>
                    <a:pt x="23899" y="33529"/>
                    <a:pt x="14228" y="43200"/>
                    <a:pt x="2299" y="43200"/>
                  </a:cubicBezTo>
                  <a:cubicBezTo>
                    <a:pt x="1531" y="43200"/>
                    <a:pt x="763" y="43159"/>
                    <a:pt x="-1" y="43077"/>
                  </a:cubicBezTo>
                  <a:lnTo>
                    <a:pt x="2299" y="21600"/>
                  </a:lnTo>
                  <a:lnTo>
                    <a:pt x="599" y="66"/>
                  </a:lnTo>
                  <a:close/>
                </a:path>
              </a:pathLst>
            </a:custGeom>
            <a:noFill/>
            <a:ln w="762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Arc 14"/>
            <p:cNvSpPr/>
            <p:nvPr/>
          </p:nvSpPr>
          <p:spPr>
            <a:xfrm flipH="1">
              <a:off x="3313" y="1706"/>
              <a:ext cx="860" cy="16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041" h="43200" fill="none">
                  <a:moveTo>
                    <a:pt x="572" y="17"/>
                  </a:moveTo>
                  <a:cubicBezTo>
                    <a:pt x="861" y="5"/>
                    <a:pt x="1151" y="-1"/>
                    <a:pt x="1441" y="0"/>
                  </a:cubicBezTo>
                  <a:cubicBezTo>
                    <a:pt x="13370" y="0"/>
                    <a:pt x="23041" y="9670"/>
                    <a:pt x="23041" y="21600"/>
                  </a:cubicBezTo>
                  <a:cubicBezTo>
                    <a:pt x="23041" y="33529"/>
                    <a:pt x="13370" y="43200"/>
                    <a:pt x="1441" y="43200"/>
                  </a:cubicBezTo>
                  <a:cubicBezTo>
                    <a:pt x="960" y="43200"/>
                    <a:pt x="479" y="43183"/>
                    <a:pt x="0" y="43151"/>
                  </a:cubicBezTo>
                </a:path>
                <a:path w="23041" h="43200" stroke="0">
                  <a:moveTo>
                    <a:pt x="572" y="17"/>
                  </a:moveTo>
                  <a:cubicBezTo>
                    <a:pt x="861" y="5"/>
                    <a:pt x="1151" y="-1"/>
                    <a:pt x="1441" y="0"/>
                  </a:cubicBezTo>
                  <a:cubicBezTo>
                    <a:pt x="13370" y="0"/>
                    <a:pt x="23041" y="9670"/>
                    <a:pt x="23041" y="21600"/>
                  </a:cubicBezTo>
                  <a:cubicBezTo>
                    <a:pt x="23041" y="33529"/>
                    <a:pt x="13370" y="43200"/>
                    <a:pt x="1441" y="43200"/>
                  </a:cubicBezTo>
                  <a:cubicBezTo>
                    <a:pt x="960" y="43200"/>
                    <a:pt x="479" y="43183"/>
                    <a:pt x="0" y="43151"/>
                  </a:cubicBezTo>
                  <a:lnTo>
                    <a:pt x="1441" y="21600"/>
                  </a:lnTo>
                  <a:lnTo>
                    <a:pt x="572" y="17"/>
                  </a:lnTo>
                  <a:close/>
                </a:path>
              </a:pathLst>
            </a:custGeom>
            <a:noFill/>
            <a:ln w="762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853" name="Group 19"/>
          <p:cNvGrpSpPr/>
          <p:nvPr/>
        </p:nvGrpSpPr>
        <p:grpSpPr>
          <a:xfrm>
            <a:off x="5457825" y="3046413"/>
            <a:ext cx="234950" cy="296862"/>
            <a:chOff x="3438" y="1919"/>
            <a:chExt cx="148" cy="187"/>
          </a:xfrm>
        </p:grpSpPr>
        <p:sp>
          <p:nvSpPr>
            <p:cNvPr id="35854" name="Line 17"/>
            <p:cNvSpPr/>
            <p:nvPr/>
          </p:nvSpPr>
          <p:spPr>
            <a:xfrm flipV="1">
              <a:off x="3438" y="1919"/>
              <a:ext cx="127" cy="156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5" name="Line 18"/>
            <p:cNvSpPr/>
            <p:nvPr/>
          </p:nvSpPr>
          <p:spPr>
            <a:xfrm flipV="1">
              <a:off x="3459" y="1950"/>
              <a:ext cx="127" cy="156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856" name="Group 20"/>
          <p:cNvGrpSpPr/>
          <p:nvPr/>
        </p:nvGrpSpPr>
        <p:grpSpPr>
          <a:xfrm flipH="1">
            <a:off x="5584825" y="4910138"/>
            <a:ext cx="242888" cy="225425"/>
            <a:chOff x="3438" y="1919"/>
            <a:chExt cx="148" cy="187"/>
          </a:xfrm>
        </p:grpSpPr>
        <p:sp>
          <p:nvSpPr>
            <p:cNvPr id="35857" name="Line 21"/>
            <p:cNvSpPr/>
            <p:nvPr/>
          </p:nvSpPr>
          <p:spPr>
            <a:xfrm flipV="1">
              <a:off x="3438" y="1919"/>
              <a:ext cx="127" cy="156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8" name="Line 22"/>
            <p:cNvSpPr/>
            <p:nvPr/>
          </p:nvSpPr>
          <p:spPr>
            <a:xfrm flipV="1">
              <a:off x="3459" y="1950"/>
              <a:ext cx="127" cy="156"/>
            </a:xfrm>
            <a:prstGeom prst="line">
              <a:avLst/>
            </a:prstGeom>
            <a:ln w="762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5859" name="Line 23"/>
          <p:cNvSpPr/>
          <p:nvPr/>
        </p:nvSpPr>
        <p:spPr>
          <a:xfrm flipH="1">
            <a:off x="5703888" y="4064000"/>
            <a:ext cx="928687" cy="9286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" name="矩形 21"/>
          <p:cNvSpPr/>
          <p:nvPr/>
        </p:nvSpPr>
        <p:spPr>
          <a:xfrm>
            <a:off x="309563" y="6330950"/>
            <a:ext cx="66802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  <a:latin typeface="Bookman Old Style" panose="02050604050505020204" pitchFamily="18" charset="0"/>
                <a:ea typeface="楷体_GB2312" pitchFamily="49" charset="-122"/>
              </a:rPr>
              <a:t>对称性分析：由源分布的对称性，分析场的性质</a:t>
            </a:r>
            <a:endParaRPr lang="zh-CN" altLang="en-US" sz="24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61" name="文本框 11"/>
          <p:cNvSpPr txBox="1"/>
          <p:nvPr/>
        </p:nvSpPr>
        <p:spPr>
          <a:xfrm>
            <a:off x="755650" y="317500"/>
            <a:ext cx="75787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：不同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d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q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点激发的电场方向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不在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同一条直线上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/>
      <p:bldP spid="154630" grpId="0"/>
      <p:bldP spid="154632" grpId="0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0" descr="羊皮纸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6" name="Rectangle 21" descr="羊皮纸"/>
          <p:cNvSpPr/>
          <p:nvPr/>
        </p:nvSpPr>
        <p:spPr>
          <a:xfrm>
            <a:off x="0" y="0"/>
            <a:ext cx="9144000" cy="922338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/>
          <p:nvPr/>
        </p:nvSpPr>
        <p:spPr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6868" name="Object 3"/>
          <p:cNvGraphicFramePr>
            <a:graphicFrameLocks noChangeAspect="1"/>
          </p:cNvGraphicFramePr>
          <p:nvPr/>
        </p:nvGraphicFramePr>
        <p:xfrm>
          <a:off x="4167188" y="260350"/>
          <a:ext cx="4976812" cy="425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0330" imgH="86360" progId="Visio.Drawing.11">
                  <p:embed/>
                </p:oleObj>
              </mc:Choice>
              <mc:Fallback>
                <p:oleObj r:id="rId3" imgW="100330" imgH="86360" progId="Visio.Drawing.11">
                  <p:embed/>
                  <p:pic>
                    <p:nvPicPr>
                      <p:cNvPr id="0" name="图片 32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67188" y="260350"/>
                        <a:ext cx="4976812" cy="425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2" name="Rectangle 4"/>
          <p:cNvSpPr/>
          <p:nvPr/>
        </p:nvSpPr>
        <p:spPr>
          <a:xfrm>
            <a:off x="357188" y="1957388"/>
            <a:ext cx="425767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整个半圆弧在</a:t>
            </a:r>
            <a:r>
              <a:rPr lang="en-US" altLang="zh-CN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O</a:t>
            </a:r>
            <a:r>
              <a:rPr lang="zh-CN" altLang="en-US" sz="24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点的电场</a:t>
            </a:r>
          </a:p>
        </p:txBody>
      </p:sp>
      <p:graphicFrame>
        <p:nvGraphicFramePr>
          <p:cNvPr id="155653" name="Object 5"/>
          <p:cNvGraphicFramePr>
            <a:graphicFrameLocks noChangeAspect="1"/>
          </p:cNvGraphicFramePr>
          <p:nvPr/>
        </p:nvGraphicFramePr>
        <p:xfrm>
          <a:off x="944563" y="2619375"/>
          <a:ext cx="17081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61365" imgH="292100" progId="Equation.3">
                  <p:embed/>
                </p:oleObj>
              </mc:Choice>
              <mc:Fallback>
                <p:oleObj r:id="rId5" imgW="761365" imgH="292100" progId="Equation.3">
                  <p:embed/>
                  <p:pic>
                    <p:nvPicPr>
                      <p:cNvPr id="0" name="图片 32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4563" y="2619375"/>
                        <a:ext cx="1708150" cy="681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4" name="Object 6"/>
          <p:cNvGraphicFramePr>
            <a:graphicFrameLocks noChangeAspect="1"/>
          </p:cNvGraphicFramePr>
          <p:nvPr/>
        </p:nvGraphicFramePr>
        <p:xfrm>
          <a:off x="1273175" y="1230313"/>
          <a:ext cx="221138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14400" imgH="228600" progId="Equation.3">
                  <p:embed/>
                </p:oleObj>
              </mc:Choice>
              <mc:Fallback>
                <p:oleObj r:id="rId7" imgW="914400" imgH="228600" progId="Equation.3">
                  <p:embed/>
                  <p:pic>
                    <p:nvPicPr>
                      <p:cNvPr id="0" name="图片 32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3175" y="1230313"/>
                        <a:ext cx="2211388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Rectangle 8"/>
          <p:cNvSpPr/>
          <p:nvPr/>
        </p:nvSpPr>
        <p:spPr>
          <a:xfrm>
            <a:off x="3132138" y="5822950"/>
            <a:ext cx="194468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方向沿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方向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/>
        </p:nvGraphicFramePr>
        <p:xfrm>
          <a:off x="1223963" y="4383088"/>
          <a:ext cx="2925762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231265" imgH="520700" progId="Equation.3">
                  <p:embed/>
                </p:oleObj>
              </mc:Choice>
              <mc:Fallback>
                <p:oleObj r:id="rId9" imgW="1231265" imgH="520700" progId="Equation.3">
                  <p:embed/>
                  <p:pic>
                    <p:nvPicPr>
                      <p:cNvPr id="0" name="图片 32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3963" y="4383088"/>
                        <a:ext cx="2925762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8" name="Object 10"/>
          <p:cNvGraphicFramePr>
            <a:graphicFrameLocks noChangeAspect="1"/>
          </p:cNvGraphicFramePr>
          <p:nvPr/>
        </p:nvGraphicFramePr>
        <p:xfrm>
          <a:off x="1368425" y="3302000"/>
          <a:ext cx="201612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88365" imgH="495300" progId="Equation.3">
                  <p:embed/>
                </p:oleObj>
              </mc:Choice>
              <mc:Fallback>
                <p:oleObj r:id="rId11" imgW="888365" imgH="495300" progId="Equation.3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68425" y="3302000"/>
                        <a:ext cx="2016125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9" name="Object 11"/>
          <p:cNvGraphicFramePr>
            <a:graphicFrameLocks noChangeAspect="1"/>
          </p:cNvGraphicFramePr>
          <p:nvPr/>
        </p:nvGraphicFramePr>
        <p:xfrm>
          <a:off x="1295400" y="5427663"/>
          <a:ext cx="15113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60400" imgH="495300" progId="Equation.3">
                  <p:embed/>
                </p:oleObj>
              </mc:Choice>
              <mc:Fallback>
                <p:oleObj r:id="rId13" imgW="660400" imgH="4953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95400" y="5427663"/>
                        <a:ext cx="1511300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76" name="Group 18"/>
          <p:cNvGrpSpPr/>
          <p:nvPr/>
        </p:nvGrpSpPr>
        <p:grpSpPr>
          <a:xfrm>
            <a:off x="6300788" y="2146300"/>
            <a:ext cx="1655762" cy="396875"/>
            <a:chOff x="3969" y="1366"/>
            <a:chExt cx="1043" cy="250"/>
          </a:xfrm>
        </p:grpSpPr>
        <p:sp>
          <p:nvSpPr>
            <p:cNvPr id="36877" name="Line 12"/>
            <p:cNvSpPr/>
            <p:nvPr/>
          </p:nvSpPr>
          <p:spPr>
            <a:xfrm>
              <a:off x="3969" y="1616"/>
              <a:ext cx="1043" cy="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36878" name="Group 17"/>
            <p:cNvGrpSpPr/>
            <p:nvPr/>
          </p:nvGrpSpPr>
          <p:grpSpPr>
            <a:xfrm>
              <a:off x="4581" y="1366"/>
              <a:ext cx="295" cy="250"/>
              <a:chOff x="3220" y="2840"/>
              <a:chExt cx="295" cy="250"/>
            </a:xfrm>
          </p:grpSpPr>
          <p:sp>
            <p:nvSpPr>
              <p:cNvPr id="36879" name="Text Box 14"/>
              <p:cNvSpPr txBox="1"/>
              <p:nvPr/>
            </p:nvSpPr>
            <p:spPr>
              <a:xfrm>
                <a:off x="3220" y="2840"/>
                <a:ext cx="29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r>
                  <a:rPr lang="en-US" altLang="zh-CN" sz="2000" b="1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80" name="Line 15"/>
              <p:cNvSpPr/>
              <p:nvPr/>
            </p:nvSpPr>
            <p:spPr>
              <a:xfrm>
                <a:off x="3266" y="2863"/>
                <a:ext cx="159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  <p:graphicFrame>
        <p:nvGraphicFramePr>
          <p:cNvPr id="155667" name="Object 19"/>
          <p:cNvGraphicFramePr>
            <a:graphicFrameLocks noChangeAspect="1"/>
          </p:cNvGraphicFramePr>
          <p:nvPr/>
        </p:nvGraphicFramePr>
        <p:xfrm>
          <a:off x="5976938" y="4976813"/>
          <a:ext cx="1728787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761365" imgH="431800" progId="Equation.3">
                  <p:embed/>
                </p:oleObj>
              </mc:Choice>
              <mc:Fallback>
                <p:oleObj r:id="rId15" imgW="761365" imgH="431800" progId="Equation.3">
                  <p:embed/>
                  <p:pic>
                    <p:nvPicPr>
                      <p:cNvPr id="0" name="图片 328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976938" y="4976813"/>
                        <a:ext cx="1728787" cy="97948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24"/>
          <p:cNvGraphicFramePr>
            <a:graphicFrameLocks noChangeAspect="1"/>
          </p:cNvGraphicFramePr>
          <p:nvPr/>
        </p:nvGraphicFramePr>
        <p:xfrm>
          <a:off x="1284288" y="57150"/>
          <a:ext cx="22002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117600" imgH="469900" progId="Equation.DSMT4">
                  <p:embed/>
                </p:oleObj>
              </mc:Choice>
              <mc:Fallback>
                <p:oleObj r:id="rId17" imgW="1117600" imgH="469900" progId="Equation.DSMT4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284288" y="57150"/>
                        <a:ext cx="2200275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883" name="Group 25"/>
          <p:cNvGrpSpPr/>
          <p:nvPr/>
        </p:nvGrpSpPr>
        <p:grpSpPr>
          <a:xfrm>
            <a:off x="4940300" y="1214438"/>
            <a:ext cx="1365250" cy="2655887"/>
            <a:chOff x="3313" y="1706"/>
            <a:chExt cx="860" cy="1673"/>
          </a:xfrm>
        </p:grpSpPr>
        <p:sp>
          <p:nvSpPr>
            <p:cNvPr id="36884" name="Arc 26"/>
            <p:cNvSpPr/>
            <p:nvPr/>
          </p:nvSpPr>
          <p:spPr>
            <a:xfrm flipH="1">
              <a:off x="3355" y="1747"/>
              <a:ext cx="816" cy="16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899" h="43200" fill="none">
                  <a:moveTo>
                    <a:pt x="599" y="66"/>
                  </a:moveTo>
                  <a:cubicBezTo>
                    <a:pt x="1165" y="22"/>
                    <a:pt x="1732" y="-1"/>
                    <a:pt x="2299" y="0"/>
                  </a:cubicBezTo>
                  <a:cubicBezTo>
                    <a:pt x="14228" y="0"/>
                    <a:pt x="23899" y="9670"/>
                    <a:pt x="23899" y="21600"/>
                  </a:cubicBezTo>
                  <a:cubicBezTo>
                    <a:pt x="23899" y="33529"/>
                    <a:pt x="14228" y="43200"/>
                    <a:pt x="2299" y="43200"/>
                  </a:cubicBezTo>
                  <a:cubicBezTo>
                    <a:pt x="1531" y="43200"/>
                    <a:pt x="763" y="43159"/>
                    <a:pt x="-1" y="43077"/>
                  </a:cubicBezTo>
                </a:path>
                <a:path w="23899" h="43200" stroke="0">
                  <a:moveTo>
                    <a:pt x="599" y="66"/>
                  </a:moveTo>
                  <a:cubicBezTo>
                    <a:pt x="1165" y="22"/>
                    <a:pt x="1732" y="-1"/>
                    <a:pt x="2299" y="0"/>
                  </a:cubicBezTo>
                  <a:cubicBezTo>
                    <a:pt x="14228" y="0"/>
                    <a:pt x="23899" y="9670"/>
                    <a:pt x="23899" y="21600"/>
                  </a:cubicBezTo>
                  <a:cubicBezTo>
                    <a:pt x="23899" y="33529"/>
                    <a:pt x="14228" y="43200"/>
                    <a:pt x="2299" y="43200"/>
                  </a:cubicBezTo>
                  <a:cubicBezTo>
                    <a:pt x="1531" y="43200"/>
                    <a:pt x="763" y="43159"/>
                    <a:pt x="-1" y="43077"/>
                  </a:cubicBezTo>
                  <a:lnTo>
                    <a:pt x="2299" y="21600"/>
                  </a:lnTo>
                  <a:lnTo>
                    <a:pt x="599" y="66"/>
                  </a:lnTo>
                  <a:close/>
                </a:path>
              </a:pathLst>
            </a:custGeom>
            <a:noFill/>
            <a:ln w="762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Arc 27"/>
            <p:cNvSpPr/>
            <p:nvPr/>
          </p:nvSpPr>
          <p:spPr>
            <a:xfrm flipH="1">
              <a:off x="3313" y="1706"/>
              <a:ext cx="860" cy="16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3041" h="43200" fill="none">
                  <a:moveTo>
                    <a:pt x="572" y="17"/>
                  </a:moveTo>
                  <a:cubicBezTo>
                    <a:pt x="861" y="5"/>
                    <a:pt x="1151" y="-1"/>
                    <a:pt x="1441" y="0"/>
                  </a:cubicBezTo>
                  <a:cubicBezTo>
                    <a:pt x="13370" y="0"/>
                    <a:pt x="23041" y="9670"/>
                    <a:pt x="23041" y="21600"/>
                  </a:cubicBezTo>
                  <a:cubicBezTo>
                    <a:pt x="23041" y="33529"/>
                    <a:pt x="13370" y="43200"/>
                    <a:pt x="1441" y="43200"/>
                  </a:cubicBezTo>
                  <a:cubicBezTo>
                    <a:pt x="960" y="43200"/>
                    <a:pt x="479" y="43183"/>
                    <a:pt x="0" y="43151"/>
                  </a:cubicBezTo>
                </a:path>
                <a:path w="23041" h="43200" stroke="0">
                  <a:moveTo>
                    <a:pt x="572" y="17"/>
                  </a:moveTo>
                  <a:cubicBezTo>
                    <a:pt x="861" y="5"/>
                    <a:pt x="1151" y="-1"/>
                    <a:pt x="1441" y="0"/>
                  </a:cubicBezTo>
                  <a:cubicBezTo>
                    <a:pt x="13370" y="0"/>
                    <a:pt x="23041" y="9670"/>
                    <a:pt x="23041" y="21600"/>
                  </a:cubicBezTo>
                  <a:cubicBezTo>
                    <a:pt x="23041" y="33529"/>
                    <a:pt x="13370" y="43200"/>
                    <a:pt x="1441" y="43200"/>
                  </a:cubicBezTo>
                  <a:cubicBezTo>
                    <a:pt x="960" y="43200"/>
                    <a:pt x="479" y="43183"/>
                    <a:pt x="0" y="43151"/>
                  </a:cubicBezTo>
                  <a:lnTo>
                    <a:pt x="1441" y="21600"/>
                  </a:lnTo>
                  <a:lnTo>
                    <a:pt x="572" y="17"/>
                  </a:lnTo>
                  <a:close/>
                </a:path>
              </a:pathLst>
            </a:custGeom>
            <a:noFill/>
            <a:ln w="762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/>
      <p:bldP spid="15565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IMAGE0015"/>
          <p:cNvPicPr>
            <a:picLocks noChangeAspect="1"/>
          </p:cNvPicPr>
          <p:nvPr/>
        </p:nvPicPr>
        <p:blipFill>
          <a:blip r:embed="rId2"/>
          <a:srcRect t="20660"/>
          <a:stretch>
            <a:fillRect/>
          </a:stretch>
        </p:blipFill>
        <p:spPr>
          <a:xfrm>
            <a:off x="0" y="1014413"/>
            <a:ext cx="8839200" cy="193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4" name="Text Box 3"/>
          <p:cNvSpPr txBox="1"/>
          <p:nvPr/>
        </p:nvSpPr>
        <p:spPr>
          <a:xfrm>
            <a:off x="3619500" y="0"/>
            <a:ext cx="2216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4000" dirty="0">
                <a:latin typeface="Verdana" panose="020B0604030504040204" pitchFamily="34" charset="0"/>
                <a:ea typeface="宋体" panose="02010600030101010101" pitchFamily="2" charset="-122"/>
              </a:rPr>
              <a:t>电场强度</a:t>
            </a:r>
          </a:p>
        </p:txBody>
      </p:sp>
      <p:pic>
        <p:nvPicPr>
          <p:cNvPr id="36868" name="Picture 4" descr="IMAGE0002"/>
          <p:cNvPicPr>
            <a:picLocks noChangeAspect="1"/>
          </p:cNvPicPr>
          <p:nvPr/>
        </p:nvPicPr>
        <p:blipFill>
          <a:blip r:embed="rId3"/>
          <a:srcRect l="6847" t="14069"/>
          <a:stretch>
            <a:fillRect/>
          </a:stretch>
        </p:blipFill>
        <p:spPr>
          <a:xfrm>
            <a:off x="300038" y="4613275"/>
            <a:ext cx="8596312" cy="1806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4" descr="IMAGE0003"/>
          <p:cNvPicPr>
            <a:picLocks noChangeAspect="1"/>
          </p:cNvPicPr>
          <p:nvPr/>
        </p:nvPicPr>
        <p:blipFill>
          <a:blip r:embed="rId4"/>
          <a:srcRect l="6776" t="19681"/>
          <a:stretch>
            <a:fillRect/>
          </a:stretch>
        </p:blipFill>
        <p:spPr>
          <a:xfrm>
            <a:off x="300038" y="2890838"/>
            <a:ext cx="8240712" cy="1625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4" descr="IMAGE0013"/>
          <p:cNvPicPr>
            <a:picLocks noChangeAspect="1"/>
          </p:cNvPicPr>
          <p:nvPr/>
        </p:nvPicPr>
        <p:blipFill>
          <a:blip r:embed="rId2"/>
          <a:srcRect l="3290" t="20325"/>
          <a:stretch>
            <a:fillRect/>
          </a:stretch>
        </p:blipFill>
        <p:spPr>
          <a:xfrm>
            <a:off x="442913" y="1006475"/>
            <a:ext cx="8548687" cy="1622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38" name="Picture 5" descr="IMAGE0009"/>
          <p:cNvPicPr>
            <a:picLocks noChangeAspect="1"/>
          </p:cNvPicPr>
          <p:nvPr/>
        </p:nvPicPr>
        <p:blipFill>
          <a:blip r:embed="rId3"/>
          <a:srcRect l="3426" t="13310" b="6073"/>
          <a:stretch>
            <a:fillRect/>
          </a:stretch>
        </p:blipFill>
        <p:spPr>
          <a:xfrm>
            <a:off x="201613" y="2767013"/>
            <a:ext cx="8610600" cy="2233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5" descr="IMAGE000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2528" t="14015" r="2136"/>
          <a:stretch>
            <a:fillRect/>
          </a:stretch>
        </p:blipFill>
        <p:spPr>
          <a:xfrm>
            <a:off x="321945" y="836295"/>
            <a:ext cx="8499475" cy="23107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" y="1341438"/>
            <a:ext cx="8848725" cy="371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文本框 35"/>
          <p:cNvSpPr txBox="1"/>
          <p:nvPr/>
        </p:nvSpPr>
        <p:spPr>
          <a:xfrm>
            <a:off x="250825" y="404813"/>
            <a:ext cx="77120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</a:t>
            </a:r>
            <a:r>
              <a:rPr lang="zh-CN" altLang="zh-CN" sz="24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利用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导体静电平衡条件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场强叠加原理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求电场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250" y="215900"/>
            <a:ext cx="8921750" cy="1677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        </a:t>
            </a:r>
            <a:r>
              <a:rPr lang="zh-CN" altLang="zh-CN" sz="2400" b="1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未接地前：电荷分布如图所示。</a:t>
            </a:r>
            <a:r>
              <a:rPr lang="zh-CN" altLang="zh-CN" sz="2400" b="1" dirty="0">
                <a:latin typeface="Calibri" panose="020F0502020204030204" charset="0"/>
                <a:ea typeface="宋体" panose="02010600030101010101" pitchFamily="2" charset="-122"/>
              </a:rPr>
              <a:t>其中导体球表面左侧感应的正电荷受到斥力作用，右侧感应的负电荷受到引力作用。导体球电势不为零，导体球与地之间存在电势差。</a:t>
            </a:r>
            <a:endParaRPr lang="zh-CN" altLang="en-US" sz="2400" b="1" dirty="0"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2182813"/>
            <a:ext cx="3935413" cy="1619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25" y="2182813"/>
            <a:ext cx="4421188" cy="170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254000" y="4322763"/>
            <a:ext cx="8723313" cy="2308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</a:rPr>
              <a:t>          </a:t>
            </a:r>
            <a:r>
              <a:rPr lang="zh-CN" altLang="zh-CN" sz="2400" b="1" dirty="0">
                <a:solidFill>
                  <a:srgbClr val="C00000"/>
                </a:solidFill>
                <a:latin typeface="Calibri" panose="020F0502020204030204" charset="0"/>
                <a:ea typeface="宋体" panose="02010600030101010101" pitchFamily="2" charset="-122"/>
              </a:rPr>
              <a:t>接地后</a:t>
            </a:r>
            <a:r>
              <a:rPr lang="zh-CN" altLang="zh-CN" sz="2400" b="1" dirty="0">
                <a:latin typeface="Calibri" panose="020F0502020204030204" charset="0"/>
                <a:ea typeface="宋体" panose="02010600030101010101" pitchFamily="2" charset="-122"/>
              </a:rPr>
              <a:t>，在电场力作用下，导体球表面正电荷沿着导线，与大地中的电子中和，导体球表面一定留下负电荷。因为</a:t>
            </a:r>
            <a:r>
              <a:rPr lang="en-US" altLang="zh-CN" sz="2400" b="1" dirty="0">
                <a:latin typeface="Calibri" panose="020F0502020204030204" charset="0"/>
                <a:ea typeface="宋体" panose="02010600030101010101" pitchFamily="2" charset="-122"/>
              </a:rPr>
              <a:t>q</a:t>
            </a:r>
            <a:r>
              <a:rPr lang="zh-CN" altLang="zh-CN" sz="2400" b="1" dirty="0">
                <a:latin typeface="Calibri" panose="020F0502020204030204" charset="0"/>
                <a:ea typeface="宋体" panose="02010600030101010101" pitchFamily="2" charset="-122"/>
              </a:rPr>
              <a:t>在导体中激发的电势为正，导体球表面留下</a:t>
            </a:r>
            <a:r>
              <a:rPr lang="zh-CN" altLang="en-US" sz="2400" b="1" dirty="0">
                <a:latin typeface="Calibri" panose="020F0502020204030204" charset="0"/>
                <a:ea typeface="宋体" panose="02010600030101010101" pitchFamily="2" charset="-122"/>
              </a:rPr>
              <a:t>的</a:t>
            </a:r>
            <a:r>
              <a:rPr lang="zh-CN" altLang="zh-CN" sz="2400" b="1" dirty="0">
                <a:latin typeface="Calibri" panose="020F0502020204030204" charset="0"/>
                <a:ea typeface="宋体" panose="02010600030101010101" pitchFamily="2" charset="-122"/>
              </a:rPr>
              <a:t>负电荷在导体中激发的电势为负，最终使导体电势为零。</a:t>
            </a:r>
            <a:endParaRPr lang="zh-CN" altLang="en-US" sz="2400" b="1" dirty="0"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63" y="185738"/>
            <a:ext cx="8610600" cy="6391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575" y="2019300"/>
            <a:ext cx="3935413" cy="1619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75"/>
            <a:ext cx="8950325" cy="6119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775" y="2444750"/>
            <a:ext cx="3878263" cy="139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052830"/>
            <a:ext cx="7667625" cy="2198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9750" y="3310255"/>
            <a:ext cx="7537450" cy="3421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文本框 36"/>
          <p:cNvSpPr txBox="1"/>
          <p:nvPr/>
        </p:nvSpPr>
        <p:spPr>
          <a:xfrm>
            <a:off x="323850" y="115888"/>
            <a:ext cx="8391525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题型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：先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利用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导体静电平衡条件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场强叠加原理求电荷分布</a:t>
            </a:r>
            <a:r>
              <a:rPr lang="zh-CN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  <a:t>，再利用场强叠加原理求电场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417513"/>
            <a:ext cx="8704263" cy="620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8" y="508000"/>
            <a:ext cx="5548312" cy="4870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Group 70"/>
          <p:cNvGrpSpPr/>
          <p:nvPr/>
        </p:nvGrpSpPr>
        <p:grpSpPr>
          <a:xfrm>
            <a:off x="5832475" y="3159125"/>
            <a:ext cx="2514600" cy="3438525"/>
            <a:chOff x="3617" y="1877"/>
            <a:chExt cx="1584" cy="2166"/>
          </a:xfrm>
        </p:grpSpPr>
        <p:grpSp>
          <p:nvGrpSpPr>
            <p:cNvPr id="48130" name="Group 57"/>
            <p:cNvGrpSpPr/>
            <p:nvPr/>
          </p:nvGrpSpPr>
          <p:grpSpPr>
            <a:xfrm>
              <a:off x="3617" y="2132"/>
              <a:ext cx="1584" cy="1911"/>
              <a:chOff x="3617" y="2132"/>
              <a:chExt cx="1584" cy="1911"/>
            </a:xfrm>
          </p:grpSpPr>
          <p:sp>
            <p:nvSpPr>
              <p:cNvPr id="199722" name="Oval 42"/>
              <p:cNvSpPr>
                <a:spLocks noChangeArrowheads="1"/>
              </p:cNvSpPr>
              <p:nvPr/>
            </p:nvSpPr>
            <p:spPr bwMode="auto">
              <a:xfrm>
                <a:off x="4154" y="2642"/>
                <a:ext cx="624" cy="62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6633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grpSp>
            <p:nvGrpSpPr>
              <p:cNvPr id="48132" name="Group 56"/>
              <p:cNvGrpSpPr/>
              <p:nvPr/>
            </p:nvGrpSpPr>
            <p:grpSpPr>
              <a:xfrm>
                <a:off x="3617" y="2132"/>
                <a:ext cx="1584" cy="1911"/>
                <a:chOff x="3674" y="2162"/>
                <a:chExt cx="1584" cy="1911"/>
              </a:xfrm>
            </p:grpSpPr>
            <p:sp>
              <p:nvSpPr>
                <p:cNvPr id="199721" name="AutoShape 41"/>
                <p:cNvSpPr>
                  <a:spLocks noChangeArrowheads="1"/>
                </p:cNvSpPr>
                <p:nvPr/>
              </p:nvSpPr>
              <p:spPr bwMode="auto">
                <a:xfrm>
                  <a:off x="3674" y="2162"/>
                  <a:ext cx="1584" cy="1584"/>
                </a:xfrm>
                <a:custGeom>
                  <a:avLst/>
                  <a:gdLst>
                    <a:gd name="G0" fmla="+- 2386 0 0"/>
                    <a:gd name="G1" fmla="+- 21600 0 2386"/>
                    <a:gd name="G2" fmla="+- 21600 0 2386"/>
                    <a:gd name="G3" fmla="*/ G0 2929 10000"/>
                    <a:gd name="G4" fmla="+- 21600 0 G3"/>
                    <a:gd name="G5" fmla="+- 21600 0 G3"/>
                    <a:gd name="T0" fmla="*/ 10800 w 21600"/>
                    <a:gd name="T1" fmla="*/ 0 h 21600"/>
                    <a:gd name="T2" fmla="*/ 3163 w 21600"/>
                    <a:gd name="T3" fmla="*/ 3163 h 21600"/>
                    <a:gd name="T4" fmla="*/ 0 w 21600"/>
                    <a:gd name="T5" fmla="*/ 10800 h 21600"/>
                    <a:gd name="T6" fmla="*/ 3163 w 21600"/>
                    <a:gd name="T7" fmla="*/ 18437 h 21600"/>
                    <a:gd name="T8" fmla="*/ 10800 w 21600"/>
                    <a:gd name="T9" fmla="*/ 21600 h 21600"/>
                    <a:gd name="T10" fmla="*/ 18437 w 21600"/>
                    <a:gd name="T11" fmla="*/ 18437 h 21600"/>
                    <a:gd name="T12" fmla="*/ 21600 w 21600"/>
                    <a:gd name="T13" fmla="*/ 10800 h 21600"/>
                    <a:gd name="T14" fmla="*/ 18437 w 21600"/>
                    <a:gd name="T15" fmla="*/ 3163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386" y="10800"/>
                      </a:moveTo>
                      <a:cubicBezTo>
                        <a:pt x="2386" y="15447"/>
                        <a:pt x="6153" y="19214"/>
                        <a:pt x="10800" y="19214"/>
                      </a:cubicBezTo>
                      <a:cubicBezTo>
                        <a:pt x="15447" y="19214"/>
                        <a:pt x="19214" y="15447"/>
                        <a:pt x="19214" y="10800"/>
                      </a:cubicBezTo>
                      <a:cubicBezTo>
                        <a:pt x="19214" y="6153"/>
                        <a:pt x="15447" y="2386"/>
                        <a:pt x="10800" y="2386"/>
                      </a:cubicBezTo>
                      <a:cubicBezTo>
                        <a:pt x="6153" y="2386"/>
                        <a:pt x="2386" y="6153"/>
                        <a:pt x="2386" y="1080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66275"/>
                        <a:invGamma/>
                      </a:schemeClr>
                    </a:gs>
                  </a:gsLst>
                  <a:path path="rect">
                    <a:fillToRect l="50000" t="50000" r="50000" b="50000"/>
                  </a:path>
                </a:gradFill>
                <a:ln w="19050">
                  <a:solidFill>
                    <a:srgbClr val="6633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48134" name="Line 43"/>
                <p:cNvSpPr/>
                <p:nvPr/>
              </p:nvSpPr>
              <p:spPr>
                <a:xfrm flipH="1">
                  <a:off x="4211" y="2930"/>
                  <a:ext cx="279" cy="116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8135" name="Line 44"/>
                <p:cNvSpPr/>
                <p:nvPr/>
              </p:nvSpPr>
              <p:spPr>
                <a:xfrm flipH="1">
                  <a:off x="4298" y="2930"/>
                  <a:ext cx="192" cy="624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8136" name="Line 45"/>
                <p:cNvSpPr/>
                <p:nvPr/>
              </p:nvSpPr>
              <p:spPr>
                <a:xfrm>
                  <a:off x="4490" y="2930"/>
                  <a:ext cx="96" cy="816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aphicFrame>
              <p:nvGraphicFramePr>
                <p:cNvPr id="48137" name="Object 46"/>
                <p:cNvGraphicFramePr>
                  <a:graphicFrameLocks noChangeAspect="1"/>
                </p:cNvGraphicFramePr>
                <p:nvPr/>
              </p:nvGraphicFramePr>
              <p:xfrm>
                <a:off x="3981" y="3419"/>
                <a:ext cx="272" cy="3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292100" imgH="368300" progId="Equation.3">
                        <p:embed/>
                      </p:oleObj>
                    </mc:Choice>
                    <mc:Fallback>
                      <p:oleObj r:id="rId2" imgW="292100" imgH="368300" progId="Equation.3">
                        <p:embed/>
                        <p:pic>
                          <p:nvPicPr>
                            <p:cNvPr id="0" name="图片 3115"/>
                            <p:cNvPicPr/>
                            <p:nvPr/>
                          </p:nvPicPr>
                          <p:blipFill>
                            <a:blip r:embed="rId3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419"/>
                              <a:ext cx="272" cy="34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38" name="Object 47"/>
                <p:cNvGraphicFramePr>
                  <a:graphicFrameLocks noChangeAspect="1"/>
                </p:cNvGraphicFramePr>
                <p:nvPr/>
              </p:nvGraphicFramePr>
              <p:xfrm>
                <a:off x="4480" y="3737"/>
                <a:ext cx="308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342900" imgH="368300" progId="Equation.3">
                        <p:embed/>
                      </p:oleObj>
                    </mc:Choice>
                    <mc:Fallback>
                      <p:oleObj r:id="rId4" imgW="342900" imgH="368300" progId="Equation.3">
                        <p:embed/>
                        <p:pic>
                          <p:nvPicPr>
                            <p:cNvPr id="0" name="图片 3116"/>
                            <p:cNvPicPr/>
                            <p:nvPr/>
                          </p:nvPicPr>
                          <p:blipFill>
                            <a:blip r:embed="rId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80" y="3737"/>
                              <a:ext cx="308" cy="33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8139" name="Object 48"/>
                <p:cNvGraphicFramePr>
                  <a:graphicFrameLocks noChangeAspect="1"/>
                </p:cNvGraphicFramePr>
                <p:nvPr/>
              </p:nvGraphicFramePr>
              <p:xfrm>
                <a:off x="3981" y="3011"/>
                <a:ext cx="241" cy="2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152400" imgH="165100" progId="Equation.3">
                        <p:embed/>
                      </p:oleObj>
                    </mc:Choice>
                    <mc:Fallback>
                      <p:oleObj r:id="rId6" imgW="152400" imgH="165100" progId="Equation.3">
                        <p:embed/>
                        <p:pic>
                          <p:nvPicPr>
                            <p:cNvPr id="0" name="图片 3114"/>
                            <p:cNvPicPr/>
                            <p:nvPr/>
                          </p:nvPicPr>
                          <p:blipFill>
                            <a:blip r:embed="rId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011"/>
                              <a:ext cx="241" cy="26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8140" name="Group 55"/>
            <p:cNvGrpSpPr/>
            <p:nvPr/>
          </p:nvGrpSpPr>
          <p:grpSpPr>
            <a:xfrm>
              <a:off x="4241" y="1877"/>
              <a:ext cx="317" cy="874"/>
              <a:chOff x="4212" y="1820"/>
              <a:chExt cx="317" cy="874"/>
            </a:xfrm>
          </p:grpSpPr>
          <p:graphicFrame>
            <p:nvGraphicFramePr>
              <p:cNvPr id="48141" name="Object 49"/>
              <p:cNvGraphicFramePr>
                <a:graphicFrameLocks noChangeAspect="1"/>
              </p:cNvGraphicFramePr>
              <p:nvPr/>
            </p:nvGraphicFramePr>
            <p:xfrm>
              <a:off x="4269" y="2358"/>
              <a:ext cx="26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14300" imgH="165100" progId="Equation.3">
                      <p:embed/>
                    </p:oleObj>
                  </mc:Choice>
                  <mc:Fallback>
                    <p:oleObj r:id="rId8" imgW="114300" imgH="165100" progId="Equation.3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69" y="2358"/>
                            <a:ext cx="260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2" name="Object 50"/>
              <p:cNvGraphicFramePr>
                <a:graphicFrameLocks noChangeAspect="1"/>
              </p:cNvGraphicFramePr>
              <p:nvPr/>
            </p:nvGraphicFramePr>
            <p:xfrm>
              <a:off x="4212" y="1820"/>
              <a:ext cx="273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52400" imgH="215900" progId="Equation.3">
                      <p:embed/>
                    </p:oleObj>
                  </mc:Choice>
                  <mc:Fallback>
                    <p:oleObj r:id="rId10" imgW="152400" imgH="215900" progId="Equation.3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12" y="1820"/>
                            <a:ext cx="273" cy="3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8143" name="Text Box 16"/>
          <p:cNvSpPr txBox="1"/>
          <p:nvPr/>
        </p:nvSpPr>
        <p:spPr>
          <a:xfrm>
            <a:off x="341313" y="336550"/>
            <a:ext cx="8458200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有一外半径   和内半径   的金属球壳，在球壳内放一半径  的同心金属球，金属球和球壳带电量分别为</a:t>
            </a:r>
            <a:r>
              <a:rPr lang="en-US" altLang="zh-CN" sz="2400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问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两球体上的电荷如何分布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？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内球的电势为多少？（</a:t>
            </a:r>
            <a:r>
              <a:rPr lang="en-US" altLang="zh-CN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）外球的电势？                     </a:t>
            </a:r>
          </a:p>
        </p:txBody>
      </p:sp>
      <p:graphicFrame>
        <p:nvGraphicFramePr>
          <p:cNvPr id="48144" name="Object 17"/>
          <p:cNvGraphicFramePr>
            <a:graphicFrameLocks noChangeAspect="1"/>
          </p:cNvGraphicFramePr>
          <p:nvPr/>
        </p:nvGraphicFramePr>
        <p:xfrm>
          <a:off x="4349750" y="404813"/>
          <a:ext cx="4429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7800" imgH="215900" progId="Equation.3">
                  <p:embed/>
                </p:oleObj>
              </mc:Choice>
              <mc:Fallback>
                <p:oleObj r:id="rId12" imgW="177800" imgH="2159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49750" y="404813"/>
                        <a:ext cx="44291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5" name="Object 18"/>
          <p:cNvGraphicFramePr>
            <a:graphicFrameLocks noChangeAspect="1"/>
          </p:cNvGraphicFramePr>
          <p:nvPr/>
        </p:nvGraphicFramePr>
        <p:xfrm>
          <a:off x="2555558" y="449263"/>
          <a:ext cx="4667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03200" imgH="215900" progId="Equation.3">
                  <p:embed/>
                </p:oleObj>
              </mc:Choice>
              <mc:Fallback>
                <p:oleObj r:id="rId14" imgW="203200" imgH="215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55558" y="449263"/>
                        <a:ext cx="46672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6" name="Object 19"/>
          <p:cNvGraphicFramePr>
            <a:graphicFrameLocks noChangeAspect="1"/>
          </p:cNvGraphicFramePr>
          <p:nvPr/>
        </p:nvGraphicFramePr>
        <p:xfrm>
          <a:off x="1016000" y="998538"/>
          <a:ext cx="406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52400" imgH="165100" progId="Equation.3">
                  <p:embed/>
                </p:oleObj>
              </mc:Choice>
              <mc:Fallback>
                <p:oleObj r:id="rId16" imgW="152400" imgH="1651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16000" y="998538"/>
                        <a:ext cx="406400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701" name="Text Box 21"/>
          <p:cNvSpPr txBox="1"/>
          <p:nvPr/>
        </p:nvSpPr>
        <p:spPr>
          <a:xfrm>
            <a:off x="476250" y="2754313"/>
            <a:ext cx="7848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根据静电平衡的条件和电荷守恒求电荷分布</a:t>
            </a:r>
          </a:p>
        </p:txBody>
      </p:sp>
      <p:sp>
        <p:nvSpPr>
          <p:cNvPr id="199731" name="Text Box 51"/>
          <p:cNvSpPr txBox="1"/>
          <p:nvPr/>
        </p:nvSpPr>
        <p:spPr>
          <a:xfrm>
            <a:off x="522288" y="3384550"/>
            <a:ext cx="50847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小球上电量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均匀分布在表面</a:t>
            </a:r>
          </a:p>
        </p:txBody>
      </p:sp>
      <p:sp>
        <p:nvSpPr>
          <p:cNvPr id="199742" name="Rectangle 62"/>
          <p:cNvSpPr/>
          <p:nvPr/>
        </p:nvSpPr>
        <p:spPr>
          <a:xfrm>
            <a:off x="476250" y="4059238"/>
            <a:ext cx="47037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球壳</a:t>
            </a:r>
            <a:r>
              <a:rPr lang="zh-CN" altLang="zh-CN" sz="2400" dirty="0">
                <a:latin typeface="楷体_GB2312" pitchFamily="49" charset="-122"/>
                <a:ea typeface="楷体_GB2312" pitchFamily="49" charset="-122"/>
              </a:rPr>
              <a:t>紧贴内表面作高斯面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S</a:t>
            </a:r>
          </a:p>
        </p:txBody>
      </p:sp>
      <p:graphicFrame>
        <p:nvGraphicFramePr>
          <p:cNvPr id="199748" name="Object 68"/>
          <p:cNvGraphicFramePr>
            <a:graphicFrameLocks noChangeAspect="1"/>
          </p:cNvGraphicFramePr>
          <p:nvPr/>
        </p:nvGraphicFramePr>
        <p:xfrm>
          <a:off x="792163" y="4643438"/>
          <a:ext cx="22098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685800" imgH="292100" progId="Equation.3">
                  <p:embed/>
                </p:oleObj>
              </mc:Choice>
              <mc:Fallback>
                <p:oleObj r:id="rId18" imgW="685800" imgH="2921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92163" y="4643438"/>
                        <a:ext cx="2209800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749" name="Object 69"/>
          <p:cNvGraphicFramePr>
            <a:graphicFrameLocks noChangeAspect="1"/>
          </p:cNvGraphicFramePr>
          <p:nvPr/>
        </p:nvGraphicFramePr>
        <p:xfrm>
          <a:off x="3357563" y="4778375"/>
          <a:ext cx="19050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901065" imgH="495300" progId="Equation.3">
                  <p:embed/>
                </p:oleObj>
              </mc:Choice>
              <mc:Fallback>
                <p:oleObj r:id="rId20" imgW="901065" imgH="4953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357563" y="4778375"/>
                        <a:ext cx="19050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751" name="Object 71"/>
          <p:cNvGraphicFramePr>
            <a:graphicFrameLocks noChangeAspect="1"/>
          </p:cNvGraphicFramePr>
          <p:nvPr/>
        </p:nvGraphicFramePr>
        <p:xfrm>
          <a:off x="1422400" y="5543550"/>
          <a:ext cx="1471613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546100" imgH="228600" progId="Equation.3">
                  <p:embed/>
                </p:oleObj>
              </mc:Choice>
              <mc:Fallback>
                <p:oleObj r:id="rId22" imgW="546100" imgH="2286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22400" y="5543550"/>
                        <a:ext cx="1471613" cy="72866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9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9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9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701" grpId="0"/>
      <p:bldP spid="199731" grpId="0"/>
      <p:bldP spid="19974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6" name="Rectangle 4"/>
          <p:cNvSpPr/>
          <p:nvPr/>
        </p:nvSpPr>
        <p:spPr>
          <a:xfrm>
            <a:off x="566738" y="1989138"/>
            <a:ext cx="7289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球壳外表面上有</a:t>
            </a:r>
            <a:r>
              <a:rPr lang="en-US" altLang="zh-CN" sz="2400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2400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的电荷均匀分布</a:t>
            </a:r>
          </a:p>
        </p:txBody>
      </p:sp>
      <p:sp>
        <p:nvSpPr>
          <p:cNvPr id="202760" name="Rectangle 8"/>
          <p:cNvSpPr/>
          <p:nvPr/>
        </p:nvSpPr>
        <p:spPr>
          <a:xfrm>
            <a:off x="611188" y="684213"/>
            <a:ext cx="77406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球壳内表面上有</a:t>
            </a:r>
            <a:r>
              <a:rPr lang="en-US" altLang="zh-CN" sz="2400" i="1" dirty="0">
                <a:solidFill>
                  <a:srgbClr val="1C1C1C"/>
                </a:solidFill>
                <a:latin typeface="Times New Roman" panose="02020603050405020304" pitchFamily="18" charset="0"/>
                <a:ea typeface="楷体_GB2312" pitchFamily="49" charset="-122"/>
              </a:rPr>
              <a:t>-q</a:t>
            </a:r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的电荷均匀分布</a:t>
            </a:r>
          </a:p>
        </p:txBody>
      </p:sp>
      <p:grpSp>
        <p:nvGrpSpPr>
          <p:cNvPr id="49155" name="Group 33"/>
          <p:cNvGrpSpPr/>
          <p:nvPr/>
        </p:nvGrpSpPr>
        <p:grpSpPr>
          <a:xfrm>
            <a:off x="5543550" y="2484438"/>
            <a:ext cx="2616200" cy="3394075"/>
            <a:chOff x="3617" y="1820"/>
            <a:chExt cx="1648" cy="2138"/>
          </a:xfrm>
        </p:grpSpPr>
        <p:grpSp>
          <p:nvGrpSpPr>
            <p:cNvPr id="49156" name="Group 9"/>
            <p:cNvGrpSpPr/>
            <p:nvPr/>
          </p:nvGrpSpPr>
          <p:grpSpPr>
            <a:xfrm>
              <a:off x="3617" y="2047"/>
              <a:ext cx="1584" cy="1911"/>
              <a:chOff x="3617" y="2132"/>
              <a:chExt cx="1584" cy="1911"/>
            </a:xfrm>
          </p:grpSpPr>
          <p:sp>
            <p:nvSpPr>
              <p:cNvPr id="202762" name="Oval 10"/>
              <p:cNvSpPr>
                <a:spLocks noChangeArrowheads="1"/>
              </p:cNvSpPr>
              <p:nvPr/>
            </p:nvSpPr>
            <p:spPr bwMode="auto">
              <a:xfrm>
                <a:off x="4154" y="2642"/>
                <a:ext cx="624" cy="62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6633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grpSp>
            <p:nvGrpSpPr>
              <p:cNvPr id="49158" name="Group 11"/>
              <p:cNvGrpSpPr/>
              <p:nvPr/>
            </p:nvGrpSpPr>
            <p:grpSpPr>
              <a:xfrm>
                <a:off x="3617" y="2132"/>
                <a:ext cx="1584" cy="1911"/>
                <a:chOff x="3674" y="2162"/>
                <a:chExt cx="1584" cy="1911"/>
              </a:xfrm>
            </p:grpSpPr>
            <p:sp>
              <p:nvSpPr>
                <p:cNvPr id="202764" name="AutoShape 12"/>
                <p:cNvSpPr>
                  <a:spLocks noChangeArrowheads="1"/>
                </p:cNvSpPr>
                <p:nvPr/>
              </p:nvSpPr>
              <p:spPr bwMode="auto">
                <a:xfrm>
                  <a:off x="3674" y="2162"/>
                  <a:ext cx="1584" cy="1584"/>
                </a:xfrm>
                <a:custGeom>
                  <a:avLst/>
                  <a:gdLst>
                    <a:gd name="G0" fmla="+- 2386 0 0"/>
                    <a:gd name="G1" fmla="+- 21600 0 2386"/>
                    <a:gd name="G2" fmla="+- 21600 0 2386"/>
                    <a:gd name="G3" fmla="*/ G0 2929 10000"/>
                    <a:gd name="G4" fmla="+- 21600 0 G3"/>
                    <a:gd name="G5" fmla="+- 21600 0 G3"/>
                    <a:gd name="T0" fmla="*/ 10800 w 21600"/>
                    <a:gd name="T1" fmla="*/ 0 h 21600"/>
                    <a:gd name="T2" fmla="*/ 3163 w 21600"/>
                    <a:gd name="T3" fmla="*/ 3163 h 21600"/>
                    <a:gd name="T4" fmla="*/ 0 w 21600"/>
                    <a:gd name="T5" fmla="*/ 10800 h 21600"/>
                    <a:gd name="T6" fmla="*/ 3163 w 21600"/>
                    <a:gd name="T7" fmla="*/ 18437 h 21600"/>
                    <a:gd name="T8" fmla="*/ 10800 w 21600"/>
                    <a:gd name="T9" fmla="*/ 21600 h 21600"/>
                    <a:gd name="T10" fmla="*/ 18437 w 21600"/>
                    <a:gd name="T11" fmla="*/ 18437 h 21600"/>
                    <a:gd name="T12" fmla="*/ 21600 w 21600"/>
                    <a:gd name="T13" fmla="*/ 10800 h 21600"/>
                    <a:gd name="T14" fmla="*/ 18437 w 21600"/>
                    <a:gd name="T15" fmla="*/ 3163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386" y="10800"/>
                      </a:moveTo>
                      <a:cubicBezTo>
                        <a:pt x="2386" y="15447"/>
                        <a:pt x="6153" y="19214"/>
                        <a:pt x="10800" y="19214"/>
                      </a:cubicBezTo>
                      <a:cubicBezTo>
                        <a:pt x="15447" y="19214"/>
                        <a:pt x="19214" y="15447"/>
                        <a:pt x="19214" y="10800"/>
                      </a:cubicBezTo>
                      <a:cubicBezTo>
                        <a:pt x="19214" y="6153"/>
                        <a:pt x="15447" y="2386"/>
                        <a:pt x="10800" y="2386"/>
                      </a:cubicBezTo>
                      <a:cubicBezTo>
                        <a:pt x="6153" y="2386"/>
                        <a:pt x="2386" y="6153"/>
                        <a:pt x="2386" y="1080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66275"/>
                        <a:invGamma/>
                      </a:schemeClr>
                    </a:gs>
                  </a:gsLst>
                  <a:path path="rect">
                    <a:fillToRect l="50000" t="50000" r="50000" b="50000"/>
                  </a:path>
                </a:gradFill>
                <a:ln w="19050">
                  <a:solidFill>
                    <a:srgbClr val="6633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49160" name="Line 13"/>
                <p:cNvSpPr/>
                <p:nvPr/>
              </p:nvSpPr>
              <p:spPr>
                <a:xfrm flipH="1">
                  <a:off x="4222" y="2930"/>
                  <a:ext cx="268" cy="163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161" name="Line 14"/>
                <p:cNvSpPr/>
                <p:nvPr/>
              </p:nvSpPr>
              <p:spPr>
                <a:xfrm flipH="1">
                  <a:off x="4298" y="2930"/>
                  <a:ext cx="192" cy="624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49162" name="Line 15"/>
                <p:cNvSpPr/>
                <p:nvPr/>
              </p:nvSpPr>
              <p:spPr>
                <a:xfrm>
                  <a:off x="4490" y="2930"/>
                  <a:ext cx="96" cy="816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aphicFrame>
              <p:nvGraphicFramePr>
                <p:cNvPr id="49163" name="Object 16"/>
                <p:cNvGraphicFramePr>
                  <a:graphicFrameLocks noChangeAspect="1"/>
                </p:cNvGraphicFramePr>
                <p:nvPr/>
              </p:nvGraphicFramePr>
              <p:xfrm>
                <a:off x="3981" y="3419"/>
                <a:ext cx="272" cy="3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292100" imgH="368300" progId="Equation.3">
                        <p:embed/>
                      </p:oleObj>
                    </mc:Choice>
                    <mc:Fallback>
                      <p:oleObj r:id="rId2" imgW="292100" imgH="368300" progId="Equation.3">
                        <p:embed/>
                        <p:pic>
                          <p:nvPicPr>
                            <p:cNvPr id="0" name="图片 3135"/>
                            <p:cNvPicPr/>
                            <p:nvPr/>
                          </p:nvPicPr>
                          <p:blipFill>
                            <a:blip r:embed="rId3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419"/>
                              <a:ext cx="272" cy="34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9164" name="Object 17"/>
                <p:cNvGraphicFramePr>
                  <a:graphicFrameLocks noChangeAspect="1"/>
                </p:cNvGraphicFramePr>
                <p:nvPr/>
              </p:nvGraphicFramePr>
              <p:xfrm>
                <a:off x="4480" y="3737"/>
                <a:ext cx="308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342900" imgH="368300" progId="Equation.3">
                        <p:embed/>
                      </p:oleObj>
                    </mc:Choice>
                    <mc:Fallback>
                      <p:oleObj r:id="rId4" imgW="342900" imgH="368300" progId="Equation.3">
                        <p:embed/>
                        <p:pic>
                          <p:nvPicPr>
                            <p:cNvPr id="0" name="图片 3126"/>
                            <p:cNvPicPr/>
                            <p:nvPr/>
                          </p:nvPicPr>
                          <p:blipFill>
                            <a:blip r:embed="rId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80" y="3737"/>
                              <a:ext cx="308" cy="33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9165" name="Object 18"/>
                <p:cNvGraphicFramePr>
                  <a:graphicFrameLocks noChangeAspect="1"/>
                </p:cNvGraphicFramePr>
                <p:nvPr/>
              </p:nvGraphicFramePr>
              <p:xfrm>
                <a:off x="3981" y="3011"/>
                <a:ext cx="241" cy="2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152400" imgH="165100" progId="Equation.3">
                        <p:embed/>
                      </p:oleObj>
                    </mc:Choice>
                    <mc:Fallback>
                      <p:oleObj r:id="rId6" imgW="152400" imgH="165100" progId="Equation.3">
                        <p:embed/>
                        <p:pic>
                          <p:nvPicPr>
                            <p:cNvPr id="0" name="图片 3125"/>
                            <p:cNvPicPr/>
                            <p:nvPr/>
                          </p:nvPicPr>
                          <p:blipFill>
                            <a:blip r:embed="rId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011"/>
                              <a:ext cx="241" cy="26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9166" name="Group 22"/>
            <p:cNvGrpSpPr/>
            <p:nvPr/>
          </p:nvGrpSpPr>
          <p:grpSpPr>
            <a:xfrm>
              <a:off x="4581" y="1820"/>
              <a:ext cx="684" cy="1158"/>
              <a:chOff x="4581" y="1905"/>
              <a:chExt cx="684" cy="1158"/>
            </a:xfrm>
          </p:grpSpPr>
          <p:graphicFrame>
            <p:nvGraphicFramePr>
              <p:cNvPr id="49167" name="Object 23"/>
              <p:cNvGraphicFramePr>
                <a:graphicFrameLocks noChangeAspect="1"/>
              </p:cNvGraphicFramePr>
              <p:nvPr/>
            </p:nvGraphicFramePr>
            <p:xfrm>
              <a:off x="4581" y="2784"/>
              <a:ext cx="215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3">
                      <p:embed/>
                    </p:oleObj>
                  </mc:Choice>
                  <mc:Fallback>
                    <p:oleObj r:id="rId8" imgW="127000" imgH="165100" progId="Equation.3">
                      <p:embed/>
                      <p:pic>
                        <p:nvPicPr>
                          <p:cNvPr id="0" name="图片 3130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581" y="2784"/>
                            <a:ext cx="215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8" name="Object 24"/>
              <p:cNvGraphicFramePr>
                <a:graphicFrameLocks noChangeAspect="1"/>
              </p:cNvGraphicFramePr>
              <p:nvPr/>
            </p:nvGraphicFramePr>
            <p:xfrm>
              <a:off x="4581" y="2387"/>
              <a:ext cx="40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41300" imgH="165100" progId="Equation.3">
                      <p:embed/>
                    </p:oleObj>
                  </mc:Choice>
                  <mc:Fallback>
                    <p:oleObj r:id="rId10" imgW="241300" imgH="165100" progId="Equation.3">
                      <p:embed/>
                      <p:pic>
                        <p:nvPicPr>
                          <p:cNvPr id="0" name="图片 3133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4581" y="2387"/>
                            <a:ext cx="409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69" name="Object 25"/>
              <p:cNvGraphicFramePr>
                <a:graphicFrameLocks noChangeAspect="1"/>
              </p:cNvGraphicFramePr>
              <p:nvPr/>
            </p:nvGraphicFramePr>
            <p:xfrm>
              <a:off x="4638" y="1905"/>
              <a:ext cx="627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368300" imgH="203200" progId="Equation.3">
                      <p:embed/>
                    </p:oleObj>
                  </mc:Choice>
                  <mc:Fallback>
                    <p:oleObj r:id="rId12" imgW="368300" imgH="203200" progId="Equation.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4638" y="1905"/>
                            <a:ext cx="627" cy="3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2783" name="Rectangle 31"/>
          <p:cNvSpPr/>
          <p:nvPr/>
        </p:nvSpPr>
        <p:spPr>
          <a:xfrm>
            <a:off x="566738" y="1314450"/>
            <a:ext cx="37353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电荷守恒定律</a:t>
            </a:r>
          </a:p>
        </p:txBody>
      </p:sp>
      <p:graphicFrame>
        <p:nvGraphicFramePr>
          <p:cNvPr id="202784" name="Object 32"/>
          <p:cNvGraphicFramePr>
            <a:graphicFrameLocks noChangeAspect="1"/>
          </p:cNvGraphicFramePr>
          <p:nvPr/>
        </p:nvGraphicFramePr>
        <p:xfrm>
          <a:off x="2608263" y="1144588"/>
          <a:ext cx="17732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23900" imgH="241300" progId="Equation.3">
                  <p:embed/>
                </p:oleObj>
              </mc:Choice>
              <mc:Fallback>
                <p:oleObj r:id="rId14" imgW="723900" imgH="2413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08263" y="1144588"/>
                        <a:ext cx="1773237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90" name="Rectangle 38"/>
          <p:cNvSpPr/>
          <p:nvPr/>
        </p:nvSpPr>
        <p:spPr>
          <a:xfrm>
            <a:off x="792163" y="2573338"/>
            <a:ext cx="18161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场强分布</a:t>
            </a:r>
          </a:p>
        </p:txBody>
      </p:sp>
      <p:grpSp>
        <p:nvGrpSpPr>
          <p:cNvPr id="6" name="Group 41"/>
          <p:cNvGrpSpPr/>
          <p:nvPr/>
        </p:nvGrpSpPr>
        <p:grpSpPr>
          <a:xfrm>
            <a:off x="431800" y="3159125"/>
            <a:ext cx="4953000" cy="3124200"/>
            <a:chOff x="336" y="444"/>
            <a:chExt cx="3120" cy="1968"/>
          </a:xfrm>
        </p:grpSpPr>
        <p:graphicFrame>
          <p:nvGraphicFramePr>
            <p:cNvPr id="49174" name="Object 42"/>
            <p:cNvGraphicFramePr>
              <a:graphicFrameLocks noChangeAspect="1"/>
            </p:cNvGraphicFramePr>
            <p:nvPr/>
          </p:nvGraphicFramePr>
          <p:xfrm>
            <a:off x="694" y="444"/>
            <a:ext cx="2329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218565" imgH="215900" progId="Equation.3">
                    <p:embed/>
                  </p:oleObj>
                </mc:Choice>
                <mc:Fallback>
                  <p:oleObj r:id="rId16" imgW="1218565" imgH="2159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94" y="444"/>
                          <a:ext cx="2329" cy="4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5" name="Object 43"/>
            <p:cNvGraphicFramePr>
              <a:graphicFrameLocks noChangeAspect="1"/>
            </p:cNvGraphicFramePr>
            <p:nvPr/>
          </p:nvGraphicFramePr>
          <p:xfrm>
            <a:off x="701" y="707"/>
            <a:ext cx="2622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1701800" imgH="444500" progId="Equation.3">
                    <p:embed/>
                  </p:oleObj>
                </mc:Choice>
                <mc:Fallback>
                  <p:oleObj r:id="rId18" imgW="1701800" imgH="4445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01" y="707"/>
                          <a:ext cx="2622" cy="7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6" name="Object 44"/>
            <p:cNvGraphicFramePr>
              <a:graphicFrameLocks noChangeAspect="1"/>
            </p:cNvGraphicFramePr>
            <p:nvPr/>
          </p:nvGraphicFramePr>
          <p:xfrm>
            <a:off x="655" y="1318"/>
            <a:ext cx="2801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651000" imgH="228600" progId="Equation.3">
                    <p:embed/>
                  </p:oleObj>
                </mc:Choice>
                <mc:Fallback>
                  <p:oleObj r:id="rId20" imgW="1651000" imgH="2286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55" y="1318"/>
                          <a:ext cx="2801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77" name="Object 45"/>
            <p:cNvGraphicFramePr>
              <a:graphicFrameLocks noChangeAspect="1"/>
            </p:cNvGraphicFramePr>
            <p:nvPr/>
          </p:nvGraphicFramePr>
          <p:xfrm>
            <a:off x="598" y="1616"/>
            <a:ext cx="2406" cy="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1435100" imgH="444500" progId="Equation.3">
                    <p:embed/>
                  </p:oleObj>
                </mc:Choice>
                <mc:Fallback>
                  <p:oleObj r:id="rId22" imgW="1435100" imgH="4445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598" y="1616"/>
                          <a:ext cx="2406" cy="7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78" name="AutoShape 46"/>
            <p:cNvSpPr/>
            <p:nvPr/>
          </p:nvSpPr>
          <p:spPr>
            <a:xfrm>
              <a:off x="336" y="516"/>
              <a:ext cx="240" cy="1584"/>
            </a:xfrm>
            <a:prstGeom prst="leftBrace">
              <a:avLst>
                <a:gd name="adj1" fmla="val 55000"/>
                <a:gd name="adj2" fmla="val 50000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7" name="Group 72"/>
          <p:cNvGrpSpPr/>
          <p:nvPr/>
        </p:nvGrpSpPr>
        <p:grpSpPr>
          <a:xfrm>
            <a:off x="5868988" y="3151188"/>
            <a:ext cx="1903412" cy="1949450"/>
            <a:chOff x="3697" y="1985"/>
            <a:chExt cx="1199" cy="1228"/>
          </a:xfrm>
        </p:grpSpPr>
        <p:sp>
          <p:nvSpPr>
            <p:cNvPr id="49180" name="Line 47"/>
            <p:cNvSpPr/>
            <p:nvPr/>
          </p:nvSpPr>
          <p:spPr>
            <a:xfrm>
              <a:off x="4656" y="2640"/>
              <a:ext cx="24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1" name="Line 48"/>
            <p:cNvSpPr/>
            <p:nvPr/>
          </p:nvSpPr>
          <p:spPr>
            <a:xfrm>
              <a:off x="4629" y="2785"/>
              <a:ext cx="188" cy="88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2" name="Line 49"/>
            <p:cNvSpPr/>
            <p:nvPr/>
          </p:nvSpPr>
          <p:spPr>
            <a:xfrm>
              <a:off x="4517" y="2905"/>
              <a:ext cx="140" cy="176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3" name="Line 50"/>
            <p:cNvSpPr/>
            <p:nvPr/>
          </p:nvSpPr>
          <p:spPr>
            <a:xfrm>
              <a:off x="4341" y="2953"/>
              <a:ext cx="4" cy="26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4" name="Line 51"/>
            <p:cNvSpPr/>
            <p:nvPr/>
          </p:nvSpPr>
          <p:spPr>
            <a:xfrm flipV="1">
              <a:off x="4633" y="2441"/>
              <a:ext cx="252" cy="68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5" name="Line 52"/>
            <p:cNvSpPr/>
            <p:nvPr/>
          </p:nvSpPr>
          <p:spPr>
            <a:xfrm flipV="1">
              <a:off x="4349" y="1985"/>
              <a:ext cx="4" cy="30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6" name="Line 53"/>
            <p:cNvSpPr/>
            <p:nvPr/>
          </p:nvSpPr>
          <p:spPr>
            <a:xfrm flipV="1">
              <a:off x="4517" y="2173"/>
              <a:ext cx="224" cy="18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7" name="Line 54"/>
            <p:cNvSpPr/>
            <p:nvPr/>
          </p:nvSpPr>
          <p:spPr>
            <a:xfrm flipH="1">
              <a:off x="3697" y="2621"/>
              <a:ext cx="328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8" name="Line 55"/>
            <p:cNvSpPr/>
            <p:nvPr/>
          </p:nvSpPr>
          <p:spPr>
            <a:xfrm flipH="1" flipV="1">
              <a:off x="3718" y="2358"/>
              <a:ext cx="328" cy="12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89" name="Line 56"/>
            <p:cNvSpPr/>
            <p:nvPr/>
          </p:nvSpPr>
          <p:spPr>
            <a:xfrm flipH="1" flipV="1">
              <a:off x="3930" y="2110"/>
              <a:ext cx="232" cy="23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0" name="Line 57"/>
            <p:cNvSpPr/>
            <p:nvPr/>
          </p:nvSpPr>
          <p:spPr>
            <a:xfrm flipH="1">
              <a:off x="3774" y="2778"/>
              <a:ext cx="276" cy="15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1" name="Line 58"/>
            <p:cNvSpPr/>
            <p:nvPr/>
          </p:nvSpPr>
          <p:spPr>
            <a:xfrm flipH="1">
              <a:off x="4014" y="2890"/>
              <a:ext cx="160" cy="228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71"/>
          <p:cNvGrpSpPr/>
          <p:nvPr/>
        </p:nvGrpSpPr>
        <p:grpSpPr>
          <a:xfrm>
            <a:off x="5078413" y="2359025"/>
            <a:ext cx="3654425" cy="3638550"/>
            <a:chOff x="3199" y="1486"/>
            <a:chExt cx="2302" cy="2292"/>
          </a:xfrm>
        </p:grpSpPr>
        <p:sp>
          <p:nvSpPr>
            <p:cNvPr id="49193" name="Line 59"/>
            <p:cNvSpPr/>
            <p:nvPr/>
          </p:nvSpPr>
          <p:spPr>
            <a:xfrm>
              <a:off x="5093" y="2641"/>
              <a:ext cx="408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4" name="Line 60"/>
            <p:cNvSpPr/>
            <p:nvPr/>
          </p:nvSpPr>
          <p:spPr>
            <a:xfrm>
              <a:off x="4346" y="3378"/>
              <a:ext cx="0" cy="40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5" name="Line 61"/>
            <p:cNvSpPr/>
            <p:nvPr/>
          </p:nvSpPr>
          <p:spPr>
            <a:xfrm>
              <a:off x="5010" y="2934"/>
              <a:ext cx="412" cy="22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6" name="Line 62"/>
            <p:cNvSpPr/>
            <p:nvPr/>
          </p:nvSpPr>
          <p:spPr>
            <a:xfrm>
              <a:off x="4767" y="3231"/>
              <a:ext cx="264" cy="32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7" name="Line 63"/>
            <p:cNvSpPr/>
            <p:nvPr/>
          </p:nvSpPr>
          <p:spPr>
            <a:xfrm flipH="1">
              <a:off x="3235" y="2619"/>
              <a:ext cx="252" cy="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8" name="Line 64"/>
            <p:cNvSpPr/>
            <p:nvPr/>
          </p:nvSpPr>
          <p:spPr>
            <a:xfrm flipH="1">
              <a:off x="3351" y="3027"/>
              <a:ext cx="276" cy="15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199" name="Line 65"/>
            <p:cNvSpPr/>
            <p:nvPr/>
          </p:nvSpPr>
          <p:spPr>
            <a:xfrm flipH="1">
              <a:off x="3759" y="3295"/>
              <a:ext cx="160" cy="228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00" name="Line 66"/>
            <p:cNvSpPr/>
            <p:nvPr/>
          </p:nvSpPr>
          <p:spPr>
            <a:xfrm flipV="1">
              <a:off x="4322" y="1486"/>
              <a:ext cx="4" cy="30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01" name="Line 67"/>
            <p:cNvSpPr/>
            <p:nvPr/>
          </p:nvSpPr>
          <p:spPr>
            <a:xfrm flipV="1">
              <a:off x="4874" y="1854"/>
              <a:ext cx="224" cy="18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02" name="Line 68"/>
            <p:cNvSpPr/>
            <p:nvPr/>
          </p:nvSpPr>
          <p:spPr>
            <a:xfrm flipV="1">
              <a:off x="5062" y="2258"/>
              <a:ext cx="308" cy="10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03" name="Line 69"/>
            <p:cNvSpPr/>
            <p:nvPr/>
          </p:nvSpPr>
          <p:spPr>
            <a:xfrm flipH="1" flipV="1">
              <a:off x="3579" y="1711"/>
              <a:ext cx="232" cy="23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9204" name="Line 70"/>
            <p:cNvSpPr/>
            <p:nvPr/>
          </p:nvSpPr>
          <p:spPr>
            <a:xfrm flipH="1" flipV="1">
              <a:off x="3199" y="2175"/>
              <a:ext cx="328" cy="124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0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6" grpId="0"/>
      <p:bldP spid="202760" grpId="0"/>
      <p:bldP spid="202783" grpId="0"/>
      <p:bldP spid="20279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7" name="Group 34"/>
          <p:cNvGrpSpPr/>
          <p:nvPr/>
        </p:nvGrpSpPr>
        <p:grpSpPr>
          <a:xfrm>
            <a:off x="5697538" y="3114675"/>
            <a:ext cx="2616200" cy="3394075"/>
            <a:chOff x="3617" y="1820"/>
            <a:chExt cx="1648" cy="2138"/>
          </a:xfrm>
        </p:grpSpPr>
        <p:grpSp>
          <p:nvGrpSpPr>
            <p:cNvPr id="50178" name="Group 35"/>
            <p:cNvGrpSpPr/>
            <p:nvPr/>
          </p:nvGrpSpPr>
          <p:grpSpPr>
            <a:xfrm>
              <a:off x="3617" y="2047"/>
              <a:ext cx="1584" cy="1911"/>
              <a:chOff x="3617" y="2132"/>
              <a:chExt cx="1584" cy="1911"/>
            </a:xfrm>
          </p:grpSpPr>
          <p:sp>
            <p:nvSpPr>
              <p:cNvPr id="200740" name="Oval 36"/>
              <p:cNvSpPr>
                <a:spLocks noChangeArrowheads="1"/>
              </p:cNvSpPr>
              <p:nvPr/>
            </p:nvSpPr>
            <p:spPr bwMode="auto">
              <a:xfrm>
                <a:off x="4154" y="2642"/>
                <a:ext cx="624" cy="62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663300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anose="020B0604030504040204" pitchFamily="34" charset="0"/>
                  <a:ea typeface="华文中宋" panose="02010600040101010101" pitchFamily="2" charset="-122"/>
                  <a:cs typeface="+mn-cs"/>
                </a:endParaRPr>
              </a:p>
            </p:txBody>
          </p:sp>
          <p:grpSp>
            <p:nvGrpSpPr>
              <p:cNvPr id="50180" name="Group 37"/>
              <p:cNvGrpSpPr/>
              <p:nvPr/>
            </p:nvGrpSpPr>
            <p:grpSpPr>
              <a:xfrm>
                <a:off x="3617" y="2132"/>
                <a:ext cx="1584" cy="1911"/>
                <a:chOff x="3674" y="2162"/>
                <a:chExt cx="1584" cy="1911"/>
              </a:xfrm>
            </p:grpSpPr>
            <p:sp>
              <p:nvSpPr>
                <p:cNvPr id="200742" name="AutoShape 38"/>
                <p:cNvSpPr>
                  <a:spLocks noChangeArrowheads="1"/>
                </p:cNvSpPr>
                <p:nvPr/>
              </p:nvSpPr>
              <p:spPr bwMode="auto">
                <a:xfrm>
                  <a:off x="3674" y="2162"/>
                  <a:ext cx="1584" cy="1584"/>
                </a:xfrm>
                <a:custGeom>
                  <a:avLst/>
                  <a:gdLst>
                    <a:gd name="G0" fmla="+- 2386 0 0"/>
                    <a:gd name="G1" fmla="+- 21600 0 2386"/>
                    <a:gd name="G2" fmla="+- 21600 0 2386"/>
                    <a:gd name="G3" fmla="*/ G0 2929 10000"/>
                    <a:gd name="G4" fmla="+- 21600 0 G3"/>
                    <a:gd name="G5" fmla="+- 21600 0 G3"/>
                    <a:gd name="T0" fmla="*/ 10800 w 21600"/>
                    <a:gd name="T1" fmla="*/ 0 h 21600"/>
                    <a:gd name="T2" fmla="*/ 3163 w 21600"/>
                    <a:gd name="T3" fmla="*/ 3163 h 21600"/>
                    <a:gd name="T4" fmla="*/ 0 w 21600"/>
                    <a:gd name="T5" fmla="*/ 10800 h 21600"/>
                    <a:gd name="T6" fmla="*/ 3163 w 21600"/>
                    <a:gd name="T7" fmla="*/ 18437 h 21600"/>
                    <a:gd name="T8" fmla="*/ 10800 w 21600"/>
                    <a:gd name="T9" fmla="*/ 21600 h 21600"/>
                    <a:gd name="T10" fmla="*/ 18437 w 21600"/>
                    <a:gd name="T11" fmla="*/ 18437 h 21600"/>
                    <a:gd name="T12" fmla="*/ 21600 w 21600"/>
                    <a:gd name="T13" fmla="*/ 10800 h 21600"/>
                    <a:gd name="T14" fmla="*/ 18437 w 21600"/>
                    <a:gd name="T15" fmla="*/ 3163 h 21600"/>
                    <a:gd name="T16" fmla="*/ 3163 w 21600"/>
                    <a:gd name="T17" fmla="*/ 3163 h 21600"/>
                    <a:gd name="T18" fmla="*/ 18437 w 21600"/>
                    <a:gd name="T19" fmla="*/ 18437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T16" t="T17" r="T18" b="T19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2386" y="10800"/>
                      </a:moveTo>
                      <a:cubicBezTo>
                        <a:pt x="2386" y="15447"/>
                        <a:pt x="6153" y="19214"/>
                        <a:pt x="10800" y="19214"/>
                      </a:cubicBezTo>
                      <a:cubicBezTo>
                        <a:pt x="15447" y="19214"/>
                        <a:pt x="19214" y="15447"/>
                        <a:pt x="19214" y="10800"/>
                      </a:cubicBezTo>
                      <a:cubicBezTo>
                        <a:pt x="19214" y="6153"/>
                        <a:pt x="15447" y="2386"/>
                        <a:pt x="10800" y="2386"/>
                      </a:cubicBezTo>
                      <a:cubicBezTo>
                        <a:pt x="6153" y="2386"/>
                        <a:pt x="2386" y="6153"/>
                        <a:pt x="2386" y="1080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1">
                        <a:gamma/>
                        <a:shade val="66275"/>
                        <a:invGamma/>
                      </a:schemeClr>
                    </a:gs>
                  </a:gsLst>
                  <a:path path="rect">
                    <a:fillToRect l="50000" t="50000" r="50000" b="50000"/>
                  </a:path>
                </a:gradFill>
                <a:ln w="19050">
                  <a:solidFill>
                    <a:srgbClr val="663300"/>
                  </a:solidFill>
                  <a:rou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华文中宋" panose="02010600040101010101" pitchFamily="2" charset="-122"/>
                    <a:cs typeface="+mn-cs"/>
                  </a:endParaRPr>
                </a:p>
              </p:txBody>
            </p:sp>
            <p:sp>
              <p:nvSpPr>
                <p:cNvPr id="50182" name="Line 39"/>
                <p:cNvSpPr/>
                <p:nvPr/>
              </p:nvSpPr>
              <p:spPr>
                <a:xfrm flipH="1">
                  <a:off x="4211" y="2930"/>
                  <a:ext cx="279" cy="127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50183" name="Line 40"/>
                <p:cNvSpPr/>
                <p:nvPr/>
              </p:nvSpPr>
              <p:spPr>
                <a:xfrm flipH="1">
                  <a:off x="4298" y="2930"/>
                  <a:ext cx="192" cy="624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50184" name="Line 41"/>
                <p:cNvSpPr/>
                <p:nvPr/>
              </p:nvSpPr>
              <p:spPr>
                <a:xfrm>
                  <a:off x="4490" y="2930"/>
                  <a:ext cx="96" cy="816"/>
                </a:xfrm>
                <a:prstGeom prst="line">
                  <a:avLst/>
                </a:prstGeom>
                <a:ln w="127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graphicFrame>
              <p:nvGraphicFramePr>
                <p:cNvPr id="50185" name="Object 42"/>
                <p:cNvGraphicFramePr>
                  <a:graphicFrameLocks noChangeAspect="1"/>
                </p:cNvGraphicFramePr>
                <p:nvPr/>
              </p:nvGraphicFramePr>
              <p:xfrm>
                <a:off x="3981" y="3419"/>
                <a:ext cx="272" cy="3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292100" imgH="368300" progId="Equation.3">
                        <p:embed/>
                      </p:oleObj>
                    </mc:Choice>
                    <mc:Fallback>
                      <p:oleObj r:id="rId2" imgW="292100" imgH="368300" progId="Equation.3">
                        <p:embed/>
                        <p:pic>
                          <p:nvPicPr>
                            <p:cNvPr id="0" name="图片 3136"/>
                            <p:cNvPicPr/>
                            <p:nvPr/>
                          </p:nvPicPr>
                          <p:blipFill>
                            <a:blip r:embed="rId3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419"/>
                              <a:ext cx="272" cy="34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0186" name="Object 43"/>
                <p:cNvGraphicFramePr>
                  <a:graphicFrameLocks noChangeAspect="1"/>
                </p:cNvGraphicFramePr>
                <p:nvPr/>
              </p:nvGraphicFramePr>
              <p:xfrm>
                <a:off x="4480" y="3737"/>
                <a:ext cx="308" cy="3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342900" imgH="368300" progId="Equation.3">
                        <p:embed/>
                      </p:oleObj>
                    </mc:Choice>
                    <mc:Fallback>
                      <p:oleObj r:id="rId4" imgW="342900" imgH="368300" progId="Equation.3">
                        <p:embed/>
                        <p:pic>
                          <p:nvPicPr>
                            <p:cNvPr id="0" name="图片 3137"/>
                            <p:cNvPicPr/>
                            <p:nvPr/>
                          </p:nvPicPr>
                          <p:blipFill>
                            <a:blip r:embed="rId5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80" y="3737"/>
                              <a:ext cx="308" cy="336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0187" name="Object 44"/>
                <p:cNvGraphicFramePr>
                  <a:graphicFrameLocks noChangeAspect="1"/>
                </p:cNvGraphicFramePr>
                <p:nvPr/>
              </p:nvGraphicFramePr>
              <p:xfrm>
                <a:off x="3981" y="3011"/>
                <a:ext cx="241" cy="2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152400" imgH="165100" progId="Equation.3">
                        <p:embed/>
                      </p:oleObj>
                    </mc:Choice>
                    <mc:Fallback>
                      <p:oleObj r:id="rId6" imgW="152400" imgH="165100" progId="Equation.3">
                        <p:embed/>
                        <p:pic>
                          <p:nvPicPr>
                            <p:cNvPr id="0" name="图片 3138"/>
                            <p:cNvPicPr/>
                            <p:nvPr/>
                          </p:nvPicPr>
                          <p:blipFill>
                            <a:blip r:embed="rId7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00FF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81" y="3011"/>
                              <a:ext cx="241" cy="262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50188" name="Group 45"/>
            <p:cNvGrpSpPr/>
            <p:nvPr/>
          </p:nvGrpSpPr>
          <p:grpSpPr>
            <a:xfrm>
              <a:off x="4581" y="1820"/>
              <a:ext cx="684" cy="1158"/>
              <a:chOff x="4581" y="1905"/>
              <a:chExt cx="684" cy="1158"/>
            </a:xfrm>
          </p:grpSpPr>
          <p:graphicFrame>
            <p:nvGraphicFramePr>
              <p:cNvPr id="50189" name="Object 46"/>
              <p:cNvGraphicFramePr>
                <a:graphicFrameLocks noChangeAspect="1"/>
              </p:cNvGraphicFramePr>
              <p:nvPr/>
            </p:nvGraphicFramePr>
            <p:xfrm>
              <a:off x="4581" y="2784"/>
              <a:ext cx="215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127000" imgH="165100" progId="Equation.3">
                      <p:embed/>
                    </p:oleObj>
                  </mc:Choice>
                  <mc:Fallback>
                    <p:oleObj r:id="rId8" imgW="127000" imgH="165100" progId="Equation.3">
                      <p:embed/>
                      <p:pic>
                        <p:nvPicPr>
                          <p:cNvPr id="0" name="图片 3077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581" y="2784"/>
                            <a:ext cx="215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0" name="Object 47"/>
              <p:cNvGraphicFramePr>
                <a:graphicFrameLocks noChangeAspect="1"/>
              </p:cNvGraphicFramePr>
              <p:nvPr/>
            </p:nvGraphicFramePr>
            <p:xfrm>
              <a:off x="4581" y="2387"/>
              <a:ext cx="409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241300" imgH="165100" progId="Equation.3">
                      <p:embed/>
                    </p:oleObj>
                  </mc:Choice>
                  <mc:Fallback>
                    <p:oleObj r:id="rId10" imgW="241300" imgH="165100" progId="Equation.3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4581" y="2387"/>
                            <a:ext cx="409" cy="27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191" name="Object 48"/>
              <p:cNvGraphicFramePr>
                <a:graphicFrameLocks noChangeAspect="1"/>
              </p:cNvGraphicFramePr>
              <p:nvPr/>
            </p:nvGraphicFramePr>
            <p:xfrm>
              <a:off x="4638" y="1905"/>
              <a:ext cx="627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368300" imgH="203200" progId="Equation.3">
                      <p:embed/>
                    </p:oleObj>
                  </mc:Choice>
                  <mc:Fallback>
                    <p:oleObj r:id="rId12" imgW="368300" imgH="203200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4638" y="1905"/>
                            <a:ext cx="627" cy="3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00753" name="Object 49"/>
          <p:cNvGraphicFramePr>
            <a:graphicFrameLocks noChangeAspect="1"/>
          </p:cNvGraphicFramePr>
          <p:nvPr/>
        </p:nvGraphicFramePr>
        <p:xfrm>
          <a:off x="701675" y="638175"/>
          <a:ext cx="250825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875665" imgH="355600" progId="Equation.3">
                  <p:embed/>
                </p:oleObj>
              </mc:Choice>
              <mc:Fallback>
                <p:oleObj r:id="rId14" imgW="875665" imgH="355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1675" y="638175"/>
                        <a:ext cx="250825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54" name="Object 50"/>
          <p:cNvGraphicFramePr>
            <a:graphicFrameLocks noChangeAspect="1"/>
          </p:cNvGraphicFramePr>
          <p:nvPr/>
        </p:nvGraphicFramePr>
        <p:xfrm>
          <a:off x="566738" y="1628775"/>
          <a:ext cx="835818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882900" imgH="381000" progId="Equation.3">
                  <p:embed/>
                </p:oleObj>
              </mc:Choice>
              <mc:Fallback>
                <p:oleObj r:id="rId16" imgW="2882900" imgH="3810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6738" y="1628775"/>
                        <a:ext cx="8358187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1"/>
          <p:cNvGrpSpPr/>
          <p:nvPr/>
        </p:nvGrpSpPr>
        <p:grpSpPr>
          <a:xfrm>
            <a:off x="1241425" y="1898650"/>
            <a:ext cx="5486400" cy="685800"/>
            <a:chOff x="672" y="3024"/>
            <a:chExt cx="3456" cy="432"/>
          </a:xfrm>
        </p:grpSpPr>
        <p:sp>
          <p:nvSpPr>
            <p:cNvPr id="50195" name="Line 52"/>
            <p:cNvSpPr/>
            <p:nvPr/>
          </p:nvSpPr>
          <p:spPr>
            <a:xfrm>
              <a:off x="672" y="3024"/>
              <a:ext cx="912" cy="432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196" name="Line 53"/>
            <p:cNvSpPr/>
            <p:nvPr/>
          </p:nvSpPr>
          <p:spPr>
            <a:xfrm>
              <a:off x="3216" y="3024"/>
              <a:ext cx="912" cy="432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200759" name="Object 55"/>
          <p:cNvGraphicFramePr>
            <a:graphicFrameLocks noChangeAspect="1"/>
          </p:cNvGraphicFramePr>
          <p:nvPr/>
        </p:nvGraphicFramePr>
        <p:xfrm>
          <a:off x="701675" y="2754313"/>
          <a:ext cx="44831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638300" imgH="457200" progId="Equation.3">
                  <p:embed/>
                </p:oleObj>
              </mc:Choice>
              <mc:Fallback>
                <p:oleObj r:id="rId18" imgW="1638300" imgH="457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01675" y="2754313"/>
                        <a:ext cx="4483100" cy="1235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60" name="Object 56"/>
          <p:cNvGraphicFramePr>
            <a:graphicFrameLocks noChangeAspect="1"/>
          </p:cNvGraphicFramePr>
          <p:nvPr/>
        </p:nvGraphicFramePr>
        <p:xfrm>
          <a:off x="1196975" y="5184775"/>
          <a:ext cx="19113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698500" imgH="431800" progId="Equation.3">
                  <p:embed/>
                </p:oleObj>
              </mc:Choice>
              <mc:Fallback>
                <p:oleObj r:id="rId20" imgW="698500" imgH="431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96975" y="5184775"/>
                        <a:ext cx="1911350" cy="1166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62" name="Object 58"/>
          <p:cNvGraphicFramePr>
            <a:graphicFrameLocks noChangeAspect="1"/>
          </p:cNvGraphicFramePr>
          <p:nvPr/>
        </p:nvGraphicFramePr>
        <p:xfrm>
          <a:off x="3336925" y="4017963"/>
          <a:ext cx="2173288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748665" imgH="381000" progId="Equation.3">
                  <p:embed/>
                </p:oleObj>
              </mc:Choice>
              <mc:Fallback>
                <p:oleObj r:id="rId22" imgW="748665" imgH="3810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336925" y="4017963"/>
                        <a:ext cx="2173288" cy="110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3"/>
          <p:cNvGrpSpPr/>
          <p:nvPr/>
        </p:nvGrpSpPr>
        <p:grpSpPr>
          <a:xfrm>
            <a:off x="701675" y="4064000"/>
            <a:ext cx="2581275" cy="1020763"/>
            <a:chOff x="442" y="2560"/>
            <a:chExt cx="1626" cy="643"/>
          </a:xfrm>
        </p:grpSpPr>
        <p:graphicFrame>
          <p:nvGraphicFramePr>
            <p:cNvPr id="50201" name="Object 57"/>
            <p:cNvGraphicFramePr>
              <a:graphicFrameLocks noChangeAspect="1"/>
            </p:cNvGraphicFramePr>
            <p:nvPr/>
          </p:nvGraphicFramePr>
          <p:xfrm>
            <a:off x="442" y="2560"/>
            <a:ext cx="1626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901065" imgH="355600" progId="Equation.3">
                    <p:embed/>
                  </p:oleObj>
                </mc:Choice>
                <mc:Fallback>
                  <p:oleObj r:id="rId24" imgW="901065" imgH="3556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442" y="2560"/>
                          <a:ext cx="1626" cy="6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202" name="Object 59"/>
            <p:cNvGraphicFramePr>
              <a:graphicFrameLocks noChangeAspect="1"/>
            </p:cNvGraphicFramePr>
            <p:nvPr/>
          </p:nvGraphicFramePr>
          <p:xfrm>
            <a:off x="1192" y="2956"/>
            <a:ext cx="22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03200" imgH="215900" progId="Equation.3">
                    <p:embed/>
                  </p:oleObj>
                </mc:Choice>
                <mc:Fallback>
                  <p:oleObj r:id="rId26" imgW="203200" imgH="2159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192" y="2956"/>
                          <a:ext cx="225" cy="240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4"/>
          <p:cNvSpPr txBox="1"/>
          <p:nvPr/>
        </p:nvSpPr>
        <p:spPr>
          <a:xfrm>
            <a:off x="2879725" y="420688"/>
            <a:ext cx="3740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4000" dirty="0">
                <a:latin typeface="Verdana" panose="020B0604030504040204" pitchFamily="34" charset="0"/>
                <a:ea typeface="华文中宋" panose="02010600040101010101" pitchFamily="2" charset="-122"/>
              </a:rPr>
              <a:t>静电场中的导体</a:t>
            </a:r>
          </a:p>
        </p:txBody>
      </p:sp>
      <p:pic>
        <p:nvPicPr>
          <p:cNvPr id="51202" name="Picture 2" descr="IMAGE00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4263"/>
            <a:ext cx="9144000" cy="2106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3" name="等腰三角形 5"/>
          <p:cNvSpPr/>
          <p:nvPr/>
        </p:nvSpPr>
        <p:spPr>
          <a:xfrm>
            <a:off x="203200" y="2322513"/>
            <a:ext cx="536575" cy="46355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 descr="IMAGE0007"/>
          <p:cNvPicPr>
            <a:picLocks noChangeAspect="1"/>
          </p:cNvPicPr>
          <p:nvPr/>
        </p:nvPicPr>
        <p:blipFill>
          <a:blip r:embed="rId2"/>
          <a:srcRect l="22144" t="10670" r="7242" b="20227"/>
          <a:stretch>
            <a:fillRect/>
          </a:stretch>
        </p:blipFill>
        <p:spPr>
          <a:xfrm>
            <a:off x="2393950" y="4322763"/>
            <a:ext cx="2784475" cy="2138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0" name="Picture 3" descr="IMAGE0008"/>
          <p:cNvPicPr>
            <a:picLocks noChangeAspect="1"/>
          </p:cNvPicPr>
          <p:nvPr/>
        </p:nvPicPr>
        <p:blipFill>
          <a:blip r:embed="rId3"/>
          <a:srcRect t="10294"/>
          <a:stretch>
            <a:fillRect/>
          </a:stretch>
        </p:blipFill>
        <p:spPr>
          <a:xfrm>
            <a:off x="541338" y="238125"/>
            <a:ext cx="7805737" cy="4084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3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562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等腰三角形 3"/>
          <p:cNvSpPr/>
          <p:nvPr/>
        </p:nvSpPr>
        <p:spPr>
          <a:xfrm>
            <a:off x="179388" y="1016000"/>
            <a:ext cx="536575" cy="4651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2800" b="1" dirty="0">
              <a:solidFill>
                <a:srgbClr val="000000"/>
              </a:solidFill>
              <a:latin typeface="Verdana" panose="020B0604030504040204" pitchFamily="34" charset="0"/>
              <a:ea typeface="华文中宋" panose="02010600040101010101" pitchFamily="2" charset="-122"/>
            </a:endParaRPr>
          </a:p>
        </p:txBody>
      </p:sp>
      <p:pic>
        <p:nvPicPr>
          <p:cNvPr id="17410" name="Picture 4" descr="IMAGE00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9388" y="404495"/>
            <a:ext cx="8915400" cy="3724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IMAGE00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4326" t="5394"/>
          <a:stretch>
            <a:fillRect/>
          </a:stretch>
        </p:blipFill>
        <p:spPr>
          <a:xfrm>
            <a:off x="260350" y="692785"/>
            <a:ext cx="8662670" cy="268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2" name="Picture 4" descr="IMAGE00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l="1176" t="6606" r="5113"/>
          <a:stretch>
            <a:fillRect/>
          </a:stretch>
        </p:blipFill>
        <p:spPr>
          <a:xfrm>
            <a:off x="467995" y="3860483"/>
            <a:ext cx="8569325" cy="1774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4" descr="IMAGE0025"/>
          <p:cNvPicPr>
            <a:picLocks noGrp="1" noChangeAspect="1"/>
          </p:cNvPicPr>
          <p:nvPr>
            <p:ph idx="1"/>
          </p:nvPr>
        </p:nvPicPr>
        <p:blipFill>
          <a:blip r:embed="rId3"/>
          <a:srcRect l="1576" t="9171" r="2361"/>
          <a:stretch>
            <a:fillRect/>
          </a:stretch>
        </p:blipFill>
        <p:spPr>
          <a:xfrm>
            <a:off x="179388" y="1089025"/>
            <a:ext cx="8783637" cy="2905125"/>
          </a:xfrm>
        </p:spPr>
      </p:pic>
      <p:pic>
        <p:nvPicPr>
          <p:cNvPr id="15362" name="Picture 5" descr="IMAGE00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t="16168" r="3146"/>
          <a:stretch>
            <a:fillRect/>
          </a:stretch>
        </p:blipFill>
        <p:spPr>
          <a:xfrm>
            <a:off x="107950" y="4508500"/>
            <a:ext cx="8855075" cy="186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Text Box 6"/>
          <p:cNvSpPr txBox="1"/>
          <p:nvPr/>
        </p:nvSpPr>
        <p:spPr>
          <a:xfrm>
            <a:off x="3352800" y="71438"/>
            <a:ext cx="3232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4000" dirty="0">
                <a:latin typeface="Arial" panose="020B0604020202020204" pitchFamily="34" charset="0"/>
                <a:ea typeface="宋体" panose="02010600030101010101" pitchFamily="2" charset="-122"/>
              </a:rPr>
              <a:t>静电场的能量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00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3542" t="8980" r="3146" b="9138"/>
          <a:stretch>
            <a:fillRect/>
          </a:stretch>
        </p:blipFill>
        <p:spPr>
          <a:xfrm>
            <a:off x="467995" y="2420620"/>
            <a:ext cx="8154670" cy="39928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2" name="Picture 5" descr="IMAGE00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16168" r="3146"/>
          <a:stretch>
            <a:fillRect/>
          </a:stretch>
        </p:blipFill>
        <p:spPr>
          <a:xfrm>
            <a:off x="395605" y="332740"/>
            <a:ext cx="8095615" cy="1866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4" descr="IMAGE0016"/>
          <p:cNvPicPr>
            <a:picLocks noChangeAspect="1"/>
          </p:cNvPicPr>
          <p:nvPr/>
        </p:nvPicPr>
        <p:blipFill>
          <a:blip r:embed="rId2"/>
          <a:srcRect l="1965" t="19218" r="5112" b="6432"/>
          <a:stretch>
            <a:fillRect/>
          </a:stretch>
        </p:blipFill>
        <p:spPr>
          <a:xfrm>
            <a:off x="215900" y="657225"/>
            <a:ext cx="8496300" cy="1871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xfrm>
            <a:off x="1371600" y="0"/>
            <a:ext cx="7772400" cy="1555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sz="700" dirty="0">
                <a:solidFill>
                  <a:schemeClr val="bg1"/>
                </a:solidFill>
              </a:rPr>
              <a:t>应用举例</a:t>
            </a:r>
          </a:p>
        </p:txBody>
      </p:sp>
      <p:sp>
        <p:nvSpPr>
          <p:cNvPr id="45058" name="Rectangle 3" descr="羊皮纸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59" name="Rectangle 5" descr="羊皮纸"/>
          <p:cNvSpPr/>
          <p:nvPr/>
        </p:nvSpPr>
        <p:spPr>
          <a:xfrm>
            <a:off x="0" y="6105525"/>
            <a:ext cx="9144000" cy="7524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703263" y="1011238"/>
            <a:ext cx="7658100" cy="1044575"/>
            <a:chOff x="443" y="637"/>
            <a:chExt cx="4824" cy="658"/>
          </a:xfrm>
        </p:grpSpPr>
        <p:grpSp>
          <p:nvGrpSpPr>
            <p:cNvPr id="45061" name="Group 7"/>
            <p:cNvGrpSpPr/>
            <p:nvPr/>
          </p:nvGrpSpPr>
          <p:grpSpPr>
            <a:xfrm>
              <a:off x="708" y="922"/>
              <a:ext cx="4276" cy="373"/>
              <a:chOff x="738" y="712"/>
              <a:chExt cx="4276" cy="373"/>
            </a:xfrm>
          </p:grpSpPr>
          <p:grpSp>
            <p:nvGrpSpPr>
              <p:cNvPr id="45062" name="Group 8"/>
              <p:cNvGrpSpPr/>
              <p:nvPr/>
            </p:nvGrpSpPr>
            <p:grpSpPr>
              <a:xfrm rot="5400000">
                <a:off x="1206" y="802"/>
                <a:ext cx="56" cy="169"/>
                <a:chOff x="2928" y="3216"/>
                <a:chExt cx="48" cy="240"/>
              </a:xfrm>
            </p:grpSpPr>
            <p:sp>
              <p:nvSpPr>
                <p:cNvPr id="45063" name="Line 9"/>
                <p:cNvSpPr/>
                <p:nvPr/>
              </p:nvSpPr>
              <p:spPr>
                <a:xfrm>
                  <a:off x="2928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5064" name="Line 10"/>
                <p:cNvSpPr/>
                <p:nvPr/>
              </p:nvSpPr>
              <p:spPr>
                <a:xfrm>
                  <a:off x="2976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5065" name="Oval 11"/>
              <p:cNvSpPr/>
              <p:nvPr/>
            </p:nvSpPr>
            <p:spPr>
              <a:xfrm>
                <a:off x="1996" y="894"/>
                <a:ext cx="46" cy="42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45066" name="Group 12"/>
              <p:cNvGrpSpPr/>
              <p:nvPr/>
            </p:nvGrpSpPr>
            <p:grpSpPr>
              <a:xfrm>
                <a:off x="1701" y="765"/>
                <a:ext cx="301" cy="227"/>
                <a:chOff x="877" y="2193"/>
                <a:chExt cx="214" cy="178"/>
              </a:xfrm>
            </p:grpSpPr>
            <p:sp>
              <p:nvSpPr>
                <p:cNvPr id="45067" name="WordArt 13"/>
                <p:cNvSpPr>
                  <a:spLocks noTextEdit="1"/>
                </p:cNvSpPr>
                <p:nvPr/>
              </p:nvSpPr>
              <p:spPr>
                <a:xfrm>
                  <a:off x="877" y="2239"/>
                  <a:ext cx="154" cy="13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45068" name="Line 14"/>
                <p:cNvSpPr/>
                <p:nvPr/>
              </p:nvSpPr>
              <p:spPr>
                <a:xfrm>
                  <a:off x="899" y="2193"/>
                  <a:ext cx="1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45069" name="Group 15"/>
              <p:cNvGrpSpPr/>
              <p:nvPr/>
            </p:nvGrpSpPr>
            <p:grpSpPr>
              <a:xfrm>
                <a:off x="2118" y="775"/>
                <a:ext cx="293" cy="240"/>
                <a:chOff x="1942" y="2678"/>
                <a:chExt cx="322" cy="295"/>
              </a:xfrm>
            </p:grpSpPr>
            <p:sp>
              <p:nvSpPr>
                <p:cNvPr id="45070" name="WordArt 16"/>
                <p:cNvSpPr>
                  <a:spLocks noTextEdit="1"/>
                </p:cNvSpPr>
                <p:nvPr/>
              </p:nvSpPr>
              <p:spPr>
                <a:xfrm>
                  <a:off x="1942" y="2702"/>
                  <a:ext cx="117" cy="271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1800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45071" name="WordArt 17"/>
                <p:cNvSpPr>
                  <a:spLocks noTextEdit="1"/>
                </p:cNvSpPr>
                <p:nvPr/>
              </p:nvSpPr>
              <p:spPr>
                <a:xfrm>
                  <a:off x="2070" y="2779"/>
                  <a:ext cx="124" cy="18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5072" name="Line 18"/>
                <p:cNvSpPr/>
                <p:nvPr/>
              </p:nvSpPr>
              <p:spPr>
                <a:xfrm>
                  <a:off x="2044" y="2678"/>
                  <a:ext cx="220" cy="2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45073" name="Group 19"/>
              <p:cNvGrpSpPr/>
              <p:nvPr/>
            </p:nvGrpSpPr>
            <p:grpSpPr>
              <a:xfrm rot="5400000">
                <a:off x="2479" y="822"/>
                <a:ext cx="56" cy="170"/>
                <a:chOff x="2928" y="3216"/>
                <a:chExt cx="48" cy="240"/>
              </a:xfrm>
            </p:grpSpPr>
            <p:sp>
              <p:nvSpPr>
                <p:cNvPr id="45074" name="Line 20"/>
                <p:cNvSpPr/>
                <p:nvPr/>
              </p:nvSpPr>
              <p:spPr>
                <a:xfrm>
                  <a:off x="2928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5075" name="Line 21"/>
                <p:cNvSpPr/>
                <p:nvPr/>
              </p:nvSpPr>
              <p:spPr>
                <a:xfrm>
                  <a:off x="2976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5076" name="Group 22"/>
              <p:cNvGrpSpPr/>
              <p:nvPr/>
            </p:nvGrpSpPr>
            <p:grpSpPr>
              <a:xfrm rot="5400000">
                <a:off x="4020" y="818"/>
                <a:ext cx="56" cy="170"/>
                <a:chOff x="2928" y="3216"/>
                <a:chExt cx="48" cy="240"/>
              </a:xfrm>
            </p:grpSpPr>
            <p:sp>
              <p:nvSpPr>
                <p:cNvPr id="45077" name="Line 23"/>
                <p:cNvSpPr/>
                <p:nvPr/>
              </p:nvSpPr>
              <p:spPr>
                <a:xfrm>
                  <a:off x="2928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45078" name="Line 24"/>
                <p:cNvSpPr/>
                <p:nvPr/>
              </p:nvSpPr>
              <p:spPr>
                <a:xfrm>
                  <a:off x="2976" y="3216"/>
                  <a:ext cx="0" cy="240"/>
                </a:xfrm>
                <a:prstGeom prst="line">
                  <a:avLst/>
                </a:prstGeom>
                <a:ln w="571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5079" name="Group 25"/>
              <p:cNvGrpSpPr/>
              <p:nvPr/>
            </p:nvGrpSpPr>
            <p:grpSpPr>
              <a:xfrm>
                <a:off x="4812" y="804"/>
                <a:ext cx="202" cy="216"/>
                <a:chOff x="4611" y="2714"/>
                <a:chExt cx="222" cy="222"/>
              </a:xfrm>
            </p:grpSpPr>
            <p:sp>
              <p:nvSpPr>
                <p:cNvPr id="45080" name="WordArt 26"/>
                <p:cNvSpPr>
                  <a:spLocks noTextEdit="1"/>
                </p:cNvSpPr>
                <p:nvPr/>
              </p:nvSpPr>
              <p:spPr>
                <a:xfrm>
                  <a:off x="4611" y="2714"/>
                  <a:ext cx="138" cy="20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45081" name="WordArt 27"/>
                <p:cNvSpPr>
                  <a:spLocks noTextEdit="1"/>
                </p:cNvSpPr>
                <p:nvPr/>
              </p:nvSpPr>
              <p:spPr>
                <a:xfrm>
                  <a:off x="4745" y="2802"/>
                  <a:ext cx="88" cy="13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i</a:t>
                  </a:r>
                </a:p>
              </p:txBody>
            </p:sp>
          </p:grpSp>
          <p:sp>
            <p:nvSpPr>
              <p:cNvPr id="45082" name="WordArt 28"/>
              <p:cNvSpPr>
                <a:spLocks noTextEdit="1"/>
              </p:cNvSpPr>
              <p:nvPr/>
            </p:nvSpPr>
            <p:spPr>
              <a:xfrm>
                <a:off x="4499" y="815"/>
                <a:ext cx="244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S</a:t>
                </a:r>
              </a:p>
            </p:txBody>
          </p:sp>
          <p:sp>
            <p:nvSpPr>
              <p:cNvPr id="45083" name="Line 29"/>
              <p:cNvSpPr/>
              <p:nvPr/>
            </p:nvSpPr>
            <p:spPr>
              <a:xfrm>
                <a:off x="4179" y="891"/>
                <a:ext cx="2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45084" name="Group 30"/>
              <p:cNvGrpSpPr/>
              <p:nvPr/>
            </p:nvGrpSpPr>
            <p:grpSpPr>
              <a:xfrm>
                <a:off x="4189" y="917"/>
                <a:ext cx="220" cy="168"/>
                <a:chOff x="3275" y="3175"/>
                <a:chExt cx="241" cy="207"/>
              </a:xfrm>
            </p:grpSpPr>
            <p:sp>
              <p:nvSpPr>
                <p:cNvPr id="45085" name="WordArt 31"/>
                <p:cNvSpPr>
                  <a:spLocks noTextEdit="1"/>
                </p:cNvSpPr>
                <p:nvPr/>
              </p:nvSpPr>
              <p:spPr>
                <a:xfrm>
                  <a:off x="3275" y="3175"/>
                  <a:ext cx="173" cy="18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e</a:t>
                  </a:r>
                </a:p>
              </p:txBody>
            </p:sp>
            <p:sp>
              <p:nvSpPr>
                <p:cNvPr id="45086" name="WordArt 32"/>
                <p:cNvSpPr>
                  <a:spLocks noTextEdit="1"/>
                </p:cNvSpPr>
                <p:nvPr/>
              </p:nvSpPr>
              <p:spPr>
                <a:xfrm>
                  <a:off x="3441" y="3279"/>
                  <a:ext cx="75" cy="10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</p:txBody>
            </p:sp>
          </p:grpSp>
          <p:sp>
            <p:nvSpPr>
              <p:cNvPr id="45087" name="WordArt 33"/>
              <p:cNvSpPr>
                <a:spLocks noTextEdit="1"/>
              </p:cNvSpPr>
              <p:nvPr/>
            </p:nvSpPr>
            <p:spPr>
              <a:xfrm>
                <a:off x="4276" y="712"/>
                <a:ext cx="64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  <p:grpSp>
            <p:nvGrpSpPr>
              <p:cNvPr id="45088" name="Group 34"/>
              <p:cNvGrpSpPr/>
              <p:nvPr/>
            </p:nvGrpSpPr>
            <p:grpSpPr>
              <a:xfrm rot="123913">
                <a:off x="1380" y="738"/>
                <a:ext cx="135" cy="315"/>
                <a:chOff x="4590" y="526"/>
                <a:chExt cx="529" cy="1700"/>
              </a:xfrm>
            </p:grpSpPr>
            <p:sp>
              <p:nvSpPr>
                <p:cNvPr id="45089" name="Oval 35"/>
                <p:cNvSpPr/>
                <p:nvPr/>
              </p:nvSpPr>
              <p:spPr>
                <a:xfrm>
                  <a:off x="4590" y="2095"/>
                  <a:ext cx="124" cy="131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090" name="Oval 36"/>
                <p:cNvSpPr/>
                <p:nvPr/>
              </p:nvSpPr>
              <p:spPr>
                <a:xfrm>
                  <a:off x="4995" y="526"/>
                  <a:ext cx="124" cy="13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091" name="Freeform 37"/>
                <p:cNvSpPr/>
                <p:nvPr/>
              </p:nvSpPr>
              <p:spPr>
                <a:xfrm>
                  <a:off x="4684" y="539"/>
                  <a:ext cx="338" cy="1677"/>
                </a:xfrm>
                <a:custGeom>
                  <a:avLst/>
                  <a:gdLst/>
                  <a:ahLst/>
                  <a:cxnLst>
                    <a:cxn ang="0">
                      <a:pos x="24" y="1669"/>
                    </a:cxn>
                    <a:cxn ang="0">
                      <a:pos x="160" y="1517"/>
                    </a:cxn>
                    <a:cxn ang="0">
                      <a:pos x="236" y="1329"/>
                    </a:cxn>
                    <a:cxn ang="0">
                      <a:pos x="248" y="849"/>
                    </a:cxn>
                    <a:cxn ang="0">
                      <a:pos x="232" y="481"/>
                    </a:cxn>
                    <a:cxn ang="0">
                      <a:pos x="236" y="233"/>
                    </a:cxn>
                    <a:cxn ang="0">
                      <a:pos x="268" y="105"/>
                    </a:cxn>
                    <a:cxn ang="0">
                      <a:pos x="336" y="5"/>
                    </a:cxn>
                    <a:cxn ang="0">
                      <a:pos x="256" y="73"/>
                    </a:cxn>
                    <a:cxn ang="0">
                      <a:pos x="180" y="169"/>
                    </a:cxn>
                    <a:cxn ang="0">
                      <a:pos x="128" y="309"/>
                    </a:cxn>
                    <a:cxn ang="0">
                      <a:pos x="116" y="573"/>
                    </a:cxn>
                    <a:cxn ang="0">
                      <a:pos x="124" y="861"/>
                    </a:cxn>
                    <a:cxn ang="0">
                      <a:pos x="128" y="1213"/>
                    </a:cxn>
                    <a:cxn ang="0">
                      <a:pos x="124" y="1381"/>
                    </a:cxn>
                    <a:cxn ang="0">
                      <a:pos x="0" y="1677"/>
                    </a:cxn>
                  </a:cxnLst>
                  <a:rect l="0" t="0" r="0" b="0"/>
                  <a:pathLst>
                    <a:path w="338" h="1677">
                      <a:moveTo>
                        <a:pt x="24" y="1669"/>
                      </a:moveTo>
                      <a:cubicBezTo>
                        <a:pt x="74" y="1621"/>
                        <a:pt x="125" y="1574"/>
                        <a:pt x="160" y="1517"/>
                      </a:cubicBezTo>
                      <a:cubicBezTo>
                        <a:pt x="195" y="1460"/>
                        <a:pt x="221" y="1440"/>
                        <a:pt x="236" y="1329"/>
                      </a:cubicBezTo>
                      <a:cubicBezTo>
                        <a:pt x="251" y="1218"/>
                        <a:pt x="249" y="990"/>
                        <a:pt x="248" y="849"/>
                      </a:cubicBezTo>
                      <a:cubicBezTo>
                        <a:pt x="247" y="708"/>
                        <a:pt x="234" y="584"/>
                        <a:pt x="232" y="481"/>
                      </a:cubicBezTo>
                      <a:cubicBezTo>
                        <a:pt x="230" y="378"/>
                        <a:pt x="230" y="296"/>
                        <a:pt x="236" y="233"/>
                      </a:cubicBezTo>
                      <a:cubicBezTo>
                        <a:pt x="242" y="170"/>
                        <a:pt x="251" y="143"/>
                        <a:pt x="268" y="105"/>
                      </a:cubicBezTo>
                      <a:cubicBezTo>
                        <a:pt x="285" y="67"/>
                        <a:pt x="338" y="10"/>
                        <a:pt x="336" y="5"/>
                      </a:cubicBezTo>
                      <a:cubicBezTo>
                        <a:pt x="334" y="0"/>
                        <a:pt x="282" y="46"/>
                        <a:pt x="256" y="73"/>
                      </a:cubicBezTo>
                      <a:cubicBezTo>
                        <a:pt x="230" y="100"/>
                        <a:pt x="201" y="130"/>
                        <a:pt x="180" y="169"/>
                      </a:cubicBezTo>
                      <a:cubicBezTo>
                        <a:pt x="159" y="208"/>
                        <a:pt x="139" y="242"/>
                        <a:pt x="128" y="309"/>
                      </a:cubicBezTo>
                      <a:cubicBezTo>
                        <a:pt x="117" y="376"/>
                        <a:pt x="117" y="481"/>
                        <a:pt x="116" y="573"/>
                      </a:cubicBezTo>
                      <a:cubicBezTo>
                        <a:pt x="115" y="665"/>
                        <a:pt x="122" y="754"/>
                        <a:pt x="124" y="861"/>
                      </a:cubicBezTo>
                      <a:cubicBezTo>
                        <a:pt x="126" y="968"/>
                        <a:pt x="128" y="1126"/>
                        <a:pt x="128" y="1213"/>
                      </a:cubicBezTo>
                      <a:cubicBezTo>
                        <a:pt x="128" y="1300"/>
                        <a:pt x="145" y="1304"/>
                        <a:pt x="124" y="1381"/>
                      </a:cubicBezTo>
                      <a:cubicBezTo>
                        <a:pt x="103" y="1458"/>
                        <a:pt x="51" y="1567"/>
                        <a:pt x="0" y="1677"/>
                      </a:cubicBezTo>
                    </a:path>
                  </a:pathLst>
                </a:cu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092" name="Group 38"/>
              <p:cNvGrpSpPr/>
              <p:nvPr/>
            </p:nvGrpSpPr>
            <p:grpSpPr>
              <a:xfrm rot="123913">
                <a:off x="1448" y="740"/>
                <a:ext cx="135" cy="315"/>
                <a:chOff x="4590" y="526"/>
                <a:chExt cx="529" cy="1700"/>
              </a:xfrm>
            </p:grpSpPr>
            <p:sp>
              <p:nvSpPr>
                <p:cNvPr id="45093" name="Oval 39"/>
                <p:cNvSpPr/>
                <p:nvPr/>
              </p:nvSpPr>
              <p:spPr>
                <a:xfrm>
                  <a:off x="4590" y="2095"/>
                  <a:ext cx="124" cy="131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094" name="Oval 40"/>
                <p:cNvSpPr/>
                <p:nvPr/>
              </p:nvSpPr>
              <p:spPr>
                <a:xfrm>
                  <a:off x="4995" y="526"/>
                  <a:ext cx="124" cy="13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095" name="Freeform 41"/>
                <p:cNvSpPr/>
                <p:nvPr/>
              </p:nvSpPr>
              <p:spPr>
                <a:xfrm>
                  <a:off x="4684" y="539"/>
                  <a:ext cx="338" cy="1677"/>
                </a:xfrm>
                <a:custGeom>
                  <a:avLst/>
                  <a:gdLst/>
                  <a:ahLst/>
                  <a:cxnLst>
                    <a:cxn ang="0">
                      <a:pos x="24" y="1669"/>
                    </a:cxn>
                    <a:cxn ang="0">
                      <a:pos x="160" y="1517"/>
                    </a:cxn>
                    <a:cxn ang="0">
                      <a:pos x="236" y="1329"/>
                    </a:cxn>
                    <a:cxn ang="0">
                      <a:pos x="248" y="849"/>
                    </a:cxn>
                    <a:cxn ang="0">
                      <a:pos x="232" y="481"/>
                    </a:cxn>
                    <a:cxn ang="0">
                      <a:pos x="236" y="233"/>
                    </a:cxn>
                    <a:cxn ang="0">
                      <a:pos x="268" y="105"/>
                    </a:cxn>
                    <a:cxn ang="0">
                      <a:pos x="336" y="5"/>
                    </a:cxn>
                    <a:cxn ang="0">
                      <a:pos x="256" y="73"/>
                    </a:cxn>
                    <a:cxn ang="0">
                      <a:pos x="180" y="169"/>
                    </a:cxn>
                    <a:cxn ang="0">
                      <a:pos x="128" y="309"/>
                    </a:cxn>
                    <a:cxn ang="0">
                      <a:pos x="116" y="573"/>
                    </a:cxn>
                    <a:cxn ang="0">
                      <a:pos x="124" y="861"/>
                    </a:cxn>
                    <a:cxn ang="0">
                      <a:pos x="128" y="1213"/>
                    </a:cxn>
                    <a:cxn ang="0">
                      <a:pos x="124" y="1381"/>
                    </a:cxn>
                    <a:cxn ang="0">
                      <a:pos x="0" y="1677"/>
                    </a:cxn>
                  </a:cxnLst>
                  <a:rect l="0" t="0" r="0" b="0"/>
                  <a:pathLst>
                    <a:path w="338" h="1677">
                      <a:moveTo>
                        <a:pt x="24" y="1669"/>
                      </a:moveTo>
                      <a:cubicBezTo>
                        <a:pt x="74" y="1621"/>
                        <a:pt x="125" y="1574"/>
                        <a:pt x="160" y="1517"/>
                      </a:cubicBezTo>
                      <a:cubicBezTo>
                        <a:pt x="195" y="1460"/>
                        <a:pt x="221" y="1440"/>
                        <a:pt x="236" y="1329"/>
                      </a:cubicBezTo>
                      <a:cubicBezTo>
                        <a:pt x="251" y="1218"/>
                        <a:pt x="249" y="990"/>
                        <a:pt x="248" y="849"/>
                      </a:cubicBezTo>
                      <a:cubicBezTo>
                        <a:pt x="247" y="708"/>
                        <a:pt x="234" y="584"/>
                        <a:pt x="232" y="481"/>
                      </a:cubicBezTo>
                      <a:cubicBezTo>
                        <a:pt x="230" y="378"/>
                        <a:pt x="230" y="296"/>
                        <a:pt x="236" y="233"/>
                      </a:cubicBezTo>
                      <a:cubicBezTo>
                        <a:pt x="242" y="170"/>
                        <a:pt x="251" y="143"/>
                        <a:pt x="268" y="105"/>
                      </a:cubicBezTo>
                      <a:cubicBezTo>
                        <a:pt x="285" y="67"/>
                        <a:pt x="338" y="10"/>
                        <a:pt x="336" y="5"/>
                      </a:cubicBezTo>
                      <a:cubicBezTo>
                        <a:pt x="334" y="0"/>
                        <a:pt x="282" y="46"/>
                        <a:pt x="256" y="73"/>
                      </a:cubicBezTo>
                      <a:cubicBezTo>
                        <a:pt x="230" y="100"/>
                        <a:pt x="201" y="130"/>
                        <a:pt x="180" y="169"/>
                      </a:cubicBezTo>
                      <a:cubicBezTo>
                        <a:pt x="159" y="208"/>
                        <a:pt x="139" y="242"/>
                        <a:pt x="128" y="309"/>
                      </a:cubicBezTo>
                      <a:cubicBezTo>
                        <a:pt x="117" y="376"/>
                        <a:pt x="117" y="481"/>
                        <a:pt x="116" y="573"/>
                      </a:cubicBezTo>
                      <a:cubicBezTo>
                        <a:pt x="115" y="665"/>
                        <a:pt x="122" y="754"/>
                        <a:pt x="124" y="861"/>
                      </a:cubicBezTo>
                      <a:cubicBezTo>
                        <a:pt x="126" y="968"/>
                        <a:pt x="128" y="1126"/>
                        <a:pt x="128" y="1213"/>
                      </a:cubicBezTo>
                      <a:cubicBezTo>
                        <a:pt x="128" y="1300"/>
                        <a:pt x="145" y="1304"/>
                        <a:pt x="124" y="1381"/>
                      </a:cubicBezTo>
                      <a:cubicBezTo>
                        <a:pt x="103" y="1458"/>
                        <a:pt x="51" y="1567"/>
                        <a:pt x="0" y="1677"/>
                      </a:cubicBezTo>
                    </a:path>
                  </a:pathLst>
                </a:cu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096" name="WordArt 42"/>
              <p:cNvSpPr>
                <a:spLocks noTextEdit="1"/>
              </p:cNvSpPr>
              <p:nvPr/>
            </p:nvSpPr>
            <p:spPr>
              <a:xfrm>
                <a:off x="1551" y="983"/>
                <a:ext cx="86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5097" name="Oval 43"/>
              <p:cNvSpPr/>
              <p:nvPr/>
            </p:nvSpPr>
            <p:spPr>
              <a:xfrm>
                <a:off x="1384" y="795"/>
                <a:ext cx="203" cy="18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98" name="Freeform 44"/>
              <p:cNvSpPr/>
              <p:nvPr/>
            </p:nvSpPr>
            <p:spPr>
              <a:xfrm>
                <a:off x="1510" y="783"/>
                <a:ext cx="25" cy="27"/>
              </a:xfrm>
              <a:custGeom>
                <a:avLst/>
                <a:gdLst/>
                <a:ahLst/>
                <a:cxnLst>
                  <a:cxn ang="0">
                    <a:pos x="0" y="12"/>
                  </a:cxn>
                  <a:cxn ang="0">
                    <a:pos x="5" y="0"/>
                  </a:cxn>
                  <a:cxn ang="0">
                    <a:pos x="22" y="1"/>
                  </a:cxn>
                  <a:cxn ang="0">
                    <a:pos x="17" y="21"/>
                  </a:cxn>
                  <a:cxn ang="0">
                    <a:pos x="1" y="19"/>
                  </a:cxn>
                </a:cxnLst>
                <a:rect l="0" t="0" r="0" b="0"/>
                <a:pathLst>
                  <a:path w="28" h="34">
                    <a:moveTo>
                      <a:pt x="0" y="19"/>
                    </a:moveTo>
                    <a:lnTo>
                      <a:pt x="7" y="0"/>
                    </a:lnTo>
                    <a:lnTo>
                      <a:pt x="28" y="1"/>
                    </a:lnTo>
                    <a:lnTo>
                      <a:pt x="21" y="34"/>
                    </a:lnTo>
                    <a:lnTo>
                      <a:pt x="1" y="30"/>
                    </a:lnTo>
                  </a:path>
                </a:pathLst>
              </a:custGeom>
              <a:solidFill>
                <a:schemeClr val="tx1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99" name="Freeform 45"/>
              <p:cNvSpPr/>
              <p:nvPr/>
            </p:nvSpPr>
            <p:spPr>
              <a:xfrm>
                <a:off x="1436" y="775"/>
                <a:ext cx="31" cy="45"/>
              </a:xfrm>
              <a:custGeom>
                <a:avLst/>
                <a:gdLst/>
                <a:ahLst/>
                <a:cxnLst>
                  <a:cxn ang="0">
                    <a:pos x="0" y="37"/>
                  </a:cxn>
                  <a:cxn ang="0">
                    <a:pos x="1" y="24"/>
                  </a:cxn>
                  <a:cxn ang="0">
                    <a:pos x="4" y="16"/>
                  </a:cxn>
                  <a:cxn ang="0">
                    <a:pos x="7" y="10"/>
                  </a:cxn>
                  <a:cxn ang="0">
                    <a:pos x="18" y="2"/>
                  </a:cxn>
                  <a:cxn ang="0">
                    <a:pos x="28" y="0"/>
                  </a:cxn>
                  <a:cxn ang="0">
                    <a:pos x="27" y="27"/>
                  </a:cxn>
                  <a:cxn ang="0">
                    <a:pos x="24" y="35"/>
                  </a:cxn>
                  <a:cxn ang="0">
                    <a:pos x="0" y="37"/>
                  </a:cxn>
                </a:cxnLst>
                <a:rect l="0" t="0" r="0" b="0"/>
                <a:pathLst>
                  <a:path w="34" h="55">
                    <a:moveTo>
                      <a:pt x="0" y="55"/>
                    </a:moveTo>
                    <a:lnTo>
                      <a:pt x="1" y="36"/>
                    </a:lnTo>
                    <a:lnTo>
                      <a:pt x="4" y="25"/>
                    </a:lnTo>
                    <a:lnTo>
                      <a:pt x="9" y="15"/>
                    </a:lnTo>
                    <a:lnTo>
                      <a:pt x="22" y="3"/>
                    </a:lnTo>
                    <a:lnTo>
                      <a:pt x="34" y="0"/>
                    </a:lnTo>
                    <a:lnTo>
                      <a:pt x="33" y="40"/>
                    </a:lnTo>
                    <a:lnTo>
                      <a:pt x="28" y="52"/>
                    </a:lnTo>
                    <a:lnTo>
                      <a:pt x="0" y="5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5100" name="Group 46"/>
              <p:cNvGrpSpPr/>
              <p:nvPr/>
            </p:nvGrpSpPr>
            <p:grpSpPr>
              <a:xfrm>
                <a:off x="3145" y="830"/>
                <a:ext cx="489" cy="169"/>
                <a:chOff x="4882" y="3645"/>
                <a:chExt cx="490" cy="213"/>
              </a:xfrm>
            </p:grpSpPr>
            <p:sp>
              <p:nvSpPr>
                <p:cNvPr id="45101" name="WordArt 47"/>
                <p:cNvSpPr>
                  <a:spLocks noTextEdit="1"/>
                </p:cNvSpPr>
                <p:nvPr/>
              </p:nvSpPr>
              <p:spPr>
                <a:xfrm>
                  <a:off x="5215" y="3645"/>
                  <a:ext cx="157" cy="21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6968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Symbol" panose="05050102010706020507" charset="0"/>
                      <a:ea typeface="Symbol" panose="05050102010706020507" charset="0"/>
                    </a:rPr>
                    <a:t>q</a:t>
                  </a:r>
                </a:p>
              </p:txBody>
            </p:sp>
            <p:sp>
              <p:nvSpPr>
                <p:cNvPr id="45102" name="WordArt 48"/>
                <p:cNvSpPr>
                  <a:spLocks noTextEdit="1"/>
                </p:cNvSpPr>
                <p:nvPr/>
              </p:nvSpPr>
              <p:spPr>
                <a:xfrm>
                  <a:off x="4882" y="3689"/>
                  <a:ext cx="301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>
                      <a:ln w="9525" cap="flat" cmpd="sng">
                        <a:solidFill>
                          <a:schemeClr val="tx2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cos</a:t>
                  </a:r>
                </a:p>
              </p:txBody>
            </p:sp>
          </p:grpSp>
          <p:sp>
            <p:nvSpPr>
              <p:cNvPr id="45103" name="WordArt 49"/>
              <p:cNvSpPr>
                <a:spLocks noTextEdit="1"/>
              </p:cNvSpPr>
              <p:nvPr/>
            </p:nvSpPr>
            <p:spPr>
              <a:xfrm>
                <a:off x="3656" y="765"/>
                <a:ext cx="112" cy="2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1800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5104" name="WordArt 50"/>
              <p:cNvSpPr>
                <a:spLocks noTextEdit="1"/>
              </p:cNvSpPr>
              <p:nvPr/>
            </p:nvSpPr>
            <p:spPr>
              <a:xfrm>
                <a:off x="3778" y="838"/>
                <a:ext cx="117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5105" name="WordArt 51"/>
              <p:cNvSpPr>
                <a:spLocks noTextEdit="1"/>
              </p:cNvSpPr>
              <p:nvPr/>
            </p:nvSpPr>
            <p:spPr>
              <a:xfrm>
                <a:off x="2916" y="826"/>
                <a:ext cx="191" cy="1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</a:t>
                </a:r>
              </a:p>
            </p:txBody>
          </p:sp>
          <p:grpSp>
            <p:nvGrpSpPr>
              <p:cNvPr id="45106" name="Group 52"/>
              <p:cNvGrpSpPr/>
              <p:nvPr/>
            </p:nvGrpSpPr>
            <p:grpSpPr>
              <a:xfrm rot="123913">
                <a:off x="2645" y="750"/>
                <a:ext cx="136" cy="315"/>
                <a:chOff x="4590" y="526"/>
                <a:chExt cx="529" cy="1700"/>
              </a:xfrm>
            </p:grpSpPr>
            <p:sp>
              <p:nvSpPr>
                <p:cNvPr id="45107" name="Oval 53"/>
                <p:cNvSpPr/>
                <p:nvPr/>
              </p:nvSpPr>
              <p:spPr>
                <a:xfrm>
                  <a:off x="4590" y="2095"/>
                  <a:ext cx="124" cy="131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108" name="Oval 54"/>
                <p:cNvSpPr/>
                <p:nvPr/>
              </p:nvSpPr>
              <p:spPr>
                <a:xfrm>
                  <a:off x="4995" y="526"/>
                  <a:ext cx="124" cy="13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109" name="Freeform 55"/>
                <p:cNvSpPr/>
                <p:nvPr/>
              </p:nvSpPr>
              <p:spPr>
                <a:xfrm>
                  <a:off x="4684" y="539"/>
                  <a:ext cx="338" cy="1677"/>
                </a:xfrm>
                <a:custGeom>
                  <a:avLst/>
                  <a:gdLst/>
                  <a:ahLst/>
                  <a:cxnLst>
                    <a:cxn ang="0">
                      <a:pos x="24" y="1669"/>
                    </a:cxn>
                    <a:cxn ang="0">
                      <a:pos x="160" y="1517"/>
                    </a:cxn>
                    <a:cxn ang="0">
                      <a:pos x="236" y="1329"/>
                    </a:cxn>
                    <a:cxn ang="0">
                      <a:pos x="248" y="849"/>
                    </a:cxn>
                    <a:cxn ang="0">
                      <a:pos x="232" y="481"/>
                    </a:cxn>
                    <a:cxn ang="0">
                      <a:pos x="236" y="233"/>
                    </a:cxn>
                    <a:cxn ang="0">
                      <a:pos x="268" y="105"/>
                    </a:cxn>
                    <a:cxn ang="0">
                      <a:pos x="336" y="5"/>
                    </a:cxn>
                    <a:cxn ang="0">
                      <a:pos x="256" y="73"/>
                    </a:cxn>
                    <a:cxn ang="0">
                      <a:pos x="180" y="169"/>
                    </a:cxn>
                    <a:cxn ang="0">
                      <a:pos x="128" y="309"/>
                    </a:cxn>
                    <a:cxn ang="0">
                      <a:pos x="116" y="573"/>
                    </a:cxn>
                    <a:cxn ang="0">
                      <a:pos x="124" y="861"/>
                    </a:cxn>
                    <a:cxn ang="0">
                      <a:pos x="128" y="1213"/>
                    </a:cxn>
                    <a:cxn ang="0">
                      <a:pos x="124" y="1381"/>
                    </a:cxn>
                    <a:cxn ang="0">
                      <a:pos x="0" y="1677"/>
                    </a:cxn>
                  </a:cxnLst>
                  <a:rect l="0" t="0" r="0" b="0"/>
                  <a:pathLst>
                    <a:path w="338" h="1677">
                      <a:moveTo>
                        <a:pt x="24" y="1669"/>
                      </a:moveTo>
                      <a:cubicBezTo>
                        <a:pt x="74" y="1621"/>
                        <a:pt x="125" y="1574"/>
                        <a:pt x="160" y="1517"/>
                      </a:cubicBezTo>
                      <a:cubicBezTo>
                        <a:pt x="195" y="1460"/>
                        <a:pt x="221" y="1440"/>
                        <a:pt x="236" y="1329"/>
                      </a:cubicBezTo>
                      <a:cubicBezTo>
                        <a:pt x="251" y="1218"/>
                        <a:pt x="249" y="990"/>
                        <a:pt x="248" y="849"/>
                      </a:cubicBezTo>
                      <a:cubicBezTo>
                        <a:pt x="247" y="708"/>
                        <a:pt x="234" y="584"/>
                        <a:pt x="232" y="481"/>
                      </a:cubicBezTo>
                      <a:cubicBezTo>
                        <a:pt x="230" y="378"/>
                        <a:pt x="230" y="296"/>
                        <a:pt x="236" y="233"/>
                      </a:cubicBezTo>
                      <a:cubicBezTo>
                        <a:pt x="242" y="170"/>
                        <a:pt x="251" y="143"/>
                        <a:pt x="268" y="105"/>
                      </a:cubicBezTo>
                      <a:cubicBezTo>
                        <a:pt x="285" y="67"/>
                        <a:pt x="338" y="10"/>
                        <a:pt x="336" y="5"/>
                      </a:cubicBezTo>
                      <a:cubicBezTo>
                        <a:pt x="334" y="0"/>
                        <a:pt x="282" y="46"/>
                        <a:pt x="256" y="73"/>
                      </a:cubicBezTo>
                      <a:cubicBezTo>
                        <a:pt x="230" y="100"/>
                        <a:pt x="201" y="130"/>
                        <a:pt x="180" y="169"/>
                      </a:cubicBezTo>
                      <a:cubicBezTo>
                        <a:pt x="159" y="208"/>
                        <a:pt x="139" y="242"/>
                        <a:pt x="128" y="309"/>
                      </a:cubicBezTo>
                      <a:cubicBezTo>
                        <a:pt x="117" y="376"/>
                        <a:pt x="117" y="481"/>
                        <a:pt x="116" y="573"/>
                      </a:cubicBezTo>
                      <a:cubicBezTo>
                        <a:pt x="115" y="665"/>
                        <a:pt x="122" y="754"/>
                        <a:pt x="124" y="861"/>
                      </a:cubicBezTo>
                      <a:cubicBezTo>
                        <a:pt x="126" y="968"/>
                        <a:pt x="128" y="1126"/>
                        <a:pt x="128" y="1213"/>
                      </a:cubicBezTo>
                      <a:cubicBezTo>
                        <a:pt x="128" y="1300"/>
                        <a:pt x="145" y="1304"/>
                        <a:pt x="124" y="1381"/>
                      </a:cubicBezTo>
                      <a:cubicBezTo>
                        <a:pt x="103" y="1458"/>
                        <a:pt x="51" y="1567"/>
                        <a:pt x="0" y="1677"/>
                      </a:cubicBezTo>
                    </a:path>
                  </a:pathLst>
                </a:cu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110" name="Group 56"/>
              <p:cNvGrpSpPr/>
              <p:nvPr/>
            </p:nvGrpSpPr>
            <p:grpSpPr>
              <a:xfrm rot="123913">
                <a:off x="2713" y="752"/>
                <a:ext cx="136" cy="315"/>
                <a:chOff x="4590" y="526"/>
                <a:chExt cx="529" cy="1700"/>
              </a:xfrm>
            </p:grpSpPr>
            <p:sp>
              <p:nvSpPr>
                <p:cNvPr id="45111" name="Oval 57"/>
                <p:cNvSpPr/>
                <p:nvPr/>
              </p:nvSpPr>
              <p:spPr>
                <a:xfrm>
                  <a:off x="4590" y="2095"/>
                  <a:ext cx="124" cy="131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112" name="Oval 58"/>
                <p:cNvSpPr/>
                <p:nvPr/>
              </p:nvSpPr>
              <p:spPr>
                <a:xfrm>
                  <a:off x="4995" y="526"/>
                  <a:ext cx="124" cy="130"/>
                </a:xfrm>
                <a:prstGeom prst="ellipse">
                  <a:avLst/>
                </a:pr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113" name="Freeform 59"/>
                <p:cNvSpPr/>
                <p:nvPr/>
              </p:nvSpPr>
              <p:spPr>
                <a:xfrm>
                  <a:off x="4684" y="539"/>
                  <a:ext cx="338" cy="1677"/>
                </a:xfrm>
                <a:custGeom>
                  <a:avLst/>
                  <a:gdLst/>
                  <a:ahLst/>
                  <a:cxnLst>
                    <a:cxn ang="0">
                      <a:pos x="24" y="1669"/>
                    </a:cxn>
                    <a:cxn ang="0">
                      <a:pos x="160" y="1517"/>
                    </a:cxn>
                    <a:cxn ang="0">
                      <a:pos x="236" y="1329"/>
                    </a:cxn>
                    <a:cxn ang="0">
                      <a:pos x="248" y="849"/>
                    </a:cxn>
                    <a:cxn ang="0">
                      <a:pos x="232" y="481"/>
                    </a:cxn>
                    <a:cxn ang="0">
                      <a:pos x="236" y="233"/>
                    </a:cxn>
                    <a:cxn ang="0">
                      <a:pos x="268" y="105"/>
                    </a:cxn>
                    <a:cxn ang="0">
                      <a:pos x="336" y="5"/>
                    </a:cxn>
                    <a:cxn ang="0">
                      <a:pos x="256" y="73"/>
                    </a:cxn>
                    <a:cxn ang="0">
                      <a:pos x="180" y="169"/>
                    </a:cxn>
                    <a:cxn ang="0">
                      <a:pos x="128" y="309"/>
                    </a:cxn>
                    <a:cxn ang="0">
                      <a:pos x="116" y="573"/>
                    </a:cxn>
                    <a:cxn ang="0">
                      <a:pos x="124" y="861"/>
                    </a:cxn>
                    <a:cxn ang="0">
                      <a:pos x="128" y="1213"/>
                    </a:cxn>
                    <a:cxn ang="0">
                      <a:pos x="124" y="1381"/>
                    </a:cxn>
                    <a:cxn ang="0">
                      <a:pos x="0" y="1677"/>
                    </a:cxn>
                  </a:cxnLst>
                  <a:rect l="0" t="0" r="0" b="0"/>
                  <a:pathLst>
                    <a:path w="338" h="1677">
                      <a:moveTo>
                        <a:pt x="24" y="1669"/>
                      </a:moveTo>
                      <a:cubicBezTo>
                        <a:pt x="74" y="1621"/>
                        <a:pt x="125" y="1574"/>
                        <a:pt x="160" y="1517"/>
                      </a:cubicBezTo>
                      <a:cubicBezTo>
                        <a:pt x="195" y="1460"/>
                        <a:pt x="221" y="1440"/>
                        <a:pt x="236" y="1329"/>
                      </a:cubicBezTo>
                      <a:cubicBezTo>
                        <a:pt x="251" y="1218"/>
                        <a:pt x="249" y="990"/>
                        <a:pt x="248" y="849"/>
                      </a:cubicBezTo>
                      <a:cubicBezTo>
                        <a:pt x="247" y="708"/>
                        <a:pt x="234" y="584"/>
                        <a:pt x="232" y="481"/>
                      </a:cubicBezTo>
                      <a:cubicBezTo>
                        <a:pt x="230" y="378"/>
                        <a:pt x="230" y="296"/>
                        <a:pt x="236" y="233"/>
                      </a:cubicBezTo>
                      <a:cubicBezTo>
                        <a:pt x="242" y="170"/>
                        <a:pt x="251" y="143"/>
                        <a:pt x="268" y="105"/>
                      </a:cubicBezTo>
                      <a:cubicBezTo>
                        <a:pt x="285" y="67"/>
                        <a:pt x="338" y="10"/>
                        <a:pt x="336" y="5"/>
                      </a:cubicBezTo>
                      <a:cubicBezTo>
                        <a:pt x="334" y="0"/>
                        <a:pt x="282" y="46"/>
                        <a:pt x="256" y="73"/>
                      </a:cubicBezTo>
                      <a:cubicBezTo>
                        <a:pt x="230" y="100"/>
                        <a:pt x="201" y="130"/>
                        <a:pt x="180" y="169"/>
                      </a:cubicBezTo>
                      <a:cubicBezTo>
                        <a:pt x="159" y="208"/>
                        <a:pt x="139" y="242"/>
                        <a:pt x="128" y="309"/>
                      </a:cubicBezTo>
                      <a:cubicBezTo>
                        <a:pt x="117" y="376"/>
                        <a:pt x="117" y="481"/>
                        <a:pt x="116" y="573"/>
                      </a:cubicBezTo>
                      <a:cubicBezTo>
                        <a:pt x="115" y="665"/>
                        <a:pt x="122" y="754"/>
                        <a:pt x="124" y="861"/>
                      </a:cubicBezTo>
                      <a:cubicBezTo>
                        <a:pt x="126" y="968"/>
                        <a:pt x="128" y="1126"/>
                        <a:pt x="128" y="1213"/>
                      </a:cubicBezTo>
                      <a:cubicBezTo>
                        <a:pt x="128" y="1300"/>
                        <a:pt x="145" y="1304"/>
                        <a:pt x="124" y="1381"/>
                      </a:cubicBezTo>
                      <a:cubicBezTo>
                        <a:pt x="103" y="1458"/>
                        <a:pt x="51" y="1567"/>
                        <a:pt x="0" y="1677"/>
                      </a:cubicBezTo>
                    </a:path>
                  </a:pathLst>
                </a:custGeom>
                <a:solidFill>
                  <a:schemeClr val="tx2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114" name="Group 60"/>
              <p:cNvGrpSpPr/>
              <p:nvPr/>
            </p:nvGrpSpPr>
            <p:grpSpPr>
              <a:xfrm>
                <a:off x="2648" y="787"/>
                <a:ext cx="255" cy="283"/>
                <a:chOff x="2648" y="787"/>
                <a:chExt cx="255" cy="283"/>
              </a:xfrm>
            </p:grpSpPr>
            <p:sp>
              <p:nvSpPr>
                <p:cNvPr id="45115" name="WordArt 61"/>
                <p:cNvSpPr>
                  <a:spLocks noTextEdit="1"/>
                </p:cNvSpPr>
                <p:nvPr/>
              </p:nvSpPr>
              <p:spPr>
                <a:xfrm>
                  <a:off x="2816" y="995"/>
                  <a:ext cx="87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5116" name="Oval 62"/>
                <p:cNvSpPr/>
                <p:nvPr/>
              </p:nvSpPr>
              <p:spPr>
                <a:xfrm>
                  <a:off x="2648" y="800"/>
                  <a:ext cx="204" cy="18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117" name="Freeform 63"/>
                <p:cNvSpPr/>
                <p:nvPr/>
              </p:nvSpPr>
              <p:spPr>
                <a:xfrm>
                  <a:off x="2775" y="795"/>
                  <a:ext cx="26" cy="27"/>
                </a:xfrm>
                <a:custGeom>
                  <a:avLst/>
                  <a:gdLst/>
                  <a:ahLst/>
                  <a:cxnLst>
                    <a:cxn ang="0">
                      <a:pos x="0" y="12"/>
                    </a:cxn>
                    <a:cxn ang="0">
                      <a:pos x="7" y="0"/>
                    </a:cxn>
                    <a:cxn ang="0">
                      <a:pos x="24" y="1"/>
                    </a:cxn>
                    <a:cxn ang="0">
                      <a:pos x="19" y="21"/>
                    </a:cxn>
                    <a:cxn ang="0">
                      <a:pos x="1" y="19"/>
                    </a:cxn>
                  </a:cxnLst>
                  <a:rect l="0" t="0" r="0" b="0"/>
                  <a:pathLst>
                    <a:path w="28" h="34">
                      <a:moveTo>
                        <a:pt x="0" y="19"/>
                      </a:moveTo>
                      <a:lnTo>
                        <a:pt x="7" y="0"/>
                      </a:lnTo>
                      <a:lnTo>
                        <a:pt x="28" y="1"/>
                      </a:lnTo>
                      <a:lnTo>
                        <a:pt x="21" y="34"/>
                      </a:lnTo>
                      <a:lnTo>
                        <a:pt x="1" y="30"/>
                      </a:lnTo>
                    </a:path>
                  </a:pathLst>
                </a:custGeom>
                <a:solidFill>
                  <a:schemeClr val="tx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5118" name="Freeform 64"/>
                <p:cNvSpPr/>
                <p:nvPr/>
              </p:nvSpPr>
              <p:spPr>
                <a:xfrm>
                  <a:off x="2702" y="787"/>
                  <a:ext cx="31" cy="45"/>
                </a:xfrm>
                <a:custGeom>
                  <a:avLst/>
                  <a:gdLst/>
                  <a:ahLst/>
                  <a:cxnLst>
                    <a:cxn ang="0">
                      <a:pos x="0" y="37"/>
                    </a:cxn>
                    <a:cxn ang="0">
                      <a:pos x="1" y="24"/>
                    </a:cxn>
                    <a:cxn ang="0">
                      <a:pos x="4" y="16"/>
                    </a:cxn>
                    <a:cxn ang="0">
                      <a:pos x="7" y="10"/>
                    </a:cxn>
                    <a:cxn ang="0">
                      <a:pos x="18" y="2"/>
                    </a:cxn>
                    <a:cxn ang="0">
                      <a:pos x="28" y="0"/>
                    </a:cxn>
                    <a:cxn ang="0">
                      <a:pos x="27" y="27"/>
                    </a:cxn>
                    <a:cxn ang="0">
                      <a:pos x="24" y="35"/>
                    </a:cxn>
                    <a:cxn ang="0">
                      <a:pos x="0" y="37"/>
                    </a:cxn>
                  </a:cxnLst>
                  <a:rect l="0" t="0" r="0" b="0"/>
                  <a:pathLst>
                    <a:path w="34" h="55">
                      <a:moveTo>
                        <a:pt x="0" y="55"/>
                      </a:moveTo>
                      <a:lnTo>
                        <a:pt x="1" y="36"/>
                      </a:lnTo>
                      <a:lnTo>
                        <a:pt x="4" y="25"/>
                      </a:lnTo>
                      <a:lnTo>
                        <a:pt x="9" y="15"/>
                      </a:lnTo>
                      <a:lnTo>
                        <a:pt x="22" y="3"/>
                      </a:lnTo>
                      <a:lnTo>
                        <a:pt x="34" y="0"/>
                      </a:lnTo>
                      <a:lnTo>
                        <a:pt x="33" y="40"/>
                      </a:lnTo>
                      <a:lnTo>
                        <a:pt x="28" y="52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119" name="WordArt 65"/>
              <p:cNvSpPr>
                <a:spLocks noTextEdit="1"/>
              </p:cNvSpPr>
              <p:nvPr/>
            </p:nvSpPr>
            <p:spPr>
              <a:xfrm>
                <a:off x="4630" y="989"/>
                <a:ext cx="115" cy="5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内</a:t>
                </a:r>
              </a:p>
            </p:txBody>
          </p:sp>
          <p:sp>
            <p:nvSpPr>
              <p:cNvPr id="45120" name="WordArt 66"/>
              <p:cNvSpPr>
                <a:spLocks noTextEdit="1"/>
              </p:cNvSpPr>
              <p:nvPr/>
            </p:nvSpPr>
            <p:spPr>
              <a:xfrm>
                <a:off x="4514" y="968"/>
                <a:ext cx="86" cy="7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 i="1">
                    <a:ln w="9525" cap="flat" cmpd="sng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FF33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</a:t>
                </a:r>
              </a:p>
            </p:txBody>
          </p:sp>
          <p:grpSp>
            <p:nvGrpSpPr>
              <p:cNvPr id="45121" name="Group 67"/>
              <p:cNvGrpSpPr/>
              <p:nvPr/>
            </p:nvGrpSpPr>
            <p:grpSpPr>
              <a:xfrm>
                <a:off x="738" y="773"/>
                <a:ext cx="338" cy="251"/>
                <a:chOff x="3059" y="1368"/>
                <a:chExt cx="330" cy="265"/>
              </a:xfrm>
            </p:grpSpPr>
            <p:sp>
              <p:nvSpPr>
                <p:cNvPr id="45122" name="WordArt 68"/>
                <p:cNvSpPr>
                  <a:spLocks noTextEdit="1"/>
                </p:cNvSpPr>
                <p:nvPr/>
              </p:nvSpPr>
              <p:spPr>
                <a:xfrm>
                  <a:off x="3295" y="1550"/>
                  <a:ext cx="94" cy="8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e</a:t>
                  </a:r>
                </a:p>
              </p:txBody>
            </p:sp>
            <p:grpSp>
              <p:nvGrpSpPr>
                <p:cNvPr id="45123" name="Group 69"/>
                <p:cNvGrpSpPr/>
                <p:nvPr/>
              </p:nvGrpSpPr>
              <p:grpSpPr>
                <a:xfrm>
                  <a:off x="3059" y="1368"/>
                  <a:ext cx="256" cy="265"/>
                  <a:chOff x="3059" y="1375"/>
                  <a:chExt cx="287" cy="258"/>
                </a:xfrm>
              </p:grpSpPr>
              <p:sp>
                <p:nvSpPr>
                  <p:cNvPr id="45124" name="Oval 70"/>
                  <p:cNvSpPr/>
                  <p:nvPr/>
                </p:nvSpPr>
                <p:spPr>
                  <a:xfrm>
                    <a:off x="3059" y="1434"/>
                    <a:ext cx="287" cy="134"/>
                  </a:xfrm>
                  <a:prstGeom prst="ellipse">
                    <a:avLst/>
                  </a:prstGeom>
                  <a:solidFill>
                    <a:schemeClr val="tx1"/>
                  </a:solidFill>
                  <a:ln w="31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125" name="Oval 71"/>
                  <p:cNvSpPr/>
                  <p:nvPr/>
                </p:nvSpPr>
                <p:spPr>
                  <a:xfrm>
                    <a:off x="3120" y="1452"/>
                    <a:ext cx="171" cy="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175">
                    <a:noFill/>
                  </a:ln>
                </p:spPr>
                <p:txBody>
                  <a:bodyPr wrap="none" anchor="ctr" anchorCtr="0"/>
                  <a:lstStyle/>
                  <a:p>
                    <a:endParaRPr lang="zh-CN" altLang="en-US" dirty="0">
                      <a:latin typeface="Verdan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45126" name="Freeform 72"/>
                  <p:cNvSpPr/>
                  <p:nvPr/>
                </p:nvSpPr>
                <p:spPr>
                  <a:xfrm>
                    <a:off x="3147" y="1376"/>
                    <a:ext cx="118" cy="256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101" y="0"/>
                      </a:cxn>
                      <a:cxn ang="0">
                        <a:pos x="54" y="229"/>
                      </a:cxn>
                      <a:cxn ang="0">
                        <a:pos x="0" y="229"/>
                      </a:cxn>
                      <a:cxn ang="0">
                        <a:pos x="41" y="0"/>
                      </a:cxn>
                    </a:cxnLst>
                    <a:rect l="0" t="0" r="0" b="0"/>
                    <a:pathLst>
                      <a:path w="138" h="286">
                        <a:moveTo>
                          <a:pt x="56" y="0"/>
                        </a:moveTo>
                        <a:lnTo>
                          <a:pt x="138" y="0"/>
                        </a:lnTo>
                        <a:lnTo>
                          <a:pt x="74" y="286"/>
                        </a:lnTo>
                        <a:lnTo>
                          <a:pt x="0" y="286"/>
                        </a:lnTo>
                        <a:lnTo>
                          <a:pt x="56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27" name="Freeform 73"/>
                  <p:cNvSpPr/>
                  <p:nvPr/>
                </p:nvSpPr>
                <p:spPr>
                  <a:xfrm>
                    <a:off x="3165" y="1375"/>
                    <a:ext cx="123" cy="2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20" y="0"/>
                      </a:cxn>
                      <a:cxn ang="0">
                        <a:pos x="89" y="19"/>
                      </a:cxn>
                      <a:cxn ang="0">
                        <a:pos x="26" y="19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126" h="23">
                        <a:moveTo>
                          <a:pt x="0" y="0"/>
                        </a:moveTo>
                        <a:lnTo>
                          <a:pt x="126" y="0"/>
                        </a:lnTo>
                        <a:lnTo>
                          <a:pt x="93" y="23"/>
                        </a:lnTo>
                        <a:lnTo>
                          <a:pt x="28" y="2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28" name="Freeform 74"/>
                  <p:cNvSpPr/>
                  <p:nvPr/>
                </p:nvSpPr>
                <p:spPr>
                  <a:xfrm flipV="1">
                    <a:off x="3120" y="1612"/>
                    <a:ext cx="123" cy="2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20" y="0"/>
                      </a:cxn>
                      <a:cxn ang="0">
                        <a:pos x="89" y="19"/>
                      </a:cxn>
                      <a:cxn ang="0">
                        <a:pos x="26" y="19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126" h="23">
                        <a:moveTo>
                          <a:pt x="0" y="0"/>
                        </a:moveTo>
                        <a:lnTo>
                          <a:pt x="126" y="0"/>
                        </a:lnTo>
                        <a:lnTo>
                          <a:pt x="93" y="23"/>
                        </a:lnTo>
                        <a:lnTo>
                          <a:pt x="28" y="2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5129" name="Line 75"/>
                <p:cNvSpPr/>
                <p:nvPr/>
              </p:nvSpPr>
              <p:spPr>
                <a:xfrm>
                  <a:off x="3110" y="1628"/>
                  <a:ext cx="11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45130" name="WordArt 76"/>
            <p:cNvSpPr>
              <a:spLocks noTextEdit="1"/>
            </p:cNvSpPr>
            <p:nvPr/>
          </p:nvSpPr>
          <p:spPr>
            <a:xfrm>
              <a:off x="443" y="637"/>
              <a:ext cx="4824" cy="1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应用高斯定理,可方便地求出某些带电体具有某种特殊对称性的电场分布.</a:t>
              </a:r>
            </a:p>
          </p:txBody>
        </p:sp>
      </p:grpSp>
      <p:grpSp>
        <p:nvGrpSpPr>
          <p:cNvPr id="19" name="Group 77"/>
          <p:cNvGrpSpPr/>
          <p:nvPr/>
        </p:nvGrpSpPr>
        <p:grpSpPr>
          <a:xfrm>
            <a:off x="1398588" y="1585913"/>
            <a:ext cx="6221412" cy="942975"/>
            <a:chOff x="881" y="999"/>
            <a:chExt cx="3919" cy="594"/>
          </a:xfrm>
        </p:grpSpPr>
        <p:grpSp>
          <p:nvGrpSpPr>
            <p:cNvPr id="45132" name="Group 78"/>
            <p:cNvGrpSpPr/>
            <p:nvPr/>
          </p:nvGrpSpPr>
          <p:grpSpPr>
            <a:xfrm>
              <a:off x="1342" y="999"/>
              <a:ext cx="1525" cy="277"/>
              <a:chOff x="1372" y="789"/>
              <a:chExt cx="1525" cy="277"/>
            </a:xfrm>
          </p:grpSpPr>
          <p:grpSp>
            <p:nvGrpSpPr>
              <p:cNvPr id="45133" name="Group 79"/>
              <p:cNvGrpSpPr/>
              <p:nvPr/>
            </p:nvGrpSpPr>
            <p:grpSpPr>
              <a:xfrm>
                <a:off x="2642" y="796"/>
                <a:ext cx="255" cy="270"/>
                <a:chOff x="2358" y="1042"/>
                <a:chExt cx="255" cy="270"/>
              </a:xfrm>
            </p:grpSpPr>
            <p:sp>
              <p:nvSpPr>
                <p:cNvPr id="45134" name="WordArt 80"/>
                <p:cNvSpPr>
                  <a:spLocks noTextEdit="1"/>
                </p:cNvSpPr>
                <p:nvPr/>
              </p:nvSpPr>
              <p:spPr>
                <a:xfrm>
                  <a:off x="2526" y="1237"/>
                  <a:ext cx="87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FF66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66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5135" name="Oval 81"/>
                <p:cNvSpPr/>
                <p:nvPr/>
              </p:nvSpPr>
              <p:spPr>
                <a:xfrm>
                  <a:off x="2358" y="1042"/>
                  <a:ext cx="204" cy="186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45136" name="Group 82"/>
              <p:cNvGrpSpPr/>
              <p:nvPr/>
            </p:nvGrpSpPr>
            <p:grpSpPr>
              <a:xfrm>
                <a:off x="1372" y="789"/>
                <a:ext cx="255" cy="270"/>
                <a:chOff x="2358" y="1042"/>
                <a:chExt cx="255" cy="270"/>
              </a:xfrm>
            </p:grpSpPr>
            <p:sp>
              <p:nvSpPr>
                <p:cNvPr id="45137" name="WordArt 83"/>
                <p:cNvSpPr>
                  <a:spLocks noTextEdit="1"/>
                </p:cNvSpPr>
                <p:nvPr/>
              </p:nvSpPr>
              <p:spPr>
                <a:xfrm>
                  <a:off x="2526" y="1237"/>
                  <a:ext cx="87" cy="7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3600" i="1">
                      <a:ln w="9525" cap="flat" cmpd="sng">
                        <a:solidFill>
                          <a:srgbClr val="FF66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FF66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5138" name="Oval 84"/>
                <p:cNvSpPr/>
                <p:nvPr/>
              </p:nvSpPr>
              <p:spPr>
                <a:xfrm>
                  <a:off x="2358" y="1042"/>
                  <a:ext cx="204" cy="186"/>
                </a:xfrm>
                <a:prstGeom prst="ellipse">
                  <a:avLst/>
                </a:prstGeom>
                <a:noFill/>
                <a:ln w="38100" cap="flat" cmpd="sng">
                  <a:solidFill>
                    <a:srgbClr val="FF66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45139" name="WordArt 85"/>
            <p:cNvSpPr>
              <a:spLocks noTextEdit="1"/>
            </p:cNvSpPr>
            <p:nvPr/>
          </p:nvSpPr>
          <p:spPr>
            <a:xfrm>
              <a:off x="881" y="1394"/>
              <a:ext cx="3686" cy="1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要领:视场分布的对称特点,恰当设计高斯面</a:t>
              </a:r>
            </a:p>
          </p:txBody>
        </p:sp>
        <p:sp>
          <p:nvSpPr>
            <p:cNvPr id="45140" name="WordArt 86"/>
            <p:cNvSpPr>
              <a:spLocks noTextEdit="1"/>
            </p:cNvSpPr>
            <p:nvPr/>
          </p:nvSpPr>
          <p:spPr>
            <a:xfrm>
              <a:off x="4617" y="1412"/>
              <a:ext cx="183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33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33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23" name="Group 87"/>
          <p:cNvGrpSpPr/>
          <p:nvPr/>
        </p:nvGrpSpPr>
        <p:grpSpPr>
          <a:xfrm>
            <a:off x="815975" y="2776538"/>
            <a:ext cx="7112000" cy="1436687"/>
            <a:chOff x="514" y="1749"/>
            <a:chExt cx="4480" cy="905"/>
          </a:xfrm>
        </p:grpSpPr>
        <p:sp>
          <p:nvSpPr>
            <p:cNvPr id="45142" name="WordArt 88"/>
            <p:cNvSpPr>
              <a:spLocks noTextEdit="1"/>
            </p:cNvSpPr>
            <p:nvPr/>
          </p:nvSpPr>
          <p:spPr>
            <a:xfrm>
              <a:off x="514" y="1792"/>
              <a:ext cx="373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008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008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举例</a:t>
              </a:r>
            </a:p>
          </p:txBody>
        </p:sp>
        <p:grpSp>
          <p:nvGrpSpPr>
            <p:cNvPr id="45143" name="Group 89"/>
            <p:cNvGrpSpPr/>
            <p:nvPr/>
          </p:nvGrpSpPr>
          <p:grpSpPr>
            <a:xfrm>
              <a:off x="4242" y="1750"/>
              <a:ext cx="739" cy="132"/>
              <a:chOff x="2416" y="1858"/>
              <a:chExt cx="739" cy="132"/>
            </a:xfrm>
          </p:grpSpPr>
          <p:sp>
            <p:nvSpPr>
              <p:cNvPr id="45144" name="WordArt 90"/>
              <p:cNvSpPr>
                <a:spLocks noTextEdit="1"/>
              </p:cNvSpPr>
              <p:nvPr/>
            </p:nvSpPr>
            <p:spPr>
              <a:xfrm>
                <a:off x="2416" y="1858"/>
                <a:ext cx="477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577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577CD9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均匀带电</a:t>
                </a:r>
              </a:p>
            </p:txBody>
          </p:sp>
          <p:sp>
            <p:nvSpPr>
              <p:cNvPr id="45145" name="WordArt 91"/>
              <p:cNvSpPr>
                <a:spLocks noTextEdit="1"/>
              </p:cNvSpPr>
              <p:nvPr/>
            </p:nvSpPr>
            <p:spPr>
              <a:xfrm>
                <a:off x="2909" y="1872"/>
                <a:ext cx="246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577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577CD9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球体</a:t>
                </a:r>
              </a:p>
            </p:txBody>
          </p:sp>
        </p:grpSp>
        <p:sp>
          <p:nvSpPr>
            <p:cNvPr id="45146" name="Oval 92"/>
            <p:cNvSpPr/>
            <p:nvPr/>
          </p:nvSpPr>
          <p:spPr>
            <a:xfrm>
              <a:off x="4424" y="2063"/>
              <a:ext cx="421" cy="397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47" name="Oval 93"/>
            <p:cNvSpPr/>
            <p:nvPr/>
          </p:nvSpPr>
          <p:spPr>
            <a:xfrm>
              <a:off x="4371" y="2002"/>
              <a:ext cx="522" cy="510"/>
            </a:xfrm>
            <a:prstGeom prst="ellipse">
              <a:avLst/>
            </a:pr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48" name="Oval 94"/>
            <p:cNvSpPr/>
            <p:nvPr/>
          </p:nvSpPr>
          <p:spPr>
            <a:xfrm>
              <a:off x="4495" y="2122"/>
              <a:ext cx="282" cy="282"/>
            </a:xfrm>
            <a:prstGeom prst="ellipse">
              <a:avLst/>
            </a:prstGeom>
            <a:noFill/>
            <a:ln w="952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49" name="WordArt 95"/>
            <p:cNvSpPr>
              <a:spLocks noTextEdit="1"/>
            </p:cNvSpPr>
            <p:nvPr/>
          </p:nvSpPr>
          <p:spPr>
            <a:xfrm>
              <a:off x="4907" y="2125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5150" name="WordArt 96"/>
            <p:cNvSpPr>
              <a:spLocks noTextEdit="1"/>
            </p:cNvSpPr>
            <p:nvPr/>
          </p:nvSpPr>
          <p:spPr>
            <a:xfrm>
              <a:off x="1968" y="1778"/>
              <a:ext cx="440" cy="13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点电荷</a:t>
              </a:r>
            </a:p>
          </p:txBody>
        </p:sp>
        <p:sp>
          <p:nvSpPr>
            <p:cNvPr id="45151" name="Oval 97"/>
            <p:cNvSpPr/>
            <p:nvPr/>
          </p:nvSpPr>
          <p:spPr>
            <a:xfrm>
              <a:off x="1939" y="2042"/>
              <a:ext cx="522" cy="510"/>
            </a:xfrm>
            <a:prstGeom prst="ellipse">
              <a:avLst/>
            </a:pr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52" name="WordArt 98"/>
            <p:cNvSpPr>
              <a:spLocks noTextEdit="1"/>
            </p:cNvSpPr>
            <p:nvPr/>
          </p:nvSpPr>
          <p:spPr>
            <a:xfrm>
              <a:off x="2480" y="2192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5153" name="Line 99"/>
            <p:cNvSpPr/>
            <p:nvPr/>
          </p:nvSpPr>
          <p:spPr>
            <a:xfrm>
              <a:off x="1856" y="2306"/>
              <a:ext cx="714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4" name="Line 100"/>
            <p:cNvSpPr/>
            <p:nvPr/>
          </p:nvSpPr>
          <p:spPr>
            <a:xfrm>
              <a:off x="1898" y="2150"/>
              <a:ext cx="630" cy="324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5" name="Line 101"/>
            <p:cNvSpPr/>
            <p:nvPr/>
          </p:nvSpPr>
          <p:spPr>
            <a:xfrm rot="5400000" flipH="1">
              <a:off x="1882" y="2118"/>
              <a:ext cx="630" cy="378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6" name="Line 102"/>
            <p:cNvSpPr/>
            <p:nvPr/>
          </p:nvSpPr>
          <p:spPr>
            <a:xfrm rot="-5400000">
              <a:off x="1861" y="2301"/>
              <a:ext cx="672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7" name="Line 103"/>
            <p:cNvSpPr/>
            <p:nvPr/>
          </p:nvSpPr>
          <p:spPr>
            <a:xfrm rot="-5400000">
              <a:off x="1885" y="2124"/>
              <a:ext cx="630" cy="34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8" name="Line 104"/>
            <p:cNvSpPr/>
            <p:nvPr/>
          </p:nvSpPr>
          <p:spPr>
            <a:xfrm rot="-5400000">
              <a:off x="2015" y="1966"/>
              <a:ext cx="369" cy="651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59" name="Oval 105"/>
            <p:cNvSpPr/>
            <p:nvPr/>
          </p:nvSpPr>
          <p:spPr>
            <a:xfrm>
              <a:off x="2171" y="2273"/>
              <a:ext cx="53" cy="56"/>
            </a:xfrm>
            <a:prstGeom prst="ellipse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60" name="WordArt 106"/>
            <p:cNvSpPr>
              <a:spLocks noTextEdit="1"/>
            </p:cNvSpPr>
            <p:nvPr/>
          </p:nvSpPr>
          <p:spPr>
            <a:xfrm>
              <a:off x="2123" y="2344"/>
              <a:ext cx="47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45161" name="WordArt 107"/>
            <p:cNvSpPr>
              <a:spLocks noTextEdit="1"/>
            </p:cNvSpPr>
            <p:nvPr/>
          </p:nvSpPr>
          <p:spPr>
            <a:xfrm>
              <a:off x="2231" y="2227"/>
              <a:ext cx="38" cy="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</a:p>
          </p:txBody>
        </p:sp>
        <p:grpSp>
          <p:nvGrpSpPr>
            <p:cNvPr id="45162" name="Group 108"/>
            <p:cNvGrpSpPr/>
            <p:nvPr/>
          </p:nvGrpSpPr>
          <p:grpSpPr>
            <a:xfrm>
              <a:off x="2924" y="1749"/>
              <a:ext cx="739" cy="132"/>
              <a:chOff x="413" y="2105"/>
              <a:chExt cx="1073" cy="140"/>
            </a:xfrm>
          </p:grpSpPr>
          <p:sp>
            <p:nvSpPr>
              <p:cNvPr id="45163" name="WordArt 109"/>
              <p:cNvSpPr>
                <a:spLocks noTextEdit="1"/>
              </p:cNvSpPr>
              <p:nvPr/>
            </p:nvSpPr>
            <p:spPr>
              <a:xfrm>
                <a:off x="413" y="2105"/>
                <a:ext cx="693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577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577CD9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均匀带电</a:t>
                </a:r>
              </a:p>
            </p:txBody>
          </p:sp>
          <p:sp>
            <p:nvSpPr>
              <p:cNvPr id="45164" name="WordArt 110"/>
              <p:cNvSpPr>
                <a:spLocks noTextEdit="1"/>
              </p:cNvSpPr>
              <p:nvPr/>
            </p:nvSpPr>
            <p:spPr>
              <a:xfrm>
                <a:off x="1129" y="2120"/>
                <a:ext cx="357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3600">
                    <a:ln w="9525" cap="flat" cmpd="sng">
                      <a:solidFill>
                        <a:srgbClr val="577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577CD9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球面</a:t>
                </a:r>
              </a:p>
            </p:txBody>
          </p:sp>
        </p:grpSp>
        <p:sp>
          <p:nvSpPr>
            <p:cNvPr id="45165" name="AutoShape 111"/>
            <p:cNvSpPr/>
            <p:nvPr/>
          </p:nvSpPr>
          <p:spPr>
            <a:xfrm>
              <a:off x="3148" y="2135"/>
              <a:ext cx="364" cy="3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6" y="3"/>
                </a:cxn>
                <a:cxn ang="0">
                  <a:pos x="3" y="6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6" y="3"/>
                </a:cxn>
                <a:cxn ang="0">
                  <a:pos x="3" y="0"/>
                </a:cxn>
                <a:cxn ang="0">
                  <a:pos x="0" y="3"/>
                </a:cxn>
              </a:cxnLst>
              <a:rect l="0" t="0" r="0" b="0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62" y="10800"/>
                  </a:moveTo>
                  <a:cubicBezTo>
                    <a:pt x="1662" y="15847"/>
                    <a:pt x="5753" y="19938"/>
                    <a:pt x="10800" y="19938"/>
                  </a:cubicBezTo>
                  <a:cubicBezTo>
                    <a:pt x="15847" y="19938"/>
                    <a:pt x="19938" y="15847"/>
                    <a:pt x="19938" y="10800"/>
                  </a:cubicBezTo>
                  <a:cubicBezTo>
                    <a:pt x="19938" y="5753"/>
                    <a:pt x="15847" y="1662"/>
                    <a:pt x="10800" y="1662"/>
                  </a:cubicBezTo>
                  <a:cubicBezTo>
                    <a:pt x="5753" y="1662"/>
                    <a:pt x="1662" y="5753"/>
                    <a:pt x="1662" y="10800"/>
                  </a:cubicBez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6" name="Oval 112"/>
            <p:cNvSpPr/>
            <p:nvPr/>
          </p:nvSpPr>
          <p:spPr>
            <a:xfrm>
              <a:off x="3065" y="2054"/>
              <a:ext cx="522" cy="510"/>
            </a:xfrm>
            <a:prstGeom prst="ellipse">
              <a:avLst/>
            </a:pr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67" name="WordArt 113"/>
            <p:cNvSpPr>
              <a:spLocks noTextEdit="1"/>
            </p:cNvSpPr>
            <p:nvPr/>
          </p:nvSpPr>
          <p:spPr>
            <a:xfrm>
              <a:off x="3519" y="2330"/>
              <a:ext cx="49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45168" name="Line 114"/>
            <p:cNvSpPr/>
            <p:nvPr/>
          </p:nvSpPr>
          <p:spPr>
            <a:xfrm rot="-5400000">
              <a:off x="3027" y="2123"/>
              <a:ext cx="588" cy="37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69" name="Line 115"/>
            <p:cNvSpPr/>
            <p:nvPr/>
          </p:nvSpPr>
          <p:spPr>
            <a:xfrm rot="-5400000">
              <a:off x="2991" y="2318"/>
              <a:ext cx="672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0" name="Line 116"/>
            <p:cNvSpPr/>
            <p:nvPr/>
          </p:nvSpPr>
          <p:spPr>
            <a:xfrm rot="5400000" flipH="1">
              <a:off x="2996" y="2113"/>
              <a:ext cx="651" cy="39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1" name="Line 117"/>
            <p:cNvSpPr/>
            <p:nvPr/>
          </p:nvSpPr>
          <p:spPr>
            <a:xfrm>
              <a:off x="3028" y="2143"/>
              <a:ext cx="606" cy="34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2" name="Line 118"/>
            <p:cNvSpPr/>
            <p:nvPr/>
          </p:nvSpPr>
          <p:spPr>
            <a:xfrm>
              <a:off x="2935" y="2308"/>
              <a:ext cx="714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3" name="Line 119"/>
            <p:cNvSpPr/>
            <p:nvPr/>
          </p:nvSpPr>
          <p:spPr>
            <a:xfrm rot="-5400000">
              <a:off x="3162" y="1985"/>
              <a:ext cx="336" cy="636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4" name="Oval 120"/>
            <p:cNvSpPr/>
            <p:nvPr/>
          </p:nvSpPr>
          <p:spPr>
            <a:xfrm>
              <a:off x="3184" y="2163"/>
              <a:ext cx="297" cy="297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75" name="Oval 121"/>
            <p:cNvSpPr/>
            <p:nvPr/>
          </p:nvSpPr>
          <p:spPr>
            <a:xfrm>
              <a:off x="3233" y="2222"/>
              <a:ext cx="190" cy="186"/>
            </a:xfrm>
            <a:prstGeom prst="ellipse">
              <a:avLst/>
            </a:prstGeom>
            <a:noFill/>
            <a:ln w="952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176" name="WordArt 122"/>
            <p:cNvSpPr>
              <a:spLocks noTextEdit="1"/>
            </p:cNvSpPr>
            <p:nvPr/>
          </p:nvSpPr>
          <p:spPr>
            <a:xfrm>
              <a:off x="3289" y="2308"/>
              <a:ext cx="47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45177" name="WordArt 123"/>
            <p:cNvSpPr>
              <a:spLocks noTextEdit="1"/>
            </p:cNvSpPr>
            <p:nvPr/>
          </p:nvSpPr>
          <p:spPr>
            <a:xfrm>
              <a:off x="3573" y="2084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5178" name="Line 124"/>
            <p:cNvSpPr/>
            <p:nvPr/>
          </p:nvSpPr>
          <p:spPr>
            <a:xfrm rot="5400000" flipH="1">
              <a:off x="4299" y="2047"/>
              <a:ext cx="639" cy="384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79" name="Line 125"/>
            <p:cNvSpPr/>
            <p:nvPr/>
          </p:nvSpPr>
          <p:spPr>
            <a:xfrm rot="-5400000">
              <a:off x="4297" y="2252"/>
              <a:ext cx="672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80" name="Line 126"/>
            <p:cNvSpPr/>
            <p:nvPr/>
          </p:nvSpPr>
          <p:spPr>
            <a:xfrm>
              <a:off x="4253" y="2266"/>
              <a:ext cx="714" cy="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81" name="Line 127"/>
            <p:cNvSpPr/>
            <p:nvPr/>
          </p:nvSpPr>
          <p:spPr>
            <a:xfrm>
              <a:off x="4313" y="2074"/>
              <a:ext cx="606" cy="34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82" name="Line 128"/>
            <p:cNvSpPr/>
            <p:nvPr/>
          </p:nvSpPr>
          <p:spPr>
            <a:xfrm rot="-5400000">
              <a:off x="4424" y="1911"/>
              <a:ext cx="381" cy="687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83" name="Line 129"/>
            <p:cNvSpPr/>
            <p:nvPr/>
          </p:nvSpPr>
          <p:spPr>
            <a:xfrm rot="-5400000">
              <a:off x="4348" y="2066"/>
              <a:ext cx="588" cy="37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184" name="WordArt 130"/>
            <p:cNvSpPr>
              <a:spLocks noTextEdit="1"/>
            </p:cNvSpPr>
            <p:nvPr/>
          </p:nvSpPr>
          <p:spPr>
            <a:xfrm>
              <a:off x="4595" y="2278"/>
              <a:ext cx="47" cy="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45185" name="WordArt 131"/>
            <p:cNvSpPr>
              <a:spLocks noTextEdit="1"/>
            </p:cNvSpPr>
            <p:nvPr/>
          </p:nvSpPr>
          <p:spPr>
            <a:xfrm rot="5400000">
              <a:off x="1111" y="2070"/>
              <a:ext cx="588" cy="161"/>
            </a:xfrm>
            <a:prstGeom prst="rect">
              <a:avLst/>
            </a:prstGeom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球对称</a:t>
              </a:r>
            </a:p>
          </p:txBody>
        </p:sp>
        <p:sp>
          <p:nvSpPr>
            <p:cNvPr id="45186" name="WordArt 132"/>
            <p:cNvSpPr>
              <a:spLocks noTextEdit="1"/>
            </p:cNvSpPr>
            <p:nvPr/>
          </p:nvSpPr>
          <p:spPr>
            <a:xfrm>
              <a:off x="4695" y="2191"/>
              <a:ext cx="49" cy="6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45187" name="Rectangle 133"/>
            <p:cNvSpPr/>
            <p:nvPr/>
          </p:nvSpPr>
          <p:spPr>
            <a:xfrm>
              <a:off x="1284" y="1793"/>
              <a:ext cx="247" cy="725"/>
            </a:xfrm>
            <a:prstGeom prst="rect">
              <a:avLst/>
            </a:prstGeom>
            <a:noFill/>
            <a:ln w="317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Group 134"/>
          <p:cNvGrpSpPr/>
          <p:nvPr/>
        </p:nvGrpSpPr>
        <p:grpSpPr>
          <a:xfrm>
            <a:off x="1198563" y="4384675"/>
            <a:ext cx="4144962" cy="2179638"/>
            <a:chOff x="755" y="2762"/>
            <a:chExt cx="2611" cy="1373"/>
          </a:xfrm>
        </p:grpSpPr>
        <p:grpSp>
          <p:nvGrpSpPr>
            <p:cNvPr id="45189" name="Group 135"/>
            <p:cNvGrpSpPr/>
            <p:nvPr/>
          </p:nvGrpSpPr>
          <p:grpSpPr>
            <a:xfrm>
              <a:off x="1258" y="3775"/>
              <a:ext cx="840" cy="153"/>
              <a:chOff x="1251" y="3053"/>
              <a:chExt cx="840" cy="153"/>
            </a:xfrm>
          </p:grpSpPr>
          <p:sp>
            <p:nvSpPr>
              <p:cNvPr id="45190" name="Line 136"/>
              <p:cNvSpPr/>
              <p:nvPr/>
            </p:nvSpPr>
            <p:spPr>
              <a:xfrm>
                <a:off x="1539" y="3058"/>
                <a:ext cx="300" cy="14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1" name="Line 137"/>
              <p:cNvSpPr/>
              <p:nvPr/>
            </p:nvSpPr>
            <p:spPr>
              <a:xfrm flipV="1">
                <a:off x="1541" y="3053"/>
                <a:ext cx="240" cy="153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2" name="Line 138"/>
              <p:cNvSpPr/>
              <p:nvPr/>
            </p:nvSpPr>
            <p:spPr>
              <a:xfrm flipV="1">
                <a:off x="1314" y="3070"/>
                <a:ext cx="654" cy="122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3" name="Line 139"/>
              <p:cNvSpPr/>
              <p:nvPr/>
            </p:nvSpPr>
            <p:spPr>
              <a:xfrm>
                <a:off x="1356" y="3072"/>
                <a:ext cx="657" cy="108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4" name="Line 140"/>
              <p:cNvSpPr/>
              <p:nvPr/>
            </p:nvSpPr>
            <p:spPr>
              <a:xfrm flipV="1">
                <a:off x="1251" y="3126"/>
                <a:ext cx="84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5195" name="Group 141"/>
            <p:cNvGrpSpPr/>
            <p:nvPr/>
          </p:nvGrpSpPr>
          <p:grpSpPr>
            <a:xfrm>
              <a:off x="1255" y="3416"/>
              <a:ext cx="840" cy="153"/>
              <a:chOff x="1251" y="3053"/>
              <a:chExt cx="840" cy="153"/>
            </a:xfrm>
          </p:grpSpPr>
          <p:sp>
            <p:nvSpPr>
              <p:cNvPr id="45196" name="Line 142"/>
              <p:cNvSpPr/>
              <p:nvPr/>
            </p:nvSpPr>
            <p:spPr>
              <a:xfrm>
                <a:off x="1539" y="3058"/>
                <a:ext cx="300" cy="14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7" name="Line 143"/>
              <p:cNvSpPr/>
              <p:nvPr/>
            </p:nvSpPr>
            <p:spPr>
              <a:xfrm flipV="1">
                <a:off x="1541" y="3053"/>
                <a:ext cx="240" cy="153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8" name="Line 144"/>
              <p:cNvSpPr/>
              <p:nvPr/>
            </p:nvSpPr>
            <p:spPr>
              <a:xfrm flipV="1">
                <a:off x="1314" y="3070"/>
                <a:ext cx="654" cy="122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199" name="Line 145"/>
              <p:cNvSpPr/>
              <p:nvPr/>
            </p:nvSpPr>
            <p:spPr>
              <a:xfrm>
                <a:off x="1356" y="3072"/>
                <a:ext cx="657" cy="108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00" name="Line 146"/>
              <p:cNvSpPr/>
              <p:nvPr/>
            </p:nvSpPr>
            <p:spPr>
              <a:xfrm flipV="1">
                <a:off x="1251" y="3126"/>
                <a:ext cx="84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5201" name="Group 147"/>
            <p:cNvGrpSpPr/>
            <p:nvPr/>
          </p:nvGrpSpPr>
          <p:grpSpPr>
            <a:xfrm>
              <a:off x="1257" y="3059"/>
              <a:ext cx="840" cy="153"/>
              <a:chOff x="1251" y="3053"/>
              <a:chExt cx="840" cy="153"/>
            </a:xfrm>
          </p:grpSpPr>
          <p:sp>
            <p:nvSpPr>
              <p:cNvPr id="45202" name="Line 148"/>
              <p:cNvSpPr/>
              <p:nvPr/>
            </p:nvSpPr>
            <p:spPr>
              <a:xfrm>
                <a:off x="1539" y="3058"/>
                <a:ext cx="300" cy="147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03" name="Line 149"/>
              <p:cNvSpPr/>
              <p:nvPr/>
            </p:nvSpPr>
            <p:spPr>
              <a:xfrm flipV="1">
                <a:off x="1541" y="3053"/>
                <a:ext cx="240" cy="153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04" name="Line 150"/>
              <p:cNvSpPr/>
              <p:nvPr/>
            </p:nvSpPr>
            <p:spPr>
              <a:xfrm flipV="1">
                <a:off x="1314" y="3070"/>
                <a:ext cx="654" cy="122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05" name="Line 151"/>
              <p:cNvSpPr/>
              <p:nvPr/>
            </p:nvSpPr>
            <p:spPr>
              <a:xfrm>
                <a:off x="1356" y="3072"/>
                <a:ext cx="657" cy="108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06" name="Line 152"/>
              <p:cNvSpPr/>
              <p:nvPr/>
            </p:nvSpPr>
            <p:spPr>
              <a:xfrm flipV="1">
                <a:off x="1251" y="3126"/>
                <a:ext cx="840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207" name="WordArt 153"/>
            <p:cNvSpPr>
              <a:spLocks noTextEdit="1"/>
            </p:cNvSpPr>
            <p:nvPr/>
          </p:nvSpPr>
          <p:spPr>
            <a:xfrm>
              <a:off x="1160" y="2775"/>
              <a:ext cx="935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均匀带电长直线</a:t>
              </a:r>
            </a:p>
          </p:txBody>
        </p:sp>
        <p:sp>
          <p:nvSpPr>
            <p:cNvPr id="45208" name="WordArt 154"/>
            <p:cNvSpPr>
              <a:spLocks noTextEdit="1"/>
            </p:cNvSpPr>
            <p:nvPr/>
          </p:nvSpPr>
          <p:spPr>
            <a:xfrm>
              <a:off x="1950" y="3366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5209" name="WordArt 155"/>
            <p:cNvSpPr>
              <a:spLocks noTextEdit="1"/>
            </p:cNvSpPr>
            <p:nvPr/>
          </p:nvSpPr>
          <p:spPr>
            <a:xfrm>
              <a:off x="2431" y="2762"/>
              <a:ext cx="935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均匀带电长圆柱面</a:t>
              </a:r>
            </a:p>
          </p:txBody>
        </p:sp>
        <p:sp>
          <p:nvSpPr>
            <p:cNvPr id="45210" name="Oval 156"/>
            <p:cNvSpPr/>
            <p:nvPr/>
          </p:nvSpPr>
          <p:spPr>
            <a:xfrm>
              <a:off x="2615" y="3746"/>
              <a:ext cx="402" cy="270"/>
            </a:xfrm>
            <a:prstGeom prst="ellipse">
              <a:avLst/>
            </a:prstGeom>
            <a:solidFill>
              <a:srgbClr val="D9D9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11" name="Rectangle 157"/>
            <p:cNvSpPr/>
            <p:nvPr/>
          </p:nvSpPr>
          <p:spPr>
            <a:xfrm>
              <a:off x="2622" y="3174"/>
              <a:ext cx="396" cy="700"/>
            </a:xfrm>
            <a:prstGeom prst="rect">
              <a:avLst/>
            </a:prstGeom>
            <a:solidFill>
              <a:srgbClr val="D9D9FF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12" name="Oval 158"/>
            <p:cNvSpPr/>
            <p:nvPr/>
          </p:nvSpPr>
          <p:spPr>
            <a:xfrm>
              <a:off x="2618" y="3055"/>
              <a:ext cx="399" cy="177"/>
            </a:xfrm>
            <a:prstGeom prst="ellipse">
              <a:avLst/>
            </a:prstGeom>
            <a:solidFill>
              <a:srgbClr val="D9D9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13" name="Line 159"/>
            <p:cNvSpPr/>
            <p:nvPr/>
          </p:nvSpPr>
          <p:spPr>
            <a:xfrm>
              <a:off x="3015" y="3141"/>
              <a:ext cx="0" cy="7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14" name="Line 160"/>
            <p:cNvSpPr/>
            <p:nvPr/>
          </p:nvSpPr>
          <p:spPr>
            <a:xfrm>
              <a:off x="2616" y="3160"/>
              <a:ext cx="0" cy="73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15" name="Line 161"/>
            <p:cNvSpPr/>
            <p:nvPr/>
          </p:nvSpPr>
          <p:spPr>
            <a:xfrm>
              <a:off x="3101" y="3387"/>
              <a:ext cx="0" cy="272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16" name="Line 162"/>
            <p:cNvSpPr/>
            <p:nvPr/>
          </p:nvSpPr>
          <p:spPr>
            <a:xfrm>
              <a:off x="2530" y="3388"/>
              <a:ext cx="0" cy="26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17" name="WordArt 163"/>
            <p:cNvSpPr>
              <a:spLocks noTextEdit="1"/>
            </p:cNvSpPr>
            <p:nvPr/>
          </p:nvSpPr>
          <p:spPr>
            <a:xfrm>
              <a:off x="3126" y="3381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45218" name="Rectangle 164"/>
            <p:cNvSpPr/>
            <p:nvPr/>
          </p:nvSpPr>
          <p:spPr>
            <a:xfrm rot="-5400000">
              <a:off x="1148" y="3479"/>
              <a:ext cx="1028" cy="27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5219" name="Group 165"/>
            <p:cNvGrpSpPr/>
            <p:nvPr/>
          </p:nvGrpSpPr>
          <p:grpSpPr>
            <a:xfrm>
              <a:off x="1421" y="3276"/>
              <a:ext cx="495" cy="368"/>
              <a:chOff x="704" y="3254"/>
              <a:chExt cx="495" cy="368"/>
            </a:xfrm>
          </p:grpSpPr>
          <p:sp>
            <p:nvSpPr>
              <p:cNvPr id="45220" name="Oval 166"/>
              <p:cNvSpPr/>
              <p:nvPr/>
            </p:nvSpPr>
            <p:spPr>
              <a:xfrm>
                <a:off x="709" y="3254"/>
                <a:ext cx="483" cy="110"/>
              </a:xfrm>
              <a:prstGeom prst="ellipse">
                <a:avLst/>
              </a:prstGeom>
              <a:noFill/>
              <a:ln w="1905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221" name="Oval 167"/>
              <p:cNvSpPr/>
              <p:nvPr/>
            </p:nvSpPr>
            <p:spPr>
              <a:xfrm>
                <a:off x="712" y="3512"/>
                <a:ext cx="483" cy="110"/>
              </a:xfrm>
              <a:prstGeom prst="ellipse">
                <a:avLst/>
              </a:prstGeom>
              <a:noFill/>
              <a:ln w="1905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222" name="Line 168"/>
              <p:cNvSpPr/>
              <p:nvPr/>
            </p:nvSpPr>
            <p:spPr>
              <a:xfrm>
                <a:off x="1199" y="3316"/>
                <a:ext cx="0" cy="249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23" name="Line 169"/>
              <p:cNvSpPr/>
              <p:nvPr/>
            </p:nvSpPr>
            <p:spPr>
              <a:xfrm>
                <a:off x="704" y="3319"/>
                <a:ext cx="0" cy="249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224" name="Line 170"/>
            <p:cNvSpPr/>
            <p:nvPr/>
          </p:nvSpPr>
          <p:spPr>
            <a:xfrm flipV="1">
              <a:off x="2828" y="4017"/>
              <a:ext cx="1" cy="118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grpSp>
          <p:nvGrpSpPr>
            <p:cNvPr id="45225" name="Group 171"/>
            <p:cNvGrpSpPr/>
            <p:nvPr/>
          </p:nvGrpSpPr>
          <p:grpSpPr>
            <a:xfrm>
              <a:off x="2456" y="3005"/>
              <a:ext cx="728" cy="293"/>
              <a:chOff x="2588" y="3014"/>
              <a:chExt cx="728" cy="293"/>
            </a:xfrm>
          </p:grpSpPr>
          <p:sp>
            <p:nvSpPr>
              <p:cNvPr id="45226" name="Line 172"/>
              <p:cNvSpPr/>
              <p:nvPr/>
            </p:nvSpPr>
            <p:spPr>
              <a:xfrm>
                <a:off x="2783" y="3014"/>
                <a:ext cx="337" cy="273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27" name="Line 173"/>
              <p:cNvSpPr/>
              <p:nvPr/>
            </p:nvSpPr>
            <p:spPr>
              <a:xfrm flipV="1">
                <a:off x="2771" y="3014"/>
                <a:ext cx="361" cy="275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28" name="Line 174"/>
              <p:cNvSpPr/>
              <p:nvPr/>
            </p:nvSpPr>
            <p:spPr>
              <a:xfrm flipV="1">
                <a:off x="2644" y="3068"/>
                <a:ext cx="605" cy="172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29" name="Line 175"/>
              <p:cNvSpPr/>
              <p:nvPr/>
            </p:nvSpPr>
            <p:spPr>
              <a:xfrm>
                <a:off x="2637" y="3066"/>
                <a:ext cx="630" cy="17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30" name="Line 176"/>
              <p:cNvSpPr/>
              <p:nvPr/>
            </p:nvSpPr>
            <p:spPr>
              <a:xfrm>
                <a:off x="2588" y="3149"/>
                <a:ext cx="728" cy="4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31" name="Line 177"/>
              <p:cNvSpPr/>
              <p:nvPr/>
            </p:nvSpPr>
            <p:spPr>
              <a:xfrm>
                <a:off x="2953" y="3154"/>
                <a:ext cx="5" cy="153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32" name="Oval 178"/>
              <p:cNvSpPr/>
              <p:nvPr/>
            </p:nvSpPr>
            <p:spPr>
              <a:xfrm>
                <a:off x="2772" y="3080"/>
                <a:ext cx="354" cy="144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233" name="Line 179"/>
            <p:cNvSpPr/>
            <p:nvPr/>
          </p:nvSpPr>
          <p:spPr>
            <a:xfrm flipH="1" flipV="1">
              <a:off x="2820" y="2946"/>
              <a:ext cx="3" cy="258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lgDashDot"/>
              <a:round/>
              <a:headEnd type="none" w="med" len="med"/>
              <a:tailEnd type="none" w="med" len="med"/>
            </a:ln>
          </p:spPr>
        </p:sp>
        <p:sp>
          <p:nvSpPr>
            <p:cNvPr id="45234" name="Line 180"/>
            <p:cNvSpPr/>
            <p:nvPr/>
          </p:nvSpPr>
          <p:spPr>
            <a:xfrm>
              <a:off x="2651" y="3439"/>
              <a:ext cx="337" cy="273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35" name="Line 181"/>
            <p:cNvSpPr/>
            <p:nvPr/>
          </p:nvSpPr>
          <p:spPr>
            <a:xfrm flipV="1">
              <a:off x="2639" y="3439"/>
              <a:ext cx="361" cy="275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36" name="Line 182"/>
            <p:cNvSpPr/>
            <p:nvPr/>
          </p:nvSpPr>
          <p:spPr>
            <a:xfrm flipV="1">
              <a:off x="2512" y="3493"/>
              <a:ext cx="605" cy="17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37" name="Line 183"/>
            <p:cNvSpPr/>
            <p:nvPr/>
          </p:nvSpPr>
          <p:spPr>
            <a:xfrm>
              <a:off x="2505" y="3491"/>
              <a:ext cx="630" cy="17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38" name="Line 184"/>
            <p:cNvSpPr/>
            <p:nvPr/>
          </p:nvSpPr>
          <p:spPr>
            <a:xfrm>
              <a:off x="2456" y="3574"/>
              <a:ext cx="728" cy="4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39" name="Line 185"/>
            <p:cNvSpPr/>
            <p:nvPr/>
          </p:nvSpPr>
          <p:spPr>
            <a:xfrm>
              <a:off x="2821" y="3579"/>
              <a:ext cx="5" cy="153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0" name="Oval 186"/>
            <p:cNvSpPr/>
            <p:nvPr/>
          </p:nvSpPr>
          <p:spPr>
            <a:xfrm>
              <a:off x="2640" y="3505"/>
              <a:ext cx="354" cy="144"/>
            </a:xfrm>
            <a:prstGeom prst="ellipse">
              <a:avLst/>
            </a:prstGeom>
            <a:solidFill>
              <a:srgbClr val="D9D9FF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41" name="Arc 187"/>
            <p:cNvSpPr/>
            <p:nvPr/>
          </p:nvSpPr>
          <p:spPr>
            <a:xfrm>
              <a:off x="2628" y="3570"/>
              <a:ext cx="382" cy="81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3" y="0"/>
                </a:cxn>
              </a:cxnLst>
              <a:rect l="0" t="0" r="0" b="0"/>
              <a:pathLst>
                <a:path w="43184" h="22760" fill="none">
                  <a:moveTo>
                    <a:pt x="43152" y="0"/>
                  </a:moveTo>
                  <a:cubicBezTo>
                    <a:pt x="43173" y="386"/>
                    <a:pt x="43184" y="773"/>
                    <a:pt x="43184" y="1160"/>
                  </a:cubicBezTo>
                  <a:cubicBezTo>
                    <a:pt x="43184" y="13089"/>
                    <a:pt x="33513" y="22760"/>
                    <a:pt x="21584" y="22760"/>
                  </a:cubicBezTo>
                  <a:cubicBezTo>
                    <a:pt x="9975" y="22760"/>
                    <a:pt x="443" y="13584"/>
                    <a:pt x="-1" y="1985"/>
                  </a:cubicBezTo>
                </a:path>
                <a:path w="43184" h="22760" stroke="0">
                  <a:moveTo>
                    <a:pt x="43152" y="0"/>
                  </a:moveTo>
                  <a:cubicBezTo>
                    <a:pt x="43173" y="386"/>
                    <a:pt x="43184" y="773"/>
                    <a:pt x="43184" y="1160"/>
                  </a:cubicBezTo>
                  <a:cubicBezTo>
                    <a:pt x="43184" y="13089"/>
                    <a:pt x="33513" y="22760"/>
                    <a:pt x="21584" y="22760"/>
                  </a:cubicBezTo>
                  <a:cubicBezTo>
                    <a:pt x="9975" y="22760"/>
                    <a:pt x="443" y="13584"/>
                    <a:pt x="-1" y="1985"/>
                  </a:cubicBezTo>
                  <a:lnTo>
                    <a:pt x="21584" y="1160"/>
                  </a:lnTo>
                  <a:lnTo>
                    <a:pt x="43152" y="0"/>
                  </a:lnTo>
                  <a:close/>
                </a:path>
              </a:pathLst>
            </a:custGeom>
            <a:noFill/>
            <a:ln w="3175" cap="flat" cmpd="sng">
              <a:solidFill>
                <a:srgbClr val="577CD9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42" name="Rectangle 188"/>
            <p:cNvSpPr/>
            <p:nvPr/>
          </p:nvSpPr>
          <p:spPr>
            <a:xfrm>
              <a:off x="2624" y="3389"/>
              <a:ext cx="384" cy="162"/>
            </a:xfrm>
            <a:prstGeom prst="rect">
              <a:avLst/>
            </a:prstGeom>
            <a:solidFill>
              <a:srgbClr val="D9D9FF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43" name="Arc 189"/>
            <p:cNvSpPr/>
            <p:nvPr/>
          </p:nvSpPr>
          <p:spPr>
            <a:xfrm>
              <a:off x="2529" y="3319"/>
              <a:ext cx="572" cy="16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6" y="0"/>
                </a:cxn>
              </a:cxnLst>
              <a:rect l="0" t="0" r="0" b="0"/>
              <a:pathLst>
                <a:path w="43200" h="37209" fill="none">
                  <a:moveTo>
                    <a:pt x="36924" y="387"/>
                  </a:moveTo>
                  <a:cubicBezTo>
                    <a:pt x="40944" y="4433"/>
                    <a:pt x="43200" y="9905"/>
                    <a:pt x="43200" y="15609"/>
                  </a:cubicBezTo>
                  <a:cubicBezTo>
                    <a:pt x="43200" y="27538"/>
                    <a:pt x="33529" y="37209"/>
                    <a:pt x="21600" y="37209"/>
                  </a:cubicBezTo>
                  <a:cubicBezTo>
                    <a:pt x="9670" y="37209"/>
                    <a:pt x="0" y="27538"/>
                    <a:pt x="0" y="15609"/>
                  </a:cubicBezTo>
                  <a:cubicBezTo>
                    <a:pt x="-1" y="9713"/>
                    <a:pt x="2409" y="4074"/>
                    <a:pt x="6669" y="-1"/>
                  </a:cubicBezTo>
                </a:path>
                <a:path w="43200" h="37209" stroke="0">
                  <a:moveTo>
                    <a:pt x="36924" y="387"/>
                  </a:moveTo>
                  <a:cubicBezTo>
                    <a:pt x="40944" y="4433"/>
                    <a:pt x="43200" y="9905"/>
                    <a:pt x="43200" y="15609"/>
                  </a:cubicBezTo>
                  <a:cubicBezTo>
                    <a:pt x="43200" y="27538"/>
                    <a:pt x="33529" y="37209"/>
                    <a:pt x="21600" y="37209"/>
                  </a:cubicBezTo>
                  <a:cubicBezTo>
                    <a:pt x="9670" y="37209"/>
                    <a:pt x="0" y="27538"/>
                    <a:pt x="0" y="15609"/>
                  </a:cubicBezTo>
                  <a:cubicBezTo>
                    <a:pt x="-1" y="9713"/>
                    <a:pt x="2409" y="4074"/>
                    <a:pt x="6669" y="-1"/>
                  </a:cubicBezTo>
                  <a:lnTo>
                    <a:pt x="21600" y="15609"/>
                  </a:lnTo>
                  <a:lnTo>
                    <a:pt x="36924" y="387"/>
                  </a:lnTo>
                  <a:close/>
                </a:path>
              </a:pathLst>
            </a:custGeom>
            <a:noFill/>
            <a:ln w="19050" cap="flat" cmpd="sng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44" name="Line 190"/>
            <p:cNvSpPr/>
            <p:nvPr/>
          </p:nvSpPr>
          <p:spPr>
            <a:xfrm>
              <a:off x="2648" y="3755"/>
              <a:ext cx="337" cy="273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5" name="Line 191"/>
            <p:cNvSpPr/>
            <p:nvPr/>
          </p:nvSpPr>
          <p:spPr>
            <a:xfrm flipV="1">
              <a:off x="2636" y="3755"/>
              <a:ext cx="361" cy="275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6" name="Line 192"/>
            <p:cNvSpPr/>
            <p:nvPr/>
          </p:nvSpPr>
          <p:spPr>
            <a:xfrm flipV="1">
              <a:off x="2509" y="3809"/>
              <a:ext cx="605" cy="172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7" name="Line 193"/>
            <p:cNvSpPr/>
            <p:nvPr/>
          </p:nvSpPr>
          <p:spPr>
            <a:xfrm>
              <a:off x="2502" y="3807"/>
              <a:ext cx="630" cy="170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8" name="Line 194"/>
            <p:cNvSpPr/>
            <p:nvPr/>
          </p:nvSpPr>
          <p:spPr>
            <a:xfrm>
              <a:off x="2453" y="3890"/>
              <a:ext cx="728" cy="4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49" name="Line 195"/>
            <p:cNvSpPr/>
            <p:nvPr/>
          </p:nvSpPr>
          <p:spPr>
            <a:xfrm>
              <a:off x="2818" y="3895"/>
              <a:ext cx="5" cy="153"/>
            </a:xfrm>
            <a:prstGeom prst="line">
              <a:avLst/>
            </a:prstGeom>
            <a:ln w="9525" cap="flat" cmpd="sng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50" name="Oval 196"/>
            <p:cNvSpPr/>
            <p:nvPr/>
          </p:nvSpPr>
          <p:spPr>
            <a:xfrm>
              <a:off x="2623" y="3766"/>
              <a:ext cx="383" cy="217"/>
            </a:xfrm>
            <a:prstGeom prst="ellipse">
              <a:avLst/>
            </a:prstGeom>
            <a:solidFill>
              <a:srgbClr val="D9D9FF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51" name="Rectangle 197"/>
            <p:cNvSpPr/>
            <p:nvPr/>
          </p:nvSpPr>
          <p:spPr>
            <a:xfrm>
              <a:off x="2640" y="3728"/>
              <a:ext cx="369" cy="84"/>
            </a:xfrm>
            <a:prstGeom prst="rect">
              <a:avLst/>
            </a:prstGeom>
            <a:solidFill>
              <a:srgbClr val="D9D9FF"/>
            </a:solidFill>
            <a:ln w="9525">
              <a:noFill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52" name="Arc 198"/>
            <p:cNvSpPr/>
            <p:nvPr/>
          </p:nvSpPr>
          <p:spPr>
            <a:xfrm>
              <a:off x="2524" y="3586"/>
              <a:ext cx="572" cy="1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7" y="0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7" y="0"/>
                </a:cxn>
              </a:cxnLst>
              <a:rect l="0" t="0" r="0" b="0"/>
              <a:pathLst>
                <a:path w="43200" h="37209" fill="none">
                  <a:moveTo>
                    <a:pt x="38746" y="2473"/>
                  </a:moveTo>
                  <a:cubicBezTo>
                    <a:pt x="41634" y="6243"/>
                    <a:pt x="43200" y="10859"/>
                    <a:pt x="43200" y="15609"/>
                  </a:cubicBezTo>
                  <a:cubicBezTo>
                    <a:pt x="43200" y="27538"/>
                    <a:pt x="33529" y="37209"/>
                    <a:pt x="21600" y="37209"/>
                  </a:cubicBezTo>
                  <a:cubicBezTo>
                    <a:pt x="9670" y="37209"/>
                    <a:pt x="0" y="27538"/>
                    <a:pt x="0" y="15609"/>
                  </a:cubicBezTo>
                  <a:cubicBezTo>
                    <a:pt x="-1" y="9713"/>
                    <a:pt x="2409" y="4074"/>
                    <a:pt x="6669" y="-1"/>
                  </a:cubicBezTo>
                </a:path>
                <a:path w="43200" h="37209" stroke="0">
                  <a:moveTo>
                    <a:pt x="38746" y="2473"/>
                  </a:moveTo>
                  <a:cubicBezTo>
                    <a:pt x="41634" y="6243"/>
                    <a:pt x="43200" y="10859"/>
                    <a:pt x="43200" y="15609"/>
                  </a:cubicBezTo>
                  <a:cubicBezTo>
                    <a:pt x="43200" y="27538"/>
                    <a:pt x="33529" y="37209"/>
                    <a:pt x="21600" y="37209"/>
                  </a:cubicBezTo>
                  <a:cubicBezTo>
                    <a:pt x="9670" y="37209"/>
                    <a:pt x="0" y="27538"/>
                    <a:pt x="0" y="15609"/>
                  </a:cubicBezTo>
                  <a:cubicBezTo>
                    <a:pt x="-1" y="9713"/>
                    <a:pt x="2409" y="4074"/>
                    <a:pt x="6669" y="-1"/>
                  </a:cubicBezTo>
                  <a:lnTo>
                    <a:pt x="21600" y="15609"/>
                  </a:lnTo>
                  <a:lnTo>
                    <a:pt x="38746" y="2473"/>
                  </a:lnTo>
                  <a:close/>
                </a:path>
              </a:pathLst>
            </a:custGeom>
            <a:noFill/>
            <a:ln w="19050" cap="flat" cmpd="sng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53" name="WordArt 199"/>
            <p:cNvSpPr>
              <a:spLocks noTextEdit="1"/>
            </p:cNvSpPr>
            <p:nvPr/>
          </p:nvSpPr>
          <p:spPr>
            <a:xfrm rot="5400000">
              <a:off x="573" y="3367"/>
              <a:ext cx="588" cy="161"/>
            </a:xfrm>
            <a:prstGeom prst="rect">
              <a:avLst/>
            </a:prstGeom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轴对称</a:t>
              </a:r>
            </a:p>
          </p:txBody>
        </p:sp>
        <p:sp>
          <p:nvSpPr>
            <p:cNvPr id="45254" name="WordArt 200"/>
            <p:cNvSpPr>
              <a:spLocks noTextEdit="1"/>
            </p:cNvSpPr>
            <p:nvPr/>
          </p:nvSpPr>
          <p:spPr>
            <a:xfrm>
              <a:off x="1708" y="3177"/>
              <a:ext cx="82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45255" name="WordArt 201"/>
            <p:cNvSpPr>
              <a:spLocks noTextEdit="1"/>
            </p:cNvSpPr>
            <p:nvPr/>
          </p:nvSpPr>
          <p:spPr>
            <a:xfrm>
              <a:off x="2857" y="3306"/>
              <a:ext cx="82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s</a:t>
              </a:r>
            </a:p>
          </p:txBody>
        </p:sp>
        <p:sp>
          <p:nvSpPr>
            <p:cNvPr id="45256" name="Rectangle 202"/>
            <p:cNvSpPr/>
            <p:nvPr/>
          </p:nvSpPr>
          <p:spPr>
            <a:xfrm>
              <a:off x="755" y="3098"/>
              <a:ext cx="247" cy="725"/>
            </a:xfrm>
            <a:prstGeom prst="rect">
              <a:avLst/>
            </a:prstGeom>
            <a:noFill/>
            <a:ln w="317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8704" name="Group 203"/>
          <p:cNvGrpSpPr/>
          <p:nvPr/>
        </p:nvGrpSpPr>
        <p:grpSpPr>
          <a:xfrm>
            <a:off x="5753100" y="4332288"/>
            <a:ext cx="2889250" cy="1992312"/>
            <a:chOff x="3624" y="2729"/>
            <a:chExt cx="1820" cy="1255"/>
          </a:xfrm>
        </p:grpSpPr>
        <p:sp>
          <p:nvSpPr>
            <p:cNvPr id="45258" name="WordArt 204"/>
            <p:cNvSpPr>
              <a:spLocks noTextEdit="1"/>
            </p:cNvSpPr>
            <p:nvPr/>
          </p:nvSpPr>
          <p:spPr>
            <a:xfrm>
              <a:off x="4239" y="2729"/>
              <a:ext cx="881" cy="1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均匀带电大平面</a:t>
              </a:r>
            </a:p>
          </p:txBody>
        </p:sp>
        <p:sp>
          <p:nvSpPr>
            <p:cNvPr id="45259" name="AutoShape 205"/>
            <p:cNvSpPr/>
            <p:nvPr/>
          </p:nvSpPr>
          <p:spPr>
            <a:xfrm rot="5400000" flipV="1">
              <a:off x="4189" y="3224"/>
              <a:ext cx="1061" cy="443"/>
            </a:xfrm>
            <a:prstGeom prst="parallelogram">
              <a:avLst>
                <a:gd name="adj" fmla="val 44830"/>
              </a:avLst>
            </a:prstGeom>
            <a:solidFill>
              <a:srgbClr val="D9D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60" name="Oval 206"/>
            <p:cNvSpPr/>
            <p:nvPr/>
          </p:nvSpPr>
          <p:spPr>
            <a:xfrm rot="-5400000">
              <a:off x="4920" y="3304"/>
              <a:ext cx="430" cy="314"/>
            </a:xfrm>
            <a:prstGeom prst="ellipse">
              <a:avLst/>
            </a:pr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61" name="Line 207"/>
            <p:cNvSpPr/>
            <p:nvPr/>
          </p:nvSpPr>
          <p:spPr>
            <a:xfrm rot="-5400000">
              <a:off x="4706" y="2819"/>
              <a:ext cx="3" cy="832"/>
            </a:xfrm>
            <a:prstGeom prst="line">
              <a:avLst/>
            </a:prstGeom>
            <a:ln w="317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262" name="Arc 208"/>
            <p:cNvSpPr/>
            <p:nvPr/>
          </p:nvSpPr>
          <p:spPr>
            <a:xfrm>
              <a:off x="4590" y="3245"/>
              <a:ext cx="162" cy="423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</a:cxnLst>
              <a:rect l="0" t="0" r="0" b="0"/>
              <a:pathLst>
                <a:path w="22214" h="43190" fill="none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</a:path>
                <a:path w="22214" h="43190" stroke="0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  <a:lnTo>
                    <a:pt x="21600" y="21600"/>
                  </a:lnTo>
                  <a:lnTo>
                    <a:pt x="20941" y="43189"/>
                  </a:lnTo>
                  <a:close/>
                </a:path>
              </a:pathLst>
            </a:cu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63" name="Arc 209"/>
            <p:cNvSpPr/>
            <p:nvPr/>
          </p:nvSpPr>
          <p:spPr>
            <a:xfrm>
              <a:off x="4165" y="3247"/>
              <a:ext cx="158" cy="431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</a:cxnLst>
              <a:rect l="0" t="0" r="0" b="0"/>
              <a:pathLst>
                <a:path w="21600" h="43065" fill="none">
                  <a:moveTo>
                    <a:pt x="20941" y="43064"/>
                  </a:moveTo>
                  <a:cubicBezTo>
                    <a:pt x="9273" y="42708"/>
                    <a:pt x="0" y="33147"/>
                    <a:pt x="0" y="21475"/>
                  </a:cubicBezTo>
                  <a:cubicBezTo>
                    <a:pt x="-1" y="10442"/>
                    <a:pt x="8314" y="1182"/>
                    <a:pt x="19283" y="-1"/>
                  </a:cubicBezTo>
                </a:path>
                <a:path w="21600" h="43065" stroke="0">
                  <a:moveTo>
                    <a:pt x="20941" y="43064"/>
                  </a:moveTo>
                  <a:cubicBezTo>
                    <a:pt x="9273" y="42708"/>
                    <a:pt x="0" y="33147"/>
                    <a:pt x="0" y="21475"/>
                  </a:cubicBezTo>
                  <a:cubicBezTo>
                    <a:pt x="-1" y="10442"/>
                    <a:pt x="8314" y="1182"/>
                    <a:pt x="19283" y="-1"/>
                  </a:cubicBezTo>
                  <a:lnTo>
                    <a:pt x="21600" y="21475"/>
                  </a:lnTo>
                  <a:lnTo>
                    <a:pt x="20941" y="43064"/>
                  </a:lnTo>
                  <a:close/>
                </a:path>
              </a:pathLst>
            </a:custGeom>
            <a:noFill/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64" name="Line 210"/>
            <p:cNvSpPr/>
            <p:nvPr/>
          </p:nvSpPr>
          <p:spPr>
            <a:xfrm rot="-5400000">
              <a:off x="4715" y="3251"/>
              <a:ext cx="3" cy="832"/>
            </a:xfrm>
            <a:prstGeom prst="line">
              <a:avLst/>
            </a:prstGeom>
            <a:ln w="317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45265" name="Arc 211"/>
            <p:cNvSpPr/>
            <p:nvPr/>
          </p:nvSpPr>
          <p:spPr>
            <a:xfrm flipH="1">
              <a:off x="4740" y="3245"/>
              <a:ext cx="162" cy="423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</a:cxnLst>
              <a:rect l="0" t="0" r="0" b="0"/>
              <a:pathLst>
                <a:path w="22214" h="43190" fill="none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</a:path>
                <a:path w="22214" h="43190" stroke="0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  <a:lnTo>
                    <a:pt x="21600" y="21600"/>
                  </a:lnTo>
                  <a:lnTo>
                    <a:pt x="20941" y="43189"/>
                  </a:lnTo>
                  <a:close/>
                </a:path>
              </a:pathLst>
            </a:custGeom>
            <a:noFill/>
            <a:ln w="317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66" name="Arc 212"/>
            <p:cNvSpPr/>
            <p:nvPr/>
          </p:nvSpPr>
          <p:spPr>
            <a:xfrm flipH="1">
              <a:off x="4302" y="3248"/>
              <a:ext cx="162" cy="423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1" y="4"/>
                </a:cxn>
              </a:cxnLst>
              <a:rect l="0" t="0" r="0" b="0"/>
              <a:pathLst>
                <a:path w="22214" h="43190" fill="none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</a:path>
                <a:path w="22214" h="43190" stroke="0">
                  <a:moveTo>
                    <a:pt x="20941" y="43189"/>
                  </a:moveTo>
                  <a:cubicBezTo>
                    <a:pt x="9273" y="42833"/>
                    <a:pt x="0" y="332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804" y="-1"/>
                    <a:pt x="22009" y="2"/>
                    <a:pt x="22214" y="8"/>
                  </a:cubicBezTo>
                  <a:lnTo>
                    <a:pt x="21600" y="21600"/>
                  </a:lnTo>
                  <a:lnTo>
                    <a:pt x="20941" y="43189"/>
                  </a:lnTo>
                  <a:close/>
                </a:path>
              </a:pathLst>
            </a:custGeom>
            <a:noFill/>
            <a:ln w="3175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67" name="WordArt 213"/>
            <p:cNvSpPr>
              <a:spLocks noTextEdit="1"/>
            </p:cNvSpPr>
            <p:nvPr/>
          </p:nvSpPr>
          <p:spPr>
            <a:xfrm>
              <a:off x="5259" y="3188"/>
              <a:ext cx="87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FF66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45268" name="Group 214"/>
            <p:cNvGrpSpPr/>
            <p:nvPr/>
          </p:nvGrpSpPr>
          <p:grpSpPr>
            <a:xfrm>
              <a:off x="3844" y="2936"/>
              <a:ext cx="1600" cy="172"/>
              <a:chOff x="3844" y="2936"/>
              <a:chExt cx="1600" cy="172"/>
            </a:xfrm>
          </p:grpSpPr>
          <p:sp>
            <p:nvSpPr>
              <p:cNvPr id="45269" name="Line 215"/>
              <p:cNvSpPr/>
              <p:nvPr/>
            </p:nvSpPr>
            <p:spPr>
              <a:xfrm>
                <a:off x="3968" y="3024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0" name="Line 216"/>
              <p:cNvSpPr/>
              <p:nvPr/>
            </p:nvSpPr>
            <p:spPr>
              <a:xfrm>
                <a:off x="4016" y="2936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1" name="Line 217"/>
              <p:cNvSpPr/>
              <p:nvPr/>
            </p:nvSpPr>
            <p:spPr>
              <a:xfrm>
                <a:off x="3844" y="3108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5272" name="Group 218"/>
            <p:cNvGrpSpPr/>
            <p:nvPr/>
          </p:nvGrpSpPr>
          <p:grpSpPr>
            <a:xfrm>
              <a:off x="3844" y="3792"/>
              <a:ext cx="1600" cy="172"/>
              <a:chOff x="3844" y="2936"/>
              <a:chExt cx="1600" cy="172"/>
            </a:xfrm>
          </p:grpSpPr>
          <p:sp>
            <p:nvSpPr>
              <p:cNvPr id="45273" name="Line 219"/>
              <p:cNvSpPr/>
              <p:nvPr/>
            </p:nvSpPr>
            <p:spPr>
              <a:xfrm>
                <a:off x="3968" y="3024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4" name="Line 220"/>
              <p:cNvSpPr/>
              <p:nvPr/>
            </p:nvSpPr>
            <p:spPr>
              <a:xfrm>
                <a:off x="4016" y="2936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5" name="Line 221"/>
              <p:cNvSpPr/>
              <p:nvPr/>
            </p:nvSpPr>
            <p:spPr>
              <a:xfrm>
                <a:off x="3844" y="3108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5276" name="Group 222"/>
            <p:cNvGrpSpPr/>
            <p:nvPr/>
          </p:nvGrpSpPr>
          <p:grpSpPr>
            <a:xfrm>
              <a:off x="3784" y="3344"/>
              <a:ext cx="1600" cy="172"/>
              <a:chOff x="3844" y="2936"/>
              <a:chExt cx="1600" cy="172"/>
            </a:xfrm>
          </p:grpSpPr>
          <p:sp>
            <p:nvSpPr>
              <p:cNvPr id="45277" name="Line 223"/>
              <p:cNvSpPr/>
              <p:nvPr/>
            </p:nvSpPr>
            <p:spPr>
              <a:xfrm>
                <a:off x="3968" y="3024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8" name="Line 224"/>
              <p:cNvSpPr/>
              <p:nvPr/>
            </p:nvSpPr>
            <p:spPr>
              <a:xfrm>
                <a:off x="4016" y="2936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79" name="Line 225"/>
              <p:cNvSpPr/>
              <p:nvPr/>
            </p:nvSpPr>
            <p:spPr>
              <a:xfrm>
                <a:off x="3844" y="3108"/>
                <a:ext cx="1428" cy="0"/>
              </a:xfrm>
              <a:prstGeom prst="line">
                <a:avLst/>
              </a:prstGeom>
              <a:ln w="952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5280" name="WordArt 226"/>
            <p:cNvSpPr>
              <a:spLocks noTextEdit="1"/>
            </p:cNvSpPr>
            <p:nvPr/>
          </p:nvSpPr>
          <p:spPr>
            <a:xfrm rot="5400000">
              <a:off x="3437" y="3334"/>
              <a:ext cx="588" cy="161"/>
            </a:xfrm>
            <a:prstGeom prst="rect">
              <a:avLst/>
            </a:prstGeom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rgbClr val="577CD9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577CD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面对称</a:t>
              </a:r>
            </a:p>
          </p:txBody>
        </p:sp>
        <p:sp>
          <p:nvSpPr>
            <p:cNvPr id="45281" name="WordArt 227"/>
            <p:cNvSpPr>
              <a:spLocks noTextEdit="1"/>
            </p:cNvSpPr>
            <p:nvPr/>
          </p:nvSpPr>
          <p:spPr>
            <a:xfrm>
              <a:off x="4738" y="3113"/>
              <a:ext cx="82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317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s</a:t>
              </a:r>
            </a:p>
          </p:txBody>
        </p:sp>
        <p:sp>
          <p:nvSpPr>
            <p:cNvPr id="45282" name="Rectangle 228"/>
            <p:cNvSpPr/>
            <p:nvPr/>
          </p:nvSpPr>
          <p:spPr>
            <a:xfrm>
              <a:off x="3624" y="3078"/>
              <a:ext cx="247" cy="725"/>
            </a:xfrm>
            <a:prstGeom prst="rect">
              <a:avLst/>
            </a:prstGeom>
            <a:noFill/>
            <a:ln w="3175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83" name="Line 229"/>
            <p:cNvSpPr/>
            <p:nvPr/>
          </p:nvSpPr>
          <p:spPr>
            <a:xfrm>
              <a:off x="4746" y="3243"/>
              <a:ext cx="390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84" name="Line 230"/>
            <p:cNvSpPr/>
            <p:nvPr/>
          </p:nvSpPr>
          <p:spPr>
            <a:xfrm>
              <a:off x="4749" y="3675"/>
              <a:ext cx="390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85" name="Line 231"/>
            <p:cNvSpPr/>
            <p:nvPr/>
          </p:nvSpPr>
          <p:spPr>
            <a:xfrm flipV="1">
              <a:off x="4308" y="3246"/>
              <a:ext cx="195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286" name="Line 232"/>
            <p:cNvSpPr/>
            <p:nvPr/>
          </p:nvSpPr>
          <p:spPr>
            <a:xfrm flipV="1">
              <a:off x="4308" y="3678"/>
              <a:ext cx="195" cy="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5287" name="文本框 1"/>
          <p:cNvSpPr txBox="1"/>
          <p:nvPr/>
        </p:nvSpPr>
        <p:spPr>
          <a:xfrm>
            <a:off x="42863" y="188913"/>
            <a:ext cx="710882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本部分计算题考点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高斯定理</a:t>
            </a:r>
            <a:r>
              <a:rPr lang="zh-CN" altLang="en-US" sz="3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求电场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0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2" name="Rectangle 21" descr="羊皮纸"/>
          <p:cNvSpPr/>
          <p:nvPr/>
        </p:nvSpPr>
        <p:spPr>
          <a:xfrm>
            <a:off x="0" y="0"/>
            <a:ext cx="9075738" cy="67945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Text Box 2"/>
          <p:cNvSpPr txBox="1"/>
          <p:nvPr/>
        </p:nvSpPr>
        <p:spPr>
          <a:xfrm>
            <a:off x="33338" y="185738"/>
            <a:ext cx="84550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均匀带电球体，半径为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，总电量为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,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求电场的分布。</a:t>
            </a:r>
          </a:p>
        </p:txBody>
      </p:sp>
      <p:sp>
        <p:nvSpPr>
          <p:cNvPr id="137220" name="Text Box 4"/>
          <p:cNvSpPr txBox="1"/>
          <p:nvPr/>
        </p:nvSpPr>
        <p:spPr>
          <a:xfrm>
            <a:off x="55563" y="2341563"/>
            <a:ext cx="5965825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取以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为球心，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&gt;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为半径的球面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作为高斯面。</a:t>
            </a:r>
          </a:p>
        </p:txBody>
      </p:sp>
      <p:grpSp>
        <p:nvGrpSpPr>
          <p:cNvPr id="46085" name="Group 8"/>
          <p:cNvGrpSpPr/>
          <p:nvPr/>
        </p:nvGrpSpPr>
        <p:grpSpPr>
          <a:xfrm>
            <a:off x="6469063" y="1670050"/>
            <a:ext cx="1198562" cy="1119188"/>
            <a:chOff x="3650" y="1244"/>
            <a:chExt cx="755" cy="705"/>
          </a:xfrm>
        </p:grpSpPr>
        <p:sp>
          <p:nvSpPr>
            <p:cNvPr id="46086" name="Oval 9" descr="小棋盘"/>
            <p:cNvSpPr/>
            <p:nvPr/>
          </p:nvSpPr>
          <p:spPr>
            <a:xfrm>
              <a:off x="3650" y="1244"/>
              <a:ext cx="755" cy="705"/>
            </a:xfrm>
            <a:prstGeom prst="ellipse">
              <a:avLst/>
            </a:prstGeom>
            <a:blipFill rotWithShape="0">
              <a:blip r:embed="rId3"/>
            </a:blipFill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087" name="Text Box 10"/>
            <p:cNvSpPr txBox="1"/>
            <p:nvPr/>
          </p:nvSpPr>
          <p:spPr>
            <a:xfrm>
              <a:off x="3783" y="1420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137227" name="Rectangle 11"/>
          <p:cNvSpPr/>
          <p:nvPr/>
        </p:nvSpPr>
        <p:spPr>
          <a:xfrm>
            <a:off x="347663" y="3238500"/>
            <a:ext cx="2941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通过高斯面的电通量</a:t>
            </a:r>
          </a:p>
        </p:txBody>
      </p:sp>
      <p:grpSp>
        <p:nvGrpSpPr>
          <p:cNvPr id="3" name="Group 12"/>
          <p:cNvGrpSpPr/>
          <p:nvPr/>
        </p:nvGrpSpPr>
        <p:grpSpPr>
          <a:xfrm>
            <a:off x="6110288" y="1252538"/>
            <a:ext cx="2198687" cy="1873250"/>
            <a:chOff x="3424" y="981"/>
            <a:chExt cx="1385" cy="1180"/>
          </a:xfrm>
        </p:grpSpPr>
        <p:sp>
          <p:nvSpPr>
            <p:cNvPr id="46090" name="Oval 13"/>
            <p:cNvSpPr/>
            <p:nvPr/>
          </p:nvSpPr>
          <p:spPr>
            <a:xfrm>
              <a:off x="3424" y="1032"/>
              <a:ext cx="1208" cy="1129"/>
            </a:xfrm>
            <a:prstGeom prst="ellipse">
              <a:avLst/>
            </a:prstGeom>
            <a:noFill/>
            <a:ln w="31750" cap="flat" cmpd="sng">
              <a:solidFill>
                <a:srgbClr val="0000FF"/>
              </a:solidFill>
              <a:prstDash val="lgDash"/>
              <a:round/>
              <a:headEnd type="none" w="med" len="med"/>
              <a:tailEnd type="none" w="sm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6091" name="Object 14"/>
            <p:cNvGraphicFramePr>
              <a:graphicFrameLocks noChangeAspect="1"/>
            </p:cNvGraphicFramePr>
            <p:nvPr/>
          </p:nvGraphicFramePr>
          <p:xfrm>
            <a:off x="4485" y="981"/>
            <a:ext cx="32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30200" imgH="381000" progId="Equation.3">
                    <p:embed/>
                  </p:oleObj>
                </mc:Choice>
                <mc:Fallback>
                  <p:oleObj r:id="rId4" imgW="330200" imgH="3810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85" y="981"/>
                          <a:ext cx="32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2" name="Object 15"/>
            <p:cNvGraphicFramePr>
              <a:graphicFrameLocks noChangeAspect="1"/>
            </p:cNvGraphicFramePr>
            <p:nvPr/>
          </p:nvGraphicFramePr>
          <p:xfrm>
            <a:off x="4120" y="1094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28600" imgH="241300" progId="Equation.3">
                    <p:embed/>
                  </p:oleObj>
                </mc:Choice>
                <mc:Fallback>
                  <p:oleObj r:id="rId6" imgW="228600" imgH="2413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20" y="1094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093" name="Line 16"/>
            <p:cNvSpPr/>
            <p:nvPr/>
          </p:nvSpPr>
          <p:spPr>
            <a:xfrm flipV="1">
              <a:off x="4013" y="1264"/>
              <a:ext cx="511" cy="358"/>
            </a:xfrm>
            <a:prstGeom prst="line">
              <a:avLst/>
            </a:prstGeom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sm" len="sm"/>
            </a:ln>
          </p:spPr>
        </p:sp>
      </p:grpSp>
      <p:grpSp>
        <p:nvGrpSpPr>
          <p:cNvPr id="4" name="Group 17"/>
          <p:cNvGrpSpPr/>
          <p:nvPr/>
        </p:nvGrpSpPr>
        <p:grpSpPr>
          <a:xfrm>
            <a:off x="1009650" y="3881438"/>
            <a:ext cx="6775450" cy="596900"/>
            <a:chOff x="396" y="3385"/>
            <a:chExt cx="4424" cy="473"/>
          </a:xfrm>
        </p:grpSpPr>
        <p:graphicFrame>
          <p:nvGraphicFramePr>
            <p:cNvPr id="46095" name="Object 18"/>
            <p:cNvGraphicFramePr>
              <a:graphicFrameLocks noChangeAspect="1"/>
            </p:cNvGraphicFramePr>
            <p:nvPr/>
          </p:nvGraphicFramePr>
          <p:xfrm>
            <a:off x="686" y="3385"/>
            <a:ext cx="4134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432300" imgH="431800" progId="Equation.3">
                    <p:embed/>
                  </p:oleObj>
                </mc:Choice>
                <mc:Fallback>
                  <p:oleObj r:id="rId8" imgW="4432300" imgH="4318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87997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86" y="3385"/>
                          <a:ext cx="4134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6" name="Object 19"/>
            <p:cNvGraphicFramePr>
              <a:graphicFrameLocks noChangeAspect="1"/>
            </p:cNvGraphicFramePr>
            <p:nvPr/>
          </p:nvGraphicFramePr>
          <p:xfrm>
            <a:off x="396" y="3430"/>
            <a:ext cx="352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190500" imgH="228600" progId="Equation.3">
                    <p:embed/>
                  </p:oleObj>
                </mc:Choice>
                <mc:Fallback>
                  <p:oleObj r:id="rId10" imgW="190500" imgH="2286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96" y="3430"/>
                          <a:ext cx="352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7238" name="Text Box 22"/>
          <p:cNvSpPr txBox="1"/>
          <p:nvPr/>
        </p:nvSpPr>
        <p:spPr>
          <a:xfrm>
            <a:off x="969963" y="4616450"/>
            <a:ext cx="285591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高斯面内电荷为</a:t>
            </a:r>
            <a:r>
              <a:rPr lang="en-US" altLang="zh-CN" sz="2400" b="1" i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q</a:t>
            </a:r>
          </a:p>
        </p:txBody>
      </p:sp>
      <p:graphicFrame>
        <p:nvGraphicFramePr>
          <p:cNvPr id="137239" name="Object 23"/>
          <p:cNvGraphicFramePr>
            <a:graphicFrameLocks noChangeAspect="1"/>
          </p:cNvGraphicFramePr>
          <p:nvPr/>
        </p:nvGraphicFramePr>
        <p:xfrm>
          <a:off x="2971800" y="5381625"/>
          <a:ext cx="25781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32000" imgH="571500" progId="Equation.DSMT4">
                  <p:embed/>
                </p:oleObj>
              </mc:Choice>
              <mc:Fallback>
                <p:oleObj r:id="rId12" imgW="2032000" imgH="571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2971800" y="5381625"/>
                        <a:ext cx="2578100" cy="8016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40" name="Object 24"/>
          <p:cNvGraphicFramePr>
            <a:graphicFrameLocks noChangeAspect="1"/>
          </p:cNvGraphicFramePr>
          <p:nvPr/>
        </p:nvGraphicFramePr>
        <p:xfrm>
          <a:off x="3765550" y="4478338"/>
          <a:ext cx="2014538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36600" imgH="431800" progId="Equation.3">
                  <p:embed/>
                </p:oleObj>
              </mc:Choice>
              <mc:Fallback>
                <p:oleObj r:id="rId14" imgW="736600" imgH="4318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65550" y="4478338"/>
                        <a:ext cx="2014538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WordArt 25"/>
          <p:cNvSpPr>
            <a:spLocks noTextEdit="1"/>
          </p:cNvSpPr>
          <p:nvPr/>
        </p:nvSpPr>
        <p:spPr>
          <a:xfrm>
            <a:off x="941388" y="5576888"/>
            <a:ext cx="1314450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球外电场</a:t>
            </a:r>
          </a:p>
        </p:txBody>
      </p:sp>
      <p:sp>
        <p:nvSpPr>
          <p:cNvPr id="29710" name="WordArt 27"/>
          <p:cNvSpPr>
            <a:spLocks noTextEdit="1"/>
          </p:cNvSpPr>
          <p:nvPr/>
        </p:nvSpPr>
        <p:spPr>
          <a:xfrm>
            <a:off x="2238375" y="6437313"/>
            <a:ext cx="4884738" cy="2095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3300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球外电场与点电荷的场相同！</a:t>
            </a:r>
          </a:p>
        </p:txBody>
      </p:sp>
      <p:sp>
        <p:nvSpPr>
          <p:cNvPr id="25" name="Text Box 48"/>
          <p:cNvSpPr txBox="1"/>
          <p:nvPr/>
        </p:nvSpPr>
        <p:spPr>
          <a:xfrm>
            <a:off x="152400" y="803275"/>
            <a:ext cx="5130800" cy="1476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（高斯定理）：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由对称性分析可知：以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为中心，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为半径的球面上各点场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强大小相同，方向沿径向方向。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7" grpId="0"/>
      <p:bldP spid="137238" grpId="0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2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106" name="Rectangle 23" descr="羊皮纸"/>
          <p:cNvSpPr/>
          <p:nvPr/>
        </p:nvSpPr>
        <p:spPr>
          <a:xfrm>
            <a:off x="0" y="0"/>
            <a:ext cx="9144000" cy="10525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1744663" y="3001963"/>
          <a:ext cx="3965575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73400" imgH="711200" progId="Equation.DSMT4">
                  <p:embed/>
                </p:oleObj>
              </mc:Choice>
              <mc:Fallback>
                <p:oleObj r:id="rId3" imgW="3073400" imgH="7112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744663" y="3001963"/>
                        <a:ext cx="3965575" cy="101917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4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796925" y="4767263"/>
          <a:ext cx="4706938" cy="209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29000" imgH="1612900" progId="Equation.DSMT4">
                  <p:embed/>
                </p:oleObj>
              </mc:Choice>
              <mc:Fallback>
                <p:oleObj r:id="rId5" imgW="3429000" imgH="1612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796925" y="4767263"/>
                        <a:ext cx="4706938" cy="2090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5802313" y="2549525"/>
            <a:ext cx="3235325" cy="4176713"/>
            <a:chOff x="3582" y="799"/>
            <a:chExt cx="2038" cy="2631"/>
          </a:xfrm>
        </p:grpSpPr>
        <p:sp>
          <p:nvSpPr>
            <p:cNvPr id="47110" name="Oval 5" descr="小棋盘"/>
            <p:cNvSpPr/>
            <p:nvPr/>
          </p:nvSpPr>
          <p:spPr>
            <a:xfrm>
              <a:off x="3582" y="1036"/>
              <a:ext cx="567" cy="567"/>
            </a:xfrm>
            <a:prstGeom prst="ellipse">
              <a:avLst/>
            </a:prstGeom>
            <a:blipFill rotWithShape="0">
              <a:blip r:embed="rId7"/>
            </a:blipFill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11" name="Line 6"/>
            <p:cNvSpPr/>
            <p:nvPr/>
          </p:nvSpPr>
          <p:spPr>
            <a:xfrm>
              <a:off x="3859" y="1337"/>
              <a:ext cx="0" cy="720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lgDash"/>
              <a:round/>
              <a:headEnd type="none" w="med" len="med"/>
              <a:tailEnd type="none" w="sm" len="med"/>
            </a:ln>
          </p:spPr>
        </p:sp>
        <p:sp>
          <p:nvSpPr>
            <p:cNvPr id="47112" name="Freeform 7"/>
            <p:cNvSpPr/>
            <p:nvPr/>
          </p:nvSpPr>
          <p:spPr>
            <a:xfrm>
              <a:off x="4155" y="2380"/>
              <a:ext cx="1078" cy="7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8" y="144"/>
                </a:cxn>
                <a:cxn ang="0">
                  <a:pos x="144" y="336"/>
                </a:cxn>
                <a:cxn ang="0">
                  <a:pos x="384" y="576"/>
                </a:cxn>
                <a:cxn ang="0">
                  <a:pos x="688" y="715"/>
                </a:cxn>
                <a:cxn ang="0">
                  <a:pos x="1078" y="748"/>
                </a:cxn>
              </a:cxnLst>
              <a:rect l="0" t="0" r="0" b="0"/>
              <a:pathLst>
                <a:path w="1078" h="748">
                  <a:moveTo>
                    <a:pt x="0" y="0"/>
                  </a:moveTo>
                  <a:cubicBezTo>
                    <a:pt x="12" y="44"/>
                    <a:pt x="24" y="88"/>
                    <a:pt x="48" y="144"/>
                  </a:cubicBezTo>
                  <a:cubicBezTo>
                    <a:pt x="72" y="200"/>
                    <a:pt x="88" y="264"/>
                    <a:pt x="144" y="336"/>
                  </a:cubicBezTo>
                  <a:cubicBezTo>
                    <a:pt x="200" y="408"/>
                    <a:pt x="293" y="513"/>
                    <a:pt x="384" y="576"/>
                  </a:cubicBezTo>
                  <a:cubicBezTo>
                    <a:pt x="475" y="639"/>
                    <a:pt x="572" y="686"/>
                    <a:pt x="688" y="715"/>
                  </a:cubicBezTo>
                  <a:cubicBezTo>
                    <a:pt x="804" y="744"/>
                    <a:pt x="997" y="741"/>
                    <a:pt x="1078" y="748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3" name="Line 8"/>
            <p:cNvSpPr/>
            <p:nvPr/>
          </p:nvSpPr>
          <p:spPr>
            <a:xfrm flipH="1">
              <a:off x="3870" y="2358"/>
              <a:ext cx="288" cy="816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sm" len="med"/>
            </a:ln>
          </p:spPr>
        </p:sp>
        <p:sp>
          <p:nvSpPr>
            <p:cNvPr id="47114" name="Line 9"/>
            <p:cNvSpPr/>
            <p:nvPr/>
          </p:nvSpPr>
          <p:spPr>
            <a:xfrm flipV="1">
              <a:off x="3856" y="1976"/>
              <a:ext cx="0" cy="1200"/>
            </a:xfrm>
            <a:prstGeom prst="line">
              <a:avLst/>
            </a:prstGeom>
            <a:ln w="317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graphicFrame>
          <p:nvGraphicFramePr>
            <p:cNvPr id="47115" name="Object 10"/>
            <p:cNvGraphicFramePr>
              <a:graphicFrameLocks noChangeAspect="1"/>
            </p:cNvGraphicFramePr>
            <p:nvPr/>
          </p:nvGraphicFramePr>
          <p:xfrm>
            <a:off x="5420" y="3249"/>
            <a:ext cx="127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28600" imgH="241300" progId="Equation.3">
                    <p:embed/>
                  </p:oleObj>
                </mc:Choice>
                <mc:Fallback>
                  <p:oleObj r:id="rId8" imgW="228600" imgH="24130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20" y="3249"/>
                          <a:ext cx="127" cy="1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6" name="Object 11"/>
            <p:cNvGraphicFramePr>
              <a:graphicFrameLocks noChangeAspect="1"/>
            </p:cNvGraphicFramePr>
            <p:nvPr/>
          </p:nvGraphicFramePr>
          <p:xfrm>
            <a:off x="4088" y="3194"/>
            <a:ext cx="15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330200" imgH="381000" progId="Equation.3">
                    <p:embed/>
                  </p:oleObj>
                </mc:Choice>
                <mc:Fallback>
                  <p:oleObj r:id="rId10" imgW="330200" imgH="3810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88" y="3194"/>
                          <a:ext cx="15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7" name="Object 12"/>
            <p:cNvGraphicFramePr>
              <a:graphicFrameLocks noChangeAspect="1"/>
            </p:cNvGraphicFramePr>
            <p:nvPr/>
          </p:nvGraphicFramePr>
          <p:xfrm>
            <a:off x="3696" y="3203"/>
            <a:ext cx="160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55600" imgH="393700" progId="Equation.3">
                    <p:embed/>
                  </p:oleObj>
                </mc:Choice>
                <mc:Fallback>
                  <p:oleObj r:id="rId12" imgW="355600" imgH="3937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3203"/>
                          <a:ext cx="160" cy="1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8" name="Object 13"/>
            <p:cNvGraphicFramePr>
              <a:graphicFrameLocks noChangeAspect="1"/>
            </p:cNvGraphicFramePr>
            <p:nvPr/>
          </p:nvGraphicFramePr>
          <p:xfrm>
            <a:off x="3652" y="2006"/>
            <a:ext cx="16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355600" imgH="381000" progId="Equation.3">
                    <p:embed/>
                  </p:oleObj>
                </mc:Choice>
                <mc:Fallback>
                  <p:oleObj r:id="rId14" imgW="355600" imgH="3810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52" y="2006"/>
                          <a:ext cx="160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9" name="Line 14"/>
            <p:cNvSpPr/>
            <p:nvPr/>
          </p:nvSpPr>
          <p:spPr>
            <a:xfrm>
              <a:off x="4150" y="1298"/>
              <a:ext cx="0" cy="1872"/>
            </a:xfrm>
            <a:prstGeom prst="line">
              <a:avLst/>
            </a:prstGeom>
            <a:ln w="25400" cap="flat" cmpd="sng">
              <a:solidFill>
                <a:srgbClr val="FF6600"/>
              </a:solidFill>
              <a:prstDash val="dash"/>
              <a:round/>
              <a:headEnd type="none" w="med" len="med"/>
              <a:tailEnd type="none" w="sm" len="med"/>
            </a:ln>
          </p:spPr>
        </p:sp>
        <p:sp>
          <p:nvSpPr>
            <p:cNvPr id="47120" name="Line 15"/>
            <p:cNvSpPr/>
            <p:nvPr/>
          </p:nvSpPr>
          <p:spPr>
            <a:xfrm>
              <a:off x="3847" y="3164"/>
              <a:ext cx="1773" cy="0"/>
            </a:xfrm>
            <a:prstGeom prst="line">
              <a:avLst/>
            </a:prstGeom>
            <a:ln w="317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47121" name="Line 16"/>
            <p:cNvSpPr/>
            <p:nvPr/>
          </p:nvSpPr>
          <p:spPr>
            <a:xfrm flipV="1">
              <a:off x="3878" y="1117"/>
              <a:ext cx="181" cy="227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7122" name="Object 17"/>
            <p:cNvGraphicFramePr>
              <a:graphicFrameLocks noChangeAspect="1"/>
            </p:cNvGraphicFramePr>
            <p:nvPr/>
          </p:nvGraphicFramePr>
          <p:xfrm>
            <a:off x="3969" y="799"/>
            <a:ext cx="25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2400" imgH="165100" progId="Equation.3">
                    <p:embed/>
                  </p:oleObj>
                </mc:Choice>
                <mc:Fallback>
                  <p:oleObj r:id="rId16" imgW="152400" imgH="1651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69" y="799"/>
                          <a:ext cx="25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3" name="Object 18"/>
            <p:cNvGraphicFramePr>
              <a:graphicFrameLocks noChangeAspect="1"/>
            </p:cNvGraphicFramePr>
            <p:nvPr/>
          </p:nvGraphicFramePr>
          <p:xfrm>
            <a:off x="4059" y="3158"/>
            <a:ext cx="25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52400" imgH="165100" progId="Equation.3">
                    <p:embed/>
                  </p:oleObj>
                </mc:Choice>
                <mc:Fallback>
                  <p:oleObj r:id="rId16" imgW="152400" imgH="1651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059" y="3158"/>
                          <a:ext cx="25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/>
          <p:nvPr/>
        </p:nvGrpSpPr>
        <p:grpSpPr>
          <a:xfrm>
            <a:off x="785813" y="1962150"/>
            <a:ext cx="4102100" cy="971550"/>
            <a:chOff x="305" y="369"/>
            <a:chExt cx="3232" cy="828"/>
          </a:xfrm>
        </p:grpSpPr>
        <p:graphicFrame>
          <p:nvGraphicFramePr>
            <p:cNvPr id="47125" name="Object 20"/>
            <p:cNvGraphicFramePr>
              <a:graphicFrameLocks noChangeAspect="1"/>
            </p:cNvGraphicFramePr>
            <p:nvPr/>
          </p:nvGraphicFramePr>
          <p:xfrm>
            <a:off x="593" y="369"/>
            <a:ext cx="2944" cy="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794000" imgH="711200" progId="Equation.3">
                    <p:embed/>
                  </p:oleObj>
                </mc:Choice>
                <mc:Fallback>
                  <p:oleObj r:id="rId18" imgW="2794000" imgH="7112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93" y="369"/>
                          <a:ext cx="2944" cy="8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26" name="Object 21"/>
            <p:cNvGraphicFramePr>
              <a:graphicFrameLocks noChangeAspect="1"/>
            </p:cNvGraphicFramePr>
            <p:nvPr/>
          </p:nvGraphicFramePr>
          <p:xfrm>
            <a:off x="305" y="574"/>
            <a:ext cx="352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190500" imgH="228600" progId="Equation.3">
                    <p:embed/>
                  </p:oleObj>
                </mc:Choice>
                <mc:Fallback>
                  <p:oleObj r:id="rId20" imgW="190500" imgH="22860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05" y="574"/>
                          <a:ext cx="352" cy="36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127" name="Group 24"/>
          <p:cNvGrpSpPr/>
          <p:nvPr/>
        </p:nvGrpSpPr>
        <p:grpSpPr>
          <a:xfrm>
            <a:off x="6853238" y="858838"/>
            <a:ext cx="1198562" cy="1119187"/>
            <a:chOff x="3560" y="926"/>
            <a:chExt cx="755" cy="705"/>
          </a:xfrm>
        </p:grpSpPr>
        <p:sp>
          <p:nvSpPr>
            <p:cNvPr id="47128" name="Oval 25" descr="小棋盘"/>
            <p:cNvSpPr/>
            <p:nvPr/>
          </p:nvSpPr>
          <p:spPr>
            <a:xfrm>
              <a:off x="3560" y="926"/>
              <a:ext cx="755" cy="705"/>
            </a:xfrm>
            <a:prstGeom prst="ellipse">
              <a:avLst/>
            </a:prstGeom>
            <a:blipFill rotWithShape="0">
              <a:blip r:embed="rId7"/>
            </a:blipFill>
            <a:ln w="381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129" name="Text Box 26"/>
            <p:cNvSpPr txBox="1"/>
            <p:nvPr/>
          </p:nvSpPr>
          <p:spPr>
            <a:xfrm>
              <a:off x="3693" y="1057"/>
              <a:ext cx="2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47130" name="Text Box 27"/>
          <p:cNvSpPr txBox="1"/>
          <p:nvPr/>
        </p:nvSpPr>
        <p:spPr>
          <a:xfrm>
            <a:off x="438150" y="420688"/>
            <a:ext cx="59086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 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点在球面内时，高斯面包含的电荷量</a:t>
            </a:r>
          </a:p>
        </p:txBody>
      </p:sp>
      <p:graphicFrame>
        <p:nvGraphicFramePr>
          <p:cNvPr id="139292" name="Object 28"/>
          <p:cNvGraphicFramePr>
            <a:graphicFrameLocks noChangeAspect="1"/>
          </p:cNvGraphicFramePr>
          <p:nvPr/>
        </p:nvGraphicFramePr>
        <p:xfrm>
          <a:off x="633413" y="927100"/>
          <a:ext cx="510381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4013200" imgH="990600" progId="Equation.3">
                  <p:embed/>
                </p:oleObj>
              </mc:Choice>
              <mc:Fallback>
                <p:oleObj r:id="rId22" imgW="4013200" imgH="9906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633413" y="927100"/>
                        <a:ext cx="5103812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93" name="Oval 29"/>
          <p:cNvSpPr/>
          <p:nvPr/>
        </p:nvSpPr>
        <p:spPr>
          <a:xfrm>
            <a:off x="7081838" y="1052513"/>
            <a:ext cx="768350" cy="71596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7133" name="Group 30"/>
          <p:cNvGrpSpPr/>
          <p:nvPr/>
        </p:nvGrpSpPr>
        <p:grpSpPr>
          <a:xfrm>
            <a:off x="6494463" y="441325"/>
            <a:ext cx="2198687" cy="1873250"/>
            <a:chOff x="3334" y="663"/>
            <a:chExt cx="1385" cy="1180"/>
          </a:xfrm>
        </p:grpSpPr>
        <p:sp>
          <p:nvSpPr>
            <p:cNvPr id="47134" name="Oval 31"/>
            <p:cNvSpPr/>
            <p:nvPr/>
          </p:nvSpPr>
          <p:spPr>
            <a:xfrm>
              <a:off x="3334" y="714"/>
              <a:ext cx="1208" cy="1129"/>
            </a:xfrm>
            <a:prstGeom prst="ellipse">
              <a:avLst/>
            </a:prstGeom>
            <a:noFill/>
            <a:ln w="31750" cap="flat" cmpd="sng">
              <a:solidFill>
                <a:srgbClr val="0000FF"/>
              </a:solidFill>
              <a:prstDash val="lgDash"/>
              <a:round/>
              <a:headEnd type="none" w="med" len="med"/>
              <a:tailEnd type="none" w="sm" len="med"/>
            </a:ln>
          </p:spPr>
          <p:txBody>
            <a:bodyPr wrap="none"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7135" name="Object 32"/>
            <p:cNvGraphicFramePr>
              <a:graphicFrameLocks noChangeAspect="1"/>
            </p:cNvGraphicFramePr>
            <p:nvPr/>
          </p:nvGraphicFramePr>
          <p:xfrm>
            <a:off x="4395" y="663"/>
            <a:ext cx="32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330200" imgH="381000" progId="Equation.3">
                    <p:embed/>
                  </p:oleObj>
                </mc:Choice>
                <mc:Fallback>
                  <p:oleObj r:id="rId24" imgW="330200" imgH="38100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95" y="663"/>
                          <a:ext cx="324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6" name="Object 33"/>
            <p:cNvGraphicFramePr>
              <a:graphicFrameLocks noChangeAspect="1"/>
            </p:cNvGraphicFramePr>
            <p:nvPr/>
          </p:nvGraphicFramePr>
          <p:xfrm>
            <a:off x="4030" y="776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28600" imgH="241300" progId="Equation.3">
                    <p:embed/>
                  </p:oleObj>
                </mc:Choice>
                <mc:Fallback>
                  <p:oleObj r:id="rId26" imgW="228600" imgH="2413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27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30" y="776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7" name="Line 34"/>
            <p:cNvSpPr/>
            <p:nvPr/>
          </p:nvSpPr>
          <p:spPr>
            <a:xfrm flipV="1">
              <a:off x="3923" y="946"/>
              <a:ext cx="511" cy="358"/>
            </a:xfrm>
            <a:prstGeom prst="line">
              <a:avLst/>
            </a:prstGeom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sm" len="sm"/>
            </a:ln>
          </p:spPr>
        </p:sp>
      </p:grpSp>
      <p:sp>
        <p:nvSpPr>
          <p:cNvPr id="30733" name="WordArt 35"/>
          <p:cNvSpPr>
            <a:spLocks noTextEdit="1"/>
          </p:cNvSpPr>
          <p:nvPr/>
        </p:nvSpPr>
        <p:spPr>
          <a:xfrm>
            <a:off x="400050" y="3324225"/>
            <a:ext cx="1314450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球内电场</a:t>
            </a:r>
          </a:p>
        </p:txBody>
      </p:sp>
      <p:sp>
        <p:nvSpPr>
          <p:cNvPr id="30734" name="WordArt 36"/>
          <p:cNvSpPr>
            <a:spLocks noTextEdit="1"/>
          </p:cNvSpPr>
          <p:nvPr/>
        </p:nvSpPr>
        <p:spPr>
          <a:xfrm>
            <a:off x="346075" y="4459288"/>
            <a:ext cx="1314450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球内外电场</a:t>
            </a:r>
          </a:p>
        </p:txBody>
      </p:sp>
      <p:sp>
        <p:nvSpPr>
          <p:cNvPr id="139302" name="WordArt 38"/>
          <p:cNvSpPr>
            <a:spLocks noTextEdit="1"/>
          </p:cNvSpPr>
          <p:nvPr/>
        </p:nvSpPr>
        <p:spPr>
          <a:xfrm>
            <a:off x="2065338" y="4041775"/>
            <a:ext cx="3084512" cy="1825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lstStyle/>
          <a:p>
            <a:pPr algn="ctr"/>
            <a:r>
              <a:rPr lang="zh-CN" altLang="en-US" sz="3600">
                <a:ln w="9525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FF3300"/>
                </a:solidFill>
                <a:effectLst>
                  <a:outerShdw dist="35921" dir="2699999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球内电场与r成正比！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3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组合 35"/>
          <p:cNvGrpSpPr/>
          <p:nvPr/>
        </p:nvGrpSpPr>
        <p:grpSpPr>
          <a:xfrm>
            <a:off x="5767388" y="85725"/>
            <a:ext cx="3170237" cy="2190750"/>
            <a:chOff x="4494606" y="519149"/>
            <a:chExt cx="3169899" cy="2189689"/>
          </a:xfrm>
        </p:grpSpPr>
        <p:sp>
          <p:nvSpPr>
            <p:cNvPr id="2" name="Oval 9"/>
            <p:cNvSpPr>
              <a:spLocks noChangeAspect="1" noChangeArrowheads="1"/>
            </p:cNvSpPr>
            <p:nvPr/>
          </p:nvSpPr>
          <p:spPr bwMode="auto">
            <a:xfrm>
              <a:off x="4494606" y="607242"/>
              <a:ext cx="2102370" cy="21015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800080"/>
              </a:solidFill>
              <a:round/>
              <a:tailEnd type="none" w="sm" len="med"/>
            </a:ln>
            <a:effectLst>
              <a:glow rad="127000">
                <a:schemeClr val="bg1"/>
              </a:glow>
            </a:effec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131" name="Oval 9" descr="小棋盘"/>
            <p:cNvSpPr>
              <a:spLocks noChangeAspect="1"/>
            </p:cNvSpPr>
            <p:nvPr/>
          </p:nvSpPr>
          <p:spPr>
            <a:xfrm>
              <a:off x="4695484" y="810748"/>
              <a:ext cx="1700614" cy="1699988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2" name="Oval 9" descr="小棋盘"/>
            <p:cNvSpPr>
              <a:spLocks noChangeAspect="1"/>
            </p:cNvSpPr>
            <p:nvPr/>
          </p:nvSpPr>
          <p:spPr>
            <a:xfrm>
              <a:off x="4802731" y="933151"/>
              <a:ext cx="1486120" cy="1485572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8133" name="组合 33"/>
            <p:cNvGrpSpPr>
              <a:grpSpLocks noChangeAspect="1"/>
            </p:cNvGrpSpPr>
            <p:nvPr/>
          </p:nvGrpSpPr>
          <p:grpSpPr>
            <a:xfrm>
              <a:off x="5048787" y="1151105"/>
              <a:ext cx="994008" cy="993643"/>
              <a:chOff x="2820824" y="3376639"/>
              <a:chExt cx="1265180" cy="1264715"/>
            </a:xfrm>
          </p:grpSpPr>
          <p:sp>
            <p:nvSpPr>
              <p:cNvPr id="48134" name="Oval 9" descr="小棋盘"/>
              <p:cNvSpPr>
                <a:spLocks noChangeAspect="1"/>
              </p:cNvSpPr>
              <p:nvPr/>
            </p:nvSpPr>
            <p:spPr>
              <a:xfrm>
                <a:off x="2820824" y="3376639"/>
                <a:ext cx="1265180" cy="1264715"/>
              </a:xfrm>
              <a:prstGeom prst="ellipse">
                <a:avLst/>
              </a:prstGeom>
              <a:solidFill>
                <a:srgbClr val="CC0000"/>
              </a:solidFill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35" name="Oval 9" descr="小棋盘"/>
              <p:cNvSpPr>
                <a:spLocks noChangeAspect="1"/>
              </p:cNvSpPr>
              <p:nvPr/>
            </p:nvSpPr>
            <p:spPr>
              <a:xfrm>
                <a:off x="2876763" y="3432558"/>
                <a:ext cx="1153301" cy="1152875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136" name="Line 16"/>
            <p:cNvSpPr/>
            <p:nvPr/>
          </p:nvSpPr>
          <p:spPr>
            <a:xfrm flipV="1">
              <a:off x="5471797" y="1675935"/>
              <a:ext cx="2102370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37" name="Line 16"/>
            <p:cNvSpPr/>
            <p:nvPr/>
          </p:nvSpPr>
          <p:spPr>
            <a:xfrm flipV="1">
              <a:off x="5471797" y="810748"/>
              <a:ext cx="678245" cy="86518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38" name="Object 17"/>
            <p:cNvGraphicFramePr>
              <a:graphicFrameLocks noChangeAspect="1"/>
            </p:cNvGraphicFramePr>
            <p:nvPr/>
          </p:nvGraphicFramePr>
          <p:xfrm>
            <a:off x="6212648" y="519149"/>
            <a:ext cx="3984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2400" imgH="165100" progId="Equation.3">
                    <p:embed/>
                  </p:oleObj>
                </mc:Choice>
                <mc:Fallback>
                  <p:oleObj r:id="rId2" imgW="152400" imgH="165100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212648" y="519149"/>
                          <a:ext cx="398463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9" name="Object 17"/>
            <p:cNvGraphicFramePr>
              <a:graphicFrameLocks noChangeAspect="1"/>
            </p:cNvGraphicFramePr>
            <p:nvPr/>
          </p:nvGraphicFramePr>
          <p:xfrm>
            <a:off x="6745225" y="1710980"/>
            <a:ext cx="298450" cy="33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4300" imgH="127000" progId="Equation.DSMT4">
                    <p:embed/>
                  </p:oleObj>
                </mc:Choice>
                <mc:Fallback>
                  <p:oleObj r:id="rId4" imgW="114300" imgH="1270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745225" y="1710980"/>
                          <a:ext cx="298450" cy="3317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0" name="Object 17"/>
            <p:cNvGraphicFramePr>
              <a:graphicFrameLocks noChangeAspect="1"/>
            </p:cNvGraphicFramePr>
            <p:nvPr/>
          </p:nvGraphicFramePr>
          <p:xfrm>
            <a:off x="7266042" y="1209091"/>
            <a:ext cx="3984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2400" imgH="165100" progId="Equation.DSMT4">
                    <p:embed/>
                  </p:oleObj>
                </mc:Choice>
                <mc:Fallback>
                  <p:oleObj r:id="rId6" imgW="152400" imgH="1651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266042" y="1209091"/>
                          <a:ext cx="398463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1" name="Line 16"/>
            <p:cNvSpPr/>
            <p:nvPr/>
          </p:nvSpPr>
          <p:spPr>
            <a:xfrm>
              <a:off x="5471797" y="1675132"/>
              <a:ext cx="561534" cy="56386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42" name="Object 17"/>
            <p:cNvGraphicFramePr>
              <a:graphicFrameLocks noChangeAspect="1"/>
            </p:cNvGraphicFramePr>
            <p:nvPr/>
          </p:nvGraphicFramePr>
          <p:xfrm>
            <a:off x="5545791" y="1800260"/>
            <a:ext cx="263866" cy="431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39700" imgH="228600" progId="Equation.DSMT4">
                    <p:embed/>
                  </p:oleObj>
                </mc:Choice>
                <mc:Fallback>
                  <p:oleObj r:id="rId8" imgW="139700" imgH="228600" progId="Equation.DSMT4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545791" y="1800260"/>
                          <a:ext cx="263866" cy="431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43" name="Line 16"/>
            <p:cNvSpPr/>
            <p:nvPr/>
          </p:nvSpPr>
          <p:spPr>
            <a:xfrm flipH="1">
              <a:off x="5188689" y="2137442"/>
              <a:ext cx="98655" cy="198007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44" name="Line 16"/>
            <p:cNvSpPr/>
            <p:nvPr/>
          </p:nvSpPr>
          <p:spPr>
            <a:xfrm flipV="1">
              <a:off x="5036910" y="2418647"/>
              <a:ext cx="111651" cy="199685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45" name="Object 17"/>
            <p:cNvGraphicFramePr>
              <a:graphicFrameLocks noChangeAspect="1"/>
            </p:cNvGraphicFramePr>
            <p:nvPr/>
          </p:nvGraphicFramePr>
          <p:xfrm>
            <a:off x="4874342" y="1920255"/>
            <a:ext cx="376415" cy="397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15900" imgH="228600" progId="Equation.DSMT4">
                    <p:embed/>
                  </p:oleObj>
                </mc:Choice>
                <mc:Fallback>
                  <p:oleObj r:id="rId10" imgW="215900" imgH="2286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874342" y="1920255"/>
                          <a:ext cx="376415" cy="3977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椭圆 34"/>
            <p:cNvSpPr/>
            <p:nvPr/>
          </p:nvSpPr>
          <p:spPr>
            <a:xfrm>
              <a:off x="7527995" y="1628275"/>
              <a:ext cx="76192" cy="7774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743700" y="3141663"/>
            <a:ext cx="2103438" cy="2416175"/>
            <a:chOff x="4494606" y="292516"/>
            <a:chExt cx="2102370" cy="2416322"/>
          </a:xfrm>
        </p:grpSpPr>
        <p:sp>
          <p:nvSpPr>
            <p:cNvPr id="38" name="Oval 9"/>
            <p:cNvSpPr>
              <a:spLocks noChangeAspect="1" noChangeArrowheads="1"/>
            </p:cNvSpPr>
            <p:nvPr/>
          </p:nvSpPr>
          <p:spPr bwMode="auto">
            <a:xfrm>
              <a:off x="4494606" y="607242"/>
              <a:ext cx="2102370" cy="210159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800080"/>
              </a:solidFill>
              <a:round/>
              <a:tailEnd type="none" w="sm" len="med"/>
            </a:ln>
            <a:effectLst>
              <a:glow rad="127000">
                <a:schemeClr val="bg1"/>
              </a:glow>
            </a:effec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149" name="Oval 9" descr="小棋盘"/>
            <p:cNvSpPr>
              <a:spLocks noChangeAspect="1"/>
            </p:cNvSpPr>
            <p:nvPr/>
          </p:nvSpPr>
          <p:spPr>
            <a:xfrm>
              <a:off x="4695484" y="810748"/>
              <a:ext cx="1700614" cy="1699988"/>
            </a:xfrm>
            <a:prstGeom prst="ellipse">
              <a:avLst/>
            </a:prstGeom>
            <a:solidFill>
              <a:srgbClr val="FFFF00"/>
            </a:solidFill>
            <a:ln w="127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50" name="Oval 9" descr="小棋盘"/>
            <p:cNvSpPr>
              <a:spLocks noChangeAspect="1"/>
            </p:cNvSpPr>
            <p:nvPr/>
          </p:nvSpPr>
          <p:spPr>
            <a:xfrm>
              <a:off x="4802731" y="933151"/>
              <a:ext cx="1486120" cy="1485572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rgbClr val="800080"/>
              </a:solidFill>
              <a:prstDash val="solid"/>
              <a:round/>
              <a:headEnd type="none" w="med" len="med"/>
              <a:tailEnd type="none" w="sm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8151" name="组合 40"/>
            <p:cNvGrpSpPr>
              <a:grpSpLocks noChangeAspect="1"/>
            </p:cNvGrpSpPr>
            <p:nvPr/>
          </p:nvGrpSpPr>
          <p:grpSpPr>
            <a:xfrm>
              <a:off x="5048787" y="1151105"/>
              <a:ext cx="994008" cy="993643"/>
              <a:chOff x="2820824" y="3376639"/>
              <a:chExt cx="1265180" cy="1264715"/>
            </a:xfrm>
          </p:grpSpPr>
          <p:sp>
            <p:nvSpPr>
              <p:cNvPr id="48152" name="Oval 9" descr="小棋盘"/>
              <p:cNvSpPr>
                <a:spLocks noChangeAspect="1"/>
              </p:cNvSpPr>
              <p:nvPr/>
            </p:nvSpPr>
            <p:spPr>
              <a:xfrm>
                <a:off x="2820824" y="3376639"/>
                <a:ext cx="1265180" cy="1264715"/>
              </a:xfrm>
              <a:prstGeom prst="ellipse">
                <a:avLst/>
              </a:prstGeom>
              <a:solidFill>
                <a:srgbClr val="CC0000"/>
              </a:solidFill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153" name="Oval 9" descr="小棋盘"/>
              <p:cNvSpPr>
                <a:spLocks noChangeAspect="1"/>
              </p:cNvSpPr>
              <p:nvPr/>
            </p:nvSpPr>
            <p:spPr>
              <a:xfrm>
                <a:off x="2876763" y="3432558"/>
                <a:ext cx="1153301" cy="1152875"/>
              </a:xfrm>
              <a:prstGeom prst="ellipse">
                <a:avLst/>
              </a:prstGeom>
              <a:solidFill>
                <a:schemeClr val="bg1"/>
              </a:solidFill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sm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154" name="Line 16"/>
            <p:cNvSpPr/>
            <p:nvPr/>
          </p:nvSpPr>
          <p:spPr>
            <a:xfrm>
              <a:off x="5472223" y="1675132"/>
              <a:ext cx="716853" cy="1217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55" name="Line 16"/>
            <p:cNvSpPr/>
            <p:nvPr/>
          </p:nvSpPr>
          <p:spPr>
            <a:xfrm flipV="1">
              <a:off x="5471797" y="810748"/>
              <a:ext cx="678245" cy="86518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56" name="Object 17"/>
            <p:cNvGraphicFramePr>
              <a:graphicFrameLocks noChangeAspect="1"/>
            </p:cNvGraphicFramePr>
            <p:nvPr/>
          </p:nvGraphicFramePr>
          <p:xfrm>
            <a:off x="5843563" y="292516"/>
            <a:ext cx="3984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52400" imgH="165100" progId="Equation.3">
                    <p:embed/>
                  </p:oleObj>
                </mc:Choice>
                <mc:Fallback>
                  <p:oleObj r:id="rId2" imgW="152400" imgH="1651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843563" y="292516"/>
                          <a:ext cx="398463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7" name="Object 17"/>
            <p:cNvGraphicFramePr>
              <a:graphicFrameLocks noChangeAspect="1"/>
            </p:cNvGraphicFramePr>
            <p:nvPr/>
          </p:nvGraphicFramePr>
          <p:xfrm>
            <a:off x="5686095" y="1387584"/>
            <a:ext cx="298450" cy="331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14300" imgH="127000" progId="Equation.DSMT4">
                    <p:embed/>
                  </p:oleObj>
                </mc:Choice>
                <mc:Fallback>
                  <p:oleObj r:id="rId4" imgW="114300" imgH="1270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86095" y="1387584"/>
                          <a:ext cx="298450" cy="3317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58" name="Object 17"/>
            <p:cNvGraphicFramePr>
              <a:graphicFrameLocks noChangeAspect="1"/>
            </p:cNvGraphicFramePr>
            <p:nvPr/>
          </p:nvGraphicFramePr>
          <p:xfrm>
            <a:off x="5966592" y="1235159"/>
            <a:ext cx="3984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52400" imgH="165100" progId="Equation.DSMT4">
                    <p:embed/>
                  </p:oleObj>
                </mc:Choice>
                <mc:Fallback>
                  <p:oleObj r:id="rId6" imgW="152400" imgH="165100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966592" y="1235159"/>
                          <a:ext cx="398463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59" name="Line 16"/>
            <p:cNvSpPr/>
            <p:nvPr/>
          </p:nvSpPr>
          <p:spPr>
            <a:xfrm>
              <a:off x="5471796" y="1675132"/>
              <a:ext cx="347339" cy="34778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60" name="Object 17"/>
            <p:cNvGraphicFramePr>
              <a:graphicFrameLocks noChangeAspect="1"/>
            </p:cNvGraphicFramePr>
            <p:nvPr/>
          </p:nvGraphicFramePr>
          <p:xfrm>
            <a:off x="5434310" y="1663758"/>
            <a:ext cx="263866" cy="431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39700" imgH="228600" progId="Equation.DSMT4">
                    <p:embed/>
                  </p:oleObj>
                </mc:Choice>
                <mc:Fallback>
                  <p:oleObj r:id="rId8" imgW="139700" imgH="228600" progId="Equation.DSMT4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434310" y="1663758"/>
                          <a:ext cx="263866" cy="431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1" name="Line 16"/>
            <p:cNvSpPr/>
            <p:nvPr/>
          </p:nvSpPr>
          <p:spPr>
            <a:xfrm flipH="1">
              <a:off x="5257056" y="1873527"/>
              <a:ext cx="133303" cy="122062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8162" name="Line 16"/>
            <p:cNvSpPr/>
            <p:nvPr/>
          </p:nvSpPr>
          <p:spPr>
            <a:xfrm flipV="1">
              <a:off x="5102370" y="2022911"/>
              <a:ext cx="141709" cy="164333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48163" name="Object 17"/>
            <p:cNvGraphicFramePr>
              <a:graphicFrameLocks noChangeAspect="1"/>
            </p:cNvGraphicFramePr>
            <p:nvPr/>
          </p:nvGraphicFramePr>
          <p:xfrm>
            <a:off x="5079050" y="1431848"/>
            <a:ext cx="376415" cy="3977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15900" imgH="228600" progId="Equation.DSMT4">
                    <p:embed/>
                  </p:oleObj>
                </mc:Choice>
                <mc:Fallback>
                  <p:oleObj r:id="rId12" imgW="215900" imgH="228600" progId="Equation.DSMT4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079050" y="1431848"/>
                          <a:ext cx="376415" cy="3977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椭圆 51"/>
            <p:cNvSpPr/>
            <p:nvPr/>
          </p:nvSpPr>
          <p:spPr>
            <a:xfrm>
              <a:off x="6160635" y="1654674"/>
              <a:ext cx="76161" cy="7620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5" name="Text Box 48"/>
          <p:cNvSpPr txBox="1"/>
          <p:nvPr/>
        </p:nvSpPr>
        <p:spPr>
          <a:xfrm>
            <a:off x="73025" y="141288"/>
            <a:ext cx="3687763" cy="554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解法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（场强叠加原理）：</a:t>
            </a:r>
            <a:endParaRPr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Rectangle 113"/>
          <p:cNvSpPr/>
          <p:nvPr/>
        </p:nvSpPr>
        <p:spPr>
          <a:xfrm>
            <a:off x="173038" y="736600"/>
            <a:ext cx="4225925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根据均匀带电球面的场强公式</a:t>
            </a:r>
          </a:p>
        </p:txBody>
      </p:sp>
      <p:graphicFrame>
        <p:nvGraphicFramePr>
          <p:cNvPr id="57" name="Object 3"/>
          <p:cNvGraphicFramePr>
            <a:graphicFrameLocks noChangeAspect="1"/>
          </p:cNvGraphicFramePr>
          <p:nvPr/>
        </p:nvGraphicFramePr>
        <p:xfrm>
          <a:off x="1187450" y="1208088"/>
          <a:ext cx="28956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628900" imgH="1003300" progId="Equation.DSMT4">
                  <p:embed/>
                </p:oleObj>
              </mc:Choice>
              <mc:Fallback>
                <p:oleObj r:id="rId13" imgW="2628900" imgH="10033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1208088"/>
                        <a:ext cx="2895600" cy="10398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组合 60"/>
          <p:cNvGrpSpPr/>
          <p:nvPr/>
        </p:nvGrpSpPr>
        <p:grpSpPr>
          <a:xfrm>
            <a:off x="187325" y="3068638"/>
            <a:ext cx="1158875" cy="461962"/>
            <a:chOff x="473555" y="4420072"/>
            <a:chExt cx="1158469" cy="461665"/>
          </a:xfrm>
        </p:grpSpPr>
        <p:graphicFrame>
          <p:nvGraphicFramePr>
            <p:cNvPr id="48169" name="Object 84"/>
            <p:cNvGraphicFramePr>
              <a:graphicFrameLocks noChangeAspect="1"/>
            </p:cNvGraphicFramePr>
            <p:nvPr/>
          </p:nvGraphicFramePr>
          <p:xfrm>
            <a:off x="473555" y="4477852"/>
            <a:ext cx="666192" cy="346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82600" imgH="203200" progId="Equation.DSMT4">
                    <p:embed/>
                  </p:oleObj>
                </mc:Choice>
                <mc:Fallback>
                  <p:oleObj r:id="rId15" imgW="482600" imgH="2032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3555" y="4477852"/>
                          <a:ext cx="666192" cy="3461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70" name="矩形 58"/>
            <p:cNvSpPr/>
            <p:nvPr/>
          </p:nvSpPr>
          <p:spPr>
            <a:xfrm>
              <a:off x="1139581" y="4420072"/>
              <a:ext cx="49244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时</a:t>
              </a:r>
            </a:p>
          </p:txBody>
        </p:sp>
      </p:grpSp>
      <p:graphicFrame>
        <p:nvGraphicFramePr>
          <p:cNvPr id="60" name="Object 84"/>
          <p:cNvGraphicFramePr>
            <a:graphicFrameLocks noChangeAspect="1"/>
          </p:cNvGraphicFramePr>
          <p:nvPr/>
        </p:nvGraphicFramePr>
        <p:xfrm>
          <a:off x="3317875" y="2387600"/>
          <a:ext cx="410527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3124200" imgH="762000" progId="Equation.DSMT4">
                  <p:embed/>
                </p:oleObj>
              </mc:Choice>
              <mc:Fallback>
                <p:oleObj r:id="rId17" imgW="3124200" imgH="7620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lum brigh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3317875" y="2387600"/>
                        <a:ext cx="4105275" cy="1185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组合 64"/>
          <p:cNvGrpSpPr/>
          <p:nvPr/>
        </p:nvGrpSpPr>
        <p:grpSpPr>
          <a:xfrm>
            <a:off x="30163" y="2486025"/>
            <a:ext cx="3282950" cy="479425"/>
            <a:chOff x="72617" y="2947173"/>
            <a:chExt cx="3283047" cy="479425"/>
          </a:xfrm>
        </p:grpSpPr>
        <p:sp>
          <p:nvSpPr>
            <p:cNvPr id="48173" name="Rectangle 113"/>
            <p:cNvSpPr/>
            <p:nvPr/>
          </p:nvSpPr>
          <p:spPr>
            <a:xfrm>
              <a:off x="72617" y="2956052"/>
              <a:ext cx="3283047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半径  处球壳所带电量</a:t>
              </a:r>
            </a:p>
          </p:txBody>
        </p:sp>
        <p:graphicFrame>
          <p:nvGraphicFramePr>
            <p:cNvPr id="48174" name="Object 84"/>
            <p:cNvGraphicFramePr>
              <a:graphicFrameLocks noChangeAspect="1"/>
            </p:cNvGraphicFramePr>
            <p:nvPr/>
          </p:nvGraphicFramePr>
          <p:xfrm>
            <a:off x="775519" y="2947173"/>
            <a:ext cx="25241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77800" imgH="292100" progId="Equation.DSMT4">
                    <p:embed/>
                  </p:oleObj>
                </mc:Choice>
                <mc:Fallback>
                  <p:oleObj r:id="rId19" imgW="177800" imgH="2921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75519" y="2947173"/>
                          <a:ext cx="252413" cy="4794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/>
          <p:cNvGrpSpPr/>
          <p:nvPr/>
        </p:nvGrpSpPr>
        <p:grpSpPr>
          <a:xfrm>
            <a:off x="187325" y="4649788"/>
            <a:ext cx="1158875" cy="461962"/>
            <a:chOff x="473555" y="4420072"/>
            <a:chExt cx="1158469" cy="461665"/>
          </a:xfrm>
        </p:grpSpPr>
        <p:graphicFrame>
          <p:nvGraphicFramePr>
            <p:cNvPr id="48176" name="Object 84"/>
            <p:cNvGraphicFramePr>
              <a:graphicFrameLocks noChangeAspect="1"/>
            </p:cNvGraphicFramePr>
            <p:nvPr/>
          </p:nvGraphicFramePr>
          <p:xfrm>
            <a:off x="473555" y="4477852"/>
            <a:ext cx="666192" cy="346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482600" imgH="203200" progId="Equation.DSMT4">
                    <p:embed/>
                  </p:oleObj>
                </mc:Choice>
                <mc:Fallback>
                  <p:oleObj r:id="rId21" imgW="482600" imgH="203200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lum bright="-100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3555" y="4477852"/>
                          <a:ext cx="666192" cy="3461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77" name="矩形 69"/>
            <p:cNvSpPr/>
            <p:nvPr/>
          </p:nvSpPr>
          <p:spPr>
            <a:xfrm>
              <a:off x="1139581" y="4420072"/>
              <a:ext cx="492443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eaLnBrk="0" hangingPunct="0"/>
              <a:r>
                <a:rPr lang="zh-CN" altLang="en-US" sz="2400" dirty="0">
                  <a:latin typeface="Verdana" panose="020B0604030504040204" pitchFamily="34" charset="0"/>
                  <a:ea typeface="宋体" panose="02010600030101010101" pitchFamily="2" charset="-122"/>
                </a:rPr>
                <a:t>时</a:t>
              </a:r>
            </a:p>
          </p:txBody>
        </p:sp>
      </p:grpSp>
      <p:graphicFrame>
        <p:nvGraphicFramePr>
          <p:cNvPr id="52274" name="对象 2"/>
          <p:cNvGraphicFramePr/>
          <p:nvPr/>
        </p:nvGraphicFramePr>
        <p:xfrm>
          <a:off x="1331913" y="2905125"/>
          <a:ext cx="18605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1327785" imgH="624840" progId="Equation.DSMT4">
                  <p:embed/>
                </p:oleObj>
              </mc:Choice>
              <mc:Fallback>
                <p:oleObj r:id="rId23" imgW="1327785" imgH="62484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331913" y="2905125"/>
                        <a:ext cx="1860550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5" name="对象 4"/>
          <p:cNvGraphicFramePr/>
          <p:nvPr/>
        </p:nvGraphicFramePr>
        <p:xfrm>
          <a:off x="395288" y="3676650"/>
          <a:ext cx="62944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4822190" imgH="678815" progId="Equation.DSMT4">
                  <p:embed/>
                </p:oleObj>
              </mc:Choice>
              <mc:Fallback>
                <p:oleObj r:id="rId25" imgW="4822190" imgH="678815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95288" y="3676650"/>
                        <a:ext cx="6294437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76" name="对象 6"/>
          <p:cNvGraphicFramePr/>
          <p:nvPr/>
        </p:nvGraphicFramePr>
        <p:xfrm>
          <a:off x="1357313" y="4845050"/>
          <a:ext cx="4964112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5881370" imgH="1640840" progId="Equation.DSMT4">
                  <p:embed/>
                </p:oleObj>
              </mc:Choice>
              <mc:Fallback>
                <p:oleObj r:id="rId27" imgW="5881370" imgH="164084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57313" y="4845050"/>
                        <a:ext cx="4964112" cy="158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IMAGE0002"/>
          <p:cNvPicPr>
            <a:picLocks noChangeAspect="1"/>
          </p:cNvPicPr>
          <p:nvPr/>
        </p:nvPicPr>
        <p:blipFill>
          <a:blip r:embed="rId2"/>
          <a:srcRect l="2805" t="23705" r="37070"/>
          <a:stretch>
            <a:fillRect/>
          </a:stretch>
        </p:blipFill>
        <p:spPr>
          <a:xfrm>
            <a:off x="133350" y="242888"/>
            <a:ext cx="8736013" cy="1743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1" name="Picture 3" descr="IMAGE0006"/>
          <p:cNvPicPr>
            <a:picLocks noChangeAspect="1"/>
          </p:cNvPicPr>
          <p:nvPr/>
        </p:nvPicPr>
        <p:blipFill>
          <a:blip r:embed="rId3"/>
          <a:srcRect t="7262"/>
          <a:stretch>
            <a:fillRect/>
          </a:stretch>
        </p:blipFill>
        <p:spPr>
          <a:xfrm>
            <a:off x="0" y="2420938"/>
            <a:ext cx="9144000" cy="3948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55" name="矩形 1"/>
          <p:cNvSpPr/>
          <p:nvPr/>
        </p:nvSpPr>
        <p:spPr>
          <a:xfrm>
            <a:off x="133350" y="242888"/>
            <a:ext cx="8540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13" y="430213"/>
            <a:ext cx="8648700" cy="2259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78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2689225"/>
            <a:ext cx="4487863" cy="2871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9" name="矩形 1"/>
          <p:cNvSpPr/>
          <p:nvPr/>
        </p:nvSpPr>
        <p:spPr>
          <a:xfrm>
            <a:off x="323850" y="430213"/>
            <a:ext cx="18415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rcRect l="2820" r="1598" b="46768"/>
          <a:stretch>
            <a:fillRect/>
          </a:stretch>
        </p:blipFill>
        <p:spPr>
          <a:xfrm>
            <a:off x="395605" y="908685"/>
            <a:ext cx="7545388" cy="3154363"/>
          </a:xfrm>
        </p:spPr>
      </p:pic>
      <p:sp>
        <p:nvSpPr>
          <p:cNvPr id="51202" name="矩形 1"/>
          <p:cNvSpPr/>
          <p:nvPr/>
        </p:nvSpPr>
        <p:spPr>
          <a:xfrm>
            <a:off x="250825" y="476250"/>
            <a:ext cx="7888288" cy="3857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pPr eaLnBrk="0" hangingPunct="0"/>
            <a:r>
              <a:rPr lang="zh-CN" altLang="en-US" sz="16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</a:rPr>
              <a:t>解：将带电平板分成无数多无限大带电平面，则空间中任一点场强为无数多无限大带</a:t>
            </a: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/>
          <a:srcRect l="3264" t="54417" r="6999" b="2423"/>
          <a:stretch>
            <a:fillRect/>
          </a:stretch>
        </p:blipFill>
        <p:spPr>
          <a:xfrm>
            <a:off x="384175" y="4271963"/>
            <a:ext cx="7085013" cy="2498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4" name="文本框 1"/>
          <p:cNvSpPr txBox="1"/>
          <p:nvPr/>
        </p:nvSpPr>
        <p:spPr>
          <a:xfrm>
            <a:off x="609600" y="909638"/>
            <a:ext cx="3724275" cy="3365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Verdana" panose="020B0604030504040204" pitchFamily="34" charset="0"/>
                <a:ea typeface="楷体_GB2312" pitchFamily="49" charset="-122"/>
                <a:sym typeface="宋体" panose="02010600030101010101" pitchFamily="2" charset="-122"/>
              </a:rPr>
              <a:t>电平面在该点激发电场的矢量和。因此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5" descr="IMAGE0002"/>
          <p:cNvPicPr>
            <a:picLocks noChangeAspect="1"/>
          </p:cNvPicPr>
          <p:nvPr/>
        </p:nvPicPr>
        <p:blipFill>
          <a:blip r:embed="rId2"/>
          <a:srcRect l="2545" t="6828" r="4909" b="4031"/>
          <a:stretch>
            <a:fillRect/>
          </a:stretch>
        </p:blipFill>
        <p:spPr>
          <a:xfrm>
            <a:off x="251778" y="764540"/>
            <a:ext cx="8462962" cy="47386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IMAGE0001"/>
          <p:cNvPicPr>
            <a:picLocks noChangeAspect="1"/>
          </p:cNvPicPr>
          <p:nvPr/>
        </p:nvPicPr>
        <p:blipFill>
          <a:blip r:embed="rId3"/>
          <a:srcRect t="11906"/>
          <a:stretch>
            <a:fillRect/>
          </a:stretch>
        </p:blipFill>
        <p:spPr>
          <a:xfrm>
            <a:off x="201613" y="311150"/>
            <a:ext cx="8740775" cy="2470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2" name="Picture 5" descr="IMAGE000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2763" t="15829" r="4097"/>
          <a:stretch>
            <a:fillRect/>
          </a:stretch>
        </p:blipFill>
        <p:spPr>
          <a:xfrm>
            <a:off x="201613" y="3222625"/>
            <a:ext cx="8516937" cy="1839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2" descr="IMAGE00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41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6" name="Picture 3" descr="IMAGE00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2213"/>
            <a:ext cx="9144000" cy="295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4" descr="IMAGE00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188" y="476250"/>
            <a:ext cx="7440612" cy="5580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4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600"/>
            <a:ext cx="9144000" cy="1624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2" descr="羊皮纸"/>
          <p:cNvSpPr/>
          <p:nvPr/>
        </p:nvSpPr>
        <p:spPr>
          <a:xfrm>
            <a:off x="0" y="6484938"/>
            <a:ext cx="9144000" cy="373062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26" name="Rectangle 23" descr="羊皮纸"/>
          <p:cNvSpPr/>
          <p:nvPr/>
        </p:nvSpPr>
        <p:spPr>
          <a:xfrm>
            <a:off x="0" y="0"/>
            <a:ext cx="9144000" cy="10525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227" name="AutoShape 4"/>
          <p:cNvSpPr/>
          <p:nvPr/>
        </p:nvSpPr>
        <p:spPr>
          <a:xfrm>
            <a:off x="395288" y="2070100"/>
            <a:ext cx="431800" cy="4275138"/>
          </a:xfrm>
          <a:prstGeom prst="leftBrace">
            <a:avLst>
              <a:gd name="adj1" fmla="val 93506"/>
              <a:gd name="adj2" fmla="val 50000"/>
            </a:avLst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042988" y="1552575"/>
            <a:ext cx="3741737" cy="1228725"/>
            <a:chOff x="1488" y="462"/>
            <a:chExt cx="2357" cy="774"/>
          </a:xfrm>
        </p:grpSpPr>
        <p:graphicFrame>
          <p:nvGraphicFramePr>
            <p:cNvPr id="52229" name="Object 6"/>
            <p:cNvGraphicFramePr>
              <a:graphicFrameLocks noChangeAspect="1"/>
            </p:cNvGraphicFramePr>
            <p:nvPr/>
          </p:nvGraphicFramePr>
          <p:xfrm>
            <a:off x="2382" y="462"/>
            <a:ext cx="1463" cy="7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812165" imgH="431800" progId="Equation.DSMT4">
                    <p:embed/>
                  </p:oleObj>
                </mc:Choice>
                <mc:Fallback>
                  <p:oleObj r:id="rId3" imgW="812165" imgH="431800" progId="Equation.DSMT4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82" y="462"/>
                          <a:ext cx="1463" cy="7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0" name="Text Box 7"/>
            <p:cNvSpPr txBox="1"/>
            <p:nvPr/>
          </p:nvSpPr>
          <p:spPr>
            <a:xfrm>
              <a:off x="1488" y="672"/>
              <a:ext cx="124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1)</a:t>
              </a:r>
              <a:r>
                <a:rPr lang="en-US" altLang="zh-CN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利用</a:t>
              </a: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971550" y="4292600"/>
            <a:ext cx="7162800" cy="1616075"/>
            <a:chOff x="1440" y="2728"/>
            <a:chExt cx="4512" cy="1018"/>
          </a:xfrm>
        </p:grpSpPr>
        <p:sp>
          <p:nvSpPr>
            <p:cNvPr id="52232" name="Text Box 9"/>
            <p:cNvSpPr txBox="1"/>
            <p:nvPr/>
          </p:nvSpPr>
          <p:spPr>
            <a:xfrm>
              <a:off x="1440" y="2784"/>
              <a:ext cx="4512" cy="6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</a:pPr>
              <a:r>
                <a:rPr lang="en-US" altLang="zh-CN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2)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若已知在积分路径上   的函数表达式，</a:t>
              </a:r>
            </a:p>
            <a:p>
              <a:pPr>
                <a:spcBef>
                  <a:spcPct val="50000"/>
                </a:spcBef>
                <a:buFont typeface="Wingdings" panose="05000000000000000000" pitchFamily="2" charset="2"/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则</a:t>
              </a:r>
            </a:p>
          </p:txBody>
        </p:sp>
        <p:graphicFrame>
          <p:nvGraphicFramePr>
            <p:cNvPr id="52233" name="Object 10"/>
            <p:cNvGraphicFramePr>
              <a:graphicFrameLocks noChangeAspect="1"/>
            </p:cNvGraphicFramePr>
            <p:nvPr/>
          </p:nvGraphicFramePr>
          <p:xfrm>
            <a:off x="3528" y="2728"/>
            <a:ext cx="27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2400" imgH="190500" progId="Equation.3">
                    <p:embed/>
                  </p:oleObj>
                </mc:Choice>
                <mc:Fallback>
                  <p:oleObj r:id="rId5" imgW="152400" imgH="1905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28" y="2728"/>
                          <a:ext cx="27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4" name="Object 11"/>
            <p:cNvGraphicFramePr>
              <a:graphicFrameLocks noChangeAspect="1"/>
            </p:cNvGraphicFramePr>
            <p:nvPr/>
          </p:nvGraphicFramePr>
          <p:xfrm>
            <a:off x="2212" y="3046"/>
            <a:ext cx="1548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862965" imgH="469900" progId="Equation.DSMT4">
                    <p:embed/>
                  </p:oleObj>
                </mc:Choice>
                <mc:Fallback>
                  <p:oleObj r:id="rId7" imgW="862965" imgH="4699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12" y="3046"/>
                          <a:ext cx="1548" cy="7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"/>
          <p:cNvGrpSpPr/>
          <p:nvPr/>
        </p:nvGrpSpPr>
        <p:grpSpPr>
          <a:xfrm>
            <a:off x="903288" y="2781300"/>
            <a:ext cx="7162800" cy="1200150"/>
            <a:chOff x="817" y="1539"/>
            <a:chExt cx="4512" cy="756"/>
          </a:xfrm>
        </p:grpSpPr>
        <p:sp>
          <p:nvSpPr>
            <p:cNvPr id="52236" name="Text Box 13"/>
            <p:cNvSpPr txBox="1"/>
            <p:nvPr/>
          </p:nvSpPr>
          <p:spPr>
            <a:xfrm>
              <a:off x="817" y="1539"/>
              <a:ext cx="4512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（利用了点电荷电势                ，这一结果已选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无限远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处为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电势零点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带电体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必须为</a:t>
              </a: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有限</a:t>
              </a:r>
              <a:r>
                <a:rPr lang="zh-CN" altLang="en-US" sz="24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大）</a:t>
              </a:r>
            </a:p>
          </p:txBody>
        </p:sp>
        <p:graphicFrame>
          <p:nvGraphicFramePr>
            <p:cNvPr id="52237" name="Object 14"/>
            <p:cNvGraphicFramePr>
              <a:graphicFrameLocks noChangeAspect="1"/>
            </p:cNvGraphicFramePr>
            <p:nvPr/>
          </p:nvGraphicFramePr>
          <p:xfrm>
            <a:off x="2682" y="1567"/>
            <a:ext cx="1533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838200" imgH="228600" progId="Equation.DSMT4">
                    <p:embed/>
                  </p:oleObj>
                </mc:Choice>
                <mc:Fallback>
                  <p:oleObj r:id="rId9" imgW="838200" imgH="2286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82" y="1567"/>
                          <a:ext cx="1533" cy="3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38" name="Rectangle 19"/>
          <p:cNvSpPr/>
          <p:nvPr/>
        </p:nvSpPr>
        <p:spPr>
          <a:xfrm>
            <a:off x="323850" y="1125538"/>
            <a:ext cx="4572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求解电势的两种方法</a:t>
            </a:r>
          </a:p>
        </p:txBody>
      </p:sp>
      <p:sp>
        <p:nvSpPr>
          <p:cNvPr id="129045" name="Text Box 21"/>
          <p:cNvSpPr txBox="1"/>
          <p:nvPr/>
        </p:nvSpPr>
        <p:spPr>
          <a:xfrm>
            <a:off x="1619250" y="5884863"/>
            <a:ext cx="46847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（电场具有对称分布时使用方便）</a:t>
            </a:r>
          </a:p>
        </p:txBody>
      </p:sp>
      <p:sp>
        <p:nvSpPr>
          <p:cNvPr id="52240" name="文本框 1"/>
          <p:cNvSpPr txBox="1"/>
          <p:nvPr/>
        </p:nvSpPr>
        <p:spPr>
          <a:xfrm>
            <a:off x="323850" y="333375"/>
            <a:ext cx="7108825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本部分计算题考点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32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：求电势</a:t>
            </a:r>
            <a:endParaRPr lang="en-US" altLang="zh-CN" sz="32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4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 descr="羊皮纸"/>
          <p:cNvSpPr/>
          <p:nvPr/>
        </p:nvSpPr>
        <p:spPr>
          <a:xfrm>
            <a:off x="0" y="6092825"/>
            <a:ext cx="9144000" cy="765175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0" name="Rectangle 3" descr="羊皮纸"/>
          <p:cNvSpPr/>
          <p:nvPr/>
        </p:nvSpPr>
        <p:spPr>
          <a:xfrm>
            <a:off x="0" y="0"/>
            <a:ext cx="9144000" cy="10525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Text Box 4"/>
          <p:cNvSpPr txBox="1"/>
          <p:nvPr/>
        </p:nvSpPr>
        <p:spPr>
          <a:xfrm>
            <a:off x="215900" y="168275"/>
            <a:ext cx="8785225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如图所示，真空中一长为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L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的带电细直杆，总电荷为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，试求在直杆延长线上距杆一端为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的一点的电势。</a:t>
            </a:r>
          </a:p>
        </p:txBody>
      </p:sp>
      <p:sp>
        <p:nvSpPr>
          <p:cNvPr id="225285" name="Text Box 5"/>
          <p:cNvSpPr txBox="1"/>
          <p:nvPr/>
        </p:nvSpPr>
        <p:spPr>
          <a:xfrm>
            <a:off x="228600" y="1328738"/>
            <a:ext cx="3116263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建立如图坐标系</a:t>
            </a:r>
          </a:p>
        </p:txBody>
      </p:sp>
      <p:grpSp>
        <p:nvGrpSpPr>
          <p:cNvPr id="53253" name="Group 67"/>
          <p:cNvGrpSpPr/>
          <p:nvPr/>
        </p:nvGrpSpPr>
        <p:grpSpPr>
          <a:xfrm>
            <a:off x="3997325" y="1071563"/>
            <a:ext cx="4078288" cy="703262"/>
            <a:chOff x="2761" y="675"/>
            <a:chExt cx="2569" cy="443"/>
          </a:xfrm>
        </p:grpSpPr>
        <p:grpSp>
          <p:nvGrpSpPr>
            <p:cNvPr id="53254" name="Group 56"/>
            <p:cNvGrpSpPr/>
            <p:nvPr/>
          </p:nvGrpSpPr>
          <p:grpSpPr>
            <a:xfrm>
              <a:off x="2761" y="850"/>
              <a:ext cx="2569" cy="56"/>
              <a:chOff x="2761" y="850"/>
              <a:chExt cx="2569" cy="56"/>
            </a:xfrm>
          </p:grpSpPr>
          <p:sp>
            <p:nvSpPr>
              <p:cNvPr id="53255" name="Rectangle 53"/>
              <p:cNvSpPr/>
              <p:nvPr/>
            </p:nvSpPr>
            <p:spPr>
              <a:xfrm>
                <a:off x="2761" y="850"/>
                <a:ext cx="1673" cy="38"/>
              </a:xfrm>
              <a:prstGeom prst="rect">
                <a:avLst/>
              </a:prstGeom>
              <a:solidFill>
                <a:srgbClr val="0066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56" name="Oval 54"/>
              <p:cNvSpPr/>
              <p:nvPr/>
            </p:nvSpPr>
            <p:spPr>
              <a:xfrm>
                <a:off x="5266" y="850"/>
                <a:ext cx="64" cy="56"/>
              </a:xfrm>
              <a:prstGeom prst="ellipse">
                <a:avLst/>
              </a:prstGeom>
              <a:solidFill>
                <a:srgbClr val="0066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57" name="Line 55"/>
              <p:cNvSpPr/>
              <p:nvPr/>
            </p:nvSpPr>
            <p:spPr>
              <a:xfrm flipV="1">
                <a:off x="2789" y="869"/>
                <a:ext cx="25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53258" name="Line 57"/>
            <p:cNvSpPr/>
            <p:nvPr/>
          </p:nvSpPr>
          <p:spPr>
            <a:xfrm>
              <a:off x="2761" y="951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9" name="Line 58"/>
            <p:cNvSpPr/>
            <p:nvPr/>
          </p:nvSpPr>
          <p:spPr>
            <a:xfrm>
              <a:off x="4419" y="954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60" name="Line 59"/>
            <p:cNvSpPr/>
            <p:nvPr/>
          </p:nvSpPr>
          <p:spPr>
            <a:xfrm>
              <a:off x="5291" y="949"/>
              <a:ext cx="0" cy="1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61" name="Line 60"/>
            <p:cNvSpPr/>
            <p:nvPr/>
          </p:nvSpPr>
          <p:spPr>
            <a:xfrm flipH="1">
              <a:off x="2779" y="1006"/>
              <a:ext cx="6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62" name="Line 61"/>
            <p:cNvSpPr/>
            <p:nvPr/>
          </p:nvSpPr>
          <p:spPr>
            <a:xfrm flipH="1">
              <a:off x="4437" y="1018"/>
              <a:ext cx="31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63" name="Line 62"/>
            <p:cNvSpPr/>
            <p:nvPr/>
          </p:nvSpPr>
          <p:spPr>
            <a:xfrm flipV="1">
              <a:off x="4989" y="1012"/>
              <a:ext cx="301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3264" name="Line 63"/>
            <p:cNvSpPr/>
            <p:nvPr/>
          </p:nvSpPr>
          <p:spPr>
            <a:xfrm>
              <a:off x="3795" y="1016"/>
              <a:ext cx="58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3265" name="Object 64"/>
            <p:cNvGraphicFramePr>
              <a:graphicFrameLocks noChangeAspect="1"/>
            </p:cNvGraphicFramePr>
            <p:nvPr/>
          </p:nvGraphicFramePr>
          <p:xfrm>
            <a:off x="3521" y="928"/>
            <a:ext cx="142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39700" imgH="165100" progId="Equation.3">
                    <p:embed/>
                  </p:oleObj>
                </mc:Choice>
                <mc:Fallback>
                  <p:oleObj r:id="rId3" imgW="139700" imgH="1651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21" y="928"/>
                          <a:ext cx="142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6" name="Object 65"/>
            <p:cNvGraphicFramePr>
              <a:graphicFrameLocks noChangeAspect="1"/>
            </p:cNvGraphicFramePr>
            <p:nvPr/>
          </p:nvGraphicFramePr>
          <p:xfrm>
            <a:off x="4804" y="934"/>
            <a:ext cx="142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39700" imgH="177800" progId="Equation.3">
                    <p:embed/>
                  </p:oleObj>
                </mc:Choice>
                <mc:Fallback>
                  <p:oleObj r:id="rId5" imgW="139700" imgH="1778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04" y="934"/>
                          <a:ext cx="142" cy="1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7" name="Object 66"/>
            <p:cNvGraphicFramePr>
              <a:graphicFrameLocks noChangeAspect="1"/>
            </p:cNvGraphicFramePr>
            <p:nvPr/>
          </p:nvGraphicFramePr>
          <p:xfrm>
            <a:off x="3540" y="675"/>
            <a:ext cx="129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27000" imgH="165100" progId="Equation.3">
                    <p:embed/>
                  </p:oleObj>
                </mc:Choice>
                <mc:Fallback>
                  <p:oleObj r:id="rId7" imgW="127000" imgH="1651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40" y="675"/>
                          <a:ext cx="129" cy="1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75"/>
          <p:cNvGrpSpPr/>
          <p:nvPr/>
        </p:nvGrpSpPr>
        <p:grpSpPr>
          <a:xfrm>
            <a:off x="3413125" y="912813"/>
            <a:ext cx="5588000" cy="395287"/>
            <a:chOff x="2150" y="575"/>
            <a:chExt cx="3520" cy="249"/>
          </a:xfrm>
        </p:grpSpPr>
        <p:sp>
          <p:nvSpPr>
            <p:cNvPr id="53269" name="Line 68"/>
            <p:cNvSpPr/>
            <p:nvPr/>
          </p:nvSpPr>
          <p:spPr>
            <a:xfrm>
              <a:off x="2518" y="783"/>
              <a:ext cx="3152" cy="16"/>
            </a:xfrm>
            <a:prstGeom prst="line">
              <a:avLst/>
            </a:prstGeom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3270" name="Object 70"/>
            <p:cNvGraphicFramePr>
              <a:graphicFrameLocks noChangeAspect="1"/>
            </p:cNvGraphicFramePr>
            <p:nvPr/>
          </p:nvGraphicFramePr>
          <p:xfrm>
            <a:off x="2150" y="626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50" y="626"/>
                          <a:ext cx="180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271" name="Group 74"/>
            <p:cNvGrpSpPr/>
            <p:nvPr/>
          </p:nvGrpSpPr>
          <p:grpSpPr>
            <a:xfrm>
              <a:off x="4951" y="575"/>
              <a:ext cx="216" cy="248"/>
              <a:chOff x="4951" y="575"/>
              <a:chExt cx="216" cy="248"/>
            </a:xfrm>
          </p:grpSpPr>
          <p:sp>
            <p:nvSpPr>
              <p:cNvPr id="53272" name="Oval 69"/>
              <p:cNvSpPr/>
              <p:nvPr/>
            </p:nvSpPr>
            <p:spPr>
              <a:xfrm>
                <a:off x="5043" y="796"/>
                <a:ext cx="27" cy="27"/>
              </a:xfrm>
              <a:prstGeom prst="ellipse">
                <a:avLst/>
              </a:prstGeom>
              <a:solidFill>
                <a:srgbClr val="CC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53273" name="Object 72"/>
              <p:cNvGraphicFramePr>
                <a:graphicFrameLocks noChangeAspect="1"/>
              </p:cNvGraphicFramePr>
              <p:nvPr/>
            </p:nvGraphicFramePr>
            <p:xfrm>
              <a:off x="4951" y="575"/>
              <a:ext cx="216" cy="2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52400" imgH="165100" progId="Equation.DSMT4">
                      <p:embed/>
                    </p:oleObj>
                  </mc:Choice>
                  <mc:Fallback>
                    <p:oleObj r:id="rId11" imgW="152400" imgH="165100" progId="Equation.DSMT4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951" y="575"/>
                            <a:ext cx="216" cy="2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3274" name="Group 79"/>
          <p:cNvGrpSpPr/>
          <p:nvPr/>
        </p:nvGrpSpPr>
        <p:grpSpPr>
          <a:xfrm>
            <a:off x="5572125" y="890588"/>
            <a:ext cx="3443288" cy="896937"/>
            <a:chOff x="3510" y="561"/>
            <a:chExt cx="2169" cy="565"/>
          </a:xfrm>
        </p:grpSpPr>
        <p:graphicFrame>
          <p:nvGraphicFramePr>
            <p:cNvPr id="53275" name="Object 71"/>
            <p:cNvGraphicFramePr>
              <a:graphicFrameLocks noChangeAspect="1"/>
            </p:cNvGraphicFramePr>
            <p:nvPr/>
          </p:nvGraphicFramePr>
          <p:xfrm>
            <a:off x="4055" y="602"/>
            <a:ext cx="180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55" y="602"/>
                          <a:ext cx="180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6" name="Rectangle 73"/>
            <p:cNvSpPr/>
            <p:nvPr/>
          </p:nvSpPr>
          <p:spPr>
            <a:xfrm>
              <a:off x="3561" y="850"/>
              <a:ext cx="146" cy="37"/>
            </a:xfrm>
            <a:prstGeom prst="rect">
              <a:avLst/>
            </a:prstGeom>
            <a:solidFill>
              <a:srgbClr val="CC0000"/>
            </a:solidFill>
            <a:ln w="19050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/>
            <a:p>
              <a:endParaRPr lang="zh-CN" altLang="en-US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3277" name="Object 76"/>
            <p:cNvGraphicFramePr>
              <a:graphicFrameLocks noChangeAspect="1"/>
            </p:cNvGraphicFramePr>
            <p:nvPr/>
          </p:nvGraphicFramePr>
          <p:xfrm>
            <a:off x="3510" y="561"/>
            <a:ext cx="27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90500" imgH="177800" progId="Equation.3">
                    <p:embed/>
                  </p:oleObj>
                </mc:Choice>
                <mc:Fallback>
                  <p:oleObj r:id="rId13" imgW="190500" imgH="1778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510" y="561"/>
                          <a:ext cx="270" cy="2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8" name="Line 77"/>
            <p:cNvSpPr/>
            <p:nvPr/>
          </p:nvSpPr>
          <p:spPr>
            <a:xfrm>
              <a:off x="5038" y="869"/>
              <a:ext cx="48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3279" name="Object 78"/>
            <p:cNvGraphicFramePr>
              <a:graphicFrameLocks noChangeAspect="1"/>
            </p:cNvGraphicFramePr>
            <p:nvPr/>
          </p:nvGraphicFramePr>
          <p:xfrm>
            <a:off x="5401" y="879"/>
            <a:ext cx="27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228600" imgH="203200" progId="Equation.3">
                    <p:embed/>
                  </p:oleObj>
                </mc:Choice>
                <mc:Fallback>
                  <p:oleObj r:id="rId15" imgW="228600" imgH="2032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401" y="879"/>
                          <a:ext cx="278" cy="2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4"/>
          <p:cNvGrpSpPr/>
          <p:nvPr/>
        </p:nvGrpSpPr>
        <p:grpSpPr>
          <a:xfrm>
            <a:off x="530225" y="1917700"/>
            <a:ext cx="6076950" cy="446088"/>
            <a:chOff x="334" y="1208"/>
            <a:chExt cx="3828" cy="281"/>
          </a:xfrm>
        </p:grpSpPr>
        <p:sp>
          <p:nvSpPr>
            <p:cNvPr id="53281" name="Text Box 80"/>
            <p:cNvSpPr txBox="1"/>
            <p:nvPr/>
          </p:nvSpPr>
          <p:spPr>
            <a:xfrm>
              <a:off x="334" y="1223"/>
              <a:ext cx="38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取微元       ，带有电荷                    ，其中</a:t>
              </a:r>
            </a:p>
          </p:txBody>
        </p:sp>
        <p:graphicFrame>
          <p:nvGraphicFramePr>
            <p:cNvPr id="53282" name="Object 81"/>
            <p:cNvGraphicFramePr>
              <a:graphicFrameLocks noChangeAspect="1"/>
            </p:cNvGraphicFramePr>
            <p:nvPr/>
          </p:nvGraphicFramePr>
          <p:xfrm>
            <a:off x="891" y="1236"/>
            <a:ext cx="25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90500" imgH="177800" progId="Equation.3">
                    <p:embed/>
                  </p:oleObj>
                </mc:Choice>
                <mc:Fallback>
                  <p:oleObj r:id="rId17" imgW="190500" imgH="1778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91" y="1236"/>
                          <a:ext cx="25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83" name="Object 82"/>
            <p:cNvGraphicFramePr>
              <a:graphicFrameLocks noChangeAspect="1"/>
            </p:cNvGraphicFramePr>
            <p:nvPr/>
          </p:nvGraphicFramePr>
          <p:xfrm>
            <a:off x="2046" y="1213"/>
            <a:ext cx="76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584200" imgH="203200" progId="Equation.3">
                    <p:embed/>
                  </p:oleObj>
                </mc:Choice>
                <mc:Fallback>
                  <p:oleObj r:id="rId19" imgW="584200" imgH="2032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46" y="1213"/>
                          <a:ext cx="76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84" name="Object 83"/>
            <p:cNvGraphicFramePr>
              <a:graphicFrameLocks noChangeAspect="1"/>
            </p:cNvGraphicFramePr>
            <p:nvPr/>
          </p:nvGraphicFramePr>
          <p:xfrm>
            <a:off x="3271" y="1208"/>
            <a:ext cx="69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532765" imgH="215900" progId="Equation.3">
                    <p:embed/>
                  </p:oleObj>
                </mc:Choice>
                <mc:Fallback>
                  <p:oleObj r:id="rId21" imgW="532765" imgH="2159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71" y="1208"/>
                          <a:ext cx="694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7"/>
          <p:cNvGrpSpPr/>
          <p:nvPr/>
        </p:nvGrpSpPr>
        <p:grpSpPr>
          <a:xfrm>
            <a:off x="787400" y="2749550"/>
            <a:ext cx="6275388" cy="885825"/>
            <a:chOff x="588" y="2743"/>
            <a:chExt cx="3953" cy="558"/>
          </a:xfrm>
        </p:grpSpPr>
        <p:grpSp>
          <p:nvGrpSpPr>
            <p:cNvPr id="53286" name="Group 98"/>
            <p:cNvGrpSpPr/>
            <p:nvPr/>
          </p:nvGrpSpPr>
          <p:grpSpPr>
            <a:xfrm>
              <a:off x="588" y="2872"/>
              <a:ext cx="1560" cy="250"/>
              <a:chOff x="368" y="2798"/>
              <a:chExt cx="1560" cy="250"/>
            </a:xfrm>
          </p:grpSpPr>
          <p:sp>
            <p:nvSpPr>
              <p:cNvPr id="53287" name="Text Box 86"/>
              <p:cNvSpPr txBox="1"/>
              <p:nvPr/>
            </p:nvSpPr>
            <p:spPr>
              <a:xfrm>
                <a:off x="368" y="2798"/>
                <a:ext cx="156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       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产生的电势</a:t>
                </a:r>
              </a:p>
            </p:txBody>
          </p:sp>
          <p:graphicFrame>
            <p:nvGraphicFramePr>
              <p:cNvPr id="53288" name="Object 87"/>
              <p:cNvGraphicFramePr>
                <a:graphicFrameLocks noChangeAspect="1"/>
              </p:cNvGraphicFramePr>
              <p:nvPr/>
            </p:nvGraphicFramePr>
            <p:xfrm>
              <a:off x="447" y="2801"/>
              <a:ext cx="228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3" imgW="203200" imgH="203200" progId="Equation.3">
                      <p:embed/>
                    </p:oleObj>
                  </mc:Choice>
                  <mc:Fallback>
                    <p:oleObj r:id="rId23" imgW="203200" imgH="20320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447" y="2801"/>
                            <a:ext cx="228" cy="2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3289" name="Object 100"/>
            <p:cNvGraphicFramePr>
              <a:graphicFrameLocks noChangeAspect="1"/>
            </p:cNvGraphicFramePr>
            <p:nvPr/>
          </p:nvGraphicFramePr>
          <p:xfrm>
            <a:off x="2032" y="2743"/>
            <a:ext cx="2509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943100" imgH="431800" progId="Equation.DSMT4">
                    <p:embed/>
                  </p:oleObj>
                </mc:Choice>
                <mc:Fallback>
                  <p:oleObj r:id="rId25" imgW="1943100" imgH="431800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2032" y="2743"/>
                          <a:ext cx="2509" cy="5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8"/>
          <p:cNvGrpSpPr/>
          <p:nvPr/>
        </p:nvGrpSpPr>
        <p:grpSpPr>
          <a:xfrm>
            <a:off x="769938" y="3748088"/>
            <a:ext cx="7432675" cy="909637"/>
            <a:chOff x="540" y="3354"/>
            <a:chExt cx="4682" cy="573"/>
          </a:xfrm>
        </p:grpSpPr>
        <p:sp>
          <p:nvSpPr>
            <p:cNvPr id="53291" name="Text Box 102"/>
            <p:cNvSpPr txBox="1"/>
            <p:nvPr/>
          </p:nvSpPr>
          <p:spPr>
            <a:xfrm>
              <a:off x="540" y="3509"/>
              <a:ext cx="120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细杆 产生电势</a:t>
              </a:r>
            </a:p>
          </p:txBody>
        </p:sp>
        <p:graphicFrame>
          <p:nvGraphicFramePr>
            <p:cNvPr id="53292" name="Object 105"/>
            <p:cNvGraphicFramePr>
              <a:graphicFrameLocks noChangeAspect="1"/>
            </p:cNvGraphicFramePr>
            <p:nvPr/>
          </p:nvGraphicFramePr>
          <p:xfrm>
            <a:off x="1781" y="3354"/>
            <a:ext cx="3441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2819400" imgH="469900" progId="Equation.DSMT4">
                    <p:embed/>
                  </p:oleObj>
                </mc:Choice>
                <mc:Fallback>
                  <p:oleObj r:id="rId27" imgW="2819400" imgH="469900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781" y="3354"/>
                          <a:ext cx="3441" cy="5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5" descr="羊皮纸"/>
          <p:cNvSpPr/>
          <p:nvPr/>
        </p:nvSpPr>
        <p:spPr>
          <a:xfrm>
            <a:off x="0" y="6578600"/>
            <a:ext cx="9144000" cy="27940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4" name="Rectangle 16" descr="羊皮纸"/>
          <p:cNvSpPr/>
          <p:nvPr/>
        </p:nvSpPr>
        <p:spPr>
          <a:xfrm>
            <a:off x="0" y="0"/>
            <a:ext cx="9144000" cy="1319213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Text Box 2"/>
          <p:cNvSpPr txBox="1"/>
          <p:nvPr/>
        </p:nvSpPr>
        <p:spPr>
          <a:xfrm>
            <a:off x="136525" y="138113"/>
            <a:ext cx="8027988" cy="903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两个均匀带电球面同心放置，半径分别为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&lt;R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如图所示。所带电量分别为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求电势分布。</a:t>
            </a:r>
            <a:endParaRPr lang="zh-CN" altLang="en-US" sz="2400" b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392113" y="1354138"/>
            <a:ext cx="1993900" cy="550862"/>
            <a:chOff x="331" y="865"/>
            <a:chExt cx="1256" cy="347"/>
          </a:xfrm>
        </p:grpSpPr>
        <p:sp>
          <p:nvSpPr>
            <p:cNvPr id="54277" name="Text Box 10"/>
            <p:cNvSpPr txBox="1"/>
            <p:nvPr/>
          </p:nvSpPr>
          <p:spPr>
            <a:xfrm>
              <a:off x="331" y="865"/>
              <a:ext cx="82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54278" name="Object 11"/>
            <p:cNvGraphicFramePr>
              <a:graphicFrameLocks noChangeAspect="1"/>
            </p:cNvGraphicFramePr>
            <p:nvPr/>
          </p:nvGraphicFramePr>
          <p:xfrm>
            <a:off x="987" y="885"/>
            <a:ext cx="60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31800" imgH="241300" progId="Equation.3">
                    <p:embed/>
                  </p:oleObj>
                </mc:Choice>
                <mc:Fallback>
                  <p:oleObj r:id="rId3" imgW="431800" imgH="2413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87" y="885"/>
                          <a:ext cx="600" cy="3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40" name="Object 12"/>
          <p:cNvGraphicFramePr>
            <a:graphicFrameLocks noChangeAspect="1"/>
          </p:cNvGraphicFramePr>
          <p:nvPr/>
        </p:nvGraphicFramePr>
        <p:xfrm>
          <a:off x="704850" y="1955800"/>
          <a:ext cx="33893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43965" imgH="215900" progId="Equation.3">
                  <p:embed/>
                </p:oleObj>
              </mc:Choice>
              <mc:Fallback>
                <p:oleObj r:id="rId5" imgW="1243965" imgH="215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4850" y="1955800"/>
                        <a:ext cx="3389313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1" name="Text Box 13"/>
          <p:cNvSpPr txBox="1"/>
          <p:nvPr/>
        </p:nvSpPr>
        <p:spPr>
          <a:xfrm>
            <a:off x="2589213" y="1381125"/>
            <a:ext cx="3111500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场点在两个球面内部</a:t>
            </a:r>
          </a:p>
        </p:txBody>
      </p:sp>
      <p:graphicFrame>
        <p:nvGraphicFramePr>
          <p:cNvPr id="201742" name="Object 14"/>
          <p:cNvGraphicFramePr>
            <a:graphicFrameLocks noChangeAspect="1"/>
          </p:cNvGraphicFramePr>
          <p:nvPr/>
        </p:nvGraphicFramePr>
        <p:xfrm>
          <a:off x="1258888" y="2378075"/>
          <a:ext cx="288925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06500" imgH="431800" progId="Equation.DSMT4">
                  <p:embed/>
                </p:oleObj>
              </mc:Choice>
              <mc:Fallback>
                <p:oleObj r:id="rId7" imgW="1206500" imgH="4318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8888" y="2378075"/>
                        <a:ext cx="2889250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/>
          <p:cNvGrpSpPr/>
          <p:nvPr/>
        </p:nvGrpSpPr>
        <p:grpSpPr>
          <a:xfrm>
            <a:off x="247650" y="3363913"/>
            <a:ext cx="2401888" cy="519112"/>
            <a:chOff x="440" y="379"/>
            <a:chExt cx="1513" cy="327"/>
          </a:xfrm>
        </p:grpSpPr>
        <p:sp>
          <p:nvSpPr>
            <p:cNvPr id="54283" name="Text Box 18"/>
            <p:cNvSpPr txBox="1"/>
            <p:nvPr/>
          </p:nvSpPr>
          <p:spPr>
            <a:xfrm>
              <a:off x="440" y="379"/>
              <a:ext cx="73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8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54284" name="Object 19"/>
            <p:cNvGraphicFramePr>
              <a:graphicFrameLocks noChangeAspect="1"/>
            </p:cNvGraphicFramePr>
            <p:nvPr/>
          </p:nvGraphicFramePr>
          <p:xfrm>
            <a:off x="999" y="439"/>
            <a:ext cx="95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774065" imgH="241300" progId="Equation.3">
                    <p:embed/>
                  </p:oleObj>
                </mc:Choice>
                <mc:Fallback>
                  <p:oleObj r:id="rId9" imgW="774065" imgH="2413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99" y="439"/>
                          <a:ext cx="954" cy="2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1749" name="Text Box 21"/>
          <p:cNvSpPr txBox="1"/>
          <p:nvPr/>
        </p:nvSpPr>
        <p:spPr>
          <a:xfrm>
            <a:off x="820738" y="3836988"/>
            <a:ext cx="5011737" cy="493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场点在内球面外部，外球面的内部</a:t>
            </a:r>
          </a:p>
        </p:txBody>
      </p:sp>
      <p:graphicFrame>
        <p:nvGraphicFramePr>
          <p:cNvPr id="201750" name="Object 22"/>
          <p:cNvGraphicFramePr>
            <a:graphicFrameLocks noChangeAspect="1"/>
          </p:cNvGraphicFramePr>
          <p:nvPr/>
        </p:nvGraphicFramePr>
        <p:xfrm>
          <a:off x="630238" y="4438650"/>
          <a:ext cx="27828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67765" imgH="215900" progId="Equation.3">
                  <p:embed/>
                </p:oleObj>
              </mc:Choice>
              <mc:Fallback>
                <p:oleObj r:id="rId11" imgW="1167765" imgH="215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0238" y="4438650"/>
                        <a:ext cx="2782887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1" name="Object 23"/>
          <p:cNvGraphicFramePr>
            <a:graphicFrameLocks noChangeAspect="1"/>
          </p:cNvGraphicFramePr>
          <p:nvPr/>
        </p:nvGraphicFramePr>
        <p:xfrm>
          <a:off x="3363913" y="4235450"/>
          <a:ext cx="250825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29665" imgH="431800" progId="Equation.DSMT4">
                  <p:embed/>
                </p:oleObj>
              </mc:Choice>
              <mc:Fallback>
                <p:oleObj r:id="rId13" imgW="1129665" imgH="4318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63913" y="4235450"/>
                        <a:ext cx="2508250" cy="957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4"/>
          <p:cNvGrpSpPr/>
          <p:nvPr/>
        </p:nvGrpSpPr>
        <p:grpSpPr>
          <a:xfrm>
            <a:off x="241300" y="5221288"/>
            <a:ext cx="1816100" cy="511175"/>
            <a:chOff x="793" y="2387"/>
            <a:chExt cx="1372" cy="420"/>
          </a:xfrm>
        </p:grpSpPr>
        <p:sp>
          <p:nvSpPr>
            <p:cNvPr id="54289" name="Text Box 25"/>
            <p:cNvSpPr txBox="1"/>
            <p:nvPr/>
          </p:nvSpPr>
          <p:spPr>
            <a:xfrm>
              <a:off x="793" y="2431"/>
              <a:ext cx="959" cy="3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400" b="1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</a:p>
          </p:txBody>
        </p:sp>
        <p:graphicFrame>
          <p:nvGraphicFramePr>
            <p:cNvPr id="54290" name="Object 26"/>
            <p:cNvGraphicFramePr>
              <a:graphicFrameLocks noChangeAspect="1"/>
            </p:cNvGraphicFramePr>
            <p:nvPr/>
          </p:nvGraphicFramePr>
          <p:xfrm>
            <a:off x="1429" y="2387"/>
            <a:ext cx="736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57200" imgH="241300" progId="Equation.3">
                    <p:embed/>
                  </p:oleObj>
                </mc:Choice>
                <mc:Fallback>
                  <p:oleObj r:id="rId15" imgW="457200" imgH="2413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29" y="2387"/>
                          <a:ext cx="736" cy="4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55" name="Object 27"/>
          <p:cNvGraphicFramePr>
            <a:graphicFrameLocks noChangeAspect="1"/>
          </p:cNvGraphicFramePr>
          <p:nvPr/>
        </p:nvGraphicFramePr>
        <p:xfrm>
          <a:off x="877888" y="5878513"/>
          <a:ext cx="26146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066165" imgH="215900" progId="Equation.3">
                  <p:embed/>
                </p:oleObj>
              </mc:Choice>
              <mc:Fallback>
                <p:oleObj r:id="rId17" imgW="1066165" imgH="2159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77888" y="5878513"/>
                        <a:ext cx="2614612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56" name="Text Box 28"/>
          <p:cNvSpPr txBox="1"/>
          <p:nvPr/>
        </p:nvSpPr>
        <p:spPr>
          <a:xfrm>
            <a:off x="2341563" y="5154613"/>
            <a:ext cx="3563937" cy="493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场点在两个球面的外部</a:t>
            </a:r>
          </a:p>
        </p:txBody>
      </p:sp>
      <p:graphicFrame>
        <p:nvGraphicFramePr>
          <p:cNvPr id="201757" name="Object 29"/>
          <p:cNvGraphicFramePr>
            <a:graphicFrameLocks noChangeAspect="1"/>
          </p:cNvGraphicFramePr>
          <p:nvPr/>
        </p:nvGraphicFramePr>
        <p:xfrm>
          <a:off x="3740150" y="5586413"/>
          <a:ext cx="249872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54100" imgH="431800" progId="Equation.DSMT4">
                  <p:embed/>
                </p:oleObj>
              </mc:Choice>
              <mc:Fallback>
                <p:oleObj r:id="rId19" imgW="1054100" imgH="4318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740150" y="5586413"/>
                        <a:ext cx="2498725" cy="1023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8" name="Object 30"/>
          <p:cNvGraphicFramePr>
            <a:graphicFrameLocks noChangeAspect="1"/>
          </p:cNvGraphicFramePr>
          <p:nvPr/>
        </p:nvGraphicFramePr>
        <p:xfrm>
          <a:off x="6327775" y="5619750"/>
          <a:ext cx="1385888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584200" imgH="431800" progId="Equation.DSMT4">
                  <p:embed/>
                </p:oleObj>
              </mc:Choice>
              <mc:Fallback>
                <p:oleObj r:id="rId21" imgW="584200" imgH="431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27775" y="5619750"/>
                        <a:ext cx="1385888" cy="1023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95" name="Group 37"/>
          <p:cNvGrpSpPr/>
          <p:nvPr/>
        </p:nvGrpSpPr>
        <p:grpSpPr>
          <a:xfrm>
            <a:off x="6445250" y="1804988"/>
            <a:ext cx="1563688" cy="730250"/>
            <a:chOff x="4312" y="1137"/>
            <a:chExt cx="985" cy="460"/>
          </a:xfrm>
        </p:grpSpPr>
        <p:sp>
          <p:nvSpPr>
            <p:cNvPr id="54296" name="Line 5"/>
            <p:cNvSpPr/>
            <p:nvPr/>
          </p:nvSpPr>
          <p:spPr>
            <a:xfrm flipH="1" flipV="1">
              <a:off x="4343" y="1137"/>
              <a:ext cx="303" cy="286"/>
            </a:xfrm>
            <a:prstGeom prst="line">
              <a:avLst/>
            </a:prstGeom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54297" name="Line 6"/>
            <p:cNvSpPr/>
            <p:nvPr/>
          </p:nvSpPr>
          <p:spPr>
            <a:xfrm flipV="1">
              <a:off x="4634" y="1252"/>
              <a:ext cx="663" cy="195"/>
            </a:xfrm>
            <a:prstGeom prst="line">
              <a:avLst/>
            </a:prstGeom>
            <a:ln w="19050" cap="flat" cmpd="sng">
              <a:solidFill>
                <a:srgbClr val="00008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54298" name="Object 31"/>
            <p:cNvGraphicFramePr>
              <a:graphicFrameLocks noChangeAspect="1"/>
            </p:cNvGraphicFramePr>
            <p:nvPr/>
          </p:nvGraphicFramePr>
          <p:xfrm>
            <a:off x="4312" y="1228"/>
            <a:ext cx="221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177800" imgH="215900" progId="Equation.3">
                    <p:embed/>
                  </p:oleObj>
                </mc:Choice>
                <mc:Fallback>
                  <p:oleObj r:id="rId23" imgW="177800" imgH="2159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12" y="1228"/>
                          <a:ext cx="221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299" name="Object 32"/>
            <p:cNvGraphicFramePr>
              <a:graphicFrameLocks noChangeAspect="1"/>
            </p:cNvGraphicFramePr>
            <p:nvPr/>
          </p:nvGraphicFramePr>
          <p:xfrm>
            <a:off x="4778" y="1329"/>
            <a:ext cx="236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90500" imgH="215900" progId="Equation.3">
                    <p:embed/>
                  </p:oleObj>
                </mc:Choice>
                <mc:Fallback>
                  <p:oleObj r:id="rId25" imgW="190500" imgH="2159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778" y="1329"/>
                          <a:ext cx="236" cy="2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300" name="Group 42"/>
          <p:cNvGrpSpPr/>
          <p:nvPr/>
        </p:nvGrpSpPr>
        <p:grpSpPr>
          <a:xfrm>
            <a:off x="6288088" y="1358900"/>
            <a:ext cx="1377950" cy="1562100"/>
            <a:chOff x="4213" y="856"/>
            <a:chExt cx="868" cy="984"/>
          </a:xfrm>
        </p:grpSpPr>
        <p:grpSp>
          <p:nvGrpSpPr>
            <p:cNvPr id="54301" name="Group 36"/>
            <p:cNvGrpSpPr/>
            <p:nvPr/>
          </p:nvGrpSpPr>
          <p:grpSpPr>
            <a:xfrm>
              <a:off x="4213" y="1030"/>
              <a:ext cx="868" cy="810"/>
              <a:chOff x="3961" y="1018"/>
              <a:chExt cx="1240" cy="1206"/>
            </a:xfrm>
          </p:grpSpPr>
          <p:sp>
            <p:nvSpPr>
              <p:cNvPr id="54302" name="Oval 3"/>
              <p:cNvSpPr/>
              <p:nvPr/>
            </p:nvSpPr>
            <p:spPr>
              <a:xfrm>
                <a:off x="3992" y="1049"/>
                <a:ext cx="1180" cy="1134"/>
              </a:xfrm>
              <a:prstGeom prst="ellipse">
                <a:avLst/>
              </a:prstGeom>
              <a:noFill/>
              <a:ln w="349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303" name="Oval 33"/>
              <p:cNvSpPr/>
              <p:nvPr/>
            </p:nvSpPr>
            <p:spPr>
              <a:xfrm>
                <a:off x="3961" y="1018"/>
                <a:ext cx="1240" cy="1206"/>
              </a:xfrm>
              <a:prstGeom prst="ellipse">
                <a:avLst/>
              </a:prstGeom>
              <a:noFill/>
              <a:ln w="3492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54304" name="Object 39"/>
            <p:cNvGraphicFramePr>
              <a:graphicFrameLocks noChangeAspect="1"/>
            </p:cNvGraphicFramePr>
            <p:nvPr/>
          </p:nvGraphicFramePr>
          <p:xfrm>
            <a:off x="4416" y="856"/>
            <a:ext cx="20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52400" imgH="215900" progId="Equation.3">
                    <p:embed/>
                  </p:oleObj>
                </mc:Choice>
                <mc:Fallback>
                  <p:oleObj r:id="rId27" imgW="152400" imgH="2159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416" y="856"/>
                          <a:ext cx="204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305" name="Group 41"/>
          <p:cNvGrpSpPr/>
          <p:nvPr/>
        </p:nvGrpSpPr>
        <p:grpSpPr>
          <a:xfrm>
            <a:off x="5834063" y="1214438"/>
            <a:ext cx="2373312" cy="2124075"/>
            <a:chOff x="3927" y="765"/>
            <a:chExt cx="1495" cy="1338"/>
          </a:xfrm>
        </p:grpSpPr>
        <p:grpSp>
          <p:nvGrpSpPr>
            <p:cNvPr id="54306" name="Group 35"/>
            <p:cNvGrpSpPr/>
            <p:nvPr/>
          </p:nvGrpSpPr>
          <p:grpSpPr>
            <a:xfrm>
              <a:off x="3927" y="765"/>
              <a:ext cx="1441" cy="1338"/>
              <a:chOff x="3699" y="813"/>
              <a:chExt cx="1729" cy="1614"/>
            </a:xfrm>
          </p:grpSpPr>
          <p:sp>
            <p:nvSpPr>
              <p:cNvPr id="54307" name="Oval 4"/>
              <p:cNvSpPr/>
              <p:nvPr/>
            </p:nvSpPr>
            <p:spPr>
              <a:xfrm>
                <a:off x="3754" y="844"/>
                <a:ext cx="1633" cy="1542"/>
              </a:xfrm>
              <a:prstGeom prst="ellipse">
                <a:avLst/>
              </a:prstGeom>
              <a:noFill/>
              <a:ln w="57150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308" name="Oval 34"/>
              <p:cNvSpPr/>
              <p:nvPr/>
            </p:nvSpPr>
            <p:spPr>
              <a:xfrm>
                <a:off x="3699" y="813"/>
                <a:ext cx="1729" cy="1614"/>
              </a:xfrm>
              <a:prstGeom prst="ellipse">
                <a:avLst/>
              </a:prstGeom>
              <a:noFill/>
              <a:ln w="57150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54309" name="Object 40"/>
            <p:cNvGraphicFramePr>
              <a:graphicFrameLocks noChangeAspect="1"/>
            </p:cNvGraphicFramePr>
            <p:nvPr/>
          </p:nvGraphicFramePr>
          <p:xfrm>
            <a:off x="5184" y="777"/>
            <a:ext cx="23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77800" imgH="215900" progId="Equation.3">
                    <p:embed/>
                  </p:oleObj>
                </mc:Choice>
                <mc:Fallback>
                  <p:oleObj r:id="rId29" imgW="177800" imgH="21590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184" y="777"/>
                          <a:ext cx="238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3"/>
          <p:cNvGrpSpPr/>
          <p:nvPr/>
        </p:nvGrpSpPr>
        <p:grpSpPr>
          <a:xfrm>
            <a:off x="6535738" y="2033588"/>
            <a:ext cx="2570162" cy="3513137"/>
            <a:chOff x="745" y="1557"/>
            <a:chExt cx="1584" cy="2513"/>
          </a:xfrm>
        </p:grpSpPr>
        <p:sp>
          <p:nvSpPr>
            <p:cNvPr id="54311" name="Line 44"/>
            <p:cNvSpPr/>
            <p:nvPr/>
          </p:nvSpPr>
          <p:spPr>
            <a:xfrm>
              <a:off x="1021" y="2156"/>
              <a:ext cx="0" cy="16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312" name="Line 45"/>
            <p:cNvSpPr/>
            <p:nvPr/>
          </p:nvSpPr>
          <p:spPr>
            <a:xfrm>
              <a:off x="1429" y="1635"/>
              <a:ext cx="0" cy="21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313" name="Line 46"/>
            <p:cNvSpPr/>
            <p:nvPr/>
          </p:nvSpPr>
          <p:spPr>
            <a:xfrm>
              <a:off x="1673" y="1557"/>
              <a:ext cx="0" cy="23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54314" name="Line 47"/>
            <p:cNvSpPr/>
            <p:nvPr/>
          </p:nvSpPr>
          <p:spPr>
            <a:xfrm flipV="1">
              <a:off x="1012" y="3851"/>
              <a:ext cx="13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54315" name="Line 48"/>
            <p:cNvSpPr/>
            <p:nvPr/>
          </p:nvSpPr>
          <p:spPr>
            <a:xfrm flipV="1">
              <a:off x="1020" y="2551"/>
              <a:ext cx="0" cy="12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54316" name="Line 49"/>
            <p:cNvSpPr/>
            <p:nvPr/>
          </p:nvSpPr>
          <p:spPr>
            <a:xfrm>
              <a:off x="1004" y="2831"/>
              <a:ext cx="428" cy="0"/>
            </a:xfrm>
            <a:prstGeom prst="line">
              <a:avLst/>
            </a:prstGeom>
            <a:ln w="57150" cap="flat" cmpd="sng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4317" name="Freeform 50"/>
            <p:cNvSpPr/>
            <p:nvPr/>
          </p:nvSpPr>
          <p:spPr>
            <a:xfrm>
              <a:off x="1430" y="2816"/>
              <a:ext cx="239" cy="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4" y="8"/>
                </a:cxn>
                <a:cxn ang="0">
                  <a:pos x="239" y="14"/>
                </a:cxn>
              </a:cxnLst>
              <a:rect l="0" t="0" r="0" b="0"/>
              <a:pathLst>
                <a:path w="239" h="329">
                  <a:moveTo>
                    <a:pt x="0" y="0"/>
                  </a:moveTo>
                  <a:cubicBezTo>
                    <a:pt x="17" y="63"/>
                    <a:pt x="34" y="126"/>
                    <a:pt x="74" y="181"/>
                  </a:cubicBezTo>
                  <a:cubicBezTo>
                    <a:pt x="114" y="236"/>
                    <a:pt x="176" y="282"/>
                    <a:pt x="239" y="329"/>
                  </a:cubicBezTo>
                </a:path>
              </a:pathLst>
            </a:custGeom>
            <a:noFill/>
            <a:ln w="57150" cap="flat" cmpd="sng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8" name="Freeform 51"/>
            <p:cNvSpPr/>
            <p:nvPr/>
          </p:nvSpPr>
          <p:spPr>
            <a:xfrm>
              <a:off x="1666" y="3052"/>
              <a:ext cx="566" cy="6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" y="426"/>
                </a:cxn>
                <a:cxn ang="0">
                  <a:pos x="566" y="658"/>
                </a:cxn>
              </a:cxnLst>
              <a:rect l="0" t="0" r="0" b="0"/>
              <a:pathLst>
                <a:path w="566" h="658">
                  <a:moveTo>
                    <a:pt x="0" y="0"/>
                  </a:moveTo>
                  <a:cubicBezTo>
                    <a:pt x="62" y="158"/>
                    <a:pt x="124" y="316"/>
                    <a:pt x="218" y="426"/>
                  </a:cubicBezTo>
                  <a:cubicBezTo>
                    <a:pt x="312" y="536"/>
                    <a:pt x="439" y="597"/>
                    <a:pt x="566" y="658"/>
                  </a:cubicBezTo>
                </a:path>
              </a:pathLst>
            </a:custGeom>
            <a:noFill/>
            <a:ln w="57150" cap="flat" cmpd="sng">
              <a:solidFill>
                <a:srgbClr val="FF505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319" name="Group 52"/>
            <p:cNvGrpSpPr/>
            <p:nvPr/>
          </p:nvGrpSpPr>
          <p:grpSpPr>
            <a:xfrm>
              <a:off x="1340" y="3906"/>
              <a:ext cx="173" cy="146"/>
              <a:chOff x="4462" y="1193"/>
              <a:chExt cx="173" cy="146"/>
            </a:xfrm>
          </p:grpSpPr>
          <p:sp>
            <p:nvSpPr>
              <p:cNvPr id="54320" name="WordArt 53"/>
              <p:cNvSpPr>
                <a:spLocks noTextEdit="1"/>
              </p:cNvSpPr>
              <p:nvPr/>
            </p:nvSpPr>
            <p:spPr>
              <a:xfrm>
                <a:off x="4462" y="1193"/>
                <a:ext cx="131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</a:t>
                </a:r>
              </a:p>
            </p:txBody>
          </p:sp>
          <p:sp>
            <p:nvSpPr>
              <p:cNvPr id="54321" name="WordArt 54"/>
              <p:cNvSpPr>
                <a:spLocks noTextEdit="1"/>
              </p:cNvSpPr>
              <p:nvPr/>
            </p:nvSpPr>
            <p:spPr>
              <a:xfrm>
                <a:off x="4570" y="1271"/>
                <a:ext cx="65" cy="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54322" name="Group 55"/>
            <p:cNvGrpSpPr/>
            <p:nvPr/>
          </p:nvGrpSpPr>
          <p:grpSpPr>
            <a:xfrm>
              <a:off x="1584" y="3911"/>
              <a:ext cx="200" cy="159"/>
              <a:chOff x="559" y="1371"/>
              <a:chExt cx="200" cy="159"/>
            </a:xfrm>
          </p:grpSpPr>
          <p:grpSp>
            <p:nvGrpSpPr>
              <p:cNvPr id="54323" name="Group 56"/>
              <p:cNvGrpSpPr/>
              <p:nvPr/>
            </p:nvGrpSpPr>
            <p:grpSpPr>
              <a:xfrm>
                <a:off x="559" y="1371"/>
                <a:ext cx="134" cy="125"/>
                <a:chOff x="4057" y="1330"/>
                <a:chExt cx="134" cy="125"/>
              </a:xfrm>
            </p:grpSpPr>
            <p:sp>
              <p:nvSpPr>
                <p:cNvPr id="54324" name="WordArt 57"/>
                <p:cNvSpPr>
                  <a:spLocks noTextEdit="1"/>
                </p:cNvSpPr>
                <p:nvPr/>
              </p:nvSpPr>
              <p:spPr>
                <a:xfrm>
                  <a:off x="4057" y="1330"/>
                  <a:ext cx="131" cy="12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76200" cap="flat" cmpd="sng">
                        <a:solidFill>
                          <a:schemeClr val="bg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chemeClr val="bg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</a:t>
                  </a:r>
                </a:p>
              </p:txBody>
            </p:sp>
            <p:sp>
              <p:nvSpPr>
                <p:cNvPr id="54325" name="WordArt 58"/>
                <p:cNvSpPr>
                  <a:spLocks noTextEdit="1"/>
                </p:cNvSpPr>
                <p:nvPr/>
              </p:nvSpPr>
              <p:spPr>
                <a:xfrm>
                  <a:off x="4060" y="1330"/>
                  <a:ext cx="131" cy="12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/>
                </a:bodyPr>
                <a:lstStyle/>
                <a:p>
                  <a:pPr algn="ctr"/>
                  <a:r>
                    <a:rPr lang="zh-CN" altLang="en-US" sz="800" i="1">
                      <a:ln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</a:t>
                  </a:r>
                </a:p>
              </p:txBody>
            </p:sp>
          </p:grpSp>
          <p:sp>
            <p:nvSpPr>
              <p:cNvPr id="54326" name="WordArt 59"/>
              <p:cNvSpPr>
                <a:spLocks noTextEdit="1"/>
              </p:cNvSpPr>
              <p:nvPr/>
            </p:nvSpPr>
            <p:spPr>
              <a:xfrm>
                <a:off x="700" y="1447"/>
                <a:ext cx="59" cy="8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i="1">
                    <a:ln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</p:grpSp>
        <p:sp>
          <p:nvSpPr>
            <p:cNvPr id="54327" name="WordArt 60"/>
            <p:cNvSpPr>
              <a:spLocks noTextEdit="1"/>
            </p:cNvSpPr>
            <p:nvPr/>
          </p:nvSpPr>
          <p:spPr>
            <a:xfrm>
              <a:off x="2156" y="3917"/>
              <a:ext cx="118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54328" name="WordArt 61"/>
            <p:cNvSpPr>
              <a:spLocks noTextEdit="1"/>
            </p:cNvSpPr>
            <p:nvPr/>
          </p:nvSpPr>
          <p:spPr>
            <a:xfrm>
              <a:off x="915" y="3895"/>
              <a:ext cx="121" cy="13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324"/>
                </a:avLst>
              </a:prstTxWarp>
              <a:normAutofit/>
            </a:bodyPr>
            <a:lstStyle/>
            <a:p>
              <a:pPr algn="ctr"/>
              <a:r>
                <a:rPr lang="zh-CN" altLang="en-US" sz="3600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4329" name="WordArt 62"/>
            <p:cNvSpPr>
              <a:spLocks noTextEdit="1"/>
            </p:cNvSpPr>
            <p:nvPr/>
          </p:nvSpPr>
          <p:spPr>
            <a:xfrm>
              <a:off x="745" y="2589"/>
              <a:ext cx="234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9477"/>
                </a:avLst>
              </a:prstTxWarp>
              <a:normAutofit/>
            </a:bodyPr>
            <a:lstStyle/>
            <a:p>
              <a:pPr algn="ctr"/>
              <a:r>
                <a:rPr lang="zh-CN" altLang="en-US" sz="3600" i="1"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v</a:t>
              </a:r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41" grpId="0"/>
      <p:bldP spid="201749" grpId="0"/>
      <p:bldP spid="20175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50" descr="羊皮纸"/>
          <p:cNvSpPr/>
          <p:nvPr/>
        </p:nvSpPr>
        <p:spPr>
          <a:xfrm>
            <a:off x="0" y="6343333"/>
            <a:ext cx="9144000" cy="57943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2" name="Rectangle 51" descr="羊皮纸"/>
          <p:cNvSpPr/>
          <p:nvPr/>
        </p:nvSpPr>
        <p:spPr>
          <a:xfrm>
            <a:off x="0" y="0"/>
            <a:ext cx="9144000" cy="163195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Text Box 4"/>
          <p:cNvSpPr txBox="1"/>
          <p:nvPr/>
        </p:nvSpPr>
        <p:spPr>
          <a:xfrm>
            <a:off x="358775" y="228600"/>
            <a:ext cx="8785225" cy="1232535"/>
          </a:xfrm>
          <a:prstGeom prst="rect">
            <a:avLst/>
          </a:prstGeom>
          <a:noFill/>
          <a:ln w="9525">
            <a:noFill/>
          </a:ln>
        </p:spPr>
        <p:txBody>
          <a:bodyPr tIns="190800" anchor="t" anchorCtr="0">
            <a:spAutoFit/>
          </a:bodyPr>
          <a:lstStyle/>
          <a:p>
            <a:pPr>
              <a:lnSpc>
                <a:spcPct val="50000"/>
              </a:lnSpc>
              <a:spcBef>
                <a:spcPct val="6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如图带电系统。</a:t>
            </a:r>
          </a:p>
          <a:p>
            <a:pPr>
              <a:lnSpc>
                <a:spcPct val="50000"/>
              </a:lnSpc>
              <a:spcBef>
                <a:spcPct val="60000"/>
              </a:spcBef>
            </a:pP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、将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处单位正电荷经     移动到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，电场力作多少功？</a:t>
            </a:r>
          </a:p>
          <a:p>
            <a:pPr>
              <a:lnSpc>
                <a:spcPct val="50000"/>
              </a:lnSpc>
              <a:spcBef>
                <a:spcPct val="60000"/>
              </a:spcBef>
            </a:pP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、将</a:t>
            </a:r>
            <a:r>
              <a:rPr lang="en-US" altLang="zh-CN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solidFill>
                  <a:srgbClr val="1C1C1C"/>
                </a:solidFill>
                <a:latin typeface="楷体_GB2312" pitchFamily="49" charset="-122"/>
                <a:ea typeface="楷体_GB2312" pitchFamily="49" charset="-122"/>
              </a:rPr>
              <a:t>处单位正电荷移动到∞远，电场力做功多少？   </a:t>
            </a:r>
          </a:p>
        </p:txBody>
      </p:sp>
      <p:grpSp>
        <p:nvGrpSpPr>
          <p:cNvPr id="35844" name="Group 31"/>
          <p:cNvGrpSpPr/>
          <p:nvPr/>
        </p:nvGrpSpPr>
        <p:grpSpPr>
          <a:xfrm>
            <a:off x="5505450" y="1731963"/>
            <a:ext cx="3486150" cy="1508125"/>
            <a:chOff x="3564" y="1363"/>
            <a:chExt cx="1668" cy="718"/>
          </a:xfrm>
        </p:grpSpPr>
        <p:sp>
          <p:nvSpPr>
            <p:cNvPr id="35845" name="Line 12"/>
            <p:cNvSpPr/>
            <p:nvPr/>
          </p:nvSpPr>
          <p:spPr>
            <a:xfrm>
              <a:off x="3688" y="1836"/>
              <a:ext cx="7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5846" name="Line 13"/>
            <p:cNvSpPr/>
            <p:nvPr/>
          </p:nvSpPr>
          <p:spPr>
            <a:xfrm>
              <a:off x="4024" y="1836"/>
              <a:ext cx="12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35847" name="Group 11"/>
            <p:cNvGrpSpPr/>
            <p:nvPr/>
          </p:nvGrpSpPr>
          <p:grpSpPr>
            <a:xfrm>
              <a:off x="3583" y="1797"/>
              <a:ext cx="953" cy="91"/>
              <a:chOff x="3583" y="1797"/>
              <a:chExt cx="953" cy="91"/>
            </a:xfrm>
          </p:grpSpPr>
          <p:sp>
            <p:nvSpPr>
              <p:cNvPr id="35848" name="Oval 5"/>
              <p:cNvSpPr/>
              <p:nvPr/>
            </p:nvSpPr>
            <p:spPr>
              <a:xfrm>
                <a:off x="3583" y="1797"/>
                <a:ext cx="91" cy="91"/>
              </a:xfrm>
              <a:prstGeom prst="ellipse">
                <a:avLst/>
              </a:prstGeom>
              <a:solidFill>
                <a:srgbClr val="CC00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49" name="Oval 6"/>
              <p:cNvSpPr/>
              <p:nvPr/>
            </p:nvSpPr>
            <p:spPr>
              <a:xfrm>
                <a:off x="4445" y="1797"/>
                <a:ext cx="91" cy="91"/>
              </a:xfrm>
              <a:prstGeom prst="ellipse">
                <a:avLst/>
              </a:prstGeom>
              <a:solidFill>
                <a:srgbClr val="FFFF66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lstStyle/>
              <a:p>
                <a:endParaRPr lang="zh-CN" altLang="en-US" dirty="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5850" name="Group 9"/>
              <p:cNvGrpSpPr/>
              <p:nvPr/>
            </p:nvGrpSpPr>
            <p:grpSpPr>
              <a:xfrm>
                <a:off x="3586" y="1801"/>
                <a:ext cx="68" cy="68"/>
                <a:chOff x="3454" y="2001"/>
                <a:chExt cx="68" cy="68"/>
              </a:xfrm>
            </p:grpSpPr>
            <p:sp>
              <p:nvSpPr>
                <p:cNvPr id="35851" name="Line 7"/>
                <p:cNvSpPr/>
                <p:nvPr/>
              </p:nvSpPr>
              <p:spPr>
                <a:xfrm>
                  <a:off x="3454" y="2035"/>
                  <a:ext cx="68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5852" name="Line 8"/>
                <p:cNvSpPr/>
                <p:nvPr/>
              </p:nvSpPr>
              <p:spPr>
                <a:xfrm>
                  <a:off x="3492" y="2001"/>
                  <a:ext cx="0" cy="68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5853" name="Line 10"/>
              <p:cNvSpPr/>
              <p:nvPr/>
            </p:nvSpPr>
            <p:spPr>
              <a:xfrm>
                <a:off x="4456" y="1844"/>
                <a:ext cx="6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5854" name="Arc 14"/>
            <p:cNvSpPr/>
            <p:nvPr/>
          </p:nvSpPr>
          <p:spPr>
            <a:xfrm rot="-5219233">
              <a:off x="4243" y="1145"/>
              <a:ext cx="491" cy="9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43098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6"/>
                    <a:pt x="13163" y="42016"/>
                    <a:pt x="2099" y="43097"/>
                  </a:cubicBezTo>
                </a:path>
                <a:path w="21600" h="43098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16"/>
                    <a:pt x="13163" y="42016"/>
                    <a:pt x="2099" y="430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855" name="Object 15"/>
            <p:cNvGraphicFramePr>
              <a:graphicFrameLocks noChangeAspect="1"/>
            </p:cNvGraphicFramePr>
            <p:nvPr/>
          </p:nvGraphicFramePr>
          <p:xfrm>
            <a:off x="3564" y="1640"/>
            <a:ext cx="15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41300" imgH="177800" progId="Equation.3">
                    <p:embed/>
                  </p:oleObj>
                </mc:Choice>
                <mc:Fallback>
                  <p:oleObj r:id="rId3" imgW="241300" imgH="177800" progId="Equation.3">
                    <p:embed/>
                    <p:pic>
                      <p:nvPicPr>
                        <p:cNvPr id="0" name="图片 32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564" y="1640"/>
                          <a:ext cx="152" cy="1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6" name="Object 17"/>
            <p:cNvGraphicFramePr>
              <a:graphicFrameLocks noChangeAspect="1"/>
            </p:cNvGraphicFramePr>
            <p:nvPr/>
          </p:nvGraphicFramePr>
          <p:xfrm>
            <a:off x="4400" y="1668"/>
            <a:ext cx="152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41300" imgH="165100" progId="Equation.3">
                    <p:embed/>
                  </p:oleObj>
                </mc:Choice>
                <mc:Fallback>
                  <p:oleObj r:id="rId5" imgW="241300" imgH="165100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00" y="1668"/>
                          <a:ext cx="152" cy="1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7" name="Line 18"/>
            <p:cNvSpPr/>
            <p:nvPr/>
          </p:nvSpPr>
          <p:spPr>
            <a:xfrm>
              <a:off x="3628" y="1912"/>
              <a:ext cx="0" cy="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8" name="Line 19"/>
            <p:cNvSpPr/>
            <p:nvPr/>
          </p:nvSpPr>
          <p:spPr>
            <a:xfrm>
              <a:off x="4489" y="1909"/>
              <a:ext cx="0" cy="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59" name="Line 20"/>
            <p:cNvSpPr/>
            <p:nvPr/>
          </p:nvSpPr>
          <p:spPr>
            <a:xfrm>
              <a:off x="4033" y="1917"/>
              <a:ext cx="0" cy="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860" name="Line 21"/>
            <p:cNvSpPr/>
            <p:nvPr/>
          </p:nvSpPr>
          <p:spPr>
            <a:xfrm>
              <a:off x="3860" y="19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1" name="Line 22"/>
            <p:cNvSpPr/>
            <p:nvPr/>
          </p:nvSpPr>
          <p:spPr>
            <a:xfrm>
              <a:off x="4345" y="1993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2" name="Line 23"/>
            <p:cNvSpPr/>
            <p:nvPr/>
          </p:nvSpPr>
          <p:spPr>
            <a:xfrm flipH="1">
              <a:off x="3621" y="1989"/>
              <a:ext cx="1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5863" name="Line 24"/>
            <p:cNvSpPr/>
            <p:nvPr/>
          </p:nvSpPr>
          <p:spPr>
            <a:xfrm flipH="1">
              <a:off x="4042" y="1986"/>
              <a:ext cx="1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aphicFrame>
          <p:nvGraphicFramePr>
            <p:cNvPr id="35864" name="Object 25"/>
            <p:cNvGraphicFramePr>
              <a:graphicFrameLocks noChangeAspect="1"/>
            </p:cNvGraphicFramePr>
            <p:nvPr/>
          </p:nvGraphicFramePr>
          <p:xfrm>
            <a:off x="4896" y="1856"/>
            <a:ext cx="96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2400" imgH="165100" progId="Equation.3">
                    <p:embed/>
                  </p:oleObj>
                </mc:Choice>
                <mc:Fallback>
                  <p:oleObj r:id="rId5" imgW="152400" imgH="165100" progId="Equation.3">
                    <p:embed/>
                    <p:pic>
                      <p:nvPicPr>
                        <p:cNvPr id="0" name="图片 3247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896" y="1856"/>
                          <a:ext cx="96" cy="1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5" name="Object 26"/>
            <p:cNvGraphicFramePr>
              <a:graphicFrameLocks noChangeAspect="1"/>
            </p:cNvGraphicFramePr>
            <p:nvPr/>
          </p:nvGraphicFramePr>
          <p:xfrm>
            <a:off x="3992" y="1828"/>
            <a:ext cx="96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2400" imgH="165100" progId="Equation.3">
                    <p:embed/>
                  </p:oleObj>
                </mc:Choice>
                <mc:Fallback>
                  <p:oleObj r:id="rId5" imgW="152400" imgH="165100" progId="Equation.3">
                    <p:embed/>
                    <p:pic>
                      <p:nvPicPr>
                        <p:cNvPr id="0" name="图片 324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92" y="1828"/>
                          <a:ext cx="96" cy="1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6" name="Object 27"/>
            <p:cNvGraphicFramePr>
              <a:graphicFrameLocks noChangeAspect="1"/>
            </p:cNvGraphicFramePr>
            <p:nvPr/>
          </p:nvGraphicFramePr>
          <p:xfrm>
            <a:off x="3776" y="1940"/>
            <a:ext cx="5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88900" imgH="177165" progId="Equation.3">
                    <p:embed/>
                  </p:oleObj>
                </mc:Choice>
                <mc:Fallback>
                  <p:oleObj r:id="rId5" imgW="88900" imgH="177165" progId="Equation.3">
                    <p:embed/>
                    <p:pic>
                      <p:nvPicPr>
                        <p:cNvPr id="0" name="图片 324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776" y="1940"/>
                          <a:ext cx="56" cy="1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7" name="Object 28"/>
            <p:cNvGraphicFramePr>
              <a:graphicFrameLocks noChangeAspect="1"/>
            </p:cNvGraphicFramePr>
            <p:nvPr/>
          </p:nvGraphicFramePr>
          <p:xfrm>
            <a:off x="4245" y="1941"/>
            <a:ext cx="56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88900" imgH="177165" progId="Equation.3">
                    <p:embed/>
                  </p:oleObj>
                </mc:Choice>
                <mc:Fallback>
                  <p:oleObj r:id="rId10" imgW="88900" imgH="177165" progId="Equation.3">
                    <p:embed/>
                    <p:pic>
                      <p:nvPicPr>
                        <p:cNvPr id="0" name="图片 3250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245" y="1941"/>
                          <a:ext cx="56" cy="1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9"/>
          <p:cNvGrpSpPr/>
          <p:nvPr/>
        </p:nvGrpSpPr>
        <p:grpSpPr>
          <a:xfrm>
            <a:off x="650875" y="1816100"/>
            <a:ext cx="3398838" cy="723900"/>
            <a:chOff x="410" y="1144"/>
            <a:chExt cx="2141" cy="456"/>
          </a:xfrm>
        </p:grpSpPr>
        <p:sp>
          <p:nvSpPr>
            <p:cNvPr id="35869" name="Text Box 30"/>
            <p:cNvSpPr txBox="1"/>
            <p:nvPr/>
          </p:nvSpPr>
          <p:spPr>
            <a:xfrm>
              <a:off x="410" y="1233"/>
              <a:ext cx="558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fontAlgn="t">
                <a:lnSpc>
                  <a:spcPct val="80000"/>
                </a:lnSpc>
                <a:spcBef>
                  <a:spcPct val="100000"/>
                </a:spcBef>
              </a:pPr>
              <a:r>
                <a:rPr lang="zh-CN" altLang="en-US" sz="2400" b="1" dirty="0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解</a:t>
              </a:r>
              <a:r>
                <a:rPr lang="zh-CN" altLang="en-US" sz="2400" b="1" dirty="0">
                  <a:solidFill>
                    <a:srgbClr val="1C1C1C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  <p:graphicFrame>
          <p:nvGraphicFramePr>
            <p:cNvPr id="35870" name="Object 32"/>
            <p:cNvGraphicFramePr>
              <a:graphicFrameLocks noChangeAspect="1"/>
            </p:cNvGraphicFramePr>
            <p:nvPr/>
          </p:nvGraphicFramePr>
          <p:xfrm>
            <a:off x="888" y="1144"/>
            <a:ext cx="1663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574800" imgH="431800" progId="Equation.3">
                    <p:embed/>
                  </p:oleObj>
                </mc:Choice>
                <mc:Fallback>
                  <p:oleObj r:id="rId5" imgW="1574800" imgH="431800" progId="Equation.3">
                    <p:embed/>
                    <p:pic>
                      <p:nvPicPr>
                        <p:cNvPr id="0" name="图片 3252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88" y="1144"/>
                          <a:ext cx="1663" cy="4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4050" name="Object 34"/>
          <p:cNvGraphicFramePr>
            <a:graphicFrameLocks noChangeAspect="1"/>
          </p:cNvGraphicFramePr>
          <p:nvPr/>
        </p:nvGraphicFramePr>
        <p:xfrm>
          <a:off x="1333500" y="2667000"/>
          <a:ext cx="368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159000" imgH="431800" progId="Equation.3">
                  <p:embed/>
                </p:oleObj>
              </mc:Choice>
              <mc:Fallback>
                <p:oleObj r:id="rId5" imgW="2159000" imgH="4318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3500" y="2667000"/>
                        <a:ext cx="3683000" cy="73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9"/>
          <p:cNvGrpSpPr/>
          <p:nvPr/>
        </p:nvGrpSpPr>
        <p:grpSpPr>
          <a:xfrm>
            <a:off x="1143000" y="3492500"/>
            <a:ext cx="5975350" cy="889000"/>
            <a:chOff x="728" y="2328"/>
            <a:chExt cx="3764" cy="560"/>
          </a:xfrm>
        </p:grpSpPr>
        <p:graphicFrame>
          <p:nvGraphicFramePr>
            <p:cNvPr id="35873" name="Object 35"/>
            <p:cNvGraphicFramePr>
              <a:graphicFrameLocks noChangeAspect="1"/>
            </p:cNvGraphicFramePr>
            <p:nvPr/>
          </p:nvGraphicFramePr>
          <p:xfrm>
            <a:off x="728" y="2328"/>
            <a:ext cx="244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879600" imgH="431800" progId="Equation.3">
                    <p:embed/>
                  </p:oleObj>
                </mc:Choice>
                <mc:Fallback>
                  <p:oleObj r:id="rId5" imgW="1879600" imgH="431800" progId="Equation.3">
                    <p:embed/>
                    <p:pic>
                      <p:nvPicPr>
                        <p:cNvPr id="0" name="图片 3256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28" y="2328"/>
                          <a:ext cx="2440" cy="5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4" name="Object 36"/>
            <p:cNvGraphicFramePr>
              <a:graphicFrameLocks noChangeAspect="1"/>
            </p:cNvGraphicFramePr>
            <p:nvPr/>
          </p:nvGraphicFramePr>
          <p:xfrm>
            <a:off x="3796" y="2472"/>
            <a:ext cx="6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69900" imgH="228600" progId="Equation.3">
                    <p:embed/>
                  </p:oleObj>
                </mc:Choice>
                <mc:Fallback>
                  <p:oleObj r:id="rId5" imgW="469900" imgH="228600" progId="Equation.3">
                    <p:embed/>
                    <p:pic>
                      <p:nvPicPr>
                        <p:cNvPr id="0" name="图片 325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96" y="2472"/>
                          <a:ext cx="69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0"/>
          <p:cNvGrpSpPr/>
          <p:nvPr/>
        </p:nvGrpSpPr>
        <p:grpSpPr>
          <a:xfrm>
            <a:off x="1333500" y="4429125"/>
            <a:ext cx="5780088" cy="889000"/>
            <a:chOff x="876" y="3008"/>
            <a:chExt cx="3641" cy="560"/>
          </a:xfrm>
        </p:grpSpPr>
        <p:graphicFrame>
          <p:nvGraphicFramePr>
            <p:cNvPr id="35876" name="Object 37"/>
            <p:cNvGraphicFramePr>
              <a:graphicFrameLocks noChangeAspect="1"/>
            </p:cNvGraphicFramePr>
            <p:nvPr/>
          </p:nvGraphicFramePr>
          <p:xfrm>
            <a:off x="876" y="3008"/>
            <a:ext cx="2320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90700" imgH="431800" progId="Equation.3">
                    <p:embed/>
                  </p:oleObj>
                </mc:Choice>
                <mc:Fallback>
                  <p:oleObj r:id="rId5" imgW="1790700" imgH="431800" progId="Equation.3">
                    <p:embed/>
                    <p:pic>
                      <p:nvPicPr>
                        <p:cNvPr id="0" name="图片 325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76" y="3008"/>
                          <a:ext cx="2320" cy="5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7" name="Object 38"/>
            <p:cNvGraphicFramePr>
              <a:graphicFrameLocks noChangeAspect="1"/>
            </p:cNvGraphicFramePr>
            <p:nvPr/>
          </p:nvGraphicFramePr>
          <p:xfrm>
            <a:off x="3821" y="3089"/>
            <a:ext cx="6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469900" imgH="228600" progId="Equation.3">
                    <p:embed/>
                  </p:oleObj>
                </mc:Choice>
                <mc:Fallback>
                  <p:oleObj r:id="rId16" imgW="469900" imgH="228600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821" y="3089"/>
                          <a:ext cx="69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5"/>
          <p:cNvGrpSpPr/>
          <p:nvPr/>
        </p:nvGrpSpPr>
        <p:grpSpPr>
          <a:xfrm>
            <a:off x="787400" y="5413375"/>
            <a:ext cx="6737350" cy="801688"/>
            <a:chOff x="496" y="3410"/>
            <a:chExt cx="4244" cy="505"/>
          </a:xfrm>
        </p:grpSpPr>
        <p:sp>
          <p:nvSpPr>
            <p:cNvPr id="35879" name="Text Box 42"/>
            <p:cNvSpPr txBox="1"/>
            <p:nvPr/>
          </p:nvSpPr>
          <p:spPr>
            <a:xfrm>
              <a:off x="496" y="3520"/>
              <a:ext cx="2208" cy="250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若将负单位电荷由</a:t>
              </a:r>
              <a:r>
                <a:rPr lang="en-US" altLang="zh-CN" sz="2000" b="1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sz="2000" b="1" dirty="0">
                  <a:latin typeface="楷体_GB2312" pitchFamily="49" charset="-122"/>
                  <a:ea typeface="楷体_GB2312" pitchFamily="49" charset="-122"/>
                </a:rPr>
                <a:t>移动到∞</a:t>
              </a:r>
            </a:p>
          </p:txBody>
        </p:sp>
        <p:graphicFrame>
          <p:nvGraphicFramePr>
            <p:cNvPr id="35880" name="Object 44"/>
            <p:cNvGraphicFramePr>
              <a:graphicFrameLocks noChangeAspect="1"/>
            </p:cNvGraphicFramePr>
            <p:nvPr/>
          </p:nvGraphicFramePr>
          <p:xfrm>
            <a:off x="2674" y="3410"/>
            <a:ext cx="2066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65300" imgH="431800" progId="Equation.3">
                    <p:embed/>
                  </p:oleObj>
                </mc:Choice>
                <mc:Fallback>
                  <p:oleObj r:id="rId5" imgW="1765300" imgH="431800" progId="Equation.3">
                    <p:embed/>
                    <p:pic>
                      <p:nvPicPr>
                        <p:cNvPr id="0" name="图片 325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674" y="3410"/>
                          <a:ext cx="2066" cy="5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881" name="Group 48"/>
          <p:cNvGrpSpPr/>
          <p:nvPr/>
        </p:nvGrpSpPr>
        <p:grpSpPr>
          <a:xfrm>
            <a:off x="4438650" y="644525"/>
            <a:ext cx="482600" cy="365125"/>
            <a:chOff x="3052" y="1214"/>
            <a:chExt cx="304" cy="230"/>
          </a:xfrm>
        </p:grpSpPr>
        <p:graphicFrame>
          <p:nvGraphicFramePr>
            <p:cNvPr id="35882" name="Object 46"/>
            <p:cNvGraphicFramePr>
              <a:graphicFrameLocks noChangeAspect="1"/>
            </p:cNvGraphicFramePr>
            <p:nvPr/>
          </p:nvGraphicFramePr>
          <p:xfrm>
            <a:off x="3052" y="1236"/>
            <a:ext cx="30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241300" imgH="165100" progId="Equation.3">
                    <p:embed/>
                  </p:oleObj>
                </mc:Choice>
                <mc:Fallback>
                  <p:oleObj r:id="rId5" imgW="241300" imgH="165100" progId="Equation.3">
                    <p:embed/>
                    <p:pic>
                      <p:nvPicPr>
                        <p:cNvPr id="0" name="图片 325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052" y="1236"/>
                          <a:ext cx="304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83" name="Arc 47"/>
            <p:cNvSpPr/>
            <p:nvPr/>
          </p:nvSpPr>
          <p:spPr>
            <a:xfrm rot="10720968" flipV="1">
              <a:off x="3128" y="1214"/>
              <a:ext cx="185" cy="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3200" h="22713" fill="none">
                  <a:moveTo>
                    <a:pt x="28" y="22713"/>
                  </a:moveTo>
                  <a:cubicBezTo>
                    <a:pt x="9" y="22342"/>
                    <a:pt x="0" y="219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713" stroke="0">
                  <a:moveTo>
                    <a:pt x="28" y="22713"/>
                  </a:moveTo>
                  <a:cubicBezTo>
                    <a:pt x="9" y="22342"/>
                    <a:pt x="0" y="2197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28" y="22713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IMAGE0004"/>
          <p:cNvPicPr>
            <a:picLocks noChangeAspect="1"/>
          </p:cNvPicPr>
          <p:nvPr/>
        </p:nvPicPr>
        <p:blipFill>
          <a:blip r:embed="rId2"/>
          <a:srcRect t="14925" r="4546"/>
          <a:stretch>
            <a:fillRect/>
          </a:stretch>
        </p:blipFill>
        <p:spPr>
          <a:xfrm>
            <a:off x="0" y="115888"/>
            <a:ext cx="9017000" cy="1762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9" name="Picture 3" descr="IMAGE0008"/>
          <p:cNvPicPr>
            <a:picLocks noChangeAspect="1"/>
          </p:cNvPicPr>
          <p:nvPr/>
        </p:nvPicPr>
        <p:blipFill>
          <a:blip r:embed="rId3"/>
          <a:srcRect t="6291"/>
          <a:stretch>
            <a:fillRect/>
          </a:stretch>
        </p:blipFill>
        <p:spPr>
          <a:xfrm>
            <a:off x="201930" y="1878330"/>
            <a:ext cx="8613775" cy="4979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299" name="文本框 1"/>
          <p:cNvSpPr txBox="1"/>
          <p:nvPr/>
        </p:nvSpPr>
        <p:spPr>
          <a:xfrm>
            <a:off x="34925" y="44450"/>
            <a:ext cx="6635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4" descr="IMAGE0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909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2" name="Picture 5" descr="IMAGE0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895600"/>
            <a:ext cx="8229600" cy="39544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3" name="文本框 1"/>
          <p:cNvSpPr txBox="1"/>
          <p:nvPr>
            <p:custDataLst>
              <p:tags r:id="rId1"/>
            </p:custDataLst>
          </p:nvPr>
        </p:nvSpPr>
        <p:spPr>
          <a:xfrm>
            <a:off x="34925" y="44450"/>
            <a:ext cx="66357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4" descr="IMAGE000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" y="69850"/>
            <a:ext cx="8915400" cy="6788150"/>
          </a:xfr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2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692785"/>
            <a:ext cx="8896350" cy="53073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IMAGE0003"/>
          <p:cNvPicPr>
            <a:picLocks noChangeAspect="1"/>
          </p:cNvPicPr>
          <p:nvPr/>
        </p:nvPicPr>
        <p:blipFill>
          <a:blip r:embed="rId2"/>
          <a:srcRect l="1138" t="7172" r="3906" b="4443"/>
          <a:stretch>
            <a:fillRect/>
          </a:stretch>
        </p:blipFill>
        <p:spPr>
          <a:xfrm>
            <a:off x="683578" y="756920"/>
            <a:ext cx="7469187" cy="5343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2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307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2" name="Text Box 3"/>
          <p:cNvSpPr txBox="1"/>
          <p:nvPr/>
        </p:nvSpPr>
        <p:spPr>
          <a:xfrm>
            <a:off x="2667000" y="398463"/>
            <a:ext cx="272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4000" dirty="0">
                <a:latin typeface="Verdana" panose="020B0604030504040204" pitchFamily="34" charset="0"/>
                <a:ea typeface="宋体" panose="02010600030101010101" pitchFamily="2" charset="-122"/>
              </a:rPr>
              <a:t>电势的求法</a:t>
            </a:r>
          </a:p>
        </p:txBody>
      </p:sp>
    </p:spTree>
  </p:cSld>
  <p:clrMapOvr>
    <a:masterClrMapping/>
  </p:clrMapOvr>
  <p:transition spd="slow">
    <p:pull dir="r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4" descr="IMAGE0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325"/>
            <a:ext cx="9144000" cy="1531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6" name="Picture 2" descr="IMAGE000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025" y="2514600"/>
            <a:ext cx="8845550" cy="2459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2" descr="IMAGE00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8382000" cy="2605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2" descr="IMAGE00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63000" cy="3275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58" name="Picture 3" descr="IMAGE0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352800"/>
            <a:ext cx="3810000" cy="2989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2" descr="IMAGE00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8915400" cy="481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2" descr="IMAGE00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533400"/>
            <a:ext cx="8686800" cy="2046288"/>
          </a:xfrm>
        </p:spPr>
      </p:pic>
      <p:pic>
        <p:nvPicPr>
          <p:cNvPr id="47106" name="Picture 3" descr="IMAGE00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0"/>
            <a:ext cx="9144000" cy="1852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2" descr="IMAGE00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9144000" cy="5576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2" descr="IMAGE00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4075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3" descr="IMAGE0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8839200" cy="271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8" name="Text Box 4"/>
          <p:cNvSpPr txBox="1"/>
          <p:nvPr/>
        </p:nvSpPr>
        <p:spPr>
          <a:xfrm>
            <a:off x="2879725" y="244475"/>
            <a:ext cx="2470150" cy="641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600" dirty="0">
                <a:latin typeface="Verdana" panose="020B0604030504040204" pitchFamily="34" charset="0"/>
                <a:ea typeface="宋体" panose="02010600030101010101" pitchFamily="2" charset="-122"/>
              </a:rPr>
              <a:t>电场力的功</a:t>
            </a:r>
          </a:p>
        </p:txBody>
      </p:sp>
      <p:pic>
        <p:nvPicPr>
          <p:cNvPr id="50179" name="Picture 5" descr="IMAGE0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1625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2" descr="IMAGE00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0"/>
            <a:ext cx="7772400" cy="424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4" descr="IMAGE00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836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26" name="Picture 5" descr="IMAGE0004"/>
          <p:cNvPicPr>
            <a:picLocks noChangeAspect="1"/>
          </p:cNvPicPr>
          <p:nvPr/>
        </p:nvPicPr>
        <p:blipFill>
          <a:blip r:embed="rId3"/>
          <a:srcRect r="1268"/>
          <a:stretch>
            <a:fillRect/>
          </a:stretch>
        </p:blipFill>
        <p:spPr>
          <a:xfrm>
            <a:off x="107950" y="3068955"/>
            <a:ext cx="9028113" cy="3152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7" descr="IMAGE00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0"/>
            <a:ext cx="8991600" cy="596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 dir="ru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/>
              <a:t>沿电场方向，电势逐渐降低</a:t>
            </a:r>
          </a:p>
        </p:txBody>
      </p:sp>
      <p:pic>
        <p:nvPicPr>
          <p:cNvPr id="15362" name="Picture 4" descr="IMAGE000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3810000"/>
            <a:ext cx="8686800" cy="2300288"/>
          </a:xfrm>
        </p:spPr>
      </p:pic>
      <p:sp>
        <p:nvSpPr>
          <p:cNvPr id="15363" name="Text Box 5"/>
          <p:cNvSpPr txBox="1"/>
          <p:nvPr/>
        </p:nvSpPr>
        <p:spPr>
          <a:xfrm>
            <a:off x="3352800" y="295275"/>
            <a:ext cx="2470150" cy="1006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000" dirty="0">
                <a:latin typeface="Arial" panose="020B0604020202020204" pitchFamily="34" charset="0"/>
                <a:ea typeface="宋体" panose="02010600030101010101" pitchFamily="2" charset="-122"/>
              </a:rPr>
              <a:t>等势面</a:t>
            </a:r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2" descr="IMAGE0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8991600" cy="2025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6" name="Picture 4" descr="IMAGE0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3800"/>
            <a:ext cx="9144000" cy="2497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g2MGQ4N2NjYmE0YzdjYmVmZjdmMzlhODEwMjZmY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750,&quot;width&quot;:13465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865,&quot;width&quot;:14040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07.499212598425,&quot;width&quot;:14400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507.499212598425,&quot;width&quot;:14400}"/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4148</Words>
  <Application>Microsoft Office PowerPoint</Application>
  <PresentationFormat>全屏显示(4:3)</PresentationFormat>
  <Paragraphs>495</Paragraphs>
  <Slides>103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103</vt:i4>
      </vt:variant>
    </vt:vector>
  </HeadingPairs>
  <TitlesOfParts>
    <vt:vector size="127" baseType="lpstr">
      <vt:lpstr>Monotype Sorts</vt:lpstr>
      <vt:lpstr>黑体</vt:lpstr>
      <vt:lpstr>华文楷体</vt:lpstr>
      <vt:lpstr>华文中宋</vt:lpstr>
      <vt:lpstr>楷体_GB2312</vt:lpstr>
      <vt:lpstr>宋体</vt:lpstr>
      <vt:lpstr>Arial</vt:lpstr>
      <vt:lpstr>Bookman Old Style</vt:lpstr>
      <vt:lpstr>Calibri</vt:lpstr>
      <vt:lpstr>Constantia</vt:lpstr>
      <vt:lpstr>Symbol</vt:lpstr>
      <vt:lpstr>Times New Roman</vt:lpstr>
      <vt:lpstr>Verdana</vt:lpstr>
      <vt:lpstr>Wingdings</vt:lpstr>
      <vt:lpstr>默认设计模板</vt:lpstr>
      <vt:lpstr>1_默认设计模板</vt:lpstr>
      <vt:lpstr>2_默认设计模板</vt:lpstr>
      <vt:lpstr>3_默认设计模板</vt:lpstr>
      <vt:lpstr>MathType 6.0 Equation</vt:lpstr>
      <vt:lpstr>Microsoft Equation 3.0</vt:lpstr>
      <vt:lpstr>MS_ClipArt_Gallery.5</vt:lpstr>
      <vt:lpstr>MS_ClipArt_Gallery.2</vt:lpstr>
      <vt:lpstr>Equation.KSEE3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§9-4  静电场的环路定理  电势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沿电场方向，电势逐渐降低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172022027@qq.com</cp:lastModifiedBy>
  <cp:revision>42</cp:revision>
  <dcterms:created xsi:type="dcterms:W3CDTF">2022-11-25T23:37:00Z</dcterms:created>
  <dcterms:modified xsi:type="dcterms:W3CDTF">2024-12-16T09:45:50Z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B0433A3E2F234A47AAE581004641CF72_13</vt:lpwstr>
  </property>
</Properties>
</file>