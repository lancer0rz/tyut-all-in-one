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8"/>
  </p:notesMasterIdLst>
  <p:handoutMasterIdLst>
    <p:handoutMasterId r:id="rId129"/>
  </p:handoutMasterIdLst>
  <p:sldIdLst>
    <p:sldId id="316" r:id="rId3"/>
    <p:sldId id="317" r:id="rId4"/>
    <p:sldId id="473" r:id="rId5"/>
    <p:sldId id="416" r:id="rId6"/>
    <p:sldId id="406" r:id="rId7"/>
    <p:sldId id="318" r:id="rId8"/>
    <p:sldId id="323" r:id="rId9"/>
    <p:sldId id="325" r:id="rId10"/>
    <p:sldId id="481" r:id="rId11"/>
    <p:sldId id="482" r:id="rId12"/>
    <p:sldId id="483" r:id="rId13"/>
    <p:sldId id="331" r:id="rId14"/>
    <p:sldId id="332" r:id="rId15"/>
    <p:sldId id="420" r:id="rId16"/>
    <p:sldId id="417" r:id="rId17"/>
    <p:sldId id="486" r:id="rId18"/>
    <p:sldId id="487" r:id="rId19"/>
    <p:sldId id="488" r:id="rId20"/>
    <p:sldId id="489" r:id="rId21"/>
    <p:sldId id="490" r:id="rId22"/>
    <p:sldId id="491" r:id="rId23"/>
    <p:sldId id="493" r:id="rId24"/>
    <p:sldId id="494" r:id="rId25"/>
    <p:sldId id="495" r:id="rId26"/>
    <p:sldId id="496" r:id="rId27"/>
    <p:sldId id="497" r:id="rId28"/>
    <p:sldId id="498" r:id="rId29"/>
    <p:sldId id="499" r:id="rId30"/>
    <p:sldId id="492" r:id="rId31"/>
    <p:sldId id="520" r:id="rId32"/>
    <p:sldId id="500" r:id="rId33"/>
    <p:sldId id="502" r:id="rId34"/>
    <p:sldId id="503" r:id="rId35"/>
    <p:sldId id="504" r:id="rId36"/>
    <p:sldId id="333" r:id="rId37"/>
    <p:sldId id="485" r:id="rId38"/>
    <p:sldId id="408" r:id="rId39"/>
    <p:sldId id="335" r:id="rId40"/>
    <p:sldId id="336" r:id="rId41"/>
    <p:sldId id="337" r:id="rId42"/>
    <p:sldId id="338" r:id="rId43"/>
    <p:sldId id="339" r:id="rId44"/>
    <p:sldId id="345" r:id="rId45"/>
    <p:sldId id="411" r:id="rId46"/>
    <p:sldId id="347" r:id="rId47"/>
    <p:sldId id="348" r:id="rId48"/>
    <p:sldId id="349" r:id="rId49"/>
    <p:sldId id="474" r:id="rId50"/>
    <p:sldId id="351" r:id="rId51"/>
    <p:sldId id="350" r:id="rId52"/>
    <p:sldId id="421" r:id="rId53"/>
    <p:sldId id="505" r:id="rId54"/>
    <p:sldId id="457" r:id="rId55"/>
    <p:sldId id="423" r:id="rId56"/>
    <p:sldId id="459" r:id="rId57"/>
    <p:sldId id="458" r:id="rId58"/>
    <p:sldId id="454" r:id="rId59"/>
    <p:sldId id="352" r:id="rId60"/>
    <p:sldId id="519" r:id="rId61"/>
    <p:sldId id="467" r:id="rId62"/>
    <p:sldId id="478" r:id="rId63"/>
    <p:sldId id="479" r:id="rId64"/>
    <p:sldId id="480" r:id="rId65"/>
    <p:sldId id="477" r:id="rId66"/>
    <p:sldId id="484" r:id="rId67"/>
    <p:sldId id="508" r:id="rId68"/>
    <p:sldId id="509" r:id="rId69"/>
    <p:sldId id="510" r:id="rId70"/>
    <p:sldId id="516" r:id="rId71"/>
    <p:sldId id="511" r:id="rId72"/>
    <p:sldId id="512" r:id="rId73"/>
    <p:sldId id="513" r:id="rId74"/>
    <p:sldId id="514" r:id="rId75"/>
    <p:sldId id="515" r:id="rId76"/>
    <p:sldId id="517" r:id="rId77"/>
    <p:sldId id="518" r:id="rId78"/>
    <p:sldId id="353" r:id="rId79"/>
    <p:sldId id="429" r:id="rId80"/>
    <p:sldId id="430" r:id="rId81"/>
    <p:sldId id="476" r:id="rId82"/>
    <p:sldId id="468" r:id="rId83"/>
    <p:sldId id="355" r:id="rId84"/>
    <p:sldId id="428" r:id="rId85"/>
    <p:sldId id="358" r:id="rId86"/>
    <p:sldId id="412" r:id="rId87"/>
    <p:sldId id="360" r:id="rId88"/>
    <p:sldId id="463" r:id="rId89"/>
    <p:sldId id="361" r:id="rId90"/>
    <p:sldId id="472" r:id="rId91"/>
    <p:sldId id="469" r:id="rId92"/>
    <p:sldId id="470" r:id="rId93"/>
    <p:sldId id="432" r:id="rId94"/>
    <p:sldId id="433" r:id="rId95"/>
    <p:sldId id="475" r:id="rId96"/>
    <p:sldId id="434" r:id="rId97"/>
    <p:sldId id="383" r:id="rId98"/>
    <p:sldId id="384" r:id="rId99"/>
    <p:sldId id="385" r:id="rId100"/>
    <p:sldId id="386" r:id="rId101"/>
    <p:sldId id="387" r:id="rId102"/>
    <p:sldId id="388" r:id="rId103"/>
    <p:sldId id="389" r:id="rId104"/>
    <p:sldId id="390" r:id="rId105"/>
    <p:sldId id="449" r:id="rId106"/>
    <p:sldId id="450" r:id="rId107"/>
    <p:sldId id="451" r:id="rId108"/>
    <p:sldId id="391" r:id="rId109"/>
    <p:sldId id="392" r:id="rId110"/>
    <p:sldId id="506" r:id="rId111"/>
    <p:sldId id="507" r:id="rId112"/>
    <p:sldId id="393" r:id="rId113"/>
    <p:sldId id="394" r:id="rId114"/>
    <p:sldId id="395" r:id="rId115"/>
    <p:sldId id="396" r:id="rId116"/>
    <p:sldId id="397" r:id="rId117"/>
    <p:sldId id="452" r:id="rId118"/>
    <p:sldId id="398" r:id="rId119"/>
    <p:sldId id="400" r:id="rId120"/>
    <p:sldId id="453" r:id="rId121"/>
    <p:sldId id="462" r:id="rId122"/>
    <p:sldId id="401" r:id="rId123"/>
    <p:sldId id="402" r:id="rId124"/>
    <p:sldId id="403" r:id="rId125"/>
    <p:sldId id="404" r:id="rId126"/>
    <p:sldId id="405" r:id="rId127"/>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000099"/>
    <a:srgbClr val="003399"/>
    <a:srgbClr val="003366"/>
    <a:srgbClr val="000066"/>
    <a:srgbClr val="003300"/>
    <a:srgbClr val="800000"/>
    <a:srgbClr val="0099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8241"/>
    <p:restoredTop sz="96477"/>
  </p:normalViewPr>
  <p:slideViewPr>
    <p:cSldViewPr showGuides="1">
      <p:cViewPr varScale="1">
        <p:scale>
          <a:sx n="112" d="100"/>
          <a:sy n="112" d="100"/>
        </p:scale>
        <p:origin x="1980"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38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2" Type="http://schemas.openxmlformats.org/officeDocument/2006/relationships/tableStyles" Target="tableStyles.xml"/><Relationship Id="rId131" Type="http://schemas.openxmlformats.org/officeDocument/2006/relationships/viewProps" Target="viewProps.xml"/><Relationship Id="rId130" Type="http://schemas.openxmlformats.org/officeDocument/2006/relationships/presProps" Target="presProps.xml"/><Relationship Id="rId13" Type="http://schemas.openxmlformats.org/officeDocument/2006/relationships/slide" Target="slides/slide11.xml"/><Relationship Id="rId129" Type="http://schemas.openxmlformats.org/officeDocument/2006/relationships/handoutMaster" Target="handoutMasters/handoutMaster1.xml"/><Relationship Id="rId128" Type="http://schemas.openxmlformats.org/officeDocument/2006/relationships/notesMaster" Target="notesMasters/notesMaster1.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939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lnSpc>
                <a:spcPct val="100000"/>
              </a:lnSpc>
              <a:defRPr kumimoji="0"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9395"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lnSpc>
                <a:spcPct val="100000"/>
              </a:lnSpc>
              <a:defRPr kumimoji="0"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9396"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lnSpc>
                <a:spcPct val="100000"/>
              </a:lnSpc>
              <a:defRPr kumimoji="0"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9397"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kumimoji="0"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917DB95-D026-4EB2-837A-CAB6B8A56B47}" type="slidenum">
              <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843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lnSpc>
                <a:spcPct val="100000"/>
              </a:lnSpc>
              <a:defRPr kumimoji="0"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43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lnSpc>
                <a:spcPct val="100000"/>
              </a:lnSpc>
              <a:defRPr kumimoji="0"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843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43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lnSpc>
                <a:spcPct val="100000"/>
              </a:lnSpc>
              <a:defRPr kumimoji="0"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43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kumimoji="0"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7452FE0-8D44-48E7-8D2C-C60A25DC18E9}" type="slidenum">
              <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4" name="Rectangle 2"/>
          <p:cNvSpPr>
            <a:spLocks noChangeArrowheads="1"/>
          </p:cNvSpPr>
          <p:nvPr/>
        </p:nvSpPr>
        <p:spPr bwMode="hidden">
          <a:xfrm>
            <a:off x="228600" y="3200400"/>
            <a:ext cx="8763000" cy="1341438"/>
          </a:xfrm>
          <a:prstGeom prst="rect">
            <a:avLst/>
          </a:prstGeom>
          <a:gradFill rotWithShape="0">
            <a:gsLst>
              <a:gs pos="0">
                <a:schemeClr val="bg2"/>
              </a:gs>
              <a:gs pos="100000">
                <a:schemeClr val="bg1"/>
              </a:gs>
            </a:gsLst>
            <a:path path="shape">
              <a:fillToRect l="50000" t="50000" r="50000" b="50000"/>
            </a:path>
          </a:gradFill>
          <a:ln>
            <a:noFill/>
          </a:ln>
          <a:effectLst/>
        </p:spPr>
        <p:txBody>
          <a:bodyPr wrap="none" anchor="ctr"/>
          <a:lstStyle>
            <a:lvl1pPr eaLnBrk="0" hangingPunct="0">
              <a:defRPr kumimoji="1" sz="2400" b="1">
                <a:solidFill>
                  <a:srgbClr val="000099"/>
                </a:solidFill>
                <a:latin typeface="Times New Roman" panose="02020603050405020304" pitchFamily="18" charset="0"/>
                <a:ea typeface="楷体_GB2312" pitchFamily="49" charset="-122"/>
              </a:defRPr>
            </a:lvl1pPr>
            <a:lvl2pPr marL="742950" indent="-285750" eaLnBrk="0" hangingPunct="0">
              <a:defRPr kumimoji="1" sz="2400" b="1">
                <a:solidFill>
                  <a:srgbClr val="000099"/>
                </a:solidFill>
                <a:latin typeface="Times New Roman" panose="02020603050405020304" pitchFamily="18" charset="0"/>
                <a:ea typeface="楷体_GB2312" pitchFamily="49" charset="-122"/>
              </a:defRPr>
            </a:lvl2pPr>
            <a:lvl3pPr marL="1143000" indent="-228600" eaLnBrk="0" hangingPunct="0">
              <a:defRPr kumimoji="1" sz="2400" b="1">
                <a:solidFill>
                  <a:srgbClr val="000099"/>
                </a:solidFill>
                <a:latin typeface="Times New Roman" panose="02020603050405020304" pitchFamily="18" charset="0"/>
                <a:ea typeface="楷体_GB2312" pitchFamily="49" charset="-122"/>
              </a:defRPr>
            </a:lvl3pPr>
            <a:lvl4pPr marL="1600200" indent="-228600" eaLnBrk="0" hangingPunct="0">
              <a:defRPr kumimoji="1" sz="2400" b="1">
                <a:solidFill>
                  <a:srgbClr val="000099"/>
                </a:solidFill>
                <a:latin typeface="Times New Roman" panose="02020603050405020304" pitchFamily="18" charset="0"/>
                <a:ea typeface="楷体_GB2312" pitchFamily="49" charset="-122"/>
              </a:defRPr>
            </a:lvl4pPr>
            <a:lvl5pPr marL="2057400" indent="-228600" eaLnBrk="0" hangingPunct="0">
              <a:defRPr kumimoji="1" sz="2400" b="1">
                <a:solidFill>
                  <a:srgbClr val="000099"/>
                </a:solidFill>
                <a:latin typeface="Times New Roman" panose="02020603050405020304" pitchFamily="18" charset="0"/>
                <a:ea typeface="楷体_GB2312" pitchFamily="49" charset="-122"/>
              </a:defRPr>
            </a:lvl5pPr>
            <a:lvl6pPr marL="25146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6pPr>
            <a:lvl7pPr marL="29718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7pPr>
            <a:lvl8pPr marL="34290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8pPr>
            <a:lvl9pPr marL="38862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2051" name="Picture 3" descr="ANABNR2"/>
          <p:cNvPicPr>
            <a:picLocks noChangeAspect="1"/>
          </p:cNvPicPr>
          <p:nvPr/>
        </p:nvPicPr>
        <p:blipFill>
          <a:blip r:embed="rId2"/>
          <a:srcRect l="-900" t="-1314" r="-2" b="-36961"/>
          <a:stretch>
            <a:fillRect/>
          </a:stretch>
        </p:blipFill>
        <p:spPr>
          <a:xfrm>
            <a:off x="533400" y="3200400"/>
            <a:ext cx="8458200" cy="1158875"/>
          </a:xfrm>
          <a:prstGeom prst="rect">
            <a:avLst/>
          </a:prstGeom>
          <a:noFill/>
          <a:ln w="9525">
            <a:noFill/>
          </a:ln>
        </p:spPr>
      </p:pic>
      <p:sp>
        <p:nvSpPr>
          <p:cNvPr id="16" name="Rectangle 4"/>
          <p:cNvSpPr>
            <a:spLocks noChangeArrowheads="1"/>
          </p:cNvSpPr>
          <p:nvPr/>
        </p:nvSpPr>
        <p:spPr bwMode="hidden">
          <a:xfrm>
            <a:off x="795338" y="2895600"/>
            <a:ext cx="304800" cy="990600"/>
          </a:xfrm>
          <a:prstGeom prst="rect">
            <a:avLst/>
          </a:prstGeom>
          <a:solidFill>
            <a:schemeClr val="accent2">
              <a:alpha val="50195"/>
            </a:schemeClr>
          </a:solidFill>
          <a:ln>
            <a:noFill/>
          </a:ln>
          <a:effectLst/>
        </p:spPr>
        <p:txBody>
          <a:bodyPr wrap="none" anchor="ctr"/>
          <a:lstStyle>
            <a:lvl1pPr eaLnBrk="0" hangingPunct="0">
              <a:defRPr kumimoji="1" sz="2400" b="1">
                <a:solidFill>
                  <a:srgbClr val="000099"/>
                </a:solidFill>
                <a:latin typeface="Times New Roman" panose="02020603050405020304" pitchFamily="18" charset="0"/>
                <a:ea typeface="楷体_GB2312" pitchFamily="49" charset="-122"/>
              </a:defRPr>
            </a:lvl1pPr>
            <a:lvl2pPr marL="742950" indent="-285750" eaLnBrk="0" hangingPunct="0">
              <a:defRPr kumimoji="1" sz="2400" b="1">
                <a:solidFill>
                  <a:srgbClr val="000099"/>
                </a:solidFill>
                <a:latin typeface="Times New Roman" panose="02020603050405020304" pitchFamily="18" charset="0"/>
                <a:ea typeface="楷体_GB2312" pitchFamily="49" charset="-122"/>
              </a:defRPr>
            </a:lvl2pPr>
            <a:lvl3pPr marL="1143000" indent="-228600" eaLnBrk="0" hangingPunct="0">
              <a:defRPr kumimoji="1" sz="2400" b="1">
                <a:solidFill>
                  <a:srgbClr val="000099"/>
                </a:solidFill>
                <a:latin typeface="Times New Roman" panose="02020603050405020304" pitchFamily="18" charset="0"/>
                <a:ea typeface="楷体_GB2312" pitchFamily="49" charset="-122"/>
              </a:defRPr>
            </a:lvl3pPr>
            <a:lvl4pPr marL="1600200" indent="-228600" eaLnBrk="0" hangingPunct="0">
              <a:defRPr kumimoji="1" sz="2400" b="1">
                <a:solidFill>
                  <a:srgbClr val="000099"/>
                </a:solidFill>
                <a:latin typeface="Times New Roman" panose="02020603050405020304" pitchFamily="18" charset="0"/>
                <a:ea typeface="楷体_GB2312" pitchFamily="49" charset="-122"/>
              </a:defRPr>
            </a:lvl4pPr>
            <a:lvl5pPr marL="2057400" indent="-228600" eaLnBrk="0" hangingPunct="0">
              <a:defRPr kumimoji="1" sz="2400" b="1">
                <a:solidFill>
                  <a:srgbClr val="000099"/>
                </a:solidFill>
                <a:latin typeface="Times New Roman" panose="02020603050405020304" pitchFamily="18" charset="0"/>
                <a:ea typeface="楷体_GB2312" pitchFamily="49" charset="-122"/>
              </a:defRPr>
            </a:lvl5pPr>
            <a:lvl6pPr marL="25146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6pPr>
            <a:lvl7pPr marL="29718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7pPr>
            <a:lvl8pPr marL="34290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8pPr>
            <a:lvl9pPr marL="38862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Text Box 10"/>
          <p:cNvSpPr txBox="1">
            <a:spLocks noChangeArrowheads="1"/>
          </p:cNvSpPr>
          <p:nvPr/>
        </p:nvSpPr>
        <p:spPr bwMode="auto">
          <a:xfrm>
            <a:off x="0" y="0"/>
            <a:ext cx="488950" cy="6858000"/>
          </a:xfrm>
          <a:prstGeom prst="rect">
            <a:avLst/>
          </a:prstGeom>
          <a:gradFill rotWithShape="0">
            <a:gsLst>
              <a:gs pos="0">
                <a:srgbClr val="765E5E"/>
              </a:gs>
              <a:gs pos="50000">
                <a:srgbClr val="FFCCCC"/>
              </a:gs>
              <a:gs pos="100000">
                <a:srgbClr val="765E5E"/>
              </a:gs>
            </a:gsLst>
            <a:lin ang="0" scaled="1"/>
          </a:gradFill>
          <a:ln>
            <a:noFill/>
          </a:ln>
          <a:effectLst/>
        </p:spPr>
        <p:txBody>
          <a:bodyPr vert="eaVert">
            <a:spAutoFit/>
          </a:bodyPr>
          <a:lstStyle>
            <a:lvl1pPr eaLnBrk="0" hangingPunct="0">
              <a:defRPr kumimoji="1" sz="2400" b="1">
                <a:solidFill>
                  <a:srgbClr val="000099"/>
                </a:solidFill>
                <a:latin typeface="Times New Roman" panose="02020603050405020304" pitchFamily="18" charset="0"/>
                <a:ea typeface="楷体_GB2312" pitchFamily="49" charset="-122"/>
              </a:defRPr>
            </a:lvl1pPr>
            <a:lvl2pPr marL="742950" indent="-285750" eaLnBrk="0" hangingPunct="0">
              <a:defRPr kumimoji="1" sz="2400" b="1">
                <a:solidFill>
                  <a:srgbClr val="000099"/>
                </a:solidFill>
                <a:latin typeface="Times New Roman" panose="02020603050405020304" pitchFamily="18" charset="0"/>
                <a:ea typeface="楷体_GB2312" pitchFamily="49" charset="-122"/>
              </a:defRPr>
            </a:lvl2pPr>
            <a:lvl3pPr marL="1143000" indent="-228600" eaLnBrk="0" hangingPunct="0">
              <a:defRPr kumimoji="1" sz="2400" b="1">
                <a:solidFill>
                  <a:srgbClr val="000099"/>
                </a:solidFill>
                <a:latin typeface="Times New Roman" panose="02020603050405020304" pitchFamily="18" charset="0"/>
                <a:ea typeface="楷体_GB2312" pitchFamily="49" charset="-122"/>
              </a:defRPr>
            </a:lvl3pPr>
            <a:lvl4pPr marL="1600200" indent="-228600" eaLnBrk="0" hangingPunct="0">
              <a:defRPr kumimoji="1" sz="2400" b="1">
                <a:solidFill>
                  <a:srgbClr val="000099"/>
                </a:solidFill>
                <a:latin typeface="Times New Roman" panose="02020603050405020304" pitchFamily="18" charset="0"/>
                <a:ea typeface="楷体_GB2312" pitchFamily="49" charset="-122"/>
              </a:defRPr>
            </a:lvl4pPr>
            <a:lvl5pPr marL="2057400" indent="-228600" eaLnBrk="0" hangingPunct="0">
              <a:defRPr kumimoji="1" sz="2400" b="1">
                <a:solidFill>
                  <a:srgbClr val="000099"/>
                </a:solidFill>
                <a:latin typeface="Times New Roman" panose="02020603050405020304" pitchFamily="18" charset="0"/>
                <a:ea typeface="楷体_GB2312" pitchFamily="49" charset="-122"/>
              </a:defRPr>
            </a:lvl5pPr>
            <a:lvl6pPr marL="25146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6pPr>
            <a:lvl7pPr marL="29718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7pPr>
            <a:lvl8pPr marL="34290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8pPr>
            <a:lvl9pPr marL="38862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                 </a:t>
            </a:r>
            <a:r>
              <a:rPr kumimoji="0" lang="zh-CN" altLang="en-US" sz="2000" b="0" i="0" u="none" strike="noStrike" kern="1200" cap="none" spc="0" normalizeH="0" baseline="0" noProof="0">
                <a:ln>
                  <a:noFill/>
                </a:ln>
                <a:solidFill>
                  <a:schemeClr val="tx1"/>
                </a:solidFill>
                <a:effectLst/>
                <a:uLnTx/>
                <a:uFillTx/>
                <a:latin typeface="隶书" panose="02010509060101010101" pitchFamily="49" charset="-122"/>
                <a:ea typeface="隶书" panose="02010509060101010101" pitchFamily="49" charset="-122"/>
                <a:cs typeface="+mn-cs"/>
              </a:rPr>
              <a:t>操作系统                     第三章  绪论</a:t>
            </a:r>
            <a:endParaRPr kumimoji="0" lang="zh-CN" altLang="en-US" sz="2000" b="0" i="0" u="none" strike="noStrike" kern="1200" cap="none" spc="0" normalizeH="0" baseline="0" noProof="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373765" name="Rectangle 5"/>
          <p:cNvSpPr>
            <a:spLocks noGrp="1" noChangeArrowheads="1"/>
          </p:cNvSpPr>
          <p:nvPr>
            <p:ph type="ctrTitle"/>
          </p:nvPr>
        </p:nvSpPr>
        <p:spPr>
          <a:xfrm>
            <a:off x="1143000" y="1981200"/>
            <a:ext cx="7772400" cy="1143000"/>
          </a:xfrm>
        </p:spPr>
        <p:txBody>
          <a:bodyPr/>
          <a:lstStyle>
            <a:lvl1pPr>
              <a:defRPr/>
            </a:lvl1pPr>
          </a:lstStyle>
          <a:p>
            <a:pPr lvl="0"/>
            <a:r>
              <a:rPr lang="zh-CN" altLang="en-US" noProof="0"/>
              <a:t>单击此处编辑母版标题样式</a:t>
            </a:r>
            <a:endParaRPr lang="zh-CN" altLang="en-US" noProof="0"/>
          </a:p>
        </p:txBody>
      </p:sp>
      <p:sp>
        <p:nvSpPr>
          <p:cNvPr id="373766" name="Rectangle 6"/>
          <p:cNvSpPr>
            <a:spLocks noGrp="1" noChangeArrowheads="1"/>
          </p:cNvSpPr>
          <p:nvPr>
            <p:ph type="subTitle" idx="1"/>
          </p:nvPr>
        </p:nvSpPr>
        <p:spPr>
          <a:xfrm>
            <a:off x="2038350" y="4351338"/>
            <a:ext cx="6400800" cy="1371600"/>
          </a:xfrm>
        </p:spPr>
        <p:txBody>
          <a:bodyPr/>
          <a:lstStyle>
            <a:lvl1pPr marL="0" indent="0">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18" name="Rectangle 7"/>
          <p:cNvSpPr>
            <a:spLocks noGrp="1" noChangeArrowheads="1"/>
          </p:cNvSpPr>
          <p:nvPr>
            <p:ph type="dt" sz="half" idx="2"/>
          </p:nvPr>
        </p:nvSpPr>
        <p:spPr bwMode="auto">
          <a:xfrm>
            <a:off x="685800" y="6324600"/>
            <a:ext cx="1905000" cy="45720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19" name="Rectangle 8"/>
          <p:cNvSpPr>
            <a:spLocks noGrp="1" noChangeArrowheads="1"/>
          </p:cNvSpPr>
          <p:nvPr>
            <p:ph type="ftr" sz="quarter" idx="3"/>
          </p:nvPr>
        </p:nvSpPr>
        <p:spPr bwMode="auto">
          <a:xfrm>
            <a:off x="3124200" y="6324600"/>
            <a:ext cx="2895600" cy="457200"/>
          </a:xfrm>
          <a:prstGeom prst="rect">
            <a:avLst/>
          </a:prstGeom>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20" name="Rectangle 9"/>
          <p:cNvSpPr>
            <a:spLocks noGrp="1" noChangeArrowheads="1"/>
          </p:cNvSpPr>
          <p:nvPr>
            <p:ph type="sldNum" sz="quarter" idx="4"/>
          </p:nvPr>
        </p:nvSpPr>
        <p:spPr bwMode="auto">
          <a:xfrm>
            <a:off x="6553200" y="6324600"/>
            <a:ext cx="1905000" cy="457200"/>
          </a:xfrm>
          <a:prstGeom prst="rect">
            <a:avLst/>
          </a:prstGeom>
        </p:spPr>
        <p:txBody>
          <a:bodyPr vert="horz" wrap="square" lIns="91440" tIns="45720" rIns="91440" bIns="45720" numCol="1" anchor="b" anchorCtr="0" compatLnSpc="1"/>
          <a:lstStyle>
            <a:lvl1pP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65971E0A-13E8-44DB-B8E4-BFCB20CAF825}" type="slidenum">
              <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C86F2E-5C90-4602-BF6C-ADE92AF53F6F}" type="slidenum">
              <a:rPr kumimoji="0" lang="en-US" altLang="zh-CN" sz="2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C86F2E-5C90-4602-BF6C-ADE92AF53F6F}" type="slidenum">
              <a:rPr kumimoji="0" lang="en-US" altLang="zh-CN" sz="2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066800" y="210185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029200" y="210185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C86F2E-5C90-4602-BF6C-ADE92AF53F6F}" type="slidenum">
              <a:rPr kumimoji="0" lang="en-US" altLang="zh-CN" sz="2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C86F2E-5C90-4602-BF6C-ADE92AF53F6F}" type="slidenum">
              <a:rPr kumimoji="0" lang="en-US" altLang="zh-CN" sz="2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C86F2E-5C90-4602-BF6C-ADE92AF53F6F}" type="slidenum">
              <a:rPr kumimoji="0" lang="en-US" altLang="zh-CN" sz="2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C86F2E-5C90-4602-BF6C-ADE92AF53F6F}" type="slidenum">
              <a:rPr kumimoji="0" lang="en-US" altLang="zh-CN" sz="2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C86F2E-5C90-4602-BF6C-ADE92AF53F6F}" type="slidenum">
              <a:rPr kumimoji="0" lang="en-US" altLang="zh-CN" sz="2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Wingdings" panose="05000000000000000000" pitchFamily="2" charset="2"/>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C86F2E-5C90-4602-BF6C-ADE92AF53F6F}" type="slidenum">
              <a:rPr kumimoji="0" lang="en-US" altLang="zh-CN" sz="2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C86F2E-5C90-4602-BF6C-ADE92AF53F6F}" type="slidenum">
              <a:rPr kumimoji="0" lang="en-US" altLang="zh-CN" sz="2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96100" y="838200"/>
            <a:ext cx="1943100" cy="53784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066800" y="838200"/>
            <a:ext cx="5676900" cy="53784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C86F2E-5C90-4602-BF6C-ADE92AF53F6F}" type="slidenum">
              <a:rPr kumimoji="0" lang="en-US" altLang="zh-CN" sz="2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pn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hidden">
          <a:xfrm>
            <a:off x="152400" y="0"/>
            <a:ext cx="1447800" cy="6858000"/>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kumimoji="1" sz="2400" b="1">
                <a:solidFill>
                  <a:srgbClr val="000099"/>
                </a:solidFill>
                <a:latin typeface="Times New Roman" panose="02020603050405020304" pitchFamily="18" charset="0"/>
                <a:ea typeface="楷体_GB2312" pitchFamily="49" charset="-122"/>
              </a:defRPr>
            </a:lvl1pPr>
            <a:lvl2pPr marL="742950" indent="-285750" eaLnBrk="0" hangingPunct="0">
              <a:defRPr kumimoji="1" sz="2400" b="1">
                <a:solidFill>
                  <a:srgbClr val="000099"/>
                </a:solidFill>
                <a:latin typeface="Times New Roman" panose="02020603050405020304" pitchFamily="18" charset="0"/>
                <a:ea typeface="楷体_GB2312" pitchFamily="49" charset="-122"/>
              </a:defRPr>
            </a:lvl2pPr>
            <a:lvl3pPr marL="1143000" indent="-228600" eaLnBrk="0" hangingPunct="0">
              <a:defRPr kumimoji="1" sz="2400" b="1">
                <a:solidFill>
                  <a:srgbClr val="000099"/>
                </a:solidFill>
                <a:latin typeface="Times New Roman" panose="02020603050405020304" pitchFamily="18" charset="0"/>
                <a:ea typeface="楷体_GB2312" pitchFamily="49" charset="-122"/>
              </a:defRPr>
            </a:lvl3pPr>
            <a:lvl4pPr marL="1600200" indent="-228600" eaLnBrk="0" hangingPunct="0">
              <a:defRPr kumimoji="1" sz="2400" b="1">
                <a:solidFill>
                  <a:srgbClr val="000099"/>
                </a:solidFill>
                <a:latin typeface="Times New Roman" panose="02020603050405020304" pitchFamily="18" charset="0"/>
                <a:ea typeface="楷体_GB2312" pitchFamily="49" charset="-122"/>
              </a:defRPr>
            </a:lvl4pPr>
            <a:lvl5pPr marL="2057400" indent="-228600" eaLnBrk="0" hangingPunct="0">
              <a:defRPr kumimoji="1" sz="2400" b="1">
                <a:solidFill>
                  <a:srgbClr val="000099"/>
                </a:solidFill>
                <a:latin typeface="Times New Roman" panose="02020603050405020304" pitchFamily="18" charset="0"/>
                <a:ea typeface="楷体_GB2312" pitchFamily="49" charset="-122"/>
              </a:defRPr>
            </a:lvl5pPr>
            <a:lvl6pPr marL="25146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6pPr>
            <a:lvl7pPr marL="29718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7pPr>
            <a:lvl8pPr marL="34290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8pPr>
            <a:lvl9pPr marL="38862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7" name="Rectangle 3"/>
          <p:cNvSpPr>
            <a:spLocks noChangeArrowheads="1"/>
          </p:cNvSpPr>
          <p:nvPr/>
        </p:nvSpPr>
        <p:spPr bwMode="hidden">
          <a:xfrm>
            <a:off x="1676400" y="0"/>
            <a:ext cx="7467600" cy="1219200"/>
          </a:xfrm>
          <a:prstGeom prst="rect">
            <a:avLst/>
          </a:prstGeom>
          <a:gradFill rotWithShape="0">
            <a:gsLst>
              <a:gs pos="0">
                <a:schemeClr val="bg2"/>
              </a:gs>
              <a:gs pos="100000">
                <a:schemeClr val="bg1"/>
              </a:gs>
            </a:gsLst>
            <a:path path="shape">
              <a:fillToRect l="50000" t="50000" r="50000" b="50000"/>
            </a:path>
          </a:gradFill>
          <a:ln>
            <a:noFill/>
          </a:ln>
          <a:effectLst/>
        </p:spPr>
        <p:txBody>
          <a:bodyPr wrap="none" anchor="ctr"/>
          <a:lstStyle>
            <a:lvl1pPr eaLnBrk="0" hangingPunct="0">
              <a:defRPr kumimoji="1" sz="2400" b="1">
                <a:solidFill>
                  <a:srgbClr val="000099"/>
                </a:solidFill>
                <a:latin typeface="Times New Roman" panose="02020603050405020304" pitchFamily="18" charset="0"/>
                <a:ea typeface="楷体_GB2312" pitchFamily="49" charset="-122"/>
              </a:defRPr>
            </a:lvl1pPr>
            <a:lvl2pPr marL="742950" indent="-285750" eaLnBrk="0" hangingPunct="0">
              <a:defRPr kumimoji="1" sz="2400" b="1">
                <a:solidFill>
                  <a:srgbClr val="000099"/>
                </a:solidFill>
                <a:latin typeface="Times New Roman" panose="02020603050405020304" pitchFamily="18" charset="0"/>
                <a:ea typeface="楷体_GB2312" pitchFamily="49" charset="-122"/>
              </a:defRPr>
            </a:lvl2pPr>
            <a:lvl3pPr marL="1143000" indent="-228600" eaLnBrk="0" hangingPunct="0">
              <a:defRPr kumimoji="1" sz="2400" b="1">
                <a:solidFill>
                  <a:srgbClr val="000099"/>
                </a:solidFill>
                <a:latin typeface="Times New Roman" panose="02020603050405020304" pitchFamily="18" charset="0"/>
                <a:ea typeface="楷体_GB2312" pitchFamily="49" charset="-122"/>
              </a:defRPr>
            </a:lvl3pPr>
            <a:lvl4pPr marL="1600200" indent="-228600" eaLnBrk="0" hangingPunct="0">
              <a:defRPr kumimoji="1" sz="2400" b="1">
                <a:solidFill>
                  <a:srgbClr val="000099"/>
                </a:solidFill>
                <a:latin typeface="Times New Roman" panose="02020603050405020304" pitchFamily="18" charset="0"/>
                <a:ea typeface="楷体_GB2312" pitchFamily="49" charset="-122"/>
              </a:defRPr>
            </a:lvl4pPr>
            <a:lvl5pPr marL="2057400" indent="-228600" eaLnBrk="0" hangingPunct="0">
              <a:defRPr kumimoji="1" sz="2400" b="1">
                <a:solidFill>
                  <a:srgbClr val="000099"/>
                </a:solidFill>
                <a:latin typeface="Times New Roman" panose="02020603050405020304" pitchFamily="18" charset="0"/>
                <a:ea typeface="楷体_GB2312" pitchFamily="49" charset="-122"/>
              </a:defRPr>
            </a:lvl5pPr>
            <a:lvl6pPr marL="25146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6pPr>
            <a:lvl7pPr marL="29718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7pPr>
            <a:lvl8pPr marL="34290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8pPr>
            <a:lvl9pPr marL="38862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8" name="Rectangle 4" descr="Stationery"/>
          <p:cNvSpPr>
            <a:spLocks noChangeArrowheads="1"/>
          </p:cNvSpPr>
          <p:nvPr/>
        </p:nvSpPr>
        <p:spPr bwMode="auto">
          <a:xfrm>
            <a:off x="457200" y="0"/>
            <a:ext cx="1219200" cy="762000"/>
          </a:xfrm>
          <a:prstGeom prst="rect">
            <a:avLst/>
          </a:prstGeom>
          <a:blipFill dpi="0" rotWithShape="0">
            <a:blip r:embed="rId12"/>
            <a:srcRect/>
            <a:tile tx="0" ty="0" sx="100000" sy="100000" flip="none" algn="tl"/>
          </a:blipFill>
          <a:ln>
            <a:noFill/>
          </a:ln>
          <a:effectLst/>
        </p:spPr>
        <p:txBody>
          <a:bodyPr wrap="none" anchor="ctr"/>
          <a:lstStyle>
            <a:lvl1pPr eaLnBrk="0" hangingPunct="0">
              <a:defRPr kumimoji="1" sz="2400" b="1">
                <a:solidFill>
                  <a:srgbClr val="000099"/>
                </a:solidFill>
                <a:latin typeface="Times New Roman" panose="02020603050405020304" pitchFamily="18" charset="0"/>
                <a:ea typeface="楷体_GB2312" pitchFamily="49" charset="-122"/>
              </a:defRPr>
            </a:lvl1pPr>
            <a:lvl2pPr marL="742950" indent="-285750" eaLnBrk="0" hangingPunct="0">
              <a:defRPr kumimoji="1" sz="2400" b="1">
                <a:solidFill>
                  <a:srgbClr val="000099"/>
                </a:solidFill>
                <a:latin typeface="Times New Roman" panose="02020603050405020304" pitchFamily="18" charset="0"/>
                <a:ea typeface="楷体_GB2312" pitchFamily="49" charset="-122"/>
              </a:defRPr>
            </a:lvl2pPr>
            <a:lvl3pPr marL="1143000" indent="-228600" eaLnBrk="0" hangingPunct="0">
              <a:defRPr kumimoji="1" sz="2400" b="1">
                <a:solidFill>
                  <a:srgbClr val="000099"/>
                </a:solidFill>
                <a:latin typeface="Times New Roman" panose="02020603050405020304" pitchFamily="18" charset="0"/>
                <a:ea typeface="楷体_GB2312" pitchFamily="49" charset="-122"/>
              </a:defRPr>
            </a:lvl3pPr>
            <a:lvl4pPr marL="1600200" indent="-228600" eaLnBrk="0" hangingPunct="0">
              <a:defRPr kumimoji="1" sz="2400" b="1">
                <a:solidFill>
                  <a:srgbClr val="000099"/>
                </a:solidFill>
                <a:latin typeface="Times New Roman" panose="02020603050405020304" pitchFamily="18" charset="0"/>
                <a:ea typeface="楷体_GB2312" pitchFamily="49" charset="-122"/>
              </a:defRPr>
            </a:lvl4pPr>
            <a:lvl5pPr marL="2057400" indent="-228600" eaLnBrk="0" hangingPunct="0">
              <a:defRPr kumimoji="1" sz="2400" b="1">
                <a:solidFill>
                  <a:srgbClr val="000099"/>
                </a:solidFill>
                <a:latin typeface="Times New Roman" panose="02020603050405020304" pitchFamily="18" charset="0"/>
                <a:ea typeface="楷体_GB2312" pitchFamily="49" charset="-122"/>
              </a:defRPr>
            </a:lvl5pPr>
            <a:lvl6pPr marL="25146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6pPr>
            <a:lvl7pPr marL="29718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7pPr>
            <a:lvl8pPr marL="34290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8pPr>
            <a:lvl9pPr marL="38862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descr="Stationery"/>
          <p:cNvSpPr>
            <a:spLocks noChangeArrowheads="1"/>
          </p:cNvSpPr>
          <p:nvPr/>
        </p:nvSpPr>
        <p:spPr bwMode="auto">
          <a:xfrm>
            <a:off x="0" y="0"/>
            <a:ext cx="457200" cy="6858000"/>
          </a:xfrm>
          <a:prstGeom prst="rect">
            <a:avLst/>
          </a:prstGeom>
          <a:blipFill dpi="0" rotWithShape="0">
            <a:blip r:embed="rId12"/>
            <a:srcRect/>
            <a:tile tx="0" ty="0" sx="100000" sy="100000" flip="none" algn="tl"/>
          </a:blipFill>
          <a:ln>
            <a:noFill/>
          </a:ln>
          <a:effectLst/>
        </p:spPr>
        <p:txBody>
          <a:bodyPr wrap="none" anchor="ctr"/>
          <a:lstStyle>
            <a:lvl1pPr eaLnBrk="0" hangingPunct="0">
              <a:defRPr kumimoji="1" sz="2400" b="1">
                <a:solidFill>
                  <a:srgbClr val="000099"/>
                </a:solidFill>
                <a:latin typeface="Times New Roman" panose="02020603050405020304" pitchFamily="18" charset="0"/>
                <a:ea typeface="楷体_GB2312" pitchFamily="49" charset="-122"/>
              </a:defRPr>
            </a:lvl1pPr>
            <a:lvl2pPr marL="742950" indent="-285750" eaLnBrk="0" hangingPunct="0">
              <a:defRPr kumimoji="1" sz="2400" b="1">
                <a:solidFill>
                  <a:srgbClr val="000099"/>
                </a:solidFill>
                <a:latin typeface="Times New Roman" panose="02020603050405020304" pitchFamily="18" charset="0"/>
                <a:ea typeface="楷体_GB2312" pitchFamily="49" charset="-122"/>
              </a:defRPr>
            </a:lvl2pPr>
            <a:lvl3pPr marL="1143000" indent="-228600" eaLnBrk="0" hangingPunct="0">
              <a:defRPr kumimoji="1" sz="2400" b="1">
                <a:solidFill>
                  <a:srgbClr val="000099"/>
                </a:solidFill>
                <a:latin typeface="Times New Roman" panose="02020603050405020304" pitchFamily="18" charset="0"/>
                <a:ea typeface="楷体_GB2312" pitchFamily="49" charset="-122"/>
              </a:defRPr>
            </a:lvl3pPr>
            <a:lvl4pPr marL="1600200" indent="-228600" eaLnBrk="0" hangingPunct="0">
              <a:defRPr kumimoji="1" sz="2400" b="1">
                <a:solidFill>
                  <a:srgbClr val="000099"/>
                </a:solidFill>
                <a:latin typeface="Times New Roman" panose="02020603050405020304" pitchFamily="18" charset="0"/>
                <a:ea typeface="楷体_GB2312" pitchFamily="49" charset="-122"/>
              </a:defRPr>
            </a:lvl4pPr>
            <a:lvl5pPr marL="2057400" indent="-228600" eaLnBrk="0" hangingPunct="0">
              <a:defRPr kumimoji="1" sz="2400" b="1">
                <a:solidFill>
                  <a:srgbClr val="000099"/>
                </a:solidFill>
                <a:latin typeface="Times New Roman" panose="02020603050405020304" pitchFamily="18" charset="0"/>
                <a:ea typeface="楷体_GB2312" pitchFamily="49" charset="-122"/>
              </a:defRPr>
            </a:lvl5pPr>
            <a:lvl6pPr marL="25146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6pPr>
            <a:lvl7pPr marL="29718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7pPr>
            <a:lvl8pPr marL="34290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8pPr>
            <a:lvl9pPr marL="38862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p:cNvSpPr>
          <p:nvPr>
            <p:ph type="title"/>
          </p:nvPr>
        </p:nvSpPr>
        <p:spPr>
          <a:xfrm>
            <a:off x="1066800" y="838200"/>
            <a:ext cx="7772400" cy="11430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372743" name="Rectangle 7"/>
          <p:cNvSpPr>
            <a:spLocks noGrp="1" noChangeArrowheads="1"/>
          </p:cNvSpPr>
          <p:nvPr>
            <p:ph type="dt" sz="half" idx="2"/>
          </p:nvPr>
        </p:nvSpPr>
        <p:spPr bwMode="auto">
          <a:xfrm>
            <a:off x="1066800" y="6413500"/>
            <a:ext cx="1905000" cy="457200"/>
          </a:xfrm>
          <a:prstGeom prst="rect">
            <a:avLst/>
          </a:prstGeom>
          <a:noFill/>
          <a:ln>
            <a:noFill/>
          </a:ln>
          <a:effectLst/>
        </p:spPr>
        <p:txBody>
          <a:bodyPr vert="horz" wrap="square" lIns="91440" tIns="45720" rIns="91440" bIns="45720" numCol="1" anchor="b" anchorCtr="0" compatLnSpc="1"/>
          <a:lstStyle>
            <a:lvl1pPr eaLnBrk="1" hangingPunct="1">
              <a:lnSpc>
                <a:spcPct val="100000"/>
              </a:lnSpc>
              <a:defRPr kumimoji="0" sz="1400" b="0">
                <a:solidFill>
                  <a:schemeClr val="tx2"/>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sp>
        <p:nvSpPr>
          <p:cNvPr id="372744" name="Rectangle 8"/>
          <p:cNvSpPr>
            <a:spLocks noGrp="1" noChangeArrowheads="1"/>
          </p:cNvSpPr>
          <p:nvPr>
            <p:ph type="ftr" sz="quarter" idx="3"/>
          </p:nvPr>
        </p:nvSpPr>
        <p:spPr bwMode="auto">
          <a:xfrm>
            <a:off x="3429000" y="6413500"/>
            <a:ext cx="2895600" cy="457200"/>
          </a:xfrm>
          <a:prstGeom prst="rect">
            <a:avLst/>
          </a:prstGeom>
          <a:noFill/>
          <a:ln>
            <a:noFill/>
          </a:ln>
          <a:effectLst/>
        </p:spPr>
        <p:txBody>
          <a:bodyPr vert="horz" wrap="square" lIns="91440" tIns="45720" rIns="91440" bIns="45720" numCol="1" anchor="b" anchorCtr="0" compatLnSpc="1"/>
          <a:lstStyle>
            <a:lvl1pPr algn="ctr" eaLnBrk="1" hangingPunct="1">
              <a:lnSpc>
                <a:spcPct val="100000"/>
              </a:lnSpc>
              <a:defRPr kumimoji="0" sz="1400" b="0">
                <a:solidFill>
                  <a:schemeClr val="tx2"/>
                </a:solidFill>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2"/>
              </a:solidFill>
              <a:effectLst/>
              <a:uLnTx/>
              <a:uFillTx/>
              <a:latin typeface="Times New Roman" panose="02020603050405020304" pitchFamily="18" charset="0"/>
              <a:ea typeface="+mn-ea"/>
              <a:cs typeface="+mn-cs"/>
            </a:endParaRPr>
          </a:p>
        </p:txBody>
      </p:sp>
      <p:pic>
        <p:nvPicPr>
          <p:cNvPr id="1033" name="Picture 9" descr="anabnr2"/>
          <p:cNvPicPr>
            <a:picLocks noChangeAspect="1"/>
          </p:cNvPicPr>
          <p:nvPr/>
        </p:nvPicPr>
        <p:blipFill>
          <a:blip r:embed="rId13"/>
          <a:stretch>
            <a:fillRect/>
          </a:stretch>
        </p:blipFill>
        <p:spPr>
          <a:xfrm>
            <a:off x="1228725" y="0"/>
            <a:ext cx="7915275" cy="754063"/>
          </a:xfrm>
          <a:prstGeom prst="rect">
            <a:avLst/>
          </a:prstGeom>
          <a:noFill/>
          <a:ln w="9525">
            <a:noFill/>
          </a:ln>
        </p:spPr>
      </p:pic>
      <p:sp>
        <p:nvSpPr>
          <p:cNvPr id="1034" name="Rectangle 10"/>
          <p:cNvSpPr>
            <a:spLocks noChangeArrowheads="1"/>
          </p:cNvSpPr>
          <p:nvPr/>
        </p:nvSpPr>
        <p:spPr bwMode="auto">
          <a:xfrm>
            <a:off x="304800" y="457200"/>
            <a:ext cx="2514600" cy="304800"/>
          </a:xfrm>
          <a:prstGeom prst="rect">
            <a:avLst/>
          </a:prstGeom>
          <a:solidFill>
            <a:schemeClr val="accent2">
              <a:alpha val="50195"/>
            </a:schemeClr>
          </a:solidFill>
          <a:ln>
            <a:noFill/>
          </a:ln>
          <a:effectLst/>
        </p:spPr>
        <p:txBody>
          <a:bodyPr wrap="none" anchor="ctr"/>
          <a:lstStyle>
            <a:lvl1pPr eaLnBrk="0" hangingPunct="0">
              <a:defRPr kumimoji="1" sz="2400" b="1">
                <a:solidFill>
                  <a:srgbClr val="000099"/>
                </a:solidFill>
                <a:latin typeface="Times New Roman" panose="02020603050405020304" pitchFamily="18" charset="0"/>
                <a:ea typeface="楷体_GB2312" pitchFamily="49" charset="-122"/>
              </a:defRPr>
            </a:lvl1pPr>
            <a:lvl2pPr marL="742950" indent="-285750" eaLnBrk="0" hangingPunct="0">
              <a:defRPr kumimoji="1" sz="2400" b="1">
                <a:solidFill>
                  <a:srgbClr val="000099"/>
                </a:solidFill>
                <a:latin typeface="Times New Roman" panose="02020603050405020304" pitchFamily="18" charset="0"/>
                <a:ea typeface="楷体_GB2312" pitchFamily="49" charset="-122"/>
              </a:defRPr>
            </a:lvl2pPr>
            <a:lvl3pPr marL="1143000" indent="-228600" eaLnBrk="0" hangingPunct="0">
              <a:defRPr kumimoji="1" sz="2400" b="1">
                <a:solidFill>
                  <a:srgbClr val="000099"/>
                </a:solidFill>
                <a:latin typeface="Times New Roman" panose="02020603050405020304" pitchFamily="18" charset="0"/>
                <a:ea typeface="楷体_GB2312" pitchFamily="49" charset="-122"/>
              </a:defRPr>
            </a:lvl3pPr>
            <a:lvl4pPr marL="1600200" indent="-228600" eaLnBrk="0" hangingPunct="0">
              <a:defRPr kumimoji="1" sz="2400" b="1">
                <a:solidFill>
                  <a:srgbClr val="000099"/>
                </a:solidFill>
                <a:latin typeface="Times New Roman" panose="02020603050405020304" pitchFamily="18" charset="0"/>
                <a:ea typeface="楷体_GB2312" pitchFamily="49" charset="-122"/>
              </a:defRPr>
            </a:lvl4pPr>
            <a:lvl5pPr marL="2057400" indent="-228600" eaLnBrk="0" hangingPunct="0">
              <a:defRPr kumimoji="1" sz="2400" b="1">
                <a:solidFill>
                  <a:srgbClr val="000099"/>
                </a:solidFill>
                <a:latin typeface="Times New Roman" panose="02020603050405020304" pitchFamily="18" charset="0"/>
                <a:ea typeface="楷体_GB2312" pitchFamily="49" charset="-122"/>
              </a:defRPr>
            </a:lvl5pPr>
            <a:lvl6pPr marL="25146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6pPr>
            <a:lvl7pPr marL="29718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7pPr>
            <a:lvl8pPr marL="34290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8pPr>
            <a:lvl9pPr marL="38862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2747" name="Rectangle 11"/>
          <p:cNvSpPr>
            <a:spLocks noGrp="1" noChangeArrowheads="1"/>
          </p:cNvSpPr>
          <p:nvPr>
            <p:ph type="sldNum" sz="quarter" idx="4"/>
          </p:nvPr>
        </p:nvSpPr>
        <p:spPr bwMode="auto">
          <a:xfrm>
            <a:off x="8229600" y="6413500"/>
            <a:ext cx="914400" cy="457200"/>
          </a:xfrm>
          <a:prstGeom prst="rect">
            <a:avLst/>
          </a:prstGeom>
          <a:noFill/>
          <a:ln>
            <a:noFill/>
          </a:ln>
          <a:effectLst/>
        </p:spPr>
        <p:txBody>
          <a:bodyPr vert="horz" wrap="square" lIns="91440" tIns="45720" rIns="91440" bIns="45720" numCol="1" anchor="b" anchorCtr="0" compatLnSpc="1"/>
          <a:lstStyle>
            <a:lvl1pPr algn="r" eaLnBrk="1" hangingPunct="1">
              <a:defRPr kumimoji="0" b="0">
                <a:solidFill>
                  <a:schemeClr val="tx2"/>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CC86F2E-5C90-4602-BF6C-ADE92AF53F6F}" type="slidenum">
              <a:rPr kumimoji="0" lang="en-US" altLang="zh-CN" sz="2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
        <p:nvSpPr>
          <p:cNvPr id="1036" name="Rectangle 12"/>
          <p:cNvSpPr>
            <a:spLocks noGrp="1"/>
          </p:cNvSpPr>
          <p:nvPr>
            <p:ph type="body" idx="1"/>
          </p:nvPr>
        </p:nvSpPr>
        <p:spPr>
          <a:xfrm>
            <a:off x="1066800" y="210185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7" name="Text Box 13"/>
          <p:cNvSpPr txBox="1">
            <a:spLocks noChangeArrowheads="1"/>
          </p:cNvSpPr>
          <p:nvPr/>
        </p:nvSpPr>
        <p:spPr bwMode="auto">
          <a:xfrm>
            <a:off x="0" y="0"/>
            <a:ext cx="488950" cy="6858000"/>
          </a:xfrm>
          <a:prstGeom prst="rect">
            <a:avLst/>
          </a:prstGeom>
          <a:gradFill rotWithShape="0">
            <a:gsLst>
              <a:gs pos="0">
                <a:srgbClr val="765E5E"/>
              </a:gs>
              <a:gs pos="50000">
                <a:srgbClr val="FFCCCC"/>
              </a:gs>
              <a:gs pos="100000">
                <a:srgbClr val="765E5E"/>
              </a:gs>
            </a:gsLst>
            <a:lin ang="0" scaled="1"/>
          </a:gradFill>
          <a:ln>
            <a:noFill/>
          </a:ln>
          <a:effectLst/>
        </p:spPr>
        <p:txBody>
          <a:bodyPr vert="eaVert">
            <a:spAutoFit/>
          </a:bodyPr>
          <a:lstStyle>
            <a:lvl1pPr eaLnBrk="0" hangingPunct="0">
              <a:defRPr kumimoji="1" sz="2400" b="1">
                <a:solidFill>
                  <a:srgbClr val="000099"/>
                </a:solidFill>
                <a:latin typeface="Times New Roman" panose="02020603050405020304" pitchFamily="18" charset="0"/>
                <a:ea typeface="楷体_GB2312" pitchFamily="49" charset="-122"/>
              </a:defRPr>
            </a:lvl1pPr>
            <a:lvl2pPr marL="742950" indent="-285750" eaLnBrk="0" hangingPunct="0">
              <a:defRPr kumimoji="1" sz="2400" b="1">
                <a:solidFill>
                  <a:srgbClr val="000099"/>
                </a:solidFill>
                <a:latin typeface="Times New Roman" panose="02020603050405020304" pitchFamily="18" charset="0"/>
                <a:ea typeface="楷体_GB2312" pitchFamily="49" charset="-122"/>
              </a:defRPr>
            </a:lvl2pPr>
            <a:lvl3pPr marL="1143000" indent="-228600" eaLnBrk="0" hangingPunct="0">
              <a:defRPr kumimoji="1" sz="2400" b="1">
                <a:solidFill>
                  <a:srgbClr val="000099"/>
                </a:solidFill>
                <a:latin typeface="Times New Roman" panose="02020603050405020304" pitchFamily="18" charset="0"/>
                <a:ea typeface="楷体_GB2312" pitchFamily="49" charset="-122"/>
              </a:defRPr>
            </a:lvl3pPr>
            <a:lvl4pPr marL="1600200" indent="-228600" eaLnBrk="0" hangingPunct="0">
              <a:defRPr kumimoji="1" sz="2400" b="1">
                <a:solidFill>
                  <a:srgbClr val="000099"/>
                </a:solidFill>
                <a:latin typeface="Times New Roman" panose="02020603050405020304" pitchFamily="18" charset="0"/>
                <a:ea typeface="楷体_GB2312" pitchFamily="49" charset="-122"/>
              </a:defRPr>
            </a:lvl4pPr>
            <a:lvl5pPr marL="2057400" indent="-228600" eaLnBrk="0" hangingPunct="0">
              <a:defRPr kumimoji="1" sz="2400" b="1">
                <a:solidFill>
                  <a:srgbClr val="000099"/>
                </a:solidFill>
                <a:latin typeface="Times New Roman" panose="02020603050405020304" pitchFamily="18" charset="0"/>
                <a:ea typeface="楷体_GB2312" pitchFamily="49" charset="-122"/>
              </a:defRPr>
            </a:lvl5pPr>
            <a:lvl6pPr marL="25146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6pPr>
            <a:lvl7pPr marL="29718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7pPr>
            <a:lvl8pPr marL="34290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8pPr>
            <a:lvl9pPr marL="3886200" indent="-228600" eaLnBrk="0" fontAlgn="base" hangingPunct="0">
              <a:lnSpc>
                <a:spcPct val="115000"/>
              </a:lnSpc>
              <a:spcBef>
                <a:spcPct val="0"/>
              </a:spcBef>
              <a:spcAft>
                <a:spcPct val="0"/>
              </a:spcAft>
              <a:defRPr kumimoji="1" sz="2400" b="1">
                <a:solidFill>
                  <a:srgbClr val="000099"/>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                 </a:t>
            </a:r>
            <a:r>
              <a:rPr kumimoji="0" lang="zh-CN" altLang="en-US" sz="2000" b="1" i="0" u="none" strike="noStrike" kern="1200" cap="none" spc="0" normalizeH="0" baseline="0" noProof="0">
                <a:ln>
                  <a:noFill/>
                </a:ln>
                <a:solidFill>
                  <a:srgbClr val="990033"/>
                </a:solidFill>
                <a:effectLst/>
                <a:uLnTx/>
                <a:uFillTx/>
                <a:latin typeface="楷体_GB2312" pitchFamily="49" charset="-122"/>
                <a:ea typeface="楷体_GB2312" pitchFamily="49" charset="-122"/>
                <a:cs typeface="+mn-cs"/>
              </a:rPr>
              <a:t>操作系统            第四章  存储器管理</a:t>
            </a:r>
            <a:endParaRPr kumimoji="0" lang="zh-CN" altLang="en-US" sz="2000" b="1" i="0" u="none" strike="noStrike" kern="1200" cap="none" spc="0" normalizeH="0" baseline="0" noProof="0">
              <a:ln>
                <a:noFill/>
              </a:ln>
              <a:solidFill>
                <a:srgbClr val="990033"/>
              </a:solidFill>
              <a:effectLst/>
              <a:uLnTx/>
              <a:uFillTx/>
              <a:latin typeface="楷体_GB2312" pitchFamily="49" charset="-122"/>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4.wmf"/><Relationship Id="rId1"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oleObject" Target="../embeddings/oleObject4.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oleObject" Target="../embeddings/oleObject5.bin"/></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oleObject" Target="../embeddings/oleObject6.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7.bin"/></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4.wmf"/><Relationship Id="rId1" Type="http://schemas.openxmlformats.org/officeDocument/2006/relationships/oleObject" Target="../embeddings/oleObject8.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19.wmf"/><Relationship Id="rId1" Type="http://schemas.openxmlformats.org/officeDocument/2006/relationships/oleObject" Target="../embeddings/oleObject9.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oleObject" Target="../embeddings/oleObject10.bin"/></Relationships>
</file>

<file path=ppt/slides/_rels/slide84.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11.bin"/></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22.wmf"/><Relationship Id="rId1" Type="http://schemas.openxmlformats.org/officeDocument/2006/relationships/oleObject" Target="../embeddings/oleObject12.bin"/></Relationships>
</file>

<file path=ppt/slides/_rels/slide91.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23.wmf"/><Relationship Id="rId1" Type="http://schemas.openxmlformats.org/officeDocument/2006/relationships/oleObject" Target="../embeddings/oleObject13.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oleObject" Target="../embeddings/oleObject14.bin"/></Relationships>
</file>

<file path=ppt/slides/_rels/slide99.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oleObject" Target="../embeddings/oleObject15.bin"/></Relationships>
</file>

<file path=ppt/slides/_rels/slide100.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oleObject" Target="../embeddings/oleObject16.bin"/></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7.xml"/><Relationship Id="rId2" Type="http://schemas.openxmlformats.org/officeDocument/2006/relationships/image" Target="../media/image27.png"/><Relationship Id="rId1" Type="http://schemas.openxmlformats.org/officeDocument/2006/relationships/oleObject" Target="../embeddings/oleObject17.bin"/></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jpe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jpe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274434" name="Text Box 2"/>
          <p:cNvSpPr txBox="1"/>
          <p:nvPr/>
        </p:nvSpPr>
        <p:spPr>
          <a:xfrm>
            <a:off x="1979613" y="332740"/>
            <a:ext cx="4800600" cy="70675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4000" dirty="0">
                <a:solidFill>
                  <a:srgbClr val="000000"/>
                </a:solidFill>
                <a:latin typeface="隶书" panose="02010509060101010101" pitchFamily="49" charset="-122"/>
                <a:ea typeface="隶书" panose="02010509060101010101" pitchFamily="49" charset="-122"/>
              </a:rPr>
              <a:t>第</a:t>
            </a:r>
            <a:r>
              <a:rPr lang="zh-CN" altLang="en-US" sz="4000" dirty="0">
                <a:solidFill>
                  <a:srgbClr val="000000"/>
                </a:solidFill>
                <a:latin typeface="隶书" panose="02010509060101010101" pitchFamily="49" charset="-122"/>
                <a:ea typeface="隶书" panose="02010509060101010101" pitchFamily="49" charset="-122"/>
              </a:rPr>
              <a:t>五章  存储器管理</a:t>
            </a:r>
            <a:endParaRPr lang="zh-CN" altLang="en-US" sz="4000" dirty="0">
              <a:solidFill>
                <a:srgbClr val="000000"/>
              </a:solidFill>
              <a:latin typeface="隶书" panose="02010509060101010101" pitchFamily="49" charset="-122"/>
              <a:ea typeface="隶书" panose="02010509060101010101" pitchFamily="49" charset="-122"/>
            </a:endParaRPr>
          </a:p>
        </p:txBody>
      </p:sp>
      <p:sp>
        <p:nvSpPr>
          <p:cNvPr id="274435" name="Text Box 3"/>
          <p:cNvSpPr txBox="1"/>
          <p:nvPr/>
        </p:nvSpPr>
        <p:spPr>
          <a:xfrm>
            <a:off x="2267903" y="1039178"/>
            <a:ext cx="4824412" cy="55022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dirty="0">
                <a:solidFill>
                  <a:srgbClr val="000099"/>
                </a:solidFill>
                <a:latin typeface="隶书" panose="02010509060101010101" pitchFamily="49" charset="-122"/>
                <a:ea typeface="隶书" panose="02010509060101010101" pitchFamily="49" charset="-122"/>
              </a:rPr>
              <a:t>5.1 </a:t>
            </a:r>
            <a:r>
              <a:rPr lang="zh-CN" altLang="en-US" dirty="0">
                <a:solidFill>
                  <a:srgbClr val="000099"/>
                </a:solidFill>
                <a:latin typeface="隶书" panose="02010509060101010101" pitchFamily="49" charset="-122"/>
                <a:ea typeface="隶书" panose="02010509060101010101" pitchFamily="49" charset="-122"/>
              </a:rPr>
              <a:t>存储管理的概念</a:t>
            </a:r>
            <a:endParaRPr lang="en-US" altLang="zh-CN" dirty="0">
              <a:solidFill>
                <a:srgbClr val="000099"/>
              </a:solidFill>
              <a:latin typeface="隶书" panose="02010509060101010101" pitchFamily="49" charset="-122"/>
              <a:ea typeface="隶书" panose="02010509060101010101" pitchFamily="49" charset="-122"/>
            </a:endParaRPr>
          </a:p>
          <a:p>
            <a:pPr marL="0" lvl="0" indent="0" eaLnBrk="1" hangingPunct="1">
              <a:lnSpc>
                <a:spcPct val="120000"/>
              </a:lnSpc>
              <a:buClrTx/>
              <a:buSzTx/>
              <a:buFontTx/>
              <a:buNone/>
            </a:pPr>
            <a:r>
              <a:rPr lang="en-US" altLang="zh-CN" dirty="0">
                <a:solidFill>
                  <a:srgbClr val="000099"/>
                </a:solidFill>
                <a:latin typeface="隶书" panose="02010509060101010101" pitchFamily="49" charset="-122"/>
                <a:ea typeface="隶书" panose="02010509060101010101" pitchFamily="49" charset="-122"/>
              </a:rPr>
              <a:t>5.2 </a:t>
            </a:r>
            <a:r>
              <a:rPr lang="zh-CN" altLang="en-US" dirty="0">
                <a:solidFill>
                  <a:srgbClr val="000099"/>
                </a:solidFill>
                <a:latin typeface="隶书" panose="02010509060101010101" pitchFamily="49" charset="-122"/>
                <a:ea typeface="隶书" panose="02010509060101010101" pitchFamily="49" charset="-122"/>
              </a:rPr>
              <a:t>存储器的层次结构</a:t>
            </a:r>
            <a:endParaRPr lang="en-US" altLang="zh-CN" dirty="0">
              <a:solidFill>
                <a:srgbClr val="000099"/>
              </a:solidFill>
              <a:latin typeface="隶书" panose="02010509060101010101" pitchFamily="49" charset="-122"/>
              <a:ea typeface="隶书" panose="02010509060101010101" pitchFamily="49" charset="-122"/>
            </a:endParaRPr>
          </a:p>
          <a:p>
            <a:pPr marL="0" lvl="0" indent="0" eaLnBrk="1" hangingPunct="1">
              <a:lnSpc>
                <a:spcPct val="120000"/>
              </a:lnSpc>
              <a:buClrTx/>
              <a:buSzTx/>
              <a:buFontTx/>
              <a:buNone/>
            </a:pPr>
            <a:r>
              <a:rPr lang="en-US" altLang="zh-CN" dirty="0">
                <a:solidFill>
                  <a:srgbClr val="000099"/>
                </a:solidFill>
                <a:latin typeface="隶书" panose="02010509060101010101" pitchFamily="49" charset="-122"/>
                <a:ea typeface="隶书" panose="02010509060101010101" pitchFamily="49" charset="-122"/>
              </a:rPr>
              <a:t>5.3 </a:t>
            </a:r>
            <a:r>
              <a:rPr lang="zh-CN" altLang="en-US" dirty="0">
                <a:solidFill>
                  <a:srgbClr val="000099"/>
                </a:solidFill>
                <a:latin typeface="隶书" panose="02010509060101010101" pitchFamily="49" charset="-122"/>
                <a:ea typeface="隶书" panose="02010509060101010101" pitchFamily="49" charset="-122"/>
              </a:rPr>
              <a:t>程序的装入和链接</a:t>
            </a:r>
            <a:endParaRPr lang="zh-CN" altLang="en-US" dirty="0">
              <a:solidFill>
                <a:srgbClr val="000099"/>
              </a:solidFill>
              <a:latin typeface="隶书" panose="02010509060101010101" pitchFamily="49" charset="-122"/>
              <a:ea typeface="隶书" panose="02010509060101010101" pitchFamily="49" charset="-122"/>
            </a:endParaRPr>
          </a:p>
          <a:p>
            <a:pPr marL="0" lvl="0" indent="0" eaLnBrk="1" hangingPunct="1">
              <a:lnSpc>
                <a:spcPct val="120000"/>
              </a:lnSpc>
              <a:buClrTx/>
              <a:buSzTx/>
              <a:buFontTx/>
              <a:buNone/>
            </a:pPr>
            <a:r>
              <a:rPr lang="en-US" altLang="zh-CN" dirty="0">
                <a:solidFill>
                  <a:srgbClr val="000099"/>
                </a:solidFill>
                <a:latin typeface="隶书" panose="02010509060101010101" pitchFamily="49" charset="-122"/>
                <a:ea typeface="隶书" panose="02010509060101010101" pitchFamily="49" charset="-122"/>
              </a:rPr>
              <a:t>5.4 </a:t>
            </a:r>
            <a:r>
              <a:rPr lang="zh-CN" altLang="en-US" dirty="0">
                <a:solidFill>
                  <a:srgbClr val="000099"/>
                </a:solidFill>
                <a:latin typeface="隶书" panose="02010509060101010101" pitchFamily="49" charset="-122"/>
                <a:ea typeface="隶书" panose="02010509060101010101" pitchFamily="49" charset="-122"/>
              </a:rPr>
              <a:t>分区式存储管理</a:t>
            </a:r>
            <a:endParaRPr lang="zh-CN" altLang="en-US" dirty="0">
              <a:solidFill>
                <a:srgbClr val="000099"/>
              </a:solidFill>
              <a:latin typeface="隶书" panose="02010509060101010101" pitchFamily="49" charset="-122"/>
              <a:ea typeface="隶书" panose="02010509060101010101" pitchFamily="49" charset="-122"/>
            </a:endParaRPr>
          </a:p>
          <a:p>
            <a:pPr marL="0" lvl="0" indent="0" eaLnBrk="1" hangingPunct="1">
              <a:lnSpc>
                <a:spcPct val="120000"/>
              </a:lnSpc>
              <a:buClrTx/>
              <a:buSzTx/>
              <a:buFontTx/>
              <a:buNone/>
            </a:pPr>
            <a:r>
              <a:rPr lang="en-US" altLang="zh-CN" dirty="0">
                <a:solidFill>
                  <a:srgbClr val="000099"/>
                </a:solidFill>
                <a:latin typeface="隶书" panose="02010509060101010101" pitchFamily="49" charset="-122"/>
                <a:ea typeface="隶书" panose="02010509060101010101" pitchFamily="49" charset="-122"/>
              </a:rPr>
              <a:t>5.5 </a:t>
            </a:r>
            <a:r>
              <a:rPr lang="zh-CN" altLang="en-US" dirty="0">
                <a:solidFill>
                  <a:srgbClr val="000099"/>
                </a:solidFill>
                <a:latin typeface="隶书" panose="02010509060101010101" pitchFamily="49" charset="-122"/>
                <a:ea typeface="隶书" panose="02010509060101010101" pitchFamily="49" charset="-122"/>
              </a:rPr>
              <a:t>对换与</a:t>
            </a:r>
            <a:r>
              <a:rPr lang="zh-CN" altLang="en-US" dirty="0">
                <a:solidFill>
                  <a:srgbClr val="000099"/>
                </a:solidFill>
                <a:latin typeface="隶书" panose="02010509060101010101" pitchFamily="49" charset="-122"/>
                <a:ea typeface="隶书" panose="02010509060101010101" pitchFamily="49" charset="-122"/>
              </a:rPr>
              <a:t>覆盖</a:t>
            </a:r>
            <a:endParaRPr lang="zh-CN" altLang="en-US" dirty="0">
              <a:solidFill>
                <a:srgbClr val="000099"/>
              </a:solidFill>
              <a:latin typeface="隶书" panose="02010509060101010101" pitchFamily="49" charset="-122"/>
              <a:ea typeface="隶书" panose="02010509060101010101" pitchFamily="49" charset="-122"/>
            </a:endParaRPr>
          </a:p>
          <a:p>
            <a:pPr marL="0" lvl="0" indent="0" eaLnBrk="1" hangingPunct="1">
              <a:lnSpc>
                <a:spcPct val="120000"/>
              </a:lnSpc>
              <a:buClrTx/>
              <a:buSzTx/>
              <a:buFontTx/>
              <a:buNone/>
            </a:pPr>
            <a:r>
              <a:rPr lang="en-US" altLang="zh-CN" dirty="0">
                <a:solidFill>
                  <a:srgbClr val="000099"/>
                </a:solidFill>
                <a:latin typeface="隶书" panose="02010509060101010101" pitchFamily="49" charset="-122"/>
                <a:ea typeface="隶书" panose="02010509060101010101" pitchFamily="49" charset="-122"/>
              </a:rPr>
              <a:t>5.6 </a:t>
            </a:r>
            <a:r>
              <a:rPr lang="zh-CN" altLang="en-US" dirty="0">
                <a:solidFill>
                  <a:srgbClr val="000099"/>
                </a:solidFill>
                <a:latin typeface="隶书" panose="02010509060101010101" pitchFamily="49" charset="-122"/>
                <a:ea typeface="隶书" panose="02010509060101010101" pitchFamily="49" charset="-122"/>
              </a:rPr>
              <a:t>分页式存储管理</a:t>
            </a:r>
            <a:endParaRPr lang="zh-CN" altLang="en-US" dirty="0">
              <a:solidFill>
                <a:srgbClr val="000099"/>
              </a:solidFill>
              <a:latin typeface="隶书" panose="02010509060101010101" pitchFamily="49" charset="-122"/>
              <a:ea typeface="隶书" panose="02010509060101010101" pitchFamily="49" charset="-122"/>
            </a:endParaRPr>
          </a:p>
          <a:p>
            <a:pPr marL="0" lvl="0" indent="0" eaLnBrk="1" hangingPunct="1">
              <a:lnSpc>
                <a:spcPct val="120000"/>
              </a:lnSpc>
              <a:buClrTx/>
              <a:buSzTx/>
              <a:buFontTx/>
              <a:buNone/>
            </a:pPr>
            <a:r>
              <a:rPr lang="en-US" altLang="zh-CN" dirty="0">
                <a:solidFill>
                  <a:srgbClr val="000099"/>
                </a:solidFill>
                <a:latin typeface="隶书" panose="02010509060101010101" pitchFamily="49" charset="-122"/>
                <a:ea typeface="隶书" panose="02010509060101010101" pitchFamily="49" charset="-122"/>
              </a:rPr>
              <a:t>5.7 </a:t>
            </a:r>
            <a:r>
              <a:rPr lang="zh-CN" altLang="en-US" dirty="0">
                <a:solidFill>
                  <a:srgbClr val="000099"/>
                </a:solidFill>
                <a:latin typeface="隶书" panose="02010509060101010101" pitchFamily="49" charset="-122"/>
                <a:ea typeface="隶书" panose="02010509060101010101" pitchFamily="49" charset="-122"/>
              </a:rPr>
              <a:t>分段式存储管理</a:t>
            </a:r>
            <a:endParaRPr lang="zh-CN" altLang="en-US" dirty="0">
              <a:solidFill>
                <a:srgbClr val="000099"/>
              </a:solidFill>
              <a:latin typeface="隶书" panose="02010509060101010101" pitchFamily="49" charset="-122"/>
              <a:ea typeface="隶书" panose="02010509060101010101" pitchFamily="49" charset="-122"/>
            </a:endParaRPr>
          </a:p>
          <a:p>
            <a:pPr marL="0" lvl="0" indent="0" eaLnBrk="1" hangingPunct="1">
              <a:lnSpc>
                <a:spcPct val="120000"/>
              </a:lnSpc>
              <a:buClrTx/>
              <a:buSzTx/>
              <a:buFontTx/>
              <a:buNone/>
            </a:pPr>
            <a:r>
              <a:rPr lang="en-US" altLang="zh-CN" dirty="0">
                <a:solidFill>
                  <a:srgbClr val="000099"/>
                </a:solidFill>
                <a:latin typeface="隶书" panose="02010509060101010101" pitchFamily="49" charset="-122"/>
                <a:ea typeface="隶书" panose="02010509060101010101" pitchFamily="49" charset="-122"/>
              </a:rPr>
              <a:t>5.8 </a:t>
            </a:r>
            <a:r>
              <a:rPr lang="zh-CN" altLang="en-US" dirty="0">
                <a:solidFill>
                  <a:srgbClr val="000099"/>
                </a:solidFill>
                <a:latin typeface="隶书" panose="02010509060101010101" pitchFamily="49" charset="-122"/>
                <a:ea typeface="隶书" panose="02010509060101010101" pitchFamily="49" charset="-122"/>
              </a:rPr>
              <a:t>段页式存储管理</a:t>
            </a:r>
            <a:endParaRPr lang="zh-CN" altLang="en-US" dirty="0">
              <a:solidFill>
                <a:srgbClr val="000099"/>
              </a:solidFill>
              <a:latin typeface="隶书" panose="02010509060101010101" pitchFamily="49" charset="-122"/>
              <a:ea typeface="隶书" panose="02010509060101010101" pitchFamily="49" charset="-122"/>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4434"/>
                                        </p:tgtEl>
                                        <p:attrNameLst>
                                          <p:attrName>style.visibility</p:attrName>
                                        </p:attrNameLst>
                                      </p:cBhvr>
                                      <p:to>
                                        <p:strVal val="visible"/>
                                      </p:to>
                                    </p:set>
                                    <p:anim calcmode="lin" valueType="num">
                                      <p:cBhvr additive="base">
                                        <p:cTn id="7" dur="500" fill="hold"/>
                                        <p:tgtEl>
                                          <p:spTgt spid="274434"/>
                                        </p:tgtEl>
                                        <p:attrNameLst>
                                          <p:attrName>ppt_x</p:attrName>
                                        </p:attrNameLst>
                                      </p:cBhvr>
                                      <p:tavLst>
                                        <p:tav tm="0">
                                          <p:val>
                                            <p:strVal val="0-#ppt_w/2"/>
                                          </p:val>
                                        </p:tav>
                                        <p:tav tm="100000">
                                          <p:val>
                                            <p:strVal val="#ppt_x"/>
                                          </p:val>
                                        </p:tav>
                                      </p:tavLst>
                                    </p:anim>
                                    <p:anim calcmode="lin" valueType="num">
                                      <p:cBhvr additive="base">
                                        <p:cTn id="8" dur="500" fill="hold"/>
                                        <p:tgtEl>
                                          <p:spTgt spid="2744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74435"/>
                                        </p:tgtEl>
                                        <p:attrNameLst>
                                          <p:attrName>style.visibility</p:attrName>
                                        </p:attrNameLst>
                                      </p:cBhvr>
                                      <p:to>
                                        <p:strVal val="visible"/>
                                      </p:to>
                                    </p:set>
                                    <p:anim calcmode="lin" valueType="num">
                                      <p:cBhvr additive="base">
                                        <p:cTn id="13" dur="500" fill="hold"/>
                                        <p:tgtEl>
                                          <p:spTgt spid="274435"/>
                                        </p:tgtEl>
                                        <p:attrNameLst>
                                          <p:attrName>ppt_x</p:attrName>
                                        </p:attrNameLst>
                                      </p:cBhvr>
                                      <p:tavLst>
                                        <p:tav tm="0">
                                          <p:val>
                                            <p:strVal val="0-#ppt_w/2"/>
                                          </p:val>
                                        </p:tav>
                                        <p:tav tm="100000">
                                          <p:val>
                                            <p:strVal val="#ppt_x"/>
                                          </p:val>
                                        </p:tav>
                                      </p:tavLst>
                                    </p:anim>
                                    <p:anim calcmode="lin" valueType="num">
                                      <p:cBhvr additive="base">
                                        <p:cTn id="14" dur="500" fill="hold"/>
                                        <p:tgtEl>
                                          <p:spTgt spid="2744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4" grpId="0"/>
      <p:bldP spid="27443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35208" name="Rectangle 1032"/>
          <p:cNvSpPr/>
          <p:nvPr/>
        </p:nvSpPr>
        <p:spPr>
          <a:xfrm>
            <a:off x="611188" y="692150"/>
            <a:ext cx="3840480" cy="583565"/>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dirty="0">
                <a:solidFill>
                  <a:srgbClr val="9900CC"/>
                </a:solidFill>
                <a:latin typeface="隶书" panose="02010509060101010101" pitchFamily="49" charset="-122"/>
                <a:ea typeface="隶书" panose="02010509060101010101" pitchFamily="49" charset="-122"/>
              </a:rPr>
              <a:t>5.1 </a:t>
            </a:r>
            <a:r>
              <a:rPr lang="zh-CN" altLang="en-US" dirty="0">
                <a:solidFill>
                  <a:srgbClr val="9900CC"/>
                </a:solidFill>
                <a:latin typeface="隶书" panose="02010509060101010101" pitchFamily="49" charset="-122"/>
                <a:ea typeface="隶书" panose="02010509060101010101" pitchFamily="49" charset="-122"/>
              </a:rPr>
              <a:t>存储管理的概念</a:t>
            </a:r>
            <a:endParaRPr lang="zh-CN" altLang="en-US" dirty="0">
              <a:solidFill>
                <a:srgbClr val="9900CC"/>
              </a:solidFill>
              <a:latin typeface="隶书" panose="02010509060101010101" pitchFamily="49" charset="-122"/>
              <a:ea typeface="隶书" panose="02010509060101010101" pitchFamily="49" charset="-122"/>
            </a:endParaRPr>
          </a:p>
        </p:txBody>
      </p:sp>
      <p:sp>
        <p:nvSpPr>
          <p:cNvPr id="435213" name="Rectangle 1037"/>
          <p:cNvSpPr/>
          <p:nvPr/>
        </p:nvSpPr>
        <p:spPr>
          <a:xfrm>
            <a:off x="611188" y="1484313"/>
            <a:ext cx="8280400" cy="822325"/>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6600"/>
                </a:solidFill>
                <a:ea typeface="楷体_GB2312" pitchFamily="49" charset="-122"/>
              </a:rPr>
              <a:t>存储管理的对象</a:t>
            </a:r>
            <a:r>
              <a:rPr lang="zh-CN" altLang="en-US" sz="2400" b="1" dirty="0">
                <a:solidFill>
                  <a:srgbClr val="000099"/>
                </a:solidFill>
                <a:ea typeface="楷体_GB2312" pitchFamily="49" charset="-122"/>
              </a:rPr>
              <a:t>：主存储器以及作为主存扩展和延伸的辅助存储器（外存储器）。</a:t>
            </a:r>
            <a:endParaRPr lang="zh-CN" altLang="en-US" sz="2400" b="1" dirty="0">
              <a:solidFill>
                <a:srgbClr val="000099"/>
              </a:solidFill>
              <a:ea typeface="楷体_GB2312" pitchFamily="49" charset="-122"/>
            </a:endParaRPr>
          </a:p>
        </p:txBody>
      </p:sp>
      <p:sp>
        <p:nvSpPr>
          <p:cNvPr id="435215" name="Rectangle 1039"/>
          <p:cNvSpPr/>
          <p:nvPr/>
        </p:nvSpPr>
        <p:spPr>
          <a:xfrm>
            <a:off x="611188" y="2565400"/>
            <a:ext cx="8208962"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spcBef>
                <a:spcPct val="0"/>
              </a:spcBef>
              <a:buClrTx/>
              <a:buSzTx/>
              <a:buFontTx/>
              <a:buNone/>
            </a:pPr>
            <a:r>
              <a:rPr lang="zh-CN" altLang="en-US" sz="2400" b="1" dirty="0">
                <a:solidFill>
                  <a:srgbClr val="006600"/>
                </a:solidFill>
                <a:ea typeface="楷体_GB2312" pitchFamily="49" charset="-122"/>
              </a:rPr>
              <a:t>存储管理的目标是：</a:t>
            </a:r>
            <a:r>
              <a:rPr lang="zh-CN" altLang="en-US" sz="2400" b="1" dirty="0">
                <a:solidFill>
                  <a:srgbClr val="000099"/>
                </a:solidFill>
                <a:ea typeface="楷体_GB2312" pitchFamily="49" charset="-122"/>
              </a:rPr>
              <a:t>为用户提供方便、安全和充分大的存储空间。</a:t>
            </a:r>
            <a:endParaRPr lang="zh-CN" altLang="en-US" sz="2400" b="1" dirty="0">
              <a:solidFill>
                <a:srgbClr val="000099"/>
              </a:solidFill>
              <a:ea typeface="楷体_GB2312" pitchFamily="49" charset="-122"/>
            </a:endParaRPr>
          </a:p>
        </p:txBody>
      </p:sp>
      <p:sp>
        <p:nvSpPr>
          <p:cNvPr id="435216" name="Rectangle 1040"/>
          <p:cNvSpPr/>
          <p:nvPr/>
        </p:nvSpPr>
        <p:spPr>
          <a:xfrm>
            <a:off x="684213" y="3573463"/>
            <a:ext cx="7920037" cy="2357437"/>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spcBef>
                <a:spcPct val="0"/>
              </a:spcBef>
              <a:buClrTx/>
              <a:buSzTx/>
              <a:buFontTx/>
              <a:buNone/>
            </a:pPr>
            <a:r>
              <a:rPr lang="zh-CN" altLang="en-US" sz="2800" b="1" dirty="0">
                <a:solidFill>
                  <a:srgbClr val="9900CC"/>
                </a:solidFill>
                <a:ea typeface="隶书" panose="02010509060101010101" pitchFamily="49" charset="-122"/>
              </a:rPr>
              <a:t>一</a:t>
            </a:r>
            <a:r>
              <a:rPr lang="zh-CN" altLang="en-US" sz="2800" b="1" dirty="0">
                <a:solidFill>
                  <a:srgbClr val="9900CC"/>
                </a:solidFill>
                <a:ea typeface="隶书" panose="02010509060101010101" pitchFamily="49" charset="-122"/>
              </a:rPr>
              <a:t>、</a:t>
            </a:r>
            <a:r>
              <a:rPr lang="zh-CN" altLang="en-US" sz="2800" b="1" dirty="0">
                <a:solidFill>
                  <a:srgbClr val="9900CC"/>
                </a:solidFill>
                <a:ea typeface="隶书" panose="02010509060101010101" pitchFamily="49" charset="-122"/>
              </a:rPr>
              <a:t>存储管理的功能</a:t>
            </a:r>
            <a:r>
              <a:rPr lang="zh-CN" altLang="en-US" sz="2400" b="1" dirty="0">
                <a:solidFill>
                  <a:srgbClr val="000099"/>
                </a:solidFill>
                <a:ea typeface="楷体_GB2312" pitchFamily="49" charset="-122"/>
              </a:rPr>
              <a:t>  </a:t>
            </a:r>
            <a:endParaRPr lang="zh-CN" altLang="en-US" sz="2400" b="1" dirty="0">
              <a:solidFill>
                <a:srgbClr val="000099"/>
              </a:solidFill>
              <a:ea typeface="楷体_GB2312" pitchFamily="49" charset="-122"/>
            </a:endParaRPr>
          </a:p>
          <a:p>
            <a:pPr marL="0" lvl="0" indent="0" eaLnBrk="1" hangingPunct="1">
              <a:lnSpc>
                <a:spcPct val="120000"/>
              </a:lnSpc>
              <a:spcBef>
                <a:spcPct val="0"/>
              </a:spcBef>
              <a:buClrTx/>
              <a:buSzTx/>
              <a:buFontTx/>
              <a:buNone/>
            </a:pPr>
            <a:r>
              <a:rPr lang="en-US" altLang="zh-CN" sz="2400" b="1" dirty="0">
                <a:solidFill>
                  <a:srgbClr val="000099"/>
                </a:solidFill>
                <a:ea typeface="楷体_GB2312" pitchFamily="49" charset="-122"/>
              </a:rPr>
              <a:t>1</a:t>
            </a:r>
            <a:r>
              <a:rPr lang="zh-CN" altLang="en-US" sz="2400" b="1" dirty="0">
                <a:solidFill>
                  <a:srgbClr val="000099"/>
                </a:solidFill>
                <a:ea typeface="楷体_GB2312" pitchFamily="49" charset="-122"/>
              </a:rPr>
              <a:t>、存储空间的分配与回收</a:t>
            </a:r>
            <a:endParaRPr lang="zh-CN" altLang="en-US" sz="2400" b="1" dirty="0">
              <a:solidFill>
                <a:srgbClr val="000099"/>
              </a:solidFill>
              <a:ea typeface="楷体_GB2312" pitchFamily="49" charset="-122"/>
            </a:endParaRPr>
          </a:p>
          <a:p>
            <a:pPr marL="0" lvl="0" indent="0" eaLnBrk="1" hangingPunct="1">
              <a:lnSpc>
                <a:spcPct val="120000"/>
              </a:lnSpc>
              <a:spcBef>
                <a:spcPct val="0"/>
              </a:spcBef>
              <a:buClrTx/>
              <a:buSzTx/>
              <a:buFontTx/>
              <a:buNone/>
            </a:pPr>
            <a:r>
              <a:rPr lang="en-US" altLang="zh-CN" sz="2400" b="1" dirty="0">
                <a:solidFill>
                  <a:srgbClr val="000099"/>
                </a:solidFill>
                <a:ea typeface="楷体_GB2312" pitchFamily="49" charset="-122"/>
              </a:rPr>
              <a:t>2</a:t>
            </a:r>
            <a:r>
              <a:rPr lang="zh-CN" altLang="en-US" sz="2400" b="1" dirty="0">
                <a:solidFill>
                  <a:srgbClr val="000099"/>
                </a:solidFill>
                <a:ea typeface="楷体_GB2312" pitchFamily="49" charset="-122"/>
              </a:rPr>
              <a:t>、地址重定位</a:t>
            </a:r>
            <a:endParaRPr lang="zh-CN" altLang="en-US" sz="2400" b="1" dirty="0">
              <a:solidFill>
                <a:srgbClr val="000099"/>
              </a:solidFill>
              <a:ea typeface="楷体_GB2312" pitchFamily="49" charset="-122"/>
            </a:endParaRPr>
          </a:p>
          <a:p>
            <a:pPr marL="0" lvl="0" indent="0" eaLnBrk="1" hangingPunct="1">
              <a:lnSpc>
                <a:spcPct val="120000"/>
              </a:lnSpc>
              <a:spcBef>
                <a:spcPct val="0"/>
              </a:spcBef>
              <a:buClrTx/>
              <a:buSzTx/>
              <a:buFontTx/>
              <a:buNone/>
            </a:pPr>
            <a:r>
              <a:rPr lang="en-US" altLang="zh-CN" sz="2400" b="1" dirty="0">
                <a:solidFill>
                  <a:srgbClr val="000099"/>
                </a:solidFill>
                <a:ea typeface="楷体_GB2312" pitchFamily="49" charset="-122"/>
              </a:rPr>
              <a:t>3</a:t>
            </a:r>
            <a:r>
              <a:rPr lang="zh-CN" altLang="en-US" sz="2400" b="1" dirty="0">
                <a:solidFill>
                  <a:srgbClr val="000099"/>
                </a:solidFill>
                <a:ea typeface="楷体_GB2312" pitchFamily="49" charset="-122"/>
              </a:rPr>
              <a:t>、主存的共享与保护</a:t>
            </a:r>
            <a:endParaRPr lang="zh-CN" altLang="en-US" sz="2400" b="1" dirty="0">
              <a:solidFill>
                <a:srgbClr val="000099"/>
              </a:solidFill>
              <a:ea typeface="楷体_GB2312" pitchFamily="49" charset="-122"/>
            </a:endParaRPr>
          </a:p>
          <a:p>
            <a:pPr marL="0" lvl="0" indent="0" eaLnBrk="1" hangingPunct="1">
              <a:lnSpc>
                <a:spcPct val="120000"/>
              </a:lnSpc>
              <a:spcBef>
                <a:spcPct val="0"/>
              </a:spcBef>
              <a:buClrTx/>
              <a:buSzTx/>
              <a:buFontTx/>
              <a:buNone/>
            </a:pPr>
            <a:r>
              <a:rPr lang="en-US" altLang="zh-CN" sz="2400" b="1" dirty="0">
                <a:solidFill>
                  <a:srgbClr val="000099"/>
                </a:solidFill>
                <a:ea typeface="楷体_GB2312" pitchFamily="49" charset="-122"/>
              </a:rPr>
              <a:t>4</a:t>
            </a:r>
            <a:r>
              <a:rPr lang="zh-CN" altLang="en-US" sz="2400" b="1" dirty="0">
                <a:solidFill>
                  <a:srgbClr val="000099"/>
                </a:solidFill>
                <a:ea typeface="楷体_GB2312" pitchFamily="49" charset="-122"/>
              </a:rPr>
              <a:t>、主存的扩充</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35208"/>
                                        </p:tgtEl>
                                        <p:attrNameLst>
                                          <p:attrName>style.visibility</p:attrName>
                                        </p:attrNameLst>
                                      </p:cBhvr>
                                      <p:to>
                                        <p:strVal val="visible"/>
                                      </p:to>
                                    </p:set>
                                    <p:anim calcmode="lin" valueType="num">
                                      <p:cBhvr additive="base">
                                        <p:cTn id="7" dur="500" fill="hold"/>
                                        <p:tgtEl>
                                          <p:spTgt spid="435208"/>
                                        </p:tgtEl>
                                        <p:attrNameLst>
                                          <p:attrName>ppt_x</p:attrName>
                                        </p:attrNameLst>
                                      </p:cBhvr>
                                      <p:tavLst>
                                        <p:tav tm="0">
                                          <p:val>
                                            <p:strVal val="0-#ppt_w/2"/>
                                          </p:val>
                                        </p:tav>
                                        <p:tav tm="100000">
                                          <p:val>
                                            <p:strVal val="#ppt_x"/>
                                          </p:val>
                                        </p:tav>
                                      </p:tavLst>
                                    </p:anim>
                                    <p:anim calcmode="lin" valueType="num">
                                      <p:cBhvr additive="base">
                                        <p:cTn id="8" dur="500" fill="hold"/>
                                        <p:tgtEl>
                                          <p:spTgt spid="43520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35213"/>
                                        </p:tgtEl>
                                        <p:attrNameLst>
                                          <p:attrName>style.visibility</p:attrName>
                                        </p:attrNameLst>
                                      </p:cBhvr>
                                      <p:to>
                                        <p:strVal val="visible"/>
                                      </p:to>
                                    </p:set>
                                    <p:animEffect transition="in" filter="blinds(horizontal)">
                                      <p:cBhvr>
                                        <p:cTn id="13" dur="500"/>
                                        <p:tgtEl>
                                          <p:spTgt spid="435213"/>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435215"/>
                                        </p:tgtEl>
                                        <p:attrNameLst>
                                          <p:attrName>style.visibility</p:attrName>
                                        </p:attrNameLst>
                                      </p:cBhvr>
                                      <p:to>
                                        <p:strVal val="visible"/>
                                      </p:to>
                                    </p:set>
                                    <p:animEffect transition="in" filter="diamond(in)">
                                      <p:cBhvr>
                                        <p:cTn id="18" dur="2000"/>
                                        <p:tgtEl>
                                          <p:spTgt spid="43521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35216"/>
                                        </p:tgtEl>
                                        <p:attrNameLst>
                                          <p:attrName>style.visibility</p:attrName>
                                        </p:attrNameLst>
                                      </p:cBhvr>
                                      <p:to>
                                        <p:strVal val="visible"/>
                                      </p:to>
                                    </p:set>
                                    <p:anim calcmode="lin" valueType="num">
                                      <p:cBhvr additive="base">
                                        <p:cTn id="23" dur="500" fill="hold"/>
                                        <p:tgtEl>
                                          <p:spTgt spid="435216"/>
                                        </p:tgtEl>
                                        <p:attrNameLst>
                                          <p:attrName>ppt_x</p:attrName>
                                        </p:attrNameLst>
                                      </p:cBhvr>
                                      <p:tavLst>
                                        <p:tav tm="0">
                                          <p:val>
                                            <p:strVal val="0-#ppt_w/2"/>
                                          </p:val>
                                        </p:tav>
                                        <p:tav tm="100000">
                                          <p:val>
                                            <p:strVal val="#ppt_x"/>
                                          </p:val>
                                        </p:tav>
                                      </p:tavLst>
                                    </p:anim>
                                    <p:anim calcmode="lin" valueType="num">
                                      <p:cBhvr additive="base">
                                        <p:cTn id="24" dur="500" fill="hold"/>
                                        <p:tgtEl>
                                          <p:spTgt spid="4352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8" grpId="0"/>
      <p:bldP spid="435213" grpId="0"/>
      <p:bldP spid="435215" grpId="0"/>
      <p:bldP spid="4352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84034" name="Text Box 2"/>
          <p:cNvSpPr txBox="1"/>
          <p:nvPr/>
        </p:nvSpPr>
        <p:spPr>
          <a:xfrm>
            <a:off x="611188" y="836613"/>
            <a:ext cx="5029200" cy="519112"/>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dirty="0">
                <a:solidFill>
                  <a:srgbClr val="9900CC"/>
                </a:solidFill>
                <a:ea typeface="隶书" panose="02010509060101010101" pitchFamily="49" charset="-122"/>
              </a:rPr>
              <a:t>（一）主存的分配与回收</a:t>
            </a:r>
            <a:endParaRPr lang="zh-CN" altLang="en-US" sz="2800" dirty="0">
              <a:solidFill>
                <a:srgbClr val="9900CC"/>
              </a:solidFill>
              <a:ea typeface="隶书" panose="02010509060101010101" pitchFamily="49" charset="-122"/>
            </a:endParaRPr>
          </a:p>
        </p:txBody>
      </p:sp>
      <p:sp>
        <p:nvSpPr>
          <p:cNvPr id="684035" name="Rectangle 3"/>
          <p:cNvSpPr/>
          <p:nvPr/>
        </p:nvSpPr>
        <p:spPr>
          <a:xfrm>
            <a:off x="684213" y="1412875"/>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要完成内存的分配和回收工作，做到合理有效地利用内存，要求设计者选择和确定以下几种策略。</a:t>
            </a:r>
            <a:endParaRPr lang="zh-CN" altLang="en-US" sz="2400" b="1" dirty="0">
              <a:solidFill>
                <a:srgbClr val="000099"/>
              </a:solidFill>
              <a:ea typeface="楷体_GB2312" pitchFamily="49" charset="-122"/>
            </a:endParaRPr>
          </a:p>
        </p:txBody>
      </p:sp>
      <p:sp>
        <p:nvSpPr>
          <p:cNvPr id="684036" name="Rectangle 4"/>
          <p:cNvSpPr/>
          <p:nvPr/>
        </p:nvSpPr>
        <p:spPr>
          <a:xfrm>
            <a:off x="687388" y="2492375"/>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6600"/>
                </a:solidFill>
                <a:ea typeface="楷体_GB2312" pitchFamily="49" charset="-122"/>
              </a:rPr>
              <a:t>1</a:t>
            </a:r>
            <a:r>
              <a:rPr lang="zh-CN" altLang="en-US" sz="2400" b="1" dirty="0">
                <a:solidFill>
                  <a:srgbClr val="006600"/>
                </a:solidFill>
                <a:ea typeface="楷体_GB2312" pitchFamily="49" charset="-122"/>
              </a:rPr>
              <a:t>、放置策略</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用户程序要调入内存时，确定将其放置在何处的策赂。也就是</a:t>
            </a:r>
            <a:r>
              <a:rPr lang="zh-CN" altLang="en-US" sz="2400" b="1" dirty="0">
                <a:solidFill>
                  <a:srgbClr val="990033"/>
                </a:solidFill>
                <a:ea typeface="楷体_GB2312" pitchFamily="49" charset="-122"/>
              </a:rPr>
              <a:t>选择空闲区</a:t>
            </a:r>
            <a:r>
              <a:rPr lang="zh-CN" altLang="en-US" sz="2400" b="1" dirty="0">
                <a:solidFill>
                  <a:srgbClr val="000099"/>
                </a:solidFill>
                <a:ea typeface="楷体_GB2312" pitchFamily="49" charset="-122"/>
              </a:rPr>
              <a:t>的原则。</a:t>
            </a:r>
            <a:endParaRPr lang="zh-CN" altLang="en-US" sz="2400" b="1" dirty="0">
              <a:solidFill>
                <a:srgbClr val="000099"/>
              </a:solidFill>
              <a:ea typeface="楷体_GB2312" pitchFamily="49" charset="-122"/>
            </a:endParaRPr>
          </a:p>
        </p:txBody>
      </p:sp>
      <p:sp>
        <p:nvSpPr>
          <p:cNvPr id="684037" name="Rectangle 5"/>
          <p:cNvSpPr/>
          <p:nvPr/>
        </p:nvSpPr>
        <p:spPr>
          <a:xfrm>
            <a:off x="684213" y="3500438"/>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6600"/>
                </a:solidFill>
                <a:ea typeface="楷体_GB2312" pitchFamily="49" charset="-122"/>
              </a:rPr>
              <a:t>2</a:t>
            </a:r>
            <a:r>
              <a:rPr lang="zh-CN" altLang="en-US" sz="2400" b="1" dirty="0">
                <a:solidFill>
                  <a:srgbClr val="006600"/>
                </a:solidFill>
                <a:ea typeface="楷体_GB2312" pitchFamily="49" charset="-122"/>
              </a:rPr>
              <a:t>、调入策略</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用户程序在何时调入内存的策略。目前常用的有</a:t>
            </a:r>
            <a:r>
              <a:rPr lang="zh-CN" altLang="en-US" sz="2400" b="1" dirty="0">
                <a:solidFill>
                  <a:srgbClr val="990033"/>
                </a:solidFill>
                <a:ea typeface="楷体_GB2312" pitchFamily="49" charset="-122"/>
              </a:rPr>
              <a:t>请求调入和预调入</a:t>
            </a:r>
            <a:r>
              <a:rPr lang="zh-CN" altLang="en-US" sz="2400" b="1" dirty="0">
                <a:solidFill>
                  <a:srgbClr val="000099"/>
                </a:solidFill>
                <a:ea typeface="楷体_GB2312" pitchFamily="49" charset="-122"/>
              </a:rPr>
              <a:t>两种。</a:t>
            </a:r>
            <a:endParaRPr lang="zh-CN" altLang="en-US" sz="2400" b="1" dirty="0">
              <a:solidFill>
                <a:srgbClr val="000099"/>
              </a:solidFill>
              <a:ea typeface="楷体_GB2312" pitchFamily="49" charset="-122"/>
            </a:endParaRPr>
          </a:p>
        </p:txBody>
      </p:sp>
      <p:sp>
        <p:nvSpPr>
          <p:cNvPr id="684038" name="Rectangle 6"/>
          <p:cNvSpPr/>
          <p:nvPr/>
        </p:nvSpPr>
        <p:spPr>
          <a:xfrm>
            <a:off x="692150" y="4589463"/>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6600"/>
                </a:solidFill>
                <a:ea typeface="楷体_GB2312" pitchFamily="49" charset="-122"/>
              </a:rPr>
              <a:t>3</a:t>
            </a:r>
            <a:r>
              <a:rPr lang="zh-CN" altLang="en-US" sz="2400" b="1" dirty="0">
                <a:solidFill>
                  <a:srgbClr val="006600"/>
                </a:solidFill>
                <a:ea typeface="楷体_GB2312" pitchFamily="49" charset="-122"/>
              </a:rPr>
              <a:t>、淘汰策略</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当要将某个用户程序调入内存而又无空闲内存空间时，既要确定哪些用户程序可以从内存中移走。</a:t>
            </a:r>
            <a:endParaRPr lang="zh-CN" altLang="en-US" sz="2400" b="1" dirty="0">
              <a:solidFill>
                <a:srgbClr val="000099"/>
              </a:solidFill>
              <a:ea typeface="楷体_GB2312" pitchFamily="49" charset="-122"/>
            </a:endParaRPr>
          </a:p>
        </p:txBody>
      </p:sp>
      <p:sp>
        <p:nvSpPr>
          <p:cNvPr id="684039" name="Rectangle 7"/>
          <p:cNvSpPr/>
          <p:nvPr/>
        </p:nvSpPr>
        <p:spPr>
          <a:xfrm>
            <a:off x="773113" y="5665788"/>
            <a:ext cx="82296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FF0000"/>
                </a:solidFill>
                <a:ea typeface="楷体_GB2312" pitchFamily="49" charset="-122"/>
              </a:rPr>
              <a:t>分配结构</a:t>
            </a:r>
            <a:r>
              <a:rPr lang="en-US" altLang="zh-CN" sz="2400" b="1" dirty="0">
                <a:solidFill>
                  <a:srgbClr val="003399"/>
                </a:solidFill>
                <a:ea typeface="楷体_GB2312" pitchFamily="49" charset="-122"/>
              </a:rPr>
              <a:t>——</a:t>
            </a:r>
            <a:r>
              <a:rPr lang="zh-CN" altLang="en-US" sz="2400" b="1" dirty="0">
                <a:solidFill>
                  <a:srgbClr val="003399"/>
                </a:solidFill>
                <a:ea typeface="楷体_GB2312" pitchFamily="49" charset="-122"/>
              </a:rPr>
              <a:t>记录内存的分配情况</a:t>
            </a:r>
            <a:endParaRPr lang="zh-CN" altLang="en-US" sz="2400" b="1" dirty="0">
              <a:solidFill>
                <a:srgbClr val="0033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84034"/>
                                        </p:tgtEl>
                                        <p:attrNameLst>
                                          <p:attrName>style.visibility</p:attrName>
                                        </p:attrNameLst>
                                      </p:cBhvr>
                                      <p:to>
                                        <p:strVal val="visible"/>
                                      </p:to>
                                    </p:set>
                                    <p:anim calcmode="lin" valueType="num">
                                      <p:cBhvr additive="base">
                                        <p:cTn id="7" dur="500" fill="hold"/>
                                        <p:tgtEl>
                                          <p:spTgt spid="684034"/>
                                        </p:tgtEl>
                                        <p:attrNameLst>
                                          <p:attrName>ppt_x</p:attrName>
                                        </p:attrNameLst>
                                      </p:cBhvr>
                                      <p:tavLst>
                                        <p:tav tm="0">
                                          <p:val>
                                            <p:strVal val="0-#ppt_w/2"/>
                                          </p:val>
                                        </p:tav>
                                        <p:tav tm="100000">
                                          <p:val>
                                            <p:strVal val="#ppt_x"/>
                                          </p:val>
                                        </p:tav>
                                      </p:tavLst>
                                    </p:anim>
                                    <p:anim calcmode="lin" valueType="num">
                                      <p:cBhvr additive="base">
                                        <p:cTn id="8" dur="500" fill="hold"/>
                                        <p:tgtEl>
                                          <p:spTgt spid="6840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84035"/>
                                        </p:tgtEl>
                                        <p:attrNameLst>
                                          <p:attrName>style.visibility</p:attrName>
                                        </p:attrNameLst>
                                      </p:cBhvr>
                                      <p:to>
                                        <p:strVal val="visible"/>
                                      </p:to>
                                    </p:set>
                                    <p:anim calcmode="lin" valueType="num">
                                      <p:cBhvr additive="base">
                                        <p:cTn id="13" dur="500" fill="hold"/>
                                        <p:tgtEl>
                                          <p:spTgt spid="684035"/>
                                        </p:tgtEl>
                                        <p:attrNameLst>
                                          <p:attrName>ppt_x</p:attrName>
                                        </p:attrNameLst>
                                      </p:cBhvr>
                                      <p:tavLst>
                                        <p:tav tm="0">
                                          <p:val>
                                            <p:strVal val="0-#ppt_w/2"/>
                                          </p:val>
                                        </p:tav>
                                        <p:tav tm="100000">
                                          <p:val>
                                            <p:strVal val="#ppt_x"/>
                                          </p:val>
                                        </p:tav>
                                      </p:tavLst>
                                    </p:anim>
                                    <p:anim calcmode="lin" valueType="num">
                                      <p:cBhvr additive="base">
                                        <p:cTn id="14" dur="500" fill="hold"/>
                                        <p:tgtEl>
                                          <p:spTgt spid="68403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84036"/>
                                        </p:tgtEl>
                                        <p:attrNameLst>
                                          <p:attrName>style.visibility</p:attrName>
                                        </p:attrNameLst>
                                      </p:cBhvr>
                                      <p:to>
                                        <p:strVal val="visible"/>
                                      </p:to>
                                    </p:set>
                                    <p:anim calcmode="lin" valueType="num">
                                      <p:cBhvr additive="base">
                                        <p:cTn id="19" dur="500" fill="hold"/>
                                        <p:tgtEl>
                                          <p:spTgt spid="684036"/>
                                        </p:tgtEl>
                                        <p:attrNameLst>
                                          <p:attrName>ppt_x</p:attrName>
                                        </p:attrNameLst>
                                      </p:cBhvr>
                                      <p:tavLst>
                                        <p:tav tm="0">
                                          <p:val>
                                            <p:strVal val="0-#ppt_w/2"/>
                                          </p:val>
                                        </p:tav>
                                        <p:tav tm="100000">
                                          <p:val>
                                            <p:strVal val="#ppt_x"/>
                                          </p:val>
                                        </p:tav>
                                      </p:tavLst>
                                    </p:anim>
                                    <p:anim calcmode="lin" valueType="num">
                                      <p:cBhvr additive="base">
                                        <p:cTn id="20" dur="500" fill="hold"/>
                                        <p:tgtEl>
                                          <p:spTgt spid="68403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84037"/>
                                        </p:tgtEl>
                                        <p:attrNameLst>
                                          <p:attrName>style.visibility</p:attrName>
                                        </p:attrNameLst>
                                      </p:cBhvr>
                                      <p:to>
                                        <p:strVal val="visible"/>
                                      </p:to>
                                    </p:set>
                                    <p:anim calcmode="lin" valueType="num">
                                      <p:cBhvr additive="base">
                                        <p:cTn id="25" dur="500" fill="hold"/>
                                        <p:tgtEl>
                                          <p:spTgt spid="684037"/>
                                        </p:tgtEl>
                                        <p:attrNameLst>
                                          <p:attrName>ppt_x</p:attrName>
                                        </p:attrNameLst>
                                      </p:cBhvr>
                                      <p:tavLst>
                                        <p:tav tm="0">
                                          <p:val>
                                            <p:strVal val="0-#ppt_w/2"/>
                                          </p:val>
                                        </p:tav>
                                        <p:tav tm="100000">
                                          <p:val>
                                            <p:strVal val="#ppt_x"/>
                                          </p:val>
                                        </p:tav>
                                      </p:tavLst>
                                    </p:anim>
                                    <p:anim calcmode="lin" valueType="num">
                                      <p:cBhvr additive="base">
                                        <p:cTn id="26" dur="500" fill="hold"/>
                                        <p:tgtEl>
                                          <p:spTgt spid="68403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84038"/>
                                        </p:tgtEl>
                                        <p:attrNameLst>
                                          <p:attrName>style.visibility</p:attrName>
                                        </p:attrNameLst>
                                      </p:cBhvr>
                                      <p:to>
                                        <p:strVal val="visible"/>
                                      </p:to>
                                    </p:set>
                                    <p:anim calcmode="lin" valueType="num">
                                      <p:cBhvr additive="base">
                                        <p:cTn id="31" dur="500" fill="hold"/>
                                        <p:tgtEl>
                                          <p:spTgt spid="684038"/>
                                        </p:tgtEl>
                                        <p:attrNameLst>
                                          <p:attrName>ppt_x</p:attrName>
                                        </p:attrNameLst>
                                      </p:cBhvr>
                                      <p:tavLst>
                                        <p:tav tm="0">
                                          <p:val>
                                            <p:strVal val="0-#ppt_w/2"/>
                                          </p:val>
                                        </p:tav>
                                        <p:tav tm="100000">
                                          <p:val>
                                            <p:strVal val="#ppt_x"/>
                                          </p:val>
                                        </p:tav>
                                      </p:tavLst>
                                    </p:anim>
                                    <p:anim calcmode="lin" valueType="num">
                                      <p:cBhvr additive="base">
                                        <p:cTn id="32" dur="500" fill="hold"/>
                                        <p:tgtEl>
                                          <p:spTgt spid="68403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84039"/>
                                        </p:tgtEl>
                                        <p:attrNameLst>
                                          <p:attrName>style.visibility</p:attrName>
                                        </p:attrNameLst>
                                      </p:cBhvr>
                                      <p:to>
                                        <p:strVal val="visible"/>
                                      </p:to>
                                    </p:set>
                                    <p:anim calcmode="lin" valueType="num">
                                      <p:cBhvr additive="base">
                                        <p:cTn id="37" dur="500" fill="hold"/>
                                        <p:tgtEl>
                                          <p:spTgt spid="684039"/>
                                        </p:tgtEl>
                                        <p:attrNameLst>
                                          <p:attrName>ppt_x</p:attrName>
                                        </p:attrNameLst>
                                      </p:cBhvr>
                                      <p:tavLst>
                                        <p:tav tm="0">
                                          <p:val>
                                            <p:strVal val="0-#ppt_w/2"/>
                                          </p:val>
                                        </p:tav>
                                        <p:tav tm="100000">
                                          <p:val>
                                            <p:strVal val="#ppt_x"/>
                                          </p:val>
                                        </p:tav>
                                      </p:tavLst>
                                    </p:anim>
                                    <p:anim calcmode="lin" valueType="num">
                                      <p:cBhvr additive="base">
                                        <p:cTn id="38" dur="500" fill="hold"/>
                                        <p:tgtEl>
                                          <p:spTgt spid="6840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034" grpId="0"/>
      <p:bldP spid="684035" grpId="0"/>
      <p:bldP spid="684036" grpId="0"/>
      <p:bldP spid="684037" grpId="0"/>
      <p:bldP spid="684038" grpId="0"/>
      <p:bldP spid="68403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73442" name="Rectangle 2"/>
          <p:cNvSpPr/>
          <p:nvPr/>
        </p:nvSpPr>
        <p:spPr>
          <a:xfrm>
            <a:off x="838200" y="1052513"/>
            <a:ext cx="8126413" cy="1919287"/>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spcBef>
                <a:spcPct val="0"/>
              </a:spcBef>
              <a:buClrTx/>
              <a:buSzTx/>
              <a:buFontTx/>
              <a:buNone/>
            </a:pPr>
            <a:r>
              <a:rPr lang="zh-CN" altLang="en-US" sz="2800" b="1" dirty="0">
                <a:solidFill>
                  <a:srgbClr val="9900CC"/>
                </a:solidFill>
                <a:latin typeface="隶书" panose="02010509060101010101" pitchFamily="49" charset="-122"/>
                <a:ea typeface="隶书" panose="02010509060101010101" pitchFamily="49" charset="-122"/>
              </a:rPr>
              <a:t>（二）地址</a:t>
            </a:r>
            <a:r>
              <a:rPr lang="zh-CN" altLang="en-US" sz="2800" b="1" dirty="0">
                <a:solidFill>
                  <a:srgbClr val="9900CC"/>
                </a:solidFill>
                <a:latin typeface="隶书" panose="02010509060101010101" pitchFamily="49" charset="-122"/>
                <a:ea typeface="隶书" panose="02010509060101010101" pitchFamily="49" charset="-122"/>
              </a:rPr>
              <a:t>重定位</a:t>
            </a:r>
            <a:endParaRPr lang="zh-CN" altLang="en-US" sz="2800" b="1" dirty="0">
              <a:solidFill>
                <a:srgbClr val="9900CC"/>
              </a:solidFill>
              <a:latin typeface="隶书" panose="02010509060101010101" pitchFamily="49" charset="-122"/>
              <a:ea typeface="隶书" panose="02010509060101010101" pitchFamily="49" charset="-122"/>
            </a:endParaRPr>
          </a:p>
          <a:p>
            <a:pPr marL="0" lvl="0" indent="0" eaLnBrk="1" hangingPunct="1">
              <a:lnSpc>
                <a:spcPct val="120000"/>
              </a:lnSpc>
              <a:spcBef>
                <a:spcPct val="0"/>
              </a:spcBef>
              <a:buClrTx/>
              <a:buSzTx/>
              <a:buFontTx/>
              <a:buNone/>
            </a:pPr>
            <a:r>
              <a:rPr lang="zh-CN" altLang="en-US" sz="2400" b="1" dirty="0">
                <a:solidFill>
                  <a:srgbClr val="000099"/>
                </a:solidFill>
                <a:ea typeface="楷体_GB2312" pitchFamily="49" charset="-122"/>
              </a:rPr>
              <a:t>        为了保证作业的正确执行，必须根据分配给用户作业的主存区域对作业中的指令和数据的存放地址进行地址重定位</a:t>
            </a:r>
            <a:r>
              <a:rPr lang="zh-CN" altLang="en-US" sz="2400" b="1" dirty="0">
                <a:ea typeface="楷体_GB2312" pitchFamily="49" charset="-122"/>
              </a:rPr>
              <a:t> </a:t>
            </a:r>
            <a:r>
              <a:rPr lang="zh-CN" altLang="en-US" sz="2400" b="1" dirty="0">
                <a:solidFill>
                  <a:srgbClr val="000099"/>
                </a:solidFill>
                <a:ea typeface="楷体_GB2312" pitchFamily="49" charset="-122"/>
              </a:rPr>
              <a:t>。</a:t>
            </a:r>
            <a:endParaRPr lang="zh-CN" altLang="en-US" sz="2400" b="1" dirty="0">
              <a:solidFill>
                <a:srgbClr val="000099"/>
              </a:solidFill>
              <a:ea typeface="楷体_GB2312" pitchFamily="49" charset="-122"/>
            </a:endParaRPr>
          </a:p>
        </p:txBody>
      </p:sp>
      <p:sp>
        <p:nvSpPr>
          <p:cNvPr id="573443" name="Rectangle 3"/>
          <p:cNvSpPr/>
          <p:nvPr/>
        </p:nvSpPr>
        <p:spPr>
          <a:xfrm>
            <a:off x="852488" y="3068638"/>
            <a:ext cx="8066087" cy="14795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lnSpc>
                <a:spcPct val="120000"/>
              </a:lnSpc>
              <a:buClrTx/>
              <a:buSzTx/>
              <a:buFontTx/>
              <a:buNone/>
            </a:pPr>
            <a:r>
              <a:rPr lang="en-US" altLang="zh-CN" sz="2400" b="1" dirty="0">
                <a:solidFill>
                  <a:srgbClr val="990033"/>
                </a:solidFill>
                <a:ea typeface="楷体_GB2312" pitchFamily="49" charset="-122"/>
              </a:rPr>
              <a:t>1</a:t>
            </a:r>
            <a:r>
              <a:rPr lang="zh-CN" altLang="en-US" sz="2400" b="1" dirty="0">
                <a:solidFill>
                  <a:srgbClr val="990033"/>
                </a:solidFill>
                <a:ea typeface="楷体_GB2312" pitchFamily="49" charset="-122"/>
              </a:rPr>
              <a:t>、地址重定位：</a:t>
            </a:r>
            <a:r>
              <a:rPr lang="zh-CN" altLang="en-US" sz="2400" b="1" dirty="0">
                <a:solidFill>
                  <a:srgbClr val="000099"/>
                </a:solidFill>
                <a:ea typeface="楷体_GB2312" pitchFamily="49" charset="-122"/>
              </a:rPr>
              <a:t>将程序使用的逻辑地址转换为主存空间的物理地址的工作。                              </a:t>
            </a:r>
            <a:endParaRPr lang="zh-CN" altLang="en-US" sz="2400" b="1" dirty="0">
              <a:solidFill>
                <a:srgbClr val="000099"/>
              </a:solidFill>
              <a:ea typeface="楷体_GB2312" pitchFamily="49" charset="-122"/>
            </a:endParaRPr>
          </a:p>
          <a:p>
            <a:pPr marL="0" lvl="0" indent="0" algn="just" eaLnBrk="1" hangingPunct="1">
              <a:lnSpc>
                <a:spcPct val="120000"/>
              </a:lnSpc>
              <a:buClrTx/>
              <a:buSzTx/>
              <a:buFontTx/>
              <a:buNone/>
            </a:pPr>
            <a:r>
              <a:rPr lang="zh-CN" altLang="en-US" sz="2400" b="1" dirty="0">
                <a:solidFill>
                  <a:srgbClr val="000099"/>
                </a:solidFill>
                <a:ea typeface="楷体_GB2312" pitchFamily="49" charset="-122"/>
              </a:rPr>
              <a:t>                                                     </a:t>
            </a:r>
            <a:r>
              <a:rPr lang="zh-CN" altLang="en-US" sz="2400" b="1" dirty="0">
                <a:solidFill>
                  <a:srgbClr val="990033"/>
                </a:solidFill>
                <a:ea typeface="楷体_GB2312" pitchFamily="49" charset="-122"/>
              </a:rPr>
              <a:t>（</a:t>
            </a:r>
            <a:r>
              <a:rPr lang="zh-CN" altLang="en-US" sz="2400" b="1" dirty="0">
                <a:solidFill>
                  <a:srgbClr val="990033"/>
                </a:solidFill>
                <a:ea typeface="楷体_GB2312" pitchFamily="49" charset="-122"/>
              </a:rPr>
              <a:t>地址转换、</a:t>
            </a:r>
            <a:r>
              <a:rPr lang="zh-CN" altLang="en-US" sz="2400" b="1" dirty="0">
                <a:solidFill>
                  <a:srgbClr val="990033"/>
                </a:solidFill>
                <a:ea typeface="楷体_GB2312" pitchFamily="49" charset="-122"/>
              </a:rPr>
              <a:t>地址映射</a:t>
            </a:r>
            <a:r>
              <a:rPr lang="zh-CN" altLang="en-US" sz="2400" b="1" dirty="0">
                <a:solidFill>
                  <a:srgbClr val="990033"/>
                </a:solidFill>
                <a:ea typeface="楷体_GB2312" pitchFamily="49" charset="-122"/>
              </a:rPr>
              <a:t>）</a:t>
            </a:r>
            <a:endParaRPr lang="zh-CN" altLang="en-US" sz="2400" b="1" dirty="0">
              <a:solidFill>
                <a:srgbClr val="990033"/>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73442"/>
                                        </p:tgtEl>
                                        <p:attrNameLst>
                                          <p:attrName>style.visibility</p:attrName>
                                        </p:attrNameLst>
                                      </p:cBhvr>
                                      <p:to>
                                        <p:strVal val="visible"/>
                                      </p:to>
                                    </p:set>
                                    <p:anim calcmode="lin" valueType="num">
                                      <p:cBhvr additive="base">
                                        <p:cTn id="7" dur="500" fill="hold"/>
                                        <p:tgtEl>
                                          <p:spTgt spid="573442"/>
                                        </p:tgtEl>
                                        <p:attrNameLst>
                                          <p:attrName>ppt_x</p:attrName>
                                        </p:attrNameLst>
                                      </p:cBhvr>
                                      <p:tavLst>
                                        <p:tav tm="0">
                                          <p:val>
                                            <p:strVal val="0-#ppt_w/2"/>
                                          </p:val>
                                        </p:tav>
                                        <p:tav tm="100000">
                                          <p:val>
                                            <p:strVal val="#ppt_x"/>
                                          </p:val>
                                        </p:tav>
                                      </p:tavLst>
                                    </p:anim>
                                    <p:anim calcmode="lin" valueType="num">
                                      <p:cBhvr additive="base">
                                        <p:cTn id="8" dur="500" fill="hold"/>
                                        <p:tgtEl>
                                          <p:spTgt spid="5734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73443"/>
                                        </p:tgtEl>
                                        <p:attrNameLst>
                                          <p:attrName>style.visibility</p:attrName>
                                        </p:attrNameLst>
                                      </p:cBhvr>
                                      <p:to>
                                        <p:strVal val="visible"/>
                                      </p:to>
                                    </p:set>
                                    <p:anim calcmode="lin" valueType="num">
                                      <p:cBhvr additive="base">
                                        <p:cTn id="13" dur="500" fill="hold"/>
                                        <p:tgtEl>
                                          <p:spTgt spid="573443"/>
                                        </p:tgtEl>
                                        <p:attrNameLst>
                                          <p:attrName>ppt_x</p:attrName>
                                        </p:attrNameLst>
                                      </p:cBhvr>
                                      <p:tavLst>
                                        <p:tav tm="0">
                                          <p:val>
                                            <p:strVal val="0-#ppt_w/2"/>
                                          </p:val>
                                        </p:tav>
                                        <p:tav tm="100000">
                                          <p:val>
                                            <p:strVal val="#ppt_x"/>
                                          </p:val>
                                        </p:tav>
                                      </p:tavLst>
                                    </p:anim>
                                    <p:anim calcmode="lin" valueType="num">
                                      <p:cBhvr additive="base">
                                        <p:cTn id="14" dur="500" fill="hold"/>
                                        <p:tgtEl>
                                          <p:spTgt spid="5734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2" grpId="0"/>
      <p:bldP spid="5734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38632" name="Rectangle 1032"/>
          <p:cNvSpPr/>
          <p:nvPr/>
        </p:nvSpPr>
        <p:spPr>
          <a:xfrm>
            <a:off x="684213" y="908050"/>
            <a:ext cx="8208962" cy="604838"/>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lnSpc>
                <a:spcPct val="120000"/>
              </a:lnSpc>
              <a:spcBef>
                <a:spcPct val="0"/>
              </a:spcBef>
              <a:buClrTx/>
              <a:buSzTx/>
              <a:buFontTx/>
              <a:buNone/>
              <a:tabLst>
                <a:tab pos="457200" algn="l"/>
              </a:tabLst>
            </a:pPr>
            <a:r>
              <a:rPr lang="en-US" altLang="zh-CN" sz="2800" b="1" dirty="0">
                <a:solidFill>
                  <a:srgbClr val="9900CC"/>
                </a:solidFill>
                <a:ea typeface="隶书" panose="02010509060101010101" pitchFamily="49" charset="-122"/>
              </a:rPr>
              <a:t>2</a:t>
            </a:r>
            <a:r>
              <a:rPr lang="zh-CN" altLang="en-US" sz="2800" b="1" dirty="0">
                <a:solidFill>
                  <a:srgbClr val="9900CC"/>
                </a:solidFill>
                <a:ea typeface="隶书" panose="02010509060101010101" pitchFamily="49" charset="-122"/>
              </a:rPr>
              <a:t>、物理地址（空间）和逻辑地址（空间）</a:t>
            </a:r>
            <a:endParaRPr lang="zh-CN" altLang="en-US" sz="2400" b="1" dirty="0">
              <a:solidFill>
                <a:srgbClr val="006600"/>
              </a:solidFill>
              <a:ea typeface="楷体_GB2312" pitchFamily="49" charset="-122"/>
            </a:endParaRPr>
          </a:p>
        </p:txBody>
      </p:sp>
      <p:sp>
        <p:nvSpPr>
          <p:cNvPr id="538634" name="Rectangle 1034"/>
          <p:cNvSpPr/>
          <p:nvPr/>
        </p:nvSpPr>
        <p:spPr>
          <a:xfrm>
            <a:off x="798513" y="3500438"/>
            <a:ext cx="7920037" cy="29400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006600"/>
                </a:solidFill>
                <a:latin typeface="楷体_GB2312" pitchFamily="49" charset="-122"/>
                <a:ea typeface="楷体_GB2312" pitchFamily="49" charset="-122"/>
              </a:rPr>
              <a:t>物理</a:t>
            </a:r>
            <a:r>
              <a:rPr lang="zh-CN" altLang="en-US" sz="2400" b="1" dirty="0">
                <a:solidFill>
                  <a:srgbClr val="006600"/>
                </a:solidFill>
                <a:ea typeface="楷体_GB2312" pitchFamily="49" charset="-122"/>
              </a:rPr>
              <a:t>地址</a:t>
            </a:r>
            <a:r>
              <a:rPr lang="zh-CN" altLang="en-US" sz="2400" b="1" dirty="0">
                <a:solidFill>
                  <a:srgbClr val="006600"/>
                </a:solidFill>
                <a:latin typeface="楷体_GB2312" pitchFamily="49" charset="-122"/>
                <a:ea typeface="楷体_GB2312" pitchFamily="49" charset="-122"/>
              </a:rPr>
              <a:t>空间</a:t>
            </a:r>
            <a:r>
              <a:rPr lang="zh-CN" altLang="en-US" sz="2400" b="1" dirty="0">
                <a:solidFill>
                  <a:srgbClr val="000099"/>
                </a:solidFill>
                <a:latin typeface="楷体_GB2312" pitchFamily="49" charset="-122"/>
                <a:ea typeface="楷体_GB2312" pitchFamily="49" charset="-122"/>
              </a:rPr>
              <a:t>：物理地址的集合。由主存物理单元组成，是一维线性空间，其大小取决于实际的主存容量。 </a:t>
            </a:r>
            <a:endParaRPr lang="zh-CN" altLang="en-US" sz="2400" b="1" dirty="0">
              <a:solidFill>
                <a:srgbClr val="000099"/>
              </a:solidFill>
              <a:latin typeface="楷体_GB2312" pitchFamily="49" charset="-122"/>
              <a:ea typeface="楷体_GB2312" pitchFamily="49" charset="-122"/>
            </a:endParaRPr>
          </a:p>
          <a:p>
            <a:pPr marL="0" lvl="0" indent="0" eaLnBrk="1" hangingPunct="1">
              <a:lnSpc>
                <a:spcPct val="120000"/>
              </a:lnSpc>
              <a:buClrTx/>
              <a:buSzTx/>
              <a:buFontTx/>
              <a:buNone/>
            </a:pPr>
            <a:r>
              <a:rPr lang="zh-CN" altLang="en-US" sz="2400" b="1" dirty="0">
                <a:solidFill>
                  <a:srgbClr val="000099"/>
                </a:solidFill>
                <a:latin typeface="楷体_GB2312" pitchFamily="49" charset="-122"/>
                <a:ea typeface="楷体_GB2312" pitchFamily="49" charset="-122"/>
              </a:rPr>
              <a:t>                            </a:t>
            </a:r>
            <a:r>
              <a:rPr lang="zh-CN" altLang="en-US" sz="2400" b="1" dirty="0">
                <a:solidFill>
                  <a:srgbClr val="006600"/>
                </a:solidFill>
                <a:latin typeface="楷体_GB2312" pitchFamily="49" charset="-122"/>
                <a:ea typeface="楷体_GB2312" pitchFamily="49" charset="-122"/>
              </a:rPr>
              <a:t>（存储空间、主存空间）</a:t>
            </a:r>
            <a:endParaRPr lang="zh-CN" altLang="en-US" sz="2400" b="1" dirty="0">
              <a:solidFill>
                <a:srgbClr val="000099"/>
              </a:solidFill>
              <a:latin typeface="楷体_GB2312" pitchFamily="49" charset="-122"/>
              <a:ea typeface="楷体_GB2312" pitchFamily="49" charset="-122"/>
            </a:endParaRPr>
          </a:p>
          <a:p>
            <a:pPr marL="0" lvl="0" indent="0" eaLnBrk="1" hangingPunct="1">
              <a:lnSpc>
                <a:spcPct val="120000"/>
              </a:lnSpc>
              <a:buClrTx/>
              <a:buSzTx/>
              <a:buFontTx/>
              <a:buNone/>
            </a:pPr>
            <a:r>
              <a:rPr lang="zh-CN" altLang="en-US" sz="2400" b="1" dirty="0">
                <a:solidFill>
                  <a:srgbClr val="006600"/>
                </a:solidFill>
                <a:ea typeface="楷体_GB2312" pitchFamily="49" charset="-122"/>
              </a:rPr>
              <a:t>逻辑地址空间</a:t>
            </a:r>
            <a:r>
              <a:rPr lang="zh-CN" altLang="en-US" sz="2400" b="1" dirty="0">
                <a:solidFill>
                  <a:srgbClr val="000099"/>
                </a:solidFill>
                <a:ea typeface="楷体_GB2312" pitchFamily="49" charset="-122"/>
              </a:rPr>
              <a:t>：用户所使用的编程空间（目标程序的逻辑地址的集合）。可以是一维的，也可以是二维的。</a:t>
            </a:r>
            <a:r>
              <a:rPr lang="zh-CN" altLang="en-US" sz="2400" b="1" dirty="0">
                <a:solidFill>
                  <a:srgbClr val="000099"/>
                </a:solidFill>
                <a:latin typeface="楷体_GB2312" pitchFamily="49" charset="-122"/>
                <a:ea typeface="楷体_GB2312" pitchFamily="49" charset="-122"/>
              </a:rPr>
              <a:t> </a:t>
            </a:r>
            <a:endParaRPr lang="zh-CN" altLang="en-US" sz="2400" b="1" dirty="0">
              <a:solidFill>
                <a:srgbClr val="000099"/>
              </a:solidFill>
              <a:latin typeface="楷体_GB2312" pitchFamily="49" charset="-122"/>
              <a:ea typeface="楷体_GB2312" pitchFamily="49" charset="-122"/>
            </a:endParaRPr>
          </a:p>
          <a:p>
            <a:pPr marL="0" lvl="0" indent="0" eaLnBrk="1" hangingPunct="1">
              <a:lnSpc>
                <a:spcPct val="120000"/>
              </a:lnSpc>
              <a:buClrTx/>
              <a:buSzTx/>
              <a:buFontTx/>
              <a:buNone/>
            </a:pPr>
            <a:r>
              <a:rPr lang="zh-CN" altLang="en-US" sz="2400" b="1" dirty="0">
                <a:solidFill>
                  <a:srgbClr val="000099"/>
                </a:solidFill>
                <a:latin typeface="楷体_GB2312" pitchFamily="49" charset="-122"/>
                <a:ea typeface="楷体_GB2312" pitchFamily="49" charset="-122"/>
              </a:rPr>
              <a:t>                            </a:t>
            </a:r>
            <a:r>
              <a:rPr lang="zh-CN" altLang="en-US" sz="2400" b="1" dirty="0">
                <a:solidFill>
                  <a:srgbClr val="006600"/>
                </a:solidFill>
                <a:ea typeface="楷体_GB2312" pitchFamily="49" charset="-122"/>
              </a:rPr>
              <a:t>（地址空间、程序空间）</a:t>
            </a:r>
            <a:endParaRPr lang="zh-CN" altLang="en-US" sz="2400" b="1" dirty="0">
              <a:solidFill>
                <a:srgbClr val="006600"/>
              </a:solidFill>
              <a:ea typeface="楷体_GB2312" pitchFamily="49" charset="-122"/>
            </a:endParaRPr>
          </a:p>
        </p:txBody>
      </p:sp>
      <p:sp>
        <p:nvSpPr>
          <p:cNvPr id="538635" name="Rectangle 1035"/>
          <p:cNvSpPr/>
          <p:nvPr/>
        </p:nvSpPr>
        <p:spPr>
          <a:xfrm>
            <a:off x="755650" y="1628775"/>
            <a:ext cx="8064500" cy="1844675"/>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lnSpc>
                <a:spcPct val="120000"/>
              </a:lnSpc>
              <a:spcBef>
                <a:spcPct val="0"/>
              </a:spcBef>
              <a:buClrTx/>
              <a:buSzTx/>
              <a:buFontTx/>
              <a:buNone/>
              <a:tabLst>
                <a:tab pos="457200" algn="l"/>
              </a:tabLst>
            </a:pPr>
            <a:r>
              <a:rPr lang="zh-CN" altLang="en-US" sz="2400" b="1" dirty="0">
                <a:solidFill>
                  <a:srgbClr val="006600"/>
                </a:solidFill>
                <a:ea typeface="楷体_GB2312" pitchFamily="49" charset="-122"/>
              </a:rPr>
              <a:t>物理地址</a:t>
            </a:r>
            <a:r>
              <a:rPr lang="zh-CN" altLang="en-US" sz="2400" b="1" dirty="0">
                <a:solidFill>
                  <a:srgbClr val="000099"/>
                </a:solidFill>
                <a:ea typeface="楷体_GB2312" pitchFamily="49" charset="-122"/>
              </a:rPr>
              <a:t>：主存中存储单元的编号。 </a:t>
            </a:r>
            <a:endParaRPr lang="zh-CN" altLang="en-US" sz="2400" b="1" dirty="0">
              <a:solidFill>
                <a:srgbClr val="000099"/>
              </a:solidFill>
              <a:ea typeface="楷体_GB2312" pitchFamily="49" charset="-122"/>
            </a:endParaRPr>
          </a:p>
          <a:p>
            <a:pPr marL="0" lvl="0" indent="0" defTabSz="914400" eaLnBrk="1" hangingPunct="1">
              <a:lnSpc>
                <a:spcPct val="120000"/>
              </a:lnSpc>
              <a:spcBef>
                <a:spcPct val="0"/>
              </a:spcBef>
              <a:buClrTx/>
              <a:buSzTx/>
              <a:buFontTx/>
              <a:buNone/>
              <a:tabLst>
                <a:tab pos="457200" algn="l"/>
              </a:tabLst>
            </a:pPr>
            <a:r>
              <a:rPr lang="zh-CN" altLang="en-US" sz="2400" b="1" dirty="0">
                <a:solidFill>
                  <a:srgbClr val="000099"/>
                </a:solidFill>
                <a:ea typeface="楷体_GB2312" pitchFamily="49" charset="-122"/>
              </a:rPr>
              <a:t>                                                              </a:t>
            </a:r>
            <a:r>
              <a:rPr lang="zh-CN" altLang="en-US" sz="2400" b="1" dirty="0">
                <a:solidFill>
                  <a:srgbClr val="006600"/>
                </a:solidFill>
                <a:ea typeface="楷体_GB2312" pitchFamily="49" charset="-122"/>
              </a:rPr>
              <a:t>（绝对地址、实地址）</a:t>
            </a:r>
            <a:endParaRPr lang="zh-CN" altLang="en-US" sz="2400" b="1" dirty="0">
              <a:solidFill>
                <a:srgbClr val="000099"/>
              </a:solidFill>
              <a:ea typeface="楷体_GB2312" pitchFamily="49" charset="-122"/>
            </a:endParaRPr>
          </a:p>
          <a:p>
            <a:pPr marL="0" lvl="0" indent="0" defTabSz="914400" eaLnBrk="1" hangingPunct="1">
              <a:lnSpc>
                <a:spcPct val="120000"/>
              </a:lnSpc>
              <a:spcBef>
                <a:spcPct val="0"/>
              </a:spcBef>
              <a:buClrTx/>
              <a:buSzTx/>
              <a:buFontTx/>
              <a:buNone/>
              <a:tabLst>
                <a:tab pos="457200" algn="l"/>
              </a:tabLst>
            </a:pPr>
            <a:r>
              <a:rPr lang="zh-CN" altLang="en-US" sz="2400" b="1" dirty="0">
                <a:solidFill>
                  <a:srgbClr val="006600"/>
                </a:solidFill>
                <a:ea typeface="楷体_GB2312" pitchFamily="49" charset="-122"/>
              </a:rPr>
              <a:t>逻辑地址：</a:t>
            </a:r>
            <a:r>
              <a:rPr lang="zh-CN" altLang="en-US" sz="2400" b="1" dirty="0">
                <a:solidFill>
                  <a:srgbClr val="000099"/>
                </a:solidFill>
                <a:ea typeface="楷体_GB2312" pitchFamily="49" charset="-122"/>
              </a:rPr>
              <a:t>用户目标程序中所使用的相对地址。 </a:t>
            </a:r>
            <a:endParaRPr lang="zh-CN" altLang="en-US" sz="2400" b="1" dirty="0">
              <a:solidFill>
                <a:srgbClr val="000099"/>
              </a:solidFill>
              <a:ea typeface="楷体_GB2312" pitchFamily="49" charset="-122"/>
            </a:endParaRPr>
          </a:p>
          <a:p>
            <a:pPr marL="0" lvl="0" indent="0" defTabSz="914400" eaLnBrk="1" hangingPunct="1">
              <a:lnSpc>
                <a:spcPct val="120000"/>
              </a:lnSpc>
              <a:spcBef>
                <a:spcPct val="0"/>
              </a:spcBef>
              <a:buClrTx/>
              <a:buSzTx/>
              <a:buFontTx/>
              <a:buNone/>
              <a:tabLst>
                <a:tab pos="457200" algn="l"/>
              </a:tabLst>
            </a:pPr>
            <a:r>
              <a:rPr lang="zh-CN" altLang="en-US" sz="2400" b="1" dirty="0">
                <a:solidFill>
                  <a:srgbClr val="000099"/>
                </a:solidFill>
                <a:ea typeface="楷体_GB2312" pitchFamily="49" charset="-122"/>
              </a:rPr>
              <a:t>                                                              </a:t>
            </a:r>
            <a:r>
              <a:rPr lang="zh-CN" altLang="en-US" sz="2400" b="1" dirty="0">
                <a:solidFill>
                  <a:srgbClr val="006600"/>
                </a:solidFill>
                <a:ea typeface="楷体_GB2312" pitchFamily="49" charset="-122"/>
              </a:rPr>
              <a:t>（相对地址、虚地址）</a:t>
            </a:r>
            <a:endParaRPr lang="zh-CN" altLang="en-US" sz="2400" b="1" dirty="0">
              <a:solidFill>
                <a:srgbClr val="006600"/>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38632"/>
                                        </p:tgtEl>
                                        <p:attrNameLst>
                                          <p:attrName>style.visibility</p:attrName>
                                        </p:attrNameLst>
                                      </p:cBhvr>
                                      <p:to>
                                        <p:strVal val="visible"/>
                                      </p:to>
                                    </p:set>
                                    <p:animEffect transition="in" filter="blinds(horizontal)">
                                      <p:cBhvr>
                                        <p:cTn id="7" dur="500"/>
                                        <p:tgtEl>
                                          <p:spTgt spid="5386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38634"/>
                                        </p:tgtEl>
                                        <p:attrNameLst>
                                          <p:attrName>style.visibility</p:attrName>
                                        </p:attrNameLst>
                                      </p:cBhvr>
                                      <p:to>
                                        <p:strVal val="visible"/>
                                      </p:to>
                                    </p:set>
                                    <p:animEffect transition="in" filter="blinds(horizontal)">
                                      <p:cBhvr>
                                        <p:cTn id="12" dur="500"/>
                                        <p:tgtEl>
                                          <p:spTgt spid="53863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38635"/>
                                        </p:tgtEl>
                                        <p:attrNameLst>
                                          <p:attrName>style.visibility</p:attrName>
                                        </p:attrNameLst>
                                      </p:cBhvr>
                                      <p:to>
                                        <p:strVal val="visible"/>
                                      </p:to>
                                    </p:set>
                                    <p:animEffect transition="in" filter="blinds(horizontal)">
                                      <p:cBhvr>
                                        <p:cTn id="17" dur="500"/>
                                        <p:tgtEl>
                                          <p:spTgt spid="538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8632" grpId="0"/>
      <p:bldP spid="538634" grpId="0"/>
      <p:bldP spid="5386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pSp>
        <p:nvGrpSpPr>
          <p:cNvPr id="436260" name="Group 36"/>
          <p:cNvGrpSpPr/>
          <p:nvPr/>
        </p:nvGrpSpPr>
        <p:grpSpPr>
          <a:xfrm>
            <a:off x="827088" y="1154113"/>
            <a:ext cx="1973262" cy="3568700"/>
            <a:chOff x="559" y="624"/>
            <a:chExt cx="1199" cy="2248"/>
          </a:xfrm>
        </p:grpSpPr>
        <p:sp>
          <p:nvSpPr>
            <p:cNvPr id="10267" name="Rectangle 15"/>
            <p:cNvSpPr/>
            <p:nvPr/>
          </p:nvSpPr>
          <p:spPr>
            <a:xfrm>
              <a:off x="1008" y="1071"/>
              <a:ext cx="528" cy="1111"/>
            </a:xfrm>
            <a:prstGeom prst="rect">
              <a:avLst/>
            </a:prstGeom>
            <a:solidFill>
              <a:srgbClr val="FFFFFF"/>
            </a:solidFill>
            <a:ln w="28575" cap="flat" cmpd="sng">
              <a:solidFill>
                <a:srgbClr val="000000"/>
              </a:solidFill>
              <a:prstDash val="solid"/>
              <a:miter/>
              <a:headEnd type="none" w="med" len="med"/>
              <a:tailEnd type="none" w="med" len="med"/>
            </a:ln>
          </p:spPr>
          <p:txBody>
            <a:bodyPr lIns="0" r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endParaRPr lang="en-US" altLang="zh-CN" sz="900" dirty="0"/>
            </a:p>
            <a:p>
              <a:pPr marL="0" lvl="0" indent="0" algn="just" eaLnBrk="1" hangingPunct="1">
                <a:spcBef>
                  <a:spcPct val="0"/>
                </a:spcBef>
                <a:buClrTx/>
                <a:buSzTx/>
                <a:buFontTx/>
                <a:buNone/>
              </a:pPr>
              <a:r>
                <a:rPr lang="en-US" altLang="zh-CN" sz="900" dirty="0"/>
                <a:t>    </a:t>
              </a:r>
              <a:endParaRPr lang="en-US" altLang="zh-CN" sz="900" dirty="0"/>
            </a:p>
            <a:p>
              <a:pPr marL="0" lvl="0" indent="0" algn="just" eaLnBrk="1" hangingPunct="1">
                <a:spcBef>
                  <a:spcPct val="0"/>
                </a:spcBef>
                <a:buClrTx/>
                <a:buSzTx/>
                <a:buFontTx/>
                <a:buNone/>
              </a:pPr>
              <a:r>
                <a:rPr lang="en-US" altLang="zh-CN" sz="900" dirty="0"/>
                <a:t>    </a:t>
              </a:r>
              <a:r>
                <a:rPr lang="zh-CN" altLang="en-US" sz="2000" b="1" dirty="0">
                  <a:solidFill>
                    <a:srgbClr val="000099"/>
                  </a:solidFill>
                  <a:ea typeface="楷体_GB2312" pitchFamily="49" charset="-122"/>
                </a:rPr>
                <a:t>符号</a:t>
              </a:r>
              <a:endParaRPr lang="zh-CN" altLang="en-US" sz="2000" b="1" dirty="0">
                <a:solidFill>
                  <a:srgbClr val="000099"/>
                </a:solidFill>
                <a:ea typeface="楷体_GB2312" pitchFamily="49" charset="-122"/>
              </a:endParaRPr>
            </a:p>
            <a:p>
              <a:pPr marL="0" lvl="0" indent="0" algn="just" eaLnBrk="1" hangingPunct="1">
                <a:spcBef>
                  <a:spcPct val="0"/>
                </a:spcBef>
                <a:buClrTx/>
                <a:buSzTx/>
                <a:buFontTx/>
                <a:buNone/>
              </a:pPr>
              <a:r>
                <a:rPr lang="zh-CN" altLang="en-US" sz="2000" b="1" dirty="0">
                  <a:solidFill>
                    <a:srgbClr val="000099"/>
                  </a:solidFill>
                  <a:ea typeface="楷体_GB2312" pitchFamily="49" charset="-122"/>
                </a:rPr>
                <a:t>  地址</a:t>
              </a:r>
              <a:endParaRPr lang="zh-CN" altLang="en-US" sz="2000" b="1" dirty="0">
                <a:solidFill>
                  <a:srgbClr val="000099"/>
                </a:solidFill>
                <a:ea typeface="楷体_GB2312" pitchFamily="49" charset="-122"/>
              </a:endParaRPr>
            </a:p>
            <a:p>
              <a:pPr marL="0" lvl="0" indent="0" algn="just" eaLnBrk="1" hangingPunct="1">
                <a:spcBef>
                  <a:spcPct val="0"/>
                </a:spcBef>
                <a:buClrTx/>
                <a:buSzTx/>
                <a:buFontTx/>
                <a:buNone/>
              </a:pPr>
              <a:r>
                <a:rPr lang="zh-CN" altLang="en-US" sz="2000" b="1" dirty="0">
                  <a:solidFill>
                    <a:srgbClr val="000099"/>
                  </a:solidFill>
                  <a:ea typeface="楷体_GB2312" pitchFamily="49" charset="-122"/>
                </a:rPr>
                <a:t> </a:t>
              </a:r>
              <a:r>
                <a:rPr lang="en-US" altLang="zh-CN" sz="2000" b="1" dirty="0">
                  <a:solidFill>
                    <a:srgbClr val="000099"/>
                  </a:solidFill>
                  <a:ea typeface="楷体_GB2312" pitchFamily="49" charset="-122"/>
                </a:rPr>
                <a:t>(</a:t>
              </a:r>
              <a:r>
                <a:rPr lang="zh-CN" altLang="en-US" sz="2000" b="1" dirty="0">
                  <a:solidFill>
                    <a:srgbClr val="000099"/>
                  </a:solidFill>
                  <a:ea typeface="楷体_GB2312" pitchFamily="49" charset="-122"/>
                </a:rPr>
                <a:t>变量</a:t>
              </a:r>
              <a:r>
                <a:rPr lang="en-US" altLang="zh-CN" sz="2000" b="1" dirty="0">
                  <a:solidFill>
                    <a:srgbClr val="000099"/>
                  </a:solidFill>
                  <a:ea typeface="楷体_GB2312" pitchFamily="49" charset="-122"/>
                </a:rPr>
                <a:t>)</a:t>
              </a:r>
              <a:endParaRPr lang="en-US" altLang="zh-CN" sz="2000" b="1" dirty="0">
                <a:solidFill>
                  <a:srgbClr val="000099"/>
                </a:solidFill>
                <a:ea typeface="楷体_GB2312" pitchFamily="49" charset="-122"/>
              </a:endParaRPr>
            </a:p>
          </p:txBody>
        </p:sp>
        <p:sp>
          <p:nvSpPr>
            <p:cNvPr id="10268" name="Rectangle 24"/>
            <p:cNvSpPr/>
            <p:nvPr/>
          </p:nvSpPr>
          <p:spPr>
            <a:xfrm>
              <a:off x="912" y="624"/>
              <a:ext cx="692" cy="288"/>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源程序</a:t>
              </a:r>
              <a:endParaRPr lang="zh-CN" altLang="en-US" sz="2400" b="1" dirty="0">
                <a:ea typeface="楷体_GB2312" pitchFamily="49" charset="-122"/>
              </a:endParaRPr>
            </a:p>
          </p:txBody>
        </p:sp>
        <p:sp>
          <p:nvSpPr>
            <p:cNvPr id="10269" name="Rectangle 28"/>
            <p:cNvSpPr/>
            <p:nvPr/>
          </p:nvSpPr>
          <p:spPr>
            <a:xfrm>
              <a:off x="559" y="2622"/>
              <a:ext cx="1199" cy="250"/>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99"/>
                  </a:solidFill>
                  <a:ea typeface="楷体_GB2312" pitchFamily="49" charset="-122"/>
                </a:rPr>
                <a:t>符号（名）空间</a:t>
              </a:r>
              <a:endParaRPr lang="zh-CN" altLang="en-US" sz="2000" b="1" dirty="0">
                <a:solidFill>
                  <a:srgbClr val="000099"/>
                </a:solidFill>
                <a:ea typeface="楷体_GB2312" pitchFamily="49" charset="-122"/>
              </a:endParaRPr>
            </a:p>
          </p:txBody>
        </p:sp>
      </p:grpSp>
      <p:grpSp>
        <p:nvGrpSpPr>
          <p:cNvPr id="436265" name="Group 41"/>
          <p:cNvGrpSpPr/>
          <p:nvPr/>
        </p:nvGrpSpPr>
        <p:grpSpPr>
          <a:xfrm>
            <a:off x="4597400" y="2166938"/>
            <a:ext cx="1395413" cy="550862"/>
            <a:chOff x="2885" y="1200"/>
            <a:chExt cx="879" cy="347"/>
          </a:xfrm>
        </p:grpSpPr>
        <p:sp>
          <p:nvSpPr>
            <p:cNvPr id="10265" name="Line 22"/>
            <p:cNvSpPr/>
            <p:nvPr/>
          </p:nvSpPr>
          <p:spPr>
            <a:xfrm>
              <a:off x="2885" y="1547"/>
              <a:ext cx="879" cy="0"/>
            </a:xfrm>
            <a:prstGeom prst="line">
              <a:avLst/>
            </a:prstGeom>
            <a:ln w="28575" cap="flat" cmpd="dbl">
              <a:solidFill>
                <a:srgbClr val="000000"/>
              </a:solidFill>
              <a:prstDash val="solid"/>
              <a:headEnd type="none" w="med" len="med"/>
              <a:tailEnd type="stealth" w="sm" len="lg"/>
            </a:ln>
          </p:spPr>
        </p:sp>
        <p:sp>
          <p:nvSpPr>
            <p:cNvPr id="10266" name="Rectangle 29"/>
            <p:cNvSpPr/>
            <p:nvPr/>
          </p:nvSpPr>
          <p:spPr>
            <a:xfrm>
              <a:off x="2928" y="1200"/>
              <a:ext cx="768" cy="30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spcBef>
                  <a:spcPct val="30000"/>
                </a:spcBef>
                <a:buClrTx/>
                <a:buSzTx/>
                <a:buFontTx/>
                <a:buNone/>
              </a:pPr>
              <a:r>
                <a:rPr lang="zh-CN" altLang="en-US" sz="2000" b="1" dirty="0">
                  <a:solidFill>
                    <a:srgbClr val="000099"/>
                  </a:solidFill>
                  <a:ea typeface="楷体_GB2312" pitchFamily="49" charset="-122"/>
                </a:rPr>
                <a:t>连接装配</a:t>
              </a:r>
              <a:endParaRPr lang="zh-CN" altLang="en-US" sz="2000" b="1" dirty="0">
                <a:solidFill>
                  <a:srgbClr val="000099"/>
                </a:solidFill>
                <a:ea typeface="楷体_GB2312" pitchFamily="49" charset="-122"/>
              </a:endParaRPr>
            </a:p>
          </p:txBody>
        </p:sp>
      </p:grpSp>
      <p:grpSp>
        <p:nvGrpSpPr>
          <p:cNvPr id="436263" name="Group 39"/>
          <p:cNvGrpSpPr/>
          <p:nvPr/>
        </p:nvGrpSpPr>
        <p:grpSpPr>
          <a:xfrm>
            <a:off x="2484438" y="2082800"/>
            <a:ext cx="1303337" cy="627063"/>
            <a:chOff x="1536" y="1152"/>
            <a:chExt cx="821" cy="395"/>
          </a:xfrm>
        </p:grpSpPr>
        <p:sp>
          <p:nvSpPr>
            <p:cNvPr id="10263" name="Line 23"/>
            <p:cNvSpPr/>
            <p:nvPr/>
          </p:nvSpPr>
          <p:spPr>
            <a:xfrm>
              <a:off x="1536" y="1547"/>
              <a:ext cx="821" cy="0"/>
            </a:xfrm>
            <a:prstGeom prst="line">
              <a:avLst/>
            </a:prstGeom>
            <a:ln w="28575" cap="flat" cmpd="dbl">
              <a:solidFill>
                <a:srgbClr val="000000"/>
              </a:solidFill>
              <a:prstDash val="solid"/>
              <a:headEnd type="none" w="med" len="med"/>
              <a:tailEnd type="stealth" w="sm" len="lg"/>
            </a:ln>
          </p:spPr>
        </p:sp>
        <p:sp>
          <p:nvSpPr>
            <p:cNvPr id="10264" name="Rectangle 30"/>
            <p:cNvSpPr/>
            <p:nvPr/>
          </p:nvSpPr>
          <p:spPr>
            <a:xfrm>
              <a:off x="1632" y="1152"/>
              <a:ext cx="528" cy="357"/>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spcBef>
                  <a:spcPct val="30000"/>
                </a:spcBef>
                <a:buClrTx/>
                <a:buSzTx/>
                <a:buFontTx/>
                <a:buNone/>
              </a:pPr>
              <a:r>
                <a:rPr lang="en-US" altLang="zh-CN" sz="2400" dirty="0">
                  <a:solidFill>
                    <a:srgbClr val="000099"/>
                  </a:solidFill>
                  <a:ea typeface="楷体_GB2312" pitchFamily="49" charset="-122"/>
                </a:rPr>
                <a:t> </a:t>
              </a:r>
              <a:r>
                <a:rPr lang="zh-CN" altLang="en-US" sz="2000" b="1" dirty="0">
                  <a:solidFill>
                    <a:srgbClr val="000099"/>
                  </a:solidFill>
                  <a:ea typeface="楷体_GB2312" pitchFamily="49" charset="-122"/>
                </a:rPr>
                <a:t>编译</a:t>
              </a:r>
              <a:endParaRPr lang="zh-CN" altLang="en-US" sz="2000" b="1" dirty="0">
                <a:solidFill>
                  <a:srgbClr val="000099"/>
                </a:solidFill>
                <a:ea typeface="楷体_GB2312" pitchFamily="49" charset="-122"/>
              </a:endParaRPr>
            </a:p>
          </p:txBody>
        </p:sp>
      </p:grpSp>
      <p:grpSp>
        <p:nvGrpSpPr>
          <p:cNvPr id="436264" name="Group 40"/>
          <p:cNvGrpSpPr/>
          <p:nvPr/>
        </p:nvGrpSpPr>
        <p:grpSpPr>
          <a:xfrm>
            <a:off x="2843213" y="1146175"/>
            <a:ext cx="2740025" cy="3571875"/>
            <a:chOff x="1776" y="624"/>
            <a:chExt cx="1726" cy="2250"/>
          </a:xfrm>
        </p:grpSpPr>
        <p:sp>
          <p:nvSpPr>
            <p:cNvPr id="10258" name="Rectangle 16"/>
            <p:cNvSpPr/>
            <p:nvPr/>
          </p:nvSpPr>
          <p:spPr>
            <a:xfrm>
              <a:off x="2357" y="1071"/>
              <a:ext cx="528" cy="953"/>
            </a:xfrm>
            <a:prstGeom prst="rect">
              <a:avLst/>
            </a:prstGeom>
            <a:solidFill>
              <a:srgbClr val="FFFFFF"/>
            </a:solidFill>
            <a:ln w="28575" cap="flat" cmpd="sng">
              <a:solidFill>
                <a:srgbClr val="000000"/>
              </a:solidFill>
              <a:prstDash val="solid"/>
              <a:miter/>
              <a:headEnd type="none" w="med" len="med"/>
              <a:tailEnd type="none" w="med" len="med"/>
            </a:ln>
          </p:spPr>
          <p:txBody>
            <a:bodyPr lIns="0" r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endParaRPr lang="en-US" altLang="zh-CN" sz="900" dirty="0"/>
            </a:p>
            <a:p>
              <a:pPr marL="0" lvl="0" indent="0" algn="just" eaLnBrk="1" hangingPunct="1">
                <a:spcBef>
                  <a:spcPct val="0"/>
                </a:spcBef>
                <a:buClrTx/>
                <a:buSzTx/>
                <a:buFontTx/>
                <a:buNone/>
              </a:pPr>
              <a:r>
                <a:rPr lang="en-US" altLang="zh-CN" sz="900" dirty="0"/>
                <a:t>     </a:t>
              </a:r>
              <a:endParaRPr lang="en-US" altLang="zh-CN" sz="900" dirty="0"/>
            </a:p>
            <a:p>
              <a:pPr marL="0" lvl="0" indent="0" algn="just"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 </a:t>
              </a:r>
              <a:r>
                <a:rPr lang="zh-CN" altLang="en-US" sz="2000" b="1" dirty="0">
                  <a:solidFill>
                    <a:srgbClr val="000099"/>
                  </a:solidFill>
                  <a:latin typeface="楷体_GB2312" pitchFamily="49" charset="-122"/>
                  <a:ea typeface="楷体_GB2312" pitchFamily="49" charset="-122"/>
                </a:rPr>
                <a:t>逻辑</a:t>
              </a:r>
              <a:endParaRPr lang="zh-CN" altLang="en-US" sz="2000" b="1" dirty="0">
                <a:solidFill>
                  <a:srgbClr val="000099"/>
                </a:solidFill>
                <a:latin typeface="楷体_GB2312" pitchFamily="49" charset="-122"/>
                <a:ea typeface="楷体_GB2312" pitchFamily="49" charset="-122"/>
              </a:endParaRPr>
            </a:p>
            <a:p>
              <a:pPr marL="0" lvl="0" indent="0" algn="just" eaLnBrk="1" hangingPunct="1">
                <a:spcBef>
                  <a:spcPct val="0"/>
                </a:spcBef>
                <a:buClrTx/>
                <a:buSzTx/>
                <a:buFontTx/>
                <a:buNone/>
              </a:pPr>
              <a:r>
                <a:rPr lang="zh-CN" altLang="en-US" sz="2000" b="1" dirty="0">
                  <a:solidFill>
                    <a:srgbClr val="000099"/>
                  </a:solidFill>
                  <a:latin typeface="楷体_GB2312" pitchFamily="49" charset="-122"/>
                  <a:ea typeface="楷体_GB2312" pitchFamily="49" charset="-122"/>
                </a:rPr>
                <a:t> 地址</a:t>
              </a:r>
              <a:endParaRPr lang="zh-CN" altLang="en-US" sz="2000" b="1" dirty="0">
                <a:solidFill>
                  <a:srgbClr val="000099"/>
                </a:solidFill>
                <a:latin typeface="楷体_GB2312" pitchFamily="49" charset="-122"/>
                <a:ea typeface="楷体_GB2312" pitchFamily="49" charset="-122"/>
              </a:endParaRPr>
            </a:p>
          </p:txBody>
        </p:sp>
        <p:sp>
          <p:nvSpPr>
            <p:cNvPr id="10259" name="Rectangle 25"/>
            <p:cNvSpPr/>
            <p:nvPr/>
          </p:nvSpPr>
          <p:spPr>
            <a:xfrm>
              <a:off x="2160" y="960"/>
              <a:ext cx="150" cy="25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0</a:t>
              </a:r>
              <a:endParaRPr lang="en-US" altLang="zh-CN" sz="2400" b="1" dirty="0">
                <a:ea typeface="楷体_GB2312" pitchFamily="49" charset="-122"/>
              </a:endParaRPr>
            </a:p>
          </p:txBody>
        </p:sp>
        <p:sp>
          <p:nvSpPr>
            <p:cNvPr id="10260" name="Rectangle 26"/>
            <p:cNvSpPr/>
            <p:nvPr/>
          </p:nvSpPr>
          <p:spPr>
            <a:xfrm>
              <a:off x="2109" y="1861"/>
              <a:ext cx="243" cy="25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n</a:t>
              </a:r>
              <a:endParaRPr lang="en-US" altLang="zh-CN" sz="2400" b="1" dirty="0">
                <a:ea typeface="楷体_GB2312" pitchFamily="49" charset="-122"/>
              </a:endParaRPr>
            </a:p>
          </p:txBody>
        </p:sp>
        <p:sp>
          <p:nvSpPr>
            <p:cNvPr id="10261" name="Rectangle 31"/>
            <p:cNvSpPr/>
            <p:nvPr/>
          </p:nvSpPr>
          <p:spPr>
            <a:xfrm>
              <a:off x="2160" y="624"/>
              <a:ext cx="960" cy="288"/>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目标程序</a:t>
              </a:r>
              <a:endParaRPr lang="zh-CN" altLang="en-US" sz="2400" b="1" dirty="0">
                <a:solidFill>
                  <a:srgbClr val="000099"/>
                </a:solidFill>
                <a:latin typeface="楷体_GB2312" pitchFamily="49" charset="-122"/>
                <a:ea typeface="楷体_GB2312" pitchFamily="49" charset="-122"/>
              </a:endParaRPr>
            </a:p>
          </p:txBody>
        </p:sp>
        <p:sp>
          <p:nvSpPr>
            <p:cNvPr id="10262" name="Rectangle 34"/>
            <p:cNvSpPr/>
            <p:nvPr/>
          </p:nvSpPr>
          <p:spPr>
            <a:xfrm>
              <a:off x="1776" y="2624"/>
              <a:ext cx="1726" cy="250"/>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99"/>
                  </a:solidFill>
                  <a:ea typeface="楷体_GB2312" pitchFamily="49" charset="-122"/>
                </a:rPr>
                <a:t>逻辑地址（程序）空间</a:t>
              </a:r>
              <a:endParaRPr lang="zh-CN" altLang="en-US" sz="2000" b="1" dirty="0">
                <a:solidFill>
                  <a:srgbClr val="000099"/>
                </a:solidFill>
                <a:ea typeface="楷体_GB2312" pitchFamily="49" charset="-122"/>
              </a:endParaRPr>
            </a:p>
          </p:txBody>
        </p:sp>
      </p:grpSp>
      <p:grpSp>
        <p:nvGrpSpPr>
          <p:cNvPr id="436266" name="Group 42"/>
          <p:cNvGrpSpPr/>
          <p:nvPr/>
        </p:nvGrpSpPr>
        <p:grpSpPr>
          <a:xfrm>
            <a:off x="5435600" y="1039813"/>
            <a:ext cx="2892425" cy="3673475"/>
            <a:chOff x="3408" y="576"/>
            <a:chExt cx="1822" cy="2314"/>
          </a:xfrm>
        </p:grpSpPr>
        <p:sp>
          <p:nvSpPr>
            <p:cNvPr id="10249" name="Rectangle 17"/>
            <p:cNvSpPr/>
            <p:nvPr/>
          </p:nvSpPr>
          <p:spPr>
            <a:xfrm>
              <a:off x="3766" y="1071"/>
              <a:ext cx="645" cy="953"/>
            </a:xfrm>
            <a:prstGeom prst="rect">
              <a:avLst/>
            </a:prstGeom>
            <a:solidFill>
              <a:srgbClr val="FFFFFF"/>
            </a:solidFill>
            <a:ln w="28575" cap="flat" cmpd="sng">
              <a:solidFill>
                <a:srgbClr val="000000"/>
              </a:solidFill>
              <a:prstDash val="solid"/>
              <a:miter/>
              <a:headEnd type="none" w="med" len="med"/>
              <a:tailEnd type="none" w="med" len="med"/>
            </a:ln>
          </p:spPr>
          <p:txBody>
            <a:bodyPr t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endParaRPr lang="en-US" altLang="zh-CN" sz="900" dirty="0"/>
            </a:p>
            <a:p>
              <a:pPr marL="0" lvl="0" indent="0" algn="just"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  </a:t>
              </a:r>
              <a:endParaRPr lang="en-US" altLang="zh-CN" sz="2000" b="1" dirty="0">
                <a:solidFill>
                  <a:srgbClr val="000099"/>
                </a:solidFill>
                <a:latin typeface="楷体_GB2312" pitchFamily="49" charset="-122"/>
                <a:ea typeface="楷体_GB2312" pitchFamily="49" charset="-122"/>
              </a:endParaRPr>
            </a:p>
            <a:p>
              <a:pPr marL="0" lvl="0" indent="0" algn="just"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 </a:t>
              </a:r>
              <a:r>
                <a:rPr lang="zh-CN" altLang="en-US" sz="2000" b="1" dirty="0">
                  <a:solidFill>
                    <a:srgbClr val="000099"/>
                  </a:solidFill>
                  <a:latin typeface="楷体_GB2312" pitchFamily="49" charset="-122"/>
                  <a:ea typeface="楷体_GB2312" pitchFamily="49" charset="-122"/>
                </a:rPr>
                <a:t>物理</a:t>
              </a:r>
              <a:endParaRPr lang="zh-CN" altLang="en-US" sz="2000" b="1" dirty="0">
                <a:solidFill>
                  <a:srgbClr val="000099"/>
                </a:solidFill>
                <a:latin typeface="楷体_GB2312" pitchFamily="49" charset="-122"/>
                <a:ea typeface="楷体_GB2312" pitchFamily="49" charset="-122"/>
              </a:endParaRPr>
            </a:p>
            <a:p>
              <a:pPr marL="0" lvl="0" indent="0" algn="just" eaLnBrk="1" hangingPunct="1">
                <a:spcBef>
                  <a:spcPct val="0"/>
                </a:spcBef>
                <a:buClrTx/>
                <a:buSzTx/>
                <a:buFontTx/>
                <a:buNone/>
              </a:pPr>
              <a:r>
                <a:rPr lang="zh-CN" altLang="en-US" sz="2000" b="1" dirty="0">
                  <a:solidFill>
                    <a:srgbClr val="000099"/>
                  </a:solidFill>
                  <a:latin typeface="楷体_GB2312" pitchFamily="49" charset="-122"/>
                  <a:ea typeface="楷体_GB2312" pitchFamily="49" charset="-122"/>
                </a:rPr>
                <a:t> 地址</a:t>
              </a:r>
              <a:endParaRPr lang="zh-CN" altLang="en-US" sz="2000" b="1" dirty="0">
                <a:solidFill>
                  <a:srgbClr val="000099"/>
                </a:solidFill>
                <a:latin typeface="楷体_GB2312" pitchFamily="49" charset="-122"/>
                <a:ea typeface="楷体_GB2312" pitchFamily="49" charset="-122"/>
              </a:endParaRPr>
            </a:p>
          </p:txBody>
        </p:sp>
        <p:sp>
          <p:nvSpPr>
            <p:cNvPr id="10250" name="Line 18"/>
            <p:cNvSpPr/>
            <p:nvPr/>
          </p:nvSpPr>
          <p:spPr>
            <a:xfrm flipV="1">
              <a:off x="3764" y="912"/>
              <a:ext cx="0" cy="159"/>
            </a:xfrm>
            <a:prstGeom prst="line">
              <a:avLst/>
            </a:prstGeom>
            <a:ln w="28575" cap="flat" cmpd="sng">
              <a:solidFill>
                <a:srgbClr val="000000"/>
              </a:solidFill>
              <a:prstDash val="solid"/>
              <a:headEnd type="none" w="med" len="med"/>
              <a:tailEnd type="none" w="med" len="med"/>
            </a:ln>
          </p:spPr>
        </p:sp>
        <p:sp>
          <p:nvSpPr>
            <p:cNvPr id="10251" name="Line 19"/>
            <p:cNvSpPr/>
            <p:nvPr/>
          </p:nvSpPr>
          <p:spPr>
            <a:xfrm flipV="1">
              <a:off x="4409" y="912"/>
              <a:ext cx="0" cy="159"/>
            </a:xfrm>
            <a:prstGeom prst="line">
              <a:avLst/>
            </a:prstGeom>
            <a:ln w="28575" cap="flat" cmpd="sng">
              <a:solidFill>
                <a:srgbClr val="000000"/>
              </a:solidFill>
              <a:prstDash val="solid"/>
              <a:headEnd type="none" w="med" len="med"/>
              <a:tailEnd type="none" w="med" len="med"/>
            </a:ln>
          </p:spPr>
        </p:sp>
        <p:sp>
          <p:nvSpPr>
            <p:cNvPr id="10252" name="Line 20"/>
            <p:cNvSpPr/>
            <p:nvPr/>
          </p:nvSpPr>
          <p:spPr>
            <a:xfrm>
              <a:off x="4409" y="2024"/>
              <a:ext cx="0" cy="476"/>
            </a:xfrm>
            <a:prstGeom prst="line">
              <a:avLst/>
            </a:prstGeom>
            <a:ln w="28575" cap="flat" cmpd="sng">
              <a:solidFill>
                <a:srgbClr val="000000"/>
              </a:solidFill>
              <a:prstDash val="solid"/>
              <a:headEnd type="none" w="med" len="med"/>
              <a:tailEnd type="none" w="med" len="med"/>
            </a:ln>
          </p:spPr>
        </p:sp>
        <p:sp>
          <p:nvSpPr>
            <p:cNvPr id="10253" name="Line 21"/>
            <p:cNvSpPr/>
            <p:nvPr/>
          </p:nvSpPr>
          <p:spPr>
            <a:xfrm>
              <a:off x="3764" y="2024"/>
              <a:ext cx="0" cy="476"/>
            </a:xfrm>
            <a:prstGeom prst="line">
              <a:avLst/>
            </a:prstGeom>
            <a:ln w="28575" cap="flat" cmpd="sng">
              <a:solidFill>
                <a:srgbClr val="000000"/>
              </a:solidFill>
              <a:prstDash val="solid"/>
              <a:headEnd type="none" w="med" len="med"/>
              <a:tailEnd type="none" w="med" len="med"/>
            </a:ln>
          </p:spPr>
        </p:sp>
        <p:sp>
          <p:nvSpPr>
            <p:cNvPr id="10254" name="Rectangle 32"/>
            <p:cNvSpPr/>
            <p:nvPr/>
          </p:nvSpPr>
          <p:spPr>
            <a:xfrm>
              <a:off x="3552" y="576"/>
              <a:ext cx="1104" cy="288"/>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可执行程序</a:t>
              </a:r>
              <a:endParaRPr lang="zh-CN" altLang="en-US" sz="2400" b="1" dirty="0">
                <a:solidFill>
                  <a:srgbClr val="000099"/>
                </a:solidFill>
                <a:latin typeface="楷体_GB2312" pitchFamily="49" charset="-122"/>
                <a:ea typeface="楷体_GB2312" pitchFamily="49" charset="-122"/>
              </a:endParaRPr>
            </a:p>
          </p:txBody>
        </p:sp>
        <p:sp>
          <p:nvSpPr>
            <p:cNvPr id="10255" name="Rectangle 35"/>
            <p:cNvSpPr/>
            <p:nvPr/>
          </p:nvSpPr>
          <p:spPr>
            <a:xfrm>
              <a:off x="3504" y="2640"/>
              <a:ext cx="1726" cy="250"/>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99"/>
                  </a:solidFill>
                  <a:ea typeface="楷体_GB2312" pitchFamily="49" charset="-122"/>
                </a:rPr>
                <a:t>物理地址（主存）空间</a:t>
              </a:r>
              <a:endParaRPr lang="zh-CN" altLang="en-US" sz="2000" b="1" dirty="0">
                <a:solidFill>
                  <a:srgbClr val="000099"/>
                </a:solidFill>
                <a:ea typeface="楷体_GB2312" pitchFamily="49" charset="-122"/>
              </a:endParaRPr>
            </a:p>
          </p:txBody>
        </p:sp>
        <p:sp>
          <p:nvSpPr>
            <p:cNvPr id="10256" name="Rectangle 37"/>
            <p:cNvSpPr/>
            <p:nvPr/>
          </p:nvSpPr>
          <p:spPr>
            <a:xfrm>
              <a:off x="3552" y="912"/>
              <a:ext cx="240" cy="288"/>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B</a:t>
              </a:r>
              <a:r>
                <a:rPr lang="en-US" altLang="zh-CN" sz="2400" b="1" dirty="0">
                  <a:ea typeface="楷体_GB2312" pitchFamily="49" charset="-122"/>
                </a:rPr>
                <a:t>   </a:t>
              </a:r>
              <a:endParaRPr lang="en-US" altLang="zh-CN" sz="2400" b="1" dirty="0">
                <a:ea typeface="楷体_GB2312" pitchFamily="49" charset="-122"/>
              </a:endParaRPr>
            </a:p>
          </p:txBody>
        </p:sp>
        <p:sp>
          <p:nvSpPr>
            <p:cNvPr id="10257" name="Rectangle 38"/>
            <p:cNvSpPr/>
            <p:nvPr/>
          </p:nvSpPr>
          <p:spPr>
            <a:xfrm>
              <a:off x="3408" y="1872"/>
              <a:ext cx="384" cy="288"/>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B+n</a:t>
              </a:r>
              <a:r>
                <a:rPr lang="en-US" altLang="zh-CN" sz="2400" b="1" dirty="0">
                  <a:ea typeface="楷体_GB2312" pitchFamily="49" charset="-122"/>
                </a:rPr>
                <a:t> </a:t>
              </a:r>
              <a:endParaRPr lang="en-US" altLang="zh-CN" sz="2400" b="1" dirty="0">
                <a:ea typeface="楷体_GB2312" pitchFamily="49" charset="-122"/>
              </a:endParaRPr>
            </a:p>
          </p:txBody>
        </p:sp>
      </p:grpSp>
      <p:sp>
        <p:nvSpPr>
          <p:cNvPr id="436267" name="Rectangle 43"/>
          <p:cNvSpPr/>
          <p:nvPr/>
        </p:nvSpPr>
        <p:spPr>
          <a:xfrm>
            <a:off x="900113" y="4797425"/>
            <a:ext cx="45720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spcBef>
                <a:spcPct val="0"/>
              </a:spcBef>
              <a:buClrTx/>
              <a:buSzTx/>
              <a:buFontTx/>
              <a:buNone/>
            </a:pPr>
            <a:r>
              <a:rPr lang="en-US" altLang="zh-CN" sz="2400" b="1" dirty="0">
                <a:solidFill>
                  <a:srgbClr val="006600"/>
                </a:solidFill>
                <a:ea typeface="楷体_GB2312" pitchFamily="49" charset="-122"/>
              </a:rPr>
              <a:t>3</a:t>
            </a:r>
            <a:r>
              <a:rPr lang="zh-CN" altLang="en-US" sz="2400" b="1" dirty="0">
                <a:solidFill>
                  <a:srgbClr val="006600"/>
                </a:solidFill>
                <a:ea typeface="楷体_GB2312" pitchFamily="49" charset="-122"/>
              </a:rPr>
              <a:t>、地址重定位方式：</a:t>
            </a:r>
            <a:endParaRPr lang="zh-CN" altLang="en-US" sz="2400" b="1" dirty="0">
              <a:solidFill>
                <a:srgbClr val="006600"/>
              </a:solidFill>
              <a:ea typeface="楷体_GB2312" pitchFamily="49" charset="-122"/>
            </a:endParaRPr>
          </a:p>
          <a:p>
            <a:pPr marL="0" lvl="0" indent="0" eaLnBrk="1" hangingPunct="1">
              <a:lnSpc>
                <a:spcPct val="120000"/>
              </a:lnSpc>
              <a:spcBef>
                <a:spcPct val="0"/>
              </a:spcBef>
              <a:buClrTx/>
              <a:buSzTx/>
              <a:buFontTx/>
              <a:buNone/>
            </a:pPr>
            <a:r>
              <a:rPr lang="en-US" altLang="zh-CN" sz="2400" b="1" dirty="0">
                <a:solidFill>
                  <a:srgbClr val="000099"/>
                </a:solidFill>
                <a:ea typeface="楷体_GB2312" pitchFamily="49" charset="-122"/>
              </a:rPr>
              <a:t>1</a:t>
            </a:r>
            <a:r>
              <a:rPr lang="zh-CN" altLang="en-US" sz="2400" b="1" dirty="0">
                <a:solidFill>
                  <a:srgbClr val="000099"/>
                </a:solidFill>
                <a:ea typeface="楷体_GB2312" pitchFamily="49" charset="-122"/>
              </a:rPr>
              <a:t>）静态重定位；</a:t>
            </a:r>
            <a:endParaRPr lang="zh-CN" altLang="en-US" sz="2400" b="1" dirty="0">
              <a:solidFill>
                <a:srgbClr val="000099"/>
              </a:solidFill>
              <a:ea typeface="楷体_GB2312" pitchFamily="49" charset="-122"/>
            </a:endParaRPr>
          </a:p>
          <a:p>
            <a:pPr marL="0" lvl="0" indent="0" eaLnBrk="1" hangingPunct="1">
              <a:lnSpc>
                <a:spcPct val="120000"/>
              </a:lnSpc>
              <a:spcBef>
                <a:spcPct val="0"/>
              </a:spcBef>
              <a:buClrTx/>
              <a:buSzTx/>
              <a:buFontTx/>
              <a:buNone/>
            </a:pPr>
            <a:r>
              <a:rPr lang="en-US" altLang="zh-CN" sz="2400" b="1" dirty="0">
                <a:solidFill>
                  <a:srgbClr val="000099"/>
                </a:solidFill>
                <a:ea typeface="楷体_GB2312" pitchFamily="49" charset="-122"/>
              </a:rPr>
              <a:t>2</a:t>
            </a:r>
            <a:r>
              <a:rPr lang="zh-CN" altLang="en-US" sz="2400" b="1" dirty="0">
                <a:solidFill>
                  <a:srgbClr val="000099"/>
                </a:solidFill>
                <a:ea typeface="楷体_GB2312" pitchFamily="49" charset="-122"/>
              </a:rPr>
              <a:t>）动态重定位。</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6260"/>
                                        </p:tgtEl>
                                        <p:attrNameLst>
                                          <p:attrName>style.visibility</p:attrName>
                                        </p:attrNameLst>
                                      </p:cBhvr>
                                      <p:to>
                                        <p:strVal val="visible"/>
                                      </p:to>
                                    </p:set>
                                    <p:animEffect transition="in" filter="wipe(left)">
                                      <p:cBhvr>
                                        <p:cTn id="7" dur="500"/>
                                        <p:tgtEl>
                                          <p:spTgt spid="4362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6263"/>
                                        </p:tgtEl>
                                        <p:attrNameLst>
                                          <p:attrName>style.visibility</p:attrName>
                                        </p:attrNameLst>
                                      </p:cBhvr>
                                      <p:to>
                                        <p:strVal val="visible"/>
                                      </p:to>
                                    </p:set>
                                    <p:animEffect transition="in" filter="wipe(left)">
                                      <p:cBhvr>
                                        <p:cTn id="12" dur="500"/>
                                        <p:tgtEl>
                                          <p:spTgt spid="4362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36264"/>
                                        </p:tgtEl>
                                        <p:attrNameLst>
                                          <p:attrName>style.visibility</p:attrName>
                                        </p:attrNameLst>
                                      </p:cBhvr>
                                      <p:to>
                                        <p:strVal val="visible"/>
                                      </p:to>
                                    </p:set>
                                    <p:animEffect transition="in" filter="wipe(left)">
                                      <p:cBhvr>
                                        <p:cTn id="17" dur="500"/>
                                        <p:tgtEl>
                                          <p:spTgt spid="4362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36265"/>
                                        </p:tgtEl>
                                        <p:attrNameLst>
                                          <p:attrName>style.visibility</p:attrName>
                                        </p:attrNameLst>
                                      </p:cBhvr>
                                      <p:to>
                                        <p:strVal val="visible"/>
                                      </p:to>
                                    </p:set>
                                    <p:animEffect transition="in" filter="wipe(left)">
                                      <p:cBhvr>
                                        <p:cTn id="22" dur="500"/>
                                        <p:tgtEl>
                                          <p:spTgt spid="43626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36266"/>
                                        </p:tgtEl>
                                        <p:attrNameLst>
                                          <p:attrName>style.visibility</p:attrName>
                                        </p:attrNameLst>
                                      </p:cBhvr>
                                      <p:to>
                                        <p:strVal val="visible"/>
                                      </p:to>
                                    </p:set>
                                    <p:animEffect transition="in" filter="wipe(left)">
                                      <p:cBhvr>
                                        <p:cTn id="27" dur="500"/>
                                        <p:tgtEl>
                                          <p:spTgt spid="436266"/>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4" fill="hold" nodeType="clickEffect">
                                  <p:stCondLst>
                                    <p:cond delay="0"/>
                                  </p:stCondLst>
                                  <p:childTnLst>
                                    <p:set>
                                      <p:cBhvr>
                                        <p:cTn id="31" dur="1" fill="hold">
                                          <p:stCondLst>
                                            <p:cond delay="0"/>
                                          </p:stCondLst>
                                        </p:cTn>
                                        <p:tgtEl>
                                          <p:spTgt spid="436267"/>
                                        </p:tgtEl>
                                        <p:attrNameLst>
                                          <p:attrName>style.visibility</p:attrName>
                                        </p:attrNameLst>
                                      </p:cBhvr>
                                      <p:to>
                                        <p:strVal val="visible"/>
                                      </p:to>
                                    </p:set>
                                    <p:animEffect transition="in" filter="wheel(4)">
                                      <p:cBhvr>
                                        <p:cTn id="32" dur="2000"/>
                                        <p:tgtEl>
                                          <p:spTgt spid="436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6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41346" name="Rectangle 2"/>
          <p:cNvSpPr/>
          <p:nvPr/>
        </p:nvSpPr>
        <p:spPr>
          <a:xfrm>
            <a:off x="685800" y="1066800"/>
            <a:ext cx="2327275" cy="457200"/>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6600"/>
                </a:solidFill>
                <a:ea typeface="楷体_GB2312" pitchFamily="49" charset="-122"/>
              </a:rPr>
              <a:t>1</a:t>
            </a:r>
            <a:r>
              <a:rPr lang="zh-CN" altLang="en-US" sz="2400" b="1" dirty="0">
                <a:solidFill>
                  <a:srgbClr val="006600"/>
                </a:solidFill>
                <a:ea typeface="楷体_GB2312" pitchFamily="49" charset="-122"/>
              </a:rPr>
              <a:t>） 静态重定位 </a:t>
            </a:r>
            <a:endParaRPr lang="zh-CN" altLang="en-US" sz="2400" b="1" dirty="0">
              <a:solidFill>
                <a:srgbClr val="006600"/>
              </a:solidFill>
              <a:ea typeface="楷体_GB2312" pitchFamily="49" charset="-122"/>
            </a:endParaRPr>
          </a:p>
        </p:txBody>
      </p:sp>
      <p:sp>
        <p:nvSpPr>
          <p:cNvPr id="441347" name="Rectangle 3"/>
          <p:cNvSpPr/>
          <p:nvPr/>
        </p:nvSpPr>
        <p:spPr>
          <a:xfrm>
            <a:off x="611188" y="1557338"/>
            <a:ext cx="83058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在一个作业装入主存时，根据其所获得的空间区域，由连接装配程序将该程序的逻辑地址转换为相应的物理地址。地址一旦确定就不再改变。</a:t>
            </a:r>
            <a:endParaRPr lang="zh-CN" altLang="en-US" sz="2400" b="1" dirty="0">
              <a:solidFill>
                <a:srgbClr val="000099"/>
              </a:solidFill>
              <a:ea typeface="楷体_GB2312" pitchFamily="49" charset="-122"/>
            </a:endParaRPr>
          </a:p>
        </p:txBody>
      </p:sp>
      <p:grpSp>
        <p:nvGrpSpPr>
          <p:cNvPr id="572439" name="Group 23"/>
          <p:cNvGrpSpPr/>
          <p:nvPr/>
        </p:nvGrpSpPr>
        <p:grpSpPr>
          <a:xfrm>
            <a:off x="2195513" y="3048000"/>
            <a:ext cx="5184775" cy="2743200"/>
            <a:chOff x="1920" y="288"/>
            <a:chExt cx="2928" cy="1728"/>
          </a:xfrm>
        </p:grpSpPr>
        <p:grpSp>
          <p:nvGrpSpPr>
            <p:cNvPr id="11272" name="Group 24"/>
            <p:cNvGrpSpPr/>
            <p:nvPr/>
          </p:nvGrpSpPr>
          <p:grpSpPr>
            <a:xfrm>
              <a:off x="1920" y="624"/>
              <a:ext cx="2928" cy="1392"/>
              <a:chOff x="1920" y="816"/>
              <a:chExt cx="2928" cy="1392"/>
            </a:xfrm>
          </p:grpSpPr>
          <p:sp>
            <p:nvSpPr>
              <p:cNvPr id="11274" name="AutoShape 25"/>
              <p:cNvSpPr/>
              <p:nvPr/>
            </p:nvSpPr>
            <p:spPr>
              <a:xfrm>
                <a:off x="3744" y="912"/>
                <a:ext cx="48" cy="1104"/>
              </a:xfrm>
              <a:prstGeom prst="leftBrace">
                <a:avLst>
                  <a:gd name="adj1" fmla="val 191666"/>
                  <a:gd name="adj2" fmla="val 50000"/>
                </a:avLst>
              </a:prstGeom>
              <a:noFill/>
              <a:ln w="9525" cap="flat" cmpd="sng">
                <a:solidFill>
                  <a:srgbClr val="000000"/>
                </a:solidFill>
                <a:prstDash val="solid"/>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1275" name="Rectangle 26"/>
              <p:cNvSpPr/>
              <p:nvPr/>
            </p:nvSpPr>
            <p:spPr>
              <a:xfrm>
                <a:off x="2256" y="1137"/>
                <a:ext cx="663" cy="214"/>
              </a:xfrm>
              <a:prstGeom prst="rect">
                <a:avLst/>
              </a:prstGeom>
              <a:solidFill>
                <a:srgbClr val="FFFFFF"/>
              </a:solidFill>
              <a:ln w="9525" cap="flat" cmpd="sng">
                <a:solidFill>
                  <a:srgbClr val="000000"/>
                </a:solidFill>
                <a:prstDash val="solid"/>
                <a:miter/>
                <a:headEnd type="none" w="med" len="med"/>
                <a:tailEnd type="none" w="med" len="med"/>
              </a:ln>
            </p:spPr>
            <p:txBody>
              <a:bodyPr t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a:spcBef>
                    <a:spcPct val="0"/>
                  </a:spcBef>
                  <a:buClrTx/>
                  <a:buSzTx/>
                  <a:buFontTx/>
                  <a:buNone/>
                </a:pPr>
                <a:r>
                  <a:rPr lang="en-US" altLang="zh-CN" sz="2000" b="1" dirty="0">
                    <a:solidFill>
                      <a:srgbClr val="000099"/>
                    </a:solidFill>
                    <a:latin typeface="楷体_GB2312" pitchFamily="49" charset="-122"/>
                    <a:ea typeface="楷体_GB2312" pitchFamily="49" charset="-122"/>
                  </a:rPr>
                  <a:t>+ </a:t>
                </a:r>
                <a:r>
                  <a:rPr lang="en-US" altLang="zh-CN" sz="1000" dirty="0">
                    <a:solidFill>
                      <a:srgbClr val="000099"/>
                    </a:solidFill>
                  </a:rPr>
                  <a:t>      </a:t>
                </a:r>
                <a:r>
                  <a:rPr lang="en-US" altLang="zh-CN" sz="1800" dirty="0">
                    <a:solidFill>
                      <a:srgbClr val="FF0000"/>
                    </a:solidFill>
                  </a:rPr>
                  <a:t>032</a:t>
                </a:r>
                <a:endParaRPr lang="en-US" altLang="zh-CN" sz="1800" dirty="0">
                  <a:solidFill>
                    <a:srgbClr val="FF0000"/>
                  </a:solidFill>
                </a:endParaRPr>
              </a:p>
            </p:txBody>
          </p:sp>
          <p:sp>
            <p:nvSpPr>
              <p:cNvPr id="11276" name="Rectangle 27"/>
              <p:cNvSpPr/>
              <p:nvPr/>
            </p:nvSpPr>
            <p:spPr>
              <a:xfrm>
                <a:off x="2256" y="1351"/>
                <a:ext cx="663" cy="215"/>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1277" name="Rectangle 28"/>
              <p:cNvSpPr/>
              <p:nvPr/>
            </p:nvSpPr>
            <p:spPr>
              <a:xfrm>
                <a:off x="2256" y="1566"/>
                <a:ext cx="663" cy="214"/>
              </a:xfrm>
              <a:prstGeom prst="rect">
                <a:avLst/>
              </a:prstGeom>
              <a:solidFill>
                <a:srgbClr val="FFFFFF"/>
              </a:solidFill>
              <a:ln w="9525" cap="flat" cmpd="sng">
                <a:solidFill>
                  <a:srgbClr val="000000"/>
                </a:solidFill>
                <a:prstDash val="solid"/>
                <a:miter/>
                <a:headEnd type="none" w="med" len="med"/>
                <a:tailEnd type="none" w="med" len="med"/>
              </a:ln>
            </p:spPr>
            <p:txBody>
              <a:bodyPr t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a:spcBef>
                    <a:spcPct val="0"/>
                  </a:spcBef>
                  <a:buClrTx/>
                  <a:buSzTx/>
                  <a:buFontTx/>
                  <a:buNone/>
                </a:pPr>
                <a:r>
                  <a:rPr lang="en-US" altLang="zh-CN" sz="1800" b="1" dirty="0">
                    <a:solidFill>
                      <a:srgbClr val="000099"/>
                    </a:solidFill>
                    <a:latin typeface="楷体_GB2312" pitchFamily="49" charset="-122"/>
                    <a:ea typeface="楷体_GB2312" pitchFamily="49" charset="-122"/>
                  </a:rPr>
                  <a:t>  3465</a:t>
                </a:r>
                <a:endParaRPr lang="en-US" altLang="zh-CN" sz="1800" b="1" dirty="0">
                  <a:solidFill>
                    <a:srgbClr val="000099"/>
                  </a:solidFill>
                  <a:latin typeface="楷体_GB2312" pitchFamily="49" charset="-122"/>
                  <a:ea typeface="楷体_GB2312" pitchFamily="49" charset="-122"/>
                </a:endParaRPr>
              </a:p>
            </p:txBody>
          </p:sp>
          <p:sp>
            <p:nvSpPr>
              <p:cNvPr id="11278" name="Rectangle 29"/>
              <p:cNvSpPr/>
              <p:nvPr/>
            </p:nvSpPr>
            <p:spPr>
              <a:xfrm>
                <a:off x="2256" y="923"/>
                <a:ext cx="663" cy="21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1279" name="Rectangle 30"/>
              <p:cNvSpPr/>
              <p:nvPr/>
            </p:nvSpPr>
            <p:spPr>
              <a:xfrm>
                <a:off x="2256" y="1780"/>
                <a:ext cx="663" cy="21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1280" name="Rectangle 31"/>
              <p:cNvSpPr/>
              <p:nvPr/>
            </p:nvSpPr>
            <p:spPr>
              <a:xfrm>
                <a:off x="4185" y="1780"/>
                <a:ext cx="663" cy="21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a:spcBef>
                    <a:spcPct val="0"/>
                  </a:spcBef>
                  <a:buClrTx/>
                  <a:buSzTx/>
                  <a:buFontTx/>
                  <a:buNone/>
                </a:pPr>
                <a:endParaRPr lang="zh-CN" altLang="zh-CN" sz="1000" dirty="0"/>
              </a:p>
            </p:txBody>
          </p:sp>
          <p:sp>
            <p:nvSpPr>
              <p:cNvPr id="11281" name="Rectangle 32"/>
              <p:cNvSpPr/>
              <p:nvPr/>
            </p:nvSpPr>
            <p:spPr>
              <a:xfrm>
                <a:off x="4185" y="1566"/>
                <a:ext cx="663" cy="214"/>
              </a:xfrm>
              <a:prstGeom prst="rect">
                <a:avLst/>
              </a:prstGeom>
              <a:solidFill>
                <a:srgbClr val="FFFFFF"/>
              </a:solidFill>
              <a:ln w="9525" cap="flat" cmpd="sng">
                <a:solidFill>
                  <a:srgbClr val="000000"/>
                </a:solidFill>
                <a:prstDash val="solid"/>
                <a:miter/>
                <a:headEnd type="none" w="med" len="med"/>
                <a:tailEnd type="none" w="med" len="med"/>
              </a:ln>
            </p:spPr>
            <p:txBody>
              <a:bodyPr t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a:spcBef>
                    <a:spcPct val="0"/>
                  </a:spcBef>
                  <a:buClrTx/>
                  <a:buSzTx/>
                  <a:buFontTx/>
                  <a:buNone/>
                </a:pPr>
                <a:r>
                  <a:rPr lang="en-US" altLang="zh-CN" sz="1800" b="1" dirty="0">
                    <a:solidFill>
                      <a:srgbClr val="000099"/>
                    </a:solidFill>
                    <a:latin typeface="楷体_GB2312" pitchFamily="49" charset="-122"/>
                    <a:ea typeface="楷体_GB2312" pitchFamily="49" charset="-122"/>
                  </a:rPr>
                  <a:t>  3465</a:t>
                </a:r>
                <a:endParaRPr lang="en-US" altLang="zh-CN" sz="1800" b="1" dirty="0">
                  <a:solidFill>
                    <a:srgbClr val="000099"/>
                  </a:solidFill>
                  <a:latin typeface="楷体_GB2312" pitchFamily="49" charset="-122"/>
                  <a:ea typeface="楷体_GB2312" pitchFamily="49" charset="-122"/>
                </a:endParaRPr>
              </a:p>
            </p:txBody>
          </p:sp>
          <p:sp>
            <p:nvSpPr>
              <p:cNvPr id="11282" name="Rectangle 33"/>
              <p:cNvSpPr/>
              <p:nvPr/>
            </p:nvSpPr>
            <p:spPr>
              <a:xfrm>
                <a:off x="4184" y="923"/>
                <a:ext cx="663" cy="21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1283" name="Rectangle 34"/>
              <p:cNvSpPr/>
              <p:nvPr/>
            </p:nvSpPr>
            <p:spPr>
              <a:xfrm>
                <a:off x="4185" y="1137"/>
                <a:ext cx="663" cy="214"/>
              </a:xfrm>
              <a:prstGeom prst="rect">
                <a:avLst/>
              </a:prstGeom>
              <a:solidFill>
                <a:srgbClr val="FFFFFF"/>
              </a:solidFill>
              <a:ln w="9525" cap="flat" cmpd="sng">
                <a:solidFill>
                  <a:srgbClr val="000000"/>
                </a:solidFill>
                <a:prstDash val="solid"/>
                <a:miter/>
                <a:headEnd type="none" w="med" len="med"/>
                <a:tailEnd type="none" w="med" len="med"/>
              </a:ln>
            </p:spPr>
            <p:txBody>
              <a:bodyPr t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a:spcBef>
                    <a:spcPct val="0"/>
                  </a:spcBef>
                  <a:buClrTx/>
                  <a:buSzTx/>
                  <a:buFontTx/>
                  <a:buNone/>
                </a:pPr>
                <a:r>
                  <a:rPr lang="en-US" altLang="zh-CN" sz="1800" b="1" dirty="0">
                    <a:solidFill>
                      <a:srgbClr val="000099"/>
                    </a:solidFill>
                    <a:latin typeface="楷体_GB2312" pitchFamily="49" charset="-122"/>
                    <a:ea typeface="楷体_GB2312" pitchFamily="49" charset="-122"/>
                  </a:rPr>
                  <a:t>+   </a:t>
                </a:r>
                <a:r>
                  <a:rPr lang="en-US" altLang="zh-CN" sz="1800" b="1" dirty="0">
                    <a:solidFill>
                      <a:srgbClr val="FF0000"/>
                    </a:solidFill>
                    <a:latin typeface="楷体_GB2312" pitchFamily="49" charset="-122"/>
                    <a:ea typeface="楷体_GB2312" pitchFamily="49" charset="-122"/>
                  </a:rPr>
                  <a:t>132</a:t>
                </a:r>
                <a:endParaRPr lang="en-US" altLang="zh-CN" sz="1800" b="1" dirty="0">
                  <a:solidFill>
                    <a:srgbClr val="FF0000"/>
                  </a:solidFill>
                  <a:latin typeface="楷体_GB2312" pitchFamily="49" charset="-122"/>
                  <a:ea typeface="楷体_GB2312" pitchFamily="49" charset="-122"/>
                </a:endParaRPr>
              </a:p>
            </p:txBody>
          </p:sp>
          <p:sp>
            <p:nvSpPr>
              <p:cNvPr id="11284" name="Rectangle 35"/>
              <p:cNvSpPr/>
              <p:nvPr/>
            </p:nvSpPr>
            <p:spPr>
              <a:xfrm>
                <a:off x="4184" y="1351"/>
                <a:ext cx="663" cy="215"/>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1285" name="Line 36"/>
              <p:cNvSpPr/>
              <p:nvPr/>
            </p:nvSpPr>
            <p:spPr>
              <a:xfrm>
                <a:off x="2497" y="1137"/>
                <a:ext cx="0" cy="214"/>
              </a:xfrm>
              <a:prstGeom prst="line">
                <a:avLst/>
              </a:prstGeom>
              <a:ln w="9525" cap="flat" cmpd="sng">
                <a:solidFill>
                  <a:srgbClr val="000000"/>
                </a:solidFill>
                <a:prstDash val="solid"/>
                <a:headEnd type="none" w="med" len="med"/>
                <a:tailEnd type="none" w="med" len="med"/>
              </a:ln>
            </p:spPr>
          </p:sp>
          <p:sp>
            <p:nvSpPr>
              <p:cNvPr id="11286" name="Line 37"/>
              <p:cNvSpPr/>
              <p:nvPr/>
            </p:nvSpPr>
            <p:spPr>
              <a:xfrm flipV="1">
                <a:off x="4184" y="816"/>
                <a:ext cx="0" cy="107"/>
              </a:xfrm>
              <a:prstGeom prst="line">
                <a:avLst/>
              </a:prstGeom>
              <a:ln w="9525" cap="flat" cmpd="sng">
                <a:solidFill>
                  <a:srgbClr val="000000"/>
                </a:solidFill>
                <a:prstDash val="solid"/>
                <a:headEnd type="none" w="med" len="med"/>
                <a:tailEnd type="none" w="med" len="med"/>
              </a:ln>
            </p:spPr>
          </p:sp>
          <p:sp>
            <p:nvSpPr>
              <p:cNvPr id="11287" name="Line 38"/>
              <p:cNvSpPr/>
              <p:nvPr/>
            </p:nvSpPr>
            <p:spPr>
              <a:xfrm flipV="1">
                <a:off x="4847" y="816"/>
                <a:ext cx="0" cy="107"/>
              </a:xfrm>
              <a:prstGeom prst="line">
                <a:avLst/>
              </a:prstGeom>
              <a:ln w="9525" cap="flat" cmpd="sng">
                <a:solidFill>
                  <a:srgbClr val="000000"/>
                </a:solidFill>
                <a:prstDash val="solid"/>
                <a:headEnd type="none" w="med" len="med"/>
                <a:tailEnd type="none" w="med" len="med"/>
              </a:ln>
            </p:spPr>
          </p:sp>
          <p:sp>
            <p:nvSpPr>
              <p:cNvPr id="11288" name="Line 39"/>
              <p:cNvSpPr/>
              <p:nvPr/>
            </p:nvSpPr>
            <p:spPr>
              <a:xfrm>
                <a:off x="4847" y="1994"/>
                <a:ext cx="0" cy="214"/>
              </a:xfrm>
              <a:prstGeom prst="line">
                <a:avLst/>
              </a:prstGeom>
              <a:ln w="9525" cap="flat" cmpd="sng">
                <a:solidFill>
                  <a:srgbClr val="000000"/>
                </a:solidFill>
                <a:prstDash val="solid"/>
                <a:headEnd type="none" w="med" len="med"/>
                <a:tailEnd type="none" w="med" len="med"/>
              </a:ln>
            </p:spPr>
          </p:sp>
          <p:sp>
            <p:nvSpPr>
              <p:cNvPr id="11289" name="Line 40"/>
              <p:cNvSpPr/>
              <p:nvPr/>
            </p:nvSpPr>
            <p:spPr>
              <a:xfrm>
                <a:off x="4184" y="1994"/>
                <a:ext cx="0" cy="107"/>
              </a:xfrm>
              <a:prstGeom prst="line">
                <a:avLst/>
              </a:prstGeom>
              <a:ln w="9525" cap="flat" cmpd="sng">
                <a:solidFill>
                  <a:srgbClr val="000000"/>
                </a:solidFill>
                <a:prstDash val="solid"/>
                <a:headEnd type="none" w="med" len="med"/>
                <a:tailEnd type="none" w="med" len="med"/>
              </a:ln>
            </p:spPr>
          </p:sp>
          <p:sp>
            <p:nvSpPr>
              <p:cNvPr id="11290" name="AutoShape 41"/>
              <p:cNvSpPr/>
              <p:nvPr/>
            </p:nvSpPr>
            <p:spPr>
              <a:xfrm>
                <a:off x="2919" y="923"/>
                <a:ext cx="137" cy="1071"/>
              </a:xfrm>
              <a:prstGeom prst="rightBrace">
                <a:avLst>
                  <a:gd name="adj1" fmla="val 65145"/>
                  <a:gd name="adj2" fmla="val 50000"/>
                </a:avLst>
              </a:prstGeom>
              <a:noFill/>
              <a:ln w="9525" cap="flat" cmpd="sng">
                <a:solidFill>
                  <a:srgbClr val="000000"/>
                </a:solidFill>
                <a:prstDash val="solid"/>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1291" name="Line 42"/>
              <p:cNvSpPr/>
              <p:nvPr/>
            </p:nvSpPr>
            <p:spPr>
              <a:xfrm>
                <a:off x="4464" y="1152"/>
                <a:ext cx="0" cy="192"/>
              </a:xfrm>
              <a:prstGeom prst="line">
                <a:avLst/>
              </a:prstGeom>
              <a:ln w="9525" cap="flat" cmpd="sng">
                <a:solidFill>
                  <a:schemeClr val="tx1"/>
                </a:solidFill>
                <a:prstDash val="solid"/>
                <a:miter/>
                <a:headEnd type="none" w="med" len="med"/>
                <a:tailEnd type="none" w="med" len="med"/>
              </a:ln>
            </p:spPr>
          </p:sp>
          <p:sp>
            <p:nvSpPr>
              <p:cNvPr id="11292" name="Text Box 43"/>
              <p:cNvSpPr txBox="1"/>
              <p:nvPr/>
            </p:nvSpPr>
            <p:spPr>
              <a:xfrm>
                <a:off x="2064" y="816"/>
                <a:ext cx="14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0</a:t>
                </a:r>
                <a:endParaRPr lang="en-US" altLang="zh-CN" sz="2000" b="1" dirty="0">
                  <a:solidFill>
                    <a:srgbClr val="000099"/>
                  </a:solidFill>
                  <a:latin typeface="楷体_GB2312" pitchFamily="49" charset="-122"/>
                  <a:ea typeface="楷体_GB2312" pitchFamily="49" charset="-122"/>
                </a:endParaRPr>
              </a:p>
            </p:txBody>
          </p:sp>
          <p:sp>
            <p:nvSpPr>
              <p:cNvPr id="11293" name="Text Box 44"/>
              <p:cNvSpPr txBox="1"/>
              <p:nvPr/>
            </p:nvSpPr>
            <p:spPr>
              <a:xfrm>
                <a:off x="2064" y="1008"/>
                <a:ext cx="14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8</a:t>
                </a:r>
                <a:endParaRPr lang="en-US" altLang="zh-CN" sz="2000" b="1" dirty="0">
                  <a:solidFill>
                    <a:srgbClr val="000099"/>
                  </a:solidFill>
                  <a:latin typeface="楷体_GB2312" pitchFamily="49" charset="-122"/>
                  <a:ea typeface="楷体_GB2312" pitchFamily="49" charset="-122"/>
                </a:endParaRPr>
              </a:p>
            </p:txBody>
          </p:sp>
          <p:sp>
            <p:nvSpPr>
              <p:cNvPr id="11294" name="Text Box 45"/>
              <p:cNvSpPr txBox="1"/>
              <p:nvPr/>
            </p:nvSpPr>
            <p:spPr>
              <a:xfrm>
                <a:off x="2016" y="1488"/>
                <a:ext cx="19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32</a:t>
                </a:r>
                <a:endParaRPr lang="en-US" altLang="zh-CN" sz="2000" b="1" dirty="0">
                  <a:solidFill>
                    <a:srgbClr val="000099"/>
                  </a:solidFill>
                  <a:latin typeface="楷体_GB2312" pitchFamily="49" charset="-122"/>
                  <a:ea typeface="楷体_GB2312" pitchFamily="49" charset="-122"/>
                </a:endParaRPr>
              </a:p>
            </p:txBody>
          </p:sp>
          <p:sp>
            <p:nvSpPr>
              <p:cNvPr id="11295" name="Text Box 46"/>
              <p:cNvSpPr txBox="1"/>
              <p:nvPr/>
            </p:nvSpPr>
            <p:spPr>
              <a:xfrm>
                <a:off x="1920" y="1872"/>
                <a:ext cx="336"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124</a:t>
                </a:r>
                <a:endParaRPr lang="en-US" altLang="zh-CN" sz="2000" b="1" dirty="0">
                  <a:solidFill>
                    <a:srgbClr val="000099"/>
                  </a:solidFill>
                  <a:latin typeface="楷体_GB2312" pitchFamily="49" charset="-122"/>
                  <a:ea typeface="楷体_GB2312" pitchFamily="49" charset="-122"/>
                </a:endParaRPr>
              </a:p>
            </p:txBody>
          </p:sp>
          <p:sp>
            <p:nvSpPr>
              <p:cNvPr id="11296" name="Text Box 47"/>
              <p:cNvSpPr txBox="1"/>
              <p:nvPr/>
            </p:nvSpPr>
            <p:spPr>
              <a:xfrm>
                <a:off x="3840" y="816"/>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100</a:t>
                </a:r>
                <a:endParaRPr lang="en-US" altLang="zh-CN" sz="2000" b="1" dirty="0">
                  <a:solidFill>
                    <a:srgbClr val="000099"/>
                  </a:solidFill>
                  <a:latin typeface="楷体_GB2312" pitchFamily="49" charset="-122"/>
                  <a:ea typeface="楷体_GB2312" pitchFamily="49" charset="-122"/>
                </a:endParaRPr>
              </a:p>
            </p:txBody>
          </p:sp>
          <p:sp>
            <p:nvSpPr>
              <p:cNvPr id="11297" name="Text Box 48"/>
              <p:cNvSpPr txBox="1"/>
              <p:nvPr/>
            </p:nvSpPr>
            <p:spPr>
              <a:xfrm>
                <a:off x="3840" y="1056"/>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108</a:t>
                </a:r>
                <a:endParaRPr lang="en-US" altLang="zh-CN" sz="2000" b="1" dirty="0">
                  <a:solidFill>
                    <a:srgbClr val="000099"/>
                  </a:solidFill>
                  <a:latin typeface="楷体_GB2312" pitchFamily="49" charset="-122"/>
                  <a:ea typeface="楷体_GB2312" pitchFamily="49" charset="-122"/>
                </a:endParaRPr>
              </a:p>
            </p:txBody>
          </p:sp>
          <p:sp>
            <p:nvSpPr>
              <p:cNvPr id="11298" name="Text Box 49"/>
              <p:cNvSpPr txBox="1"/>
              <p:nvPr/>
            </p:nvSpPr>
            <p:spPr>
              <a:xfrm>
                <a:off x="3840" y="1536"/>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132</a:t>
                </a:r>
                <a:endParaRPr lang="en-US" altLang="zh-CN" sz="2000" b="1" dirty="0">
                  <a:solidFill>
                    <a:srgbClr val="000099"/>
                  </a:solidFill>
                  <a:latin typeface="楷体_GB2312" pitchFamily="49" charset="-122"/>
                  <a:ea typeface="楷体_GB2312" pitchFamily="49" charset="-122"/>
                </a:endParaRPr>
              </a:p>
            </p:txBody>
          </p:sp>
          <p:sp>
            <p:nvSpPr>
              <p:cNvPr id="11299" name="Text Box 50"/>
              <p:cNvSpPr txBox="1"/>
              <p:nvPr/>
            </p:nvSpPr>
            <p:spPr>
              <a:xfrm>
                <a:off x="3840" y="1872"/>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224</a:t>
                </a:r>
                <a:endParaRPr lang="en-US" altLang="zh-CN" sz="2000" b="1" dirty="0">
                  <a:solidFill>
                    <a:srgbClr val="000099"/>
                  </a:solidFill>
                  <a:latin typeface="楷体_GB2312" pitchFamily="49" charset="-122"/>
                  <a:ea typeface="楷体_GB2312" pitchFamily="49" charset="-122"/>
                </a:endParaRPr>
              </a:p>
            </p:txBody>
          </p:sp>
          <p:sp>
            <p:nvSpPr>
              <p:cNvPr id="11300" name="AutoShape 51"/>
              <p:cNvSpPr/>
              <p:nvPr/>
            </p:nvSpPr>
            <p:spPr>
              <a:xfrm>
                <a:off x="3072" y="1440"/>
                <a:ext cx="672" cy="96"/>
              </a:xfrm>
              <a:prstGeom prst="rightArrow">
                <a:avLst>
                  <a:gd name="adj1" fmla="val 50000"/>
                  <a:gd name="adj2" fmla="val 175000"/>
                </a:avLst>
              </a:prstGeom>
              <a:solidFill>
                <a:srgbClr val="FF0000"/>
              </a:solidFill>
              <a:ln w="28575" cap="flat" cmpd="sng">
                <a:solidFill>
                  <a:srgbClr val="FF000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grpSp>
        <p:sp>
          <p:nvSpPr>
            <p:cNvPr id="11273" name="Rectangle 52"/>
            <p:cNvSpPr/>
            <p:nvPr/>
          </p:nvSpPr>
          <p:spPr>
            <a:xfrm>
              <a:off x="1968" y="288"/>
              <a:ext cx="2682" cy="28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逻辑地址空间             主存</a:t>
              </a:r>
              <a:endParaRPr lang="zh-CN" altLang="en-US" sz="2400" b="1" dirty="0">
                <a:solidFill>
                  <a:srgbClr val="000099"/>
                </a:solidFill>
                <a:latin typeface="楷体_GB2312" pitchFamily="49" charset="-122"/>
                <a:ea typeface="楷体_GB2312" pitchFamily="49" charset="-122"/>
              </a:endParaRPr>
            </a:p>
          </p:txBody>
        </p:sp>
      </p:grpSp>
      <p:sp>
        <p:nvSpPr>
          <p:cNvPr id="572469" name="Rectangle 53"/>
          <p:cNvSpPr/>
          <p:nvPr/>
        </p:nvSpPr>
        <p:spPr>
          <a:xfrm>
            <a:off x="755650" y="2997200"/>
            <a:ext cx="1365250" cy="4572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例如：</a:t>
            </a:r>
            <a:endParaRPr lang="zh-CN" altLang="en-US" sz="2400" b="1" dirty="0">
              <a:solidFill>
                <a:srgbClr val="000099"/>
              </a:solidFill>
              <a:latin typeface="楷体_GB2312" pitchFamily="49" charset="-122"/>
              <a:ea typeface="楷体_GB2312" pitchFamily="49" charset="-122"/>
            </a:endParaRPr>
          </a:p>
        </p:txBody>
      </p:sp>
      <p:sp>
        <p:nvSpPr>
          <p:cNvPr id="572470" name="Rectangle 54"/>
          <p:cNvSpPr/>
          <p:nvPr/>
        </p:nvSpPr>
        <p:spPr>
          <a:xfrm>
            <a:off x="1042988" y="5876925"/>
            <a:ext cx="6016625" cy="530225"/>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000099"/>
                </a:solidFill>
                <a:ea typeface="楷体_GB2312" pitchFamily="49" charset="-122"/>
              </a:rPr>
              <a:t>逻辑关系：物理地址 </a:t>
            </a: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起始地址 </a:t>
            </a: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逻辑地址</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41346"/>
                                        </p:tgtEl>
                                        <p:attrNameLst>
                                          <p:attrName>style.visibility</p:attrName>
                                        </p:attrNameLst>
                                      </p:cBhvr>
                                      <p:to>
                                        <p:strVal val="visible"/>
                                      </p:to>
                                    </p:set>
                                    <p:anim calcmode="lin" valueType="num">
                                      <p:cBhvr additive="base">
                                        <p:cTn id="7" dur="500" fill="hold"/>
                                        <p:tgtEl>
                                          <p:spTgt spid="441346"/>
                                        </p:tgtEl>
                                        <p:attrNameLst>
                                          <p:attrName>ppt_x</p:attrName>
                                        </p:attrNameLst>
                                      </p:cBhvr>
                                      <p:tavLst>
                                        <p:tav tm="0">
                                          <p:val>
                                            <p:strVal val="0-#ppt_w/2"/>
                                          </p:val>
                                        </p:tav>
                                        <p:tav tm="100000">
                                          <p:val>
                                            <p:strVal val="#ppt_x"/>
                                          </p:val>
                                        </p:tav>
                                      </p:tavLst>
                                    </p:anim>
                                    <p:anim calcmode="lin" valueType="num">
                                      <p:cBhvr additive="base">
                                        <p:cTn id="8" dur="500" fill="hold"/>
                                        <p:tgtEl>
                                          <p:spTgt spid="4413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41347"/>
                                        </p:tgtEl>
                                        <p:attrNameLst>
                                          <p:attrName>style.visibility</p:attrName>
                                        </p:attrNameLst>
                                      </p:cBhvr>
                                      <p:to>
                                        <p:strVal val="visible"/>
                                      </p:to>
                                    </p:set>
                                    <p:anim calcmode="lin" valueType="num">
                                      <p:cBhvr additive="base">
                                        <p:cTn id="13" dur="500" fill="hold"/>
                                        <p:tgtEl>
                                          <p:spTgt spid="441347"/>
                                        </p:tgtEl>
                                        <p:attrNameLst>
                                          <p:attrName>ppt_x</p:attrName>
                                        </p:attrNameLst>
                                      </p:cBhvr>
                                      <p:tavLst>
                                        <p:tav tm="0">
                                          <p:val>
                                            <p:strVal val="0-#ppt_w/2"/>
                                          </p:val>
                                        </p:tav>
                                        <p:tav tm="100000">
                                          <p:val>
                                            <p:strVal val="#ppt_x"/>
                                          </p:val>
                                        </p:tav>
                                      </p:tavLst>
                                    </p:anim>
                                    <p:anim calcmode="lin" valueType="num">
                                      <p:cBhvr additive="base">
                                        <p:cTn id="14" dur="500" fill="hold"/>
                                        <p:tgtEl>
                                          <p:spTgt spid="4413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72469"/>
                                        </p:tgtEl>
                                        <p:attrNameLst>
                                          <p:attrName>style.visibility</p:attrName>
                                        </p:attrNameLst>
                                      </p:cBhvr>
                                      <p:to>
                                        <p:strVal val="visible"/>
                                      </p:to>
                                    </p:set>
                                    <p:anim calcmode="lin" valueType="num">
                                      <p:cBhvr additive="base">
                                        <p:cTn id="19" dur="500" fill="hold"/>
                                        <p:tgtEl>
                                          <p:spTgt spid="572469"/>
                                        </p:tgtEl>
                                        <p:attrNameLst>
                                          <p:attrName>ppt_x</p:attrName>
                                        </p:attrNameLst>
                                      </p:cBhvr>
                                      <p:tavLst>
                                        <p:tav tm="0">
                                          <p:val>
                                            <p:strVal val="#ppt_x"/>
                                          </p:val>
                                        </p:tav>
                                        <p:tav tm="100000">
                                          <p:val>
                                            <p:strVal val="#ppt_x"/>
                                          </p:val>
                                        </p:tav>
                                      </p:tavLst>
                                    </p:anim>
                                    <p:anim calcmode="lin" valueType="num">
                                      <p:cBhvr additive="base">
                                        <p:cTn id="20" dur="500" fill="hold"/>
                                        <p:tgtEl>
                                          <p:spTgt spid="57246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72439"/>
                                        </p:tgtEl>
                                        <p:attrNameLst>
                                          <p:attrName>style.visibility</p:attrName>
                                        </p:attrNameLst>
                                      </p:cBhvr>
                                      <p:to>
                                        <p:strVal val="visible"/>
                                      </p:to>
                                    </p:set>
                                    <p:animEffect transition="in" filter="wipe(left)">
                                      <p:cBhvr>
                                        <p:cTn id="25" dur="5000"/>
                                        <p:tgtEl>
                                          <p:spTgt spid="57243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72470"/>
                                        </p:tgtEl>
                                        <p:attrNameLst>
                                          <p:attrName>style.visibility</p:attrName>
                                        </p:attrNameLst>
                                      </p:cBhvr>
                                      <p:to>
                                        <p:strVal val="visible"/>
                                      </p:to>
                                    </p:set>
                                    <p:animEffect transition="in" filter="wipe(left)">
                                      <p:cBhvr>
                                        <p:cTn id="30" dur="2000"/>
                                        <p:tgtEl>
                                          <p:spTgt spid="572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6" grpId="0"/>
      <p:bldP spid="441347" grpId="0"/>
      <p:bldP spid="572469" grpId="0"/>
      <p:bldP spid="57247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43394" name="Rectangle 2"/>
          <p:cNvSpPr/>
          <p:nvPr/>
        </p:nvSpPr>
        <p:spPr>
          <a:xfrm>
            <a:off x="736600" y="2060575"/>
            <a:ext cx="8305800" cy="19177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990033"/>
                </a:solidFill>
                <a:ea typeface="楷体_GB2312" pitchFamily="49" charset="-122"/>
              </a:rPr>
              <a:t>缺点：</a:t>
            </a:r>
            <a:endParaRPr lang="zh-CN" altLang="en-US" sz="2400" b="1" dirty="0">
              <a:solidFill>
                <a:srgbClr val="990033"/>
              </a:solidFill>
              <a:ea typeface="楷体_GB2312" pitchFamily="49" charset="-122"/>
            </a:endParaRPr>
          </a:p>
          <a:p>
            <a:pPr marL="0" lvl="0" indent="0" eaLnBrk="1" hangingPunct="1">
              <a:lnSpc>
                <a:spcPct val="120000"/>
              </a:lnSpc>
              <a:buClrTx/>
              <a:buSzTx/>
              <a:buFont typeface="Wingdings" panose="05000000000000000000" pitchFamily="2" charset="2"/>
              <a:buChar char="Ø"/>
            </a:pPr>
            <a:r>
              <a:rPr lang="zh-CN" altLang="en-US" sz="2400" b="1" dirty="0">
                <a:solidFill>
                  <a:srgbClr val="000099"/>
                </a:solidFill>
                <a:ea typeface="楷体_GB2312" pitchFamily="49" charset="-122"/>
              </a:rPr>
              <a:t> 要求给每个作业分配一个</a:t>
            </a:r>
            <a:r>
              <a:rPr lang="zh-CN" altLang="en-US" sz="2400" b="1" dirty="0">
                <a:solidFill>
                  <a:srgbClr val="9900CC"/>
                </a:solidFill>
                <a:ea typeface="楷体_GB2312" pitchFamily="49" charset="-122"/>
              </a:rPr>
              <a:t>连续的存储</a:t>
            </a:r>
            <a:r>
              <a:rPr lang="zh-CN" altLang="en-US" sz="2400" b="1" dirty="0">
                <a:solidFill>
                  <a:srgbClr val="000099"/>
                </a:solidFill>
                <a:ea typeface="楷体_GB2312" pitchFamily="49" charset="-122"/>
              </a:rPr>
              <a:t>区域，且在其整个执行期间必须限定在这个区域内。也就是说，在作业执行期间程序</a:t>
            </a:r>
            <a:r>
              <a:rPr lang="zh-CN" altLang="en-US" sz="2400" b="1" dirty="0">
                <a:solidFill>
                  <a:srgbClr val="9900CC"/>
                </a:solidFill>
                <a:ea typeface="楷体_GB2312" pitchFamily="49" charset="-122"/>
              </a:rPr>
              <a:t>不能“浮动”</a:t>
            </a:r>
            <a:r>
              <a:rPr lang="zh-CN" altLang="en-US" sz="2400" b="1" dirty="0">
                <a:solidFill>
                  <a:srgbClr val="000099"/>
                </a:solidFill>
                <a:ea typeface="楷体_GB2312" pitchFamily="49" charset="-122"/>
              </a:rPr>
              <a:t> 。这对提高主存的利用率是不利的。    </a:t>
            </a:r>
            <a:endParaRPr lang="zh-CN" altLang="en-US" sz="2400" b="1" dirty="0">
              <a:solidFill>
                <a:srgbClr val="000099"/>
              </a:solidFill>
              <a:ea typeface="楷体_GB2312" pitchFamily="49" charset="-122"/>
            </a:endParaRPr>
          </a:p>
        </p:txBody>
      </p:sp>
      <p:sp>
        <p:nvSpPr>
          <p:cNvPr id="443395" name="Rectangle 3"/>
          <p:cNvSpPr/>
          <p:nvPr/>
        </p:nvSpPr>
        <p:spPr>
          <a:xfrm>
            <a:off x="749300" y="4005263"/>
            <a:ext cx="83058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 typeface="Wingdings" panose="05000000000000000000" pitchFamily="2" charset="2"/>
              <a:buChar char="Ø"/>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用户必须事先确定所需的存储量，若所需的存储量超过可用存储空间时，用户必须考虑覆盖结构。    </a:t>
            </a:r>
            <a:endParaRPr lang="zh-CN" altLang="en-US" sz="2400" b="1" dirty="0">
              <a:solidFill>
                <a:srgbClr val="000099"/>
              </a:solidFill>
              <a:ea typeface="楷体_GB2312" pitchFamily="49" charset="-122"/>
            </a:endParaRPr>
          </a:p>
        </p:txBody>
      </p:sp>
      <p:sp>
        <p:nvSpPr>
          <p:cNvPr id="443396" name="Rectangle 4"/>
          <p:cNvSpPr/>
          <p:nvPr/>
        </p:nvSpPr>
        <p:spPr>
          <a:xfrm>
            <a:off x="749300" y="5254625"/>
            <a:ext cx="83058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 typeface="Wingdings" panose="05000000000000000000" pitchFamily="2" charset="2"/>
              <a:buChar char="Ø"/>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用户之间</a:t>
            </a:r>
            <a:r>
              <a:rPr lang="zh-CN" altLang="en-US" sz="2400" b="1" dirty="0">
                <a:solidFill>
                  <a:srgbClr val="9900CC"/>
                </a:solidFill>
                <a:ea typeface="楷体_GB2312" pitchFamily="49" charset="-122"/>
              </a:rPr>
              <a:t>难以共享</a:t>
            </a:r>
            <a:r>
              <a:rPr lang="zh-CN" altLang="en-US" sz="2400" b="1" dirty="0">
                <a:solidFill>
                  <a:srgbClr val="000099"/>
                </a:solidFill>
                <a:ea typeface="楷体_GB2312" pitchFamily="49" charset="-122"/>
              </a:rPr>
              <a:t>主存中的同一程序。若要共享同一程序，则每个用户应各自使用一个分开的副本。</a:t>
            </a:r>
            <a:endParaRPr lang="zh-CN" altLang="en-US" sz="2400" b="1" dirty="0">
              <a:solidFill>
                <a:srgbClr val="000099"/>
              </a:solidFill>
              <a:ea typeface="楷体_GB2312" pitchFamily="49" charset="-122"/>
            </a:endParaRPr>
          </a:p>
        </p:txBody>
      </p:sp>
      <p:sp>
        <p:nvSpPr>
          <p:cNvPr id="443397" name="Rectangle 5"/>
          <p:cNvSpPr/>
          <p:nvPr/>
        </p:nvSpPr>
        <p:spPr>
          <a:xfrm>
            <a:off x="684213" y="836613"/>
            <a:ext cx="8459787" cy="1150937"/>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spcBef>
                <a:spcPct val="50000"/>
              </a:spcBef>
              <a:buClrTx/>
              <a:buSzTx/>
              <a:buFontTx/>
              <a:buNone/>
            </a:pPr>
            <a:r>
              <a:rPr lang="zh-CN" altLang="en-US" sz="2400" b="1" dirty="0">
                <a:solidFill>
                  <a:srgbClr val="990033"/>
                </a:solidFill>
                <a:ea typeface="楷体_GB2312" pitchFamily="49" charset="-122"/>
              </a:rPr>
              <a:t>优点：</a:t>
            </a:r>
            <a:endParaRPr lang="zh-CN" altLang="en-US" sz="2400" b="1" dirty="0">
              <a:solidFill>
                <a:srgbClr val="990033"/>
              </a:solidFill>
              <a:ea typeface="楷体_GB2312" pitchFamily="49" charset="-122"/>
            </a:endParaRPr>
          </a:p>
          <a:p>
            <a:pPr marL="0" lvl="0" indent="0" eaLnBrk="1" hangingPunct="1">
              <a:lnSpc>
                <a:spcPct val="120000"/>
              </a:lnSpc>
              <a:spcBef>
                <a:spcPct val="50000"/>
              </a:spcBef>
              <a:buClrTx/>
              <a:buSzTx/>
              <a:buFont typeface="Wingdings" panose="05000000000000000000" pitchFamily="2" charset="2"/>
              <a:buChar char="Ø"/>
            </a:pPr>
            <a:r>
              <a:rPr lang="zh-CN" altLang="en-US" sz="2400" b="1" dirty="0">
                <a:solidFill>
                  <a:srgbClr val="000099"/>
                </a:solidFill>
                <a:ea typeface="楷体_GB2312" pitchFamily="49" charset="-122"/>
              </a:rPr>
              <a:t> 简单，无需硬件支持，因而可在一般计算机上实现。</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43397"/>
                                        </p:tgtEl>
                                        <p:attrNameLst>
                                          <p:attrName>style.visibility</p:attrName>
                                        </p:attrNameLst>
                                      </p:cBhvr>
                                      <p:to>
                                        <p:strVal val="visible"/>
                                      </p:to>
                                    </p:set>
                                    <p:animEffect transition="in" filter="checkerboard(across)">
                                      <p:cBhvr>
                                        <p:cTn id="7" dur="500"/>
                                        <p:tgtEl>
                                          <p:spTgt spid="44339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43394"/>
                                        </p:tgtEl>
                                        <p:attrNameLst>
                                          <p:attrName>style.visibility</p:attrName>
                                        </p:attrNameLst>
                                      </p:cBhvr>
                                      <p:to>
                                        <p:strVal val="visible"/>
                                      </p:to>
                                    </p:set>
                                    <p:animEffect transition="in" filter="blinds(horizontal)">
                                      <p:cBhvr>
                                        <p:cTn id="12" dur="500"/>
                                        <p:tgtEl>
                                          <p:spTgt spid="443394"/>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443395"/>
                                        </p:tgtEl>
                                        <p:attrNameLst>
                                          <p:attrName>style.visibility</p:attrName>
                                        </p:attrNameLst>
                                      </p:cBhvr>
                                      <p:to>
                                        <p:strVal val="visible"/>
                                      </p:to>
                                    </p:set>
                                    <p:animEffect transition="in" filter="diamond(in)">
                                      <p:cBhvr>
                                        <p:cTn id="17" dur="2000"/>
                                        <p:tgtEl>
                                          <p:spTgt spid="44339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43396"/>
                                        </p:tgtEl>
                                        <p:attrNameLst>
                                          <p:attrName>style.visibility</p:attrName>
                                        </p:attrNameLst>
                                      </p:cBhvr>
                                      <p:to>
                                        <p:strVal val="visible"/>
                                      </p:to>
                                    </p:set>
                                    <p:animEffect transition="in" filter="blinds(horizontal)">
                                      <p:cBhvr>
                                        <p:cTn id="22" dur="500"/>
                                        <p:tgtEl>
                                          <p:spTgt spid="443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4" grpId="0"/>
      <p:bldP spid="443395" grpId="0"/>
      <p:bldP spid="443396" grpId="0"/>
      <p:bldP spid="44339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44418" name="Rectangle 2"/>
          <p:cNvSpPr/>
          <p:nvPr/>
        </p:nvSpPr>
        <p:spPr>
          <a:xfrm>
            <a:off x="755650" y="476250"/>
            <a:ext cx="4394200" cy="530225"/>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6600"/>
                </a:solidFill>
                <a:ea typeface="楷体_GB2312" pitchFamily="49" charset="-122"/>
              </a:rPr>
              <a:t>2</a:t>
            </a:r>
            <a:r>
              <a:rPr lang="zh-CN" altLang="en-US" sz="2400" b="1" dirty="0">
                <a:solidFill>
                  <a:srgbClr val="006600"/>
                </a:solidFill>
                <a:ea typeface="楷体_GB2312" pitchFamily="49" charset="-122"/>
              </a:rPr>
              <a:t>）</a:t>
            </a:r>
            <a:r>
              <a:rPr lang="zh-CN" altLang="en-US" sz="2400" b="1" dirty="0">
                <a:solidFill>
                  <a:srgbClr val="006600"/>
                </a:solidFill>
                <a:latin typeface="楷体_GB2312" pitchFamily="49" charset="-122"/>
                <a:ea typeface="楷体_GB2312" pitchFamily="49" charset="-122"/>
              </a:rPr>
              <a:t>动态重定位</a:t>
            </a:r>
            <a:endParaRPr lang="zh-CN" altLang="en-US" sz="2400" b="1" dirty="0">
              <a:solidFill>
                <a:srgbClr val="006600"/>
              </a:solidFill>
              <a:latin typeface="楷体_GB2312" pitchFamily="49" charset="-122"/>
              <a:ea typeface="楷体_GB2312" pitchFamily="49" charset="-122"/>
            </a:endParaRPr>
          </a:p>
        </p:txBody>
      </p:sp>
      <p:sp>
        <p:nvSpPr>
          <p:cNvPr id="444419" name="Rectangle 3"/>
          <p:cNvSpPr/>
          <p:nvPr/>
        </p:nvSpPr>
        <p:spPr>
          <a:xfrm>
            <a:off x="762000" y="1052513"/>
            <a:ext cx="83820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在作业执行过程中，每当执行一条指令时都由</a:t>
            </a:r>
            <a:r>
              <a:rPr lang="zh-CN" altLang="en-US" sz="2400" b="1" dirty="0">
                <a:solidFill>
                  <a:srgbClr val="FF0000"/>
                </a:solidFill>
                <a:ea typeface="楷体_GB2312" pitchFamily="49" charset="-122"/>
              </a:rPr>
              <a:t>硬件地址转换机构</a:t>
            </a:r>
            <a:r>
              <a:rPr lang="zh-CN" altLang="en-US" sz="2400" b="1" dirty="0">
                <a:solidFill>
                  <a:srgbClr val="000099"/>
                </a:solidFill>
                <a:ea typeface="楷体_GB2312" pitchFamily="49" charset="-122"/>
              </a:rPr>
              <a:t>将指令中的逻辑地址转换成物理地址。（在作业执行时动态完成） </a:t>
            </a:r>
            <a:endParaRPr lang="zh-CN" altLang="en-US" sz="2400" b="1" dirty="0">
              <a:solidFill>
                <a:srgbClr val="000099"/>
              </a:solidFill>
              <a:ea typeface="楷体_GB2312" pitchFamily="49" charset="-122"/>
            </a:endParaRPr>
          </a:p>
        </p:txBody>
      </p:sp>
      <p:sp>
        <p:nvSpPr>
          <p:cNvPr id="444421" name="Rectangle 5"/>
          <p:cNvSpPr/>
          <p:nvPr/>
        </p:nvSpPr>
        <p:spPr>
          <a:xfrm>
            <a:off x="762000" y="2438400"/>
            <a:ext cx="8382000" cy="18446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动态重定位时，</a:t>
            </a:r>
            <a:r>
              <a:rPr lang="zh-CN" altLang="en-US" sz="2400" b="1" dirty="0">
                <a:solidFill>
                  <a:srgbClr val="9900CC"/>
                </a:solidFill>
                <a:latin typeface="楷体_GB2312" pitchFamily="49" charset="-122"/>
                <a:ea typeface="楷体_GB2312" pitchFamily="49" charset="-122"/>
              </a:rPr>
              <a:t>处理机每执行一条指令都会把指令中的逻辑地址与重定位寄存器中的数值相加得到物理地址，</a:t>
            </a:r>
            <a:r>
              <a:rPr lang="zh-CN" altLang="en-US" sz="2400" b="1" dirty="0">
                <a:solidFill>
                  <a:srgbClr val="000099"/>
                </a:solidFill>
                <a:latin typeface="楷体_GB2312" pitchFamily="49" charset="-122"/>
                <a:ea typeface="楷体_GB2312" pitchFamily="49" charset="-122"/>
              </a:rPr>
              <a:t>然后按物理地址访问主存储器。重定位寄存器的值是根据作业分配到的</a:t>
            </a:r>
            <a:r>
              <a:rPr lang="zh-CN" altLang="en-US" sz="2400" b="1" dirty="0">
                <a:solidFill>
                  <a:srgbClr val="990033"/>
                </a:solidFill>
                <a:latin typeface="楷体_GB2312" pitchFamily="49" charset="-122"/>
                <a:ea typeface="楷体_GB2312" pitchFamily="49" charset="-122"/>
              </a:rPr>
              <a:t>存储空间起始地址</a:t>
            </a:r>
            <a:r>
              <a:rPr lang="zh-CN" altLang="en-US" sz="2400" b="1" dirty="0">
                <a:solidFill>
                  <a:srgbClr val="000099"/>
                </a:solidFill>
                <a:latin typeface="楷体_GB2312" pitchFamily="49" charset="-122"/>
                <a:ea typeface="楷体_GB2312" pitchFamily="49" charset="-122"/>
              </a:rPr>
              <a:t>来设定的。</a:t>
            </a:r>
            <a:endParaRPr lang="zh-CN" altLang="en-US" sz="2400" b="1" dirty="0">
              <a:solidFill>
                <a:srgbClr val="000099"/>
              </a:solidFill>
              <a:latin typeface="楷体_GB2312" pitchFamily="49" charset="-122"/>
              <a:ea typeface="楷体_GB2312" pitchFamily="49" charset="-122"/>
            </a:endParaRPr>
          </a:p>
        </p:txBody>
      </p:sp>
      <p:sp>
        <p:nvSpPr>
          <p:cNvPr id="444423" name="Rectangle 7"/>
          <p:cNvSpPr/>
          <p:nvPr/>
        </p:nvSpPr>
        <p:spPr>
          <a:xfrm>
            <a:off x="762000" y="4343400"/>
            <a:ext cx="8077200" cy="18446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采用动态重定位技术后，程序中所有指令和数据的实际地址是在程序运行过程中最后访问指令和数据的时刻确定的。因此，在作业运行过程中临时申请分配附加的存储区域或释放巳占用的部分存储空间是允许的。</a:t>
            </a:r>
            <a:endParaRPr lang="zh-CN" altLang="en-US" sz="2400" b="1" dirty="0">
              <a:solidFill>
                <a:srgbClr val="000099"/>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44418"/>
                                        </p:tgtEl>
                                        <p:attrNameLst>
                                          <p:attrName>style.visibility</p:attrName>
                                        </p:attrNameLst>
                                      </p:cBhvr>
                                      <p:to>
                                        <p:strVal val="visible"/>
                                      </p:to>
                                    </p:set>
                                    <p:anim calcmode="lin" valueType="num">
                                      <p:cBhvr additive="base">
                                        <p:cTn id="7" dur="500" fill="hold"/>
                                        <p:tgtEl>
                                          <p:spTgt spid="444418"/>
                                        </p:tgtEl>
                                        <p:attrNameLst>
                                          <p:attrName>ppt_x</p:attrName>
                                        </p:attrNameLst>
                                      </p:cBhvr>
                                      <p:tavLst>
                                        <p:tav tm="0">
                                          <p:val>
                                            <p:strVal val="0-#ppt_w/2"/>
                                          </p:val>
                                        </p:tav>
                                        <p:tav tm="100000">
                                          <p:val>
                                            <p:strVal val="#ppt_x"/>
                                          </p:val>
                                        </p:tav>
                                      </p:tavLst>
                                    </p:anim>
                                    <p:anim calcmode="lin" valueType="num">
                                      <p:cBhvr additive="base">
                                        <p:cTn id="8" dur="500" fill="hold"/>
                                        <p:tgtEl>
                                          <p:spTgt spid="4444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44419"/>
                                        </p:tgtEl>
                                        <p:attrNameLst>
                                          <p:attrName>style.visibility</p:attrName>
                                        </p:attrNameLst>
                                      </p:cBhvr>
                                      <p:to>
                                        <p:strVal val="visible"/>
                                      </p:to>
                                    </p:set>
                                    <p:anim calcmode="lin" valueType="num">
                                      <p:cBhvr additive="base">
                                        <p:cTn id="13" dur="500" fill="hold"/>
                                        <p:tgtEl>
                                          <p:spTgt spid="444419"/>
                                        </p:tgtEl>
                                        <p:attrNameLst>
                                          <p:attrName>ppt_x</p:attrName>
                                        </p:attrNameLst>
                                      </p:cBhvr>
                                      <p:tavLst>
                                        <p:tav tm="0">
                                          <p:val>
                                            <p:strVal val="0-#ppt_w/2"/>
                                          </p:val>
                                        </p:tav>
                                        <p:tav tm="100000">
                                          <p:val>
                                            <p:strVal val="#ppt_x"/>
                                          </p:val>
                                        </p:tav>
                                      </p:tavLst>
                                    </p:anim>
                                    <p:anim calcmode="lin" valueType="num">
                                      <p:cBhvr additive="base">
                                        <p:cTn id="14" dur="500" fill="hold"/>
                                        <p:tgtEl>
                                          <p:spTgt spid="4444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44421"/>
                                        </p:tgtEl>
                                        <p:attrNameLst>
                                          <p:attrName>style.visibility</p:attrName>
                                        </p:attrNameLst>
                                      </p:cBhvr>
                                      <p:to>
                                        <p:strVal val="visible"/>
                                      </p:to>
                                    </p:set>
                                    <p:anim calcmode="lin" valueType="num">
                                      <p:cBhvr additive="base">
                                        <p:cTn id="19" dur="500" fill="hold"/>
                                        <p:tgtEl>
                                          <p:spTgt spid="444421"/>
                                        </p:tgtEl>
                                        <p:attrNameLst>
                                          <p:attrName>ppt_x</p:attrName>
                                        </p:attrNameLst>
                                      </p:cBhvr>
                                      <p:tavLst>
                                        <p:tav tm="0">
                                          <p:val>
                                            <p:strVal val="0-#ppt_w/2"/>
                                          </p:val>
                                        </p:tav>
                                        <p:tav tm="100000">
                                          <p:val>
                                            <p:strVal val="#ppt_x"/>
                                          </p:val>
                                        </p:tav>
                                      </p:tavLst>
                                    </p:anim>
                                    <p:anim calcmode="lin" valueType="num">
                                      <p:cBhvr additive="base">
                                        <p:cTn id="20" dur="500" fill="hold"/>
                                        <p:tgtEl>
                                          <p:spTgt spid="44442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44423"/>
                                        </p:tgtEl>
                                        <p:attrNameLst>
                                          <p:attrName>style.visibility</p:attrName>
                                        </p:attrNameLst>
                                      </p:cBhvr>
                                      <p:to>
                                        <p:strVal val="visible"/>
                                      </p:to>
                                    </p:set>
                                    <p:anim calcmode="lin" valueType="num">
                                      <p:cBhvr additive="base">
                                        <p:cTn id="25" dur="500" fill="hold"/>
                                        <p:tgtEl>
                                          <p:spTgt spid="444423"/>
                                        </p:tgtEl>
                                        <p:attrNameLst>
                                          <p:attrName>ppt_x</p:attrName>
                                        </p:attrNameLst>
                                      </p:cBhvr>
                                      <p:tavLst>
                                        <p:tav tm="0">
                                          <p:val>
                                            <p:strVal val="0-#ppt_w/2"/>
                                          </p:val>
                                        </p:tav>
                                        <p:tav tm="100000">
                                          <p:val>
                                            <p:strVal val="#ppt_x"/>
                                          </p:val>
                                        </p:tav>
                                      </p:tavLst>
                                    </p:anim>
                                    <p:anim calcmode="lin" valueType="num">
                                      <p:cBhvr additive="base">
                                        <p:cTn id="26" dur="500" fill="hold"/>
                                        <p:tgtEl>
                                          <p:spTgt spid="4444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8" grpId="0" animBg="1"/>
      <p:bldP spid="444419" grpId="0"/>
      <p:bldP spid="444421" grpId="0"/>
      <p:bldP spid="4444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14339" name="Text Box 2"/>
          <p:cNvSpPr txBox="1"/>
          <p:nvPr/>
        </p:nvSpPr>
        <p:spPr>
          <a:xfrm>
            <a:off x="827088" y="981075"/>
            <a:ext cx="3017837" cy="457200"/>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动态重定位的实现</a:t>
            </a:r>
            <a:r>
              <a:rPr lang="zh-CN" altLang="en-US" sz="2400" b="1" dirty="0"/>
              <a:t> </a:t>
            </a:r>
            <a:endParaRPr lang="zh-CN" altLang="en-US" sz="2400" b="1" dirty="0"/>
          </a:p>
        </p:txBody>
      </p:sp>
      <p:sp>
        <p:nvSpPr>
          <p:cNvPr id="14340" name="Text Box 3"/>
          <p:cNvSpPr txBox="1"/>
          <p:nvPr/>
        </p:nvSpPr>
        <p:spPr>
          <a:xfrm>
            <a:off x="3276600" y="6092825"/>
            <a:ext cx="2711450" cy="457200"/>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动态重定位示意图</a:t>
            </a:r>
            <a:r>
              <a:rPr lang="zh-CN" altLang="en-US" sz="2400" dirty="0"/>
              <a:t> </a:t>
            </a:r>
            <a:endParaRPr lang="zh-CN" altLang="en-US" sz="2400" dirty="0"/>
          </a:p>
        </p:txBody>
      </p:sp>
      <p:graphicFrame>
        <p:nvGraphicFramePr>
          <p:cNvPr id="14341" name="Object 4"/>
          <p:cNvGraphicFramePr>
            <a:graphicFrameLocks noChangeAspect="1"/>
          </p:cNvGraphicFramePr>
          <p:nvPr/>
        </p:nvGraphicFramePr>
        <p:xfrm>
          <a:off x="395288" y="1271588"/>
          <a:ext cx="8820150" cy="4846637"/>
        </p:xfrm>
        <a:graphic>
          <a:graphicData uri="http://schemas.openxmlformats.org/presentationml/2006/ole">
            <mc:AlternateContent xmlns:mc="http://schemas.openxmlformats.org/markup-compatibility/2006">
              <mc:Choice xmlns:v="urn:schemas-microsoft-com:vml" Requires="v">
                <p:oleObj spid="_x0000_s3076" name="" r:id="rId1" imgW="3825240" imgH="1920240" progId="Visio.Drawing.4">
                  <p:embed/>
                </p:oleObj>
              </mc:Choice>
              <mc:Fallback>
                <p:oleObj name="" r:id="rId1" imgW="3825240" imgH="1920240" progId="Visio.Drawing.4">
                  <p:embed/>
                  <p:pic>
                    <p:nvPicPr>
                      <p:cNvPr id="0" name="图片 3075"/>
                      <p:cNvPicPr/>
                      <p:nvPr/>
                    </p:nvPicPr>
                    <p:blipFill>
                      <a:blip r:embed="rId2"/>
                      <a:stretch>
                        <a:fillRect/>
                      </a:stretch>
                    </p:blipFill>
                    <p:spPr>
                      <a:xfrm>
                        <a:off x="395288" y="1271588"/>
                        <a:ext cx="8820150" cy="4846637"/>
                      </a:xfrm>
                      <a:prstGeom prst="rect">
                        <a:avLst/>
                      </a:prstGeom>
                      <a:noFill/>
                      <a:ln w="38100">
                        <a:noFill/>
                        <a:miter/>
                      </a:ln>
                    </p:spPr>
                  </p:pic>
                </p:oleObj>
              </mc:Fallback>
            </mc:AlternateContent>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46466" name="Rectangle 2"/>
          <p:cNvSpPr/>
          <p:nvPr/>
        </p:nvSpPr>
        <p:spPr>
          <a:xfrm>
            <a:off x="611188" y="836613"/>
            <a:ext cx="8305800" cy="23558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990033"/>
                </a:solidFill>
                <a:ea typeface="楷体_GB2312" pitchFamily="49" charset="-122"/>
              </a:rPr>
              <a:t>优点：</a:t>
            </a:r>
            <a:endParaRPr lang="zh-CN" altLang="en-US" sz="2400" b="1" dirty="0">
              <a:solidFill>
                <a:srgbClr val="990033"/>
              </a:solidFill>
              <a:ea typeface="楷体_GB2312" pitchFamily="49" charset="-122"/>
            </a:endParaRPr>
          </a:p>
          <a:p>
            <a:pPr marL="0" lvl="0" indent="0" eaLnBrk="1" hangingPunct="1">
              <a:lnSpc>
                <a:spcPct val="120000"/>
              </a:lnSpc>
              <a:buClrTx/>
              <a:buSzTx/>
              <a:buFont typeface="Wingdings" panose="05000000000000000000" pitchFamily="2" charset="2"/>
              <a:buChar char="Ø"/>
            </a:pPr>
            <a:r>
              <a:rPr lang="zh-CN" altLang="en-US" sz="2400" b="1" dirty="0">
                <a:solidFill>
                  <a:srgbClr val="000099"/>
                </a:solidFill>
                <a:ea typeface="楷体_GB2312" pitchFamily="49" charset="-122"/>
              </a:rPr>
              <a:t> 主存的使用更加</a:t>
            </a:r>
            <a:r>
              <a:rPr lang="zh-CN" altLang="en-US" sz="2400" b="1" dirty="0">
                <a:solidFill>
                  <a:srgbClr val="9900CC"/>
                </a:solidFill>
                <a:ea typeface="楷体_GB2312" pitchFamily="49" charset="-122"/>
              </a:rPr>
              <a:t>灵活</a:t>
            </a:r>
            <a:r>
              <a:rPr lang="zh-CN" altLang="en-US" sz="2400" b="1" dirty="0">
                <a:solidFill>
                  <a:srgbClr val="000099"/>
                </a:solidFill>
                <a:ea typeface="楷体_GB2312" pitchFamily="49" charset="-122"/>
              </a:rPr>
              <a:t>有效。一个用户的作业不一定要分配在一个连续的存储区，因而可以使用较小的分配单位。而且在作业开始之前也不一定把它的地址空间中的信息全部装入主存，而可以在作业执行期间根据请求动态地进行。    </a:t>
            </a:r>
            <a:endParaRPr lang="zh-CN" altLang="en-US" sz="2400" b="1" dirty="0">
              <a:solidFill>
                <a:srgbClr val="000099"/>
              </a:solidFill>
              <a:ea typeface="楷体_GB2312" pitchFamily="49" charset="-122"/>
            </a:endParaRPr>
          </a:p>
        </p:txBody>
      </p:sp>
      <p:sp>
        <p:nvSpPr>
          <p:cNvPr id="446467" name="Rectangle 3"/>
          <p:cNvSpPr/>
          <p:nvPr/>
        </p:nvSpPr>
        <p:spPr>
          <a:xfrm>
            <a:off x="611188" y="4868863"/>
            <a:ext cx="8305800" cy="15525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990033"/>
                </a:solidFill>
                <a:ea typeface="楷体_GB2312" pitchFamily="49" charset="-122"/>
              </a:rPr>
              <a:t>缺点：</a:t>
            </a:r>
            <a:endParaRPr lang="zh-CN" altLang="en-US" sz="2400" b="1" dirty="0">
              <a:solidFill>
                <a:srgbClr val="990033"/>
              </a:solidFill>
              <a:ea typeface="楷体_GB2312" pitchFamily="49" charset="-122"/>
            </a:endParaRPr>
          </a:p>
          <a:p>
            <a:pPr marL="0" lvl="0" indent="0" eaLnBrk="1" hangingPunct="1">
              <a:lnSpc>
                <a:spcPct val="120000"/>
              </a:lnSpc>
              <a:buClrTx/>
              <a:buSzTx/>
              <a:buFont typeface="Wingdings" panose="05000000000000000000" pitchFamily="2" charset="2"/>
              <a:buChar char="Ø"/>
            </a:pPr>
            <a:r>
              <a:rPr lang="zh-CN" altLang="en-US" sz="2400" b="1" dirty="0">
                <a:solidFill>
                  <a:srgbClr val="000099"/>
                </a:solidFill>
                <a:ea typeface="楷体_GB2312" pitchFamily="49" charset="-122"/>
              </a:rPr>
              <a:t> 需要附加</a:t>
            </a:r>
            <a:r>
              <a:rPr lang="zh-CN" altLang="en-US" sz="2400" b="1" dirty="0">
                <a:solidFill>
                  <a:srgbClr val="9900CC"/>
                </a:solidFill>
                <a:ea typeface="楷体_GB2312" pitchFamily="49" charset="-122"/>
              </a:rPr>
              <a:t>硬件支持</a:t>
            </a:r>
            <a:r>
              <a:rPr lang="zh-CN" altLang="en-US" sz="2400" b="1" dirty="0">
                <a:solidFill>
                  <a:srgbClr val="000099"/>
                </a:solidFill>
                <a:ea typeface="楷体_GB2312" pitchFamily="49" charset="-122"/>
              </a:rPr>
              <a:t>；</a:t>
            </a:r>
            <a:endParaRPr lang="zh-CN" altLang="en-US" sz="2400" b="1" dirty="0">
              <a:solidFill>
                <a:srgbClr val="000099"/>
              </a:solidFill>
              <a:ea typeface="楷体_GB2312" pitchFamily="49" charset="-122"/>
            </a:endParaRPr>
          </a:p>
          <a:p>
            <a:pPr marL="0" lvl="0" indent="0" eaLnBrk="1" hangingPunct="1">
              <a:lnSpc>
                <a:spcPct val="120000"/>
              </a:lnSpc>
              <a:buClrTx/>
              <a:buSzTx/>
              <a:buFont typeface="Wingdings" panose="05000000000000000000" pitchFamily="2" charset="2"/>
              <a:buChar char="Ø"/>
            </a:pPr>
            <a:r>
              <a:rPr lang="zh-CN" altLang="en-US" sz="2400" b="1" dirty="0">
                <a:solidFill>
                  <a:srgbClr val="000099"/>
                </a:solidFill>
                <a:ea typeface="楷体_GB2312" pitchFamily="49" charset="-122"/>
              </a:rPr>
              <a:t> 实现存储器管理的软件比较</a:t>
            </a:r>
            <a:r>
              <a:rPr lang="zh-CN" altLang="en-US" sz="2400" b="1" dirty="0">
                <a:solidFill>
                  <a:srgbClr val="9900CC"/>
                </a:solidFill>
                <a:ea typeface="楷体_GB2312" pitchFamily="49" charset="-122"/>
              </a:rPr>
              <a:t>复杂</a:t>
            </a:r>
            <a:r>
              <a:rPr lang="zh-CN" altLang="en-US" sz="2400" b="1" dirty="0">
                <a:solidFill>
                  <a:srgbClr val="000099"/>
                </a:solidFill>
                <a:ea typeface="楷体_GB2312" pitchFamily="49" charset="-122"/>
              </a:rPr>
              <a:t>。</a:t>
            </a:r>
            <a:endParaRPr lang="zh-CN" altLang="en-US" sz="2400" b="1" dirty="0">
              <a:solidFill>
                <a:srgbClr val="000099"/>
              </a:solidFill>
              <a:ea typeface="楷体_GB2312" pitchFamily="49" charset="-122"/>
            </a:endParaRPr>
          </a:p>
        </p:txBody>
      </p:sp>
      <p:sp>
        <p:nvSpPr>
          <p:cNvPr id="446468" name="Rectangle 4"/>
          <p:cNvSpPr/>
          <p:nvPr/>
        </p:nvSpPr>
        <p:spPr>
          <a:xfrm>
            <a:off x="611188" y="3284538"/>
            <a:ext cx="83058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 typeface="Wingdings" panose="05000000000000000000" pitchFamily="2" charset="2"/>
              <a:buChar char="Ø"/>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几个作业</a:t>
            </a:r>
            <a:r>
              <a:rPr lang="zh-CN" altLang="en-US" sz="2400" b="1" dirty="0">
                <a:solidFill>
                  <a:srgbClr val="9900CC"/>
                </a:solidFill>
                <a:ea typeface="楷体_GB2312" pitchFamily="49" charset="-122"/>
              </a:rPr>
              <a:t>共享</a:t>
            </a:r>
            <a:r>
              <a:rPr lang="zh-CN" altLang="en-US" sz="2400" b="1" dirty="0">
                <a:solidFill>
                  <a:srgbClr val="000099"/>
                </a:solidFill>
                <a:ea typeface="楷体_GB2312" pitchFamily="49" charset="-122"/>
              </a:rPr>
              <a:t>一程序段的单个副本比较容易。    </a:t>
            </a:r>
            <a:endParaRPr lang="zh-CN" altLang="en-US" sz="2400" b="1" dirty="0">
              <a:solidFill>
                <a:srgbClr val="000099"/>
              </a:solidFill>
              <a:ea typeface="楷体_GB2312" pitchFamily="49" charset="-122"/>
            </a:endParaRPr>
          </a:p>
        </p:txBody>
      </p:sp>
      <p:sp>
        <p:nvSpPr>
          <p:cNvPr id="446469" name="Rectangle 5"/>
          <p:cNvSpPr/>
          <p:nvPr/>
        </p:nvSpPr>
        <p:spPr>
          <a:xfrm>
            <a:off x="611188" y="3860800"/>
            <a:ext cx="83058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 typeface="Wingdings" panose="05000000000000000000" pitchFamily="2" charset="2"/>
              <a:buChar char="Ø"/>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有可能向用户提供一个比主存的存储</a:t>
            </a:r>
            <a:r>
              <a:rPr lang="zh-CN" altLang="en-US" sz="2400" b="1" dirty="0">
                <a:solidFill>
                  <a:srgbClr val="9900CC"/>
                </a:solidFill>
                <a:ea typeface="楷体_GB2312" pitchFamily="49" charset="-122"/>
              </a:rPr>
              <a:t>空间大</a:t>
            </a:r>
            <a:r>
              <a:rPr lang="zh-CN" altLang="en-US" sz="2400" b="1" dirty="0">
                <a:solidFill>
                  <a:srgbClr val="000099"/>
                </a:solidFill>
                <a:ea typeface="楷体_GB2312" pitchFamily="49" charset="-122"/>
              </a:rPr>
              <a:t>用多的地址空间。</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46466"/>
                                        </p:tgtEl>
                                        <p:attrNameLst>
                                          <p:attrName>style.visibility</p:attrName>
                                        </p:attrNameLst>
                                      </p:cBhvr>
                                      <p:to>
                                        <p:strVal val="visible"/>
                                      </p:to>
                                    </p:set>
                                    <p:anim calcmode="lin" valueType="num">
                                      <p:cBhvr additive="base">
                                        <p:cTn id="7" dur="500" fill="hold"/>
                                        <p:tgtEl>
                                          <p:spTgt spid="446466"/>
                                        </p:tgtEl>
                                        <p:attrNameLst>
                                          <p:attrName>ppt_x</p:attrName>
                                        </p:attrNameLst>
                                      </p:cBhvr>
                                      <p:tavLst>
                                        <p:tav tm="0">
                                          <p:val>
                                            <p:strVal val="0-#ppt_w/2"/>
                                          </p:val>
                                        </p:tav>
                                        <p:tav tm="100000">
                                          <p:val>
                                            <p:strVal val="#ppt_x"/>
                                          </p:val>
                                        </p:tav>
                                      </p:tavLst>
                                    </p:anim>
                                    <p:anim calcmode="lin" valueType="num">
                                      <p:cBhvr additive="base">
                                        <p:cTn id="8" dur="500" fill="hold"/>
                                        <p:tgtEl>
                                          <p:spTgt spid="4464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46468"/>
                                        </p:tgtEl>
                                        <p:attrNameLst>
                                          <p:attrName>style.visibility</p:attrName>
                                        </p:attrNameLst>
                                      </p:cBhvr>
                                      <p:to>
                                        <p:strVal val="visible"/>
                                      </p:to>
                                    </p:set>
                                    <p:anim calcmode="lin" valueType="num">
                                      <p:cBhvr additive="base">
                                        <p:cTn id="13" dur="500" fill="hold"/>
                                        <p:tgtEl>
                                          <p:spTgt spid="446468"/>
                                        </p:tgtEl>
                                        <p:attrNameLst>
                                          <p:attrName>ppt_x</p:attrName>
                                        </p:attrNameLst>
                                      </p:cBhvr>
                                      <p:tavLst>
                                        <p:tav tm="0">
                                          <p:val>
                                            <p:strVal val="0-#ppt_w/2"/>
                                          </p:val>
                                        </p:tav>
                                        <p:tav tm="100000">
                                          <p:val>
                                            <p:strVal val="#ppt_x"/>
                                          </p:val>
                                        </p:tav>
                                      </p:tavLst>
                                    </p:anim>
                                    <p:anim calcmode="lin" valueType="num">
                                      <p:cBhvr additive="base">
                                        <p:cTn id="14" dur="500" fill="hold"/>
                                        <p:tgtEl>
                                          <p:spTgt spid="44646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46469"/>
                                        </p:tgtEl>
                                        <p:attrNameLst>
                                          <p:attrName>style.visibility</p:attrName>
                                        </p:attrNameLst>
                                      </p:cBhvr>
                                      <p:to>
                                        <p:strVal val="visible"/>
                                      </p:to>
                                    </p:set>
                                    <p:anim calcmode="lin" valueType="num">
                                      <p:cBhvr additive="base">
                                        <p:cTn id="19" dur="500" fill="hold"/>
                                        <p:tgtEl>
                                          <p:spTgt spid="446469"/>
                                        </p:tgtEl>
                                        <p:attrNameLst>
                                          <p:attrName>ppt_x</p:attrName>
                                        </p:attrNameLst>
                                      </p:cBhvr>
                                      <p:tavLst>
                                        <p:tav tm="0">
                                          <p:val>
                                            <p:strVal val="0-#ppt_w/2"/>
                                          </p:val>
                                        </p:tav>
                                        <p:tav tm="100000">
                                          <p:val>
                                            <p:strVal val="#ppt_x"/>
                                          </p:val>
                                        </p:tav>
                                      </p:tavLst>
                                    </p:anim>
                                    <p:anim calcmode="lin" valueType="num">
                                      <p:cBhvr additive="base">
                                        <p:cTn id="20" dur="500" fill="hold"/>
                                        <p:tgtEl>
                                          <p:spTgt spid="44646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46467"/>
                                        </p:tgtEl>
                                        <p:attrNameLst>
                                          <p:attrName>style.visibility</p:attrName>
                                        </p:attrNameLst>
                                      </p:cBhvr>
                                      <p:to>
                                        <p:strVal val="visible"/>
                                      </p:to>
                                    </p:set>
                                    <p:anim calcmode="lin" valueType="num">
                                      <p:cBhvr additive="base">
                                        <p:cTn id="25" dur="500" fill="hold"/>
                                        <p:tgtEl>
                                          <p:spTgt spid="446467"/>
                                        </p:tgtEl>
                                        <p:attrNameLst>
                                          <p:attrName>ppt_x</p:attrName>
                                        </p:attrNameLst>
                                      </p:cBhvr>
                                      <p:tavLst>
                                        <p:tav tm="0">
                                          <p:val>
                                            <p:strVal val="0-#ppt_w/2"/>
                                          </p:val>
                                        </p:tav>
                                        <p:tav tm="100000">
                                          <p:val>
                                            <p:strVal val="#ppt_x"/>
                                          </p:val>
                                        </p:tav>
                                      </p:tavLst>
                                    </p:anim>
                                    <p:anim calcmode="lin" valueType="num">
                                      <p:cBhvr additive="base">
                                        <p:cTn id="26" dur="500" fill="hold"/>
                                        <p:tgtEl>
                                          <p:spTgt spid="4464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6" grpId="0"/>
      <p:bldP spid="446467" grpId="0"/>
      <p:bldP spid="446468" grpId="0"/>
      <p:bldP spid="44646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51588" name="Text Box 1028"/>
          <p:cNvSpPr txBox="1"/>
          <p:nvPr/>
        </p:nvSpPr>
        <p:spPr>
          <a:xfrm>
            <a:off x="611188" y="765175"/>
            <a:ext cx="5184775" cy="51911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dirty="0">
                <a:solidFill>
                  <a:srgbClr val="9900CC"/>
                </a:solidFill>
                <a:ea typeface="隶书" panose="02010509060101010101" pitchFamily="49" charset="-122"/>
              </a:rPr>
              <a:t>（三）存储的共享与保护</a:t>
            </a:r>
            <a:endParaRPr lang="zh-CN" altLang="en-US" sz="2800" dirty="0">
              <a:solidFill>
                <a:srgbClr val="9900CC"/>
              </a:solidFill>
              <a:ea typeface="隶书" panose="02010509060101010101" pitchFamily="49" charset="-122"/>
            </a:endParaRPr>
          </a:p>
        </p:txBody>
      </p:sp>
      <p:sp>
        <p:nvSpPr>
          <p:cNvPr id="451589" name="Text Box 1029"/>
          <p:cNvSpPr txBox="1"/>
          <p:nvPr/>
        </p:nvSpPr>
        <p:spPr>
          <a:xfrm>
            <a:off x="684213" y="1362075"/>
            <a:ext cx="83058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在多道程序设计的环境中，要保证各道程序只能在自己的存储区中活动，不对别的程序产生干扰和破坏，必须对存储信息采用各种保护措施。</a:t>
            </a:r>
            <a:endParaRPr lang="zh-CN" altLang="en-US" sz="2400" b="1" dirty="0">
              <a:solidFill>
                <a:srgbClr val="000099"/>
              </a:solidFill>
              <a:ea typeface="楷体_GB2312" pitchFamily="49" charset="-122"/>
            </a:endParaRPr>
          </a:p>
        </p:txBody>
      </p:sp>
      <p:sp>
        <p:nvSpPr>
          <p:cNvPr id="451590" name="Text Box 1030"/>
          <p:cNvSpPr txBox="1"/>
          <p:nvPr/>
        </p:nvSpPr>
        <p:spPr>
          <a:xfrm>
            <a:off x="692150" y="2844800"/>
            <a:ext cx="798195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990033"/>
                </a:solidFill>
                <a:ea typeface="楷体_GB2312" pitchFamily="49" charset="-122"/>
              </a:rPr>
              <a:t>常用的保护手段</a:t>
            </a:r>
            <a:r>
              <a:rPr lang="zh-CN" altLang="en-US" sz="2400" b="1" dirty="0">
                <a:solidFill>
                  <a:srgbClr val="000099"/>
                </a:solidFill>
                <a:ea typeface="楷体_GB2312" pitchFamily="49" charset="-122"/>
              </a:rPr>
              <a:t>：上、下界寄存器法和存储</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保护</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键法。</a:t>
            </a:r>
            <a:endParaRPr lang="zh-CN" altLang="en-US" sz="2400" b="1" dirty="0">
              <a:solidFill>
                <a:srgbClr val="000099"/>
              </a:solidFill>
              <a:ea typeface="楷体_GB2312" pitchFamily="49" charset="-122"/>
            </a:endParaRPr>
          </a:p>
        </p:txBody>
      </p:sp>
      <p:sp>
        <p:nvSpPr>
          <p:cNvPr id="451591" name="Text Box 1031"/>
          <p:cNvSpPr txBox="1"/>
          <p:nvPr/>
        </p:nvSpPr>
        <p:spPr>
          <a:xfrm>
            <a:off x="679450" y="3429000"/>
            <a:ext cx="403225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6600"/>
                </a:solidFill>
                <a:latin typeface="楷体_GB2312" pitchFamily="49" charset="-122"/>
                <a:ea typeface="楷体_GB2312" pitchFamily="49" charset="-122"/>
              </a:rPr>
              <a:t>1. </a:t>
            </a:r>
            <a:r>
              <a:rPr lang="zh-CN" altLang="en-US" sz="2400" b="1" dirty="0">
                <a:solidFill>
                  <a:srgbClr val="006600"/>
                </a:solidFill>
                <a:latin typeface="楷体_GB2312" pitchFamily="49" charset="-122"/>
                <a:ea typeface="楷体_GB2312" pitchFamily="49" charset="-122"/>
              </a:rPr>
              <a:t>上、下界寄存器法：</a:t>
            </a:r>
            <a:endParaRPr lang="zh-CN" altLang="en-US" sz="2400" b="1" dirty="0">
              <a:solidFill>
                <a:srgbClr val="006600"/>
              </a:solidFill>
              <a:latin typeface="楷体_GB2312" pitchFamily="49" charset="-122"/>
              <a:ea typeface="楷体_GB2312" pitchFamily="49" charset="-122"/>
            </a:endParaRPr>
          </a:p>
        </p:txBody>
      </p:sp>
      <p:sp>
        <p:nvSpPr>
          <p:cNvPr id="451592" name="Text Box 1032"/>
          <p:cNvSpPr txBox="1"/>
          <p:nvPr/>
        </p:nvSpPr>
        <p:spPr>
          <a:xfrm>
            <a:off x="611188" y="4005263"/>
            <a:ext cx="8305800" cy="26162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15000"/>
              </a:spcBef>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由硬件为系统中的每个作业或进程设置一对上、下界寄存器。当某一作业的程序装入内存后，系统就将该程序所占存储空间的</a:t>
            </a:r>
            <a:r>
              <a:rPr lang="zh-CN" altLang="en-US" sz="2400" b="1" dirty="0">
                <a:solidFill>
                  <a:srgbClr val="009900"/>
                </a:solidFill>
                <a:ea typeface="楷体_GB2312" pitchFamily="49" charset="-122"/>
              </a:rPr>
              <a:t>首地址</a:t>
            </a:r>
            <a:r>
              <a:rPr lang="zh-CN" altLang="en-US" sz="2400" b="1" dirty="0">
                <a:solidFill>
                  <a:srgbClr val="000099"/>
                </a:solidFill>
                <a:ea typeface="楷体_GB2312" pitchFamily="49" charset="-122"/>
              </a:rPr>
              <a:t>和</a:t>
            </a:r>
            <a:r>
              <a:rPr lang="zh-CN" altLang="en-US" sz="2400" b="1" dirty="0">
                <a:solidFill>
                  <a:srgbClr val="009900"/>
                </a:solidFill>
                <a:ea typeface="楷体_GB2312" pitchFamily="49" charset="-122"/>
              </a:rPr>
              <a:t>末地址</a:t>
            </a:r>
            <a:r>
              <a:rPr lang="zh-CN" altLang="en-US" sz="2400" b="1" dirty="0">
                <a:solidFill>
                  <a:srgbClr val="000099"/>
                </a:solidFill>
                <a:ea typeface="楷体_GB2312" pitchFamily="49" charset="-122"/>
              </a:rPr>
              <a:t>分别装入相应的一对上、下界寄存器中。在程序的运行过程中若要对内存进行存访操作时，必须先进行存访地址合法性的检测。非法存访，将产生越界中断。</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1588"/>
                                        </p:tgtEl>
                                        <p:attrNameLst>
                                          <p:attrName>style.visibility</p:attrName>
                                        </p:attrNameLst>
                                      </p:cBhvr>
                                      <p:to>
                                        <p:strVal val="visible"/>
                                      </p:to>
                                    </p:set>
                                    <p:anim calcmode="lin" valueType="num">
                                      <p:cBhvr additive="base">
                                        <p:cTn id="7" dur="500" fill="hold"/>
                                        <p:tgtEl>
                                          <p:spTgt spid="451588"/>
                                        </p:tgtEl>
                                        <p:attrNameLst>
                                          <p:attrName>ppt_x</p:attrName>
                                        </p:attrNameLst>
                                      </p:cBhvr>
                                      <p:tavLst>
                                        <p:tav tm="0">
                                          <p:val>
                                            <p:strVal val="0-#ppt_w/2"/>
                                          </p:val>
                                        </p:tav>
                                        <p:tav tm="100000">
                                          <p:val>
                                            <p:strVal val="#ppt_x"/>
                                          </p:val>
                                        </p:tav>
                                      </p:tavLst>
                                    </p:anim>
                                    <p:anim calcmode="lin" valueType="num">
                                      <p:cBhvr additive="base">
                                        <p:cTn id="8" dur="500" fill="hold"/>
                                        <p:tgtEl>
                                          <p:spTgt spid="4515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51589"/>
                                        </p:tgtEl>
                                        <p:attrNameLst>
                                          <p:attrName>style.visibility</p:attrName>
                                        </p:attrNameLst>
                                      </p:cBhvr>
                                      <p:to>
                                        <p:strVal val="visible"/>
                                      </p:to>
                                    </p:set>
                                    <p:anim calcmode="lin" valueType="num">
                                      <p:cBhvr additive="base">
                                        <p:cTn id="13" dur="500" fill="hold"/>
                                        <p:tgtEl>
                                          <p:spTgt spid="451589"/>
                                        </p:tgtEl>
                                        <p:attrNameLst>
                                          <p:attrName>ppt_x</p:attrName>
                                        </p:attrNameLst>
                                      </p:cBhvr>
                                      <p:tavLst>
                                        <p:tav tm="0">
                                          <p:val>
                                            <p:strVal val="0-#ppt_w/2"/>
                                          </p:val>
                                        </p:tav>
                                        <p:tav tm="100000">
                                          <p:val>
                                            <p:strVal val="#ppt_x"/>
                                          </p:val>
                                        </p:tav>
                                      </p:tavLst>
                                    </p:anim>
                                    <p:anim calcmode="lin" valueType="num">
                                      <p:cBhvr additive="base">
                                        <p:cTn id="14" dur="500" fill="hold"/>
                                        <p:tgtEl>
                                          <p:spTgt spid="45158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51590"/>
                                        </p:tgtEl>
                                        <p:attrNameLst>
                                          <p:attrName>style.visibility</p:attrName>
                                        </p:attrNameLst>
                                      </p:cBhvr>
                                      <p:to>
                                        <p:strVal val="visible"/>
                                      </p:to>
                                    </p:set>
                                    <p:anim calcmode="lin" valueType="num">
                                      <p:cBhvr additive="base">
                                        <p:cTn id="19" dur="500" fill="hold"/>
                                        <p:tgtEl>
                                          <p:spTgt spid="451590"/>
                                        </p:tgtEl>
                                        <p:attrNameLst>
                                          <p:attrName>ppt_x</p:attrName>
                                        </p:attrNameLst>
                                      </p:cBhvr>
                                      <p:tavLst>
                                        <p:tav tm="0">
                                          <p:val>
                                            <p:strVal val="0-#ppt_w/2"/>
                                          </p:val>
                                        </p:tav>
                                        <p:tav tm="100000">
                                          <p:val>
                                            <p:strVal val="#ppt_x"/>
                                          </p:val>
                                        </p:tav>
                                      </p:tavLst>
                                    </p:anim>
                                    <p:anim calcmode="lin" valueType="num">
                                      <p:cBhvr additive="base">
                                        <p:cTn id="20" dur="500" fill="hold"/>
                                        <p:tgtEl>
                                          <p:spTgt spid="45159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51591"/>
                                        </p:tgtEl>
                                        <p:attrNameLst>
                                          <p:attrName>style.visibility</p:attrName>
                                        </p:attrNameLst>
                                      </p:cBhvr>
                                      <p:to>
                                        <p:strVal val="visible"/>
                                      </p:to>
                                    </p:set>
                                    <p:anim calcmode="lin" valueType="num">
                                      <p:cBhvr additive="base">
                                        <p:cTn id="25" dur="500" fill="hold"/>
                                        <p:tgtEl>
                                          <p:spTgt spid="451591"/>
                                        </p:tgtEl>
                                        <p:attrNameLst>
                                          <p:attrName>ppt_x</p:attrName>
                                        </p:attrNameLst>
                                      </p:cBhvr>
                                      <p:tavLst>
                                        <p:tav tm="0">
                                          <p:val>
                                            <p:strVal val="0-#ppt_w/2"/>
                                          </p:val>
                                        </p:tav>
                                        <p:tav tm="100000">
                                          <p:val>
                                            <p:strVal val="#ppt_x"/>
                                          </p:val>
                                        </p:tav>
                                      </p:tavLst>
                                    </p:anim>
                                    <p:anim calcmode="lin" valueType="num">
                                      <p:cBhvr additive="base">
                                        <p:cTn id="26" dur="500" fill="hold"/>
                                        <p:tgtEl>
                                          <p:spTgt spid="45159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51592"/>
                                        </p:tgtEl>
                                        <p:attrNameLst>
                                          <p:attrName>style.visibility</p:attrName>
                                        </p:attrNameLst>
                                      </p:cBhvr>
                                      <p:to>
                                        <p:strVal val="visible"/>
                                      </p:to>
                                    </p:set>
                                    <p:anim calcmode="lin" valueType="num">
                                      <p:cBhvr additive="base">
                                        <p:cTn id="31" dur="500" fill="hold"/>
                                        <p:tgtEl>
                                          <p:spTgt spid="451592"/>
                                        </p:tgtEl>
                                        <p:attrNameLst>
                                          <p:attrName>ppt_x</p:attrName>
                                        </p:attrNameLst>
                                      </p:cBhvr>
                                      <p:tavLst>
                                        <p:tav tm="0">
                                          <p:val>
                                            <p:strVal val="0-#ppt_w/2"/>
                                          </p:val>
                                        </p:tav>
                                        <p:tav tm="100000">
                                          <p:val>
                                            <p:strVal val="#ppt_x"/>
                                          </p:val>
                                        </p:tav>
                                      </p:tavLst>
                                    </p:anim>
                                    <p:anim calcmode="lin" valueType="num">
                                      <p:cBhvr additive="base">
                                        <p:cTn id="32" dur="500" fill="hold"/>
                                        <p:tgtEl>
                                          <p:spTgt spid="4515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88" grpId="0"/>
      <p:bldP spid="451589" grpId="0"/>
      <p:bldP spid="451590" grpId="0"/>
      <p:bldP spid="451591" grpId="0"/>
      <p:bldP spid="45159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52611" name="Rectangle 3"/>
          <p:cNvSpPr/>
          <p:nvPr/>
        </p:nvSpPr>
        <p:spPr>
          <a:xfrm>
            <a:off x="685800" y="381000"/>
            <a:ext cx="8458200" cy="1844675"/>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上、下界寄存器保护法的另一个变种是</a:t>
            </a:r>
            <a:r>
              <a:rPr lang="zh-CN" altLang="en-US" sz="2400" b="1" dirty="0">
                <a:solidFill>
                  <a:srgbClr val="009900"/>
                </a:solidFill>
                <a:ea typeface="楷体_GB2312" pitchFamily="49" charset="-122"/>
              </a:rPr>
              <a:t>基址</a:t>
            </a:r>
            <a:r>
              <a:rPr lang="en-US" altLang="zh-CN" sz="2400" b="1" dirty="0">
                <a:solidFill>
                  <a:srgbClr val="009900"/>
                </a:solidFill>
                <a:ea typeface="楷体_GB2312" pitchFamily="49" charset="-122"/>
              </a:rPr>
              <a:t>----</a:t>
            </a:r>
            <a:r>
              <a:rPr lang="zh-CN" altLang="en-US" sz="2400" b="1" dirty="0">
                <a:solidFill>
                  <a:srgbClr val="009900"/>
                </a:solidFill>
                <a:ea typeface="楷体_GB2312" pitchFamily="49" charset="-122"/>
              </a:rPr>
              <a:t>限长寄存器保护法</a:t>
            </a:r>
            <a:r>
              <a:rPr lang="zh-CN" altLang="en-US" sz="2400" b="1" dirty="0">
                <a:solidFill>
                  <a:srgbClr val="000099"/>
                </a:solidFill>
                <a:ea typeface="楷体_GB2312" pitchFamily="49" charset="-122"/>
              </a:rPr>
              <a:t>。其为每个作业</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或进程</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设置一个基地址寄存器</a:t>
            </a:r>
            <a:r>
              <a:rPr lang="en-US" altLang="zh-CN" sz="2400" b="1" dirty="0">
                <a:solidFill>
                  <a:srgbClr val="000099"/>
                </a:solidFill>
                <a:ea typeface="楷体_GB2312" pitchFamily="49" charset="-122"/>
              </a:rPr>
              <a:t>BA</a:t>
            </a:r>
            <a:r>
              <a:rPr lang="zh-CN" altLang="en-US" sz="2400" b="1" dirty="0">
                <a:solidFill>
                  <a:srgbClr val="000099"/>
                </a:solidFill>
                <a:ea typeface="楷体_GB2312" pitchFamily="49" charset="-122"/>
              </a:rPr>
              <a:t>和一个限长寄存器</a:t>
            </a:r>
            <a:r>
              <a:rPr lang="en-US" altLang="zh-CN" sz="2400" b="1" dirty="0">
                <a:solidFill>
                  <a:srgbClr val="000099"/>
                </a:solidFill>
                <a:ea typeface="楷体_GB2312" pitchFamily="49" charset="-122"/>
              </a:rPr>
              <a:t>LA</a:t>
            </a:r>
            <a:r>
              <a:rPr lang="zh-CN" altLang="en-US" sz="2400" b="1" dirty="0">
                <a:solidFill>
                  <a:srgbClr val="000099"/>
                </a:solidFill>
                <a:ea typeface="楷体_GB2312" pitchFamily="49" charset="-122"/>
              </a:rPr>
              <a:t>。程序执行过程中，每执行一次存访操作之前必须做存访地址合法性的检查。</a:t>
            </a:r>
            <a:endParaRPr lang="zh-CN" altLang="en-US" sz="2400" b="1" dirty="0">
              <a:solidFill>
                <a:srgbClr val="000099"/>
              </a:solidFill>
              <a:ea typeface="楷体_GB2312" pitchFamily="49" charset="-122"/>
            </a:endParaRPr>
          </a:p>
        </p:txBody>
      </p:sp>
      <p:grpSp>
        <p:nvGrpSpPr>
          <p:cNvPr id="452631" name="Group 23"/>
          <p:cNvGrpSpPr/>
          <p:nvPr/>
        </p:nvGrpSpPr>
        <p:grpSpPr>
          <a:xfrm>
            <a:off x="838200" y="2362200"/>
            <a:ext cx="7772400" cy="2700338"/>
            <a:chOff x="528" y="1584"/>
            <a:chExt cx="4896" cy="1701"/>
          </a:xfrm>
        </p:grpSpPr>
        <p:graphicFrame>
          <p:nvGraphicFramePr>
            <p:cNvPr id="17415" name="Object 11"/>
            <p:cNvGraphicFramePr>
              <a:graphicFrameLocks noChangeAspect="1"/>
            </p:cNvGraphicFramePr>
            <p:nvPr/>
          </p:nvGraphicFramePr>
          <p:xfrm>
            <a:off x="528" y="1584"/>
            <a:ext cx="4896" cy="1701"/>
          </p:xfrm>
          <a:graphic>
            <a:graphicData uri="http://schemas.openxmlformats.org/presentationml/2006/ole">
              <mc:AlternateContent xmlns:mc="http://schemas.openxmlformats.org/markup-compatibility/2006">
                <mc:Choice xmlns:v="urn:schemas-microsoft-com:vml" Requires="v">
                  <p:oleObj spid="_x0000_s3076" name="" r:id="rId1" imgW="7058025" imgH="2552700" progId="Paint.Picture">
                    <p:embed/>
                  </p:oleObj>
                </mc:Choice>
                <mc:Fallback>
                  <p:oleObj name="" r:id="rId1" imgW="7058025" imgH="2552700" progId="Paint.Picture">
                    <p:embed/>
                    <p:pic>
                      <p:nvPicPr>
                        <p:cNvPr id="0" name="图片 3075"/>
                        <p:cNvPicPr/>
                        <p:nvPr/>
                      </p:nvPicPr>
                      <p:blipFill>
                        <a:blip r:embed="rId2"/>
                        <a:stretch>
                          <a:fillRect/>
                        </a:stretch>
                      </p:blipFill>
                      <p:spPr>
                        <a:xfrm>
                          <a:off x="528" y="1584"/>
                          <a:ext cx="4896" cy="1701"/>
                        </a:xfrm>
                        <a:prstGeom prst="rect">
                          <a:avLst/>
                        </a:prstGeom>
                        <a:noFill/>
                        <a:ln w="38100">
                          <a:noFill/>
                          <a:miter/>
                        </a:ln>
                      </p:spPr>
                    </p:pic>
                  </p:oleObj>
                </mc:Fallback>
              </mc:AlternateContent>
            </a:graphicData>
          </a:graphic>
        </p:graphicFrame>
        <p:sp>
          <p:nvSpPr>
            <p:cNvPr id="17416" name="Text Box 12"/>
            <p:cNvSpPr txBox="1"/>
            <p:nvPr/>
          </p:nvSpPr>
          <p:spPr>
            <a:xfrm>
              <a:off x="768" y="1928"/>
              <a:ext cx="528" cy="173"/>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120K</a:t>
              </a:r>
              <a:endParaRPr lang="en-US" altLang="zh-CN" sz="1800" b="1" dirty="0">
                <a:solidFill>
                  <a:srgbClr val="000000"/>
                </a:solidFill>
                <a:ea typeface="楷体_GB2312" pitchFamily="49" charset="-122"/>
              </a:endParaRPr>
            </a:p>
          </p:txBody>
        </p:sp>
        <p:sp>
          <p:nvSpPr>
            <p:cNvPr id="17417" name="Text Box 13"/>
            <p:cNvSpPr txBox="1"/>
            <p:nvPr/>
          </p:nvSpPr>
          <p:spPr>
            <a:xfrm>
              <a:off x="816" y="2616"/>
              <a:ext cx="528" cy="173"/>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154K</a:t>
              </a:r>
              <a:endParaRPr lang="en-US" altLang="zh-CN" sz="1800" b="1" dirty="0">
                <a:solidFill>
                  <a:srgbClr val="000000"/>
                </a:solidFill>
                <a:ea typeface="楷体_GB2312" pitchFamily="49" charset="-122"/>
              </a:endParaRPr>
            </a:p>
          </p:txBody>
        </p:sp>
        <p:sp>
          <p:nvSpPr>
            <p:cNvPr id="17418" name="Text Box 14"/>
            <p:cNvSpPr txBox="1"/>
            <p:nvPr/>
          </p:nvSpPr>
          <p:spPr>
            <a:xfrm>
              <a:off x="1696" y="2688"/>
              <a:ext cx="360" cy="173"/>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154K</a:t>
              </a:r>
              <a:endParaRPr lang="en-US" altLang="zh-CN" sz="1800" b="1" dirty="0">
                <a:solidFill>
                  <a:srgbClr val="000000"/>
                </a:solidFill>
                <a:ea typeface="楷体_GB2312" pitchFamily="49" charset="-122"/>
              </a:endParaRPr>
            </a:p>
          </p:txBody>
        </p:sp>
        <p:sp>
          <p:nvSpPr>
            <p:cNvPr id="17419" name="Text Box 15"/>
            <p:cNvSpPr txBox="1"/>
            <p:nvPr/>
          </p:nvSpPr>
          <p:spPr>
            <a:xfrm>
              <a:off x="1680" y="1984"/>
              <a:ext cx="360" cy="173"/>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120K</a:t>
              </a:r>
              <a:endParaRPr lang="en-US" altLang="zh-CN" sz="1800" b="1" dirty="0">
                <a:solidFill>
                  <a:srgbClr val="000000"/>
                </a:solidFill>
                <a:ea typeface="楷体_GB2312" pitchFamily="49" charset="-122"/>
              </a:endParaRPr>
            </a:p>
          </p:txBody>
        </p:sp>
        <p:sp>
          <p:nvSpPr>
            <p:cNvPr id="17420" name="Text Box 16"/>
            <p:cNvSpPr txBox="1"/>
            <p:nvPr/>
          </p:nvSpPr>
          <p:spPr>
            <a:xfrm>
              <a:off x="4176" y="1968"/>
              <a:ext cx="360" cy="173"/>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120K</a:t>
              </a:r>
              <a:endParaRPr lang="en-US" altLang="zh-CN" sz="1800" b="1" dirty="0">
                <a:solidFill>
                  <a:srgbClr val="000000"/>
                </a:solidFill>
                <a:ea typeface="楷体_GB2312" pitchFamily="49" charset="-122"/>
              </a:endParaRPr>
            </a:p>
          </p:txBody>
        </p:sp>
        <p:sp>
          <p:nvSpPr>
            <p:cNvPr id="17421" name="Text Box 18"/>
            <p:cNvSpPr txBox="1"/>
            <p:nvPr/>
          </p:nvSpPr>
          <p:spPr>
            <a:xfrm>
              <a:off x="4176" y="2688"/>
              <a:ext cx="360" cy="173"/>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154K</a:t>
              </a:r>
              <a:endParaRPr lang="en-US" altLang="zh-CN" sz="1800" b="1" dirty="0">
                <a:solidFill>
                  <a:srgbClr val="000000"/>
                </a:solidFill>
                <a:ea typeface="楷体_GB2312" pitchFamily="49" charset="-122"/>
              </a:endParaRPr>
            </a:p>
          </p:txBody>
        </p:sp>
        <p:sp>
          <p:nvSpPr>
            <p:cNvPr id="17422" name="Line 19"/>
            <p:cNvSpPr/>
            <p:nvPr/>
          </p:nvSpPr>
          <p:spPr>
            <a:xfrm>
              <a:off x="2064" y="2784"/>
              <a:ext cx="720" cy="0"/>
            </a:xfrm>
            <a:prstGeom prst="line">
              <a:avLst/>
            </a:prstGeom>
            <a:ln w="38100" cap="flat" cmpd="sng">
              <a:solidFill>
                <a:schemeClr val="tx1"/>
              </a:solidFill>
              <a:prstDash val="solid"/>
              <a:miter/>
              <a:headEnd type="none" w="med" len="med"/>
              <a:tailEnd type="none" w="med" len="med"/>
            </a:ln>
          </p:spPr>
        </p:sp>
        <p:sp>
          <p:nvSpPr>
            <p:cNvPr id="17423" name="Line 20"/>
            <p:cNvSpPr/>
            <p:nvPr/>
          </p:nvSpPr>
          <p:spPr>
            <a:xfrm>
              <a:off x="4568" y="2784"/>
              <a:ext cx="720" cy="0"/>
            </a:xfrm>
            <a:prstGeom prst="line">
              <a:avLst/>
            </a:prstGeom>
            <a:ln w="38100" cap="flat" cmpd="sng">
              <a:solidFill>
                <a:schemeClr val="tx1"/>
              </a:solidFill>
              <a:prstDash val="solid"/>
              <a:miter/>
              <a:headEnd type="none" w="med" len="med"/>
              <a:tailEnd type="none" w="med" len="med"/>
            </a:ln>
          </p:spPr>
        </p:sp>
        <p:sp>
          <p:nvSpPr>
            <p:cNvPr id="17424" name="Text Box 21"/>
            <p:cNvSpPr txBox="1"/>
            <p:nvPr/>
          </p:nvSpPr>
          <p:spPr>
            <a:xfrm>
              <a:off x="3312" y="1920"/>
              <a:ext cx="360" cy="173"/>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120K</a:t>
              </a:r>
              <a:endParaRPr lang="en-US" altLang="zh-CN" sz="1800" b="1" dirty="0">
                <a:solidFill>
                  <a:srgbClr val="000000"/>
                </a:solidFill>
                <a:ea typeface="楷体_GB2312" pitchFamily="49" charset="-122"/>
              </a:endParaRPr>
            </a:p>
          </p:txBody>
        </p:sp>
        <p:sp>
          <p:nvSpPr>
            <p:cNvPr id="17425" name="Text Box 22"/>
            <p:cNvSpPr txBox="1"/>
            <p:nvPr/>
          </p:nvSpPr>
          <p:spPr>
            <a:xfrm>
              <a:off x="3312" y="2592"/>
              <a:ext cx="360" cy="173"/>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34K</a:t>
              </a:r>
              <a:endParaRPr lang="en-US" altLang="zh-CN" sz="1800" b="1" dirty="0">
                <a:solidFill>
                  <a:srgbClr val="000000"/>
                </a:solidFill>
                <a:ea typeface="楷体_GB2312" pitchFamily="49" charset="-122"/>
              </a:endParaRPr>
            </a:p>
          </p:txBody>
        </p:sp>
      </p:grpSp>
      <p:sp>
        <p:nvSpPr>
          <p:cNvPr id="454766" name="Rectangle 1134"/>
          <p:cNvSpPr/>
          <p:nvPr/>
        </p:nvSpPr>
        <p:spPr>
          <a:xfrm>
            <a:off x="1116013" y="4941888"/>
            <a:ext cx="6408737" cy="45720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333375" algn="l"/>
                <a:tab pos="600075" algn="l"/>
              </a:tabLst>
            </a:pPr>
            <a:r>
              <a:rPr lang="zh-CN" altLang="en-US" sz="2400" b="1" dirty="0">
                <a:solidFill>
                  <a:srgbClr val="990033"/>
                </a:solidFill>
                <a:ea typeface="楷体_GB2312" pitchFamily="49" charset="-122"/>
              </a:rPr>
              <a:t>上界寄存器  ≤  物理地址  ＜  下界寄存器</a:t>
            </a:r>
            <a:r>
              <a:rPr lang="zh-CN" altLang="en-US" sz="2400" b="1" dirty="0">
                <a:ea typeface="楷体_GB2312" pitchFamily="49" charset="-122"/>
              </a:rPr>
              <a:t> </a:t>
            </a:r>
            <a:endParaRPr lang="zh-CN" altLang="en-US" sz="2400" b="1" dirty="0">
              <a:ea typeface="楷体_GB2312" pitchFamily="49" charset="-122"/>
            </a:endParaRPr>
          </a:p>
        </p:txBody>
      </p:sp>
      <p:sp>
        <p:nvSpPr>
          <p:cNvPr id="454768" name="Rectangle 1136"/>
          <p:cNvSpPr/>
          <p:nvPr/>
        </p:nvSpPr>
        <p:spPr>
          <a:xfrm>
            <a:off x="2700338" y="5661025"/>
            <a:ext cx="4495800" cy="45720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333375" algn="l"/>
                <a:tab pos="600075" algn="l"/>
              </a:tabLst>
            </a:pPr>
            <a:r>
              <a:rPr lang="en-US" altLang="zh-CN" sz="2400" b="1" dirty="0">
                <a:solidFill>
                  <a:srgbClr val="990033"/>
                </a:solidFill>
                <a:ea typeface="楷体_GB2312" pitchFamily="49" charset="-122"/>
              </a:rPr>
              <a:t>0  ≤  </a:t>
            </a:r>
            <a:r>
              <a:rPr lang="zh-CN" altLang="en-US" sz="2400" b="1" dirty="0">
                <a:solidFill>
                  <a:srgbClr val="990033"/>
                </a:solidFill>
                <a:ea typeface="楷体_GB2312" pitchFamily="49" charset="-122"/>
              </a:rPr>
              <a:t>逻辑地址  ＜  限长寄存器</a:t>
            </a:r>
            <a:r>
              <a:rPr lang="zh-CN" altLang="en-US" sz="2400" b="1" dirty="0">
                <a:ea typeface="楷体_GB2312" pitchFamily="49" charset="-122"/>
              </a:rPr>
              <a:t> </a:t>
            </a:r>
            <a:endParaRPr lang="zh-CN" altLang="en-US" sz="2400" b="1"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2611"/>
                                        </p:tgtEl>
                                        <p:attrNameLst>
                                          <p:attrName>style.visibility</p:attrName>
                                        </p:attrNameLst>
                                      </p:cBhvr>
                                      <p:to>
                                        <p:strVal val="visible"/>
                                      </p:to>
                                    </p:set>
                                    <p:anim calcmode="lin" valueType="num">
                                      <p:cBhvr additive="base">
                                        <p:cTn id="7" dur="500" fill="hold"/>
                                        <p:tgtEl>
                                          <p:spTgt spid="452611"/>
                                        </p:tgtEl>
                                        <p:attrNameLst>
                                          <p:attrName>ppt_x</p:attrName>
                                        </p:attrNameLst>
                                      </p:cBhvr>
                                      <p:tavLst>
                                        <p:tav tm="0">
                                          <p:val>
                                            <p:strVal val="0-#ppt_w/2"/>
                                          </p:val>
                                        </p:tav>
                                        <p:tav tm="100000">
                                          <p:val>
                                            <p:strVal val="#ppt_x"/>
                                          </p:val>
                                        </p:tav>
                                      </p:tavLst>
                                    </p:anim>
                                    <p:anim calcmode="lin" valueType="num">
                                      <p:cBhvr additive="base">
                                        <p:cTn id="8" dur="500" fill="hold"/>
                                        <p:tgtEl>
                                          <p:spTgt spid="4526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52631"/>
                                        </p:tgtEl>
                                        <p:attrNameLst>
                                          <p:attrName>style.visibility</p:attrName>
                                        </p:attrNameLst>
                                      </p:cBhvr>
                                      <p:to>
                                        <p:strVal val="visible"/>
                                      </p:to>
                                    </p:set>
                                    <p:animEffect transition="in" filter="wipe(left)">
                                      <p:cBhvr>
                                        <p:cTn id="13" dur="500"/>
                                        <p:tgtEl>
                                          <p:spTgt spid="45263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454766"/>
                                        </p:tgtEl>
                                        <p:attrNameLst>
                                          <p:attrName>style.visibility</p:attrName>
                                        </p:attrNameLst>
                                      </p:cBhvr>
                                      <p:to>
                                        <p:strVal val="visible"/>
                                      </p:to>
                                    </p:set>
                                    <p:anim calcmode="lin" valueType="num">
                                      <p:cBhvr additive="base">
                                        <p:cTn id="18" dur="500" fill="hold"/>
                                        <p:tgtEl>
                                          <p:spTgt spid="454766"/>
                                        </p:tgtEl>
                                        <p:attrNameLst>
                                          <p:attrName>ppt_x</p:attrName>
                                        </p:attrNameLst>
                                      </p:cBhvr>
                                      <p:tavLst>
                                        <p:tav tm="0">
                                          <p:val>
                                            <p:strVal val="0-#ppt_w/2"/>
                                          </p:val>
                                        </p:tav>
                                        <p:tav tm="100000">
                                          <p:val>
                                            <p:strVal val="#ppt_x"/>
                                          </p:val>
                                        </p:tav>
                                      </p:tavLst>
                                    </p:anim>
                                    <p:anim calcmode="lin" valueType="num">
                                      <p:cBhvr additive="base">
                                        <p:cTn id="19" dur="500" fill="hold"/>
                                        <p:tgtEl>
                                          <p:spTgt spid="45476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454768"/>
                                        </p:tgtEl>
                                        <p:attrNameLst>
                                          <p:attrName>style.visibility</p:attrName>
                                        </p:attrNameLst>
                                      </p:cBhvr>
                                      <p:to>
                                        <p:strVal val="visible"/>
                                      </p:to>
                                    </p:set>
                                    <p:anim calcmode="lin" valueType="num">
                                      <p:cBhvr additive="base">
                                        <p:cTn id="24" dur="500" fill="hold"/>
                                        <p:tgtEl>
                                          <p:spTgt spid="454768"/>
                                        </p:tgtEl>
                                        <p:attrNameLst>
                                          <p:attrName>ppt_x</p:attrName>
                                        </p:attrNameLst>
                                      </p:cBhvr>
                                      <p:tavLst>
                                        <p:tav tm="0">
                                          <p:val>
                                            <p:strVal val="0-#ppt_w/2"/>
                                          </p:val>
                                        </p:tav>
                                        <p:tav tm="100000">
                                          <p:val>
                                            <p:strVal val="#ppt_x"/>
                                          </p:val>
                                        </p:tav>
                                      </p:tavLst>
                                    </p:anim>
                                    <p:anim calcmode="lin" valueType="num">
                                      <p:cBhvr additive="base">
                                        <p:cTn id="25" dur="500" fill="hold"/>
                                        <p:tgtEl>
                                          <p:spTgt spid="4547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1" grpId="0" animBg="1"/>
      <p:bldP spid="454766" grpId="0"/>
      <p:bldP spid="45476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77544" name="Rectangle 8"/>
          <p:cNvSpPr/>
          <p:nvPr/>
        </p:nvSpPr>
        <p:spPr>
          <a:xfrm>
            <a:off x="647700" y="798513"/>
            <a:ext cx="8343900" cy="2282825"/>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333375" defTabSz="914400" eaLnBrk="1" hangingPunct="1">
              <a:lnSpc>
                <a:spcPct val="120000"/>
              </a:lnSpc>
              <a:spcBef>
                <a:spcPct val="0"/>
              </a:spcBef>
              <a:buClrTx/>
              <a:buSzTx/>
              <a:buFontTx/>
              <a:buNone/>
              <a:tabLst>
                <a:tab pos="600075" algn="l"/>
              </a:tabLst>
            </a:pPr>
            <a:r>
              <a:rPr lang="en-US" altLang="zh-CN" sz="2400" b="1" dirty="0">
                <a:solidFill>
                  <a:srgbClr val="9900CC"/>
                </a:solidFill>
                <a:ea typeface="楷体_GB2312" pitchFamily="49" charset="-122"/>
              </a:rPr>
              <a:t>2. </a:t>
            </a:r>
            <a:r>
              <a:rPr lang="zh-CN" altLang="en-US" sz="2400" b="1" dirty="0">
                <a:solidFill>
                  <a:srgbClr val="9900CC"/>
                </a:solidFill>
                <a:ea typeface="楷体_GB2312" pitchFamily="49" charset="-122"/>
              </a:rPr>
              <a:t>存储</a:t>
            </a:r>
            <a:r>
              <a:rPr lang="en-US" altLang="zh-CN" sz="2400" b="1" dirty="0">
                <a:solidFill>
                  <a:srgbClr val="9900CC"/>
                </a:solidFill>
                <a:ea typeface="楷体_GB2312" pitchFamily="49" charset="-122"/>
              </a:rPr>
              <a:t>(</a:t>
            </a:r>
            <a:r>
              <a:rPr lang="zh-CN" altLang="en-US" sz="2400" b="1" dirty="0">
                <a:solidFill>
                  <a:srgbClr val="9900CC"/>
                </a:solidFill>
                <a:ea typeface="楷体_GB2312" pitchFamily="49" charset="-122"/>
              </a:rPr>
              <a:t>保护</a:t>
            </a:r>
            <a:r>
              <a:rPr lang="en-US" altLang="zh-CN" sz="2400" b="1" dirty="0">
                <a:solidFill>
                  <a:srgbClr val="9900CC"/>
                </a:solidFill>
                <a:ea typeface="楷体_GB2312" pitchFamily="49" charset="-122"/>
              </a:rPr>
              <a:t>)</a:t>
            </a:r>
            <a:r>
              <a:rPr lang="zh-CN" altLang="en-US" sz="2400" b="1" dirty="0">
                <a:solidFill>
                  <a:srgbClr val="9900CC"/>
                </a:solidFill>
                <a:ea typeface="楷体_GB2312" pitchFamily="49" charset="-122"/>
              </a:rPr>
              <a:t>键保护法。</a:t>
            </a:r>
            <a:endParaRPr lang="zh-CN" altLang="en-US" sz="2400" b="1" dirty="0">
              <a:solidFill>
                <a:srgbClr val="9900CC"/>
              </a:solidFill>
              <a:ea typeface="楷体_GB2312" pitchFamily="49" charset="-122"/>
            </a:endParaRPr>
          </a:p>
          <a:p>
            <a:pPr marL="0" lvl="0" indent="333375" defTabSz="914400" eaLnBrk="1" hangingPunct="1">
              <a:lnSpc>
                <a:spcPct val="120000"/>
              </a:lnSpc>
              <a:spcBef>
                <a:spcPct val="0"/>
              </a:spcBef>
              <a:buClrTx/>
              <a:buSzTx/>
              <a:buFontTx/>
              <a:buNone/>
              <a:tabLst>
                <a:tab pos="600075" algn="l"/>
              </a:tabLst>
            </a:pPr>
            <a:r>
              <a:rPr lang="zh-CN" altLang="en-US" sz="2400" b="1" dirty="0">
                <a:solidFill>
                  <a:srgbClr val="000099"/>
                </a:solidFill>
                <a:latin typeface="楷体_GB2312" pitchFamily="49" charset="-122"/>
                <a:ea typeface="楷体_GB2312" pitchFamily="49" charset="-122"/>
              </a:rPr>
              <a:t>  为每一个被保护的存储块分配一个单独的保护键，在当前程序状态字（</a:t>
            </a:r>
            <a:r>
              <a:rPr lang="en-US" altLang="zh-CN" sz="2400" b="1" dirty="0">
                <a:solidFill>
                  <a:srgbClr val="000099"/>
                </a:solidFill>
                <a:latin typeface="楷体_GB2312" pitchFamily="49" charset="-122"/>
                <a:ea typeface="楷体_GB2312" pitchFamily="49" charset="-122"/>
              </a:rPr>
              <a:t>PSW</a:t>
            </a:r>
            <a:r>
              <a:rPr lang="zh-CN" altLang="en-US" sz="2400" b="1" dirty="0">
                <a:solidFill>
                  <a:srgbClr val="000099"/>
                </a:solidFill>
                <a:latin typeface="楷体_GB2312" pitchFamily="49" charset="-122"/>
                <a:ea typeface="楷体_GB2312" pitchFamily="49" charset="-122"/>
              </a:rPr>
              <a:t>）中设置相应的保护键开关字段，对不同的进程赋予不同的开关代码以与被保护的存储块中的保护键匹配，若不匹配则产生越界中断。</a:t>
            </a:r>
            <a:endParaRPr lang="zh-CN" altLang="en-US" sz="2400" b="1" dirty="0">
              <a:solidFill>
                <a:srgbClr val="000099"/>
              </a:solidFill>
              <a:latin typeface="楷体_GB2312" pitchFamily="49" charset="-122"/>
              <a:ea typeface="楷体_GB2312" pitchFamily="49" charset="-122"/>
            </a:endParaRPr>
          </a:p>
        </p:txBody>
      </p:sp>
      <p:sp>
        <p:nvSpPr>
          <p:cNvPr id="577568" name="Rectangle 32"/>
          <p:cNvSpPr/>
          <p:nvPr/>
        </p:nvSpPr>
        <p:spPr>
          <a:xfrm>
            <a:off x="539750" y="3141663"/>
            <a:ext cx="3479800" cy="457200"/>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333375" algn="l"/>
                <a:tab pos="600075" algn="l"/>
              </a:tabLst>
            </a:pPr>
            <a:r>
              <a:rPr lang="zh-CN" altLang="en-US" sz="2400" b="1" dirty="0">
                <a:solidFill>
                  <a:srgbClr val="000099"/>
                </a:solidFill>
                <a:ea typeface="楷体_GB2312" pitchFamily="49" charset="-122"/>
              </a:rPr>
              <a:t>例如：在</a:t>
            </a:r>
            <a:r>
              <a:rPr lang="en-US" altLang="zh-CN" sz="2400" b="1" dirty="0">
                <a:solidFill>
                  <a:srgbClr val="000099"/>
                </a:solidFill>
                <a:ea typeface="楷体_GB2312" pitchFamily="49" charset="-122"/>
              </a:rPr>
              <a:t>IBM/360</a:t>
            </a:r>
            <a:r>
              <a:rPr lang="zh-CN" altLang="en-US" sz="2400" b="1" dirty="0">
                <a:solidFill>
                  <a:srgbClr val="000099"/>
                </a:solidFill>
                <a:ea typeface="楷体_GB2312" pitchFamily="49" charset="-122"/>
              </a:rPr>
              <a:t>系统中</a:t>
            </a:r>
            <a:endParaRPr lang="zh-CN" altLang="en-US" sz="2400" b="1" dirty="0">
              <a:solidFill>
                <a:srgbClr val="000099"/>
              </a:solidFill>
              <a:ea typeface="楷体_GB2312" pitchFamily="49" charset="-122"/>
            </a:endParaRPr>
          </a:p>
        </p:txBody>
      </p:sp>
      <p:grpSp>
        <p:nvGrpSpPr>
          <p:cNvPr id="577578" name="Group 42"/>
          <p:cNvGrpSpPr/>
          <p:nvPr/>
        </p:nvGrpSpPr>
        <p:grpSpPr>
          <a:xfrm>
            <a:off x="1066800" y="3124200"/>
            <a:ext cx="7732713" cy="3463925"/>
            <a:chOff x="793" y="1968"/>
            <a:chExt cx="4688" cy="2182"/>
          </a:xfrm>
        </p:grpSpPr>
        <p:grpSp>
          <p:nvGrpSpPr>
            <p:cNvPr id="18438" name="Group 40"/>
            <p:cNvGrpSpPr/>
            <p:nvPr/>
          </p:nvGrpSpPr>
          <p:grpSpPr>
            <a:xfrm>
              <a:off x="793" y="2341"/>
              <a:ext cx="4688" cy="1809"/>
              <a:chOff x="793" y="2341"/>
              <a:chExt cx="4688" cy="1809"/>
            </a:xfrm>
          </p:grpSpPr>
          <p:grpSp>
            <p:nvGrpSpPr>
              <p:cNvPr id="18440" name="Group 9"/>
              <p:cNvGrpSpPr/>
              <p:nvPr/>
            </p:nvGrpSpPr>
            <p:grpSpPr>
              <a:xfrm>
                <a:off x="793" y="2341"/>
                <a:ext cx="4083" cy="1678"/>
                <a:chOff x="1869" y="8748"/>
                <a:chExt cx="6510" cy="3750"/>
              </a:xfrm>
            </p:grpSpPr>
            <p:sp>
              <p:nvSpPr>
                <p:cNvPr id="18448" name="Rectangle 10"/>
                <p:cNvSpPr/>
                <p:nvPr/>
              </p:nvSpPr>
              <p:spPr>
                <a:xfrm>
                  <a:off x="6174" y="8748"/>
                  <a:ext cx="2205" cy="500"/>
                </a:xfrm>
                <a:prstGeom prst="rect">
                  <a:avLst/>
                </a:prstGeom>
                <a:solidFill>
                  <a:srgbClr val="FFFFFF"/>
                </a:solidFill>
                <a:ln w="28575" cap="flat" cmpd="sng">
                  <a:solidFill>
                    <a:srgbClr val="000000"/>
                  </a:solidFill>
                  <a:prstDash val="solid"/>
                  <a:miter/>
                  <a:headEnd type="none" w="med" len="med"/>
                  <a:tailEnd type="none" w="med" len="med"/>
                </a:ln>
              </p:spPr>
              <p:txBody>
                <a:bodyPr lIns="18000" tIns="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2400" b="1" dirty="0">
                    <a:ea typeface="楷体_GB2312" pitchFamily="49" charset="-122"/>
                  </a:endParaRPr>
                </a:p>
              </p:txBody>
            </p:sp>
            <p:sp>
              <p:nvSpPr>
                <p:cNvPr id="18449" name="Rectangle 11"/>
                <p:cNvSpPr/>
                <p:nvPr/>
              </p:nvSpPr>
              <p:spPr>
                <a:xfrm>
                  <a:off x="2814" y="9248"/>
                  <a:ext cx="420" cy="500"/>
                </a:xfrm>
                <a:prstGeom prst="rect">
                  <a:avLst/>
                </a:prstGeom>
                <a:solidFill>
                  <a:srgbClr val="FFFFFF"/>
                </a:solidFill>
                <a:ln w="28575" cap="flat" cmpd="sng">
                  <a:solidFill>
                    <a:srgbClr val="000000"/>
                  </a:solidFill>
                  <a:prstDash val="solid"/>
                  <a:miter/>
                  <a:headEnd type="none" w="med" len="med"/>
                  <a:tailEnd type="none" w="med" len="med"/>
                </a:ln>
              </p:spPr>
              <p:txBody>
                <a:bodyPr lIns="18000" tIns="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000" b="1" dirty="0">
                      <a:solidFill>
                        <a:srgbClr val="000099"/>
                      </a:solidFill>
                      <a:ea typeface="楷体_GB2312" pitchFamily="49" charset="-122"/>
                    </a:rPr>
                    <a:t>  0 </a:t>
                  </a:r>
                  <a:endParaRPr lang="en-US" altLang="zh-CN" sz="2000" b="1" dirty="0">
                    <a:solidFill>
                      <a:srgbClr val="000099"/>
                    </a:solidFill>
                    <a:ea typeface="楷体_GB2312" pitchFamily="49" charset="-122"/>
                  </a:endParaRPr>
                </a:p>
              </p:txBody>
            </p:sp>
            <p:sp>
              <p:nvSpPr>
                <p:cNvPr id="18450" name="Line 12"/>
                <p:cNvSpPr/>
                <p:nvPr/>
              </p:nvSpPr>
              <p:spPr>
                <a:xfrm>
                  <a:off x="1869" y="8998"/>
                  <a:ext cx="0" cy="3500"/>
                </a:xfrm>
                <a:prstGeom prst="line">
                  <a:avLst/>
                </a:prstGeom>
                <a:ln w="28575" cap="flat" cmpd="sng">
                  <a:solidFill>
                    <a:srgbClr val="000000"/>
                  </a:solidFill>
                  <a:prstDash val="solid"/>
                  <a:headEnd type="none" w="med" len="med"/>
                  <a:tailEnd type="none" w="med" len="med"/>
                </a:ln>
              </p:spPr>
            </p:sp>
            <p:sp>
              <p:nvSpPr>
                <p:cNvPr id="18451" name="Line 13"/>
                <p:cNvSpPr/>
                <p:nvPr/>
              </p:nvSpPr>
              <p:spPr>
                <a:xfrm>
                  <a:off x="2814" y="8998"/>
                  <a:ext cx="0" cy="3500"/>
                </a:xfrm>
                <a:prstGeom prst="line">
                  <a:avLst/>
                </a:prstGeom>
                <a:ln w="28575" cap="flat" cmpd="sng">
                  <a:solidFill>
                    <a:srgbClr val="000000"/>
                  </a:solidFill>
                  <a:prstDash val="solid"/>
                  <a:headEnd type="none" w="med" len="med"/>
                  <a:tailEnd type="none" w="med" len="med"/>
                </a:ln>
              </p:spPr>
            </p:sp>
            <p:sp>
              <p:nvSpPr>
                <p:cNvPr id="18452" name="Rectangle 14"/>
                <p:cNvSpPr/>
                <p:nvPr/>
              </p:nvSpPr>
              <p:spPr>
                <a:xfrm>
                  <a:off x="1869" y="9248"/>
                  <a:ext cx="945" cy="1500"/>
                </a:xfrm>
                <a:prstGeom prst="rect">
                  <a:avLst/>
                </a:prstGeom>
                <a:solidFill>
                  <a:srgbClr val="FFFFFF"/>
                </a:solidFill>
                <a:ln w="28575" cap="flat" cmpd="sng">
                  <a:solidFill>
                    <a:srgbClr val="FF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1000" dirty="0"/>
                </a:p>
                <a:p>
                  <a:pPr marL="0" lvl="0" indent="0" algn="just" eaLnBrk="1" hangingPunct="1">
                    <a:spcBef>
                      <a:spcPct val="0"/>
                    </a:spcBef>
                    <a:buClrTx/>
                    <a:buSzTx/>
                    <a:buFontTx/>
                    <a:buNone/>
                  </a:pPr>
                  <a:r>
                    <a:rPr lang="en-US" altLang="zh-CN" sz="1000" dirty="0"/>
                    <a:t>       </a:t>
                  </a:r>
                  <a:r>
                    <a:rPr lang="zh-CN" altLang="en-US" sz="2000" b="1" dirty="0">
                      <a:solidFill>
                        <a:srgbClr val="000099"/>
                      </a:solidFill>
                      <a:ea typeface="楷体_GB2312" pitchFamily="49" charset="-122"/>
                    </a:rPr>
                    <a:t>块</a:t>
                  </a:r>
                  <a:r>
                    <a:rPr lang="en-US" altLang="zh-CN" sz="2000" b="1" dirty="0">
                      <a:solidFill>
                        <a:srgbClr val="000099"/>
                      </a:solidFill>
                      <a:ea typeface="楷体_GB2312" pitchFamily="49" charset="-122"/>
                    </a:rPr>
                    <a:t>i</a:t>
                  </a:r>
                  <a:endParaRPr lang="en-US" altLang="zh-CN" sz="2000" b="1" dirty="0">
                    <a:solidFill>
                      <a:srgbClr val="000099"/>
                    </a:solidFill>
                    <a:ea typeface="楷体_GB2312" pitchFamily="49" charset="-122"/>
                  </a:endParaRPr>
                </a:p>
              </p:txBody>
            </p:sp>
            <p:sp>
              <p:nvSpPr>
                <p:cNvPr id="18453" name="Rectangle 15"/>
                <p:cNvSpPr/>
                <p:nvPr/>
              </p:nvSpPr>
              <p:spPr>
                <a:xfrm>
                  <a:off x="3234" y="9248"/>
                  <a:ext cx="420" cy="500"/>
                </a:xfrm>
                <a:prstGeom prst="rect">
                  <a:avLst/>
                </a:prstGeom>
                <a:solidFill>
                  <a:srgbClr val="FFFFFF"/>
                </a:solidFill>
                <a:ln w="28575" cap="flat" cmpd="sng">
                  <a:solidFill>
                    <a:srgbClr val="000000"/>
                  </a:solidFill>
                  <a:prstDash val="solid"/>
                  <a:miter/>
                  <a:headEnd type="none" w="med" len="med"/>
                  <a:tailEnd type="none" w="med" len="med"/>
                </a:ln>
              </p:spPr>
              <p:txBody>
                <a:bodyPr lIns="18000" tIns="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000099"/>
                      </a:solidFill>
                      <a:latin typeface="楷体_GB2312" pitchFamily="49" charset="-122"/>
                      <a:ea typeface="楷体_GB2312" pitchFamily="49" charset="-122"/>
                    </a:rPr>
                    <a:t>1</a:t>
                  </a:r>
                  <a:r>
                    <a:rPr lang="en-US" altLang="zh-CN" sz="1000" dirty="0"/>
                    <a:t> </a:t>
                  </a:r>
                  <a:endParaRPr lang="en-US" altLang="zh-CN" sz="2400" b="1" dirty="0">
                    <a:ea typeface="楷体_GB2312" pitchFamily="49" charset="-122"/>
                  </a:endParaRPr>
                </a:p>
              </p:txBody>
            </p:sp>
            <p:sp>
              <p:nvSpPr>
                <p:cNvPr id="18454" name="Rectangle 16"/>
                <p:cNvSpPr/>
                <p:nvPr/>
              </p:nvSpPr>
              <p:spPr>
                <a:xfrm>
                  <a:off x="3654" y="10748"/>
                  <a:ext cx="420" cy="500"/>
                </a:xfrm>
                <a:prstGeom prst="rect">
                  <a:avLst/>
                </a:prstGeom>
                <a:solidFill>
                  <a:srgbClr val="FFFFFF"/>
                </a:solidFill>
                <a:ln w="28575" cap="flat" cmpd="sng">
                  <a:solidFill>
                    <a:srgbClr val="000000"/>
                  </a:solidFill>
                  <a:prstDash val="solid"/>
                  <a:miter/>
                  <a:headEnd type="none" w="med" len="med"/>
                  <a:tailEnd type="none" w="med" len="med"/>
                </a:ln>
              </p:spPr>
              <p:txBody>
                <a:bodyPr lIns="18000" tIns="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000099"/>
                      </a:solidFill>
                      <a:latin typeface="楷体_GB2312" pitchFamily="49" charset="-122"/>
                      <a:ea typeface="楷体_GB2312" pitchFamily="49" charset="-122"/>
                    </a:rPr>
                    <a:t>0 </a:t>
                  </a:r>
                  <a:endParaRPr lang="en-US" altLang="zh-CN" sz="2000" b="1" dirty="0">
                    <a:solidFill>
                      <a:srgbClr val="000099"/>
                    </a:solidFill>
                    <a:latin typeface="楷体_GB2312" pitchFamily="49" charset="-122"/>
                    <a:ea typeface="楷体_GB2312" pitchFamily="49" charset="-122"/>
                  </a:endParaRPr>
                </a:p>
              </p:txBody>
            </p:sp>
            <p:sp>
              <p:nvSpPr>
                <p:cNvPr id="18455" name="Rectangle 17"/>
                <p:cNvSpPr/>
                <p:nvPr/>
              </p:nvSpPr>
              <p:spPr>
                <a:xfrm>
                  <a:off x="3234" y="10748"/>
                  <a:ext cx="420" cy="500"/>
                </a:xfrm>
                <a:prstGeom prst="rect">
                  <a:avLst/>
                </a:prstGeom>
                <a:solidFill>
                  <a:srgbClr val="FFFFFF"/>
                </a:solidFill>
                <a:ln w="28575" cap="flat" cmpd="sng">
                  <a:solidFill>
                    <a:srgbClr val="000000"/>
                  </a:solidFill>
                  <a:prstDash val="solid"/>
                  <a:miter/>
                  <a:headEnd type="none" w="med" len="med"/>
                  <a:tailEnd type="none" w="med" len="med"/>
                </a:ln>
              </p:spPr>
              <p:txBody>
                <a:bodyPr lIns="18000" tIns="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000099"/>
                      </a:solidFill>
                      <a:latin typeface="楷体_GB2312" pitchFamily="49" charset="-122"/>
                      <a:ea typeface="楷体_GB2312" pitchFamily="49" charset="-122"/>
                    </a:rPr>
                    <a:t>0 </a:t>
                  </a:r>
                  <a:endParaRPr lang="en-US" altLang="zh-CN" sz="2000" b="1" dirty="0">
                    <a:solidFill>
                      <a:srgbClr val="000099"/>
                    </a:solidFill>
                    <a:latin typeface="楷体_GB2312" pitchFamily="49" charset="-122"/>
                    <a:ea typeface="楷体_GB2312" pitchFamily="49" charset="-122"/>
                  </a:endParaRPr>
                </a:p>
              </p:txBody>
            </p:sp>
            <p:sp>
              <p:nvSpPr>
                <p:cNvPr id="18456" name="Rectangle 18"/>
                <p:cNvSpPr/>
                <p:nvPr/>
              </p:nvSpPr>
              <p:spPr>
                <a:xfrm>
                  <a:off x="2814" y="10748"/>
                  <a:ext cx="420" cy="500"/>
                </a:xfrm>
                <a:prstGeom prst="rect">
                  <a:avLst/>
                </a:prstGeom>
                <a:solidFill>
                  <a:srgbClr val="FFFFFF"/>
                </a:solidFill>
                <a:ln w="28575" cap="flat" cmpd="sng">
                  <a:solidFill>
                    <a:srgbClr val="000000"/>
                  </a:solidFill>
                  <a:prstDash val="solid"/>
                  <a:miter/>
                  <a:headEnd type="none" w="med" len="med"/>
                  <a:tailEnd type="none" w="med" len="med"/>
                </a:ln>
              </p:spPr>
              <p:txBody>
                <a:bodyPr lIns="18000" tIns="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000099"/>
                      </a:solidFill>
                      <a:latin typeface="楷体_GB2312" pitchFamily="49" charset="-122"/>
                      <a:ea typeface="楷体_GB2312" pitchFamily="49" charset="-122"/>
                    </a:rPr>
                    <a:t>1</a:t>
                  </a:r>
                  <a:r>
                    <a:rPr lang="en-US" altLang="zh-CN" sz="1000" dirty="0"/>
                    <a:t> </a:t>
                  </a:r>
                  <a:endParaRPr lang="en-US" altLang="zh-CN" sz="2400" b="1" dirty="0">
                    <a:ea typeface="楷体_GB2312" pitchFamily="49" charset="-122"/>
                  </a:endParaRPr>
                </a:p>
              </p:txBody>
            </p:sp>
            <p:sp>
              <p:nvSpPr>
                <p:cNvPr id="18457" name="Rectangle 19"/>
                <p:cNvSpPr/>
                <p:nvPr/>
              </p:nvSpPr>
              <p:spPr>
                <a:xfrm>
                  <a:off x="1869" y="10748"/>
                  <a:ext cx="945" cy="1500"/>
                </a:xfrm>
                <a:prstGeom prst="rect">
                  <a:avLst/>
                </a:prstGeom>
                <a:solidFill>
                  <a:srgbClr val="FFFFFF"/>
                </a:solidFill>
                <a:ln w="28575" cap="flat" cmpd="sng">
                  <a:solidFill>
                    <a:srgbClr val="FF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1000" dirty="0"/>
                </a:p>
                <a:p>
                  <a:pPr marL="0" lvl="0" indent="0" algn="just" eaLnBrk="1" hangingPunct="1">
                    <a:spcBef>
                      <a:spcPct val="0"/>
                    </a:spcBef>
                    <a:buClrTx/>
                    <a:buSzTx/>
                    <a:buFontTx/>
                    <a:buNone/>
                  </a:pPr>
                  <a:r>
                    <a:rPr lang="en-US" altLang="zh-CN" sz="1000" dirty="0"/>
                    <a:t>  </a:t>
                  </a:r>
                  <a:r>
                    <a:rPr lang="zh-CN" altLang="en-US" sz="2000" b="1" dirty="0">
                      <a:solidFill>
                        <a:srgbClr val="000099"/>
                      </a:solidFill>
                      <a:latin typeface="楷体_GB2312" pitchFamily="49" charset="-122"/>
                      <a:ea typeface="楷体_GB2312" pitchFamily="49" charset="-122"/>
                    </a:rPr>
                    <a:t>块</a:t>
                  </a:r>
                  <a:r>
                    <a:rPr lang="en-US" altLang="zh-CN" sz="2000" b="1" dirty="0">
                      <a:solidFill>
                        <a:srgbClr val="000099"/>
                      </a:solidFill>
                      <a:latin typeface="楷体_GB2312" pitchFamily="49" charset="-122"/>
                      <a:ea typeface="楷体_GB2312" pitchFamily="49" charset="-122"/>
                    </a:rPr>
                    <a:t>i+1</a:t>
                  </a:r>
                  <a:endParaRPr lang="en-US" altLang="zh-CN" sz="2000" b="1" dirty="0">
                    <a:solidFill>
                      <a:srgbClr val="000099"/>
                    </a:solidFill>
                    <a:latin typeface="楷体_GB2312" pitchFamily="49" charset="-122"/>
                    <a:ea typeface="楷体_GB2312" pitchFamily="49" charset="-122"/>
                  </a:endParaRPr>
                </a:p>
              </p:txBody>
            </p:sp>
            <p:sp>
              <p:nvSpPr>
                <p:cNvPr id="18458" name="Rectangle 20"/>
                <p:cNvSpPr/>
                <p:nvPr/>
              </p:nvSpPr>
              <p:spPr>
                <a:xfrm>
                  <a:off x="3654" y="9248"/>
                  <a:ext cx="420" cy="500"/>
                </a:xfrm>
                <a:prstGeom prst="rect">
                  <a:avLst/>
                </a:prstGeom>
                <a:solidFill>
                  <a:srgbClr val="FFFFFF"/>
                </a:solidFill>
                <a:ln w="28575" cap="flat" cmpd="sng">
                  <a:solidFill>
                    <a:srgbClr val="000000"/>
                  </a:solidFill>
                  <a:prstDash val="solid"/>
                  <a:miter/>
                  <a:headEnd type="none" w="med" len="med"/>
                  <a:tailEnd type="none" w="med" len="med"/>
                </a:ln>
              </p:spPr>
              <p:txBody>
                <a:bodyPr lIns="18000" tIns="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000099"/>
                      </a:solidFill>
                      <a:latin typeface="楷体_GB2312" pitchFamily="49" charset="-122"/>
                      <a:ea typeface="楷体_GB2312" pitchFamily="49" charset="-122"/>
                    </a:rPr>
                    <a:t>0 </a:t>
                  </a:r>
                  <a:endParaRPr lang="en-US" altLang="zh-CN" sz="2000" b="1" dirty="0">
                    <a:solidFill>
                      <a:srgbClr val="000099"/>
                    </a:solidFill>
                    <a:latin typeface="楷体_GB2312" pitchFamily="49" charset="-122"/>
                    <a:ea typeface="楷体_GB2312" pitchFamily="49" charset="-122"/>
                  </a:endParaRPr>
                </a:p>
              </p:txBody>
            </p:sp>
            <p:sp>
              <p:nvSpPr>
                <p:cNvPr id="18459" name="Rectangle 21"/>
                <p:cNvSpPr/>
                <p:nvPr/>
              </p:nvSpPr>
              <p:spPr>
                <a:xfrm>
                  <a:off x="4074" y="9248"/>
                  <a:ext cx="420" cy="500"/>
                </a:xfrm>
                <a:prstGeom prst="rect">
                  <a:avLst/>
                </a:prstGeom>
                <a:solidFill>
                  <a:srgbClr val="FFFFFF"/>
                </a:solidFill>
                <a:ln w="28575" cap="flat" cmpd="sng">
                  <a:solidFill>
                    <a:srgbClr val="000000"/>
                  </a:solidFill>
                  <a:prstDash val="solid"/>
                  <a:miter/>
                  <a:headEnd type="none" w="med" len="med"/>
                  <a:tailEnd type="none" w="med" len="med"/>
                </a:ln>
              </p:spPr>
              <p:txBody>
                <a:bodyPr lIns="18000" tIns="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000099"/>
                      </a:solidFill>
                      <a:latin typeface="楷体_GB2312" pitchFamily="49" charset="-122"/>
                      <a:ea typeface="楷体_GB2312" pitchFamily="49" charset="-122"/>
                    </a:rPr>
                    <a:t>1 </a:t>
                  </a:r>
                  <a:endParaRPr lang="en-US" altLang="zh-CN" sz="2000" b="1" dirty="0">
                    <a:solidFill>
                      <a:srgbClr val="000099"/>
                    </a:solidFill>
                    <a:latin typeface="楷体_GB2312" pitchFamily="49" charset="-122"/>
                    <a:ea typeface="楷体_GB2312" pitchFamily="49" charset="-122"/>
                  </a:endParaRPr>
                </a:p>
              </p:txBody>
            </p:sp>
            <p:sp>
              <p:nvSpPr>
                <p:cNvPr id="18460" name="Rectangle 22"/>
                <p:cNvSpPr/>
                <p:nvPr/>
              </p:nvSpPr>
              <p:spPr>
                <a:xfrm flipH="1">
                  <a:off x="4494" y="9248"/>
                  <a:ext cx="435" cy="500"/>
                </a:xfrm>
                <a:prstGeom prst="rect">
                  <a:avLst/>
                </a:prstGeom>
                <a:solidFill>
                  <a:srgbClr val="FFFFFF"/>
                </a:solidFill>
                <a:ln w="28575" cap="flat" cmpd="sng">
                  <a:solidFill>
                    <a:srgbClr val="000000"/>
                  </a:solidFill>
                  <a:prstDash val="solid"/>
                  <a:miter/>
                  <a:headEnd type="none" w="med" len="med"/>
                  <a:tailEnd type="none" w="med" len="med"/>
                </a:ln>
              </p:spPr>
              <p:txBody>
                <a:bodyPr lIns="18000" tIns="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000099"/>
                      </a:solidFill>
                      <a:latin typeface="楷体_GB2312" pitchFamily="49" charset="-122"/>
                      <a:ea typeface="楷体_GB2312" pitchFamily="49" charset="-122"/>
                    </a:rPr>
                    <a:t>0 </a:t>
                  </a:r>
                  <a:endParaRPr lang="en-US" altLang="zh-CN" sz="2000" b="1" dirty="0">
                    <a:solidFill>
                      <a:srgbClr val="000099"/>
                    </a:solidFill>
                    <a:latin typeface="楷体_GB2312" pitchFamily="49" charset="-122"/>
                    <a:ea typeface="楷体_GB2312" pitchFamily="49" charset="-122"/>
                  </a:endParaRPr>
                </a:p>
              </p:txBody>
            </p:sp>
            <p:sp>
              <p:nvSpPr>
                <p:cNvPr id="18461" name="Rectangle 23"/>
                <p:cNvSpPr/>
                <p:nvPr/>
              </p:nvSpPr>
              <p:spPr>
                <a:xfrm>
                  <a:off x="4074" y="10748"/>
                  <a:ext cx="420" cy="500"/>
                </a:xfrm>
                <a:prstGeom prst="rect">
                  <a:avLst/>
                </a:prstGeom>
                <a:solidFill>
                  <a:srgbClr val="FFFFFF"/>
                </a:solidFill>
                <a:ln w="28575" cap="flat" cmpd="sng">
                  <a:solidFill>
                    <a:srgbClr val="000000"/>
                  </a:solidFill>
                  <a:prstDash val="solid"/>
                  <a:miter/>
                  <a:headEnd type="none" w="med" len="med"/>
                  <a:tailEnd type="none" w="med" len="med"/>
                </a:ln>
              </p:spPr>
              <p:txBody>
                <a:bodyPr lIns="18000" tIns="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000099"/>
                      </a:solidFill>
                      <a:latin typeface="楷体_GB2312" pitchFamily="49" charset="-122"/>
                      <a:ea typeface="楷体_GB2312" pitchFamily="49" charset="-122"/>
                    </a:rPr>
                    <a:t>1 </a:t>
                  </a:r>
                  <a:endParaRPr lang="en-US" altLang="zh-CN" sz="2000" b="1" dirty="0">
                    <a:solidFill>
                      <a:srgbClr val="000099"/>
                    </a:solidFill>
                    <a:latin typeface="楷体_GB2312" pitchFamily="49" charset="-122"/>
                    <a:ea typeface="楷体_GB2312" pitchFamily="49" charset="-122"/>
                  </a:endParaRPr>
                </a:p>
              </p:txBody>
            </p:sp>
            <p:sp>
              <p:nvSpPr>
                <p:cNvPr id="18462" name="Rectangle 24"/>
                <p:cNvSpPr/>
                <p:nvPr/>
              </p:nvSpPr>
              <p:spPr>
                <a:xfrm flipH="1">
                  <a:off x="4494" y="10748"/>
                  <a:ext cx="435" cy="500"/>
                </a:xfrm>
                <a:prstGeom prst="rect">
                  <a:avLst/>
                </a:prstGeom>
                <a:solidFill>
                  <a:srgbClr val="FFFFFF"/>
                </a:solidFill>
                <a:ln w="28575" cap="flat" cmpd="sng">
                  <a:solidFill>
                    <a:srgbClr val="000000"/>
                  </a:solidFill>
                  <a:prstDash val="solid"/>
                  <a:miter/>
                  <a:headEnd type="none" w="med" len="med"/>
                  <a:tailEnd type="none" w="med" len="med"/>
                </a:ln>
              </p:spPr>
              <p:txBody>
                <a:bodyPr lIns="18000" tIns="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 1 </a:t>
                  </a:r>
                  <a:endParaRPr lang="en-US" altLang="zh-CN" sz="2000" b="1" dirty="0">
                    <a:solidFill>
                      <a:srgbClr val="000099"/>
                    </a:solidFill>
                    <a:latin typeface="楷体_GB2312" pitchFamily="49" charset="-122"/>
                    <a:ea typeface="楷体_GB2312" pitchFamily="49" charset="-122"/>
                  </a:endParaRPr>
                </a:p>
              </p:txBody>
            </p:sp>
            <p:sp>
              <p:nvSpPr>
                <p:cNvPr id="18463" name="Rectangle 25"/>
                <p:cNvSpPr/>
                <p:nvPr/>
              </p:nvSpPr>
              <p:spPr>
                <a:xfrm flipH="1">
                  <a:off x="6909" y="8748"/>
                  <a:ext cx="522" cy="500"/>
                </a:xfrm>
                <a:prstGeom prst="rect">
                  <a:avLst/>
                </a:prstGeom>
                <a:solidFill>
                  <a:srgbClr val="FFFFFF"/>
                </a:solidFill>
                <a:ln w="28575" cap="flat" cmpd="sng">
                  <a:solidFill>
                    <a:srgbClr val="FF0000"/>
                  </a:solidFill>
                  <a:prstDash val="solid"/>
                  <a:miter/>
                  <a:headEnd type="none" w="med" len="med"/>
                  <a:tailEnd type="none" w="med" len="med"/>
                </a:ln>
              </p:spPr>
              <p:txBody>
                <a:bodyPr lIns="18000" tIns="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800" b="1" dirty="0">
                      <a:solidFill>
                        <a:srgbClr val="9900CC"/>
                      </a:solidFill>
                      <a:latin typeface="楷体_GB2312" pitchFamily="49" charset="-122"/>
                      <a:ea typeface="楷体_GB2312" pitchFamily="49" charset="-122"/>
                    </a:rPr>
                    <a:t>1001 </a:t>
                  </a:r>
                  <a:r>
                    <a:rPr lang="en-US" altLang="zh-CN" sz="1800" dirty="0"/>
                    <a:t> </a:t>
                  </a:r>
                  <a:endParaRPr lang="en-US" altLang="zh-CN" sz="1800" b="1" dirty="0">
                    <a:ea typeface="楷体_GB2312" pitchFamily="49" charset="-122"/>
                  </a:endParaRPr>
                </a:p>
              </p:txBody>
            </p:sp>
            <p:sp>
              <p:nvSpPr>
                <p:cNvPr id="18464" name="AutoShape 26"/>
                <p:cNvSpPr/>
                <p:nvPr/>
              </p:nvSpPr>
              <p:spPr>
                <a:xfrm>
                  <a:off x="6279" y="11498"/>
                  <a:ext cx="210" cy="1000"/>
                </a:xfrm>
                <a:prstGeom prst="leftBrace">
                  <a:avLst>
                    <a:gd name="adj1" fmla="val 39682"/>
                    <a:gd name="adj2" fmla="val 50000"/>
                  </a:avLst>
                </a:prstGeom>
                <a:noFill/>
                <a:ln w="28575" cap="flat" cmpd="sng">
                  <a:solidFill>
                    <a:srgbClr val="000000"/>
                  </a:solidFill>
                  <a:prstDash val="solid"/>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8465" name="Line 27"/>
                <p:cNvSpPr/>
                <p:nvPr/>
              </p:nvSpPr>
              <p:spPr>
                <a:xfrm flipH="1" flipV="1">
                  <a:off x="4704" y="9748"/>
                  <a:ext cx="630" cy="750"/>
                </a:xfrm>
                <a:prstGeom prst="line">
                  <a:avLst/>
                </a:prstGeom>
                <a:ln w="28575" cap="flat" cmpd="sng">
                  <a:solidFill>
                    <a:srgbClr val="000000"/>
                  </a:solidFill>
                  <a:prstDash val="solid"/>
                  <a:headEnd type="none" w="med" len="med"/>
                  <a:tailEnd type="stealth" w="sm" len="lg"/>
                </a:ln>
              </p:spPr>
            </p:sp>
            <p:sp>
              <p:nvSpPr>
                <p:cNvPr id="18466" name="Line 28"/>
                <p:cNvSpPr/>
                <p:nvPr/>
              </p:nvSpPr>
              <p:spPr>
                <a:xfrm flipH="1">
                  <a:off x="4914" y="10498"/>
                  <a:ext cx="525" cy="500"/>
                </a:xfrm>
                <a:prstGeom prst="line">
                  <a:avLst/>
                </a:prstGeom>
                <a:ln w="28575" cap="flat" cmpd="sng">
                  <a:solidFill>
                    <a:srgbClr val="000000"/>
                  </a:solidFill>
                  <a:prstDash val="solid"/>
                  <a:headEnd type="none" w="med" len="med"/>
                  <a:tailEnd type="stealth" w="sm" len="lg"/>
                </a:ln>
              </p:spPr>
            </p:sp>
            <p:sp>
              <p:nvSpPr>
                <p:cNvPr id="18467" name="AutoShape 29"/>
                <p:cNvSpPr/>
                <p:nvPr/>
              </p:nvSpPr>
              <p:spPr>
                <a:xfrm>
                  <a:off x="6174" y="9998"/>
                  <a:ext cx="315" cy="1000"/>
                </a:xfrm>
                <a:prstGeom prst="leftBrace">
                  <a:avLst>
                    <a:gd name="adj1" fmla="val 26455"/>
                    <a:gd name="adj2" fmla="val 50000"/>
                  </a:avLst>
                </a:prstGeom>
                <a:noFill/>
                <a:ln w="28575" cap="flat" cmpd="sng">
                  <a:solidFill>
                    <a:srgbClr val="000000"/>
                  </a:solidFill>
                  <a:prstDash val="solid"/>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8468" name="AutoShape 30"/>
                <p:cNvSpPr/>
                <p:nvPr/>
              </p:nvSpPr>
              <p:spPr>
                <a:xfrm rot="-5400000">
                  <a:off x="3529" y="10533"/>
                  <a:ext cx="250" cy="1680"/>
                </a:xfrm>
                <a:prstGeom prst="leftBrace">
                  <a:avLst>
                    <a:gd name="adj1" fmla="val 56000"/>
                    <a:gd name="adj2" fmla="val 50000"/>
                  </a:avLst>
                </a:prstGeom>
                <a:noFill/>
                <a:ln w="28575" cap="flat" cmpd="sng">
                  <a:solidFill>
                    <a:srgbClr val="000000"/>
                  </a:solidFill>
                  <a:prstDash val="solid"/>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8469" name="Line 31"/>
                <p:cNvSpPr/>
                <p:nvPr/>
              </p:nvSpPr>
              <p:spPr>
                <a:xfrm flipH="1" flipV="1">
                  <a:off x="3651" y="11498"/>
                  <a:ext cx="1785" cy="500"/>
                </a:xfrm>
                <a:prstGeom prst="line">
                  <a:avLst/>
                </a:prstGeom>
                <a:ln w="28575" cap="flat" cmpd="sng">
                  <a:solidFill>
                    <a:srgbClr val="000000"/>
                  </a:solidFill>
                  <a:prstDash val="solid"/>
                  <a:headEnd type="none" w="med" len="med"/>
                  <a:tailEnd type="stealth" w="sm" len="lg"/>
                </a:ln>
              </p:spPr>
            </p:sp>
          </p:grpSp>
          <p:sp>
            <p:nvSpPr>
              <p:cNvPr id="18441" name="Rectangle 33"/>
              <p:cNvSpPr/>
              <p:nvPr/>
            </p:nvSpPr>
            <p:spPr>
              <a:xfrm>
                <a:off x="3606" y="2568"/>
                <a:ext cx="1196" cy="250"/>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600075" algn="l"/>
                  </a:tabLst>
                </a:pPr>
                <a:r>
                  <a:rPr lang="zh-CN" altLang="en-US" sz="2000" b="1" dirty="0">
                    <a:solidFill>
                      <a:srgbClr val="990033"/>
                    </a:solidFill>
                    <a:latin typeface="楷体_GB2312" pitchFamily="49" charset="-122"/>
                    <a:ea typeface="楷体_GB2312" pitchFamily="49" charset="-122"/>
                  </a:rPr>
                  <a:t>开关字段（钥）</a:t>
                </a:r>
                <a:endParaRPr lang="zh-CN" altLang="en-US" sz="2000" b="1" dirty="0">
                  <a:solidFill>
                    <a:srgbClr val="990033"/>
                  </a:solidFill>
                  <a:latin typeface="楷体_GB2312" pitchFamily="49" charset="-122"/>
                  <a:ea typeface="楷体_GB2312" pitchFamily="49" charset="-122"/>
                </a:endParaRPr>
              </a:p>
            </p:txBody>
          </p:sp>
          <p:sp>
            <p:nvSpPr>
              <p:cNvPr id="18442" name="Rectangle 34"/>
              <p:cNvSpPr/>
              <p:nvPr/>
            </p:nvSpPr>
            <p:spPr>
              <a:xfrm>
                <a:off x="3696" y="2750"/>
                <a:ext cx="1475" cy="288"/>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0 </a:t>
                </a:r>
                <a:r>
                  <a:rPr lang="en-US" altLang="zh-CN" sz="2000" b="1" dirty="0">
                    <a:solidFill>
                      <a:srgbClr val="000099"/>
                    </a:solidFill>
                    <a:ea typeface="楷体_GB2312" pitchFamily="49" charset="-122"/>
                  </a:rPr>
                  <a:t>—</a:t>
                </a:r>
                <a:r>
                  <a:rPr lang="en-US" altLang="zh-CN" sz="2000" b="1" dirty="0">
                    <a:solidFill>
                      <a:srgbClr val="000099"/>
                    </a:solidFill>
                    <a:latin typeface="楷体_GB2312" pitchFamily="49" charset="-122"/>
                    <a:ea typeface="楷体_GB2312" pitchFamily="49" charset="-122"/>
                  </a:rPr>
                  <a:t> </a:t>
                </a:r>
                <a:r>
                  <a:rPr lang="zh-CN" altLang="en-US" sz="2000" b="1" dirty="0">
                    <a:solidFill>
                      <a:srgbClr val="000099"/>
                    </a:solidFill>
                    <a:latin typeface="楷体_GB2312" pitchFamily="49" charset="-122"/>
                    <a:ea typeface="楷体_GB2312" pitchFamily="49" charset="-122"/>
                  </a:rPr>
                  <a:t>共享（只读）</a:t>
                </a:r>
                <a:r>
                  <a:rPr lang="zh-CN" altLang="en-US" sz="2400" b="1" dirty="0">
                    <a:ea typeface="楷体_GB2312" pitchFamily="49" charset="-122"/>
                  </a:rPr>
                  <a:t> </a:t>
                </a:r>
                <a:endParaRPr lang="zh-CN" altLang="en-US" sz="2400" b="1" dirty="0">
                  <a:ea typeface="楷体_GB2312" pitchFamily="49" charset="-122"/>
                </a:endParaRPr>
              </a:p>
            </p:txBody>
          </p:sp>
          <p:sp>
            <p:nvSpPr>
              <p:cNvPr id="18443" name="Rectangle 35"/>
              <p:cNvSpPr/>
              <p:nvPr/>
            </p:nvSpPr>
            <p:spPr>
              <a:xfrm>
                <a:off x="2963" y="2944"/>
                <a:ext cx="623" cy="288"/>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99"/>
                    </a:solidFill>
                    <a:latin typeface="楷体_GB2312" pitchFamily="49" charset="-122"/>
                    <a:ea typeface="楷体_GB2312" pitchFamily="49" charset="-122"/>
                  </a:rPr>
                  <a:t>共享位</a:t>
                </a:r>
                <a:r>
                  <a:rPr lang="zh-CN" altLang="en-US" sz="2400" b="1" dirty="0">
                    <a:ea typeface="楷体_GB2312" pitchFamily="49" charset="-122"/>
                  </a:rPr>
                  <a:t> </a:t>
                </a:r>
                <a:endParaRPr lang="zh-CN" altLang="en-US" sz="2400" b="1" dirty="0">
                  <a:ea typeface="楷体_GB2312" pitchFamily="49" charset="-122"/>
                </a:endParaRPr>
              </a:p>
            </p:txBody>
          </p:sp>
          <p:sp>
            <p:nvSpPr>
              <p:cNvPr id="18444" name="Rectangle 36"/>
              <p:cNvSpPr/>
              <p:nvPr/>
            </p:nvSpPr>
            <p:spPr>
              <a:xfrm>
                <a:off x="3696" y="3203"/>
                <a:ext cx="1785" cy="288"/>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1 </a:t>
                </a:r>
                <a:r>
                  <a:rPr lang="en-US" altLang="zh-CN" sz="2000" b="1" dirty="0">
                    <a:solidFill>
                      <a:srgbClr val="000099"/>
                    </a:solidFill>
                    <a:ea typeface="楷体_GB2312" pitchFamily="49" charset="-122"/>
                  </a:rPr>
                  <a:t>—</a:t>
                </a:r>
                <a:r>
                  <a:rPr lang="en-US" altLang="zh-CN" sz="2000" b="1" dirty="0">
                    <a:solidFill>
                      <a:srgbClr val="000099"/>
                    </a:solidFill>
                    <a:latin typeface="楷体_GB2312" pitchFamily="49" charset="-122"/>
                    <a:ea typeface="楷体_GB2312" pitchFamily="49" charset="-122"/>
                  </a:rPr>
                  <a:t> </a:t>
                </a:r>
                <a:r>
                  <a:rPr lang="zh-CN" altLang="en-US" sz="2000" b="1" dirty="0">
                    <a:solidFill>
                      <a:srgbClr val="000099"/>
                    </a:solidFill>
                    <a:latin typeface="楷体_GB2312" pitchFamily="49" charset="-122"/>
                    <a:ea typeface="楷体_GB2312" pitchFamily="49" charset="-122"/>
                  </a:rPr>
                  <a:t>匹配（可读可写）</a:t>
                </a:r>
                <a:r>
                  <a:rPr lang="zh-CN" altLang="en-US" sz="2400" b="1" dirty="0">
                    <a:ea typeface="楷体_GB2312" pitchFamily="49" charset="-122"/>
                  </a:rPr>
                  <a:t> </a:t>
                </a:r>
                <a:endParaRPr lang="zh-CN" altLang="en-US" sz="2400" b="1" dirty="0">
                  <a:ea typeface="楷体_GB2312" pitchFamily="49" charset="-122"/>
                </a:endParaRPr>
              </a:p>
            </p:txBody>
          </p:sp>
          <p:sp>
            <p:nvSpPr>
              <p:cNvPr id="18445" name="Rectangle 37"/>
              <p:cNvSpPr/>
              <p:nvPr/>
            </p:nvSpPr>
            <p:spPr>
              <a:xfrm>
                <a:off x="2992" y="3641"/>
                <a:ext cx="623" cy="288"/>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99"/>
                    </a:solidFill>
                    <a:latin typeface="楷体_GB2312" pitchFamily="49" charset="-122"/>
                    <a:ea typeface="楷体_GB2312" pitchFamily="49" charset="-122"/>
                  </a:rPr>
                  <a:t>保护键</a:t>
                </a:r>
                <a:r>
                  <a:rPr lang="zh-CN" altLang="en-US" sz="2400" b="1" dirty="0">
                    <a:ea typeface="楷体_GB2312" pitchFamily="49" charset="-122"/>
                  </a:rPr>
                  <a:t> </a:t>
                </a:r>
                <a:endParaRPr lang="zh-CN" altLang="en-US" sz="2400" b="1" dirty="0">
                  <a:ea typeface="楷体_GB2312" pitchFamily="49" charset="-122"/>
                </a:endParaRPr>
              </a:p>
            </p:txBody>
          </p:sp>
          <p:sp>
            <p:nvSpPr>
              <p:cNvPr id="18446" name="Rectangle 38"/>
              <p:cNvSpPr/>
              <p:nvPr/>
            </p:nvSpPr>
            <p:spPr>
              <a:xfrm>
                <a:off x="3694" y="3430"/>
                <a:ext cx="855" cy="288"/>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0 </a:t>
                </a:r>
                <a:r>
                  <a:rPr lang="en-US" altLang="zh-CN" sz="2000" b="1" dirty="0">
                    <a:solidFill>
                      <a:srgbClr val="000099"/>
                    </a:solidFill>
                    <a:ea typeface="楷体_GB2312" pitchFamily="49" charset="-122"/>
                  </a:rPr>
                  <a:t>—</a:t>
                </a:r>
                <a:r>
                  <a:rPr lang="en-US" altLang="zh-CN" sz="2000" b="1" dirty="0">
                    <a:solidFill>
                      <a:srgbClr val="000099"/>
                    </a:solidFill>
                    <a:latin typeface="楷体_GB2312" pitchFamily="49" charset="-122"/>
                    <a:ea typeface="楷体_GB2312" pitchFamily="49" charset="-122"/>
                  </a:rPr>
                  <a:t> </a:t>
                </a:r>
                <a:r>
                  <a:rPr lang="zh-CN" altLang="en-US" sz="2000" b="1" dirty="0">
                    <a:solidFill>
                      <a:srgbClr val="000099"/>
                    </a:solidFill>
                    <a:latin typeface="楷体_GB2312" pitchFamily="49" charset="-122"/>
                    <a:ea typeface="楷体_GB2312" pitchFamily="49" charset="-122"/>
                  </a:rPr>
                  <a:t>系统</a:t>
                </a:r>
                <a:r>
                  <a:rPr lang="zh-CN" altLang="en-US" sz="2400" b="1" dirty="0">
                    <a:ea typeface="楷体_GB2312" pitchFamily="49" charset="-122"/>
                  </a:rPr>
                  <a:t> </a:t>
                </a:r>
                <a:endParaRPr lang="zh-CN" altLang="en-US" sz="2400" b="1" dirty="0">
                  <a:ea typeface="楷体_GB2312" pitchFamily="49" charset="-122"/>
                </a:endParaRPr>
              </a:p>
            </p:txBody>
          </p:sp>
          <p:sp>
            <p:nvSpPr>
              <p:cNvPr id="18447" name="Rectangle 39"/>
              <p:cNvSpPr/>
              <p:nvPr/>
            </p:nvSpPr>
            <p:spPr>
              <a:xfrm>
                <a:off x="3686" y="3862"/>
                <a:ext cx="1213" cy="288"/>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1</a:t>
                </a:r>
                <a:r>
                  <a:rPr lang="zh-CN" altLang="en-US" sz="2000" b="1" dirty="0">
                    <a:solidFill>
                      <a:srgbClr val="000099"/>
                    </a:solidFill>
                    <a:latin typeface="楷体_GB2312" pitchFamily="49" charset="-122"/>
                    <a:ea typeface="楷体_GB2312" pitchFamily="49" charset="-122"/>
                  </a:rPr>
                  <a:t>～</a:t>
                </a:r>
                <a:r>
                  <a:rPr lang="en-US" altLang="zh-CN" sz="2000" b="1" dirty="0">
                    <a:solidFill>
                      <a:srgbClr val="000099"/>
                    </a:solidFill>
                    <a:latin typeface="楷体_GB2312" pitchFamily="49" charset="-122"/>
                    <a:ea typeface="楷体_GB2312" pitchFamily="49" charset="-122"/>
                  </a:rPr>
                  <a:t>15</a:t>
                </a:r>
                <a:r>
                  <a:rPr lang="en-US" altLang="zh-CN" sz="2400" b="1" dirty="0">
                    <a:ea typeface="楷体_GB2312" pitchFamily="49" charset="-122"/>
                  </a:rPr>
                  <a:t> </a:t>
                </a:r>
                <a:r>
                  <a:rPr lang="en-US" altLang="zh-CN" sz="2000" b="1" dirty="0">
                    <a:solidFill>
                      <a:srgbClr val="000099"/>
                    </a:solidFill>
                    <a:latin typeface="楷体_GB2312" pitchFamily="49" charset="-122"/>
                    <a:ea typeface="楷体_GB2312" pitchFamily="49" charset="-122"/>
                  </a:rPr>
                  <a:t> </a:t>
                </a:r>
                <a:r>
                  <a:rPr lang="en-US" altLang="zh-CN" sz="2000" b="1" dirty="0">
                    <a:solidFill>
                      <a:srgbClr val="000099"/>
                    </a:solidFill>
                    <a:ea typeface="楷体_GB2312" pitchFamily="49" charset="-122"/>
                  </a:rPr>
                  <a:t>—</a:t>
                </a:r>
                <a:r>
                  <a:rPr lang="en-US" altLang="zh-CN" sz="2000" b="1" dirty="0">
                    <a:solidFill>
                      <a:srgbClr val="000099"/>
                    </a:solidFill>
                    <a:latin typeface="楷体_GB2312" pitchFamily="49" charset="-122"/>
                    <a:ea typeface="楷体_GB2312" pitchFamily="49" charset="-122"/>
                  </a:rPr>
                  <a:t> </a:t>
                </a:r>
                <a:r>
                  <a:rPr lang="zh-CN" altLang="en-US" sz="2000" b="1" dirty="0">
                    <a:solidFill>
                      <a:srgbClr val="000099"/>
                    </a:solidFill>
                    <a:latin typeface="楷体_GB2312" pitchFamily="49" charset="-122"/>
                    <a:ea typeface="楷体_GB2312" pitchFamily="49" charset="-122"/>
                  </a:rPr>
                  <a:t>用户</a:t>
                </a:r>
                <a:r>
                  <a:rPr lang="zh-CN" altLang="en-US" sz="2400" b="1" dirty="0">
                    <a:ea typeface="楷体_GB2312" pitchFamily="49" charset="-122"/>
                  </a:rPr>
                  <a:t> </a:t>
                </a:r>
                <a:endParaRPr lang="zh-CN" altLang="en-US" sz="2400" b="1" dirty="0">
                  <a:ea typeface="楷体_GB2312" pitchFamily="49" charset="-122"/>
                </a:endParaRPr>
              </a:p>
            </p:txBody>
          </p:sp>
        </p:grpSp>
        <p:sp>
          <p:nvSpPr>
            <p:cNvPr id="18439" name="Rectangle 41"/>
            <p:cNvSpPr/>
            <p:nvPr/>
          </p:nvSpPr>
          <p:spPr>
            <a:xfrm>
              <a:off x="3072" y="1968"/>
              <a:ext cx="2184" cy="288"/>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333375" algn="l"/>
                  <a:tab pos="600075" algn="l"/>
                </a:tabLst>
              </a:pPr>
              <a:r>
                <a:rPr lang="zh-CN" altLang="en-US" sz="2400" b="1" dirty="0">
                  <a:solidFill>
                    <a:srgbClr val="000099"/>
                  </a:solidFill>
                  <a:ea typeface="楷体_GB2312" pitchFamily="49" charset="-122"/>
                </a:rPr>
                <a:t>当前程序状态字（</a:t>
              </a:r>
              <a:r>
                <a:rPr lang="en-US" altLang="zh-CN" sz="2400" b="1" dirty="0">
                  <a:solidFill>
                    <a:srgbClr val="000099"/>
                  </a:solidFill>
                  <a:ea typeface="楷体_GB2312" pitchFamily="49" charset="-122"/>
                </a:rPr>
                <a:t>PSW</a:t>
              </a:r>
              <a:r>
                <a:rPr lang="zh-CN" altLang="en-US" sz="2400" b="1" dirty="0">
                  <a:solidFill>
                    <a:srgbClr val="000099"/>
                  </a:solidFill>
                  <a:ea typeface="楷体_GB2312" pitchFamily="49" charset="-122"/>
                </a:rPr>
                <a:t>）</a:t>
              </a:r>
              <a:endParaRPr lang="zh-CN" altLang="en-US" sz="2400" b="1" dirty="0">
                <a:solidFill>
                  <a:srgbClr val="000099"/>
                </a:solidFill>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7544"/>
                                        </p:tgtEl>
                                        <p:attrNameLst>
                                          <p:attrName>style.visibility</p:attrName>
                                        </p:attrNameLst>
                                      </p:cBhvr>
                                      <p:to>
                                        <p:strVal val="visible"/>
                                      </p:to>
                                    </p:set>
                                    <p:animEffect transition="in" filter="blinds(horizontal)">
                                      <p:cBhvr>
                                        <p:cTn id="7" dur="500"/>
                                        <p:tgtEl>
                                          <p:spTgt spid="57754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57756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77578"/>
                                        </p:tgtEl>
                                        <p:attrNameLst>
                                          <p:attrName>style.visibility</p:attrName>
                                        </p:attrNameLst>
                                      </p:cBhvr>
                                      <p:to>
                                        <p:strVal val="visible"/>
                                      </p:to>
                                    </p:set>
                                    <p:animEffect transition="in" filter="wipe(left)">
                                      <p:cBhvr>
                                        <p:cTn id="16" dur="5000"/>
                                        <p:tgtEl>
                                          <p:spTgt spid="577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44" grpId="0"/>
      <p:bldP spid="57756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74467" name="Rectangle 3"/>
          <p:cNvSpPr/>
          <p:nvPr/>
        </p:nvSpPr>
        <p:spPr>
          <a:xfrm>
            <a:off x="684213" y="908050"/>
            <a:ext cx="3028950" cy="519113"/>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800" dirty="0">
                <a:solidFill>
                  <a:srgbClr val="9900CC"/>
                </a:solidFill>
                <a:latin typeface="隶书" panose="02010509060101010101" pitchFamily="49" charset="-122"/>
                <a:ea typeface="隶书" panose="02010509060101010101" pitchFamily="49" charset="-122"/>
              </a:rPr>
              <a:t>（四）</a:t>
            </a:r>
            <a:r>
              <a:rPr lang="zh-CN" altLang="en-US" sz="2800" dirty="0">
                <a:solidFill>
                  <a:srgbClr val="9900CC"/>
                </a:solidFill>
                <a:latin typeface="隶书" panose="02010509060101010101" pitchFamily="49" charset="-122"/>
                <a:ea typeface="隶书" panose="02010509060101010101" pitchFamily="49" charset="-122"/>
              </a:rPr>
              <a:t>主存的扩充</a:t>
            </a:r>
            <a:endParaRPr lang="zh-CN" altLang="en-US" sz="2800" dirty="0">
              <a:solidFill>
                <a:srgbClr val="9900CC"/>
              </a:solidFill>
              <a:latin typeface="隶书" panose="02010509060101010101" pitchFamily="49" charset="-122"/>
              <a:ea typeface="隶书" panose="02010509060101010101" pitchFamily="49" charset="-122"/>
            </a:endParaRPr>
          </a:p>
        </p:txBody>
      </p:sp>
      <p:sp>
        <p:nvSpPr>
          <p:cNvPr id="19460" name="Rectangle 4"/>
          <p:cNvSpPr/>
          <p:nvPr/>
        </p:nvSpPr>
        <p:spPr>
          <a:xfrm>
            <a:off x="838200" y="1752600"/>
            <a:ext cx="83058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nSpc>
                <a:spcPct val="120000"/>
              </a:lnSpc>
              <a:spcBef>
                <a:spcPct val="50000"/>
              </a:spcBef>
              <a:buClrTx/>
              <a:buSzTx/>
              <a:buFontTx/>
              <a:buNone/>
            </a:pPr>
            <a:endParaRPr lang="zh-CN" altLang="zh-CN" sz="2400" b="1" dirty="0">
              <a:solidFill>
                <a:srgbClr val="000099"/>
              </a:solidFill>
              <a:latin typeface="楷体_GB2312" pitchFamily="49" charset="-122"/>
              <a:ea typeface="楷体_GB2312" pitchFamily="49" charset="-122"/>
            </a:endParaRPr>
          </a:p>
        </p:txBody>
      </p:sp>
      <p:sp>
        <p:nvSpPr>
          <p:cNvPr id="19461" name="Rectangle 5"/>
          <p:cNvSpPr/>
          <p:nvPr/>
        </p:nvSpPr>
        <p:spPr>
          <a:xfrm>
            <a:off x="838200" y="2286000"/>
            <a:ext cx="45720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nSpc>
                <a:spcPct val="120000"/>
              </a:lnSpc>
              <a:spcBef>
                <a:spcPct val="50000"/>
              </a:spcBef>
              <a:buClrTx/>
              <a:buSzTx/>
              <a:buFontTx/>
              <a:buNone/>
            </a:pPr>
            <a:endParaRPr lang="zh-CN" altLang="zh-CN" sz="2400" b="1" dirty="0">
              <a:solidFill>
                <a:srgbClr val="000099"/>
              </a:solidFill>
              <a:latin typeface="楷体_GB2312" pitchFamily="49" charset="-122"/>
              <a:ea typeface="楷体_GB2312" pitchFamily="49" charset="-122"/>
            </a:endParaRPr>
          </a:p>
        </p:txBody>
      </p:sp>
      <p:sp>
        <p:nvSpPr>
          <p:cNvPr id="19462" name="Rectangle 6"/>
          <p:cNvSpPr/>
          <p:nvPr/>
        </p:nvSpPr>
        <p:spPr>
          <a:xfrm>
            <a:off x="838200" y="2819400"/>
            <a:ext cx="184150" cy="530225"/>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nSpc>
                <a:spcPct val="120000"/>
              </a:lnSpc>
              <a:spcBef>
                <a:spcPct val="50000"/>
              </a:spcBef>
              <a:buClrTx/>
              <a:buSzTx/>
              <a:buFontTx/>
              <a:buNone/>
            </a:pPr>
            <a:endParaRPr lang="zh-CN" altLang="zh-CN" sz="2400" b="1" dirty="0">
              <a:solidFill>
                <a:srgbClr val="000099"/>
              </a:solidFill>
              <a:latin typeface="楷体_GB2312" pitchFamily="49" charset="-122"/>
              <a:ea typeface="楷体_GB2312" pitchFamily="49" charset="-122"/>
            </a:endParaRPr>
          </a:p>
        </p:txBody>
      </p:sp>
      <p:sp>
        <p:nvSpPr>
          <p:cNvPr id="574472" name="Rectangle 8"/>
          <p:cNvSpPr/>
          <p:nvPr/>
        </p:nvSpPr>
        <p:spPr>
          <a:xfrm>
            <a:off x="304800" y="1447800"/>
            <a:ext cx="82804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eaLnBrk="1" hangingPunct="1">
              <a:lnSpc>
                <a:spcPct val="120000"/>
              </a:lnSpc>
              <a:spcBef>
                <a:spcPct val="0"/>
              </a:spcBef>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借助于主存扩充技术为用户提供比主存空间大的地址空间，从而实现扩充主存容量的目的。</a:t>
            </a:r>
            <a:endParaRPr lang="zh-CN" altLang="en-US" sz="2400" b="1" dirty="0">
              <a:solidFill>
                <a:srgbClr val="000099"/>
              </a:solidFill>
              <a:ea typeface="楷体_GB2312" pitchFamily="49" charset="-122"/>
            </a:endParaRPr>
          </a:p>
        </p:txBody>
      </p:sp>
      <p:sp>
        <p:nvSpPr>
          <p:cNvPr id="574474" name="Rectangle 10"/>
          <p:cNvSpPr/>
          <p:nvPr/>
        </p:nvSpPr>
        <p:spPr>
          <a:xfrm>
            <a:off x="1476375" y="2565400"/>
            <a:ext cx="3960813" cy="17748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zh-CN" altLang="en-US" sz="2400" b="1" dirty="0">
                <a:solidFill>
                  <a:srgbClr val="009900"/>
                </a:solidFill>
                <a:ea typeface="楷体_GB2312" pitchFamily="49" charset="-122"/>
              </a:rPr>
              <a:t>主存扩充技术</a:t>
            </a:r>
            <a:endParaRPr lang="zh-CN" altLang="en-US" sz="2400" b="1" dirty="0">
              <a:solidFill>
                <a:srgbClr val="009900"/>
              </a:solidFill>
              <a:ea typeface="楷体_GB2312" pitchFamily="49" charset="-122"/>
            </a:endParaRPr>
          </a:p>
          <a:p>
            <a:pPr marL="0" lvl="0" indent="0" eaLnBrk="1" hangingPunct="1">
              <a:lnSpc>
                <a:spcPct val="115000"/>
              </a:lnSpc>
              <a:spcBef>
                <a:spcPct val="0"/>
              </a:spcBef>
              <a:buClrTx/>
              <a:buSzTx/>
              <a:buFontTx/>
              <a:buNone/>
            </a:pPr>
            <a:r>
              <a:rPr lang="zh-CN" altLang="en-US" sz="2400" b="1" dirty="0">
                <a:solidFill>
                  <a:srgbClr val="000099"/>
                </a:solidFill>
                <a:ea typeface="楷体_GB2312" pitchFamily="49" charset="-122"/>
              </a:rPr>
              <a:t>覆盖技术</a:t>
            </a:r>
            <a:endParaRPr lang="zh-CN" altLang="en-US" sz="2400" b="1" dirty="0">
              <a:solidFill>
                <a:srgbClr val="000099"/>
              </a:solidFill>
              <a:ea typeface="楷体_GB2312" pitchFamily="49" charset="-122"/>
            </a:endParaRPr>
          </a:p>
          <a:p>
            <a:pPr marL="0" lvl="0" indent="0" eaLnBrk="1" hangingPunct="1">
              <a:lnSpc>
                <a:spcPct val="115000"/>
              </a:lnSpc>
              <a:spcBef>
                <a:spcPct val="0"/>
              </a:spcBef>
              <a:buClrTx/>
              <a:buSzTx/>
              <a:buFontTx/>
              <a:buNone/>
            </a:pPr>
            <a:r>
              <a:rPr lang="zh-CN" altLang="en-US" sz="2400" b="1" dirty="0">
                <a:solidFill>
                  <a:srgbClr val="000099"/>
                </a:solidFill>
                <a:ea typeface="楷体_GB2312" pitchFamily="49" charset="-122"/>
              </a:rPr>
              <a:t>对（交）换技术</a:t>
            </a:r>
            <a:endParaRPr lang="zh-CN" altLang="en-US" sz="2400" b="1" dirty="0">
              <a:solidFill>
                <a:srgbClr val="000099"/>
              </a:solidFill>
              <a:ea typeface="楷体_GB2312" pitchFamily="49" charset="-122"/>
            </a:endParaRPr>
          </a:p>
          <a:p>
            <a:pPr marL="0" lvl="0" indent="0" eaLnBrk="1" hangingPunct="1">
              <a:lnSpc>
                <a:spcPct val="115000"/>
              </a:lnSpc>
              <a:spcBef>
                <a:spcPct val="0"/>
              </a:spcBef>
              <a:buClrTx/>
              <a:buSzTx/>
              <a:buFontTx/>
              <a:buNone/>
            </a:pPr>
            <a:r>
              <a:rPr lang="zh-CN" altLang="en-US" sz="2400" b="1" dirty="0">
                <a:solidFill>
                  <a:srgbClr val="000099"/>
                </a:solidFill>
                <a:ea typeface="楷体_GB2312" pitchFamily="49" charset="-122"/>
              </a:rPr>
              <a:t>虚拟存储技术</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4467"/>
                                        </p:tgtEl>
                                        <p:attrNameLst>
                                          <p:attrName>style.visibility</p:attrName>
                                        </p:attrNameLst>
                                      </p:cBhvr>
                                      <p:to>
                                        <p:strVal val="visible"/>
                                      </p:to>
                                    </p:set>
                                    <p:animEffect transition="in" filter="blinds(horizontal)">
                                      <p:cBhvr>
                                        <p:cTn id="7" dur="500"/>
                                        <p:tgtEl>
                                          <p:spTgt spid="57446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574472"/>
                                        </p:tgtEl>
                                        <p:attrNameLst>
                                          <p:attrName>style.visibility</p:attrName>
                                        </p:attrNameLst>
                                      </p:cBhvr>
                                      <p:to>
                                        <p:strVal val="visible"/>
                                      </p:to>
                                    </p:set>
                                    <p:animEffect transition="in" filter="wheel(4)">
                                      <p:cBhvr>
                                        <p:cTn id="12" dur="2000"/>
                                        <p:tgtEl>
                                          <p:spTgt spid="57447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74474"/>
                                        </p:tgtEl>
                                        <p:attrNameLst>
                                          <p:attrName>style.visibility</p:attrName>
                                        </p:attrNameLst>
                                      </p:cBhvr>
                                      <p:to>
                                        <p:strVal val="visible"/>
                                      </p:to>
                                    </p:set>
                                    <p:animEffect transition="in" filter="checkerboard(across)">
                                      <p:cBhvr>
                                        <p:cTn id="17" dur="500"/>
                                        <p:tgtEl>
                                          <p:spTgt spid="574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7" grpId="0"/>
      <p:bldP spid="574472" grpId="0"/>
      <p:bldP spid="57447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20483" name="矩形 2"/>
          <p:cNvSpPr/>
          <p:nvPr/>
        </p:nvSpPr>
        <p:spPr>
          <a:xfrm>
            <a:off x="2771775" y="908050"/>
            <a:ext cx="4246880" cy="583565"/>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dirty="0">
                <a:solidFill>
                  <a:srgbClr val="9900CC"/>
                </a:solidFill>
                <a:latin typeface="隶书" panose="02010509060101010101" pitchFamily="49" charset="-122"/>
                <a:ea typeface="隶书" panose="02010509060101010101" pitchFamily="49" charset="-122"/>
              </a:rPr>
              <a:t>5.2 </a:t>
            </a:r>
            <a:r>
              <a:rPr lang="zh-CN" altLang="en-US" dirty="0">
                <a:solidFill>
                  <a:srgbClr val="9900CC"/>
                </a:solidFill>
                <a:latin typeface="隶书" panose="02010509060101010101" pitchFamily="49" charset="-122"/>
                <a:ea typeface="隶书" panose="02010509060101010101" pitchFamily="49" charset="-122"/>
              </a:rPr>
              <a:t>存储器的层次结构</a:t>
            </a:r>
            <a:endParaRPr lang="zh-CN" altLang="en-US" dirty="0">
              <a:solidFill>
                <a:srgbClr val="9900CC"/>
              </a:solidFill>
              <a:latin typeface="隶书" panose="02010509060101010101" pitchFamily="49" charset="-122"/>
              <a:ea typeface="隶书" panose="02010509060101010101" pitchFamily="49" charset="-122"/>
            </a:endParaRPr>
          </a:p>
        </p:txBody>
      </p:sp>
      <p:sp>
        <p:nvSpPr>
          <p:cNvPr id="20484" name="矩形 3"/>
          <p:cNvSpPr/>
          <p:nvPr/>
        </p:nvSpPr>
        <p:spPr>
          <a:xfrm>
            <a:off x="1054100" y="1844675"/>
            <a:ext cx="7632700" cy="26416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zh-CN" altLang="en-US" sz="2400" b="1" dirty="0">
                <a:solidFill>
                  <a:srgbClr val="000099"/>
                </a:solidFill>
                <a:ea typeface="楷体_GB2312" pitchFamily="49" charset="-122"/>
              </a:rPr>
              <a:t>        在计算机执行时，几乎每一条指令都涉及对存储器的访问，因此要求对存储器的访问速度能跟得上处理机的运行速度。或者说，存储器的速度必须非常快，能与处理机的速度相匹配，否则会明显地影响到处理机的运行。此外还要求存储器具有非常大的容量，而且存储器的价格还应很便宜。 </a:t>
            </a:r>
            <a:endParaRPr lang="zh-CN" altLang="en-US" sz="2400" b="1" dirty="0">
              <a:solidFill>
                <a:srgbClr val="000099"/>
              </a:solidFill>
              <a:ea typeface="楷体_GB2312"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21507" name="矩形 2"/>
          <p:cNvSpPr/>
          <p:nvPr/>
        </p:nvSpPr>
        <p:spPr>
          <a:xfrm>
            <a:off x="755650" y="1471613"/>
            <a:ext cx="7848600" cy="2640012"/>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en-US" altLang="zh-CN" sz="2400" b="1" dirty="0">
                <a:solidFill>
                  <a:srgbClr val="000099"/>
                </a:solidFill>
                <a:latin typeface="黑体" panose="02010609060101010101" pitchFamily="49" charset="-122"/>
                <a:ea typeface="黑体" panose="02010609060101010101" pitchFamily="49" charset="-122"/>
              </a:rPr>
              <a:t>1. </a:t>
            </a:r>
            <a:r>
              <a:rPr lang="zh-CN" altLang="en-US" sz="2400" b="1" dirty="0">
                <a:solidFill>
                  <a:srgbClr val="000099"/>
                </a:solidFill>
                <a:latin typeface="黑体" panose="02010609060101010101" pitchFamily="49" charset="-122"/>
                <a:ea typeface="黑体" panose="02010609060101010101" pitchFamily="49" charset="-122"/>
              </a:rPr>
              <a:t>存储器的多层结构</a:t>
            </a:r>
            <a:br>
              <a:rPr lang="zh-CN" altLang="en-US"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ea typeface="楷体_GB2312" pitchFamily="49" charset="-122"/>
              </a:rPr>
              <a:t>　    对于通用计算机而言，存储层次至少应具有三级：最高层为</a:t>
            </a:r>
            <a:r>
              <a:rPr lang="en-US" altLang="zh-CN" sz="2400" b="1" dirty="0">
                <a:solidFill>
                  <a:srgbClr val="000099"/>
                </a:solidFill>
                <a:ea typeface="楷体_GB2312" pitchFamily="49" charset="-122"/>
              </a:rPr>
              <a:t>CPU</a:t>
            </a:r>
            <a:r>
              <a:rPr lang="zh-CN" altLang="en-US" sz="2400" b="1" dirty="0">
                <a:solidFill>
                  <a:srgbClr val="000099"/>
                </a:solidFill>
                <a:ea typeface="楷体_GB2312" pitchFamily="49" charset="-122"/>
              </a:rPr>
              <a:t>寄存器，中间为主存，最底层是辅存。在较高档的计算机中，还可以根据具体的功能细分为寄存器、高速缓存、主存储器、磁盘缓存、固定磁盘、可移动存储介质等</a:t>
            </a:r>
            <a:r>
              <a:rPr lang="en-US" altLang="zh-CN" sz="2400" b="1" dirty="0">
                <a:solidFill>
                  <a:srgbClr val="000099"/>
                </a:solidFill>
                <a:ea typeface="楷体_GB2312" pitchFamily="49" charset="-122"/>
              </a:rPr>
              <a:t>6</a:t>
            </a:r>
            <a:r>
              <a:rPr lang="zh-CN" altLang="en-US" sz="2400" b="1" dirty="0">
                <a:solidFill>
                  <a:srgbClr val="000099"/>
                </a:solidFill>
                <a:ea typeface="楷体_GB2312" pitchFamily="49" charset="-122"/>
              </a:rPr>
              <a:t>层。如图</a:t>
            </a:r>
            <a:r>
              <a:rPr lang="en-US" altLang="zh-CN" sz="2400" b="1" dirty="0">
                <a:solidFill>
                  <a:srgbClr val="000099"/>
                </a:solidFill>
                <a:ea typeface="楷体_GB2312" pitchFamily="49" charset="-122"/>
              </a:rPr>
              <a:t>4-1</a:t>
            </a:r>
            <a:r>
              <a:rPr lang="zh-CN" altLang="en-US" sz="2400" b="1" dirty="0">
                <a:solidFill>
                  <a:srgbClr val="000099"/>
                </a:solidFill>
                <a:ea typeface="楷体_GB2312" pitchFamily="49" charset="-122"/>
              </a:rPr>
              <a:t>所示。 </a:t>
            </a:r>
            <a:endParaRPr lang="zh-CN" altLang="en-US" sz="2400" b="1" dirty="0">
              <a:solidFill>
                <a:srgbClr val="000099"/>
              </a:solidFill>
              <a:ea typeface="楷体_GB2312" pitchFamily="49" charset="-122"/>
            </a:endParaRPr>
          </a:p>
        </p:txBody>
      </p:sp>
      <p:sp>
        <p:nvSpPr>
          <p:cNvPr id="21508" name="文本框 3"/>
          <p:cNvSpPr txBox="1"/>
          <p:nvPr/>
        </p:nvSpPr>
        <p:spPr>
          <a:xfrm>
            <a:off x="539750" y="908050"/>
            <a:ext cx="5360988" cy="4794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zh-CN" altLang="en-US" sz="2400" b="1" dirty="0">
                <a:solidFill>
                  <a:srgbClr val="7030A0"/>
                </a:solidFill>
                <a:ea typeface="楷体_GB2312" pitchFamily="49" charset="-122"/>
              </a:rPr>
              <a:t>（一）多层结构的存储器系统</a:t>
            </a:r>
            <a:endParaRPr lang="zh-CN" altLang="en-US" sz="2400" b="1" dirty="0">
              <a:solidFill>
                <a:srgbClr val="7030A0"/>
              </a:solidFill>
              <a:ea typeface="楷体_GB2312"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pic>
        <p:nvPicPr>
          <p:cNvPr id="22531" name="Picture 4" descr="4-1"/>
          <p:cNvPicPr>
            <a:picLocks noChangeAspect="1"/>
          </p:cNvPicPr>
          <p:nvPr/>
        </p:nvPicPr>
        <p:blipFill>
          <a:blip r:embed="rId1"/>
          <a:stretch>
            <a:fillRect/>
          </a:stretch>
        </p:blipFill>
        <p:spPr>
          <a:xfrm>
            <a:off x="1476375" y="1844675"/>
            <a:ext cx="6313488" cy="297815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23555" name="矩形 2"/>
          <p:cNvSpPr/>
          <p:nvPr/>
        </p:nvSpPr>
        <p:spPr>
          <a:xfrm>
            <a:off x="838200" y="1052513"/>
            <a:ext cx="7848600" cy="434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en-US" altLang="zh-CN" sz="2400" b="1" dirty="0">
                <a:solidFill>
                  <a:srgbClr val="000099"/>
                </a:solidFill>
                <a:latin typeface="黑体" panose="02010609060101010101" pitchFamily="49" charset="-122"/>
                <a:ea typeface="黑体" panose="02010609060101010101" pitchFamily="49" charset="-122"/>
              </a:rPr>
              <a:t>2. </a:t>
            </a:r>
            <a:r>
              <a:rPr lang="zh-CN" altLang="en-US" sz="2400" b="1" dirty="0">
                <a:solidFill>
                  <a:srgbClr val="000099"/>
                </a:solidFill>
                <a:latin typeface="黑体" panose="02010609060101010101" pitchFamily="49" charset="-122"/>
                <a:ea typeface="黑体" panose="02010609060101010101" pitchFamily="49" charset="-122"/>
              </a:rPr>
              <a:t>可执行存储器</a:t>
            </a:r>
            <a:br>
              <a:rPr lang="zh-CN" altLang="en-US"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latin typeface="黑体" panose="02010609060101010101" pitchFamily="49" charset="-122"/>
                <a:ea typeface="黑体" panose="02010609060101010101" pitchFamily="49" charset="-122"/>
              </a:rPr>
              <a:t>　　</a:t>
            </a:r>
            <a:r>
              <a:rPr lang="zh-CN" altLang="en-US" sz="2400" b="1" dirty="0">
                <a:solidFill>
                  <a:srgbClr val="000099"/>
                </a:solidFill>
                <a:ea typeface="楷体_GB2312" pitchFamily="49" charset="-122"/>
              </a:rPr>
              <a:t>在计算机系统的存储层次中，寄存器和主存储器又被称为可执行存储器。对于存放于其中的信息，与存放于辅存中的信息相比较而言，计算机所采用的访问机制是不同的，所需耗费的时间也是不同的。进程可以在很少的时钟周期内使用一条</a:t>
            </a:r>
            <a:r>
              <a:rPr lang="en-US" altLang="zh-CN" sz="2400" b="1" dirty="0">
                <a:solidFill>
                  <a:srgbClr val="000099"/>
                </a:solidFill>
                <a:ea typeface="楷体_GB2312" pitchFamily="49" charset="-122"/>
              </a:rPr>
              <a:t>load</a:t>
            </a:r>
            <a:r>
              <a:rPr lang="zh-CN" altLang="en-US" sz="2400" b="1" dirty="0">
                <a:solidFill>
                  <a:srgbClr val="000099"/>
                </a:solidFill>
                <a:ea typeface="楷体_GB2312" pitchFamily="49" charset="-122"/>
              </a:rPr>
              <a:t>或</a:t>
            </a:r>
            <a:r>
              <a:rPr lang="en-US" altLang="zh-CN" sz="2400" b="1" dirty="0">
                <a:solidFill>
                  <a:srgbClr val="000099"/>
                </a:solidFill>
                <a:ea typeface="楷体_GB2312" pitchFamily="49" charset="-122"/>
              </a:rPr>
              <a:t>store</a:t>
            </a:r>
            <a:r>
              <a:rPr lang="zh-CN" altLang="en-US" sz="2400" b="1" dirty="0">
                <a:solidFill>
                  <a:srgbClr val="000099"/>
                </a:solidFill>
                <a:ea typeface="楷体_GB2312" pitchFamily="49" charset="-122"/>
              </a:rPr>
              <a:t>指令对可执行存储器进行访问。但对辅存的访问则需要通过</a:t>
            </a:r>
            <a:r>
              <a:rPr lang="en-US" altLang="zh-CN" sz="2400" b="1" dirty="0">
                <a:solidFill>
                  <a:srgbClr val="000099"/>
                </a:solidFill>
                <a:ea typeface="楷体_GB2312" pitchFamily="49" charset="-122"/>
              </a:rPr>
              <a:t>I/O</a:t>
            </a:r>
            <a:r>
              <a:rPr lang="zh-CN" altLang="en-US" sz="2400" b="1" dirty="0">
                <a:solidFill>
                  <a:srgbClr val="000099"/>
                </a:solidFill>
                <a:ea typeface="楷体_GB2312" pitchFamily="49" charset="-122"/>
              </a:rPr>
              <a:t>设备实现，因此，在访问中将涉及到中断、设备驱动程序以及物理设备的运行，所需耗费的时间远远高于访问可执行存储器的时间，一般相差</a:t>
            </a:r>
            <a:r>
              <a:rPr lang="en-US" altLang="zh-CN" sz="2400" b="1" dirty="0">
                <a:solidFill>
                  <a:srgbClr val="000099"/>
                </a:solidFill>
                <a:ea typeface="楷体_GB2312" pitchFamily="49" charset="-122"/>
              </a:rPr>
              <a:t>3</a:t>
            </a:r>
            <a:r>
              <a:rPr lang="zh-CN" altLang="en-US" sz="2400" b="1" dirty="0">
                <a:solidFill>
                  <a:srgbClr val="000099"/>
                </a:solidFill>
                <a:ea typeface="楷体_GB2312" pitchFamily="49" charset="-122"/>
              </a:rPr>
              <a:t>个数量级甚至更多。</a:t>
            </a:r>
            <a:endParaRPr lang="zh-CN" altLang="en-US" sz="2400" b="1" dirty="0">
              <a:solidFill>
                <a:srgbClr val="000099"/>
              </a:solidFill>
              <a:ea typeface="楷体_GB2312"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24579" name="矩形 2"/>
          <p:cNvSpPr/>
          <p:nvPr/>
        </p:nvSpPr>
        <p:spPr>
          <a:xfrm>
            <a:off x="971550" y="1341438"/>
            <a:ext cx="7561263" cy="2214562"/>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zh-CN" altLang="en-US" sz="2400" b="1" dirty="0">
                <a:solidFill>
                  <a:srgbClr val="000099"/>
                </a:solidFill>
                <a:latin typeface="黑体" panose="02010609060101010101" pitchFamily="49" charset="-122"/>
                <a:ea typeface="黑体" panose="02010609060101010101" pitchFamily="49" charset="-122"/>
              </a:rPr>
              <a:t>（二）主存储器与寄存器</a:t>
            </a:r>
            <a:br>
              <a:rPr lang="zh-CN" altLang="en-US"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latin typeface="黑体" panose="02010609060101010101" pitchFamily="49" charset="-122"/>
                <a:ea typeface="黑体" panose="02010609060101010101" pitchFamily="49" charset="-122"/>
              </a:rPr>
              <a:t>　　</a:t>
            </a:r>
            <a:r>
              <a:rPr lang="en-US" altLang="zh-CN" sz="2400" b="1" dirty="0">
                <a:solidFill>
                  <a:srgbClr val="000099"/>
                </a:solidFill>
                <a:latin typeface="黑体" panose="02010609060101010101" pitchFamily="49" charset="-122"/>
                <a:ea typeface="黑体" panose="02010609060101010101" pitchFamily="49" charset="-122"/>
              </a:rPr>
              <a:t>1. </a:t>
            </a:r>
            <a:r>
              <a:rPr lang="zh-CN" altLang="en-US" sz="2400" b="1" dirty="0">
                <a:solidFill>
                  <a:srgbClr val="000099"/>
                </a:solidFill>
                <a:latin typeface="黑体" panose="02010609060101010101" pitchFamily="49" charset="-122"/>
                <a:ea typeface="黑体" panose="02010609060101010101" pitchFamily="49" charset="-122"/>
              </a:rPr>
              <a:t>主存储器</a:t>
            </a:r>
            <a:br>
              <a:rPr lang="zh-CN" altLang="en-US"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ea typeface="楷体_GB2312" pitchFamily="49" charset="-122"/>
              </a:rPr>
              <a:t>　　主存储器简称内存或主存，是计算机系统中的主要部件，用于保存进程运行时的程序和数据，也称可执行存储器。 </a:t>
            </a:r>
            <a:endParaRPr lang="zh-CN" altLang="en-US" sz="2400" b="1" dirty="0">
              <a:solidFill>
                <a:srgbClr val="000099"/>
              </a:solidFill>
              <a:ea typeface="楷体_GB2312"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25603" name="矩形 2"/>
          <p:cNvSpPr/>
          <p:nvPr/>
        </p:nvSpPr>
        <p:spPr>
          <a:xfrm>
            <a:off x="900113" y="1628775"/>
            <a:ext cx="7416800" cy="17907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en-US" altLang="zh-CN" sz="2400" b="1" dirty="0">
                <a:solidFill>
                  <a:srgbClr val="000099"/>
                </a:solidFill>
                <a:latin typeface="黑体" panose="02010609060101010101" pitchFamily="49" charset="-122"/>
                <a:ea typeface="黑体" panose="02010609060101010101" pitchFamily="49" charset="-122"/>
              </a:rPr>
              <a:t>2. </a:t>
            </a:r>
            <a:r>
              <a:rPr lang="zh-CN" altLang="en-US" sz="2400" b="1" dirty="0">
                <a:solidFill>
                  <a:srgbClr val="000099"/>
                </a:solidFill>
                <a:latin typeface="黑体" panose="02010609060101010101" pitchFamily="49" charset="-122"/>
                <a:ea typeface="黑体" panose="02010609060101010101" pitchFamily="49" charset="-122"/>
              </a:rPr>
              <a:t>寄存器</a:t>
            </a:r>
            <a:br>
              <a:rPr lang="zh-CN" altLang="en-US"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latin typeface="黑体" panose="02010609060101010101" pitchFamily="49" charset="-122"/>
                <a:ea typeface="黑体" panose="02010609060101010101" pitchFamily="49" charset="-122"/>
              </a:rPr>
              <a:t>　　</a:t>
            </a:r>
            <a:r>
              <a:rPr lang="zh-CN" altLang="en-US" sz="2400" b="1" dirty="0">
                <a:solidFill>
                  <a:srgbClr val="000099"/>
                </a:solidFill>
                <a:ea typeface="楷体_GB2312" pitchFamily="49" charset="-122"/>
              </a:rPr>
              <a:t>寄存器具有与处理机相同的速度，故对寄存器的访问速度最快，完全能与</a:t>
            </a:r>
            <a:r>
              <a:rPr lang="en-US" altLang="zh-CN" sz="2400" b="1" dirty="0">
                <a:solidFill>
                  <a:srgbClr val="000099"/>
                </a:solidFill>
                <a:ea typeface="楷体_GB2312" pitchFamily="49" charset="-122"/>
              </a:rPr>
              <a:t>CPU</a:t>
            </a:r>
            <a:r>
              <a:rPr lang="zh-CN" altLang="en-US" sz="2400" b="1" dirty="0">
                <a:solidFill>
                  <a:srgbClr val="000099"/>
                </a:solidFill>
                <a:ea typeface="楷体_GB2312" pitchFamily="49" charset="-122"/>
              </a:rPr>
              <a:t>协调工作，但价格却十分昂贵，因此容量不可能做得很大。 </a:t>
            </a:r>
            <a:endParaRPr lang="zh-CN" altLang="en-US" sz="2400" b="1" dirty="0">
              <a:solidFill>
                <a:srgbClr val="000099"/>
              </a:solidFill>
              <a:ea typeface="楷体_GB2312"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26627" name="矩形 2"/>
          <p:cNvSpPr/>
          <p:nvPr/>
        </p:nvSpPr>
        <p:spPr>
          <a:xfrm>
            <a:off x="755650" y="835025"/>
            <a:ext cx="7848600" cy="34893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zh-CN" altLang="en-US" sz="2400" b="1" dirty="0">
                <a:solidFill>
                  <a:srgbClr val="000099"/>
                </a:solidFill>
                <a:latin typeface="黑体" panose="02010609060101010101" pitchFamily="49" charset="-122"/>
                <a:ea typeface="黑体" panose="02010609060101010101" pitchFamily="49" charset="-122"/>
              </a:rPr>
              <a:t>（三）高速缓存和磁盘缓存</a:t>
            </a:r>
            <a:br>
              <a:rPr lang="zh-CN" altLang="en-US"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latin typeface="黑体" panose="02010609060101010101" pitchFamily="49" charset="-122"/>
                <a:ea typeface="黑体" panose="02010609060101010101" pitchFamily="49" charset="-122"/>
              </a:rPr>
              <a:t>　　</a:t>
            </a:r>
            <a:r>
              <a:rPr lang="en-US" altLang="zh-CN" sz="2400" b="1" dirty="0">
                <a:solidFill>
                  <a:srgbClr val="000099"/>
                </a:solidFill>
                <a:latin typeface="黑体" panose="02010609060101010101" pitchFamily="49" charset="-122"/>
                <a:ea typeface="黑体" panose="02010609060101010101" pitchFamily="49" charset="-122"/>
              </a:rPr>
              <a:t>1. </a:t>
            </a:r>
            <a:r>
              <a:rPr lang="zh-CN" altLang="en-US" sz="2400" b="1" dirty="0">
                <a:solidFill>
                  <a:srgbClr val="000099"/>
                </a:solidFill>
                <a:latin typeface="黑体" panose="02010609060101010101" pitchFamily="49" charset="-122"/>
                <a:ea typeface="黑体" panose="02010609060101010101" pitchFamily="49" charset="-122"/>
              </a:rPr>
              <a:t>高速缓存</a:t>
            </a:r>
            <a:br>
              <a:rPr lang="zh-CN" altLang="en-US"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ea typeface="楷体_GB2312" pitchFamily="49" charset="-122"/>
              </a:rPr>
              <a:t>　　高速缓存是现代计算机结构中的一个重要部件，它是介于寄存器和存储器之间的存储器，主要用于备份主存中较常用的数据，以减少处理机对主存储器的访问次数，这样可大幅度地提高程序执行速度。高速缓存容量远大于寄存器，而比内存约小两到三个数量级左右，从几十</a:t>
            </a:r>
            <a:r>
              <a:rPr lang="en-US" altLang="zh-CN" sz="2400" b="1" dirty="0">
                <a:solidFill>
                  <a:srgbClr val="000099"/>
                </a:solidFill>
                <a:ea typeface="楷体_GB2312" pitchFamily="49" charset="-122"/>
              </a:rPr>
              <a:t>KB</a:t>
            </a:r>
            <a:r>
              <a:rPr lang="zh-CN" altLang="en-US" sz="2400" b="1" dirty="0">
                <a:solidFill>
                  <a:srgbClr val="000099"/>
                </a:solidFill>
                <a:ea typeface="楷体_GB2312" pitchFamily="49" charset="-122"/>
              </a:rPr>
              <a:t>到几</a:t>
            </a:r>
            <a:r>
              <a:rPr lang="en-US" altLang="zh-CN" sz="2400" b="1" dirty="0">
                <a:solidFill>
                  <a:srgbClr val="000099"/>
                </a:solidFill>
                <a:ea typeface="楷体_GB2312" pitchFamily="49" charset="-122"/>
              </a:rPr>
              <a:t>MB</a:t>
            </a:r>
            <a:r>
              <a:rPr lang="zh-CN" altLang="en-US" sz="2400" b="1" dirty="0">
                <a:solidFill>
                  <a:srgbClr val="000099"/>
                </a:solidFill>
                <a:ea typeface="楷体_GB2312" pitchFamily="49" charset="-122"/>
              </a:rPr>
              <a:t>，访问速度快于主存储器。 </a:t>
            </a:r>
            <a:endParaRPr lang="zh-CN" altLang="en-US" sz="2400" b="1" dirty="0">
              <a:solidFill>
                <a:srgbClr val="000099"/>
              </a:solidFill>
              <a:ea typeface="楷体_GB2312"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27651" name="矩形 2"/>
          <p:cNvSpPr/>
          <p:nvPr/>
        </p:nvSpPr>
        <p:spPr>
          <a:xfrm>
            <a:off x="827088" y="1052513"/>
            <a:ext cx="7705725" cy="434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000099"/>
                </a:solidFill>
                <a:latin typeface="黑体" panose="02010609060101010101" pitchFamily="49" charset="-122"/>
                <a:ea typeface="黑体" panose="02010609060101010101" pitchFamily="49" charset="-122"/>
              </a:rPr>
              <a:t>2. </a:t>
            </a:r>
            <a:r>
              <a:rPr lang="zh-CN" altLang="en-US" sz="2400" b="1" dirty="0">
                <a:solidFill>
                  <a:srgbClr val="000099"/>
                </a:solidFill>
                <a:latin typeface="黑体" panose="02010609060101010101" pitchFamily="49" charset="-122"/>
                <a:ea typeface="黑体" panose="02010609060101010101" pitchFamily="49" charset="-122"/>
              </a:rPr>
              <a:t>磁盘缓存</a:t>
            </a:r>
            <a:br>
              <a:rPr lang="zh-CN" altLang="en-US"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latin typeface="黑体" panose="02010609060101010101" pitchFamily="49" charset="-122"/>
                <a:ea typeface="黑体" panose="02010609060101010101" pitchFamily="49" charset="-122"/>
              </a:rPr>
              <a:t>　　</a:t>
            </a:r>
            <a:r>
              <a:rPr lang="zh-CN" altLang="en-US" sz="2400" b="1" dirty="0">
                <a:solidFill>
                  <a:srgbClr val="000099"/>
                </a:solidFill>
                <a:ea typeface="楷体_GB2312" pitchFamily="49" charset="-122"/>
              </a:rPr>
              <a:t>由于目前磁盘的</a:t>
            </a:r>
            <a:r>
              <a:rPr lang="en-US" altLang="zh-CN" sz="2400" b="1" dirty="0">
                <a:solidFill>
                  <a:srgbClr val="000099"/>
                </a:solidFill>
                <a:ea typeface="楷体_GB2312" pitchFamily="49" charset="-122"/>
              </a:rPr>
              <a:t>I/O</a:t>
            </a:r>
            <a:r>
              <a:rPr lang="zh-CN" altLang="en-US" sz="2400" b="1" dirty="0">
                <a:solidFill>
                  <a:srgbClr val="000099"/>
                </a:solidFill>
                <a:ea typeface="楷体_GB2312" pitchFamily="49" charset="-122"/>
              </a:rPr>
              <a:t>速度远低于对主存的访问速度，为了缓和两者之间在速度上的不匹配，而设置了磁盘缓存，主要用于暂时存放频繁使用的一部分磁盘数据和信息，以减少访问磁盘的次数。但磁盘缓存与高速缓存不同，它本身并不是一种实际存在的存储器，而是利用主存中的部分存储空间暂时存放从磁盘中读出</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或写入</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的信息。主存也可以看作是辅存的高速缓存，因为，辅存中的数据必须复制到主存方能使用，反之，数据也必须先存在主存中，才能输出到辅存。</a:t>
            </a:r>
            <a:endParaRPr lang="zh-CN" altLang="en-US" sz="2400" b="1" dirty="0">
              <a:solidFill>
                <a:srgbClr val="000099"/>
              </a:solidFill>
              <a:ea typeface="楷体_GB2312"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28675" name="矩形 2"/>
          <p:cNvSpPr/>
          <p:nvPr/>
        </p:nvSpPr>
        <p:spPr>
          <a:xfrm>
            <a:off x="827088" y="765175"/>
            <a:ext cx="7705725" cy="575119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en-US" altLang="zh-CN" b="1" dirty="0">
                <a:solidFill>
                  <a:srgbClr val="000099"/>
                </a:solidFill>
                <a:latin typeface="黑体" panose="02010609060101010101" pitchFamily="49" charset="-122"/>
                <a:ea typeface="黑体" panose="02010609060101010101" pitchFamily="49" charset="-122"/>
              </a:rPr>
              <a:t>      </a:t>
            </a:r>
            <a:r>
              <a:rPr lang="en-US" altLang="zh-CN" dirty="0">
                <a:solidFill>
                  <a:srgbClr val="9900CC"/>
                </a:solidFill>
                <a:latin typeface="隶书" panose="02010509060101010101" pitchFamily="49" charset="-122"/>
                <a:ea typeface="隶书" panose="02010509060101010101" pitchFamily="49" charset="-122"/>
              </a:rPr>
              <a:t>5</a:t>
            </a:r>
            <a:r>
              <a:rPr lang="en-US" altLang="zh-CN" dirty="0">
                <a:solidFill>
                  <a:srgbClr val="9900CC"/>
                </a:solidFill>
                <a:latin typeface="隶书" panose="02010509060101010101" pitchFamily="49" charset="-122"/>
                <a:ea typeface="隶书" panose="02010509060101010101" pitchFamily="49" charset="-122"/>
              </a:rPr>
              <a:t>.3  </a:t>
            </a:r>
            <a:r>
              <a:rPr lang="zh-CN" altLang="en-US" dirty="0">
                <a:solidFill>
                  <a:srgbClr val="9900CC"/>
                </a:solidFill>
                <a:latin typeface="隶书" panose="02010509060101010101" pitchFamily="49" charset="-122"/>
                <a:ea typeface="隶书" panose="02010509060101010101" pitchFamily="49" charset="-122"/>
              </a:rPr>
              <a:t>程序的装入和链接</a:t>
            </a:r>
            <a:br>
              <a:rPr lang="zh-CN" altLang="en-US" dirty="0">
                <a:solidFill>
                  <a:srgbClr val="9900CC"/>
                </a:solidFill>
                <a:latin typeface="隶书" panose="02010509060101010101" pitchFamily="49" charset="-122"/>
                <a:ea typeface="隶书" panose="02010509060101010101" pitchFamily="49" charset="-122"/>
              </a:rPr>
            </a:br>
            <a:br>
              <a:rPr lang="zh-CN" altLang="en-US" sz="2400" b="1" dirty="0">
                <a:solidFill>
                  <a:srgbClr val="000099"/>
                </a:solidFill>
                <a:ea typeface="楷体_GB2312" pitchFamily="49" charset="-122"/>
              </a:rPr>
            </a:br>
            <a:r>
              <a:rPr lang="zh-CN" altLang="en-US" sz="2400" b="1" dirty="0">
                <a:solidFill>
                  <a:srgbClr val="000099"/>
                </a:solidFill>
                <a:ea typeface="楷体_GB2312" pitchFamily="49" charset="-122"/>
              </a:rPr>
              <a:t>　　用户程序要在系统中运行，必须先将它装入内存，然后再将其转变为一个可以执行的程序，通常都要经过以下几个步骤：</a:t>
            </a:r>
            <a:br>
              <a:rPr lang="zh-CN" altLang="en-US" sz="2400" b="1" dirty="0">
                <a:solidFill>
                  <a:srgbClr val="000099"/>
                </a:solidFill>
                <a:ea typeface="楷体_GB2312" pitchFamily="49" charset="-122"/>
              </a:rPr>
            </a:b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(1) </a:t>
            </a:r>
            <a:r>
              <a:rPr lang="zh-CN" altLang="en-US" sz="2400" b="1" dirty="0">
                <a:solidFill>
                  <a:srgbClr val="000099"/>
                </a:solidFill>
                <a:ea typeface="楷体_GB2312" pitchFamily="49" charset="-122"/>
              </a:rPr>
              <a:t>编译，由编译程序</a:t>
            </a:r>
            <a:r>
              <a:rPr lang="en-US" altLang="zh-CN" sz="2400" b="1" dirty="0">
                <a:solidFill>
                  <a:srgbClr val="000099"/>
                </a:solidFill>
                <a:ea typeface="楷体_GB2312" pitchFamily="49" charset="-122"/>
              </a:rPr>
              <a:t>(Compiler)</a:t>
            </a:r>
            <a:r>
              <a:rPr lang="zh-CN" altLang="en-US" sz="2400" b="1" dirty="0">
                <a:solidFill>
                  <a:srgbClr val="000099"/>
                </a:solidFill>
                <a:ea typeface="楷体_GB2312" pitchFamily="49" charset="-122"/>
              </a:rPr>
              <a:t>对用户源程序进行编译，形成若干个目标模块</a:t>
            </a:r>
            <a:r>
              <a:rPr lang="en-US" altLang="zh-CN" sz="2400" b="1" dirty="0">
                <a:solidFill>
                  <a:srgbClr val="000099"/>
                </a:solidFill>
                <a:ea typeface="楷体_GB2312" pitchFamily="49" charset="-122"/>
              </a:rPr>
              <a:t>(Object Module)</a:t>
            </a:r>
            <a:r>
              <a:rPr lang="zh-CN" altLang="en-US" sz="2400" b="1" dirty="0">
                <a:solidFill>
                  <a:srgbClr val="000099"/>
                </a:solidFill>
                <a:ea typeface="楷体_GB2312" pitchFamily="49" charset="-122"/>
              </a:rPr>
              <a:t>；</a:t>
            </a:r>
            <a:br>
              <a:rPr lang="zh-CN" altLang="en-US" sz="2400" b="1" dirty="0">
                <a:solidFill>
                  <a:srgbClr val="000099"/>
                </a:solidFill>
                <a:ea typeface="楷体_GB2312" pitchFamily="49" charset="-122"/>
              </a:rPr>
            </a:b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(2) </a:t>
            </a:r>
            <a:r>
              <a:rPr lang="zh-CN" altLang="en-US" sz="2400" b="1" dirty="0">
                <a:solidFill>
                  <a:srgbClr val="000099"/>
                </a:solidFill>
                <a:ea typeface="楷体_GB2312" pitchFamily="49" charset="-122"/>
              </a:rPr>
              <a:t>链接，由链接程序</a:t>
            </a:r>
            <a:r>
              <a:rPr lang="en-US" altLang="zh-CN" sz="2400" b="1" dirty="0">
                <a:solidFill>
                  <a:srgbClr val="000099"/>
                </a:solidFill>
                <a:ea typeface="楷体_GB2312" pitchFamily="49" charset="-122"/>
              </a:rPr>
              <a:t>(Linker)</a:t>
            </a:r>
            <a:r>
              <a:rPr lang="zh-CN" altLang="en-US" sz="2400" b="1" dirty="0">
                <a:solidFill>
                  <a:srgbClr val="000099"/>
                </a:solidFill>
                <a:ea typeface="楷体_GB2312" pitchFamily="49" charset="-122"/>
              </a:rPr>
              <a:t>将编译后形成的一组目标模块以及它们所需要的库函数链接在一起，形成一个完整的装入模块</a:t>
            </a:r>
            <a:r>
              <a:rPr lang="en-US" altLang="zh-CN" sz="2400" b="1" dirty="0">
                <a:solidFill>
                  <a:srgbClr val="000099"/>
                </a:solidFill>
                <a:ea typeface="楷体_GB2312" pitchFamily="49" charset="-122"/>
              </a:rPr>
              <a:t>(Load Module)</a:t>
            </a:r>
            <a:r>
              <a:rPr lang="zh-CN" altLang="en-US" sz="2400" b="1" dirty="0">
                <a:solidFill>
                  <a:srgbClr val="000099"/>
                </a:solidFill>
                <a:ea typeface="楷体_GB2312" pitchFamily="49" charset="-122"/>
              </a:rPr>
              <a:t>；</a:t>
            </a:r>
            <a:br>
              <a:rPr lang="zh-CN" altLang="en-US" sz="2400" b="1" dirty="0">
                <a:solidFill>
                  <a:srgbClr val="000099"/>
                </a:solidFill>
                <a:ea typeface="楷体_GB2312" pitchFamily="49" charset="-122"/>
              </a:rPr>
            </a:b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(3) </a:t>
            </a:r>
            <a:r>
              <a:rPr lang="zh-CN" altLang="en-US" sz="2400" b="1" dirty="0">
                <a:solidFill>
                  <a:srgbClr val="000099"/>
                </a:solidFill>
                <a:ea typeface="楷体_GB2312" pitchFamily="49" charset="-122"/>
              </a:rPr>
              <a:t>装入，由装入程序</a:t>
            </a:r>
            <a:r>
              <a:rPr lang="en-US" altLang="zh-CN" sz="2400" b="1" dirty="0">
                <a:solidFill>
                  <a:srgbClr val="000099"/>
                </a:solidFill>
                <a:ea typeface="楷体_GB2312" pitchFamily="49" charset="-122"/>
              </a:rPr>
              <a:t>(Loader)</a:t>
            </a:r>
            <a:r>
              <a:rPr lang="zh-CN" altLang="en-US" sz="2400" b="1" dirty="0">
                <a:solidFill>
                  <a:srgbClr val="000099"/>
                </a:solidFill>
                <a:ea typeface="楷体_GB2312" pitchFamily="49" charset="-122"/>
              </a:rPr>
              <a:t>将装入模块装入内存。</a:t>
            </a:r>
            <a:br>
              <a:rPr lang="zh-CN" altLang="en-US" sz="2400" b="1" dirty="0">
                <a:solidFill>
                  <a:srgbClr val="000099"/>
                </a:solidFill>
                <a:ea typeface="楷体_GB2312" pitchFamily="49" charset="-122"/>
              </a:rPr>
            </a:br>
            <a:r>
              <a:rPr lang="zh-CN" altLang="en-US" sz="2400" b="1" dirty="0">
                <a:solidFill>
                  <a:srgbClr val="000099"/>
                </a:solidFill>
                <a:ea typeface="楷体_GB2312" pitchFamily="49" charset="-122"/>
              </a:rPr>
              <a:t>　　图</a:t>
            </a:r>
            <a:r>
              <a:rPr lang="en-US" altLang="zh-CN" sz="2400" b="1" dirty="0">
                <a:solidFill>
                  <a:srgbClr val="000099"/>
                </a:solidFill>
                <a:ea typeface="楷体_GB2312" pitchFamily="49" charset="-122"/>
              </a:rPr>
              <a:t>4-2</a:t>
            </a:r>
            <a:r>
              <a:rPr lang="zh-CN" altLang="en-US" sz="2400" b="1" dirty="0">
                <a:solidFill>
                  <a:srgbClr val="000099"/>
                </a:solidFill>
                <a:ea typeface="楷体_GB2312" pitchFamily="49" charset="-122"/>
              </a:rPr>
              <a:t>示出了这样的三步过程。本节将扼要阐述程序</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含数据</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的链接和装入过程。</a:t>
            </a:r>
            <a:endParaRPr lang="zh-CN" altLang="en-US" sz="2400" b="1" dirty="0">
              <a:solidFill>
                <a:srgbClr val="000099"/>
              </a:solidFill>
              <a:ea typeface="楷体_GB2312"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pic>
        <p:nvPicPr>
          <p:cNvPr id="29699" name="Picture 4" descr="4-2"/>
          <p:cNvPicPr>
            <a:picLocks noChangeAspect="1"/>
          </p:cNvPicPr>
          <p:nvPr/>
        </p:nvPicPr>
        <p:blipFill>
          <a:blip r:embed="rId1"/>
          <a:stretch>
            <a:fillRect/>
          </a:stretch>
        </p:blipFill>
        <p:spPr>
          <a:xfrm>
            <a:off x="900113" y="1484313"/>
            <a:ext cx="7129462" cy="327977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30723" name="矩形 2"/>
          <p:cNvSpPr/>
          <p:nvPr/>
        </p:nvSpPr>
        <p:spPr>
          <a:xfrm>
            <a:off x="982663" y="1125538"/>
            <a:ext cx="7704137" cy="4338637"/>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zh-CN" altLang="en-US" sz="2400" b="1" dirty="0">
                <a:solidFill>
                  <a:srgbClr val="000099"/>
                </a:solidFill>
                <a:latin typeface="黑体" panose="02010609060101010101" pitchFamily="49" charset="-122"/>
                <a:ea typeface="黑体" panose="02010609060101010101" pitchFamily="49" charset="-122"/>
              </a:rPr>
              <a:t>（一）程序的装入</a:t>
            </a:r>
            <a:br>
              <a:rPr lang="zh-CN" altLang="en-US"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ea typeface="楷体_GB2312" pitchFamily="49" charset="-122"/>
              </a:rPr>
              <a:t>　　为了阐述上的方便，我们先介绍一个无需进行链接的单个目标模块的装入过程。该目标模块也就是装入模块。在将一个装入模块装入内存时，可以有如下三种装入方式：</a:t>
            </a:r>
            <a:br>
              <a:rPr lang="zh-CN" altLang="en-US" sz="2400" b="1" dirty="0">
                <a:solidFill>
                  <a:srgbClr val="000099"/>
                </a:solidFill>
                <a:ea typeface="楷体_GB2312" pitchFamily="49" charset="-122"/>
              </a:rPr>
            </a:br>
            <a:r>
              <a:rPr lang="zh-CN" altLang="en-US" sz="2400" b="1" dirty="0">
                <a:solidFill>
                  <a:srgbClr val="000099"/>
                </a:solidFill>
                <a:ea typeface="楷体_GB2312" pitchFamily="49" charset="-122"/>
              </a:rPr>
              <a:t>　　</a:t>
            </a:r>
            <a:r>
              <a:rPr lang="en-US" altLang="zh-CN" sz="2400" b="1" dirty="0">
                <a:solidFill>
                  <a:srgbClr val="000099"/>
                </a:solidFill>
                <a:latin typeface="黑体" panose="02010609060101010101" pitchFamily="49" charset="-122"/>
                <a:ea typeface="黑体" panose="02010609060101010101" pitchFamily="49" charset="-122"/>
              </a:rPr>
              <a:t>1. </a:t>
            </a:r>
            <a:r>
              <a:rPr lang="zh-CN" altLang="en-US" sz="2400" b="1" dirty="0">
                <a:solidFill>
                  <a:srgbClr val="000099"/>
                </a:solidFill>
                <a:latin typeface="黑体" panose="02010609060101010101" pitchFamily="49" charset="-122"/>
                <a:ea typeface="黑体" panose="02010609060101010101" pitchFamily="49" charset="-122"/>
              </a:rPr>
              <a:t>绝对装入方式</a:t>
            </a:r>
            <a:r>
              <a:rPr lang="en-US" altLang="zh-CN" sz="2400" b="1" dirty="0">
                <a:solidFill>
                  <a:srgbClr val="000099"/>
                </a:solidFill>
                <a:latin typeface="黑体" panose="02010609060101010101" pitchFamily="49" charset="-122"/>
                <a:ea typeface="黑体" panose="02010609060101010101" pitchFamily="49" charset="-122"/>
              </a:rPr>
              <a:t>(Absolute Loading Mode)</a:t>
            </a:r>
            <a:br>
              <a:rPr lang="en-US" altLang="zh-CN" sz="2400" b="1" dirty="0">
                <a:solidFill>
                  <a:srgbClr val="000099"/>
                </a:solidFill>
                <a:ea typeface="楷体_GB2312" pitchFamily="49" charset="-122"/>
              </a:rPr>
            </a:br>
            <a:r>
              <a:rPr lang="zh-CN" altLang="en-US" sz="2400" b="1" dirty="0">
                <a:solidFill>
                  <a:srgbClr val="000099"/>
                </a:solidFill>
                <a:ea typeface="楷体_GB2312" pitchFamily="49" charset="-122"/>
              </a:rPr>
              <a:t>　　当计算机系统很小，且仅能运行单道程序时，完全有可能知道程序将驻留在内存的什么位置。此时可以采用绝对装入方式。用户程序经编译后，将产生绝对地址</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即物理地址</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的目标代码。 </a:t>
            </a:r>
            <a:endParaRPr lang="zh-CN" altLang="en-US" sz="2400" b="1" dirty="0">
              <a:solidFill>
                <a:srgbClr val="000099"/>
              </a:solidFill>
              <a:ea typeface="楷体_GB2312"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31747" name="矩形 2"/>
          <p:cNvSpPr/>
          <p:nvPr/>
        </p:nvSpPr>
        <p:spPr>
          <a:xfrm>
            <a:off x="827088" y="1412875"/>
            <a:ext cx="7632700" cy="306546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en-US" altLang="zh-CN" sz="2400" b="1" dirty="0">
                <a:solidFill>
                  <a:srgbClr val="000099"/>
                </a:solidFill>
                <a:latin typeface="黑体" panose="02010609060101010101" pitchFamily="49" charset="-122"/>
                <a:ea typeface="黑体" panose="02010609060101010101" pitchFamily="49" charset="-122"/>
              </a:rPr>
              <a:t>2. </a:t>
            </a:r>
            <a:r>
              <a:rPr lang="zh-CN" altLang="en-US" sz="2400" b="1" dirty="0">
                <a:solidFill>
                  <a:srgbClr val="000099"/>
                </a:solidFill>
                <a:latin typeface="黑体" panose="02010609060101010101" pitchFamily="49" charset="-122"/>
                <a:ea typeface="黑体" panose="02010609060101010101" pitchFamily="49" charset="-122"/>
              </a:rPr>
              <a:t>可重定位装入方式</a:t>
            </a:r>
            <a:r>
              <a:rPr lang="en-US" altLang="zh-CN" sz="2400" b="1" dirty="0">
                <a:solidFill>
                  <a:srgbClr val="000099"/>
                </a:solidFill>
                <a:latin typeface="黑体" panose="02010609060101010101" pitchFamily="49" charset="-122"/>
                <a:ea typeface="黑体" panose="02010609060101010101" pitchFamily="49" charset="-122"/>
              </a:rPr>
              <a:t>(Relocation Loading Mode)</a:t>
            </a:r>
            <a:br>
              <a:rPr lang="en-US" altLang="zh-CN"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latin typeface="黑体" panose="02010609060101010101" pitchFamily="49" charset="-122"/>
                <a:ea typeface="黑体" panose="02010609060101010101" pitchFamily="49" charset="-122"/>
              </a:rPr>
              <a:t>　　</a:t>
            </a:r>
            <a:r>
              <a:rPr lang="zh-CN" altLang="en-US" sz="2400" b="1" dirty="0">
                <a:solidFill>
                  <a:srgbClr val="000099"/>
                </a:solidFill>
                <a:ea typeface="楷体_GB2312" pitchFamily="49" charset="-122"/>
              </a:rPr>
              <a:t>绝对装入方式只能将目标模块装入到内存中事先指定的位置，这只适用于单道程序环境。而在多道程序环境下，编译程序不可能预知经编译后所得到的目标模块应放在内存的何处。因此，对于用户程序编译所形成的若干个目标模块，它们的起始地址通常都是从</a:t>
            </a:r>
            <a:r>
              <a:rPr lang="en-US" altLang="zh-CN" sz="2400" b="1" dirty="0">
                <a:solidFill>
                  <a:srgbClr val="000099"/>
                </a:solidFill>
                <a:ea typeface="楷体_GB2312" pitchFamily="49" charset="-122"/>
              </a:rPr>
              <a:t>0</a:t>
            </a:r>
            <a:r>
              <a:rPr lang="zh-CN" altLang="en-US" sz="2400" b="1" dirty="0">
                <a:solidFill>
                  <a:srgbClr val="000099"/>
                </a:solidFill>
                <a:ea typeface="楷体_GB2312" pitchFamily="49" charset="-122"/>
              </a:rPr>
              <a:t>开始的，程序中的其它地址也都是相对于起始地址计算的。 </a:t>
            </a:r>
            <a:endParaRPr lang="zh-CN" altLang="en-US" sz="2400" b="1" dirty="0">
              <a:solidFill>
                <a:srgbClr val="000099"/>
              </a:solidFill>
              <a:ea typeface="楷体_GB2312"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pic>
        <p:nvPicPr>
          <p:cNvPr id="32771" name="Picture 4" descr="4-3"/>
          <p:cNvPicPr>
            <a:picLocks noChangeAspect="1"/>
          </p:cNvPicPr>
          <p:nvPr/>
        </p:nvPicPr>
        <p:blipFill>
          <a:blip r:embed="rId1"/>
          <a:stretch>
            <a:fillRect/>
          </a:stretch>
        </p:blipFill>
        <p:spPr>
          <a:xfrm>
            <a:off x="1547813" y="1628775"/>
            <a:ext cx="5881687" cy="3559175"/>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33795" name="矩形 2"/>
          <p:cNvSpPr/>
          <p:nvPr/>
        </p:nvSpPr>
        <p:spPr>
          <a:xfrm>
            <a:off x="1116013" y="1684338"/>
            <a:ext cx="7113587" cy="2640012"/>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en-US" altLang="zh-CN" sz="2400" b="1" dirty="0">
                <a:solidFill>
                  <a:srgbClr val="000099"/>
                </a:solidFill>
                <a:latin typeface="黑体" panose="02010609060101010101" pitchFamily="49" charset="-122"/>
                <a:ea typeface="黑体" panose="02010609060101010101" pitchFamily="49" charset="-122"/>
              </a:rPr>
              <a:t>3. </a:t>
            </a:r>
            <a:r>
              <a:rPr lang="zh-CN" altLang="en-US" sz="2400" b="1" dirty="0">
                <a:solidFill>
                  <a:srgbClr val="000099"/>
                </a:solidFill>
                <a:latin typeface="黑体" panose="02010609060101010101" pitchFamily="49" charset="-122"/>
                <a:ea typeface="黑体" panose="02010609060101010101" pitchFamily="49" charset="-122"/>
              </a:rPr>
              <a:t>动态运行时的装入方式</a:t>
            </a:r>
            <a:r>
              <a:rPr lang="en-US" altLang="zh-CN" sz="2400" b="1" dirty="0">
                <a:solidFill>
                  <a:srgbClr val="000099"/>
                </a:solidFill>
                <a:latin typeface="黑体" panose="02010609060101010101" pitchFamily="49" charset="-122"/>
                <a:ea typeface="黑体" panose="02010609060101010101" pitchFamily="49" charset="-122"/>
              </a:rPr>
              <a:t>(Dynamic Run-time Loading)</a:t>
            </a:r>
            <a:br>
              <a:rPr lang="en-US" altLang="zh-CN"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latin typeface="黑体" panose="02010609060101010101" pitchFamily="49" charset="-122"/>
                <a:ea typeface="黑体" panose="02010609060101010101" pitchFamily="49" charset="-122"/>
              </a:rPr>
              <a:t>　　</a:t>
            </a:r>
            <a:r>
              <a:rPr lang="zh-CN" altLang="en-US" sz="2400" b="1" dirty="0">
                <a:solidFill>
                  <a:srgbClr val="000099"/>
                </a:solidFill>
                <a:ea typeface="楷体_GB2312" pitchFamily="49" charset="-122"/>
              </a:rPr>
              <a:t>可重定位装入方式可将装入模块装入到内存中任何允许的位置，故可用于多道程序环境。但该方式并不允许程序运行时在内存中移动位置。 </a:t>
            </a:r>
            <a:br>
              <a:rPr lang="en-US" altLang="zh-CN" sz="2400" b="1" dirty="0">
                <a:solidFill>
                  <a:srgbClr val="000099"/>
                </a:solidFill>
                <a:ea typeface="楷体_GB2312" pitchFamily="49" charset="-122"/>
              </a:rPr>
            </a:br>
            <a:r>
              <a:rPr lang="en-US" altLang="zh-CN" sz="2400" b="1" dirty="0">
                <a:solidFill>
                  <a:srgbClr val="000099"/>
                </a:solidFill>
                <a:ea typeface="楷体_GB2312" pitchFamily="49" charset="-122"/>
              </a:rPr>
              <a:t>       </a:t>
            </a:r>
            <a:r>
              <a:rPr lang="zh-CN" altLang="en-US" sz="2400" b="1" dirty="0">
                <a:solidFill>
                  <a:srgbClr val="FF0000"/>
                </a:solidFill>
                <a:ea typeface="楷体_GB2312" pitchFamily="49" charset="-122"/>
              </a:rPr>
              <a:t>重定位寄存器</a:t>
            </a:r>
            <a:endParaRPr lang="zh-CN" altLang="en-US" sz="2400" b="1" dirty="0">
              <a:solidFill>
                <a:srgbClr val="000099"/>
              </a:solidFill>
              <a:ea typeface="楷体_GB2312"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1"/>
          <p:cNvSpPr txBox="1">
            <a:spLocks noGrp="1"/>
          </p:cNvSpPr>
          <p:nvPr>
            <p:ph type="sldNum" sz="quarter" idx="12"/>
          </p:nvPr>
        </p:nvSpPr>
        <p:spPr>
          <a:ln/>
        </p:spPr>
        <p:txBody>
          <a:bodyPr anchor="b" anchorCtr="0"/>
          <a:lstStyle>
            <a:lvl1pPr marL="0" lvl="0"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000099"/>
                </a:solidFill>
                <a:latin typeface="Times New Roman" panose="02020603050405020304" pitchFamily="18" charset="0"/>
                <a:ea typeface="楷体_GB2312" pitchFamily="49" charset="-122"/>
                <a:cs typeface="+mn-cs"/>
              </a:defRPr>
            </a:lvl5pPr>
          </a:lstStyle>
          <a:p>
            <a:pPr lvl="0" algn="r" eaLnBrk="1" hangingPunct="1"/>
            <a:fld id="{9A0DB2DC-4C9A-4742-B13C-FB6460FD3503}" type="slidenum">
              <a:rPr lang="en-US" altLang="zh-CN" b="0" dirty="0">
                <a:solidFill>
                  <a:schemeClr val="tx2"/>
                </a:solidFill>
                <a:ea typeface="宋体" panose="02010600030101010101" pitchFamily="2" charset="-122"/>
              </a:rPr>
            </a:fld>
            <a:endParaRPr lang="en-US" altLang="zh-CN" sz="1400" b="0" dirty="0">
              <a:solidFill>
                <a:schemeClr val="tx2"/>
              </a:solidFill>
              <a:ea typeface="宋体" panose="02010600030101010101" pitchFamily="2" charset="-122"/>
            </a:endParaRPr>
          </a:p>
        </p:txBody>
      </p:sp>
      <p:graphicFrame>
        <p:nvGraphicFramePr>
          <p:cNvPr id="34819" name="Object 4"/>
          <p:cNvGraphicFramePr>
            <a:graphicFrameLocks noChangeAspect="1"/>
          </p:cNvGraphicFramePr>
          <p:nvPr/>
        </p:nvGraphicFramePr>
        <p:xfrm>
          <a:off x="395288" y="1271588"/>
          <a:ext cx="8820150" cy="4846637"/>
        </p:xfrm>
        <a:graphic>
          <a:graphicData uri="http://schemas.openxmlformats.org/presentationml/2006/ole">
            <mc:AlternateContent xmlns:mc="http://schemas.openxmlformats.org/markup-compatibility/2006">
              <mc:Choice xmlns:v="urn:schemas-microsoft-com:vml" Requires="v">
                <p:oleObj spid="_x0000_s3077" name="" r:id="rId1" imgW="3825240" imgH="1920240" progId="Visio.Drawing.4">
                  <p:embed/>
                </p:oleObj>
              </mc:Choice>
              <mc:Fallback>
                <p:oleObj name="" r:id="rId1" imgW="3825240" imgH="1920240" progId="Visio.Drawing.4">
                  <p:embed/>
                  <p:pic>
                    <p:nvPicPr>
                      <p:cNvPr id="0" name="图片 3076"/>
                      <p:cNvPicPr/>
                      <p:nvPr/>
                    </p:nvPicPr>
                    <p:blipFill>
                      <a:blip r:embed="rId2"/>
                      <a:stretch>
                        <a:fillRect/>
                      </a:stretch>
                    </p:blipFill>
                    <p:spPr>
                      <a:xfrm>
                        <a:off x="395288" y="1271588"/>
                        <a:ext cx="8820150" cy="4846637"/>
                      </a:xfrm>
                      <a:prstGeom prst="rect">
                        <a:avLst/>
                      </a:prstGeom>
                      <a:noFill/>
                      <a:ln w="38100">
                        <a:noFill/>
                        <a:miter/>
                      </a:ln>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35843" name="矩形 2"/>
          <p:cNvSpPr/>
          <p:nvPr/>
        </p:nvSpPr>
        <p:spPr>
          <a:xfrm>
            <a:off x="1042988" y="908050"/>
            <a:ext cx="7416800" cy="518953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zh-CN" altLang="en-US" sz="2400" b="1" dirty="0">
                <a:solidFill>
                  <a:srgbClr val="000099"/>
                </a:solidFill>
                <a:latin typeface="黑体" panose="02010609060101010101" pitchFamily="49" charset="-122"/>
                <a:ea typeface="黑体" panose="02010609060101010101" pitchFamily="49" charset="-122"/>
              </a:rPr>
              <a:t>（二）程序的链接</a:t>
            </a:r>
            <a:br>
              <a:rPr lang="zh-CN" altLang="en-US"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latin typeface="黑体" panose="02010609060101010101" pitchFamily="49" charset="-122"/>
                <a:ea typeface="黑体" panose="02010609060101010101" pitchFamily="49" charset="-122"/>
              </a:rPr>
              <a:t>　　</a:t>
            </a:r>
            <a:r>
              <a:rPr lang="en-US" altLang="zh-CN" sz="2400" b="1" dirty="0">
                <a:solidFill>
                  <a:srgbClr val="000099"/>
                </a:solidFill>
                <a:latin typeface="黑体" panose="02010609060101010101" pitchFamily="49" charset="-122"/>
                <a:ea typeface="黑体" panose="02010609060101010101" pitchFamily="49" charset="-122"/>
              </a:rPr>
              <a:t>1. </a:t>
            </a:r>
            <a:r>
              <a:rPr lang="zh-CN" altLang="en-US" sz="2400" b="1" dirty="0">
                <a:solidFill>
                  <a:srgbClr val="000099"/>
                </a:solidFill>
                <a:latin typeface="黑体" panose="02010609060101010101" pitchFamily="49" charset="-122"/>
                <a:ea typeface="黑体" panose="02010609060101010101" pitchFamily="49" charset="-122"/>
              </a:rPr>
              <a:t>静态链接</a:t>
            </a:r>
            <a:r>
              <a:rPr lang="en-US" altLang="zh-CN" sz="2400" b="1" dirty="0">
                <a:solidFill>
                  <a:srgbClr val="000099"/>
                </a:solidFill>
                <a:latin typeface="黑体" panose="02010609060101010101" pitchFamily="49" charset="-122"/>
                <a:ea typeface="黑体" panose="02010609060101010101" pitchFamily="49" charset="-122"/>
              </a:rPr>
              <a:t>(Static Linking)</a:t>
            </a:r>
            <a:r>
              <a:rPr lang="zh-CN" altLang="en-US" sz="2400" b="1" dirty="0">
                <a:solidFill>
                  <a:srgbClr val="000099"/>
                </a:solidFill>
                <a:latin typeface="黑体" panose="02010609060101010101" pitchFamily="49" charset="-122"/>
                <a:ea typeface="黑体" panose="02010609060101010101" pitchFamily="49" charset="-122"/>
              </a:rPr>
              <a:t>方式</a:t>
            </a:r>
            <a:br>
              <a:rPr lang="zh-CN" altLang="en-US"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ea typeface="楷体_GB2312" pitchFamily="49" charset="-122"/>
              </a:rPr>
              <a:t>　　在程序运行之前，先将各目标模块及它们所需的库函数链接成一个完整的装配模块，以后不再拆开。在图</a:t>
            </a:r>
            <a:r>
              <a:rPr lang="en-US" altLang="zh-CN" sz="2400" b="1" dirty="0">
                <a:solidFill>
                  <a:srgbClr val="000099"/>
                </a:solidFill>
                <a:ea typeface="楷体_GB2312" pitchFamily="49" charset="-122"/>
              </a:rPr>
              <a:t>4-4(a)</a:t>
            </a:r>
            <a:r>
              <a:rPr lang="zh-CN" altLang="en-US" sz="2400" b="1" dirty="0">
                <a:solidFill>
                  <a:srgbClr val="000099"/>
                </a:solidFill>
                <a:ea typeface="楷体_GB2312" pitchFamily="49" charset="-122"/>
              </a:rPr>
              <a:t>中示出了经过编译后所得到的三个目标模块</a:t>
            </a:r>
            <a:r>
              <a:rPr lang="en-US" altLang="zh-CN" sz="2400" b="1" dirty="0">
                <a:solidFill>
                  <a:srgbClr val="000099"/>
                </a:solidFill>
                <a:ea typeface="楷体_GB2312" pitchFamily="49" charset="-122"/>
              </a:rPr>
              <a:t>A</a:t>
            </a:r>
            <a:r>
              <a:rPr lang="zh-CN" altLang="en-US" sz="2400" b="1" dirty="0">
                <a:solidFill>
                  <a:srgbClr val="000099"/>
                </a:solidFill>
                <a:ea typeface="楷体_GB2312" pitchFamily="49" charset="-122"/>
              </a:rPr>
              <a:t>、</a:t>
            </a:r>
            <a:r>
              <a:rPr lang="en-US" altLang="zh-CN" sz="2400" b="1" dirty="0">
                <a:solidFill>
                  <a:srgbClr val="000099"/>
                </a:solidFill>
                <a:ea typeface="楷体_GB2312" pitchFamily="49" charset="-122"/>
              </a:rPr>
              <a:t>B</a:t>
            </a:r>
            <a:r>
              <a:rPr lang="zh-CN" altLang="en-US" sz="2400" b="1" dirty="0">
                <a:solidFill>
                  <a:srgbClr val="000099"/>
                </a:solidFill>
                <a:ea typeface="楷体_GB2312" pitchFamily="49" charset="-122"/>
              </a:rPr>
              <a:t>、</a:t>
            </a:r>
            <a:r>
              <a:rPr lang="en-US" altLang="zh-CN" sz="2400" b="1" dirty="0">
                <a:solidFill>
                  <a:srgbClr val="000099"/>
                </a:solidFill>
                <a:ea typeface="楷体_GB2312" pitchFamily="49" charset="-122"/>
              </a:rPr>
              <a:t>C</a:t>
            </a:r>
            <a:r>
              <a:rPr lang="zh-CN" altLang="en-US" sz="2400" b="1" dirty="0">
                <a:solidFill>
                  <a:srgbClr val="000099"/>
                </a:solidFill>
                <a:ea typeface="楷体_GB2312" pitchFamily="49" charset="-122"/>
              </a:rPr>
              <a:t>，它们的长度分别为</a:t>
            </a:r>
            <a:r>
              <a:rPr lang="en-US" altLang="zh-CN" sz="2400" b="1" dirty="0">
                <a:solidFill>
                  <a:srgbClr val="000099"/>
                </a:solidFill>
                <a:ea typeface="楷体_GB2312" pitchFamily="49" charset="-122"/>
              </a:rPr>
              <a:t>L</a:t>
            </a:r>
            <a:r>
              <a:rPr lang="zh-CN" altLang="en-US" sz="2400" b="1" dirty="0">
                <a:solidFill>
                  <a:srgbClr val="000099"/>
                </a:solidFill>
                <a:ea typeface="楷体_GB2312" pitchFamily="49" charset="-122"/>
              </a:rPr>
              <a:t>、</a:t>
            </a:r>
            <a:r>
              <a:rPr lang="en-US" altLang="zh-CN" sz="2400" b="1" dirty="0">
                <a:solidFill>
                  <a:srgbClr val="000099"/>
                </a:solidFill>
                <a:ea typeface="楷体_GB2312" pitchFamily="49" charset="-122"/>
              </a:rPr>
              <a:t>M</a:t>
            </a:r>
            <a:r>
              <a:rPr lang="zh-CN" altLang="en-US" sz="2400" b="1" dirty="0">
                <a:solidFill>
                  <a:srgbClr val="000099"/>
                </a:solidFill>
                <a:ea typeface="楷体_GB2312" pitchFamily="49" charset="-122"/>
              </a:rPr>
              <a:t>和</a:t>
            </a:r>
            <a:r>
              <a:rPr lang="en-US" altLang="zh-CN" sz="2400" b="1" dirty="0">
                <a:solidFill>
                  <a:srgbClr val="000099"/>
                </a:solidFill>
                <a:ea typeface="楷体_GB2312" pitchFamily="49" charset="-122"/>
              </a:rPr>
              <a:t>N</a:t>
            </a:r>
            <a:r>
              <a:rPr lang="zh-CN" altLang="en-US" sz="2400" b="1" dirty="0">
                <a:solidFill>
                  <a:srgbClr val="000099"/>
                </a:solidFill>
                <a:ea typeface="楷体_GB2312" pitchFamily="49" charset="-122"/>
              </a:rPr>
              <a:t>。在模块</a:t>
            </a:r>
            <a:r>
              <a:rPr lang="en-US" altLang="zh-CN" sz="2400" b="1" dirty="0">
                <a:solidFill>
                  <a:srgbClr val="000099"/>
                </a:solidFill>
                <a:ea typeface="楷体_GB2312" pitchFamily="49" charset="-122"/>
              </a:rPr>
              <a:t>A</a:t>
            </a:r>
            <a:r>
              <a:rPr lang="zh-CN" altLang="en-US" sz="2400" b="1" dirty="0">
                <a:solidFill>
                  <a:srgbClr val="000099"/>
                </a:solidFill>
                <a:ea typeface="楷体_GB2312" pitchFamily="49" charset="-122"/>
              </a:rPr>
              <a:t>中有一条语句</a:t>
            </a:r>
            <a:r>
              <a:rPr lang="en-US" altLang="zh-CN" sz="2400" b="1" dirty="0">
                <a:solidFill>
                  <a:srgbClr val="000099"/>
                </a:solidFill>
                <a:ea typeface="楷体_GB2312" pitchFamily="49" charset="-122"/>
              </a:rPr>
              <a:t>CALL B</a:t>
            </a:r>
            <a:r>
              <a:rPr lang="zh-CN" altLang="en-US" sz="2400" b="1" dirty="0">
                <a:solidFill>
                  <a:srgbClr val="000099"/>
                </a:solidFill>
                <a:ea typeface="楷体_GB2312" pitchFamily="49" charset="-122"/>
              </a:rPr>
              <a:t>，用于调用模块</a:t>
            </a:r>
            <a:r>
              <a:rPr lang="en-US" altLang="zh-CN" sz="2400" b="1" dirty="0">
                <a:solidFill>
                  <a:srgbClr val="000099"/>
                </a:solidFill>
                <a:ea typeface="楷体_GB2312" pitchFamily="49" charset="-122"/>
              </a:rPr>
              <a:t>B</a:t>
            </a:r>
            <a:r>
              <a:rPr lang="zh-CN" altLang="en-US" sz="2400" b="1" dirty="0">
                <a:solidFill>
                  <a:srgbClr val="000099"/>
                </a:solidFill>
                <a:ea typeface="楷体_GB2312" pitchFamily="49" charset="-122"/>
              </a:rPr>
              <a:t>。在模块</a:t>
            </a:r>
            <a:r>
              <a:rPr lang="en-US" altLang="zh-CN" sz="2400" b="1" dirty="0">
                <a:solidFill>
                  <a:srgbClr val="000099"/>
                </a:solidFill>
                <a:ea typeface="楷体_GB2312" pitchFamily="49" charset="-122"/>
              </a:rPr>
              <a:t>B</a:t>
            </a:r>
            <a:r>
              <a:rPr lang="zh-CN" altLang="en-US" sz="2400" b="1" dirty="0">
                <a:solidFill>
                  <a:srgbClr val="000099"/>
                </a:solidFill>
                <a:ea typeface="楷体_GB2312" pitchFamily="49" charset="-122"/>
              </a:rPr>
              <a:t>中有一条语句</a:t>
            </a:r>
            <a:r>
              <a:rPr lang="en-US" altLang="zh-CN" sz="2400" b="1" dirty="0">
                <a:solidFill>
                  <a:srgbClr val="000099"/>
                </a:solidFill>
                <a:ea typeface="楷体_GB2312" pitchFamily="49" charset="-122"/>
              </a:rPr>
              <a:t>CALL C</a:t>
            </a:r>
            <a:r>
              <a:rPr lang="zh-CN" altLang="en-US" sz="2400" b="1" dirty="0">
                <a:solidFill>
                  <a:srgbClr val="000099"/>
                </a:solidFill>
                <a:ea typeface="楷体_GB2312" pitchFamily="49" charset="-122"/>
              </a:rPr>
              <a:t>，用于调用模块</a:t>
            </a:r>
            <a:r>
              <a:rPr lang="en-US" altLang="zh-CN" sz="2400" b="1" dirty="0">
                <a:solidFill>
                  <a:srgbClr val="000099"/>
                </a:solidFill>
                <a:ea typeface="楷体_GB2312" pitchFamily="49" charset="-122"/>
              </a:rPr>
              <a:t>C</a:t>
            </a:r>
            <a:r>
              <a:rPr lang="zh-CN" altLang="en-US" sz="2400" b="1" dirty="0">
                <a:solidFill>
                  <a:srgbClr val="000099"/>
                </a:solidFill>
                <a:ea typeface="楷体_GB2312" pitchFamily="49" charset="-122"/>
              </a:rPr>
              <a:t>。</a:t>
            </a:r>
            <a:r>
              <a:rPr lang="en-US" altLang="zh-CN" sz="2400" b="1" dirty="0">
                <a:solidFill>
                  <a:srgbClr val="000099"/>
                </a:solidFill>
                <a:ea typeface="楷体_GB2312" pitchFamily="49" charset="-122"/>
              </a:rPr>
              <a:t>B</a:t>
            </a:r>
            <a:r>
              <a:rPr lang="zh-CN" altLang="en-US" sz="2400" b="1" dirty="0">
                <a:solidFill>
                  <a:srgbClr val="000099"/>
                </a:solidFill>
                <a:ea typeface="楷体_GB2312" pitchFamily="49" charset="-122"/>
              </a:rPr>
              <a:t>和</a:t>
            </a:r>
            <a:r>
              <a:rPr lang="en-US" altLang="zh-CN" sz="2400" b="1" dirty="0">
                <a:solidFill>
                  <a:srgbClr val="000099"/>
                </a:solidFill>
                <a:ea typeface="楷体_GB2312" pitchFamily="49" charset="-122"/>
              </a:rPr>
              <a:t>C</a:t>
            </a:r>
            <a:r>
              <a:rPr lang="zh-CN" altLang="en-US" sz="2400" b="1" dirty="0">
                <a:solidFill>
                  <a:srgbClr val="000099"/>
                </a:solidFill>
                <a:ea typeface="楷体_GB2312" pitchFamily="49" charset="-122"/>
              </a:rPr>
              <a:t>都属于外部调用符号，在将这几个目标模块装配成一个装入模块时，须解决以下两个问题： </a:t>
            </a:r>
            <a:br>
              <a:rPr lang="zh-CN" altLang="en-US" sz="2400" b="1" dirty="0">
                <a:solidFill>
                  <a:srgbClr val="000099"/>
                </a:solidFill>
                <a:ea typeface="楷体_GB2312" pitchFamily="49" charset="-122"/>
              </a:rPr>
            </a:b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(1) </a:t>
            </a:r>
            <a:r>
              <a:rPr lang="zh-CN" altLang="en-US" sz="2400" b="1" dirty="0">
                <a:solidFill>
                  <a:srgbClr val="000099"/>
                </a:solidFill>
                <a:ea typeface="楷体_GB2312" pitchFamily="49" charset="-122"/>
              </a:rPr>
              <a:t>对相对地址进行修改。</a:t>
            </a:r>
            <a:br>
              <a:rPr lang="zh-CN" altLang="en-US" sz="2400" b="1" dirty="0">
                <a:solidFill>
                  <a:srgbClr val="000099"/>
                </a:solidFill>
                <a:ea typeface="楷体_GB2312" pitchFamily="49" charset="-122"/>
              </a:rPr>
            </a:b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(2) </a:t>
            </a:r>
            <a:r>
              <a:rPr lang="zh-CN" altLang="en-US" sz="2400" b="1" dirty="0">
                <a:solidFill>
                  <a:srgbClr val="000099"/>
                </a:solidFill>
                <a:ea typeface="楷体_GB2312" pitchFamily="49" charset="-122"/>
              </a:rPr>
              <a:t>变换外部调用符号。 </a:t>
            </a:r>
            <a:endParaRPr lang="zh-CN" altLang="en-US" sz="2400" b="1" dirty="0">
              <a:solidFill>
                <a:srgbClr val="000099"/>
              </a:solidFill>
              <a:ea typeface="楷体_GB2312"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pic>
        <p:nvPicPr>
          <p:cNvPr id="36867" name="Picture 4" descr="4-4"/>
          <p:cNvPicPr>
            <a:picLocks noChangeAspect="1"/>
          </p:cNvPicPr>
          <p:nvPr/>
        </p:nvPicPr>
        <p:blipFill>
          <a:blip r:embed="rId1"/>
          <a:stretch>
            <a:fillRect/>
          </a:stretch>
        </p:blipFill>
        <p:spPr>
          <a:xfrm>
            <a:off x="1547813" y="1412875"/>
            <a:ext cx="6026150" cy="3906838"/>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37891" name="矩形 2"/>
          <p:cNvSpPr/>
          <p:nvPr/>
        </p:nvSpPr>
        <p:spPr>
          <a:xfrm>
            <a:off x="755650" y="1268413"/>
            <a:ext cx="7632700" cy="39147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en-US" altLang="zh-CN" sz="2400" b="1" dirty="0">
                <a:solidFill>
                  <a:srgbClr val="000099"/>
                </a:solidFill>
                <a:latin typeface="黑体" panose="02010609060101010101" pitchFamily="49" charset="-122"/>
                <a:ea typeface="黑体" panose="02010609060101010101" pitchFamily="49" charset="-122"/>
              </a:rPr>
              <a:t>2. </a:t>
            </a:r>
            <a:r>
              <a:rPr lang="zh-CN" altLang="en-US" sz="2400" b="1" dirty="0">
                <a:solidFill>
                  <a:srgbClr val="000099"/>
                </a:solidFill>
                <a:latin typeface="黑体" panose="02010609060101010101" pitchFamily="49" charset="-122"/>
                <a:ea typeface="黑体" panose="02010609060101010101" pitchFamily="49" charset="-122"/>
              </a:rPr>
              <a:t>装入时动态链接</a:t>
            </a:r>
            <a:r>
              <a:rPr lang="en-US" altLang="zh-CN" sz="2400" b="1" dirty="0">
                <a:solidFill>
                  <a:srgbClr val="000099"/>
                </a:solidFill>
                <a:latin typeface="黑体" panose="02010609060101010101" pitchFamily="49" charset="-122"/>
                <a:ea typeface="黑体" panose="02010609060101010101" pitchFamily="49" charset="-122"/>
              </a:rPr>
              <a:t>(Load-time Dynamic Linking)</a:t>
            </a:r>
            <a:br>
              <a:rPr lang="en-US" altLang="zh-CN" sz="2400" b="1" dirty="0">
                <a:solidFill>
                  <a:srgbClr val="000099"/>
                </a:solidFill>
                <a:ea typeface="楷体_GB2312" pitchFamily="49" charset="-122"/>
              </a:rPr>
            </a:br>
            <a:r>
              <a:rPr lang="zh-CN" altLang="en-US" sz="2400" b="1" dirty="0">
                <a:solidFill>
                  <a:srgbClr val="000099"/>
                </a:solidFill>
                <a:ea typeface="楷体_GB2312" pitchFamily="49" charset="-122"/>
              </a:rPr>
              <a:t>　　这是指将用户源程序编译后所得到的一组目标模块，在装入内存时，采用边装入边链接的链接方式。即在装入一个目标模块时，若发生一个外部模块调用事件，将引起装入程序去找出相应的外部目标模块，并将它装入内存，还要按照图</a:t>
            </a:r>
            <a:r>
              <a:rPr lang="en-US" altLang="zh-CN" sz="2400" b="1" dirty="0">
                <a:solidFill>
                  <a:srgbClr val="000099"/>
                </a:solidFill>
                <a:ea typeface="楷体_GB2312" pitchFamily="49" charset="-122"/>
              </a:rPr>
              <a:t>4-4</a:t>
            </a:r>
            <a:r>
              <a:rPr lang="zh-CN" altLang="en-US" sz="2400" b="1" dirty="0">
                <a:solidFill>
                  <a:srgbClr val="000099"/>
                </a:solidFill>
                <a:ea typeface="楷体_GB2312" pitchFamily="49" charset="-122"/>
              </a:rPr>
              <a:t>所示的方式修改目标模块中的相对地址。装入时动态链接方式有以下优点：</a:t>
            </a:r>
            <a:br>
              <a:rPr lang="zh-CN" altLang="en-US" sz="2400" b="1" dirty="0">
                <a:solidFill>
                  <a:srgbClr val="000099"/>
                </a:solidFill>
                <a:ea typeface="楷体_GB2312" pitchFamily="49" charset="-122"/>
              </a:rPr>
            </a:b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(1) </a:t>
            </a:r>
            <a:r>
              <a:rPr lang="zh-CN" altLang="en-US" sz="2400" b="1" dirty="0">
                <a:solidFill>
                  <a:srgbClr val="000099"/>
                </a:solidFill>
                <a:ea typeface="楷体_GB2312" pitchFamily="49" charset="-122"/>
              </a:rPr>
              <a:t>便于修改和更新。</a:t>
            </a:r>
            <a:br>
              <a:rPr lang="zh-CN" altLang="en-US" sz="2400" b="1" dirty="0">
                <a:solidFill>
                  <a:srgbClr val="000099"/>
                </a:solidFill>
                <a:ea typeface="楷体_GB2312" pitchFamily="49" charset="-122"/>
              </a:rPr>
            </a:b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(2) </a:t>
            </a:r>
            <a:r>
              <a:rPr lang="zh-CN" altLang="en-US" sz="2400" b="1" dirty="0">
                <a:solidFill>
                  <a:srgbClr val="000099"/>
                </a:solidFill>
                <a:ea typeface="楷体_GB2312" pitchFamily="49" charset="-122"/>
              </a:rPr>
              <a:t>便于实现对目标模块的共享。 </a:t>
            </a:r>
            <a:endParaRPr lang="zh-CN" altLang="en-US" sz="2400" b="1" dirty="0">
              <a:solidFill>
                <a:srgbClr val="000099"/>
              </a:solidFill>
              <a:ea typeface="楷体_GB2312"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38915" name="矩形 2"/>
          <p:cNvSpPr/>
          <p:nvPr/>
        </p:nvSpPr>
        <p:spPr>
          <a:xfrm>
            <a:off x="812800" y="1196975"/>
            <a:ext cx="7416800" cy="39147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en-US" altLang="zh-CN" sz="2400" b="1" dirty="0">
                <a:solidFill>
                  <a:srgbClr val="000099"/>
                </a:solidFill>
                <a:latin typeface="黑体" panose="02010609060101010101" pitchFamily="49" charset="-122"/>
                <a:ea typeface="黑体" panose="02010609060101010101" pitchFamily="49" charset="-122"/>
              </a:rPr>
              <a:t>3. </a:t>
            </a:r>
            <a:r>
              <a:rPr lang="zh-CN" altLang="en-US" sz="2400" b="1" dirty="0">
                <a:solidFill>
                  <a:srgbClr val="000099"/>
                </a:solidFill>
                <a:latin typeface="黑体" panose="02010609060101010101" pitchFamily="49" charset="-122"/>
                <a:ea typeface="黑体" panose="02010609060101010101" pitchFamily="49" charset="-122"/>
              </a:rPr>
              <a:t>运行时动态链接</a:t>
            </a:r>
            <a:r>
              <a:rPr lang="en-US" altLang="zh-CN" sz="2400" b="1" dirty="0">
                <a:solidFill>
                  <a:srgbClr val="000099"/>
                </a:solidFill>
                <a:latin typeface="黑体" panose="02010609060101010101" pitchFamily="49" charset="-122"/>
                <a:ea typeface="黑体" panose="02010609060101010101" pitchFamily="49" charset="-122"/>
              </a:rPr>
              <a:t>(Run-time Dynamic Linking)</a:t>
            </a:r>
            <a:br>
              <a:rPr lang="en-US" altLang="zh-CN"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latin typeface="黑体" panose="02010609060101010101" pitchFamily="49" charset="-122"/>
                <a:ea typeface="黑体" panose="02010609060101010101" pitchFamily="49" charset="-122"/>
              </a:rPr>
              <a:t>　　</a:t>
            </a:r>
            <a:r>
              <a:rPr lang="zh-CN" altLang="en-US" sz="2400" b="1" dirty="0">
                <a:solidFill>
                  <a:srgbClr val="000099"/>
                </a:solidFill>
                <a:ea typeface="楷体_GB2312" pitchFamily="49" charset="-122"/>
              </a:rPr>
              <a:t>在许多情况下，应用程序在运行时，每次要运行的模块可能是不相同的。但由于事先无法知道本次要运行哪些模块，故只能是将所有可能要运行到的模块全部都装入内存，并在装入时全部链接在一起。显然这是低效的，因为往往会有部分目标模块根本就不运行。比较典型的例子是作为错误处理用的目标模块，如果程序在整个运行过程中都不出现错误，则显然就不会用到该模块。</a:t>
            </a:r>
            <a:endParaRPr lang="zh-CN" altLang="en-US" sz="2400" b="1" dirty="0">
              <a:solidFill>
                <a:srgbClr val="000099"/>
              </a:solidFill>
              <a:ea typeface="楷体_GB2312"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53634" name="Rectangle 1026"/>
          <p:cNvSpPr/>
          <p:nvPr/>
        </p:nvSpPr>
        <p:spPr>
          <a:xfrm>
            <a:off x="2590800" y="990600"/>
            <a:ext cx="3434080" cy="583565"/>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dirty="0">
                <a:solidFill>
                  <a:srgbClr val="9900CC"/>
                </a:solidFill>
                <a:latin typeface="隶书" panose="02010509060101010101" pitchFamily="49" charset="-122"/>
                <a:ea typeface="隶书" panose="02010509060101010101" pitchFamily="49" charset="-122"/>
              </a:rPr>
              <a:t>5.4 </a:t>
            </a:r>
            <a:r>
              <a:rPr lang="zh-CN" altLang="en-US" dirty="0">
                <a:solidFill>
                  <a:srgbClr val="9900CC"/>
                </a:solidFill>
                <a:latin typeface="隶书" panose="02010509060101010101" pitchFamily="49" charset="-122"/>
                <a:ea typeface="隶书" panose="02010509060101010101" pitchFamily="49" charset="-122"/>
              </a:rPr>
              <a:t>分区存储管理</a:t>
            </a:r>
            <a:endParaRPr lang="zh-CN" altLang="en-US" dirty="0">
              <a:solidFill>
                <a:srgbClr val="9900CC"/>
              </a:solidFill>
              <a:latin typeface="隶书" panose="02010509060101010101" pitchFamily="49" charset="-122"/>
              <a:ea typeface="隶书" panose="02010509060101010101" pitchFamily="49" charset="-122"/>
            </a:endParaRPr>
          </a:p>
        </p:txBody>
      </p:sp>
      <p:sp>
        <p:nvSpPr>
          <p:cNvPr id="453635" name="Rectangle 1027"/>
          <p:cNvSpPr/>
          <p:nvPr/>
        </p:nvSpPr>
        <p:spPr>
          <a:xfrm>
            <a:off x="827088" y="1628775"/>
            <a:ext cx="2209800" cy="6762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dirty="0">
                <a:solidFill>
                  <a:srgbClr val="000000"/>
                </a:solidFill>
                <a:ea typeface="隶书" panose="02010509060101010101" pitchFamily="49" charset="-122"/>
              </a:rPr>
              <a:t>一、概述</a:t>
            </a:r>
            <a:endParaRPr lang="zh-CN" altLang="en-US" dirty="0">
              <a:solidFill>
                <a:srgbClr val="000000"/>
              </a:solidFill>
              <a:ea typeface="隶书" panose="02010509060101010101" pitchFamily="49" charset="-122"/>
            </a:endParaRPr>
          </a:p>
        </p:txBody>
      </p:sp>
      <p:sp>
        <p:nvSpPr>
          <p:cNvPr id="453636" name="Rectangle 1028"/>
          <p:cNvSpPr/>
          <p:nvPr/>
        </p:nvSpPr>
        <p:spPr>
          <a:xfrm>
            <a:off x="755650" y="2492375"/>
            <a:ext cx="7924800" cy="151606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lnSpc>
                <a:spcPct val="130000"/>
              </a:lnSpc>
              <a:spcBef>
                <a:spcPct val="30000"/>
              </a:spcBef>
              <a:buClrTx/>
              <a:buSzTx/>
              <a:buFontTx/>
              <a:buNone/>
            </a:pPr>
            <a:r>
              <a:rPr lang="zh-CN" altLang="en-US" sz="2400" b="1" dirty="0">
                <a:solidFill>
                  <a:srgbClr val="006600"/>
                </a:solidFill>
                <a:latin typeface="楷体_GB2312" pitchFamily="49" charset="-122"/>
                <a:ea typeface="楷体_GB2312" pitchFamily="49" charset="-122"/>
              </a:rPr>
              <a:t>分区式存储管理基本思想：</a:t>
            </a:r>
            <a:r>
              <a:rPr lang="zh-CN" altLang="en-US" sz="2400" b="1" dirty="0">
                <a:solidFill>
                  <a:srgbClr val="000099"/>
                </a:solidFill>
                <a:latin typeface="楷体_GB2312" pitchFamily="49" charset="-122"/>
                <a:ea typeface="楷体_GB2312" pitchFamily="49" charset="-122"/>
              </a:rPr>
              <a:t>把主存空间静态地或动态地划分为若干个大小不等的区域，每个作业分配一片连续的存储空间，程序一次性整体装入。 </a:t>
            </a:r>
            <a:endParaRPr lang="zh-CN" altLang="en-US" sz="2400" b="1" dirty="0">
              <a:solidFill>
                <a:srgbClr val="000099"/>
              </a:solidFill>
              <a:latin typeface="楷体_GB2312" pitchFamily="49" charset="-122"/>
              <a:ea typeface="楷体_GB2312" pitchFamily="49" charset="-122"/>
            </a:endParaRPr>
          </a:p>
        </p:txBody>
      </p:sp>
      <p:sp>
        <p:nvSpPr>
          <p:cNvPr id="453637" name="Rectangle 1029"/>
          <p:cNvSpPr/>
          <p:nvPr/>
        </p:nvSpPr>
        <p:spPr>
          <a:xfrm>
            <a:off x="755650" y="4076700"/>
            <a:ext cx="8229600" cy="6762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lnSpc>
                <a:spcPct val="120000"/>
              </a:lnSpc>
              <a:buClrTx/>
              <a:buSzTx/>
              <a:buFontTx/>
              <a:buNone/>
            </a:pPr>
            <a:r>
              <a:rPr lang="zh-CN" altLang="en-US" dirty="0">
                <a:solidFill>
                  <a:srgbClr val="003300"/>
                </a:solidFill>
                <a:latin typeface="隶书" panose="02010509060101010101" pitchFamily="49" charset="-122"/>
                <a:ea typeface="隶书" panose="02010509060101010101" pitchFamily="49" charset="-122"/>
              </a:rPr>
              <a:t>二、分区式存储管理的方式：</a:t>
            </a:r>
            <a:endParaRPr lang="zh-CN" altLang="en-US" dirty="0">
              <a:solidFill>
                <a:srgbClr val="003300"/>
              </a:solidFill>
              <a:latin typeface="隶书" panose="02010509060101010101" pitchFamily="49" charset="-122"/>
              <a:ea typeface="隶书" panose="02010509060101010101" pitchFamily="49" charset="-122"/>
            </a:endParaRPr>
          </a:p>
        </p:txBody>
      </p:sp>
      <p:sp>
        <p:nvSpPr>
          <p:cNvPr id="453716" name="Rectangle 1108"/>
          <p:cNvSpPr>
            <a:spLocks noChangeArrowheads="1"/>
          </p:cNvSpPr>
          <p:nvPr/>
        </p:nvSpPr>
        <p:spPr bwMode="auto">
          <a:xfrm>
            <a:off x="827088" y="4597400"/>
            <a:ext cx="7258050" cy="2044700"/>
          </a:xfrm>
          <a:prstGeom prst="rect">
            <a:avLst/>
          </a:prstGeom>
          <a:noFill/>
          <a:ln>
            <a:noFill/>
          </a:ln>
          <a:effectLst/>
        </p:spPr>
        <p:txBody>
          <a:bodyPr>
            <a:spAutoFit/>
          </a:bodyPr>
          <a:lstStyle>
            <a:lvl1pPr>
              <a:spcBef>
                <a:spcPct val="20000"/>
              </a:spcBef>
              <a:buClr>
                <a:srgbClr val="A50021"/>
              </a:buClr>
              <a:buSzPct val="75000"/>
              <a:buFont typeface="Wingdings" panose="05000000000000000000" pitchFamily="2" charset="2"/>
              <a:buChar char="n"/>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666699"/>
              </a:buClr>
              <a:buSzPct val="70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SzPct val="60000"/>
              <a:buFont typeface="Wingdings" panose="05000000000000000000" pitchFamily="2" charset="2"/>
              <a:buChar char="n"/>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buChar char="n"/>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20000"/>
              </a:lnSpc>
              <a:spcBef>
                <a:spcPct val="20000"/>
              </a:spcBef>
              <a:spcAft>
                <a:spcPct val="0"/>
              </a:spcAft>
              <a:buClrTx/>
              <a:buSzTx/>
              <a:buFont typeface="Wingdings" panose="05000000000000000000" pitchFamily="2" charset="2"/>
              <a:buChar char="Ø"/>
              <a:defRPr/>
            </a:pPr>
            <a:r>
              <a:rPr kumimoji="1" lang="en-US" altLang="zh-CN"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 </a:t>
            </a:r>
            <a:r>
              <a:rPr kumimoji="1" lang="zh-CN" altLang="en-US"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单一连续分配</a:t>
            </a:r>
            <a:endParaRPr kumimoji="1" lang="en-US" altLang="zh-CN"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endParaRPr>
          </a:p>
          <a:p>
            <a:pPr marL="0" marR="0" lvl="0" indent="0" algn="just" defTabSz="914400" rtl="0" eaLnBrk="1" fontAlgn="base" latinLnBrk="0" hangingPunct="1">
              <a:lnSpc>
                <a:spcPct val="120000"/>
              </a:lnSpc>
              <a:spcBef>
                <a:spcPct val="20000"/>
              </a:spcBef>
              <a:spcAft>
                <a:spcPct val="0"/>
              </a:spcAft>
              <a:buClrTx/>
              <a:buSzTx/>
              <a:buFont typeface="Wingdings" panose="05000000000000000000" pitchFamily="2" charset="2"/>
              <a:buChar char="Ø"/>
              <a:defRPr/>
            </a:pPr>
            <a:r>
              <a:rPr kumimoji="1" lang="zh-CN" altLang="en-US"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 固定分区 </a:t>
            </a:r>
            <a:r>
              <a:rPr kumimoji="1" lang="en-US" altLang="zh-CN"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a:t>
            </a:r>
            <a:r>
              <a:rPr kumimoji="1" lang="zh-CN" altLang="en-US"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静态分区</a:t>
            </a:r>
            <a:r>
              <a:rPr kumimoji="1" lang="en-US" altLang="zh-CN"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a:t>
            </a:r>
            <a:r>
              <a:rPr kumimoji="1" lang="zh-CN" altLang="en-US"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分配</a:t>
            </a:r>
            <a:endParaRPr kumimoji="1" lang="en-US" altLang="zh-CN"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endParaRPr>
          </a:p>
          <a:p>
            <a:pPr marL="0" marR="0" lvl="0" indent="0" algn="just" defTabSz="914400" rtl="0" eaLnBrk="1" fontAlgn="base" latinLnBrk="0" hangingPunct="1">
              <a:lnSpc>
                <a:spcPct val="120000"/>
              </a:lnSpc>
              <a:spcBef>
                <a:spcPct val="20000"/>
              </a:spcBef>
              <a:spcAft>
                <a:spcPct val="0"/>
              </a:spcAft>
              <a:buClrTx/>
              <a:buSzTx/>
              <a:buFont typeface="Wingdings" panose="05000000000000000000" pitchFamily="2" charset="2"/>
              <a:buChar char="Ø"/>
              <a:defRPr/>
            </a:pPr>
            <a:r>
              <a:rPr kumimoji="1" lang="zh-CN" altLang="en-US"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 可变分区 </a:t>
            </a:r>
            <a:r>
              <a:rPr kumimoji="1" lang="en-US" altLang="zh-CN"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a:t>
            </a:r>
            <a:r>
              <a:rPr kumimoji="1" lang="zh-CN" altLang="en-US"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动态分区</a:t>
            </a:r>
            <a:r>
              <a:rPr kumimoji="1" lang="en-US" altLang="zh-CN"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a:t>
            </a:r>
            <a:r>
              <a:rPr kumimoji="1" lang="zh-CN" altLang="en-US"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分配</a:t>
            </a:r>
            <a:endParaRPr kumimoji="1" lang="en-US" altLang="zh-CN"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endParaRPr>
          </a:p>
          <a:p>
            <a:pPr marL="342900" marR="0" lvl="0" indent="-342900" algn="just" defTabSz="914400" rtl="0" eaLnBrk="1" fontAlgn="base" latinLnBrk="0" hangingPunct="1">
              <a:lnSpc>
                <a:spcPct val="120000"/>
              </a:lnSpc>
              <a:spcBef>
                <a:spcPct val="20000"/>
              </a:spcBef>
              <a:spcAft>
                <a:spcPct val="0"/>
              </a:spcAft>
              <a:buClrTx/>
              <a:buSzTx/>
              <a:buFont typeface="Wingdings" panose="05000000000000000000" pitchFamily="2" charset="2"/>
              <a:buChar char="Ø"/>
              <a:defRPr/>
            </a:pPr>
            <a:r>
              <a:rPr kumimoji="1" lang="zh-CN" altLang="en-US"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rPr>
              <a:t>动态可重定位分区分配</a:t>
            </a:r>
            <a:endParaRPr kumimoji="1" lang="zh-CN" altLang="en-US" sz="2400" b="1" i="0" u="none" strike="noStrike" kern="1200" cap="none" spc="0" normalizeH="0" baseline="0" noProof="0" dirty="0">
              <a:ln>
                <a:noFill/>
              </a:ln>
              <a:solidFill>
                <a:srgbClr val="000099"/>
              </a:solidFill>
              <a:effectLst/>
              <a:uLnTx/>
              <a:uFillTx/>
              <a:latin typeface="楷体_GB2312" pitchFamily="49" charset="-122"/>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3634"/>
                                        </p:tgtEl>
                                        <p:attrNameLst>
                                          <p:attrName>style.visibility</p:attrName>
                                        </p:attrNameLst>
                                      </p:cBhvr>
                                      <p:to>
                                        <p:strVal val="visible"/>
                                      </p:to>
                                    </p:set>
                                    <p:anim calcmode="lin" valueType="num">
                                      <p:cBhvr additive="base">
                                        <p:cTn id="7" dur="500" fill="hold"/>
                                        <p:tgtEl>
                                          <p:spTgt spid="453634"/>
                                        </p:tgtEl>
                                        <p:attrNameLst>
                                          <p:attrName>ppt_x</p:attrName>
                                        </p:attrNameLst>
                                      </p:cBhvr>
                                      <p:tavLst>
                                        <p:tav tm="0">
                                          <p:val>
                                            <p:strVal val="0-#ppt_w/2"/>
                                          </p:val>
                                        </p:tav>
                                        <p:tav tm="100000">
                                          <p:val>
                                            <p:strVal val="#ppt_x"/>
                                          </p:val>
                                        </p:tav>
                                      </p:tavLst>
                                    </p:anim>
                                    <p:anim calcmode="lin" valueType="num">
                                      <p:cBhvr additive="base">
                                        <p:cTn id="8" dur="500" fill="hold"/>
                                        <p:tgtEl>
                                          <p:spTgt spid="4536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53635"/>
                                        </p:tgtEl>
                                        <p:attrNameLst>
                                          <p:attrName>style.visibility</p:attrName>
                                        </p:attrNameLst>
                                      </p:cBhvr>
                                      <p:to>
                                        <p:strVal val="visible"/>
                                      </p:to>
                                    </p:set>
                                    <p:anim calcmode="lin" valueType="num">
                                      <p:cBhvr additive="base">
                                        <p:cTn id="13" dur="500" fill="hold"/>
                                        <p:tgtEl>
                                          <p:spTgt spid="453635"/>
                                        </p:tgtEl>
                                        <p:attrNameLst>
                                          <p:attrName>ppt_x</p:attrName>
                                        </p:attrNameLst>
                                      </p:cBhvr>
                                      <p:tavLst>
                                        <p:tav tm="0">
                                          <p:val>
                                            <p:strVal val="0-#ppt_w/2"/>
                                          </p:val>
                                        </p:tav>
                                        <p:tav tm="100000">
                                          <p:val>
                                            <p:strVal val="#ppt_x"/>
                                          </p:val>
                                        </p:tav>
                                      </p:tavLst>
                                    </p:anim>
                                    <p:anim calcmode="lin" valueType="num">
                                      <p:cBhvr additive="base">
                                        <p:cTn id="14" dur="500" fill="hold"/>
                                        <p:tgtEl>
                                          <p:spTgt spid="45363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53636"/>
                                        </p:tgtEl>
                                        <p:attrNameLst>
                                          <p:attrName>style.visibility</p:attrName>
                                        </p:attrNameLst>
                                      </p:cBhvr>
                                      <p:to>
                                        <p:strVal val="visible"/>
                                      </p:to>
                                    </p:set>
                                    <p:anim calcmode="lin" valueType="num">
                                      <p:cBhvr additive="base">
                                        <p:cTn id="19" dur="500" fill="hold"/>
                                        <p:tgtEl>
                                          <p:spTgt spid="453636"/>
                                        </p:tgtEl>
                                        <p:attrNameLst>
                                          <p:attrName>ppt_x</p:attrName>
                                        </p:attrNameLst>
                                      </p:cBhvr>
                                      <p:tavLst>
                                        <p:tav tm="0">
                                          <p:val>
                                            <p:strVal val="0-#ppt_w/2"/>
                                          </p:val>
                                        </p:tav>
                                        <p:tav tm="100000">
                                          <p:val>
                                            <p:strVal val="#ppt_x"/>
                                          </p:val>
                                        </p:tav>
                                      </p:tavLst>
                                    </p:anim>
                                    <p:anim calcmode="lin" valueType="num">
                                      <p:cBhvr additive="base">
                                        <p:cTn id="20" dur="500" fill="hold"/>
                                        <p:tgtEl>
                                          <p:spTgt spid="45363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53637"/>
                                        </p:tgtEl>
                                        <p:attrNameLst>
                                          <p:attrName>style.visibility</p:attrName>
                                        </p:attrNameLst>
                                      </p:cBhvr>
                                      <p:to>
                                        <p:strVal val="visible"/>
                                      </p:to>
                                    </p:set>
                                    <p:anim calcmode="lin" valueType="num">
                                      <p:cBhvr additive="base">
                                        <p:cTn id="25" dur="500" fill="hold"/>
                                        <p:tgtEl>
                                          <p:spTgt spid="453637"/>
                                        </p:tgtEl>
                                        <p:attrNameLst>
                                          <p:attrName>ppt_x</p:attrName>
                                        </p:attrNameLst>
                                      </p:cBhvr>
                                      <p:tavLst>
                                        <p:tav tm="0">
                                          <p:val>
                                            <p:strVal val="0-#ppt_w/2"/>
                                          </p:val>
                                        </p:tav>
                                        <p:tav tm="100000">
                                          <p:val>
                                            <p:strVal val="#ppt_x"/>
                                          </p:val>
                                        </p:tav>
                                      </p:tavLst>
                                    </p:anim>
                                    <p:anim calcmode="lin" valueType="num">
                                      <p:cBhvr additive="base">
                                        <p:cTn id="26" dur="500" fill="hold"/>
                                        <p:tgtEl>
                                          <p:spTgt spid="45363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53716"/>
                                        </p:tgtEl>
                                        <p:attrNameLst>
                                          <p:attrName>style.visibility</p:attrName>
                                        </p:attrNameLst>
                                      </p:cBhvr>
                                      <p:to>
                                        <p:strVal val="visible"/>
                                      </p:to>
                                    </p:set>
                                    <p:anim calcmode="lin" valueType="num">
                                      <p:cBhvr additive="base">
                                        <p:cTn id="31" dur="500" fill="hold"/>
                                        <p:tgtEl>
                                          <p:spTgt spid="453716"/>
                                        </p:tgtEl>
                                        <p:attrNameLst>
                                          <p:attrName>ppt_x</p:attrName>
                                        </p:attrNameLst>
                                      </p:cBhvr>
                                      <p:tavLst>
                                        <p:tav tm="0">
                                          <p:val>
                                            <p:strVal val="0-#ppt_w/2"/>
                                          </p:val>
                                        </p:tav>
                                        <p:tav tm="100000">
                                          <p:val>
                                            <p:strVal val="#ppt_x"/>
                                          </p:val>
                                        </p:tav>
                                      </p:tavLst>
                                    </p:anim>
                                    <p:anim calcmode="lin" valueType="num">
                                      <p:cBhvr additive="base">
                                        <p:cTn id="32" dur="500" fill="hold"/>
                                        <p:tgtEl>
                                          <p:spTgt spid="4537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4" grpId="0"/>
      <p:bldP spid="453635" grpId="0"/>
      <p:bldP spid="453636" grpId="0"/>
      <p:bldP spid="453637" grpId="0"/>
      <p:bldP spid="4537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0963" name="矩形 2"/>
          <p:cNvSpPr/>
          <p:nvPr/>
        </p:nvSpPr>
        <p:spPr>
          <a:xfrm>
            <a:off x="933450" y="1052513"/>
            <a:ext cx="5078413" cy="534987"/>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dirty="0">
                <a:solidFill>
                  <a:srgbClr val="9900CC"/>
                </a:solidFill>
                <a:ea typeface="隶书" panose="02010509060101010101" pitchFamily="49" charset="-122"/>
              </a:rPr>
              <a:t>（一）单一连续分配</a:t>
            </a:r>
            <a:endParaRPr lang="en-US" altLang="zh-CN" sz="2400" dirty="0">
              <a:solidFill>
                <a:srgbClr val="9900CC"/>
              </a:solidFill>
              <a:ea typeface="隶书" panose="02010509060101010101" pitchFamily="49" charset="-122"/>
            </a:endParaRPr>
          </a:p>
        </p:txBody>
      </p:sp>
      <p:sp>
        <p:nvSpPr>
          <p:cNvPr id="40964" name="矩形 3"/>
          <p:cNvSpPr/>
          <p:nvPr/>
        </p:nvSpPr>
        <p:spPr>
          <a:xfrm>
            <a:off x="935038" y="1916113"/>
            <a:ext cx="7921625" cy="22161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zh-CN" altLang="en-US" sz="2400" b="1" dirty="0">
                <a:solidFill>
                  <a:srgbClr val="000099"/>
                </a:solidFill>
                <a:ea typeface="楷体_GB2312" pitchFamily="49" charset="-122"/>
              </a:rPr>
              <a:t>在单道程序环境下，当时的存储器管理方式是把内存分为系统区和用户区两部分，系统区仅提供给</a:t>
            </a:r>
            <a:r>
              <a:rPr lang="en-US" altLang="zh-CN" sz="2400" b="1" dirty="0">
                <a:solidFill>
                  <a:srgbClr val="000099"/>
                </a:solidFill>
                <a:ea typeface="楷体_GB2312" pitchFamily="49" charset="-122"/>
              </a:rPr>
              <a:t>OS</a:t>
            </a:r>
            <a:r>
              <a:rPr lang="zh-CN" altLang="en-US" sz="2400" b="1" dirty="0">
                <a:solidFill>
                  <a:srgbClr val="000099"/>
                </a:solidFill>
                <a:ea typeface="楷体_GB2312" pitchFamily="49" charset="-122"/>
              </a:rPr>
              <a:t>使用，它通常是放在内存的低址部分。而在用户区内存中，仅装有一道用户程序，即整个内存的用户空间由该程序独占。这样的存储器分配方式被称为单一连续分配方式。</a:t>
            </a:r>
            <a:endParaRPr lang="zh-CN" altLang="en-US" sz="2400" b="1" dirty="0">
              <a:solidFill>
                <a:srgbClr val="000099"/>
              </a:solidFill>
              <a:ea typeface="楷体_GB2312"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40674" name="Rectangle 2"/>
          <p:cNvSpPr/>
          <p:nvPr/>
        </p:nvSpPr>
        <p:spPr>
          <a:xfrm>
            <a:off x="684213" y="908050"/>
            <a:ext cx="4572000" cy="6096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800" dirty="0">
                <a:solidFill>
                  <a:srgbClr val="9900CC"/>
                </a:solidFill>
                <a:ea typeface="隶书" panose="02010509060101010101" pitchFamily="49" charset="-122"/>
              </a:rPr>
              <a:t>（二）固定分区</a:t>
            </a:r>
            <a:r>
              <a:rPr lang="en-US" altLang="zh-CN" sz="2800" dirty="0">
                <a:solidFill>
                  <a:srgbClr val="9900CC"/>
                </a:solidFill>
                <a:ea typeface="隶书" panose="02010509060101010101" pitchFamily="49" charset="-122"/>
              </a:rPr>
              <a:t>(</a:t>
            </a:r>
            <a:r>
              <a:rPr lang="zh-CN" altLang="en-US" sz="2800" dirty="0">
                <a:solidFill>
                  <a:srgbClr val="9900CC"/>
                </a:solidFill>
                <a:ea typeface="隶书" panose="02010509060101010101" pitchFamily="49" charset="-122"/>
              </a:rPr>
              <a:t>静态分区</a:t>
            </a:r>
            <a:r>
              <a:rPr lang="en-US" altLang="zh-CN" sz="2800" dirty="0">
                <a:solidFill>
                  <a:srgbClr val="9900CC"/>
                </a:solidFill>
                <a:ea typeface="隶书" panose="02010509060101010101" pitchFamily="49" charset="-122"/>
              </a:rPr>
              <a:t>)</a:t>
            </a:r>
            <a:r>
              <a:rPr lang="en-US" altLang="zh-CN" sz="2800" dirty="0">
                <a:solidFill>
                  <a:srgbClr val="000099"/>
                </a:solidFill>
                <a:ea typeface="楷体_GB2312" pitchFamily="49" charset="-122"/>
              </a:rPr>
              <a:t> </a:t>
            </a:r>
            <a:endParaRPr lang="en-US" altLang="zh-CN" sz="2800" dirty="0">
              <a:solidFill>
                <a:srgbClr val="000099"/>
              </a:solidFill>
              <a:ea typeface="楷体_GB2312" pitchFamily="49" charset="-122"/>
            </a:endParaRPr>
          </a:p>
        </p:txBody>
      </p:sp>
      <p:sp>
        <p:nvSpPr>
          <p:cNvPr id="540675" name="Rectangle 3"/>
          <p:cNvSpPr/>
          <p:nvPr/>
        </p:nvSpPr>
        <p:spPr>
          <a:xfrm>
            <a:off x="684213" y="1628775"/>
            <a:ext cx="8153400" cy="25749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eaLnBrk="1" hangingPunct="1">
              <a:lnSpc>
                <a:spcPct val="130000"/>
              </a:lnSpc>
              <a:spcBef>
                <a:spcPct val="30000"/>
              </a:spcBef>
              <a:buClrTx/>
              <a:buSzTx/>
              <a:buFontTx/>
              <a:buNone/>
              <a:tabLst>
                <a:tab pos="600075" algn="l"/>
              </a:tabLst>
            </a:pPr>
            <a:r>
              <a:rPr lang="en-US" altLang="zh-CN" sz="2400" b="1" dirty="0">
                <a:solidFill>
                  <a:srgbClr val="990033"/>
                </a:solidFill>
                <a:latin typeface="楷体_GB2312" pitchFamily="49" charset="-122"/>
                <a:ea typeface="楷体_GB2312" pitchFamily="49" charset="-122"/>
              </a:rPr>
              <a:t>1. </a:t>
            </a:r>
            <a:r>
              <a:rPr lang="zh-CN" altLang="en-US" sz="2400" b="1" dirty="0">
                <a:solidFill>
                  <a:srgbClr val="990033"/>
                </a:solidFill>
                <a:latin typeface="楷体_GB2312" pitchFamily="49" charset="-122"/>
                <a:ea typeface="楷体_GB2312" pitchFamily="49" charset="-122"/>
              </a:rPr>
              <a:t>基本原理：</a:t>
            </a:r>
            <a:endParaRPr lang="zh-CN" altLang="en-US" sz="2400" b="1" dirty="0">
              <a:solidFill>
                <a:srgbClr val="990033"/>
              </a:solidFill>
              <a:latin typeface="楷体_GB2312" pitchFamily="49" charset="-122"/>
              <a:ea typeface="楷体_GB2312" pitchFamily="49" charset="-122"/>
            </a:endParaRPr>
          </a:p>
          <a:p>
            <a:pPr marL="0" lvl="0" indent="0" defTabSz="914400">
              <a:lnSpc>
                <a:spcPct val="130000"/>
              </a:lnSpc>
              <a:spcBef>
                <a:spcPct val="30000"/>
              </a:spcBef>
              <a:buClrTx/>
              <a:buSzTx/>
              <a:buFontTx/>
              <a:buNone/>
              <a:tabLst>
                <a:tab pos="600075" algn="l"/>
              </a:tabLst>
            </a:pPr>
            <a:r>
              <a:rPr lang="zh-CN" altLang="en-US" sz="2400" b="1" dirty="0">
                <a:solidFill>
                  <a:srgbClr val="000099"/>
                </a:solidFill>
                <a:latin typeface="楷体_GB2312" pitchFamily="49" charset="-122"/>
                <a:ea typeface="楷体_GB2312" pitchFamily="49" charset="-122"/>
              </a:rPr>
              <a:t>    把主存储器中可分配的用户区域预先（静态）划分为若干个大小不等的连续的区域（分区），每个分区中装入一个作业。分区的划分由计算机操作员或者由操作系统作出。并给出分区说明表。</a:t>
            </a:r>
            <a:endParaRPr lang="zh-CN" altLang="en-US" sz="2400" b="1" dirty="0">
              <a:solidFill>
                <a:srgbClr val="000099"/>
              </a:solidFill>
              <a:latin typeface="楷体_GB2312" pitchFamily="49" charset="-122"/>
              <a:ea typeface="楷体_GB2312" pitchFamily="49" charset="-122"/>
            </a:endParaRPr>
          </a:p>
        </p:txBody>
      </p:sp>
      <p:sp>
        <p:nvSpPr>
          <p:cNvPr id="540703" name="Rectangle 31"/>
          <p:cNvSpPr/>
          <p:nvPr/>
        </p:nvSpPr>
        <p:spPr>
          <a:xfrm>
            <a:off x="838200" y="4292600"/>
            <a:ext cx="6110288" cy="10414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eaLnBrk="1" hangingPunct="1">
              <a:lnSpc>
                <a:spcPct val="120000"/>
              </a:lnSpc>
              <a:buClrTx/>
              <a:buSzTx/>
              <a:buFontTx/>
              <a:buNone/>
              <a:tabLst>
                <a:tab pos="600075" algn="l"/>
              </a:tabLst>
            </a:pPr>
            <a:r>
              <a:rPr lang="en-US" altLang="zh-CN" sz="2400" b="1" dirty="0">
                <a:solidFill>
                  <a:srgbClr val="990033"/>
                </a:solidFill>
                <a:latin typeface="楷体_GB2312" pitchFamily="49" charset="-122"/>
                <a:ea typeface="楷体_GB2312" pitchFamily="49" charset="-122"/>
              </a:rPr>
              <a:t>2. </a:t>
            </a:r>
            <a:r>
              <a:rPr lang="zh-CN" altLang="en-US" sz="2400" b="1" dirty="0">
                <a:solidFill>
                  <a:srgbClr val="990033"/>
                </a:solidFill>
                <a:latin typeface="楷体_GB2312" pitchFamily="49" charset="-122"/>
                <a:ea typeface="楷体_GB2312" pitchFamily="49" charset="-122"/>
              </a:rPr>
              <a:t>主存空间的分配与回收</a:t>
            </a:r>
            <a:endParaRPr lang="zh-CN" altLang="en-US" sz="2400" b="1" dirty="0">
              <a:solidFill>
                <a:srgbClr val="990033"/>
              </a:solidFill>
              <a:latin typeface="楷体_GB2312" pitchFamily="49" charset="-122"/>
              <a:ea typeface="楷体_GB2312" pitchFamily="49" charset="-122"/>
            </a:endParaRPr>
          </a:p>
          <a:p>
            <a:pPr marL="0" lvl="0" indent="0" defTabSz="914400">
              <a:lnSpc>
                <a:spcPct val="120000"/>
              </a:lnSpc>
              <a:buClrTx/>
              <a:buSzTx/>
              <a:buFontTx/>
              <a:buNone/>
              <a:tabLst>
                <a:tab pos="600075" algn="l"/>
              </a:tabLst>
            </a:pPr>
            <a:r>
              <a:rPr lang="zh-CN" altLang="en-US" sz="2400" b="1" dirty="0">
                <a:solidFill>
                  <a:srgbClr val="000099"/>
                </a:solidFill>
                <a:latin typeface="楷体_GB2312" pitchFamily="49" charset="-122"/>
                <a:ea typeface="楷体_GB2312" pitchFamily="49" charset="-122"/>
              </a:rPr>
              <a:t>分配结构：分区说明表（</a:t>
            </a:r>
            <a:r>
              <a:rPr lang="en-US" altLang="zh-CN" sz="2400" b="1" dirty="0">
                <a:solidFill>
                  <a:srgbClr val="000099"/>
                </a:solidFill>
                <a:latin typeface="楷体_GB2312" pitchFamily="49" charset="-122"/>
                <a:ea typeface="楷体_GB2312" pitchFamily="49" charset="-122"/>
              </a:rPr>
              <a:t>MBT</a:t>
            </a:r>
            <a:r>
              <a:rPr lang="zh-CN" altLang="en-US" sz="2400" b="1" dirty="0">
                <a:solidFill>
                  <a:srgbClr val="000099"/>
                </a:solidFill>
                <a:latin typeface="楷体_GB2312" pitchFamily="49" charset="-122"/>
                <a:ea typeface="楷体_GB2312" pitchFamily="49" charset="-122"/>
              </a:rPr>
              <a:t>） </a:t>
            </a:r>
            <a:endParaRPr lang="zh-CN" altLang="en-US" sz="2400" b="1" dirty="0">
              <a:solidFill>
                <a:srgbClr val="000099"/>
              </a:solidFill>
              <a:latin typeface="楷体_GB2312" pitchFamily="49" charset="-122"/>
              <a:ea typeface="楷体_GB2312" pitchFamily="49" charset="-122"/>
            </a:endParaRPr>
          </a:p>
        </p:txBody>
      </p:sp>
      <p:graphicFrame>
        <p:nvGraphicFramePr>
          <p:cNvPr id="540704" name="Group 32"/>
          <p:cNvGraphicFramePr>
            <a:graphicFrameLocks noGrp="1"/>
          </p:cNvGraphicFramePr>
          <p:nvPr/>
        </p:nvGraphicFramePr>
        <p:xfrm>
          <a:off x="1908175" y="5734050"/>
          <a:ext cx="4211638" cy="433388"/>
        </p:xfrm>
        <a:graphic>
          <a:graphicData uri="http://schemas.openxmlformats.org/drawingml/2006/table">
            <a:tbl>
              <a:tblPr/>
              <a:tblGrid>
                <a:gridCol w="723900"/>
                <a:gridCol w="1377950"/>
                <a:gridCol w="1374775"/>
                <a:gridCol w="735013"/>
              </a:tblGrid>
              <a:tr h="433388">
                <a:tc>
                  <a:txBody>
                    <a:bodyPr/>
                    <a:lstStyle>
                      <a:lvl1pPr>
                        <a:spcBef>
                          <a:spcPct val="20000"/>
                        </a:spcBef>
                        <a:buClr>
                          <a:srgbClr val="A50021"/>
                        </a:buClr>
                        <a:buSzPct val="75000"/>
                        <a:buFont typeface="Wingdings" panose="05000000000000000000" pitchFamily="2" charset="2"/>
                        <a:tabLst>
                          <a:tab pos="600075" algn="l"/>
                        </a:tabLst>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tabLst>
                          <a:tab pos="600075" algn="l"/>
                        </a:tabLst>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tabLst>
                          <a:tab pos="600075" algn="l"/>
                        </a:tabLst>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600075" algn="l"/>
                        </a:tabLst>
                      </a:pPr>
                      <a:r>
                        <a:rPr kumimoji="0" lang="zh-CN" altLang="en-US" sz="20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区号</a:t>
                      </a:r>
                      <a:endParaRPr kumimoji="0" lang="zh-CN" altLang="en-US" sz="20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alpha val="50000"/>
                      </a:schemeClr>
                    </a:solidFill>
                  </a:tcPr>
                </a:tc>
                <a:tc>
                  <a:txBody>
                    <a:bodyPr/>
                    <a:lstStyle>
                      <a:lvl1pPr>
                        <a:spcBef>
                          <a:spcPct val="20000"/>
                        </a:spcBef>
                        <a:buClr>
                          <a:srgbClr val="A50021"/>
                        </a:buClr>
                        <a:buSzPct val="75000"/>
                        <a:buFont typeface="Wingdings" panose="05000000000000000000" pitchFamily="2" charset="2"/>
                        <a:tabLst>
                          <a:tab pos="600075" algn="l"/>
                        </a:tabLst>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tabLst>
                          <a:tab pos="600075" algn="l"/>
                        </a:tabLst>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tabLst>
                          <a:tab pos="600075" algn="l"/>
                        </a:tabLst>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600075" algn="l"/>
                        </a:tabLst>
                      </a:pPr>
                      <a:r>
                        <a:rPr kumimoji="0" lang="en-US" altLang="zh-CN" sz="20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US" sz="20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分区长度</a:t>
                      </a:r>
                      <a:endParaRPr kumimoji="0" lang="zh-CN" altLang="en-US" sz="20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alpha val="50000"/>
                      </a:schemeClr>
                    </a:solidFill>
                  </a:tcPr>
                </a:tc>
                <a:tc>
                  <a:txBody>
                    <a:bodyPr/>
                    <a:lstStyle>
                      <a:lvl1pPr>
                        <a:spcBef>
                          <a:spcPct val="20000"/>
                        </a:spcBef>
                        <a:buClr>
                          <a:srgbClr val="A50021"/>
                        </a:buClr>
                        <a:buSzPct val="75000"/>
                        <a:buFont typeface="Wingdings" panose="05000000000000000000" pitchFamily="2" charset="2"/>
                        <a:tabLst>
                          <a:tab pos="600075" algn="l"/>
                        </a:tabLst>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tabLst>
                          <a:tab pos="600075" algn="l"/>
                        </a:tabLst>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tabLst>
                          <a:tab pos="600075" algn="l"/>
                        </a:tabLst>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600075" algn="l"/>
                        </a:tabLst>
                      </a:pPr>
                      <a:r>
                        <a:rPr kumimoji="0" lang="en-US" altLang="zh-CN" sz="20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US" sz="20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起始地址</a:t>
                      </a:r>
                      <a:endParaRPr kumimoji="0" lang="zh-CN" altLang="en-US" sz="20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alpha val="50000"/>
                      </a:schemeClr>
                    </a:solidFill>
                  </a:tcPr>
                </a:tc>
                <a:tc>
                  <a:txBody>
                    <a:bodyPr/>
                    <a:lstStyle>
                      <a:lvl1pPr>
                        <a:spcBef>
                          <a:spcPct val="20000"/>
                        </a:spcBef>
                        <a:buClr>
                          <a:srgbClr val="A50021"/>
                        </a:buClr>
                        <a:buSzPct val="75000"/>
                        <a:buFont typeface="Wingdings" panose="05000000000000000000" pitchFamily="2" charset="2"/>
                        <a:tabLst>
                          <a:tab pos="600075" algn="l"/>
                        </a:tabLst>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tabLst>
                          <a:tab pos="600075" algn="l"/>
                        </a:tabLst>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tabLst>
                          <a:tab pos="600075" algn="l"/>
                        </a:tabLst>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600075" algn="l"/>
                        </a:tabLst>
                      </a:pPr>
                      <a:r>
                        <a:rPr kumimoji="0" lang="zh-CN" altLang="en-US" sz="2000" b="1" i="0" u="none" strike="noStrike" cap="none" normalizeH="0" baseline="0">
                          <a:ln>
                            <a:noFill/>
                          </a:ln>
                          <a:solidFill>
                            <a:srgbClr val="000099"/>
                          </a:solidFill>
                          <a:effectLst/>
                          <a:latin typeface="楷体_GB2312" pitchFamily="49" charset="-122"/>
                          <a:ea typeface="楷体_GB2312" pitchFamily="49" charset="-122"/>
                          <a:cs typeface="Times New Roman" panose="02020603050405020304" pitchFamily="18" charset="0"/>
                        </a:rPr>
                        <a:t>状态</a:t>
                      </a:r>
                      <a:endParaRPr kumimoji="0" lang="zh-CN" altLang="en-US" sz="2000" b="1" i="0" u="none" strike="noStrike" cap="none" normalizeH="0" baseline="0">
                        <a:ln>
                          <a:noFill/>
                        </a:ln>
                        <a:solidFill>
                          <a:srgbClr val="000099"/>
                        </a:solidFill>
                        <a:effectLst/>
                        <a:latin typeface="楷体_GB2312" pitchFamily="49" charset="-122"/>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alpha val="50000"/>
                      </a:scheme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40674"/>
                                        </p:tgtEl>
                                        <p:attrNameLst>
                                          <p:attrName>style.visibility</p:attrName>
                                        </p:attrNameLst>
                                      </p:cBhvr>
                                      <p:to>
                                        <p:strVal val="visible"/>
                                      </p:to>
                                    </p:set>
                                    <p:anim calcmode="lin" valueType="num">
                                      <p:cBhvr additive="base">
                                        <p:cTn id="7" dur="500" fill="hold"/>
                                        <p:tgtEl>
                                          <p:spTgt spid="540674"/>
                                        </p:tgtEl>
                                        <p:attrNameLst>
                                          <p:attrName>ppt_x</p:attrName>
                                        </p:attrNameLst>
                                      </p:cBhvr>
                                      <p:tavLst>
                                        <p:tav tm="0">
                                          <p:val>
                                            <p:strVal val="0-#ppt_w/2"/>
                                          </p:val>
                                        </p:tav>
                                        <p:tav tm="100000">
                                          <p:val>
                                            <p:strVal val="#ppt_x"/>
                                          </p:val>
                                        </p:tav>
                                      </p:tavLst>
                                    </p:anim>
                                    <p:anim calcmode="lin" valueType="num">
                                      <p:cBhvr additive="base">
                                        <p:cTn id="8" dur="500" fill="hold"/>
                                        <p:tgtEl>
                                          <p:spTgt spid="5406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40675"/>
                                        </p:tgtEl>
                                        <p:attrNameLst>
                                          <p:attrName>style.visibility</p:attrName>
                                        </p:attrNameLst>
                                      </p:cBhvr>
                                      <p:to>
                                        <p:strVal val="visible"/>
                                      </p:to>
                                    </p:set>
                                    <p:anim calcmode="lin" valueType="num">
                                      <p:cBhvr additive="base">
                                        <p:cTn id="13" dur="500" fill="hold"/>
                                        <p:tgtEl>
                                          <p:spTgt spid="540675"/>
                                        </p:tgtEl>
                                        <p:attrNameLst>
                                          <p:attrName>ppt_x</p:attrName>
                                        </p:attrNameLst>
                                      </p:cBhvr>
                                      <p:tavLst>
                                        <p:tav tm="0">
                                          <p:val>
                                            <p:strVal val="0-#ppt_w/2"/>
                                          </p:val>
                                        </p:tav>
                                        <p:tav tm="100000">
                                          <p:val>
                                            <p:strVal val="#ppt_x"/>
                                          </p:val>
                                        </p:tav>
                                      </p:tavLst>
                                    </p:anim>
                                    <p:anim calcmode="lin" valueType="num">
                                      <p:cBhvr additive="base">
                                        <p:cTn id="14" dur="500" fill="hold"/>
                                        <p:tgtEl>
                                          <p:spTgt spid="5406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40703"/>
                                        </p:tgtEl>
                                        <p:attrNameLst>
                                          <p:attrName>style.visibility</p:attrName>
                                        </p:attrNameLst>
                                      </p:cBhvr>
                                      <p:to>
                                        <p:strVal val="visible"/>
                                      </p:to>
                                    </p:set>
                                    <p:anim calcmode="lin" valueType="num">
                                      <p:cBhvr additive="base">
                                        <p:cTn id="19" dur="500" fill="hold"/>
                                        <p:tgtEl>
                                          <p:spTgt spid="540703"/>
                                        </p:tgtEl>
                                        <p:attrNameLst>
                                          <p:attrName>ppt_x</p:attrName>
                                        </p:attrNameLst>
                                      </p:cBhvr>
                                      <p:tavLst>
                                        <p:tav tm="0">
                                          <p:val>
                                            <p:strVal val="0-#ppt_w/2"/>
                                          </p:val>
                                        </p:tav>
                                        <p:tav tm="100000">
                                          <p:val>
                                            <p:strVal val="#ppt_x"/>
                                          </p:val>
                                        </p:tav>
                                      </p:tavLst>
                                    </p:anim>
                                    <p:anim calcmode="lin" valueType="num">
                                      <p:cBhvr additive="base">
                                        <p:cTn id="20" dur="500" fill="hold"/>
                                        <p:tgtEl>
                                          <p:spTgt spid="54070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4" fill="hold" nodeType="clickEffect">
                                  <p:stCondLst>
                                    <p:cond delay="0"/>
                                  </p:stCondLst>
                                  <p:childTnLst>
                                    <p:set>
                                      <p:cBhvr>
                                        <p:cTn id="24" dur="1" fill="hold">
                                          <p:stCondLst>
                                            <p:cond delay="0"/>
                                          </p:stCondLst>
                                        </p:cTn>
                                        <p:tgtEl>
                                          <p:spTgt spid="540704"/>
                                        </p:tgtEl>
                                        <p:attrNameLst>
                                          <p:attrName>style.visibility</p:attrName>
                                        </p:attrNameLst>
                                      </p:cBhvr>
                                      <p:to>
                                        <p:strVal val="visible"/>
                                      </p:to>
                                    </p:set>
                                    <p:animEffect transition="in" filter="wheel(4)">
                                      <p:cBhvr>
                                        <p:cTn id="25" dur="2000"/>
                                        <p:tgtEl>
                                          <p:spTgt spid="540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4" grpId="0"/>
      <p:bldP spid="540675" grpId="0"/>
      <p:bldP spid="54070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55683" name="Rectangle 3"/>
          <p:cNvSpPr/>
          <p:nvPr/>
        </p:nvSpPr>
        <p:spPr>
          <a:xfrm>
            <a:off x="755650" y="1052513"/>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nSpc>
                <a:spcPct val="120000"/>
              </a:lnSpc>
              <a:buClrTx/>
              <a:buSzTx/>
              <a:buFontTx/>
              <a:buNone/>
            </a:pPr>
            <a:r>
              <a:rPr lang="zh-CN" altLang="en-US" sz="2400" b="1" dirty="0">
                <a:solidFill>
                  <a:srgbClr val="990033"/>
                </a:solidFill>
                <a:latin typeface="楷体_GB2312" pitchFamily="49" charset="-122"/>
                <a:ea typeface="楷体_GB2312" pitchFamily="49" charset="-122"/>
              </a:rPr>
              <a:t>例：</a:t>
            </a:r>
            <a:r>
              <a:rPr lang="zh-CN" altLang="en-US" sz="2400" b="1" dirty="0">
                <a:solidFill>
                  <a:srgbClr val="000099"/>
                </a:solidFill>
                <a:latin typeface="楷体_GB2312" pitchFamily="49" charset="-122"/>
                <a:ea typeface="楷体_GB2312" pitchFamily="49" charset="-122"/>
              </a:rPr>
              <a:t>该系统的内存容量为</a:t>
            </a:r>
            <a:r>
              <a:rPr lang="en-US" altLang="zh-CN" sz="2400" b="1" dirty="0">
                <a:solidFill>
                  <a:srgbClr val="000099"/>
                </a:solidFill>
                <a:latin typeface="楷体_GB2312" pitchFamily="49" charset="-122"/>
                <a:ea typeface="楷体_GB2312" pitchFamily="49" charset="-122"/>
              </a:rPr>
              <a:t>256KB</a:t>
            </a:r>
            <a:r>
              <a:rPr lang="zh-CN" altLang="en-US" sz="2400" b="1" dirty="0">
                <a:solidFill>
                  <a:srgbClr val="000099"/>
                </a:solidFill>
                <a:latin typeface="楷体_GB2312" pitchFamily="49" charset="-122"/>
                <a:ea typeface="楷体_GB2312" pitchFamily="49" charset="-122"/>
              </a:rPr>
              <a:t>，操作系统占用低地址的</a:t>
            </a:r>
            <a:r>
              <a:rPr lang="en-US" altLang="zh-CN" sz="2400" b="1" dirty="0">
                <a:solidFill>
                  <a:srgbClr val="000099"/>
                </a:solidFill>
                <a:latin typeface="楷体_GB2312" pitchFamily="49" charset="-122"/>
                <a:ea typeface="楷体_GB2312" pitchFamily="49" charset="-122"/>
              </a:rPr>
              <a:t>40KB</a:t>
            </a:r>
            <a:r>
              <a:rPr lang="zh-CN" altLang="en-US" sz="2400" b="1" dirty="0">
                <a:solidFill>
                  <a:srgbClr val="000099"/>
                </a:solidFill>
                <a:latin typeface="楷体_GB2312" pitchFamily="49" charset="-122"/>
                <a:ea typeface="楷体_GB2312" pitchFamily="49" charset="-122"/>
              </a:rPr>
              <a:t>，其余空间划分成</a:t>
            </a:r>
            <a:r>
              <a:rPr lang="en-US" altLang="zh-CN" sz="2400" b="1" dirty="0">
                <a:solidFill>
                  <a:srgbClr val="000099"/>
                </a:solidFill>
                <a:latin typeface="楷体_GB2312" pitchFamily="49" charset="-122"/>
                <a:ea typeface="楷体_GB2312" pitchFamily="49" charset="-122"/>
              </a:rPr>
              <a:t>5</a:t>
            </a:r>
            <a:r>
              <a:rPr lang="zh-CN" altLang="en-US" sz="2400" b="1" dirty="0">
                <a:solidFill>
                  <a:srgbClr val="000099"/>
                </a:solidFill>
                <a:latin typeface="楷体_GB2312" pitchFamily="49" charset="-122"/>
                <a:ea typeface="楷体_GB2312" pitchFamily="49" charset="-122"/>
              </a:rPr>
              <a:t>个固定大小的分区。</a:t>
            </a:r>
            <a:endParaRPr lang="zh-CN" altLang="en-US" sz="2400" b="1" dirty="0">
              <a:solidFill>
                <a:srgbClr val="000099"/>
              </a:solidFill>
              <a:latin typeface="楷体_GB2312" pitchFamily="49" charset="-122"/>
              <a:ea typeface="楷体_GB2312" pitchFamily="49" charset="-122"/>
            </a:endParaRPr>
          </a:p>
        </p:txBody>
      </p:sp>
      <p:grpSp>
        <p:nvGrpSpPr>
          <p:cNvPr id="455718" name="Group 38"/>
          <p:cNvGrpSpPr/>
          <p:nvPr/>
        </p:nvGrpSpPr>
        <p:grpSpPr>
          <a:xfrm>
            <a:off x="1116013" y="2205038"/>
            <a:ext cx="6781800" cy="4094162"/>
            <a:chOff x="768" y="1728"/>
            <a:chExt cx="4272" cy="2579"/>
          </a:xfrm>
        </p:grpSpPr>
        <p:graphicFrame>
          <p:nvGraphicFramePr>
            <p:cNvPr id="43013" name="Object 35"/>
            <p:cNvGraphicFramePr>
              <a:graphicFrameLocks noChangeAspect="1"/>
            </p:cNvGraphicFramePr>
            <p:nvPr/>
          </p:nvGraphicFramePr>
          <p:xfrm>
            <a:off x="768" y="1728"/>
            <a:ext cx="4272" cy="2579"/>
          </p:xfrm>
          <a:graphic>
            <a:graphicData uri="http://schemas.openxmlformats.org/presentationml/2006/ole">
              <mc:AlternateContent xmlns:mc="http://schemas.openxmlformats.org/markup-compatibility/2006">
                <mc:Choice xmlns:v="urn:schemas-microsoft-com:vml" Requires="v">
                  <p:oleObj spid="_x0000_s3078" name="" r:id="rId1" imgW="5648325" imgH="3409950" progId="Paint.Picture">
                    <p:embed/>
                  </p:oleObj>
                </mc:Choice>
                <mc:Fallback>
                  <p:oleObj name="" r:id="rId1" imgW="5648325" imgH="3409950" progId="Paint.Picture">
                    <p:embed/>
                    <p:pic>
                      <p:nvPicPr>
                        <p:cNvPr id="0" name="图片 3077"/>
                        <p:cNvPicPr/>
                        <p:nvPr/>
                      </p:nvPicPr>
                      <p:blipFill>
                        <a:blip r:embed="rId2"/>
                        <a:stretch>
                          <a:fillRect/>
                        </a:stretch>
                      </p:blipFill>
                      <p:spPr>
                        <a:xfrm>
                          <a:off x="768" y="1728"/>
                          <a:ext cx="4272" cy="2579"/>
                        </a:xfrm>
                        <a:prstGeom prst="rect">
                          <a:avLst/>
                        </a:prstGeom>
                        <a:noFill/>
                        <a:ln w="38100">
                          <a:noFill/>
                          <a:miter/>
                        </a:ln>
                      </p:spPr>
                    </p:pic>
                  </p:oleObj>
                </mc:Fallback>
              </mc:AlternateContent>
            </a:graphicData>
          </a:graphic>
        </p:graphicFrame>
        <p:sp>
          <p:nvSpPr>
            <p:cNvPr id="43014" name="Text Box 37"/>
            <p:cNvSpPr txBox="1"/>
            <p:nvPr/>
          </p:nvSpPr>
          <p:spPr>
            <a:xfrm>
              <a:off x="3888" y="2736"/>
              <a:ext cx="288" cy="134"/>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400" b="1" dirty="0">
                  <a:solidFill>
                    <a:srgbClr val="000000"/>
                  </a:solidFill>
                  <a:latin typeface="宋体" panose="02010600030101010101" pitchFamily="2" charset="-122"/>
                </a:rPr>
                <a:t> 112K</a:t>
              </a:r>
              <a:endParaRPr lang="en-US" altLang="zh-CN" sz="1400" b="1" dirty="0">
                <a:solidFill>
                  <a:srgbClr val="000000"/>
                </a:solidFill>
                <a:latin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5683"/>
                                        </p:tgtEl>
                                        <p:attrNameLst>
                                          <p:attrName>style.visibility</p:attrName>
                                        </p:attrNameLst>
                                      </p:cBhvr>
                                      <p:to>
                                        <p:strVal val="visible"/>
                                      </p:to>
                                    </p:set>
                                    <p:anim calcmode="lin" valueType="num">
                                      <p:cBhvr additive="base">
                                        <p:cTn id="7" dur="500" fill="hold"/>
                                        <p:tgtEl>
                                          <p:spTgt spid="455683"/>
                                        </p:tgtEl>
                                        <p:attrNameLst>
                                          <p:attrName>ppt_x</p:attrName>
                                        </p:attrNameLst>
                                      </p:cBhvr>
                                      <p:tavLst>
                                        <p:tav tm="0">
                                          <p:val>
                                            <p:strVal val="0-#ppt_w/2"/>
                                          </p:val>
                                        </p:tav>
                                        <p:tav tm="100000">
                                          <p:val>
                                            <p:strVal val="#ppt_x"/>
                                          </p:val>
                                        </p:tav>
                                      </p:tavLst>
                                    </p:anim>
                                    <p:anim calcmode="lin" valueType="num">
                                      <p:cBhvr additive="base">
                                        <p:cTn id="8" dur="500" fill="hold"/>
                                        <p:tgtEl>
                                          <p:spTgt spid="4556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55718"/>
                                        </p:tgtEl>
                                        <p:attrNameLst>
                                          <p:attrName>style.visibility</p:attrName>
                                        </p:attrNameLst>
                                      </p:cBhvr>
                                      <p:to>
                                        <p:strVal val="visible"/>
                                      </p:to>
                                    </p:set>
                                    <p:animEffect transition="in" filter="wipe(left)">
                                      <p:cBhvr>
                                        <p:cTn id="13" dur="500"/>
                                        <p:tgtEl>
                                          <p:spTgt spid="455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56706" name="Rectangle 2"/>
          <p:cNvSpPr/>
          <p:nvPr/>
        </p:nvSpPr>
        <p:spPr>
          <a:xfrm>
            <a:off x="611188" y="836613"/>
            <a:ext cx="8382000" cy="27209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在固定分区方法中，当某个用户程序要装入运行时，向系统提出分配内存的请求，并给出要求存储空间的大小。系统根据用户的请求查询分区说明表，从中找出一个满足要求的，并且是空闲的分区给申请者，然后修改相应的表目的状态位</a:t>
            </a: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即把状态位置为</a:t>
            </a:r>
            <a:r>
              <a:rPr lang="zh-CN" altLang="en-US" sz="2400" b="1" dirty="0">
                <a:solidFill>
                  <a:srgbClr val="000099"/>
                </a:solidFill>
                <a:ea typeface="楷体_GB2312" pitchFamily="49" charset="-122"/>
              </a:rPr>
              <a:t>“</a:t>
            </a:r>
            <a:r>
              <a:rPr lang="zh-CN" altLang="en-US" sz="2400" b="1" dirty="0">
                <a:solidFill>
                  <a:srgbClr val="000099"/>
                </a:solidFill>
                <a:latin typeface="楷体_GB2312" pitchFamily="49" charset="-122"/>
                <a:ea typeface="楷体_GB2312" pitchFamily="49" charset="-122"/>
              </a:rPr>
              <a:t>正在使用</a:t>
            </a:r>
            <a:r>
              <a:rPr lang="zh-CN" altLang="en-US" sz="2400" b="1" dirty="0">
                <a:solidFill>
                  <a:srgbClr val="000099"/>
                </a:solidFill>
                <a:ea typeface="楷体_GB2312" pitchFamily="49" charset="-122"/>
              </a:rPr>
              <a:t>”</a:t>
            </a:r>
            <a:r>
              <a:rPr lang="zh-CN" altLang="en-US" sz="2400" b="1" dirty="0">
                <a:solidFill>
                  <a:srgbClr val="000099"/>
                </a:solidFill>
                <a:latin typeface="楷体_GB2312" pitchFamily="49" charset="-122"/>
                <a:ea typeface="楷体_GB2312" pitchFamily="49" charset="-122"/>
              </a:rPr>
              <a:t>，最后向用户返回分区号或分区首地址。</a:t>
            </a:r>
            <a:endParaRPr lang="zh-CN" altLang="en-US" sz="2400" b="1" dirty="0">
              <a:solidFill>
                <a:srgbClr val="000099"/>
              </a:solidFill>
              <a:latin typeface="楷体_GB2312" pitchFamily="49" charset="-122"/>
              <a:ea typeface="楷体_GB2312" pitchFamily="49" charset="-122"/>
            </a:endParaRPr>
          </a:p>
        </p:txBody>
      </p:sp>
      <p:sp>
        <p:nvSpPr>
          <p:cNvPr id="456707" name="Rectangle 3"/>
          <p:cNvSpPr/>
          <p:nvPr/>
        </p:nvSpPr>
        <p:spPr>
          <a:xfrm>
            <a:off x="755650" y="3573463"/>
            <a:ext cx="7770813" cy="20637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990033"/>
                </a:solidFill>
                <a:latin typeface="楷体_GB2312" pitchFamily="49" charset="-122"/>
                <a:ea typeface="楷体_GB2312" pitchFamily="49" charset="-122"/>
              </a:rPr>
              <a:t>3. </a:t>
            </a:r>
            <a:r>
              <a:rPr lang="zh-CN" altLang="en-US" sz="2400" b="1" dirty="0">
                <a:solidFill>
                  <a:srgbClr val="990033"/>
                </a:solidFill>
                <a:latin typeface="楷体_GB2312" pitchFamily="49" charset="-122"/>
                <a:ea typeface="楷体_GB2312" pitchFamily="49" charset="-122"/>
              </a:rPr>
              <a:t>地址转换与存储保护</a:t>
            </a:r>
            <a:endParaRPr lang="zh-CN" altLang="en-US" sz="2400" b="1" dirty="0">
              <a:solidFill>
                <a:srgbClr val="990033"/>
              </a:solidFill>
              <a:latin typeface="楷体_GB2312" pitchFamily="49" charset="-122"/>
              <a:ea typeface="楷体_GB2312" pitchFamily="49" charset="-122"/>
            </a:endParaRPr>
          </a:p>
          <a:p>
            <a:pPr marL="0" lvl="0" indent="0" algn="just" eaLnBrk="1" hangingPunct="1">
              <a:lnSpc>
                <a:spcPct val="120000"/>
              </a:lnSpc>
              <a:buClrTx/>
              <a:buSzTx/>
              <a:buFontTx/>
              <a:buNone/>
            </a:pPr>
            <a:r>
              <a:rPr lang="zh-CN" altLang="en-US" sz="2400" b="1" dirty="0">
                <a:solidFill>
                  <a:srgbClr val="000099"/>
                </a:solidFill>
                <a:latin typeface="楷体_GB2312" pitchFamily="49" charset="-122"/>
                <a:ea typeface="楷体_GB2312" pitchFamily="49" charset="-122"/>
              </a:rPr>
              <a:t>地址转换：静态重定位。</a:t>
            </a:r>
            <a:endParaRPr lang="zh-CN" altLang="en-US" sz="2400" b="1" dirty="0">
              <a:solidFill>
                <a:srgbClr val="000099"/>
              </a:solidFill>
              <a:latin typeface="楷体_GB2312" pitchFamily="49" charset="-122"/>
              <a:ea typeface="楷体_GB2312" pitchFamily="49" charset="-122"/>
            </a:endParaRPr>
          </a:p>
          <a:p>
            <a:pPr marL="0" lvl="0" indent="0" algn="just" eaLnBrk="1" hangingPunct="1">
              <a:lnSpc>
                <a:spcPct val="120000"/>
              </a:lnSpc>
              <a:buClrTx/>
              <a:buSzTx/>
              <a:buFontTx/>
              <a:buNone/>
            </a:pPr>
            <a:r>
              <a:rPr lang="zh-CN" altLang="en-US" sz="2400" b="1" dirty="0">
                <a:solidFill>
                  <a:srgbClr val="000099"/>
                </a:solidFill>
                <a:latin typeface="楷体_GB2312" pitchFamily="49" charset="-122"/>
                <a:ea typeface="楷体_GB2312" pitchFamily="49" charset="-122"/>
              </a:rPr>
              <a:t>存储保护：上下界寄存器法。</a:t>
            </a:r>
            <a:endParaRPr lang="zh-CN" altLang="en-US" sz="2400" b="1" dirty="0">
              <a:solidFill>
                <a:srgbClr val="000099"/>
              </a:solidFill>
              <a:latin typeface="楷体_GB2312" pitchFamily="49" charset="-122"/>
              <a:ea typeface="楷体_GB2312" pitchFamily="49" charset="-122"/>
            </a:endParaRPr>
          </a:p>
          <a:p>
            <a:pPr marL="0" lvl="0" indent="0" algn="just" eaLnBrk="1" hangingPunct="1">
              <a:lnSpc>
                <a:spcPct val="120000"/>
              </a:lnSpc>
              <a:buClrTx/>
              <a:buSzTx/>
              <a:buFontTx/>
              <a:buNone/>
            </a:pPr>
            <a:r>
              <a:rPr lang="zh-CN" altLang="en-US" sz="2400" b="1" dirty="0">
                <a:solidFill>
                  <a:srgbClr val="000099"/>
                </a:solidFill>
                <a:latin typeface="楷体_GB2312" pitchFamily="49" charset="-122"/>
                <a:ea typeface="楷体_GB2312" pitchFamily="49" charset="-122"/>
              </a:rPr>
              <a:t>下界地址 ≤ 物理地址  ≤ 上界地址</a:t>
            </a:r>
            <a:endParaRPr lang="zh-CN" altLang="en-US" sz="2400" b="1" dirty="0">
              <a:solidFill>
                <a:srgbClr val="000099"/>
              </a:solidFill>
              <a:latin typeface="楷体_GB2312" pitchFamily="49" charset="-122"/>
              <a:ea typeface="楷体_GB2312" pitchFamily="49" charset="-122"/>
            </a:endParaRPr>
          </a:p>
        </p:txBody>
      </p:sp>
      <p:sp>
        <p:nvSpPr>
          <p:cNvPr id="456708" name="Rectangle 4"/>
          <p:cNvSpPr/>
          <p:nvPr/>
        </p:nvSpPr>
        <p:spPr>
          <a:xfrm>
            <a:off x="762000" y="5734050"/>
            <a:ext cx="762635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990033"/>
                </a:solidFill>
                <a:latin typeface="楷体_GB2312" pitchFamily="49" charset="-122"/>
                <a:ea typeface="楷体_GB2312" pitchFamily="49" charset="-122"/>
              </a:rPr>
              <a:t>4. </a:t>
            </a:r>
            <a:r>
              <a:rPr lang="zh-CN" altLang="en-US" sz="2400" b="1" dirty="0">
                <a:solidFill>
                  <a:srgbClr val="990033"/>
                </a:solidFill>
                <a:latin typeface="楷体_GB2312" pitchFamily="49" charset="-122"/>
                <a:ea typeface="楷体_GB2312" pitchFamily="49" charset="-122"/>
              </a:rPr>
              <a:t>特点：</a:t>
            </a:r>
            <a:r>
              <a:rPr lang="zh-CN" altLang="en-US" sz="2400" b="1" dirty="0">
                <a:solidFill>
                  <a:srgbClr val="000099"/>
                </a:solidFill>
                <a:latin typeface="楷体_GB2312" pitchFamily="49" charset="-122"/>
                <a:ea typeface="楷体_GB2312" pitchFamily="49" charset="-122"/>
              </a:rPr>
              <a:t>简单、空间浪费较大。</a:t>
            </a:r>
            <a:endParaRPr lang="zh-CN" altLang="en-US" sz="2400" b="1" dirty="0">
              <a:solidFill>
                <a:srgbClr val="000099"/>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6706"/>
                                        </p:tgtEl>
                                        <p:attrNameLst>
                                          <p:attrName>style.visibility</p:attrName>
                                        </p:attrNameLst>
                                      </p:cBhvr>
                                      <p:to>
                                        <p:strVal val="visible"/>
                                      </p:to>
                                    </p:set>
                                    <p:anim calcmode="lin" valueType="num">
                                      <p:cBhvr additive="base">
                                        <p:cTn id="7" dur="500" fill="hold"/>
                                        <p:tgtEl>
                                          <p:spTgt spid="456706"/>
                                        </p:tgtEl>
                                        <p:attrNameLst>
                                          <p:attrName>ppt_x</p:attrName>
                                        </p:attrNameLst>
                                      </p:cBhvr>
                                      <p:tavLst>
                                        <p:tav tm="0">
                                          <p:val>
                                            <p:strVal val="0-#ppt_w/2"/>
                                          </p:val>
                                        </p:tav>
                                        <p:tav tm="100000">
                                          <p:val>
                                            <p:strVal val="#ppt_x"/>
                                          </p:val>
                                        </p:tav>
                                      </p:tavLst>
                                    </p:anim>
                                    <p:anim calcmode="lin" valueType="num">
                                      <p:cBhvr additive="base">
                                        <p:cTn id="8" dur="500" fill="hold"/>
                                        <p:tgtEl>
                                          <p:spTgt spid="45670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56707"/>
                                        </p:tgtEl>
                                        <p:attrNameLst>
                                          <p:attrName>style.visibility</p:attrName>
                                        </p:attrNameLst>
                                      </p:cBhvr>
                                      <p:to>
                                        <p:strVal val="visible"/>
                                      </p:to>
                                    </p:set>
                                    <p:anim calcmode="lin" valueType="num">
                                      <p:cBhvr additive="base">
                                        <p:cTn id="13" dur="500" fill="hold"/>
                                        <p:tgtEl>
                                          <p:spTgt spid="456707"/>
                                        </p:tgtEl>
                                        <p:attrNameLst>
                                          <p:attrName>ppt_x</p:attrName>
                                        </p:attrNameLst>
                                      </p:cBhvr>
                                      <p:tavLst>
                                        <p:tav tm="0">
                                          <p:val>
                                            <p:strVal val="0-#ppt_w/2"/>
                                          </p:val>
                                        </p:tav>
                                        <p:tav tm="100000">
                                          <p:val>
                                            <p:strVal val="#ppt_x"/>
                                          </p:val>
                                        </p:tav>
                                      </p:tavLst>
                                    </p:anim>
                                    <p:anim calcmode="lin" valueType="num">
                                      <p:cBhvr additive="base">
                                        <p:cTn id="14" dur="500" fill="hold"/>
                                        <p:tgtEl>
                                          <p:spTgt spid="45670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56708"/>
                                        </p:tgtEl>
                                        <p:attrNameLst>
                                          <p:attrName>style.visibility</p:attrName>
                                        </p:attrNameLst>
                                      </p:cBhvr>
                                      <p:to>
                                        <p:strVal val="visible"/>
                                      </p:to>
                                    </p:set>
                                    <p:anim calcmode="lin" valueType="num">
                                      <p:cBhvr additive="base">
                                        <p:cTn id="19" dur="500" fill="hold"/>
                                        <p:tgtEl>
                                          <p:spTgt spid="456708"/>
                                        </p:tgtEl>
                                        <p:attrNameLst>
                                          <p:attrName>ppt_x</p:attrName>
                                        </p:attrNameLst>
                                      </p:cBhvr>
                                      <p:tavLst>
                                        <p:tav tm="0">
                                          <p:val>
                                            <p:strVal val="0-#ppt_w/2"/>
                                          </p:val>
                                        </p:tav>
                                        <p:tav tm="100000">
                                          <p:val>
                                            <p:strVal val="#ppt_x"/>
                                          </p:val>
                                        </p:tav>
                                      </p:tavLst>
                                    </p:anim>
                                    <p:anim calcmode="lin" valueType="num">
                                      <p:cBhvr additive="base">
                                        <p:cTn id="20" dur="500" fill="hold"/>
                                        <p:tgtEl>
                                          <p:spTgt spid="4567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06" grpId="0"/>
      <p:bldP spid="456707" grpId="0"/>
      <p:bldP spid="45670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57730" name="Rectangle 2"/>
          <p:cNvSpPr/>
          <p:nvPr/>
        </p:nvSpPr>
        <p:spPr>
          <a:xfrm>
            <a:off x="609600" y="381000"/>
            <a:ext cx="5330825" cy="519113"/>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800" dirty="0">
                <a:solidFill>
                  <a:srgbClr val="9900CC"/>
                </a:solidFill>
                <a:latin typeface="隶书" panose="02010509060101010101" pitchFamily="49" charset="-122"/>
                <a:ea typeface="隶书" panose="02010509060101010101" pitchFamily="49" charset="-122"/>
              </a:rPr>
              <a:t>（三）可变分区</a:t>
            </a:r>
            <a:r>
              <a:rPr lang="en-US" altLang="zh-CN" sz="2800" dirty="0">
                <a:solidFill>
                  <a:srgbClr val="9900CC"/>
                </a:solidFill>
                <a:latin typeface="隶书" panose="02010509060101010101" pitchFamily="49" charset="-122"/>
                <a:ea typeface="隶书" panose="02010509060101010101" pitchFamily="49" charset="-122"/>
              </a:rPr>
              <a:t>(</a:t>
            </a:r>
            <a:r>
              <a:rPr lang="zh-CN" altLang="en-US" sz="2800" dirty="0">
                <a:solidFill>
                  <a:srgbClr val="9900CC"/>
                </a:solidFill>
                <a:latin typeface="隶书" panose="02010509060101010101" pitchFamily="49" charset="-122"/>
                <a:ea typeface="隶书" panose="02010509060101010101" pitchFamily="49" charset="-122"/>
              </a:rPr>
              <a:t>动态分区</a:t>
            </a:r>
            <a:r>
              <a:rPr lang="en-US" altLang="zh-CN" sz="2800" dirty="0">
                <a:solidFill>
                  <a:srgbClr val="9900CC"/>
                </a:solidFill>
                <a:latin typeface="隶书" panose="02010509060101010101" pitchFamily="49" charset="-122"/>
                <a:ea typeface="隶书" panose="02010509060101010101" pitchFamily="49" charset="-122"/>
              </a:rPr>
              <a:t>)</a:t>
            </a:r>
            <a:endParaRPr lang="en-US" altLang="zh-CN" sz="2800" dirty="0">
              <a:solidFill>
                <a:srgbClr val="9900CC"/>
              </a:solidFill>
              <a:latin typeface="隶书" panose="02010509060101010101" pitchFamily="49" charset="-122"/>
              <a:ea typeface="隶书" panose="02010509060101010101" pitchFamily="49" charset="-122"/>
            </a:endParaRPr>
          </a:p>
        </p:txBody>
      </p:sp>
      <p:sp>
        <p:nvSpPr>
          <p:cNvPr id="457731" name="Rectangle 3"/>
          <p:cNvSpPr/>
          <p:nvPr/>
        </p:nvSpPr>
        <p:spPr>
          <a:xfrm>
            <a:off x="609600" y="914400"/>
            <a:ext cx="82296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6600"/>
                </a:solidFill>
                <a:latin typeface="楷体_GB2312" pitchFamily="49" charset="-122"/>
                <a:ea typeface="楷体_GB2312" pitchFamily="49" charset="-122"/>
              </a:rPr>
              <a:t>1.</a:t>
            </a:r>
            <a:r>
              <a:rPr lang="zh-CN" altLang="en-US" sz="2400" b="1" dirty="0">
                <a:solidFill>
                  <a:srgbClr val="006600"/>
                </a:solidFill>
                <a:latin typeface="楷体_GB2312" pitchFamily="49" charset="-122"/>
                <a:ea typeface="楷体_GB2312" pitchFamily="49" charset="-122"/>
              </a:rPr>
              <a:t>基本原理</a:t>
            </a:r>
            <a:r>
              <a:rPr lang="zh-CN" altLang="en-US" sz="2400" b="1" dirty="0">
                <a:solidFill>
                  <a:srgbClr val="000099"/>
                </a:solidFill>
                <a:latin typeface="楷体_GB2312" pitchFamily="49" charset="-122"/>
                <a:ea typeface="楷体_GB2312" pitchFamily="49" charset="-122"/>
              </a:rPr>
              <a:t>：是指在系统运行的过程中，当作业要求装入主存储器时，根据作业需要的主存容量（动态地）划分出一个分区分配给该作业，使分区的大小刚好与作业的大小相等。</a:t>
            </a:r>
            <a:endParaRPr lang="zh-CN" altLang="en-US" sz="2400" b="1" dirty="0">
              <a:solidFill>
                <a:srgbClr val="000099"/>
              </a:solidFill>
              <a:latin typeface="楷体_GB2312" pitchFamily="49" charset="-122"/>
              <a:ea typeface="楷体_GB2312" pitchFamily="49" charset="-122"/>
            </a:endParaRPr>
          </a:p>
        </p:txBody>
      </p:sp>
      <p:sp>
        <p:nvSpPr>
          <p:cNvPr id="457774" name="Rectangle 46"/>
          <p:cNvSpPr/>
          <p:nvPr/>
        </p:nvSpPr>
        <p:spPr>
          <a:xfrm>
            <a:off x="685800" y="2362200"/>
            <a:ext cx="3476625" cy="457200"/>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561975" algn="l"/>
              </a:tabLst>
            </a:pPr>
            <a:r>
              <a:rPr lang="en-US" altLang="zh-CN" sz="2400" b="1" dirty="0">
                <a:solidFill>
                  <a:srgbClr val="006600"/>
                </a:solidFill>
                <a:ea typeface="楷体_GB2312" pitchFamily="49" charset="-122"/>
              </a:rPr>
              <a:t>2.</a:t>
            </a:r>
            <a:r>
              <a:rPr lang="zh-CN" altLang="en-US" sz="2400" b="1" dirty="0">
                <a:solidFill>
                  <a:srgbClr val="006600"/>
                </a:solidFill>
                <a:ea typeface="楷体_GB2312" pitchFamily="49" charset="-122"/>
              </a:rPr>
              <a:t>主存空间的分配与回收</a:t>
            </a:r>
            <a:endParaRPr lang="zh-CN" altLang="en-US" sz="2400" b="1" dirty="0">
              <a:solidFill>
                <a:srgbClr val="006600"/>
              </a:solidFill>
              <a:ea typeface="楷体_GB2312" pitchFamily="49" charset="-122"/>
            </a:endParaRPr>
          </a:p>
        </p:txBody>
      </p:sp>
      <p:sp>
        <p:nvSpPr>
          <p:cNvPr id="457775" name="Rectangle 47"/>
          <p:cNvSpPr/>
          <p:nvPr/>
        </p:nvSpPr>
        <p:spPr>
          <a:xfrm>
            <a:off x="762000" y="2819400"/>
            <a:ext cx="5905500" cy="457200"/>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600075" algn="l"/>
              </a:tabLst>
            </a:pPr>
            <a:r>
              <a:rPr lang="zh-CN" altLang="en-US" sz="2400" b="1" dirty="0">
                <a:solidFill>
                  <a:srgbClr val="000099"/>
                </a:solidFill>
                <a:ea typeface="楷体_GB2312" pitchFamily="49" charset="-122"/>
              </a:rPr>
              <a:t>分配结构： （</a:t>
            </a:r>
            <a:r>
              <a:rPr lang="en-US" altLang="zh-CN" sz="2400" b="1" dirty="0">
                <a:solidFill>
                  <a:srgbClr val="000099"/>
                </a:solidFill>
                <a:ea typeface="楷体_GB2312" pitchFamily="49" charset="-122"/>
              </a:rPr>
              <a:t>1</a:t>
            </a:r>
            <a:r>
              <a:rPr lang="zh-CN" altLang="en-US" sz="2400" b="1" dirty="0">
                <a:solidFill>
                  <a:srgbClr val="000099"/>
                </a:solidFill>
                <a:ea typeface="楷体_GB2312" pitchFamily="49" charset="-122"/>
              </a:rPr>
              <a:t>）空闲区说明表（</a:t>
            </a:r>
            <a:r>
              <a:rPr lang="en-US" altLang="zh-CN" sz="2400" b="1" dirty="0">
                <a:solidFill>
                  <a:srgbClr val="000099"/>
                </a:solidFill>
                <a:ea typeface="楷体_GB2312" pitchFamily="49" charset="-122"/>
              </a:rPr>
              <a:t>FBT</a:t>
            </a:r>
            <a:r>
              <a:rPr lang="zh-CN" altLang="en-US" sz="2400" b="1" dirty="0">
                <a:solidFill>
                  <a:srgbClr val="000099"/>
                </a:solidFill>
                <a:ea typeface="楷体_GB2312" pitchFamily="49" charset="-122"/>
              </a:rPr>
              <a:t>）</a:t>
            </a:r>
            <a:r>
              <a:rPr lang="zh-CN" altLang="en-US" sz="2400" dirty="0">
                <a:ea typeface="楷体_GB2312" pitchFamily="49" charset="-122"/>
              </a:rPr>
              <a:t>。</a:t>
            </a:r>
            <a:endParaRPr lang="zh-CN" altLang="en-US" sz="2400" dirty="0">
              <a:ea typeface="楷体_GB2312" pitchFamily="49" charset="-122"/>
            </a:endParaRPr>
          </a:p>
        </p:txBody>
      </p:sp>
      <p:graphicFrame>
        <p:nvGraphicFramePr>
          <p:cNvPr id="457805" name="Group 77"/>
          <p:cNvGraphicFramePr>
            <a:graphicFrameLocks noGrp="1"/>
          </p:cNvGraphicFramePr>
          <p:nvPr/>
        </p:nvGraphicFramePr>
        <p:xfrm>
          <a:off x="2514600" y="3352800"/>
          <a:ext cx="4679950" cy="457200"/>
        </p:xfrm>
        <a:graphic>
          <a:graphicData uri="http://schemas.openxmlformats.org/drawingml/2006/table">
            <a:tbl>
              <a:tblPr/>
              <a:tblGrid>
                <a:gridCol w="839788"/>
                <a:gridCol w="1439862"/>
                <a:gridCol w="1441450"/>
                <a:gridCol w="958850"/>
              </a:tblGrid>
              <a:tr h="431800">
                <a:tc>
                  <a:txBody>
                    <a:bodyPr/>
                    <a:lstStyle>
                      <a:lvl1pPr>
                        <a:spcBef>
                          <a:spcPct val="20000"/>
                        </a:spcBef>
                        <a:buClr>
                          <a:srgbClr val="A50021"/>
                        </a:buClr>
                        <a:buSzPct val="75000"/>
                        <a:buFont typeface="Wingdings" panose="05000000000000000000" pitchFamily="2" charset="2"/>
                        <a:tabLst>
                          <a:tab pos="600075" algn="l"/>
                        </a:tabLst>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tabLst>
                          <a:tab pos="600075" algn="l"/>
                        </a:tabLst>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tabLst>
                          <a:tab pos="600075" algn="l"/>
                        </a:tabLst>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600075" algn="l"/>
                        </a:tabLst>
                      </a:pPr>
                      <a:r>
                        <a:rPr kumimoji="0" lang="zh-CN" altLang="en-US" sz="2400" b="1" i="0" u="none" strike="noStrike" cap="none" normalizeH="0" baseline="0">
                          <a:ln>
                            <a:noFill/>
                          </a:ln>
                          <a:solidFill>
                            <a:srgbClr val="990033"/>
                          </a:solidFill>
                          <a:effectLst/>
                          <a:latin typeface="Times New Roman" panose="02020603050405020304" pitchFamily="18" charset="0"/>
                          <a:ea typeface="楷体_GB2312" pitchFamily="49" charset="-122"/>
                          <a:cs typeface="Times New Roman" panose="02020603050405020304" pitchFamily="18" charset="0"/>
                        </a:rPr>
                        <a:t>区号</a:t>
                      </a:r>
                      <a:endParaRPr kumimoji="0" lang="zh-CN" altLang="en-US" sz="2400" b="1" i="0" u="none" strike="noStrike" cap="none" normalizeH="0" baseline="0">
                        <a:ln>
                          <a:noFill/>
                        </a:ln>
                        <a:solidFill>
                          <a:srgbClr val="990033"/>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tabLst>
                          <a:tab pos="600075" algn="l"/>
                        </a:tabLst>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tabLst>
                          <a:tab pos="600075" algn="l"/>
                        </a:tabLst>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tabLst>
                          <a:tab pos="600075" algn="l"/>
                        </a:tabLst>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600075" algn="l"/>
                        </a:tabLst>
                      </a:pPr>
                      <a:r>
                        <a:rPr kumimoji="0" lang="zh-CN" altLang="en-US" sz="2400" b="1" i="0" u="none" strike="noStrike" cap="none" normalizeH="0" baseline="0">
                          <a:ln>
                            <a:noFill/>
                          </a:ln>
                          <a:solidFill>
                            <a:srgbClr val="990033"/>
                          </a:solidFill>
                          <a:effectLst/>
                          <a:latin typeface="Times New Roman" panose="02020603050405020304" pitchFamily="18" charset="0"/>
                          <a:ea typeface="楷体_GB2312" pitchFamily="49" charset="-122"/>
                          <a:cs typeface="Times New Roman" panose="02020603050405020304" pitchFamily="18" charset="0"/>
                        </a:rPr>
                        <a:t>分区长度</a:t>
                      </a:r>
                      <a:endParaRPr kumimoji="0" lang="zh-CN" altLang="en-US" sz="2400" b="1" i="0" u="none" strike="noStrike" cap="none" normalizeH="0" baseline="0">
                        <a:ln>
                          <a:noFill/>
                        </a:ln>
                        <a:solidFill>
                          <a:srgbClr val="990033"/>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tabLst>
                          <a:tab pos="600075" algn="l"/>
                        </a:tabLst>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tabLst>
                          <a:tab pos="600075" algn="l"/>
                        </a:tabLst>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tabLst>
                          <a:tab pos="600075" algn="l"/>
                        </a:tabLst>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600075" algn="l"/>
                        </a:tabLst>
                      </a:pPr>
                      <a:r>
                        <a:rPr kumimoji="0" lang="zh-CN" altLang="en-US" sz="2400" b="1" i="0" u="none" strike="noStrike" cap="none" normalizeH="0" baseline="0">
                          <a:ln>
                            <a:noFill/>
                          </a:ln>
                          <a:solidFill>
                            <a:srgbClr val="990033"/>
                          </a:solidFill>
                          <a:effectLst/>
                          <a:latin typeface="Times New Roman" panose="02020603050405020304" pitchFamily="18" charset="0"/>
                          <a:ea typeface="楷体_GB2312" pitchFamily="49" charset="-122"/>
                          <a:cs typeface="Times New Roman" panose="02020603050405020304" pitchFamily="18" charset="0"/>
                        </a:rPr>
                        <a:t>起始地址</a:t>
                      </a:r>
                      <a:endParaRPr kumimoji="0" lang="zh-CN" altLang="en-US" sz="2400" b="1" i="0" u="none" strike="noStrike" cap="none" normalizeH="0" baseline="0">
                        <a:ln>
                          <a:noFill/>
                        </a:ln>
                        <a:solidFill>
                          <a:srgbClr val="990033"/>
                        </a:solidFill>
                        <a:effectLst/>
                        <a:latin typeface="Times New Roman" panose="02020603050405020304" pitchFamily="18"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tabLst>
                          <a:tab pos="600075" algn="l"/>
                        </a:tabLst>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tabLst>
                          <a:tab pos="600075" algn="l"/>
                        </a:tabLst>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tabLst>
                          <a:tab pos="600075" algn="l"/>
                        </a:tabLst>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tabLst>
                          <a:tab pos="600075" algn="l"/>
                        </a:tabLs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600075" algn="l"/>
                        </a:tabLst>
                      </a:pPr>
                      <a:r>
                        <a:rPr kumimoji="0" lang="zh-CN" altLang="en-US" sz="2400" b="1" i="0" u="none" strike="noStrike" cap="none" normalizeH="0" baseline="0">
                          <a:ln>
                            <a:noFill/>
                          </a:ln>
                          <a:solidFill>
                            <a:srgbClr val="990033"/>
                          </a:solidFill>
                          <a:effectLst/>
                          <a:latin typeface="Times New Roman" panose="02020603050405020304" pitchFamily="18" charset="0"/>
                          <a:ea typeface="楷体_GB2312" pitchFamily="49" charset="-122"/>
                          <a:cs typeface="Times New Roman" panose="02020603050405020304" pitchFamily="18" charset="0"/>
                        </a:rPr>
                        <a:t>状态</a:t>
                      </a:r>
                      <a:endParaRPr kumimoji="0" lang="zh-CN" altLang="en-US" sz="2400" b="1" i="0" u="none" strike="noStrike" cap="none" normalizeH="0" baseline="0">
                        <a:ln>
                          <a:noFill/>
                        </a:ln>
                        <a:solidFill>
                          <a:srgbClr val="990033"/>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grpSp>
        <p:nvGrpSpPr>
          <p:cNvPr id="457806" name="Group 78"/>
          <p:cNvGrpSpPr/>
          <p:nvPr/>
        </p:nvGrpSpPr>
        <p:grpSpPr>
          <a:xfrm>
            <a:off x="2438400" y="3962400"/>
            <a:ext cx="5184775" cy="2532063"/>
            <a:chOff x="2289" y="2748"/>
            <a:chExt cx="5145" cy="4150"/>
          </a:xfrm>
        </p:grpSpPr>
        <p:grpSp>
          <p:nvGrpSpPr>
            <p:cNvPr id="45078" name="Group 79"/>
            <p:cNvGrpSpPr/>
            <p:nvPr/>
          </p:nvGrpSpPr>
          <p:grpSpPr>
            <a:xfrm>
              <a:off x="2289" y="2748"/>
              <a:ext cx="4830" cy="3611"/>
              <a:chOff x="1344" y="2805"/>
              <a:chExt cx="4830" cy="3611"/>
            </a:xfrm>
          </p:grpSpPr>
          <p:sp>
            <p:nvSpPr>
              <p:cNvPr id="45080" name="Rectangle 80"/>
              <p:cNvSpPr/>
              <p:nvPr/>
            </p:nvSpPr>
            <p:spPr>
              <a:xfrm>
                <a:off x="3444" y="2805"/>
                <a:ext cx="735" cy="500"/>
              </a:xfrm>
              <a:prstGeom prst="rect">
                <a:avLst/>
              </a:prstGeom>
              <a:solidFill>
                <a:srgbClr val="FFFFFF">
                  <a:alpha val="0"/>
                </a:srgbClr>
              </a:solidFill>
              <a:ln w="9525" cap="flat" cmpd="sng">
                <a:solidFill>
                  <a:srgbClr val="FFFF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000" b="1" dirty="0">
                    <a:solidFill>
                      <a:srgbClr val="990033"/>
                    </a:solidFill>
                    <a:latin typeface="楷体_GB2312" pitchFamily="49" charset="-122"/>
                    <a:ea typeface="楷体_GB2312" pitchFamily="49" charset="-122"/>
                  </a:rPr>
                  <a:t>  40K</a:t>
                </a:r>
                <a:endParaRPr lang="en-US" altLang="zh-CN" sz="2000" b="1" dirty="0">
                  <a:solidFill>
                    <a:srgbClr val="990033"/>
                  </a:solidFill>
                  <a:latin typeface="楷体_GB2312" pitchFamily="49" charset="-122"/>
                  <a:ea typeface="楷体_GB2312" pitchFamily="49" charset="-122"/>
                </a:endParaRPr>
              </a:p>
            </p:txBody>
          </p:sp>
          <p:sp>
            <p:nvSpPr>
              <p:cNvPr id="45081" name="Rectangle 81"/>
              <p:cNvSpPr/>
              <p:nvPr/>
            </p:nvSpPr>
            <p:spPr>
              <a:xfrm>
                <a:off x="1344" y="2950"/>
                <a:ext cx="1155" cy="500"/>
              </a:xfrm>
              <a:prstGeom prst="rect">
                <a:avLst/>
              </a:prstGeom>
              <a:solidFill>
                <a:srgbClr val="FFFFFF">
                  <a:alpha val="0"/>
                </a:srgbClr>
              </a:solidFill>
              <a:ln w="9525" cap="flat" cmpd="sng">
                <a:solidFill>
                  <a:srgbClr val="FFFF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000" b="1" dirty="0">
                    <a:solidFill>
                      <a:srgbClr val="990033"/>
                    </a:solidFill>
                    <a:latin typeface="楷体_GB2312" pitchFamily="49" charset="-122"/>
                    <a:ea typeface="楷体_GB2312" pitchFamily="49" charset="-122"/>
                  </a:rPr>
                  <a:t>   </a:t>
                </a:r>
                <a:endParaRPr lang="en-US" altLang="zh-CN" sz="2000" b="1" dirty="0">
                  <a:solidFill>
                    <a:srgbClr val="990033"/>
                  </a:solidFill>
                  <a:latin typeface="楷体_GB2312" pitchFamily="49" charset="-122"/>
                  <a:ea typeface="楷体_GB2312" pitchFamily="49" charset="-122"/>
                </a:endParaRPr>
              </a:p>
            </p:txBody>
          </p:sp>
          <p:sp>
            <p:nvSpPr>
              <p:cNvPr id="45082" name="Rectangle 82"/>
              <p:cNvSpPr/>
              <p:nvPr/>
            </p:nvSpPr>
            <p:spPr>
              <a:xfrm>
                <a:off x="2604" y="2973"/>
                <a:ext cx="840" cy="50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990033"/>
                    </a:solidFill>
                    <a:latin typeface="楷体_GB2312" pitchFamily="49" charset="-122"/>
                    <a:ea typeface="楷体_GB2312" pitchFamily="49" charset="-122"/>
                  </a:rPr>
                  <a:t>40K</a:t>
                </a:r>
                <a:endParaRPr lang="en-US" altLang="zh-CN" sz="2000" b="1" dirty="0">
                  <a:solidFill>
                    <a:srgbClr val="990033"/>
                  </a:solidFill>
                  <a:latin typeface="楷体_GB2312" pitchFamily="49" charset="-122"/>
                  <a:ea typeface="楷体_GB2312" pitchFamily="49" charset="-122"/>
                </a:endParaRPr>
              </a:p>
            </p:txBody>
          </p:sp>
          <p:sp>
            <p:nvSpPr>
              <p:cNvPr id="45083" name="Rectangle 83"/>
              <p:cNvSpPr/>
              <p:nvPr/>
            </p:nvSpPr>
            <p:spPr>
              <a:xfrm>
                <a:off x="4179" y="2916"/>
                <a:ext cx="840" cy="50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000" b="1" dirty="0">
                    <a:solidFill>
                      <a:srgbClr val="990033"/>
                    </a:solidFill>
                    <a:latin typeface="楷体_GB2312" pitchFamily="49" charset="-122"/>
                    <a:ea typeface="楷体_GB2312" pitchFamily="49" charset="-122"/>
                  </a:rPr>
                  <a:t> 16K</a:t>
                </a:r>
                <a:endParaRPr lang="en-US" altLang="zh-CN" sz="2000" b="1" dirty="0">
                  <a:solidFill>
                    <a:srgbClr val="990033"/>
                  </a:solidFill>
                  <a:latin typeface="楷体_GB2312" pitchFamily="49" charset="-122"/>
                  <a:ea typeface="楷体_GB2312" pitchFamily="49" charset="-122"/>
                </a:endParaRPr>
              </a:p>
            </p:txBody>
          </p:sp>
          <p:sp>
            <p:nvSpPr>
              <p:cNvPr id="45084" name="Rectangle 84"/>
              <p:cNvSpPr/>
              <p:nvPr/>
            </p:nvSpPr>
            <p:spPr>
              <a:xfrm>
                <a:off x="5019" y="2916"/>
                <a:ext cx="840" cy="50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000" b="1" dirty="0">
                    <a:solidFill>
                      <a:srgbClr val="990033"/>
                    </a:solidFill>
                    <a:latin typeface="楷体_GB2312" pitchFamily="49" charset="-122"/>
                    <a:ea typeface="楷体_GB2312" pitchFamily="49" charset="-122"/>
                  </a:rPr>
                  <a:t> 78K</a:t>
                </a:r>
                <a:endParaRPr lang="en-US" altLang="zh-CN" sz="2000" b="1" dirty="0">
                  <a:solidFill>
                    <a:srgbClr val="990033"/>
                  </a:solidFill>
                  <a:latin typeface="楷体_GB2312" pitchFamily="49" charset="-122"/>
                  <a:ea typeface="楷体_GB2312" pitchFamily="49" charset="-122"/>
                </a:endParaRPr>
              </a:p>
            </p:txBody>
          </p:sp>
          <p:sp>
            <p:nvSpPr>
              <p:cNvPr id="45085" name="Rectangle 85"/>
              <p:cNvSpPr/>
              <p:nvPr/>
            </p:nvSpPr>
            <p:spPr>
              <a:xfrm>
                <a:off x="4179" y="3416"/>
                <a:ext cx="1680" cy="100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000" b="1" dirty="0">
                    <a:solidFill>
                      <a:srgbClr val="990033"/>
                    </a:solidFill>
                    <a:ea typeface="楷体_GB2312" pitchFamily="49" charset="-122"/>
                  </a:rPr>
                  <a:t>     </a:t>
                </a:r>
                <a:endParaRPr lang="en-US" altLang="zh-CN" sz="2000" b="1" dirty="0">
                  <a:solidFill>
                    <a:srgbClr val="990033"/>
                  </a:solidFill>
                  <a:ea typeface="楷体_GB2312" pitchFamily="49" charset="-122"/>
                </a:endParaRPr>
              </a:p>
            </p:txBody>
          </p:sp>
          <p:sp>
            <p:nvSpPr>
              <p:cNvPr id="45086" name="Rectangle 86"/>
              <p:cNvSpPr/>
              <p:nvPr/>
            </p:nvSpPr>
            <p:spPr>
              <a:xfrm>
                <a:off x="4179" y="4916"/>
                <a:ext cx="840" cy="50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990033"/>
                    </a:solidFill>
                    <a:ea typeface="楷体_GB2312" pitchFamily="49" charset="-122"/>
                  </a:rPr>
                  <a:t>24K</a:t>
                </a:r>
                <a:endParaRPr lang="en-US" altLang="zh-CN" sz="2000" b="1" dirty="0">
                  <a:solidFill>
                    <a:srgbClr val="990033"/>
                  </a:solidFill>
                  <a:ea typeface="楷体_GB2312" pitchFamily="49" charset="-122"/>
                </a:endParaRPr>
              </a:p>
            </p:txBody>
          </p:sp>
          <p:sp>
            <p:nvSpPr>
              <p:cNvPr id="45087" name="Rectangle 87"/>
              <p:cNvSpPr/>
              <p:nvPr/>
            </p:nvSpPr>
            <p:spPr>
              <a:xfrm>
                <a:off x="5019" y="4916"/>
                <a:ext cx="840" cy="50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990033"/>
                    </a:solidFill>
                    <a:latin typeface="楷体_GB2312" pitchFamily="49" charset="-122"/>
                    <a:ea typeface="楷体_GB2312" pitchFamily="49" charset="-122"/>
                  </a:rPr>
                  <a:t>100K</a:t>
                </a:r>
                <a:endParaRPr lang="en-US" altLang="zh-CN" sz="2000" b="1" dirty="0">
                  <a:solidFill>
                    <a:srgbClr val="990033"/>
                  </a:solidFill>
                  <a:latin typeface="楷体_GB2312" pitchFamily="49" charset="-122"/>
                  <a:ea typeface="楷体_GB2312" pitchFamily="49" charset="-122"/>
                </a:endParaRPr>
              </a:p>
            </p:txBody>
          </p:sp>
          <p:sp>
            <p:nvSpPr>
              <p:cNvPr id="45088" name="Rectangle 88"/>
              <p:cNvSpPr/>
              <p:nvPr/>
            </p:nvSpPr>
            <p:spPr>
              <a:xfrm>
                <a:off x="4179" y="5416"/>
                <a:ext cx="1680" cy="100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000" b="1" dirty="0">
                    <a:solidFill>
                      <a:srgbClr val="990033"/>
                    </a:solidFill>
                    <a:ea typeface="楷体_GB2312" pitchFamily="49" charset="-122"/>
                  </a:rPr>
                  <a:t>     </a:t>
                </a:r>
                <a:endParaRPr lang="en-US" altLang="zh-CN" sz="2000" b="1" dirty="0">
                  <a:solidFill>
                    <a:srgbClr val="990033"/>
                  </a:solidFill>
                  <a:ea typeface="楷体_GB2312" pitchFamily="49" charset="-122"/>
                </a:endParaRPr>
              </a:p>
              <a:p>
                <a:pPr marL="0" lvl="0" indent="0" algn="just" eaLnBrk="1" hangingPunct="1">
                  <a:spcBef>
                    <a:spcPct val="0"/>
                  </a:spcBef>
                  <a:buClrTx/>
                  <a:buSzTx/>
                  <a:buFontTx/>
                  <a:buNone/>
                </a:pPr>
                <a:r>
                  <a:rPr lang="en-US" altLang="zh-CN" sz="1000" dirty="0"/>
                  <a:t> </a:t>
                </a:r>
                <a:endParaRPr lang="en-US" altLang="zh-CN" sz="1000" dirty="0"/>
              </a:p>
            </p:txBody>
          </p:sp>
          <p:sp>
            <p:nvSpPr>
              <p:cNvPr id="45089" name="Line 89"/>
              <p:cNvSpPr/>
              <p:nvPr/>
            </p:nvSpPr>
            <p:spPr>
              <a:xfrm>
                <a:off x="3444" y="3223"/>
                <a:ext cx="735" cy="0"/>
              </a:xfrm>
              <a:prstGeom prst="line">
                <a:avLst/>
              </a:prstGeom>
              <a:ln w="9525" cap="flat" cmpd="sng">
                <a:solidFill>
                  <a:srgbClr val="000000"/>
                </a:solidFill>
                <a:prstDash val="solid"/>
                <a:headEnd type="none" w="med" len="med"/>
                <a:tailEnd type="stealth" w="sm" len="lg"/>
              </a:ln>
            </p:spPr>
          </p:sp>
          <p:sp>
            <p:nvSpPr>
              <p:cNvPr id="45090" name="Line 90"/>
              <p:cNvSpPr/>
              <p:nvPr/>
            </p:nvSpPr>
            <p:spPr>
              <a:xfrm flipH="1">
                <a:off x="5859" y="5032"/>
                <a:ext cx="315" cy="0"/>
              </a:xfrm>
              <a:prstGeom prst="line">
                <a:avLst/>
              </a:prstGeom>
              <a:ln w="9525" cap="flat" cmpd="sng">
                <a:solidFill>
                  <a:srgbClr val="000000"/>
                </a:solidFill>
                <a:prstDash val="solid"/>
                <a:headEnd type="none" w="med" len="med"/>
                <a:tailEnd type="stealth" w="sm" len="lg"/>
              </a:ln>
            </p:spPr>
          </p:sp>
          <p:sp>
            <p:nvSpPr>
              <p:cNvPr id="45091" name="Line 91"/>
              <p:cNvSpPr/>
              <p:nvPr/>
            </p:nvSpPr>
            <p:spPr>
              <a:xfrm flipH="1">
                <a:off x="5859" y="3166"/>
                <a:ext cx="315" cy="0"/>
              </a:xfrm>
              <a:prstGeom prst="line">
                <a:avLst/>
              </a:prstGeom>
              <a:ln w="9525" cap="flat" cmpd="sng">
                <a:solidFill>
                  <a:srgbClr val="000000"/>
                </a:solidFill>
                <a:prstDash val="solid"/>
                <a:headEnd type="none" w="med" len="med"/>
                <a:tailEnd type="none" w="sm" len="lg"/>
              </a:ln>
            </p:spPr>
          </p:sp>
          <p:sp>
            <p:nvSpPr>
              <p:cNvPr id="45092" name="Line 92"/>
              <p:cNvSpPr/>
              <p:nvPr/>
            </p:nvSpPr>
            <p:spPr>
              <a:xfrm>
                <a:off x="6174" y="3166"/>
                <a:ext cx="0" cy="1888"/>
              </a:xfrm>
              <a:prstGeom prst="line">
                <a:avLst/>
              </a:prstGeom>
              <a:ln w="9525" cap="flat" cmpd="sng">
                <a:solidFill>
                  <a:srgbClr val="000000"/>
                </a:solidFill>
                <a:prstDash val="solid"/>
                <a:headEnd type="none" w="med" len="med"/>
                <a:tailEnd type="none" w="med" len="med"/>
              </a:ln>
            </p:spPr>
          </p:sp>
          <p:sp>
            <p:nvSpPr>
              <p:cNvPr id="45093" name="Line 93"/>
              <p:cNvSpPr/>
              <p:nvPr/>
            </p:nvSpPr>
            <p:spPr>
              <a:xfrm flipH="1">
                <a:off x="5859" y="5305"/>
                <a:ext cx="315" cy="0"/>
              </a:xfrm>
              <a:prstGeom prst="line">
                <a:avLst/>
              </a:prstGeom>
              <a:ln w="9525" cap="flat" cmpd="sng">
                <a:solidFill>
                  <a:srgbClr val="000000"/>
                </a:solidFill>
                <a:prstDash val="solid"/>
                <a:headEnd type="none" w="med" len="med"/>
                <a:tailEnd type="none" w="sm" len="lg"/>
              </a:ln>
            </p:spPr>
          </p:sp>
          <p:sp>
            <p:nvSpPr>
              <p:cNvPr id="45094" name="Line 94"/>
              <p:cNvSpPr/>
              <p:nvPr/>
            </p:nvSpPr>
            <p:spPr>
              <a:xfrm>
                <a:off x="6174" y="5305"/>
                <a:ext cx="0" cy="1054"/>
              </a:xfrm>
              <a:prstGeom prst="line">
                <a:avLst/>
              </a:prstGeom>
              <a:ln w="9525" cap="flat" cmpd="sng">
                <a:solidFill>
                  <a:srgbClr val="000000"/>
                </a:solidFill>
                <a:prstDash val="solid"/>
                <a:headEnd type="none" w="med" len="med"/>
                <a:tailEnd type="stealth" w="sm" len="lg"/>
              </a:ln>
            </p:spPr>
          </p:sp>
          <p:sp>
            <p:nvSpPr>
              <p:cNvPr id="45095" name="Rectangle 95"/>
              <p:cNvSpPr/>
              <p:nvPr/>
            </p:nvSpPr>
            <p:spPr>
              <a:xfrm>
                <a:off x="3339" y="4748"/>
                <a:ext cx="735" cy="500"/>
              </a:xfrm>
              <a:prstGeom prst="rect">
                <a:avLst/>
              </a:prstGeom>
              <a:solidFill>
                <a:srgbClr val="FFFFFF">
                  <a:alpha val="0"/>
                </a:srgbClr>
              </a:solidFill>
              <a:ln w="9525" cap="flat" cmpd="sng">
                <a:solidFill>
                  <a:srgbClr val="FFFF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000" b="1" dirty="0">
                    <a:solidFill>
                      <a:srgbClr val="990033"/>
                    </a:solidFill>
                    <a:latin typeface="楷体_GB2312" pitchFamily="49" charset="-122"/>
                    <a:ea typeface="楷体_GB2312" pitchFamily="49" charset="-122"/>
                  </a:rPr>
                  <a:t>  78K</a:t>
                </a:r>
                <a:endParaRPr lang="en-US" altLang="zh-CN" sz="2000" b="1" dirty="0">
                  <a:solidFill>
                    <a:srgbClr val="990033"/>
                  </a:solidFill>
                  <a:latin typeface="楷体_GB2312" pitchFamily="49" charset="-122"/>
                  <a:ea typeface="楷体_GB2312" pitchFamily="49" charset="-122"/>
                </a:endParaRPr>
              </a:p>
            </p:txBody>
          </p:sp>
        </p:grpSp>
        <p:sp>
          <p:nvSpPr>
            <p:cNvPr id="45079" name="Rectangle 96"/>
            <p:cNvSpPr/>
            <p:nvPr/>
          </p:nvSpPr>
          <p:spPr>
            <a:xfrm>
              <a:off x="6804" y="6398"/>
              <a:ext cx="630" cy="500"/>
            </a:xfrm>
            <a:prstGeom prst="rect">
              <a:avLst/>
            </a:prstGeom>
            <a:solidFill>
              <a:srgbClr val="FFFFFF">
                <a:alpha val="0"/>
              </a:srgbClr>
            </a:solidFill>
            <a:ln w="9525" cap="flat" cmpd="sng">
              <a:solidFill>
                <a:srgbClr val="FFFF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000" b="1" dirty="0">
                  <a:solidFill>
                    <a:srgbClr val="990033"/>
                  </a:solidFill>
                  <a:latin typeface="宋体" panose="02010600030101010101" pitchFamily="2" charset="-122"/>
                  <a:ea typeface="楷体_GB2312" pitchFamily="49" charset="-122"/>
                </a:rPr>
                <a:t> ┇</a:t>
              </a:r>
              <a:endParaRPr lang="en-US" altLang="zh-CN" sz="2000" b="1" dirty="0">
                <a:solidFill>
                  <a:srgbClr val="990033"/>
                </a:solidFill>
                <a:ea typeface="楷体_GB2312" pitchFamily="49" charset="-122"/>
              </a:endParaRPr>
            </a:p>
          </p:txBody>
        </p:sp>
      </p:grpSp>
      <p:sp>
        <p:nvSpPr>
          <p:cNvPr id="457825" name="Rectangle 97"/>
          <p:cNvSpPr/>
          <p:nvPr/>
        </p:nvSpPr>
        <p:spPr>
          <a:xfrm>
            <a:off x="1447800" y="3886200"/>
            <a:ext cx="2116138" cy="4572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a:t>
            </a:r>
            <a:r>
              <a:rPr lang="en-US" altLang="zh-CN" sz="2400" b="1" dirty="0">
                <a:solidFill>
                  <a:srgbClr val="000099"/>
                </a:solidFill>
                <a:ea typeface="楷体_GB2312" pitchFamily="49" charset="-122"/>
              </a:rPr>
              <a:t>2</a:t>
            </a:r>
            <a:r>
              <a:rPr lang="zh-CN" altLang="en-US" sz="2400" b="1" dirty="0">
                <a:solidFill>
                  <a:srgbClr val="000099"/>
                </a:solidFill>
                <a:ea typeface="楷体_GB2312" pitchFamily="49" charset="-122"/>
              </a:rPr>
              <a:t>）自由链</a:t>
            </a:r>
            <a:endParaRPr lang="zh-CN" altLang="en-US" sz="2400" b="1" dirty="0">
              <a:solidFill>
                <a:srgbClr val="000099"/>
              </a:solidFill>
              <a:ea typeface="楷体_GB2312" pitchFamily="49" charset="-122"/>
            </a:endParaRPr>
          </a:p>
        </p:txBody>
      </p:sp>
      <p:sp>
        <p:nvSpPr>
          <p:cNvPr id="457826" name="Rectangle 98"/>
          <p:cNvSpPr/>
          <p:nvPr/>
        </p:nvSpPr>
        <p:spPr>
          <a:xfrm>
            <a:off x="1600200" y="4419600"/>
            <a:ext cx="1919288" cy="457200"/>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空闲区队列</a:t>
            </a:r>
            <a:r>
              <a:rPr lang="en-US" altLang="zh-CN" sz="2400" b="1" dirty="0">
                <a:solidFill>
                  <a:srgbClr val="000099"/>
                </a:solidFill>
                <a:ea typeface="楷体_GB2312" pitchFamily="49" charset="-122"/>
              </a:rPr>
              <a:t>)</a:t>
            </a:r>
            <a:endParaRPr lang="en-US" altLang="zh-CN"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7730"/>
                                        </p:tgtEl>
                                        <p:attrNameLst>
                                          <p:attrName>style.visibility</p:attrName>
                                        </p:attrNameLst>
                                      </p:cBhvr>
                                      <p:to>
                                        <p:strVal val="visible"/>
                                      </p:to>
                                    </p:set>
                                    <p:anim calcmode="lin" valueType="num">
                                      <p:cBhvr additive="base">
                                        <p:cTn id="7" dur="500" fill="hold"/>
                                        <p:tgtEl>
                                          <p:spTgt spid="457730"/>
                                        </p:tgtEl>
                                        <p:attrNameLst>
                                          <p:attrName>ppt_x</p:attrName>
                                        </p:attrNameLst>
                                      </p:cBhvr>
                                      <p:tavLst>
                                        <p:tav tm="0">
                                          <p:val>
                                            <p:strVal val="0-#ppt_w/2"/>
                                          </p:val>
                                        </p:tav>
                                        <p:tav tm="100000">
                                          <p:val>
                                            <p:strVal val="#ppt_x"/>
                                          </p:val>
                                        </p:tav>
                                      </p:tavLst>
                                    </p:anim>
                                    <p:anim calcmode="lin" valueType="num">
                                      <p:cBhvr additive="base">
                                        <p:cTn id="8" dur="500" fill="hold"/>
                                        <p:tgtEl>
                                          <p:spTgt spid="4577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57731"/>
                                        </p:tgtEl>
                                        <p:attrNameLst>
                                          <p:attrName>style.visibility</p:attrName>
                                        </p:attrNameLst>
                                      </p:cBhvr>
                                      <p:to>
                                        <p:strVal val="visible"/>
                                      </p:to>
                                    </p:set>
                                    <p:anim calcmode="lin" valueType="num">
                                      <p:cBhvr additive="base">
                                        <p:cTn id="13" dur="500" fill="hold"/>
                                        <p:tgtEl>
                                          <p:spTgt spid="457731"/>
                                        </p:tgtEl>
                                        <p:attrNameLst>
                                          <p:attrName>ppt_x</p:attrName>
                                        </p:attrNameLst>
                                      </p:cBhvr>
                                      <p:tavLst>
                                        <p:tav tm="0">
                                          <p:val>
                                            <p:strVal val="0-#ppt_w/2"/>
                                          </p:val>
                                        </p:tav>
                                        <p:tav tm="100000">
                                          <p:val>
                                            <p:strVal val="#ppt_x"/>
                                          </p:val>
                                        </p:tav>
                                      </p:tavLst>
                                    </p:anim>
                                    <p:anim calcmode="lin" valueType="num">
                                      <p:cBhvr additive="base">
                                        <p:cTn id="14" dur="500" fill="hold"/>
                                        <p:tgtEl>
                                          <p:spTgt spid="45773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57774"/>
                                        </p:tgtEl>
                                        <p:attrNameLst>
                                          <p:attrName>style.visibility</p:attrName>
                                        </p:attrNameLst>
                                      </p:cBhvr>
                                      <p:to>
                                        <p:strVal val="visible"/>
                                      </p:to>
                                    </p:set>
                                    <p:anim calcmode="lin" valueType="num">
                                      <p:cBhvr additive="base">
                                        <p:cTn id="19" dur="500" fill="hold"/>
                                        <p:tgtEl>
                                          <p:spTgt spid="457774"/>
                                        </p:tgtEl>
                                        <p:attrNameLst>
                                          <p:attrName>ppt_x</p:attrName>
                                        </p:attrNameLst>
                                      </p:cBhvr>
                                      <p:tavLst>
                                        <p:tav tm="0">
                                          <p:val>
                                            <p:strVal val="0-#ppt_w/2"/>
                                          </p:val>
                                        </p:tav>
                                        <p:tav tm="100000">
                                          <p:val>
                                            <p:strVal val="#ppt_x"/>
                                          </p:val>
                                        </p:tav>
                                      </p:tavLst>
                                    </p:anim>
                                    <p:anim calcmode="lin" valueType="num">
                                      <p:cBhvr additive="base">
                                        <p:cTn id="20" dur="500" fill="hold"/>
                                        <p:tgtEl>
                                          <p:spTgt spid="45777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57775"/>
                                        </p:tgtEl>
                                        <p:attrNameLst>
                                          <p:attrName>style.visibility</p:attrName>
                                        </p:attrNameLst>
                                      </p:cBhvr>
                                      <p:to>
                                        <p:strVal val="visible"/>
                                      </p:to>
                                    </p:set>
                                    <p:anim calcmode="lin" valueType="num">
                                      <p:cBhvr additive="base">
                                        <p:cTn id="25" dur="500" fill="hold"/>
                                        <p:tgtEl>
                                          <p:spTgt spid="457775"/>
                                        </p:tgtEl>
                                        <p:attrNameLst>
                                          <p:attrName>ppt_x</p:attrName>
                                        </p:attrNameLst>
                                      </p:cBhvr>
                                      <p:tavLst>
                                        <p:tav tm="0">
                                          <p:val>
                                            <p:strVal val="0-#ppt_w/2"/>
                                          </p:val>
                                        </p:tav>
                                        <p:tav tm="100000">
                                          <p:val>
                                            <p:strVal val="#ppt_x"/>
                                          </p:val>
                                        </p:tav>
                                      </p:tavLst>
                                    </p:anim>
                                    <p:anim calcmode="lin" valueType="num">
                                      <p:cBhvr additive="base">
                                        <p:cTn id="26" dur="500" fill="hold"/>
                                        <p:tgtEl>
                                          <p:spTgt spid="45777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457805"/>
                                        </p:tgtEl>
                                        <p:attrNameLst>
                                          <p:attrName>style.visibility</p:attrName>
                                        </p:attrNameLst>
                                      </p:cBhvr>
                                      <p:to>
                                        <p:strVal val="visible"/>
                                      </p:to>
                                    </p:set>
                                    <p:animEffect transition="in" filter="wipe(left)">
                                      <p:cBhvr>
                                        <p:cTn id="31" dur="500"/>
                                        <p:tgtEl>
                                          <p:spTgt spid="457805"/>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457825"/>
                                        </p:tgtEl>
                                        <p:attrNameLst>
                                          <p:attrName>style.visibility</p:attrName>
                                        </p:attrNameLst>
                                      </p:cBhvr>
                                      <p:to>
                                        <p:strVal val="visible"/>
                                      </p:to>
                                    </p:set>
                                    <p:anim calcmode="lin" valueType="num">
                                      <p:cBhvr additive="base">
                                        <p:cTn id="36" dur="500" fill="hold"/>
                                        <p:tgtEl>
                                          <p:spTgt spid="457825"/>
                                        </p:tgtEl>
                                        <p:attrNameLst>
                                          <p:attrName>ppt_x</p:attrName>
                                        </p:attrNameLst>
                                      </p:cBhvr>
                                      <p:tavLst>
                                        <p:tav tm="0">
                                          <p:val>
                                            <p:strVal val="0-#ppt_w/2"/>
                                          </p:val>
                                        </p:tav>
                                        <p:tav tm="100000">
                                          <p:val>
                                            <p:strVal val="#ppt_x"/>
                                          </p:val>
                                        </p:tav>
                                      </p:tavLst>
                                    </p:anim>
                                    <p:anim calcmode="lin" valueType="num">
                                      <p:cBhvr additive="base">
                                        <p:cTn id="37" dur="500" fill="hold"/>
                                        <p:tgtEl>
                                          <p:spTgt spid="457825"/>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457826"/>
                                        </p:tgtEl>
                                        <p:attrNameLst>
                                          <p:attrName>style.visibility</p:attrName>
                                        </p:attrNameLst>
                                      </p:cBhvr>
                                      <p:to>
                                        <p:strVal val="visible"/>
                                      </p:to>
                                    </p:set>
                                    <p:anim calcmode="lin" valueType="num">
                                      <p:cBhvr additive="base">
                                        <p:cTn id="42" dur="500" fill="hold"/>
                                        <p:tgtEl>
                                          <p:spTgt spid="457826"/>
                                        </p:tgtEl>
                                        <p:attrNameLst>
                                          <p:attrName>ppt_x</p:attrName>
                                        </p:attrNameLst>
                                      </p:cBhvr>
                                      <p:tavLst>
                                        <p:tav tm="0">
                                          <p:val>
                                            <p:strVal val="0-#ppt_w/2"/>
                                          </p:val>
                                        </p:tav>
                                        <p:tav tm="100000">
                                          <p:val>
                                            <p:strVal val="#ppt_x"/>
                                          </p:val>
                                        </p:tav>
                                      </p:tavLst>
                                    </p:anim>
                                    <p:anim calcmode="lin" valueType="num">
                                      <p:cBhvr additive="base">
                                        <p:cTn id="43" dur="500" fill="hold"/>
                                        <p:tgtEl>
                                          <p:spTgt spid="457826"/>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457806"/>
                                        </p:tgtEl>
                                        <p:attrNameLst>
                                          <p:attrName>style.visibility</p:attrName>
                                        </p:attrNameLst>
                                      </p:cBhvr>
                                      <p:to>
                                        <p:strVal val="visible"/>
                                      </p:to>
                                    </p:set>
                                    <p:animEffect transition="in" filter="wipe(left)">
                                      <p:cBhvr>
                                        <p:cTn id="48" dur="500"/>
                                        <p:tgtEl>
                                          <p:spTgt spid="457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0" grpId="0"/>
      <p:bldP spid="457731" grpId="0"/>
      <p:bldP spid="457774" grpId="0"/>
      <p:bldP spid="457775" grpId="0"/>
      <p:bldP spid="457825" grpId="0"/>
      <p:bldP spid="45782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pSp>
        <p:nvGrpSpPr>
          <p:cNvPr id="458828" name="Group 76"/>
          <p:cNvGrpSpPr/>
          <p:nvPr/>
        </p:nvGrpSpPr>
        <p:grpSpPr>
          <a:xfrm>
            <a:off x="603250" y="908050"/>
            <a:ext cx="2362200" cy="4876800"/>
            <a:chOff x="384" y="480"/>
            <a:chExt cx="1488" cy="3072"/>
          </a:xfrm>
        </p:grpSpPr>
        <p:sp>
          <p:nvSpPr>
            <p:cNvPr id="46135" name="Text Box 3"/>
            <p:cNvSpPr txBox="1"/>
            <p:nvPr/>
          </p:nvSpPr>
          <p:spPr>
            <a:xfrm>
              <a:off x="912" y="560"/>
              <a:ext cx="960" cy="256"/>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OS</a:t>
              </a:r>
              <a:endParaRPr lang="en-US" altLang="zh-CN" sz="2000" b="1" dirty="0">
                <a:solidFill>
                  <a:srgbClr val="000099"/>
                </a:solidFill>
                <a:latin typeface="楷体_GB2312" pitchFamily="49" charset="-122"/>
                <a:ea typeface="楷体_GB2312" pitchFamily="49" charset="-122"/>
              </a:endParaRPr>
            </a:p>
          </p:txBody>
        </p:sp>
        <p:sp>
          <p:nvSpPr>
            <p:cNvPr id="46136" name="Text Box 4"/>
            <p:cNvSpPr txBox="1"/>
            <p:nvPr/>
          </p:nvSpPr>
          <p:spPr>
            <a:xfrm>
              <a:off x="912" y="816"/>
              <a:ext cx="960" cy="256"/>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latin typeface="楷体_GB2312" pitchFamily="49" charset="-122"/>
                  <a:ea typeface="楷体_GB2312" pitchFamily="49" charset="-122"/>
                </a:rPr>
                <a:t>作业</a:t>
              </a:r>
              <a:r>
                <a:rPr lang="en-US" altLang="zh-CN" sz="2000" b="1" dirty="0">
                  <a:solidFill>
                    <a:srgbClr val="000099"/>
                  </a:solidFill>
                  <a:latin typeface="楷体_GB2312" pitchFamily="49" charset="-122"/>
                  <a:ea typeface="楷体_GB2312" pitchFamily="49" charset="-122"/>
                </a:rPr>
                <a:t>1</a:t>
              </a:r>
              <a:r>
                <a:rPr lang="zh-CN" altLang="en-US" sz="2000" b="1" dirty="0">
                  <a:solidFill>
                    <a:srgbClr val="000099"/>
                  </a:solidFill>
                  <a:latin typeface="楷体_GB2312" pitchFamily="49" charset="-122"/>
                  <a:ea typeface="楷体_GB2312" pitchFamily="49" charset="-122"/>
                </a:rPr>
                <a:t>，</a:t>
              </a:r>
              <a:r>
                <a:rPr lang="en-US" altLang="zh-CN" sz="2000" b="1" dirty="0">
                  <a:solidFill>
                    <a:srgbClr val="000099"/>
                  </a:solidFill>
                  <a:latin typeface="楷体_GB2312" pitchFamily="49" charset="-122"/>
                  <a:ea typeface="楷体_GB2312" pitchFamily="49" charset="-122"/>
                </a:rPr>
                <a:t>32K</a:t>
              </a:r>
              <a:endParaRPr lang="en-US" altLang="zh-CN" sz="2000" b="1" dirty="0">
                <a:solidFill>
                  <a:srgbClr val="000099"/>
                </a:solidFill>
                <a:latin typeface="楷体_GB2312" pitchFamily="49" charset="-122"/>
                <a:ea typeface="楷体_GB2312" pitchFamily="49" charset="-122"/>
              </a:endParaRPr>
            </a:p>
          </p:txBody>
        </p:sp>
        <p:sp>
          <p:nvSpPr>
            <p:cNvPr id="46137" name="Text Box 5" descr="宽上对角线"/>
            <p:cNvSpPr txBox="1"/>
            <p:nvPr/>
          </p:nvSpPr>
          <p:spPr>
            <a:xfrm>
              <a:off x="912" y="1072"/>
              <a:ext cx="960" cy="256"/>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zh-CN" sz="2000" b="1" dirty="0">
                <a:solidFill>
                  <a:srgbClr val="000099"/>
                </a:solidFill>
                <a:latin typeface="楷体_GB2312" pitchFamily="49" charset="-122"/>
                <a:ea typeface="楷体_GB2312" pitchFamily="49" charset="-122"/>
              </a:endParaRPr>
            </a:p>
          </p:txBody>
        </p:sp>
        <p:sp>
          <p:nvSpPr>
            <p:cNvPr id="46138" name="Text Box 6"/>
            <p:cNvSpPr txBox="1"/>
            <p:nvPr/>
          </p:nvSpPr>
          <p:spPr>
            <a:xfrm>
              <a:off x="912" y="1328"/>
              <a:ext cx="960" cy="544"/>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50000"/>
                </a:spcBef>
                <a:buClrTx/>
                <a:buSzTx/>
                <a:buFontTx/>
                <a:buNone/>
              </a:pPr>
              <a:r>
                <a:rPr lang="zh-CN" altLang="en-US" sz="2000" b="1" dirty="0">
                  <a:solidFill>
                    <a:srgbClr val="000099"/>
                  </a:solidFill>
                  <a:latin typeface="楷体_GB2312" pitchFamily="49" charset="-122"/>
                  <a:ea typeface="楷体_GB2312" pitchFamily="49" charset="-122"/>
                </a:rPr>
                <a:t>作业</a:t>
              </a:r>
              <a:r>
                <a:rPr lang="en-US" altLang="zh-CN" sz="2000" b="1" dirty="0">
                  <a:solidFill>
                    <a:srgbClr val="000099"/>
                  </a:solidFill>
                  <a:latin typeface="楷体_GB2312" pitchFamily="49" charset="-122"/>
                  <a:ea typeface="楷体_GB2312" pitchFamily="49" charset="-122"/>
                </a:rPr>
                <a:t>3</a:t>
              </a:r>
              <a:r>
                <a:rPr lang="zh-CN" altLang="en-US" sz="2000" b="1" dirty="0">
                  <a:solidFill>
                    <a:srgbClr val="000099"/>
                  </a:solidFill>
                  <a:latin typeface="楷体_GB2312" pitchFamily="49" charset="-122"/>
                  <a:ea typeface="楷体_GB2312" pitchFamily="49" charset="-122"/>
                </a:rPr>
                <a:t>，</a:t>
              </a:r>
              <a:endParaRPr lang="zh-CN" altLang="en-US" sz="2000" b="1" dirty="0">
                <a:solidFill>
                  <a:srgbClr val="000099"/>
                </a:solidFill>
                <a:latin typeface="楷体_GB2312" pitchFamily="49" charset="-122"/>
                <a:ea typeface="楷体_GB2312" pitchFamily="49" charset="-122"/>
              </a:endParaRPr>
            </a:p>
            <a:p>
              <a:pPr marL="0" lvl="0" indent="0" algn="ctr"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64K</a:t>
              </a:r>
              <a:endParaRPr lang="en-US" altLang="zh-CN" sz="2000" b="1" dirty="0">
                <a:solidFill>
                  <a:srgbClr val="000099"/>
                </a:solidFill>
                <a:latin typeface="楷体_GB2312" pitchFamily="49" charset="-122"/>
                <a:ea typeface="楷体_GB2312" pitchFamily="49" charset="-122"/>
              </a:endParaRPr>
            </a:p>
          </p:txBody>
        </p:sp>
        <p:sp>
          <p:nvSpPr>
            <p:cNvPr id="46139" name="Text Box 7"/>
            <p:cNvSpPr txBox="1"/>
            <p:nvPr/>
          </p:nvSpPr>
          <p:spPr>
            <a:xfrm>
              <a:off x="912" y="1872"/>
              <a:ext cx="960" cy="544"/>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50000"/>
                </a:spcBef>
                <a:buClrTx/>
                <a:buSzTx/>
                <a:buFontTx/>
                <a:buNone/>
              </a:pPr>
              <a:r>
                <a:rPr lang="zh-CN" altLang="en-US" sz="2000" b="1" dirty="0">
                  <a:solidFill>
                    <a:srgbClr val="000099"/>
                  </a:solidFill>
                  <a:latin typeface="楷体_GB2312" pitchFamily="49" charset="-122"/>
                  <a:ea typeface="楷体_GB2312" pitchFamily="49" charset="-122"/>
                </a:rPr>
                <a:t>作业</a:t>
              </a:r>
              <a:r>
                <a:rPr lang="en-US" altLang="zh-CN" sz="2000" b="1" dirty="0">
                  <a:solidFill>
                    <a:srgbClr val="000099"/>
                  </a:solidFill>
                  <a:latin typeface="楷体_GB2312" pitchFamily="49" charset="-122"/>
                  <a:ea typeface="楷体_GB2312" pitchFamily="49" charset="-122"/>
                </a:rPr>
                <a:t>4</a:t>
              </a:r>
              <a:r>
                <a:rPr lang="zh-CN" altLang="en-US" sz="2000" b="1" dirty="0">
                  <a:solidFill>
                    <a:srgbClr val="000099"/>
                  </a:solidFill>
                  <a:latin typeface="楷体_GB2312" pitchFamily="49" charset="-122"/>
                  <a:ea typeface="楷体_GB2312" pitchFamily="49" charset="-122"/>
                </a:rPr>
                <a:t>，</a:t>
              </a:r>
              <a:endParaRPr lang="zh-CN" altLang="en-US" sz="2000" b="1" dirty="0">
                <a:solidFill>
                  <a:srgbClr val="000099"/>
                </a:solidFill>
                <a:latin typeface="楷体_GB2312" pitchFamily="49" charset="-122"/>
                <a:ea typeface="楷体_GB2312" pitchFamily="49" charset="-122"/>
              </a:endParaRPr>
            </a:p>
            <a:p>
              <a:pPr marL="0" lvl="0" indent="0" algn="ctr"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100K</a:t>
              </a:r>
              <a:endParaRPr lang="en-US" altLang="zh-CN" sz="2000" b="1" dirty="0">
                <a:solidFill>
                  <a:srgbClr val="000099"/>
                </a:solidFill>
                <a:latin typeface="楷体_GB2312" pitchFamily="49" charset="-122"/>
                <a:ea typeface="楷体_GB2312" pitchFamily="49" charset="-122"/>
              </a:endParaRPr>
            </a:p>
          </p:txBody>
        </p:sp>
        <p:sp>
          <p:nvSpPr>
            <p:cNvPr id="46140" name="Text Box 8" descr="宽上对角线"/>
            <p:cNvSpPr txBox="1"/>
            <p:nvPr/>
          </p:nvSpPr>
          <p:spPr>
            <a:xfrm>
              <a:off x="912" y="2400"/>
              <a:ext cx="960" cy="544"/>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endParaRPr lang="en-US" altLang="zh-CN" sz="2000" b="1" dirty="0">
                <a:solidFill>
                  <a:srgbClr val="000099"/>
                </a:solidFill>
                <a:latin typeface="楷体_GB2312" pitchFamily="49" charset="-122"/>
                <a:ea typeface="楷体_GB2312" pitchFamily="49" charset="-122"/>
              </a:endParaRPr>
            </a:p>
            <a:p>
              <a:pPr marL="0" lvl="0" indent="0" eaLnBrk="1" hangingPunct="1">
                <a:spcBef>
                  <a:spcPct val="50000"/>
                </a:spcBef>
                <a:buClrTx/>
                <a:buSzTx/>
                <a:buFontTx/>
                <a:buNone/>
              </a:pPr>
              <a:endParaRPr lang="en-US" altLang="zh-CN" sz="2000" b="1" dirty="0">
                <a:solidFill>
                  <a:srgbClr val="000099"/>
                </a:solidFill>
                <a:latin typeface="楷体_GB2312" pitchFamily="49" charset="-122"/>
                <a:ea typeface="楷体_GB2312" pitchFamily="49" charset="-122"/>
              </a:endParaRPr>
            </a:p>
          </p:txBody>
        </p:sp>
        <p:sp>
          <p:nvSpPr>
            <p:cNvPr id="46141" name="Text Box 9"/>
            <p:cNvSpPr txBox="1"/>
            <p:nvPr/>
          </p:nvSpPr>
          <p:spPr>
            <a:xfrm>
              <a:off x="435" y="720"/>
              <a:ext cx="525"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20KB</a:t>
              </a:r>
              <a:endParaRPr lang="en-US" altLang="zh-CN" sz="2000" b="1" dirty="0">
                <a:solidFill>
                  <a:srgbClr val="000099"/>
                </a:solidFill>
                <a:latin typeface="楷体_GB2312" pitchFamily="49" charset="-122"/>
                <a:ea typeface="楷体_GB2312" pitchFamily="49" charset="-122"/>
              </a:endParaRPr>
            </a:p>
          </p:txBody>
        </p:sp>
        <p:sp>
          <p:nvSpPr>
            <p:cNvPr id="46142" name="Text Box 10"/>
            <p:cNvSpPr txBox="1"/>
            <p:nvPr/>
          </p:nvSpPr>
          <p:spPr>
            <a:xfrm>
              <a:off x="720" y="480"/>
              <a:ext cx="14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0</a:t>
              </a:r>
              <a:endParaRPr lang="en-US" altLang="zh-CN" sz="2000" b="1" dirty="0">
                <a:solidFill>
                  <a:srgbClr val="000099"/>
                </a:solidFill>
                <a:latin typeface="楷体_GB2312" pitchFamily="49" charset="-122"/>
                <a:ea typeface="楷体_GB2312" pitchFamily="49" charset="-122"/>
              </a:endParaRPr>
            </a:p>
          </p:txBody>
        </p:sp>
        <p:sp>
          <p:nvSpPr>
            <p:cNvPr id="46143" name="Text Box 11"/>
            <p:cNvSpPr txBox="1"/>
            <p:nvPr/>
          </p:nvSpPr>
          <p:spPr>
            <a:xfrm>
              <a:off x="480" y="960"/>
              <a:ext cx="480"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52KB</a:t>
              </a:r>
              <a:endParaRPr lang="en-US" altLang="zh-CN" sz="2000" b="1" dirty="0">
                <a:solidFill>
                  <a:srgbClr val="000099"/>
                </a:solidFill>
                <a:latin typeface="楷体_GB2312" pitchFamily="49" charset="-122"/>
                <a:ea typeface="楷体_GB2312" pitchFamily="49" charset="-122"/>
              </a:endParaRPr>
            </a:p>
          </p:txBody>
        </p:sp>
        <p:sp>
          <p:nvSpPr>
            <p:cNvPr id="46144" name="Text Box 12"/>
            <p:cNvSpPr txBox="1"/>
            <p:nvPr/>
          </p:nvSpPr>
          <p:spPr>
            <a:xfrm>
              <a:off x="486" y="1200"/>
              <a:ext cx="47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66KB</a:t>
              </a:r>
              <a:endParaRPr lang="en-US" altLang="zh-CN" sz="2000" b="1" dirty="0">
                <a:solidFill>
                  <a:srgbClr val="000099"/>
                </a:solidFill>
                <a:latin typeface="楷体_GB2312" pitchFamily="49" charset="-122"/>
                <a:ea typeface="楷体_GB2312" pitchFamily="49" charset="-122"/>
              </a:endParaRPr>
            </a:p>
          </p:txBody>
        </p:sp>
        <p:sp>
          <p:nvSpPr>
            <p:cNvPr id="46145" name="Text Box 13"/>
            <p:cNvSpPr txBox="1"/>
            <p:nvPr/>
          </p:nvSpPr>
          <p:spPr>
            <a:xfrm>
              <a:off x="432" y="1776"/>
              <a:ext cx="52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130KB</a:t>
              </a:r>
              <a:endParaRPr lang="en-US" altLang="zh-CN" sz="2000" b="1" dirty="0">
                <a:solidFill>
                  <a:srgbClr val="000099"/>
                </a:solidFill>
                <a:latin typeface="楷体_GB2312" pitchFamily="49" charset="-122"/>
                <a:ea typeface="楷体_GB2312" pitchFamily="49" charset="-122"/>
              </a:endParaRPr>
            </a:p>
          </p:txBody>
        </p:sp>
        <p:sp>
          <p:nvSpPr>
            <p:cNvPr id="46146" name="Text Box 14"/>
            <p:cNvSpPr txBox="1"/>
            <p:nvPr/>
          </p:nvSpPr>
          <p:spPr>
            <a:xfrm>
              <a:off x="384" y="2256"/>
              <a:ext cx="576"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230KB</a:t>
              </a:r>
              <a:endParaRPr lang="en-US" altLang="zh-CN" sz="2000" b="1" dirty="0">
                <a:solidFill>
                  <a:srgbClr val="000099"/>
                </a:solidFill>
                <a:latin typeface="楷体_GB2312" pitchFamily="49" charset="-122"/>
                <a:ea typeface="楷体_GB2312" pitchFamily="49" charset="-122"/>
              </a:endParaRPr>
            </a:p>
          </p:txBody>
        </p:sp>
        <p:sp>
          <p:nvSpPr>
            <p:cNvPr id="46147" name="Text Box 15"/>
            <p:cNvSpPr txBox="1"/>
            <p:nvPr/>
          </p:nvSpPr>
          <p:spPr>
            <a:xfrm>
              <a:off x="384" y="2928"/>
              <a:ext cx="672" cy="388"/>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256KB-1</a:t>
              </a:r>
              <a:endParaRPr lang="en-US" altLang="zh-CN" sz="2000" b="1" dirty="0">
                <a:solidFill>
                  <a:srgbClr val="000099"/>
                </a:solidFill>
                <a:latin typeface="楷体_GB2312" pitchFamily="49" charset="-122"/>
                <a:ea typeface="楷体_GB2312" pitchFamily="49" charset="-122"/>
              </a:endParaRPr>
            </a:p>
          </p:txBody>
        </p:sp>
        <p:sp>
          <p:nvSpPr>
            <p:cNvPr id="46148" name="Text Box 74"/>
            <p:cNvSpPr txBox="1"/>
            <p:nvPr/>
          </p:nvSpPr>
          <p:spPr>
            <a:xfrm>
              <a:off x="864" y="3264"/>
              <a:ext cx="960" cy="28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99"/>
                  </a:solidFill>
                  <a:ea typeface="楷体_GB2312" pitchFamily="49" charset="-122"/>
                </a:rPr>
                <a:t>主存分布</a:t>
              </a:r>
              <a:endParaRPr lang="zh-CN" altLang="en-US" sz="2400" b="1" dirty="0">
                <a:solidFill>
                  <a:srgbClr val="000099"/>
                </a:solidFill>
                <a:ea typeface="楷体_GB2312" pitchFamily="49" charset="-122"/>
              </a:endParaRPr>
            </a:p>
          </p:txBody>
        </p:sp>
      </p:grpSp>
      <p:grpSp>
        <p:nvGrpSpPr>
          <p:cNvPr id="458843" name="Group 91"/>
          <p:cNvGrpSpPr/>
          <p:nvPr/>
        </p:nvGrpSpPr>
        <p:grpSpPr>
          <a:xfrm>
            <a:off x="3203575" y="1700213"/>
            <a:ext cx="5257800" cy="3962400"/>
            <a:chOff x="2018" y="1071"/>
            <a:chExt cx="3312" cy="2496"/>
          </a:xfrm>
        </p:grpSpPr>
        <p:grpSp>
          <p:nvGrpSpPr>
            <p:cNvPr id="46085" name="Group 89"/>
            <p:cNvGrpSpPr/>
            <p:nvPr/>
          </p:nvGrpSpPr>
          <p:grpSpPr>
            <a:xfrm>
              <a:off x="2018" y="1071"/>
              <a:ext cx="3312" cy="2496"/>
              <a:chOff x="2160" y="960"/>
              <a:chExt cx="3312" cy="2496"/>
            </a:xfrm>
          </p:grpSpPr>
          <p:sp>
            <p:nvSpPr>
              <p:cNvPr id="46087" name="Rectangle 20"/>
              <p:cNvSpPr/>
              <p:nvPr/>
            </p:nvSpPr>
            <p:spPr>
              <a:xfrm>
                <a:off x="2160" y="1746"/>
                <a:ext cx="624"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grpSp>
            <p:nvGrpSpPr>
              <p:cNvPr id="46088" name="Group 88"/>
              <p:cNvGrpSpPr/>
              <p:nvPr/>
            </p:nvGrpSpPr>
            <p:grpSpPr>
              <a:xfrm>
                <a:off x="2160" y="960"/>
                <a:ext cx="3312" cy="2496"/>
                <a:chOff x="2160" y="960"/>
                <a:chExt cx="3312" cy="2496"/>
              </a:xfrm>
            </p:grpSpPr>
            <p:sp>
              <p:nvSpPr>
                <p:cNvPr id="46089" name="Rectangle 18"/>
                <p:cNvSpPr/>
                <p:nvPr/>
              </p:nvSpPr>
              <p:spPr>
                <a:xfrm>
                  <a:off x="2160" y="1248"/>
                  <a:ext cx="624"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grpSp>
              <p:nvGrpSpPr>
                <p:cNvPr id="46090" name="Group 87"/>
                <p:cNvGrpSpPr/>
                <p:nvPr/>
              </p:nvGrpSpPr>
              <p:grpSpPr>
                <a:xfrm>
                  <a:off x="2160" y="960"/>
                  <a:ext cx="3312" cy="2496"/>
                  <a:chOff x="2160" y="960"/>
                  <a:chExt cx="3312" cy="2496"/>
                </a:xfrm>
              </p:grpSpPr>
              <p:grpSp>
                <p:nvGrpSpPr>
                  <p:cNvPr id="46091" name="Group 86"/>
                  <p:cNvGrpSpPr/>
                  <p:nvPr/>
                </p:nvGrpSpPr>
                <p:grpSpPr>
                  <a:xfrm>
                    <a:off x="2160" y="960"/>
                    <a:ext cx="3312" cy="2496"/>
                    <a:chOff x="2160" y="960"/>
                    <a:chExt cx="3312" cy="2496"/>
                  </a:xfrm>
                </p:grpSpPr>
                <p:sp>
                  <p:nvSpPr>
                    <p:cNvPr id="46095" name="Line 42"/>
                    <p:cNvSpPr/>
                    <p:nvPr/>
                  </p:nvSpPr>
                  <p:spPr>
                    <a:xfrm>
                      <a:off x="3504" y="2549"/>
                      <a:ext cx="672" cy="0"/>
                    </a:xfrm>
                    <a:prstGeom prst="line">
                      <a:avLst/>
                    </a:prstGeom>
                    <a:ln w="28575" cap="sq" cmpd="sng">
                      <a:solidFill>
                        <a:schemeClr val="tx1"/>
                      </a:solidFill>
                      <a:prstDash val="solid"/>
                      <a:miter/>
                      <a:headEnd type="none" w="med" len="med"/>
                      <a:tailEnd type="none" w="med" len="med"/>
                    </a:ln>
                  </p:spPr>
                </p:sp>
                <p:grpSp>
                  <p:nvGrpSpPr>
                    <p:cNvPr id="46096" name="Group 85"/>
                    <p:cNvGrpSpPr/>
                    <p:nvPr/>
                  </p:nvGrpSpPr>
                  <p:grpSpPr>
                    <a:xfrm>
                      <a:off x="2160" y="960"/>
                      <a:ext cx="3312" cy="2496"/>
                      <a:chOff x="2160" y="960"/>
                      <a:chExt cx="3312" cy="2496"/>
                    </a:xfrm>
                  </p:grpSpPr>
                  <p:sp>
                    <p:nvSpPr>
                      <p:cNvPr id="46097" name="Line 38"/>
                      <p:cNvSpPr/>
                      <p:nvPr/>
                    </p:nvSpPr>
                    <p:spPr>
                      <a:xfrm>
                        <a:off x="3504" y="1488"/>
                        <a:ext cx="672" cy="0"/>
                      </a:xfrm>
                      <a:prstGeom prst="line">
                        <a:avLst/>
                      </a:prstGeom>
                      <a:ln w="28575" cap="sq" cmpd="sng">
                        <a:solidFill>
                          <a:schemeClr val="tx1"/>
                        </a:solidFill>
                        <a:prstDash val="solid"/>
                        <a:miter/>
                        <a:headEnd type="none" w="med" len="med"/>
                        <a:tailEnd type="none" w="med" len="med"/>
                      </a:ln>
                    </p:spPr>
                  </p:sp>
                  <p:grpSp>
                    <p:nvGrpSpPr>
                      <p:cNvPr id="46098" name="Group 84"/>
                      <p:cNvGrpSpPr/>
                      <p:nvPr/>
                    </p:nvGrpSpPr>
                    <p:grpSpPr>
                      <a:xfrm>
                        <a:off x="2160" y="960"/>
                        <a:ext cx="3312" cy="2496"/>
                        <a:chOff x="2160" y="960"/>
                        <a:chExt cx="3312" cy="2496"/>
                      </a:xfrm>
                    </p:grpSpPr>
                    <p:sp>
                      <p:nvSpPr>
                        <p:cNvPr id="46099" name="Line 24"/>
                        <p:cNvSpPr/>
                        <p:nvPr/>
                      </p:nvSpPr>
                      <p:spPr>
                        <a:xfrm>
                          <a:off x="2160" y="1991"/>
                          <a:ext cx="624" cy="0"/>
                        </a:xfrm>
                        <a:prstGeom prst="line">
                          <a:avLst/>
                        </a:prstGeom>
                        <a:ln w="28575" cap="sq" cmpd="sng">
                          <a:solidFill>
                            <a:schemeClr val="tx1"/>
                          </a:solidFill>
                          <a:prstDash val="solid"/>
                          <a:miter/>
                          <a:headEnd type="none" w="med" len="med"/>
                          <a:tailEnd type="none" w="med" len="med"/>
                        </a:ln>
                      </p:spPr>
                    </p:sp>
                    <p:sp>
                      <p:nvSpPr>
                        <p:cNvPr id="46100" name="Line 25"/>
                        <p:cNvSpPr/>
                        <p:nvPr/>
                      </p:nvSpPr>
                      <p:spPr>
                        <a:xfrm>
                          <a:off x="2160" y="1244"/>
                          <a:ext cx="0" cy="747"/>
                        </a:xfrm>
                        <a:prstGeom prst="line">
                          <a:avLst/>
                        </a:prstGeom>
                        <a:ln w="28575" cap="sq" cmpd="sng">
                          <a:solidFill>
                            <a:schemeClr val="tx1"/>
                          </a:solidFill>
                          <a:prstDash val="solid"/>
                          <a:miter/>
                          <a:headEnd type="none" w="med" len="med"/>
                          <a:tailEnd type="none" w="med" len="med"/>
                        </a:ln>
                      </p:spPr>
                    </p:sp>
                    <p:sp>
                      <p:nvSpPr>
                        <p:cNvPr id="46101" name="Line 26"/>
                        <p:cNvSpPr/>
                        <p:nvPr/>
                      </p:nvSpPr>
                      <p:spPr>
                        <a:xfrm>
                          <a:off x="2784" y="1244"/>
                          <a:ext cx="0" cy="747"/>
                        </a:xfrm>
                        <a:prstGeom prst="line">
                          <a:avLst/>
                        </a:prstGeom>
                        <a:ln w="28575" cap="sq" cmpd="sng">
                          <a:solidFill>
                            <a:schemeClr val="tx1"/>
                          </a:solidFill>
                          <a:prstDash val="solid"/>
                          <a:miter/>
                          <a:headEnd type="none" w="med" len="med"/>
                          <a:tailEnd type="none" w="med" len="med"/>
                        </a:ln>
                      </p:spPr>
                    </p:sp>
                    <p:grpSp>
                      <p:nvGrpSpPr>
                        <p:cNvPr id="46102" name="Group 83"/>
                        <p:cNvGrpSpPr/>
                        <p:nvPr/>
                      </p:nvGrpSpPr>
                      <p:grpSpPr>
                        <a:xfrm>
                          <a:off x="2160" y="960"/>
                          <a:ext cx="3312" cy="2496"/>
                          <a:chOff x="2160" y="964"/>
                          <a:chExt cx="3312" cy="2496"/>
                        </a:xfrm>
                      </p:grpSpPr>
                      <p:grpSp>
                        <p:nvGrpSpPr>
                          <p:cNvPr id="46103" name="Group 82"/>
                          <p:cNvGrpSpPr/>
                          <p:nvPr/>
                        </p:nvGrpSpPr>
                        <p:grpSpPr>
                          <a:xfrm>
                            <a:off x="2160" y="964"/>
                            <a:ext cx="3312" cy="2496"/>
                            <a:chOff x="2160" y="960"/>
                            <a:chExt cx="3312" cy="2496"/>
                          </a:xfrm>
                        </p:grpSpPr>
                        <p:sp>
                          <p:nvSpPr>
                            <p:cNvPr id="46114" name="Line 71"/>
                            <p:cNvSpPr/>
                            <p:nvPr/>
                          </p:nvSpPr>
                          <p:spPr>
                            <a:xfrm>
                              <a:off x="4176" y="2208"/>
                              <a:ext cx="144" cy="0"/>
                            </a:xfrm>
                            <a:prstGeom prst="line">
                              <a:avLst/>
                            </a:prstGeom>
                            <a:ln w="28575" cap="flat" cmpd="sng">
                              <a:solidFill>
                                <a:schemeClr val="tx1"/>
                              </a:solidFill>
                              <a:prstDash val="solid"/>
                              <a:miter/>
                              <a:headEnd type="none" w="med" len="med"/>
                              <a:tailEnd type="none" w="med" len="med"/>
                            </a:ln>
                          </p:spPr>
                        </p:sp>
                        <p:grpSp>
                          <p:nvGrpSpPr>
                            <p:cNvPr id="46115" name="Group 81"/>
                            <p:cNvGrpSpPr/>
                            <p:nvPr/>
                          </p:nvGrpSpPr>
                          <p:grpSpPr>
                            <a:xfrm>
                              <a:off x="2160" y="960"/>
                              <a:ext cx="3312" cy="2496"/>
                              <a:chOff x="2160" y="960"/>
                              <a:chExt cx="3312" cy="2496"/>
                            </a:xfrm>
                          </p:grpSpPr>
                          <p:sp>
                            <p:nvSpPr>
                              <p:cNvPr id="46116" name="Line 43"/>
                              <p:cNvSpPr/>
                              <p:nvPr/>
                            </p:nvSpPr>
                            <p:spPr>
                              <a:xfrm>
                                <a:off x="3504" y="1488"/>
                                <a:ext cx="0" cy="1061"/>
                              </a:xfrm>
                              <a:prstGeom prst="line">
                                <a:avLst/>
                              </a:prstGeom>
                              <a:ln w="28575" cap="sq" cmpd="sng">
                                <a:solidFill>
                                  <a:schemeClr val="tx1"/>
                                </a:solidFill>
                                <a:prstDash val="solid"/>
                                <a:miter/>
                                <a:headEnd type="none" w="med" len="med"/>
                                <a:tailEnd type="none" w="med" len="med"/>
                              </a:ln>
                            </p:spPr>
                          </p:sp>
                          <p:sp>
                            <p:nvSpPr>
                              <p:cNvPr id="46117" name="Line 44"/>
                              <p:cNvSpPr/>
                              <p:nvPr/>
                            </p:nvSpPr>
                            <p:spPr>
                              <a:xfrm>
                                <a:off x="4176" y="1488"/>
                                <a:ext cx="0" cy="1061"/>
                              </a:xfrm>
                              <a:prstGeom prst="line">
                                <a:avLst/>
                              </a:prstGeom>
                              <a:ln w="28575" cap="sq" cmpd="sng">
                                <a:solidFill>
                                  <a:schemeClr val="tx1"/>
                                </a:solidFill>
                                <a:prstDash val="solid"/>
                                <a:miter/>
                                <a:headEnd type="none" w="med" len="med"/>
                                <a:tailEnd type="none" w="med" len="med"/>
                              </a:ln>
                            </p:spPr>
                          </p:sp>
                          <p:grpSp>
                            <p:nvGrpSpPr>
                              <p:cNvPr id="46118" name="Group 80"/>
                              <p:cNvGrpSpPr/>
                              <p:nvPr/>
                            </p:nvGrpSpPr>
                            <p:grpSpPr>
                              <a:xfrm>
                                <a:off x="2160" y="960"/>
                                <a:ext cx="3312" cy="2496"/>
                                <a:chOff x="2160" y="960"/>
                                <a:chExt cx="3312" cy="2496"/>
                              </a:xfrm>
                            </p:grpSpPr>
                            <p:sp>
                              <p:nvSpPr>
                                <p:cNvPr id="46119" name="Rectangle 19"/>
                                <p:cNvSpPr/>
                                <p:nvPr/>
                              </p:nvSpPr>
                              <p:spPr>
                                <a:xfrm>
                                  <a:off x="2160" y="1497"/>
                                  <a:ext cx="624"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r>
                                    <a:rPr lang="en-US" altLang="zh-CN" sz="2000" dirty="0">
                                      <a:solidFill>
                                        <a:srgbClr val="000099"/>
                                      </a:solidFill>
                                    </a:rPr>
                                    <a:t>52KB</a:t>
                                  </a:r>
                                  <a:endParaRPr lang="en-US" altLang="zh-CN" sz="2000" dirty="0">
                                    <a:solidFill>
                                      <a:srgbClr val="000099"/>
                                    </a:solidFill>
                                  </a:endParaRPr>
                                </a:p>
                              </p:txBody>
                            </p:sp>
                            <p:sp>
                              <p:nvSpPr>
                                <p:cNvPr id="46120" name="Rectangle 37"/>
                                <p:cNvSpPr/>
                                <p:nvPr/>
                              </p:nvSpPr>
                              <p:spPr>
                                <a:xfrm>
                                  <a:off x="3504" y="2300"/>
                                  <a:ext cx="67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46121" name="Rectangle 36"/>
                                <p:cNvSpPr/>
                                <p:nvPr/>
                              </p:nvSpPr>
                              <p:spPr>
                                <a:xfrm>
                                  <a:off x="3504" y="2030"/>
                                  <a:ext cx="672" cy="270"/>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buNone/>
                                  </a:pPr>
                                  <a:r>
                                    <a:rPr lang="en-US" altLang="zh-CN" sz="2000" dirty="0">
                                      <a:solidFill>
                                        <a:srgbClr val="000099"/>
                                      </a:solidFill>
                                    </a:rPr>
                                    <a:t>230KB</a:t>
                                  </a:r>
                                  <a:endParaRPr lang="en-US" altLang="zh-CN" sz="2000" dirty="0">
                                    <a:solidFill>
                                      <a:srgbClr val="000099"/>
                                    </a:solidFill>
                                  </a:endParaRPr>
                                </a:p>
                              </p:txBody>
                            </p:sp>
                            <p:sp>
                              <p:nvSpPr>
                                <p:cNvPr id="46122" name="Rectangle 35"/>
                                <p:cNvSpPr/>
                                <p:nvPr/>
                              </p:nvSpPr>
                              <p:spPr>
                                <a:xfrm>
                                  <a:off x="3504" y="1759"/>
                                  <a:ext cx="672" cy="271"/>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buNone/>
                                  </a:pPr>
                                  <a:endParaRPr lang="zh-CN" altLang="zh-CN" sz="2000" dirty="0">
                                    <a:solidFill>
                                      <a:srgbClr val="000099"/>
                                    </a:solidFill>
                                  </a:endParaRPr>
                                </a:p>
                              </p:txBody>
                            </p:sp>
                            <p:sp>
                              <p:nvSpPr>
                                <p:cNvPr id="46123" name="Rectangle 34"/>
                                <p:cNvSpPr/>
                                <p:nvPr/>
                              </p:nvSpPr>
                              <p:spPr>
                                <a:xfrm>
                                  <a:off x="3504" y="1488"/>
                                  <a:ext cx="672" cy="271"/>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buNone/>
                                  </a:pPr>
                                  <a:r>
                                    <a:rPr lang="en-US" altLang="zh-CN" sz="2000" dirty="0">
                                      <a:solidFill>
                                        <a:srgbClr val="000099"/>
                                      </a:solidFill>
                                    </a:rPr>
                                    <a:t>14KB</a:t>
                                  </a:r>
                                  <a:endParaRPr lang="en-US" altLang="zh-CN" sz="2000" dirty="0">
                                    <a:solidFill>
                                      <a:srgbClr val="000099"/>
                                    </a:solidFill>
                                  </a:endParaRPr>
                                </a:p>
                              </p:txBody>
                            </p:sp>
                            <p:sp>
                              <p:nvSpPr>
                                <p:cNvPr id="46124" name="Rectangle 49"/>
                                <p:cNvSpPr/>
                                <p:nvPr/>
                              </p:nvSpPr>
                              <p:spPr>
                                <a:xfrm>
                                  <a:off x="4800" y="2273"/>
                                  <a:ext cx="672" cy="253"/>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46125" name="Rectangle 50"/>
                                <p:cNvSpPr/>
                                <p:nvPr/>
                              </p:nvSpPr>
                              <p:spPr>
                                <a:xfrm>
                                  <a:off x="4800" y="1986"/>
                                  <a:ext cx="672" cy="287"/>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buNone/>
                                  </a:pPr>
                                  <a:r>
                                    <a:rPr lang="en-US" altLang="zh-CN" sz="2400" b="1" dirty="0">
                                      <a:solidFill>
                                        <a:srgbClr val="000099"/>
                                      </a:solidFill>
                                      <a:cs typeface="Times New Roman" panose="02020603050405020304" pitchFamily="18" charset="0"/>
                                    </a:rPr>
                                    <a:t>^</a:t>
                                  </a:r>
                                  <a:endParaRPr lang="en-US" altLang="zh-CN" sz="2400" b="1" dirty="0">
                                    <a:solidFill>
                                      <a:srgbClr val="000099"/>
                                    </a:solidFill>
                                    <a:ea typeface="Times New Roman" panose="02020603050405020304" pitchFamily="18" charset="0"/>
                                  </a:endParaRPr>
                                </a:p>
                              </p:txBody>
                            </p:sp>
                            <p:sp>
                              <p:nvSpPr>
                                <p:cNvPr id="46126" name="Rectangle 51"/>
                                <p:cNvSpPr/>
                                <p:nvPr/>
                              </p:nvSpPr>
                              <p:spPr>
                                <a:xfrm>
                                  <a:off x="4800" y="1737"/>
                                  <a:ext cx="67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buNone/>
                                  </a:pPr>
                                  <a:endParaRPr lang="zh-CN" altLang="zh-CN" sz="2000" dirty="0">
                                    <a:solidFill>
                                      <a:srgbClr val="000099"/>
                                    </a:solidFill>
                                  </a:endParaRPr>
                                </a:p>
                              </p:txBody>
                            </p:sp>
                            <p:sp>
                              <p:nvSpPr>
                                <p:cNvPr id="46127" name="Rectangle 52"/>
                                <p:cNvSpPr/>
                                <p:nvPr/>
                              </p:nvSpPr>
                              <p:spPr>
                                <a:xfrm>
                                  <a:off x="4800" y="1488"/>
                                  <a:ext cx="67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buNone/>
                                  </a:pPr>
                                  <a:r>
                                    <a:rPr lang="en-US" altLang="zh-CN" sz="2000" dirty="0">
                                      <a:solidFill>
                                        <a:srgbClr val="000099"/>
                                      </a:solidFill>
                                    </a:rPr>
                                    <a:t>26KB</a:t>
                                  </a:r>
                                  <a:endParaRPr lang="en-US" altLang="zh-CN" sz="2000" dirty="0">
                                    <a:solidFill>
                                      <a:srgbClr val="000099"/>
                                    </a:solidFill>
                                  </a:endParaRPr>
                                </a:p>
                              </p:txBody>
                            </p:sp>
                            <p:grpSp>
                              <p:nvGrpSpPr>
                                <p:cNvPr id="46128" name="Group 78"/>
                                <p:cNvGrpSpPr/>
                                <p:nvPr/>
                              </p:nvGrpSpPr>
                              <p:grpSpPr>
                                <a:xfrm>
                                  <a:off x="2160" y="960"/>
                                  <a:ext cx="2640" cy="2496"/>
                                  <a:chOff x="2160" y="960"/>
                                  <a:chExt cx="2640" cy="2496"/>
                                </a:xfrm>
                              </p:grpSpPr>
                              <p:grpSp>
                                <p:nvGrpSpPr>
                                  <p:cNvPr id="46129" name="Group 77"/>
                                  <p:cNvGrpSpPr/>
                                  <p:nvPr/>
                                </p:nvGrpSpPr>
                                <p:grpSpPr>
                                  <a:xfrm>
                                    <a:off x="2160" y="960"/>
                                    <a:ext cx="2640" cy="1248"/>
                                    <a:chOff x="2160" y="960"/>
                                    <a:chExt cx="2640" cy="1248"/>
                                  </a:xfrm>
                                </p:grpSpPr>
                                <p:sp>
                                  <p:nvSpPr>
                                    <p:cNvPr id="46131" name="Rectangle 16"/>
                                    <p:cNvSpPr/>
                                    <p:nvPr/>
                                  </p:nvSpPr>
                                  <p:spPr>
                                    <a:xfrm>
                                      <a:off x="2160" y="960"/>
                                      <a:ext cx="695" cy="288"/>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首指针</a:t>
                                      </a:r>
                                      <a:endParaRPr lang="zh-CN" altLang="en-US" sz="2400" b="1" dirty="0">
                                        <a:solidFill>
                                          <a:srgbClr val="000099"/>
                                        </a:solidFill>
                                        <a:latin typeface="楷体_GB2312" pitchFamily="49" charset="-122"/>
                                        <a:ea typeface="楷体_GB2312" pitchFamily="49" charset="-122"/>
                                      </a:endParaRPr>
                                    </a:p>
                                  </p:txBody>
                                </p:sp>
                                <p:sp>
                                  <p:nvSpPr>
                                    <p:cNvPr id="46132" name="Line 67"/>
                                    <p:cNvSpPr/>
                                    <p:nvPr/>
                                  </p:nvSpPr>
                                  <p:spPr>
                                    <a:xfrm>
                                      <a:off x="2784" y="1632"/>
                                      <a:ext cx="720" cy="0"/>
                                    </a:xfrm>
                                    <a:prstGeom prst="line">
                                      <a:avLst/>
                                    </a:prstGeom>
                                    <a:ln w="28575" cap="flat" cmpd="sng">
                                      <a:solidFill>
                                        <a:srgbClr val="000000"/>
                                      </a:solidFill>
                                      <a:prstDash val="solid"/>
                                      <a:miter/>
                                      <a:headEnd type="none" w="med" len="med"/>
                                      <a:tailEnd type="stealth" w="med" len="med"/>
                                    </a:ln>
                                  </p:spPr>
                                </p:sp>
                                <p:sp>
                                  <p:nvSpPr>
                                    <p:cNvPr id="46133" name="Line 72"/>
                                    <p:cNvSpPr/>
                                    <p:nvPr/>
                                  </p:nvSpPr>
                                  <p:spPr>
                                    <a:xfrm flipV="1">
                                      <a:off x="4320" y="1488"/>
                                      <a:ext cx="0" cy="720"/>
                                    </a:xfrm>
                                    <a:prstGeom prst="line">
                                      <a:avLst/>
                                    </a:prstGeom>
                                    <a:ln w="28575" cap="flat" cmpd="sng">
                                      <a:solidFill>
                                        <a:schemeClr val="tx1"/>
                                      </a:solidFill>
                                      <a:prstDash val="solid"/>
                                      <a:miter/>
                                      <a:headEnd type="none" w="med" len="med"/>
                                      <a:tailEnd type="none" w="med" len="med"/>
                                    </a:ln>
                                  </p:spPr>
                                </p:sp>
                                <p:sp>
                                  <p:nvSpPr>
                                    <p:cNvPr id="46134" name="Line 73"/>
                                    <p:cNvSpPr/>
                                    <p:nvPr/>
                                  </p:nvSpPr>
                                  <p:spPr>
                                    <a:xfrm>
                                      <a:off x="4320" y="1488"/>
                                      <a:ext cx="480" cy="0"/>
                                    </a:xfrm>
                                    <a:prstGeom prst="line">
                                      <a:avLst/>
                                    </a:prstGeom>
                                    <a:ln w="28575" cap="flat" cmpd="sng">
                                      <a:solidFill>
                                        <a:srgbClr val="000000"/>
                                      </a:solidFill>
                                      <a:prstDash val="solid"/>
                                      <a:miter/>
                                      <a:headEnd type="none" w="med" len="med"/>
                                      <a:tailEnd type="stealth" w="med" len="med"/>
                                    </a:ln>
                                  </p:spPr>
                                </p:sp>
                              </p:grpSp>
                              <p:sp>
                                <p:nvSpPr>
                                  <p:cNvPr id="46130" name="Text Box 75"/>
                                  <p:cNvSpPr txBox="1"/>
                                  <p:nvPr/>
                                </p:nvSpPr>
                                <p:spPr>
                                  <a:xfrm>
                                    <a:off x="3120" y="3168"/>
                                    <a:ext cx="1440" cy="28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自由链</a:t>
                                    </a:r>
                                    <a:endParaRPr lang="zh-CN" altLang="en-US" sz="2400" b="1" dirty="0">
                                      <a:solidFill>
                                        <a:srgbClr val="000099"/>
                                      </a:solidFill>
                                      <a:ea typeface="楷体_GB2312" pitchFamily="49" charset="-122"/>
                                    </a:endParaRPr>
                                  </a:p>
                                </p:txBody>
                              </p:sp>
                            </p:grpSp>
                          </p:grpSp>
                        </p:grpSp>
                      </p:grpSp>
                      <p:sp>
                        <p:nvSpPr>
                          <p:cNvPr id="46104" name="Line 39"/>
                          <p:cNvSpPr/>
                          <p:nvPr/>
                        </p:nvSpPr>
                        <p:spPr>
                          <a:xfrm>
                            <a:off x="3504" y="1780"/>
                            <a:ext cx="672" cy="0"/>
                          </a:xfrm>
                          <a:prstGeom prst="line">
                            <a:avLst/>
                          </a:prstGeom>
                          <a:ln w="12700" cap="flat" cmpd="sng">
                            <a:solidFill>
                              <a:schemeClr val="tx1"/>
                            </a:solidFill>
                            <a:prstDash val="solid"/>
                            <a:miter/>
                            <a:headEnd type="none" w="med" len="med"/>
                            <a:tailEnd type="none" w="med" len="med"/>
                          </a:ln>
                        </p:spPr>
                      </p:sp>
                      <p:sp>
                        <p:nvSpPr>
                          <p:cNvPr id="46105" name="Line 40"/>
                          <p:cNvSpPr/>
                          <p:nvPr/>
                        </p:nvSpPr>
                        <p:spPr>
                          <a:xfrm>
                            <a:off x="3504" y="2034"/>
                            <a:ext cx="672" cy="0"/>
                          </a:xfrm>
                          <a:prstGeom prst="line">
                            <a:avLst/>
                          </a:prstGeom>
                          <a:ln w="12700" cap="flat" cmpd="sng">
                            <a:solidFill>
                              <a:schemeClr val="tx1"/>
                            </a:solidFill>
                            <a:prstDash val="solid"/>
                            <a:miter/>
                            <a:headEnd type="none" w="med" len="med"/>
                            <a:tailEnd type="none" w="med" len="med"/>
                          </a:ln>
                        </p:spPr>
                      </p:sp>
                      <p:sp>
                        <p:nvSpPr>
                          <p:cNvPr id="46106" name="Line 41"/>
                          <p:cNvSpPr/>
                          <p:nvPr/>
                        </p:nvSpPr>
                        <p:spPr>
                          <a:xfrm>
                            <a:off x="3504" y="2304"/>
                            <a:ext cx="672" cy="0"/>
                          </a:xfrm>
                          <a:prstGeom prst="line">
                            <a:avLst/>
                          </a:prstGeom>
                          <a:ln w="12700" cap="flat" cmpd="sng">
                            <a:solidFill>
                              <a:schemeClr val="tx1"/>
                            </a:solidFill>
                            <a:prstDash val="solid"/>
                            <a:miter/>
                            <a:headEnd type="none" w="med" len="med"/>
                            <a:tailEnd type="none" w="med" len="med"/>
                          </a:ln>
                        </p:spPr>
                      </p:sp>
                      <p:sp>
                        <p:nvSpPr>
                          <p:cNvPr id="46107" name="Line 53"/>
                          <p:cNvSpPr/>
                          <p:nvPr/>
                        </p:nvSpPr>
                        <p:spPr>
                          <a:xfrm>
                            <a:off x="4800" y="1509"/>
                            <a:ext cx="672" cy="0"/>
                          </a:xfrm>
                          <a:prstGeom prst="line">
                            <a:avLst/>
                          </a:prstGeom>
                          <a:ln w="28575" cap="sq" cmpd="sng">
                            <a:solidFill>
                              <a:schemeClr val="tx1"/>
                            </a:solidFill>
                            <a:prstDash val="solid"/>
                            <a:miter/>
                            <a:headEnd type="none" w="med" len="med"/>
                            <a:tailEnd type="none" w="med" len="med"/>
                          </a:ln>
                        </p:spPr>
                      </p:sp>
                      <p:sp>
                        <p:nvSpPr>
                          <p:cNvPr id="46108" name="Line 54"/>
                          <p:cNvSpPr/>
                          <p:nvPr/>
                        </p:nvSpPr>
                        <p:spPr>
                          <a:xfrm>
                            <a:off x="4800" y="1762"/>
                            <a:ext cx="672" cy="0"/>
                          </a:xfrm>
                          <a:prstGeom prst="line">
                            <a:avLst/>
                          </a:prstGeom>
                          <a:ln w="12700" cap="flat" cmpd="sng">
                            <a:solidFill>
                              <a:schemeClr val="tx1"/>
                            </a:solidFill>
                            <a:prstDash val="solid"/>
                            <a:miter/>
                            <a:headEnd type="none" w="med" len="med"/>
                            <a:tailEnd type="none" w="med" len="med"/>
                          </a:ln>
                        </p:spPr>
                      </p:sp>
                      <p:sp>
                        <p:nvSpPr>
                          <p:cNvPr id="46109" name="Line 55"/>
                          <p:cNvSpPr/>
                          <p:nvPr/>
                        </p:nvSpPr>
                        <p:spPr>
                          <a:xfrm>
                            <a:off x="4800" y="2020"/>
                            <a:ext cx="672" cy="0"/>
                          </a:xfrm>
                          <a:prstGeom prst="line">
                            <a:avLst/>
                          </a:prstGeom>
                          <a:ln w="12700" cap="flat" cmpd="sng">
                            <a:solidFill>
                              <a:schemeClr val="tx1"/>
                            </a:solidFill>
                            <a:prstDash val="solid"/>
                            <a:miter/>
                            <a:headEnd type="none" w="med" len="med"/>
                            <a:tailEnd type="none" w="med" len="med"/>
                          </a:ln>
                        </p:spPr>
                      </p:sp>
                      <p:sp>
                        <p:nvSpPr>
                          <p:cNvPr id="46110" name="Line 56"/>
                          <p:cNvSpPr/>
                          <p:nvPr/>
                        </p:nvSpPr>
                        <p:spPr>
                          <a:xfrm>
                            <a:off x="4800" y="2325"/>
                            <a:ext cx="672" cy="0"/>
                          </a:xfrm>
                          <a:prstGeom prst="line">
                            <a:avLst/>
                          </a:prstGeom>
                          <a:ln w="12700" cap="flat" cmpd="sng">
                            <a:solidFill>
                              <a:schemeClr val="tx1"/>
                            </a:solidFill>
                            <a:prstDash val="solid"/>
                            <a:miter/>
                            <a:headEnd type="none" w="med" len="med"/>
                            <a:tailEnd type="none" w="med" len="med"/>
                          </a:ln>
                        </p:spPr>
                      </p:sp>
                      <p:sp>
                        <p:nvSpPr>
                          <p:cNvPr id="46111" name="Line 57"/>
                          <p:cNvSpPr/>
                          <p:nvPr/>
                        </p:nvSpPr>
                        <p:spPr>
                          <a:xfrm>
                            <a:off x="4800" y="2547"/>
                            <a:ext cx="672" cy="0"/>
                          </a:xfrm>
                          <a:prstGeom prst="line">
                            <a:avLst/>
                          </a:prstGeom>
                          <a:ln w="28575" cap="sq" cmpd="sng">
                            <a:solidFill>
                              <a:schemeClr val="tx1"/>
                            </a:solidFill>
                            <a:prstDash val="solid"/>
                            <a:miter/>
                            <a:headEnd type="none" w="med" len="med"/>
                            <a:tailEnd type="none" w="med" len="med"/>
                          </a:ln>
                        </p:spPr>
                      </p:sp>
                      <p:sp>
                        <p:nvSpPr>
                          <p:cNvPr id="46112" name="Line 58"/>
                          <p:cNvSpPr/>
                          <p:nvPr/>
                        </p:nvSpPr>
                        <p:spPr>
                          <a:xfrm>
                            <a:off x="4800" y="1509"/>
                            <a:ext cx="0" cy="1038"/>
                          </a:xfrm>
                          <a:prstGeom prst="line">
                            <a:avLst/>
                          </a:prstGeom>
                          <a:ln w="28575" cap="sq" cmpd="sng">
                            <a:solidFill>
                              <a:schemeClr val="tx1"/>
                            </a:solidFill>
                            <a:prstDash val="solid"/>
                            <a:miter/>
                            <a:headEnd type="none" w="med" len="med"/>
                            <a:tailEnd type="none" w="med" len="med"/>
                          </a:ln>
                        </p:spPr>
                      </p:sp>
                      <p:sp>
                        <p:nvSpPr>
                          <p:cNvPr id="46113" name="Line 59"/>
                          <p:cNvSpPr/>
                          <p:nvPr/>
                        </p:nvSpPr>
                        <p:spPr>
                          <a:xfrm>
                            <a:off x="5472" y="1509"/>
                            <a:ext cx="0" cy="1038"/>
                          </a:xfrm>
                          <a:prstGeom prst="line">
                            <a:avLst/>
                          </a:prstGeom>
                          <a:ln w="28575" cap="sq" cmpd="sng">
                            <a:solidFill>
                              <a:schemeClr val="tx1"/>
                            </a:solidFill>
                            <a:prstDash val="solid"/>
                            <a:miter/>
                            <a:headEnd type="none" w="med" len="med"/>
                            <a:tailEnd type="none" w="med" len="med"/>
                          </a:ln>
                        </p:spPr>
                      </p:sp>
                    </p:grpSp>
                  </p:grpSp>
                </p:grpSp>
              </p:grpSp>
              <p:sp>
                <p:nvSpPr>
                  <p:cNvPr id="46092" name="Line 21"/>
                  <p:cNvSpPr/>
                  <p:nvPr/>
                </p:nvSpPr>
                <p:spPr>
                  <a:xfrm>
                    <a:off x="2160" y="1248"/>
                    <a:ext cx="624" cy="0"/>
                  </a:xfrm>
                  <a:prstGeom prst="line">
                    <a:avLst/>
                  </a:prstGeom>
                  <a:ln w="28575" cap="sq" cmpd="sng">
                    <a:solidFill>
                      <a:schemeClr val="tx1"/>
                    </a:solidFill>
                    <a:prstDash val="solid"/>
                    <a:miter/>
                    <a:headEnd type="none" w="med" len="med"/>
                    <a:tailEnd type="none" w="med" len="med"/>
                  </a:ln>
                </p:spPr>
              </p:sp>
              <p:sp>
                <p:nvSpPr>
                  <p:cNvPr id="46093" name="Line 22"/>
                  <p:cNvSpPr/>
                  <p:nvPr/>
                </p:nvSpPr>
                <p:spPr>
                  <a:xfrm>
                    <a:off x="2160" y="1497"/>
                    <a:ext cx="624" cy="0"/>
                  </a:xfrm>
                  <a:prstGeom prst="line">
                    <a:avLst/>
                  </a:prstGeom>
                  <a:ln w="12700" cap="flat" cmpd="sng">
                    <a:solidFill>
                      <a:schemeClr val="tx1"/>
                    </a:solidFill>
                    <a:prstDash val="solid"/>
                    <a:miter/>
                    <a:headEnd type="none" w="med" len="med"/>
                    <a:tailEnd type="none" w="med" len="med"/>
                  </a:ln>
                </p:spPr>
              </p:sp>
              <p:sp>
                <p:nvSpPr>
                  <p:cNvPr id="46094" name="Line 23"/>
                  <p:cNvSpPr/>
                  <p:nvPr/>
                </p:nvSpPr>
                <p:spPr>
                  <a:xfrm>
                    <a:off x="2160" y="1746"/>
                    <a:ext cx="624" cy="0"/>
                  </a:xfrm>
                  <a:prstGeom prst="line">
                    <a:avLst/>
                  </a:prstGeom>
                  <a:ln w="12700" cap="flat" cmpd="sng">
                    <a:solidFill>
                      <a:schemeClr val="tx1"/>
                    </a:solidFill>
                    <a:prstDash val="solid"/>
                    <a:miter/>
                    <a:headEnd type="none" w="med" len="med"/>
                    <a:tailEnd type="none" w="med" len="med"/>
                  </a:ln>
                </p:spPr>
              </p:sp>
            </p:grpSp>
          </p:grpSp>
        </p:grpSp>
        <p:sp>
          <p:nvSpPr>
            <p:cNvPr id="46086" name="Rectangle 90"/>
            <p:cNvSpPr/>
            <p:nvPr/>
          </p:nvSpPr>
          <p:spPr>
            <a:xfrm>
              <a:off x="3923" y="3273"/>
              <a:ext cx="1209" cy="288"/>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空闲区队列</a:t>
              </a:r>
              <a:r>
                <a:rPr lang="en-US" altLang="zh-CN" sz="2400" b="1" dirty="0">
                  <a:solidFill>
                    <a:srgbClr val="000099"/>
                  </a:solidFill>
                  <a:ea typeface="楷体_GB2312" pitchFamily="49" charset="-122"/>
                </a:rPr>
                <a:t>)</a:t>
              </a:r>
              <a:endParaRPr lang="en-US" altLang="zh-CN" sz="2400" b="1" dirty="0">
                <a:solidFill>
                  <a:srgbClr val="000099"/>
                </a:solidFill>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58828"/>
                                        </p:tgtEl>
                                        <p:attrNameLst>
                                          <p:attrName>style.visibility</p:attrName>
                                        </p:attrNameLst>
                                      </p:cBhvr>
                                      <p:to>
                                        <p:strVal val="visible"/>
                                      </p:to>
                                    </p:set>
                                    <p:animEffect transition="in" filter="wipe(up)">
                                      <p:cBhvr>
                                        <p:cTn id="7" dur="5000"/>
                                        <p:tgtEl>
                                          <p:spTgt spid="4588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58843"/>
                                        </p:tgtEl>
                                        <p:attrNameLst>
                                          <p:attrName>style.visibility</p:attrName>
                                        </p:attrNameLst>
                                      </p:cBhvr>
                                      <p:to>
                                        <p:strVal val="visible"/>
                                      </p:to>
                                    </p:set>
                                    <p:animEffect transition="in" filter="wipe(left)">
                                      <p:cBhvr>
                                        <p:cTn id="12" dur="5000"/>
                                        <p:tgtEl>
                                          <p:spTgt spid="458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59785" name="Rectangle 9"/>
          <p:cNvSpPr/>
          <p:nvPr/>
        </p:nvSpPr>
        <p:spPr>
          <a:xfrm>
            <a:off x="684213" y="908050"/>
            <a:ext cx="7272337" cy="968375"/>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spcBef>
                <a:spcPct val="0"/>
              </a:spcBef>
              <a:buClrTx/>
              <a:buSzTx/>
              <a:buFontTx/>
              <a:buNone/>
            </a:pPr>
            <a:r>
              <a:rPr lang="zh-CN" altLang="en-US" sz="2400" b="1" dirty="0">
                <a:solidFill>
                  <a:srgbClr val="006600"/>
                </a:solidFill>
                <a:ea typeface="楷体_GB2312" pitchFamily="49" charset="-122"/>
              </a:rPr>
              <a:t>主存分配与回收过程：</a:t>
            </a:r>
            <a:endParaRPr lang="zh-CN" altLang="en-US" sz="2400" b="1" dirty="0">
              <a:solidFill>
                <a:srgbClr val="006600"/>
              </a:solidFill>
              <a:ea typeface="楷体_GB2312" pitchFamily="49" charset="-122"/>
            </a:endParaRPr>
          </a:p>
          <a:p>
            <a:pPr marL="0" lvl="0" indent="0" eaLnBrk="1" hangingPunct="1">
              <a:lnSpc>
                <a:spcPct val="120000"/>
              </a:lnSpc>
              <a:spcBef>
                <a:spcPct val="0"/>
              </a:spcBef>
              <a:buClrTx/>
              <a:buSzTx/>
              <a:buFontTx/>
              <a:buNone/>
            </a:pPr>
            <a:r>
              <a:rPr lang="zh-CN" altLang="en-US" sz="2400" b="1" dirty="0">
                <a:solidFill>
                  <a:srgbClr val="006600"/>
                </a:solidFill>
                <a:ea typeface="楷体_GB2312" pitchFamily="49" charset="-122"/>
              </a:rPr>
              <a:t>        （设系统主存容量为</a:t>
            </a:r>
            <a:r>
              <a:rPr lang="en-US" altLang="zh-CN" sz="2400" b="1" dirty="0">
                <a:solidFill>
                  <a:srgbClr val="006600"/>
                </a:solidFill>
                <a:ea typeface="楷体_GB2312" pitchFamily="49" charset="-122"/>
              </a:rPr>
              <a:t>256K</a:t>
            </a:r>
            <a:r>
              <a:rPr lang="zh-CN" altLang="en-US" sz="2400" b="1" dirty="0">
                <a:solidFill>
                  <a:srgbClr val="006600"/>
                </a:solidFill>
                <a:ea typeface="楷体_GB2312" pitchFamily="49" charset="-122"/>
              </a:rPr>
              <a:t>，</a:t>
            </a:r>
            <a:r>
              <a:rPr lang="en-US" altLang="zh-CN" sz="2400" b="1" dirty="0">
                <a:solidFill>
                  <a:srgbClr val="006600"/>
                </a:solidFill>
                <a:ea typeface="楷体_GB2312" pitchFamily="49" charset="-122"/>
              </a:rPr>
              <a:t>OS</a:t>
            </a:r>
            <a:r>
              <a:rPr lang="zh-CN" altLang="en-US" sz="2400" b="1" dirty="0">
                <a:solidFill>
                  <a:srgbClr val="006600"/>
                </a:solidFill>
                <a:ea typeface="楷体_GB2312" pitchFamily="49" charset="-122"/>
              </a:rPr>
              <a:t>占用</a:t>
            </a:r>
            <a:r>
              <a:rPr lang="en-US" altLang="zh-CN" sz="2400" b="1" dirty="0">
                <a:solidFill>
                  <a:srgbClr val="006600"/>
                </a:solidFill>
                <a:ea typeface="楷体_GB2312" pitchFamily="49" charset="-122"/>
              </a:rPr>
              <a:t>20K</a:t>
            </a:r>
            <a:r>
              <a:rPr lang="zh-CN" altLang="en-US" sz="2400" b="1" dirty="0">
                <a:solidFill>
                  <a:srgbClr val="006600"/>
                </a:solidFill>
                <a:ea typeface="楷体_GB2312" pitchFamily="49" charset="-122"/>
              </a:rPr>
              <a:t>）</a:t>
            </a:r>
            <a:r>
              <a:rPr lang="zh-CN" altLang="en-US" sz="2400" b="1" dirty="0">
                <a:ea typeface="楷体_GB2312" pitchFamily="49" charset="-122"/>
              </a:rPr>
              <a:t>  </a:t>
            </a:r>
            <a:endParaRPr lang="zh-CN" altLang="en-US" sz="2400" b="1" dirty="0">
              <a:ea typeface="楷体_GB2312" pitchFamily="49" charset="-122"/>
            </a:endParaRPr>
          </a:p>
        </p:txBody>
      </p:sp>
      <p:grpSp>
        <p:nvGrpSpPr>
          <p:cNvPr id="459786" name="Group 10"/>
          <p:cNvGrpSpPr/>
          <p:nvPr/>
        </p:nvGrpSpPr>
        <p:grpSpPr>
          <a:xfrm>
            <a:off x="1547813" y="2133600"/>
            <a:ext cx="6913562" cy="360363"/>
            <a:chOff x="1869" y="7916"/>
            <a:chExt cx="6720" cy="500"/>
          </a:xfrm>
        </p:grpSpPr>
        <p:sp>
          <p:nvSpPr>
            <p:cNvPr id="47135" name="Rectangle 11"/>
            <p:cNvSpPr/>
            <p:nvPr/>
          </p:nvSpPr>
          <p:spPr>
            <a:xfrm>
              <a:off x="1869" y="7916"/>
              <a:ext cx="1365" cy="50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990033"/>
                  </a:solidFill>
                  <a:latin typeface="楷体_GB2312" pitchFamily="49" charset="-122"/>
                  <a:ea typeface="楷体_GB2312" pitchFamily="49" charset="-122"/>
                </a:rPr>
                <a:t>进程</a:t>
              </a:r>
              <a:r>
                <a:rPr lang="en-US" altLang="zh-CN" sz="1800" b="1" dirty="0">
                  <a:solidFill>
                    <a:srgbClr val="990033"/>
                  </a:solidFill>
                  <a:latin typeface="楷体_GB2312" pitchFamily="49" charset="-122"/>
                  <a:ea typeface="楷体_GB2312" pitchFamily="49" charset="-122"/>
                </a:rPr>
                <a:t>A (64K</a:t>
              </a:r>
              <a:r>
                <a:rPr lang="zh-CN" altLang="en-US" sz="1800" b="1" dirty="0">
                  <a:solidFill>
                    <a:srgbClr val="990033"/>
                  </a:solidFill>
                  <a:latin typeface="楷体_GB2312" pitchFamily="49" charset="-122"/>
                  <a:ea typeface="楷体_GB2312" pitchFamily="49" charset="-122"/>
                </a:rPr>
                <a:t>）</a:t>
              </a:r>
              <a:endParaRPr lang="zh-CN" altLang="en-US" sz="1800" b="1" dirty="0">
                <a:solidFill>
                  <a:srgbClr val="990033"/>
                </a:solidFill>
                <a:latin typeface="楷体_GB2312" pitchFamily="49" charset="-122"/>
                <a:ea typeface="楷体_GB2312" pitchFamily="49" charset="-122"/>
              </a:endParaRPr>
            </a:p>
            <a:p>
              <a:pPr marL="0" lvl="0" indent="0" eaLnBrk="1" hangingPunct="1">
                <a:spcBef>
                  <a:spcPct val="0"/>
                </a:spcBef>
                <a:buClrTx/>
                <a:buSzTx/>
                <a:buFontTx/>
                <a:buNone/>
              </a:pPr>
              <a:endParaRPr lang="en-US" altLang="zh-CN" sz="1800" b="1" dirty="0">
                <a:solidFill>
                  <a:srgbClr val="990033"/>
                </a:solidFill>
                <a:latin typeface="楷体_GB2312" pitchFamily="49" charset="-122"/>
                <a:ea typeface="楷体_GB2312" pitchFamily="49" charset="-122"/>
              </a:endParaRPr>
            </a:p>
          </p:txBody>
        </p:sp>
        <p:sp>
          <p:nvSpPr>
            <p:cNvPr id="47136" name="Rectangle 12"/>
            <p:cNvSpPr/>
            <p:nvPr/>
          </p:nvSpPr>
          <p:spPr>
            <a:xfrm>
              <a:off x="3234" y="7916"/>
              <a:ext cx="1365" cy="50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990033"/>
                  </a:solidFill>
                  <a:latin typeface="楷体_GB2312" pitchFamily="49" charset="-122"/>
                  <a:ea typeface="楷体_GB2312" pitchFamily="49" charset="-122"/>
                </a:rPr>
                <a:t>进程</a:t>
              </a:r>
              <a:r>
                <a:rPr lang="en-US" altLang="zh-CN" sz="1800" b="1" dirty="0">
                  <a:solidFill>
                    <a:srgbClr val="990033"/>
                  </a:solidFill>
                  <a:latin typeface="楷体_GB2312" pitchFamily="49" charset="-122"/>
                  <a:ea typeface="楷体_GB2312" pitchFamily="49" charset="-122"/>
                </a:rPr>
                <a:t>B (16K</a:t>
              </a:r>
              <a:r>
                <a:rPr lang="zh-CN" altLang="en-US" sz="1800" b="1" dirty="0">
                  <a:solidFill>
                    <a:srgbClr val="990033"/>
                  </a:solidFill>
                  <a:latin typeface="楷体_GB2312" pitchFamily="49" charset="-122"/>
                  <a:ea typeface="楷体_GB2312" pitchFamily="49" charset="-122"/>
                </a:rPr>
                <a:t>）</a:t>
              </a:r>
              <a:endParaRPr lang="zh-CN" altLang="en-US" sz="1800" b="1" dirty="0">
                <a:solidFill>
                  <a:srgbClr val="990033"/>
                </a:solidFill>
                <a:latin typeface="楷体_GB2312" pitchFamily="49" charset="-122"/>
                <a:ea typeface="楷体_GB2312" pitchFamily="49" charset="-122"/>
              </a:endParaRPr>
            </a:p>
            <a:p>
              <a:pPr marL="0" lvl="0" indent="0" eaLnBrk="1" hangingPunct="1">
                <a:spcBef>
                  <a:spcPct val="0"/>
                </a:spcBef>
                <a:buClrTx/>
                <a:buSzTx/>
                <a:buFontTx/>
                <a:buNone/>
              </a:pPr>
              <a:endParaRPr lang="en-US" altLang="zh-CN" sz="2400" b="1" dirty="0">
                <a:ea typeface="楷体_GB2312" pitchFamily="49" charset="-122"/>
              </a:endParaRPr>
            </a:p>
          </p:txBody>
        </p:sp>
        <p:sp>
          <p:nvSpPr>
            <p:cNvPr id="47137" name="Rectangle 13"/>
            <p:cNvSpPr/>
            <p:nvPr/>
          </p:nvSpPr>
          <p:spPr>
            <a:xfrm>
              <a:off x="4599" y="7916"/>
              <a:ext cx="1365" cy="50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990033"/>
                  </a:solidFill>
                  <a:latin typeface="楷体_GB2312" pitchFamily="49" charset="-122"/>
                  <a:ea typeface="楷体_GB2312" pitchFamily="49" charset="-122"/>
                </a:rPr>
                <a:t>进程</a:t>
              </a:r>
              <a:r>
                <a:rPr lang="en-US" altLang="zh-CN" sz="1800" b="1" dirty="0">
                  <a:solidFill>
                    <a:srgbClr val="990033"/>
                  </a:solidFill>
                  <a:latin typeface="楷体_GB2312" pitchFamily="49" charset="-122"/>
                  <a:ea typeface="楷体_GB2312" pitchFamily="49" charset="-122"/>
                </a:rPr>
                <a:t>C (8K</a:t>
              </a:r>
              <a:r>
                <a:rPr lang="zh-CN" altLang="en-US" sz="1800" b="1" dirty="0">
                  <a:solidFill>
                    <a:srgbClr val="990033"/>
                  </a:solidFill>
                  <a:latin typeface="楷体_GB2312" pitchFamily="49" charset="-122"/>
                  <a:ea typeface="楷体_GB2312" pitchFamily="49" charset="-122"/>
                </a:rPr>
                <a:t>）</a:t>
              </a:r>
              <a:endParaRPr lang="zh-CN" altLang="en-US" sz="1800" b="1" dirty="0">
                <a:solidFill>
                  <a:srgbClr val="990033"/>
                </a:solidFill>
                <a:latin typeface="楷体_GB2312" pitchFamily="49" charset="-122"/>
                <a:ea typeface="楷体_GB2312" pitchFamily="49" charset="-122"/>
              </a:endParaRPr>
            </a:p>
            <a:p>
              <a:pPr marL="0" lvl="0" indent="0" eaLnBrk="1" hangingPunct="1">
                <a:spcBef>
                  <a:spcPct val="0"/>
                </a:spcBef>
                <a:buClrTx/>
                <a:buSzTx/>
                <a:buFontTx/>
                <a:buNone/>
              </a:pPr>
              <a:endParaRPr lang="en-US" altLang="zh-CN" sz="1800" b="1" dirty="0">
                <a:solidFill>
                  <a:srgbClr val="990033"/>
                </a:solidFill>
                <a:latin typeface="楷体_GB2312" pitchFamily="49" charset="-122"/>
                <a:ea typeface="楷体_GB2312" pitchFamily="49" charset="-122"/>
              </a:endParaRPr>
            </a:p>
          </p:txBody>
        </p:sp>
        <p:sp>
          <p:nvSpPr>
            <p:cNvPr id="47138" name="Rectangle 14"/>
            <p:cNvSpPr/>
            <p:nvPr/>
          </p:nvSpPr>
          <p:spPr>
            <a:xfrm>
              <a:off x="5964" y="7916"/>
              <a:ext cx="1365" cy="50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990033"/>
                  </a:solidFill>
                  <a:latin typeface="楷体_GB2312" pitchFamily="49" charset="-122"/>
                  <a:ea typeface="楷体_GB2312" pitchFamily="49" charset="-122"/>
                </a:rPr>
                <a:t>进程</a:t>
              </a:r>
              <a:r>
                <a:rPr lang="en-US" altLang="zh-CN" sz="1800" b="1" dirty="0">
                  <a:solidFill>
                    <a:srgbClr val="990033"/>
                  </a:solidFill>
                  <a:latin typeface="楷体_GB2312" pitchFamily="49" charset="-122"/>
                  <a:ea typeface="楷体_GB2312" pitchFamily="49" charset="-122"/>
                </a:rPr>
                <a:t>D (24K</a:t>
              </a:r>
              <a:r>
                <a:rPr lang="zh-CN" altLang="en-US" sz="1800" b="1" dirty="0">
                  <a:solidFill>
                    <a:srgbClr val="990033"/>
                  </a:solidFill>
                  <a:latin typeface="楷体_GB2312" pitchFamily="49" charset="-122"/>
                  <a:ea typeface="楷体_GB2312" pitchFamily="49" charset="-122"/>
                </a:rPr>
                <a:t>）</a:t>
              </a:r>
              <a:endParaRPr lang="zh-CN" altLang="en-US" sz="1800" b="1" dirty="0">
                <a:solidFill>
                  <a:srgbClr val="990033"/>
                </a:solidFill>
                <a:latin typeface="楷体_GB2312" pitchFamily="49" charset="-122"/>
                <a:ea typeface="楷体_GB2312" pitchFamily="49" charset="-122"/>
              </a:endParaRPr>
            </a:p>
            <a:p>
              <a:pPr marL="0" lvl="0" indent="0" eaLnBrk="1" hangingPunct="1">
                <a:spcBef>
                  <a:spcPct val="0"/>
                </a:spcBef>
                <a:buClrTx/>
                <a:buSzTx/>
                <a:buFontTx/>
                <a:buNone/>
              </a:pPr>
              <a:endParaRPr lang="en-US" altLang="zh-CN" sz="1800" b="1" dirty="0">
                <a:solidFill>
                  <a:srgbClr val="990033"/>
                </a:solidFill>
                <a:latin typeface="楷体_GB2312" pitchFamily="49" charset="-122"/>
                <a:ea typeface="楷体_GB2312" pitchFamily="49" charset="-122"/>
              </a:endParaRPr>
            </a:p>
          </p:txBody>
        </p:sp>
        <p:sp>
          <p:nvSpPr>
            <p:cNvPr id="47139" name="Line 15"/>
            <p:cNvSpPr/>
            <p:nvPr/>
          </p:nvSpPr>
          <p:spPr>
            <a:xfrm>
              <a:off x="7329" y="7916"/>
              <a:ext cx="1260" cy="0"/>
            </a:xfrm>
            <a:prstGeom prst="line">
              <a:avLst/>
            </a:prstGeom>
            <a:ln w="9525" cap="flat" cmpd="sng">
              <a:solidFill>
                <a:srgbClr val="000000"/>
              </a:solidFill>
              <a:prstDash val="solid"/>
              <a:headEnd type="none" w="med" len="med"/>
              <a:tailEnd type="none" w="med" len="med"/>
            </a:ln>
          </p:spPr>
        </p:sp>
        <p:sp>
          <p:nvSpPr>
            <p:cNvPr id="47140" name="Line 16"/>
            <p:cNvSpPr/>
            <p:nvPr/>
          </p:nvSpPr>
          <p:spPr>
            <a:xfrm>
              <a:off x="7329" y="8416"/>
              <a:ext cx="1260" cy="0"/>
            </a:xfrm>
            <a:prstGeom prst="line">
              <a:avLst/>
            </a:prstGeom>
            <a:ln w="9525" cap="flat" cmpd="sng">
              <a:solidFill>
                <a:srgbClr val="000000"/>
              </a:solidFill>
              <a:prstDash val="solid"/>
              <a:headEnd type="none" w="med" len="med"/>
              <a:tailEnd type="none" w="med" len="med"/>
            </a:ln>
          </p:spPr>
        </p:sp>
      </p:grpSp>
      <p:grpSp>
        <p:nvGrpSpPr>
          <p:cNvPr id="459815" name="Group 39"/>
          <p:cNvGrpSpPr/>
          <p:nvPr/>
        </p:nvGrpSpPr>
        <p:grpSpPr>
          <a:xfrm>
            <a:off x="1547813" y="2997200"/>
            <a:ext cx="735012" cy="3384550"/>
            <a:chOff x="975" y="1888"/>
            <a:chExt cx="463" cy="2132"/>
          </a:xfrm>
        </p:grpSpPr>
        <p:sp>
          <p:nvSpPr>
            <p:cNvPr id="47132" name="Rectangle 20"/>
            <p:cNvSpPr/>
            <p:nvPr/>
          </p:nvSpPr>
          <p:spPr>
            <a:xfrm>
              <a:off x="975" y="1888"/>
              <a:ext cx="463" cy="2132"/>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000" dirty="0"/>
                <a:t>进程</a:t>
              </a:r>
              <a:r>
                <a:rPr lang="en-US" altLang="zh-CN" sz="1000" dirty="0"/>
                <a:t>A </a:t>
              </a:r>
              <a:endParaRPr lang="en-US" altLang="zh-CN" sz="1000" dirty="0"/>
            </a:p>
            <a:p>
              <a:pPr marL="0" lvl="0" indent="0" eaLnBrk="1" hangingPunct="1">
                <a:spcBef>
                  <a:spcPct val="0"/>
                </a:spcBef>
                <a:buClrTx/>
                <a:buSzTx/>
                <a:buFontTx/>
                <a:buNone/>
              </a:pPr>
              <a:endParaRPr lang="en-US" altLang="zh-CN" sz="2400" b="1" dirty="0">
                <a:ea typeface="楷体_GB2312" pitchFamily="49" charset="-122"/>
              </a:endParaRPr>
            </a:p>
          </p:txBody>
        </p:sp>
        <p:sp>
          <p:nvSpPr>
            <p:cNvPr id="47133" name="Rectangle 21"/>
            <p:cNvSpPr/>
            <p:nvPr/>
          </p:nvSpPr>
          <p:spPr>
            <a:xfrm>
              <a:off x="975" y="1888"/>
              <a:ext cx="463" cy="388"/>
            </a:xfrm>
            <a:prstGeom prst="rect">
              <a:avLst/>
            </a:prstGeom>
            <a:solidFill>
              <a:srgbClr val="FFFFFF"/>
            </a:solidFill>
            <a:ln w="9525" cap="flat" cmpd="sng">
              <a:solidFill>
                <a:srgbClr val="00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800" b="1" dirty="0">
                  <a:solidFill>
                    <a:srgbClr val="000099"/>
                  </a:solidFill>
                  <a:latin typeface="楷体_GB2312" pitchFamily="49" charset="-122"/>
                  <a:ea typeface="楷体_GB2312" pitchFamily="49" charset="-122"/>
                </a:rPr>
                <a:t> </a:t>
              </a:r>
              <a:r>
                <a:rPr lang="en-US" altLang="zh-CN" sz="2400" b="1" dirty="0">
                  <a:solidFill>
                    <a:srgbClr val="000099"/>
                  </a:solidFill>
                  <a:ea typeface="楷体_GB2312" pitchFamily="49" charset="-122"/>
                </a:rPr>
                <a:t>OS</a:t>
              </a:r>
              <a:endParaRPr lang="en-US" altLang="zh-CN" sz="2400" b="1" dirty="0">
                <a:solidFill>
                  <a:srgbClr val="000099"/>
                </a:solidFill>
                <a:ea typeface="楷体_GB2312" pitchFamily="49" charset="-122"/>
              </a:endParaRPr>
            </a:p>
            <a:p>
              <a:pPr marL="0" lvl="0" indent="0" algn="just" eaLnBrk="1" hangingPunct="1">
                <a:spcBef>
                  <a:spcPct val="0"/>
                </a:spcBef>
                <a:buClrTx/>
                <a:buSzTx/>
                <a:buFontTx/>
                <a:buNone/>
              </a:pPr>
              <a:endParaRPr lang="en-US" altLang="zh-CN" sz="1800" b="1" dirty="0">
                <a:solidFill>
                  <a:srgbClr val="000099"/>
                </a:solidFill>
                <a:latin typeface="楷体_GB2312" pitchFamily="49" charset="-122"/>
                <a:ea typeface="楷体_GB2312" pitchFamily="49" charset="-122"/>
              </a:endParaRPr>
            </a:p>
            <a:p>
              <a:pPr marL="0" lvl="0" indent="0" eaLnBrk="1" hangingPunct="1">
                <a:spcBef>
                  <a:spcPct val="0"/>
                </a:spcBef>
                <a:buClrTx/>
                <a:buSzTx/>
                <a:buFontTx/>
                <a:buNone/>
              </a:pPr>
              <a:endParaRPr lang="en-US" altLang="zh-CN" sz="2400" b="1" dirty="0">
                <a:ea typeface="楷体_GB2312" pitchFamily="49" charset="-122"/>
              </a:endParaRPr>
            </a:p>
          </p:txBody>
        </p:sp>
        <p:sp>
          <p:nvSpPr>
            <p:cNvPr id="47134" name="Rectangle 28"/>
            <p:cNvSpPr/>
            <p:nvPr/>
          </p:nvSpPr>
          <p:spPr>
            <a:xfrm>
              <a:off x="975" y="2276"/>
              <a:ext cx="463" cy="387"/>
            </a:xfrm>
            <a:prstGeom prst="rect">
              <a:avLst/>
            </a:prstGeom>
            <a:solidFill>
              <a:srgbClr val="FFFFFF"/>
            </a:solidFill>
            <a:ln w="9525" cap="flat" cmpd="sng">
              <a:solidFill>
                <a:srgbClr val="FF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000099"/>
                  </a:solidFill>
                  <a:latin typeface="楷体_GB2312" pitchFamily="49" charset="-122"/>
                  <a:ea typeface="楷体_GB2312" pitchFamily="49" charset="-122"/>
                </a:rPr>
                <a:t>进程</a:t>
              </a:r>
              <a:r>
                <a:rPr lang="en-US" altLang="zh-CN" sz="1800" b="1" dirty="0">
                  <a:solidFill>
                    <a:srgbClr val="000099"/>
                  </a:solidFill>
                  <a:latin typeface="楷体_GB2312" pitchFamily="49" charset="-122"/>
                  <a:ea typeface="楷体_GB2312" pitchFamily="49" charset="-122"/>
                </a:rPr>
                <a:t>A</a:t>
              </a:r>
              <a:r>
                <a:rPr lang="en-US" altLang="zh-CN" sz="1000" dirty="0"/>
                <a:t> </a:t>
              </a:r>
              <a:endParaRPr lang="en-US" altLang="zh-CN" sz="1000" dirty="0"/>
            </a:p>
            <a:p>
              <a:pPr marL="0" lvl="0" indent="0" eaLnBrk="1" hangingPunct="1">
                <a:spcBef>
                  <a:spcPct val="0"/>
                </a:spcBef>
                <a:buClrTx/>
                <a:buSzTx/>
                <a:buFontTx/>
                <a:buNone/>
              </a:pPr>
              <a:endParaRPr lang="en-US" altLang="zh-CN" sz="2400" b="1" dirty="0">
                <a:ea typeface="楷体_GB2312" pitchFamily="49" charset="-122"/>
              </a:endParaRPr>
            </a:p>
          </p:txBody>
        </p:sp>
      </p:grpSp>
      <p:grpSp>
        <p:nvGrpSpPr>
          <p:cNvPr id="459816" name="Group 40"/>
          <p:cNvGrpSpPr/>
          <p:nvPr/>
        </p:nvGrpSpPr>
        <p:grpSpPr>
          <a:xfrm>
            <a:off x="2806700" y="2997200"/>
            <a:ext cx="735013" cy="3384550"/>
            <a:chOff x="1768" y="1888"/>
            <a:chExt cx="463" cy="2132"/>
          </a:xfrm>
        </p:grpSpPr>
        <p:sp>
          <p:nvSpPr>
            <p:cNvPr id="47127" name="Rectangle 19"/>
            <p:cNvSpPr/>
            <p:nvPr/>
          </p:nvSpPr>
          <p:spPr>
            <a:xfrm>
              <a:off x="1768" y="1888"/>
              <a:ext cx="463" cy="2132"/>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1000" dirty="0"/>
            </a:p>
            <a:p>
              <a:pPr marL="0" lvl="0" indent="0" eaLnBrk="1" hangingPunct="1">
                <a:spcBef>
                  <a:spcPct val="0"/>
                </a:spcBef>
                <a:buClrTx/>
                <a:buSzTx/>
                <a:buFontTx/>
                <a:buNone/>
              </a:pPr>
              <a:endParaRPr lang="en-US" altLang="zh-CN" sz="2400" b="1" dirty="0">
                <a:ea typeface="楷体_GB2312" pitchFamily="49" charset="-122"/>
              </a:endParaRPr>
            </a:p>
          </p:txBody>
        </p:sp>
        <p:sp>
          <p:nvSpPr>
            <p:cNvPr id="47128" name="Rectangle 24"/>
            <p:cNvSpPr/>
            <p:nvPr/>
          </p:nvSpPr>
          <p:spPr>
            <a:xfrm>
              <a:off x="1768" y="1888"/>
              <a:ext cx="463" cy="388"/>
            </a:xfrm>
            <a:prstGeom prst="rect">
              <a:avLst/>
            </a:prstGeom>
            <a:solidFill>
              <a:srgbClr val="FFFFFF"/>
            </a:solidFill>
            <a:ln w="9525" cap="flat" cmpd="sng">
              <a:solidFill>
                <a:srgbClr val="00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400" b="1" dirty="0">
                  <a:solidFill>
                    <a:srgbClr val="000099"/>
                  </a:solidFill>
                  <a:ea typeface="楷体_GB2312" pitchFamily="49" charset="-122"/>
                </a:rPr>
                <a:t>OS</a:t>
              </a:r>
              <a:endParaRPr lang="en-US" altLang="zh-CN" sz="2400" b="1" dirty="0">
                <a:solidFill>
                  <a:srgbClr val="000099"/>
                </a:solidFill>
                <a:ea typeface="楷体_GB2312" pitchFamily="49" charset="-122"/>
              </a:endParaRPr>
            </a:p>
          </p:txBody>
        </p:sp>
        <p:sp>
          <p:nvSpPr>
            <p:cNvPr id="47129" name="Rectangle 29"/>
            <p:cNvSpPr/>
            <p:nvPr/>
          </p:nvSpPr>
          <p:spPr>
            <a:xfrm>
              <a:off x="1768" y="2276"/>
              <a:ext cx="463" cy="387"/>
            </a:xfrm>
            <a:prstGeom prst="rect">
              <a:avLst/>
            </a:prstGeom>
            <a:solidFill>
              <a:srgbClr val="FFFFFF"/>
            </a:solidFill>
            <a:ln w="9525" cap="flat" cmpd="sng">
              <a:solidFill>
                <a:srgbClr val="FF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000099"/>
                  </a:solidFill>
                  <a:ea typeface="楷体_GB2312" pitchFamily="49" charset="-122"/>
                </a:rPr>
                <a:t>进程</a:t>
              </a:r>
              <a:r>
                <a:rPr lang="en-US" altLang="zh-CN" sz="1800" b="1" dirty="0">
                  <a:solidFill>
                    <a:srgbClr val="000099"/>
                  </a:solidFill>
                  <a:ea typeface="楷体_GB2312" pitchFamily="49" charset="-122"/>
                </a:rPr>
                <a:t>A</a:t>
              </a:r>
              <a:endParaRPr lang="en-US" altLang="zh-CN" sz="1800" dirty="0"/>
            </a:p>
            <a:p>
              <a:pPr marL="0" lvl="0" indent="0" eaLnBrk="1" hangingPunct="1">
                <a:spcBef>
                  <a:spcPct val="0"/>
                </a:spcBef>
                <a:buClrTx/>
                <a:buSzTx/>
                <a:buFontTx/>
                <a:buNone/>
              </a:pPr>
              <a:endParaRPr lang="en-US" altLang="zh-CN" sz="1800" b="1" dirty="0">
                <a:ea typeface="楷体_GB2312" pitchFamily="49" charset="-122"/>
              </a:endParaRPr>
            </a:p>
          </p:txBody>
        </p:sp>
        <p:sp>
          <p:nvSpPr>
            <p:cNvPr id="47130" name="Rectangle 30"/>
            <p:cNvSpPr/>
            <p:nvPr/>
          </p:nvSpPr>
          <p:spPr>
            <a:xfrm>
              <a:off x="1768" y="2663"/>
              <a:ext cx="463" cy="388"/>
            </a:xfrm>
            <a:prstGeom prst="rect">
              <a:avLst/>
            </a:prstGeom>
            <a:solidFill>
              <a:srgbClr val="FFFFFF"/>
            </a:solidFill>
            <a:ln w="9525" cap="flat" cmpd="sng">
              <a:solidFill>
                <a:srgbClr val="FF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000099"/>
                  </a:solidFill>
                  <a:ea typeface="楷体_GB2312" pitchFamily="49" charset="-122"/>
                </a:rPr>
                <a:t>进程</a:t>
              </a:r>
              <a:r>
                <a:rPr lang="en-US" altLang="zh-CN" sz="1800" b="1" dirty="0">
                  <a:solidFill>
                    <a:srgbClr val="000099"/>
                  </a:solidFill>
                  <a:ea typeface="楷体_GB2312" pitchFamily="49" charset="-122"/>
                </a:rPr>
                <a:t>B</a:t>
              </a:r>
              <a:endParaRPr lang="en-US" altLang="zh-CN" sz="1800" dirty="0"/>
            </a:p>
            <a:p>
              <a:pPr marL="0" lvl="0" indent="0" eaLnBrk="1" hangingPunct="1">
                <a:spcBef>
                  <a:spcPct val="0"/>
                </a:spcBef>
                <a:buClrTx/>
                <a:buSzTx/>
                <a:buFontTx/>
                <a:buNone/>
              </a:pPr>
              <a:endParaRPr lang="en-US" altLang="zh-CN" sz="1800" b="1" dirty="0">
                <a:ea typeface="楷体_GB2312" pitchFamily="49" charset="-122"/>
              </a:endParaRPr>
            </a:p>
          </p:txBody>
        </p:sp>
        <p:sp>
          <p:nvSpPr>
            <p:cNvPr id="47131" name="Rectangle 31"/>
            <p:cNvSpPr/>
            <p:nvPr/>
          </p:nvSpPr>
          <p:spPr>
            <a:xfrm>
              <a:off x="1768" y="3051"/>
              <a:ext cx="463" cy="388"/>
            </a:xfrm>
            <a:prstGeom prst="rect">
              <a:avLst/>
            </a:prstGeom>
            <a:solidFill>
              <a:srgbClr val="FFFFFF"/>
            </a:solidFill>
            <a:ln w="9525" cap="flat" cmpd="sng">
              <a:solidFill>
                <a:srgbClr val="FF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000099"/>
                  </a:solidFill>
                  <a:ea typeface="楷体_GB2312" pitchFamily="49" charset="-122"/>
                </a:rPr>
                <a:t>进程</a:t>
              </a:r>
              <a:r>
                <a:rPr lang="en-US" altLang="zh-CN" sz="1800" b="1" dirty="0">
                  <a:solidFill>
                    <a:srgbClr val="000099"/>
                  </a:solidFill>
                  <a:ea typeface="楷体_GB2312" pitchFamily="49" charset="-122"/>
                </a:rPr>
                <a:t>C</a:t>
              </a:r>
              <a:endParaRPr lang="en-US" altLang="zh-CN" sz="1800" dirty="0"/>
            </a:p>
            <a:p>
              <a:pPr marL="0" lvl="0" indent="0" eaLnBrk="1" hangingPunct="1">
                <a:spcBef>
                  <a:spcPct val="0"/>
                </a:spcBef>
                <a:buClrTx/>
                <a:buSzTx/>
                <a:buFontTx/>
                <a:buNone/>
              </a:pPr>
              <a:endParaRPr lang="en-US" altLang="zh-CN" sz="1800" b="1" dirty="0">
                <a:ea typeface="楷体_GB2312" pitchFamily="49" charset="-122"/>
              </a:endParaRPr>
            </a:p>
          </p:txBody>
        </p:sp>
      </p:grpSp>
      <p:grpSp>
        <p:nvGrpSpPr>
          <p:cNvPr id="459817" name="Group 41"/>
          <p:cNvGrpSpPr/>
          <p:nvPr/>
        </p:nvGrpSpPr>
        <p:grpSpPr>
          <a:xfrm>
            <a:off x="4171950" y="2997200"/>
            <a:ext cx="735013" cy="3384550"/>
            <a:chOff x="2628" y="1888"/>
            <a:chExt cx="463" cy="2132"/>
          </a:xfrm>
        </p:grpSpPr>
        <p:sp>
          <p:nvSpPr>
            <p:cNvPr id="47123" name="Rectangle 22"/>
            <p:cNvSpPr/>
            <p:nvPr/>
          </p:nvSpPr>
          <p:spPr>
            <a:xfrm>
              <a:off x="2628" y="1888"/>
              <a:ext cx="463" cy="2132"/>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1000" dirty="0"/>
            </a:p>
            <a:p>
              <a:pPr marL="0" lvl="0" indent="0" eaLnBrk="1" hangingPunct="1">
                <a:spcBef>
                  <a:spcPct val="0"/>
                </a:spcBef>
                <a:buClrTx/>
                <a:buSzTx/>
                <a:buFontTx/>
                <a:buNone/>
              </a:pPr>
              <a:endParaRPr lang="en-US" altLang="zh-CN" sz="2400" b="1" dirty="0">
                <a:ea typeface="楷体_GB2312" pitchFamily="49" charset="-122"/>
              </a:endParaRPr>
            </a:p>
          </p:txBody>
        </p:sp>
        <p:sp>
          <p:nvSpPr>
            <p:cNvPr id="47124" name="Rectangle 26"/>
            <p:cNvSpPr/>
            <p:nvPr/>
          </p:nvSpPr>
          <p:spPr>
            <a:xfrm>
              <a:off x="2628" y="1888"/>
              <a:ext cx="463" cy="388"/>
            </a:xfrm>
            <a:prstGeom prst="rect">
              <a:avLst/>
            </a:prstGeom>
            <a:solidFill>
              <a:srgbClr val="FFFFFF"/>
            </a:solidFill>
            <a:ln w="9525" cap="flat" cmpd="sng">
              <a:solidFill>
                <a:srgbClr val="00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400" b="1" dirty="0">
                  <a:solidFill>
                    <a:srgbClr val="000099"/>
                  </a:solidFill>
                  <a:ea typeface="楷体_GB2312" pitchFamily="49" charset="-122"/>
                </a:rPr>
                <a:t> OS</a:t>
              </a:r>
              <a:endParaRPr lang="en-US" altLang="zh-CN" sz="2400" b="1" dirty="0">
                <a:solidFill>
                  <a:srgbClr val="000099"/>
                </a:solidFill>
                <a:ea typeface="楷体_GB2312" pitchFamily="49" charset="-122"/>
              </a:endParaRPr>
            </a:p>
          </p:txBody>
        </p:sp>
        <p:sp>
          <p:nvSpPr>
            <p:cNvPr id="47125" name="Rectangle 32"/>
            <p:cNvSpPr/>
            <p:nvPr/>
          </p:nvSpPr>
          <p:spPr>
            <a:xfrm>
              <a:off x="2628" y="3051"/>
              <a:ext cx="463" cy="388"/>
            </a:xfrm>
            <a:prstGeom prst="rect">
              <a:avLst/>
            </a:prstGeom>
            <a:solidFill>
              <a:srgbClr val="FFFFFF"/>
            </a:solidFill>
            <a:ln w="9525" cap="flat" cmpd="sng">
              <a:solidFill>
                <a:srgbClr val="FF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000099"/>
                  </a:solidFill>
                  <a:ea typeface="楷体_GB2312" pitchFamily="49" charset="-122"/>
                </a:rPr>
                <a:t>进程</a:t>
              </a:r>
              <a:r>
                <a:rPr lang="en-US" altLang="zh-CN" sz="1800" b="1" dirty="0">
                  <a:solidFill>
                    <a:srgbClr val="000099"/>
                  </a:solidFill>
                  <a:ea typeface="楷体_GB2312" pitchFamily="49" charset="-122"/>
                </a:rPr>
                <a:t>C</a:t>
              </a:r>
              <a:endParaRPr lang="en-US" altLang="zh-CN" sz="1800" dirty="0"/>
            </a:p>
            <a:p>
              <a:pPr marL="0" lvl="0" indent="0" eaLnBrk="1" hangingPunct="1">
                <a:spcBef>
                  <a:spcPct val="0"/>
                </a:spcBef>
                <a:buClrTx/>
                <a:buSzTx/>
                <a:buFontTx/>
                <a:buNone/>
              </a:pPr>
              <a:endParaRPr lang="en-US" altLang="zh-CN" sz="1800" b="1" dirty="0">
                <a:ea typeface="楷体_GB2312" pitchFamily="49" charset="-122"/>
              </a:endParaRPr>
            </a:p>
          </p:txBody>
        </p:sp>
        <p:sp>
          <p:nvSpPr>
            <p:cNvPr id="47126" name="Rectangle 33"/>
            <p:cNvSpPr/>
            <p:nvPr/>
          </p:nvSpPr>
          <p:spPr>
            <a:xfrm>
              <a:off x="2628" y="2663"/>
              <a:ext cx="463" cy="388"/>
            </a:xfrm>
            <a:prstGeom prst="rect">
              <a:avLst/>
            </a:prstGeom>
            <a:solidFill>
              <a:srgbClr val="FFFFFF"/>
            </a:solidFill>
            <a:ln w="9525" cap="flat" cmpd="sng">
              <a:solidFill>
                <a:srgbClr val="FF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000099"/>
                  </a:solidFill>
                  <a:ea typeface="楷体_GB2312" pitchFamily="49" charset="-122"/>
                </a:rPr>
                <a:t>进程</a:t>
              </a:r>
              <a:r>
                <a:rPr lang="en-US" altLang="zh-CN" sz="1800" b="1" dirty="0">
                  <a:solidFill>
                    <a:srgbClr val="000099"/>
                  </a:solidFill>
                  <a:ea typeface="楷体_GB2312" pitchFamily="49" charset="-122"/>
                </a:rPr>
                <a:t>B</a:t>
              </a:r>
              <a:endParaRPr lang="en-US" altLang="zh-CN" sz="1800" dirty="0"/>
            </a:p>
            <a:p>
              <a:pPr marL="0" lvl="0" indent="0" eaLnBrk="1" hangingPunct="1">
                <a:spcBef>
                  <a:spcPct val="0"/>
                </a:spcBef>
                <a:buClrTx/>
                <a:buSzTx/>
                <a:buFontTx/>
                <a:buNone/>
              </a:pPr>
              <a:endParaRPr lang="en-US" altLang="zh-CN" sz="1800" b="1" dirty="0">
                <a:ea typeface="楷体_GB2312" pitchFamily="49" charset="-122"/>
              </a:endParaRPr>
            </a:p>
          </p:txBody>
        </p:sp>
      </p:grpSp>
      <p:grpSp>
        <p:nvGrpSpPr>
          <p:cNvPr id="459818" name="Group 42"/>
          <p:cNvGrpSpPr/>
          <p:nvPr/>
        </p:nvGrpSpPr>
        <p:grpSpPr>
          <a:xfrm>
            <a:off x="5641975" y="2997200"/>
            <a:ext cx="733425" cy="3384550"/>
            <a:chOff x="3554" y="1888"/>
            <a:chExt cx="462" cy="2132"/>
          </a:xfrm>
        </p:grpSpPr>
        <p:sp>
          <p:nvSpPr>
            <p:cNvPr id="47118" name="Rectangle 23"/>
            <p:cNvSpPr/>
            <p:nvPr/>
          </p:nvSpPr>
          <p:spPr>
            <a:xfrm>
              <a:off x="3554" y="1888"/>
              <a:ext cx="462" cy="2132"/>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1000" dirty="0"/>
            </a:p>
            <a:p>
              <a:pPr marL="0" lvl="0" indent="0" eaLnBrk="1" hangingPunct="1">
                <a:spcBef>
                  <a:spcPct val="0"/>
                </a:spcBef>
                <a:buClrTx/>
                <a:buSzTx/>
                <a:buFontTx/>
                <a:buNone/>
              </a:pPr>
              <a:endParaRPr lang="en-US" altLang="zh-CN" sz="2400" b="1" dirty="0">
                <a:ea typeface="楷体_GB2312" pitchFamily="49" charset="-122"/>
              </a:endParaRPr>
            </a:p>
          </p:txBody>
        </p:sp>
        <p:sp>
          <p:nvSpPr>
            <p:cNvPr id="47119" name="Rectangle 25"/>
            <p:cNvSpPr/>
            <p:nvPr/>
          </p:nvSpPr>
          <p:spPr>
            <a:xfrm>
              <a:off x="3554" y="1888"/>
              <a:ext cx="462" cy="388"/>
            </a:xfrm>
            <a:prstGeom prst="rect">
              <a:avLst/>
            </a:prstGeom>
            <a:solidFill>
              <a:srgbClr val="FFFFFF"/>
            </a:solidFill>
            <a:ln w="9525" cap="flat" cmpd="sng">
              <a:solidFill>
                <a:srgbClr val="00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400" b="1" dirty="0">
                  <a:solidFill>
                    <a:srgbClr val="000099"/>
                  </a:solidFill>
                  <a:ea typeface="楷体_GB2312" pitchFamily="49" charset="-122"/>
                </a:rPr>
                <a:t>OS</a:t>
              </a:r>
              <a:r>
                <a:rPr lang="en-US" altLang="zh-CN" sz="1000" dirty="0"/>
                <a:t> </a:t>
              </a:r>
              <a:endParaRPr lang="en-US" altLang="zh-CN" sz="1000" dirty="0"/>
            </a:p>
            <a:p>
              <a:pPr marL="0" lvl="0" indent="0" eaLnBrk="1" hangingPunct="1">
                <a:spcBef>
                  <a:spcPct val="0"/>
                </a:spcBef>
                <a:buClrTx/>
                <a:buSzTx/>
                <a:buFontTx/>
                <a:buNone/>
              </a:pPr>
              <a:endParaRPr lang="en-US" altLang="zh-CN" sz="2400" b="1" dirty="0">
                <a:ea typeface="楷体_GB2312" pitchFamily="49" charset="-122"/>
              </a:endParaRPr>
            </a:p>
          </p:txBody>
        </p:sp>
        <p:sp>
          <p:nvSpPr>
            <p:cNvPr id="47120" name="Rectangle 34"/>
            <p:cNvSpPr/>
            <p:nvPr/>
          </p:nvSpPr>
          <p:spPr>
            <a:xfrm>
              <a:off x="3554" y="2276"/>
              <a:ext cx="462" cy="387"/>
            </a:xfrm>
            <a:prstGeom prst="rect">
              <a:avLst/>
            </a:prstGeom>
            <a:solidFill>
              <a:srgbClr val="FFFFFF"/>
            </a:solidFill>
            <a:ln w="9525" cap="flat" cmpd="sng">
              <a:solidFill>
                <a:srgbClr val="FF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000099"/>
                  </a:solidFill>
                  <a:ea typeface="楷体_GB2312" pitchFamily="49" charset="-122"/>
                </a:rPr>
                <a:t>进程</a:t>
              </a:r>
              <a:r>
                <a:rPr lang="en-US" altLang="zh-CN" sz="1800" b="1" dirty="0">
                  <a:solidFill>
                    <a:srgbClr val="000099"/>
                  </a:solidFill>
                  <a:ea typeface="楷体_GB2312" pitchFamily="49" charset="-122"/>
                </a:rPr>
                <a:t>D</a:t>
              </a:r>
              <a:endParaRPr lang="en-US" altLang="zh-CN" sz="1800" dirty="0"/>
            </a:p>
            <a:p>
              <a:pPr marL="0" lvl="0" indent="0" eaLnBrk="1" hangingPunct="1">
                <a:spcBef>
                  <a:spcPct val="0"/>
                </a:spcBef>
                <a:buClrTx/>
                <a:buSzTx/>
                <a:buFontTx/>
                <a:buNone/>
              </a:pPr>
              <a:endParaRPr lang="en-US" altLang="zh-CN" sz="1800" b="1" dirty="0">
                <a:ea typeface="楷体_GB2312" pitchFamily="49" charset="-122"/>
              </a:endParaRPr>
            </a:p>
          </p:txBody>
        </p:sp>
        <p:sp>
          <p:nvSpPr>
            <p:cNvPr id="47121" name="Rectangle 35"/>
            <p:cNvSpPr/>
            <p:nvPr/>
          </p:nvSpPr>
          <p:spPr>
            <a:xfrm>
              <a:off x="3554" y="2857"/>
              <a:ext cx="462" cy="388"/>
            </a:xfrm>
            <a:prstGeom prst="rect">
              <a:avLst/>
            </a:prstGeom>
            <a:solidFill>
              <a:srgbClr val="FFFFFF"/>
            </a:solidFill>
            <a:ln w="9525" cap="flat" cmpd="sng">
              <a:solidFill>
                <a:srgbClr val="FF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000099"/>
                  </a:solidFill>
                  <a:ea typeface="楷体_GB2312" pitchFamily="49" charset="-122"/>
                </a:rPr>
                <a:t>进程</a:t>
              </a:r>
              <a:r>
                <a:rPr lang="en-US" altLang="zh-CN" sz="1800" b="1" dirty="0">
                  <a:solidFill>
                    <a:srgbClr val="000099"/>
                  </a:solidFill>
                  <a:ea typeface="楷体_GB2312" pitchFamily="49" charset="-122"/>
                </a:rPr>
                <a:t>B</a:t>
              </a:r>
              <a:r>
                <a:rPr lang="en-US" altLang="zh-CN" sz="1800" dirty="0"/>
                <a:t> </a:t>
              </a:r>
              <a:endParaRPr lang="en-US" altLang="zh-CN" sz="1800" dirty="0"/>
            </a:p>
            <a:p>
              <a:pPr marL="0" lvl="0" indent="0" eaLnBrk="1" hangingPunct="1">
                <a:spcBef>
                  <a:spcPct val="0"/>
                </a:spcBef>
                <a:buClrTx/>
                <a:buSzTx/>
                <a:buFontTx/>
                <a:buNone/>
              </a:pPr>
              <a:endParaRPr lang="en-US" altLang="zh-CN" sz="1800" b="1" dirty="0">
                <a:ea typeface="楷体_GB2312" pitchFamily="49" charset="-122"/>
              </a:endParaRPr>
            </a:p>
          </p:txBody>
        </p:sp>
        <p:sp>
          <p:nvSpPr>
            <p:cNvPr id="47122" name="Rectangle 37"/>
            <p:cNvSpPr/>
            <p:nvPr/>
          </p:nvSpPr>
          <p:spPr>
            <a:xfrm>
              <a:off x="3554" y="3245"/>
              <a:ext cx="462" cy="387"/>
            </a:xfrm>
            <a:prstGeom prst="rect">
              <a:avLst/>
            </a:prstGeom>
            <a:solidFill>
              <a:srgbClr val="FFFFFF"/>
            </a:solidFill>
            <a:ln w="9525" cap="flat" cmpd="sng">
              <a:solidFill>
                <a:srgbClr val="FF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000099"/>
                  </a:solidFill>
                  <a:ea typeface="楷体_GB2312" pitchFamily="49" charset="-122"/>
                </a:rPr>
                <a:t>进程</a:t>
              </a:r>
              <a:r>
                <a:rPr lang="en-US" altLang="zh-CN" sz="1800" b="1" dirty="0">
                  <a:solidFill>
                    <a:srgbClr val="000099"/>
                  </a:solidFill>
                  <a:ea typeface="楷体_GB2312" pitchFamily="49" charset="-122"/>
                </a:rPr>
                <a:t>C</a:t>
              </a:r>
              <a:r>
                <a:rPr lang="en-US" altLang="zh-CN" sz="1800" dirty="0"/>
                <a:t> </a:t>
              </a:r>
              <a:endParaRPr lang="en-US" altLang="zh-CN" sz="1800" dirty="0"/>
            </a:p>
            <a:p>
              <a:pPr marL="0" lvl="0" indent="0" eaLnBrk="1" hangingPunct="1">
                <a:spcBef>
                  <a:spcPct val="0"/>
                </a:spcBef>
                <a:buClrTx/>
                <a:buSzTx/>
                <a:buFontTx/>
                <a:buNone/>
              </a:pPr>
              <a:endParaRPr lang="en-US" altLang="zh-CN" sz="1800" b="1" dirty="0">
                <a:ea typeface="楷体_GB2312" pitchFamily="49" charset="-122"/>
              </a:endParaRPr>
            </a:p>
          </p:txBody>
        </p:sp>
      </p:grpSp>
      <p:grpSp>
        <p:nvGrpSpPr>
          <p:cNvPr id="459819" name="Group 43"/>
          <p:cNvGrpSpPr/>
          <p:nvPr/>
        </p:nvGrpSpPr>
        <p:grpSpPr>
          <a:xfrm>
            <a:off x="7005638" y="2997200"/>
            <a:ext cx="735012" cy="3384550"/>
            <a:chOff x="4413" y="1888"/>
            <a:chExt cx="463" cy="2132"/>
          </a:xfrm>
        </p:grpSpPr>
        <p:sp>
          <p:nvSpPr>
            <p:cNvPr id="47114" name="Rectangle 18"/>
            <p:cNvSpPr/>
            <p:nvPr/>
          </p:nvSpPr>
          <p:spPr>
            <a:xfrm>
              <a:off x="4413" y="1888"/>
              <a:ext cx="463" cy="2132"/>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000" dirty="0"/>
                <a:t>进程</a:t>
              </a:r>
              <a:r>
                <a:rPr lang="en-US" altLang="zh-CN" sz="1000" dirty="0"/>
                <a:t>A </a:t>
              </a:r>
              <a:endParaRPr lang="en-US" altLang="zh-CN" sz="1000" dirty="0"/>
            </a:p>
            <a:p>
              <a:pPr marL="0" lvl="0" indent="0" eaLnBrk="1" hangingPunct="1">
                <a:spcBef>
                  <a:spcPct val="0"/>
                </a:spcBef>
                <a:buClrTx/>
                <a:buSzTx/>
                <a:buFontTx/>
                <a:buNone/>
              </a:pPr>
              <a:endParaRPr lang="en-US" altLang="zh-CN" sz="2400" b="1" dirty="0">
                <a:ea typeface="楷体_GB2312" pitchFamily="49" charset="-122"/>
              </a:endParaRPr>
            </a:p>
          </p:txBody>
        </p:sp>
        <p:sp>
          <p:nvSpPr>
            <p:cNvPr id="47115" name="Rectangle 27"/>
            <p:cNvSpPr/>
            <p:nvPr/>
          </p:nvSpPr>
          <p:spPr>
            <a:xfrm>
              <a:off x="4413" y="1888"/>
              <a:ext cx="463" cy="388"/>
            </a:xfrm>
            <a:prstGeom prst="rect">
              <a:avLst/>
            </a:prstGeom>
            <a:solidFill>
              <a:srgbClr val="FFFFFF"/>
            </a:solidFill>
            <a:ln w="9525" cap="flat" cmpd="sng">
              <a:solidFill>
                <a:srgbClr val="00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400" b="1" dirty="0">
                  <a:solidFill>
                    <a:srgbClr val="000099"/>
                  </a:solidFill>
                  <a:ea typeface="楷体_GB2312" pitchFamily="49" charset="-122"/>
                </a:rPr>
                <a:t> OS</a:t>
              </a:r>
              <a:endParaRPr lang="en-US" altLang="zh-CN" sz="2400" b="1" dirty="0">
                <a:solidFill>
                  <a:srgbClr val="000099"/>
                </a:solidFill>
                <a:ea typeface="楷体_GB2312" pitchFamily="49" charset="-122"/>
              </a:endParaRPr>
            </a:p>
          </p:txBody>
        </p:sp>
        <p:sp>
          <p:nvSpPr>
            <p:cNvPr id="47116" name="Rectangle 36"/>
            <p:cNvSpPr/>
            <p:nvPr/>
          </p:nvSpPr>
          <p:spPr>
            <a:xfrm>
              <a:off x="4413" y="2276"/>
              <a:ext cx="463" cy="387"/>
            </a:xfrm>
            <a:prstGeom prst="rect">
              <a:avLst/>
            </a:prstGeom>
            <a:solidFill>
              <a:srgbClr val="FFFFFF"/>
            </a:solidFill>
            <a:ln w="9525" cap="flat" cmpd="sng">
              <a:solidFill>
                <a:srgbClr val="FF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000099"/>
                  </a:solidFill>
                  <a:ea typeface="楷体_GB2312" pitchFamily="49" charset="-122"/>
                </a:rPr>
                <a:t>进程</a:t>
              </a:r>
              <a:r>
                <a:rPr lang="en-US" altLang="zh-CN" sz="1800" b="1" dirty="0">
                  <a:solidFill>
                    <a:srgbClr val="000099"/>
                  </a:solidFill>
                  <a:ea typeface="楷体_GB2312" pitchFamily="49" charset="-122"/>
                </a:rPr>
                <a:t>D</a:t>
              </a:r>
              <a:endParaRPr lang="en-US" altLang="zh-CN" sz="1800" dirty="0"/>
            </a:p>
            <a:p>
              <a:pPr marL="0" lvl="0" indent="0" eaLnBrk="1" hangingPunct="1">
                <a:spcBef>
                  <a:spcPct val="0"/>
                </a:spcBef>
                <a:buClrTx/>
                <a:buSzTx/>
                <a:buFontTx/>
                <a:buNone/>
              </a:pPr>
              <a:endParaRPr lang="en-US" altLang="zh-CN" sz="1800" b="1" dirty="0">
                <a:ea typeface="楷体_GB2312" pitchFamily="49" charset="-122"/>
              </a:endParaRPr>
            </a:p>
          </p:txBody>
        </p:sp>
        <p:sp>
          <p:nvSpPr>
            <p:cNvPr id="47117" name="Rectangle 38"/>
            <p:cNvSpPr/>
            <p:nvPr/>
          </p:nvSpPr>
          <p:spPr>
            <a:xfrm>
              <a:off x="4413" y="3245"/>
              <a:ext cx="463" cy="387"/>
            </a:xfrm>
            <a:prstGeom prst="rect">
              <a:avLst/>
            </a:prstGeom>
            <a:solidFill>
              <a:srgbClr val="FFFFFF"/>
            </a:solidFill>
            <a:ln w="9525" cap="flat" cmpd="sng">
              <a:solidFill>
                <a:srgbClr val="FF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800" b="1" dirty="0">
                  <a:solidFill>
                    <a:srgbClr val="000099"/>
                  </a:solidFill>
                  <a:ea typeface="楷体_GB2312" pitchFamily="49" charset="-122"/>
                </a:rPr>
                <a:t>进程</a:t>
              </a:r>
              <a:r>
                <a:rPr lang="en-US" altLang="zh-CN" sz="1800" b="1" dirty="0">
                  <a:solidFill>
                    <a:srgbClr val="000099"/>
                  </a:solidFill>
                  <a:ea typeface="楷体_GB2312" pitchFamily="49" charset="-122"/>
                </a:rPr>
                <a:t>C</a:t>
              </a:r>
              <a:endParaRPr lang="en-US" altLang="zh-CN" sz="1800" dirty="0"/>
            </a:p>
            <a:p>
              <a:pPr marL="0" lvl="0" indent="0" eaLnBrk="1" hangingPunct="1">
                <a:spcBef>
                  <a:spcPct val="0"/>
                </a:spcBef>
                <a:buClrTx/>
                <a:buSzTx/>
                <a:buFontTx/>
                <a:buNone/>
              </a:pPr>
              <a:endParaRPr lang="en-US" altLang="zh-CN" sz="2400" b="1" dirty="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9785"/>
                                        </p:tgtEl>
                                        <p:attrNameLst>
                                          <p:attrName>style.visibility</p:attrName>
                                        </p:attrNameLst>
                                      </p:cBhvr>
                                      <p:to>
                                        <p:strVal val="visible"/>
                                      </p:to>
                                    </p:set>
                                    <p:anim calcmode="lin" valueType="num">
                                      <p:cBhvr additive="base">
                                        <p:cTn id="7" dur="500" fill="hold"/>
                                        <p:tgtEl>
                                          <p:spTgt spid="459785"/>
                                        </p:tgtEl>
                                        <p:attrNameLst>
                                          <p:attrName>ppt_x</p:attrName>
                                        </p:attrNameLst>
                                      </p:cBhvr>
                                      <p:tavLst>
                                        <p:tav tm="0">
                                          <p:val>
                                            <p:strVal val="0-#ppt_w/2"/>
                                          </p:val>
                                        </p:tav>
                                        <p:tav tm="100000">
                                          <p:val>
                                            <p:strVal val="#ppt_x"/>
                                          </p:val>
                                        </p:tav>
                                      </p:tavLst>
                                    </p:anim>
                                    <p:anim calcmode="lin" valueType="num">
                                      <p:cBhvr additive="base">
                                        <p:cTn id="8" dur="500" fill="hold"/>
                                        <p:tgtEl>
                                          <p:spTgt spid="45978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59786"/>
                                        </p:tgtEl>
                                        <p:attrNameLst>
                                          <p:attrName>style.visibility</p:attrName>
                                        </p:attrNameLst>
                                      </p:cBhvr>
                                      <p:to>
                                        <p:strVal val="visible"/>
                                      </p:to>
                                    </p:set>
                                    <p:animEffect transition="in" filter="wipe(left)">
                                      <p:cBhvr>
                                        <p:cTn id="13" dur="500"/>
                                        <p:tgtEl>
                                          <p:spTgt spid="45978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459815"/>
                                        </p:tgtEl>
                                        <p:attrNameLst>
                                          <p:attrName>style.visibility</p:attrName>
                                        </p:attrNameLst>
                                      </p:cBhvr>
                                      <p:to>
                                        <p:strVal val="visible"/>
                                      </p:to>
                                    </p:set>
                                    <p:animEffect transition="in" filter="wipe(up)">
                                      <p:cBhvr>
                                        <p:cTn id="18" dur="500"/>
                                        <p:tgtEl>
                                          <p:spTgt spid="4598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459816"/>
                                        </p:tgtEl>
                                        <p:attrNameLst>
                                          <p:attrName>style.visibility</p:attrName>
                                        </p:attrNameLst>
                                      </p:cBhvr>
                                      <p:to>
                                        <p:strVal val="visible"/>
                                      </p:to>
                                    </p:set>
                                    <p:animEffect transition="in" filter="wipe(up)">
                                      <p:cBhvr>
                                        <p:cTn id="23" dur="500"/>
                                        <p:tgtEl>
                                          <p:spTgt spid="45981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459817"/>
                                        </p:tgtEl>
                                        <p:attrNameLst>
                                          <p:attrName>style.visibility</p:attrName>
                                        </p:attrNameLst>
                                      </p:cBhvr>
                                      <p:to>
                                        <p:strVal val="visible"/>
                                      </p:to>
                                    </p:set>
                                    <p:animEffect transition="in" filter="wipe(up)">
                                      <p:cBhvr>
                                        <p:cTn id="28" dur="500"/>
                                        <p:tgtEl>
                                          <p:spTgt spid="4598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459818"/>
                                        </p:tgtEl>
                                        <p:attrNameLst>
                                          <p:attrName>style.visibility</p:attrName>
                                        </p:attrNameLst>
                                      </p:cBhvr>
                                      <p:to>
                                        <p:strVal val="visible"/>
                                      </p:to>
                                    </p:set>
                                    <p:animEffect transition="in" filter="wipe(up)">
                                      <p:cBhvr>
                                        <p:cTn id="33" dur="500"/>
                                        <p:tgtEl>
                                          <p:spTgt spid="45981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459819"/>
                                        </p:tgtEl>
                                        <p:attrNameLst>
                                          <p:attrName>style.visibility</p:attrName>
                                        </p:attrNameLst>
                                      </p:cBhvr>
                                      <p:to>
                                        <p:strVal val="visible"/>
                                      </p:to>
                                    </p:set>
                                    <p:animEffect transition="in" filter="wipe(up)">
                                      <p:cBhvr>
                                        <p:cTn id="38" dur="500"/>
                                        <p:tgtEl>
                                          <p:spTgt spid="459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8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67970" name="Rectangle 2"/>
          <p:cNvSpPr/>
          <p:nvPr/>
        </p:nvSpPr>
        <p:spPr>
          <a:xfrm>
            <a:off x="684213" y="908050"/>
            <a:ext cx="6326187" cy="457200"/>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常用的分区分配算法</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放置策略</a:t>
            </a:r>
            <a:r>
              <a:rPr lang="en-US" altLang="zh-CN" sz="2400" b="1" dirty="0">
                <a:solidFill>
                  <a:srgbClr val="000099"/>
                </a:solidFill>
                <a:ea typeface="楷体_GB2312" pitchFamily="49" charset="-122"/>
              </a:rPr>
              <a:t>)</a:t>
            </a:r>
            <a:endParaRPr lang="en-US" altLang="zh-CN" sz="2400" b="1" dirty="0">
              <a:solidFill>
                <a:srgbClr val="000099"/>
              </a:solidFill>
              <a:ea typeface="楷体_GB2312" pitchFamily="49" charset="-122"/>
            </a:endParaRPr>
          </a:p>
        </p:txBody>
      </p:sp>
      <p:sp>
        <p:nvSpPr>
          <p:cNvPr id="467971" name="Rectangle 3"/>
          <p:cNvSpPr/>
          <p:nvPr/>
        </p:nvSpPr>
        <p:spPr>
          <a:xfrm>
            <a:off x="684213" y="1479550"/>
            <a:ext cx="8064500" cy="19907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spcBef>
                <a:spcPct val="0"/>
              </a:spcBef>
              <a:buClrTx/>
              <a:buSzTx/>
              <a:buFontTx/>
              <a:buNone/>
            </a:pPr>
            <a:r>
              <a:rPr lang="zh-CN" altLang="en-US" sz="2400" b="1" dirty="0">
                <a:solidFill>
                  <a:srgbClr val="000099"/>
                </a:solidFill>
                <a:ea typeface="楷体_GB2312" pitchFamily="49" charset="-122"/>
              </a:rPr>
              <a:t>放置策略：自由链</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空闲区队列</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的排序原则。</a:t>
            </a:r>
            <a:endParaRPr lang="zh-CN" altLang="en-US" sz="2400" b="1" dirty="0">
              <a:solidFill>
                <a:srgbClr val="000099"/>
              </a:solidFill>
              <a:ea typeface="楷体_GB2312" pitchFamily="49" charset="-122"/>
            </a:endParaRPr>
          </a:p>
          <a:p>
            <a:pPr marL="0" lvl="0" indent="0" eaLnBrk="1" hangingPunct="1">
              <a:lnSpc>
                <a:spcPct val="130000"/>
              </a:lnSpc>
              <a:spcBef>
                <a:spcPct val="0"/>
              </a:spcBef>
              <a:buClrTx/>
              <a:buSzTx/>
              <a:buFontTx/>
              <a:buNone/>
            </a:pPr>
            <a:r>
              <a:rPr lang="zh-CN" altLang="en-US" sz="2400" b="1" dirty="0">
                <a:solidFill>
                  <a:srgbClr val="990033"/>
                </a:solidFill>
                <a:ea typeface="楷体_GB2312" pitchFamily="49" charset="-122"/>
              </a:rPr>
              <a:t>空闲区的组织方法有两种：</a:t>
            </a:r>
            <a:endParaRPr lang="zh-CN" altLang="en-US" sz="2400" b="1" dirty="0">
              <a:solidFill>
                <a:srgbClr val="990033"/>
              </a:solidFill>
              <a:ea typeface="楷体_GB2312" pitchFamily="49" charset="-122"/>
            </a:endParaRPr>
          </a:p>
          <a:p>
            <a:pPr marL="0" lvl="0" indent="0" eaLnBrk="1" hangingPunct="1">
              <a:lnSpc>
                <a:spcPct val="130000"/>
              </a:lnSpc>
              <a:spcBef>
                <a:spcPct val="0"/>
              </a:spcBef>
              <a:buClrTx/>
              <a:buSzTx/>
              <a:buFont typeface="Wingdings" panose="05000000000000000000" pitchFamily="2" charset="2"/>
              <a:buChar char="Ø"/>
            </a:pPr>
            <a:r>
              <a:rPr lang="zh-CN" altLang="en-US" sz="2400" b="1" dirty="0">
                <a:solidFill>
                  <a:srgbClr val="000099"/>
                </a:solidFill>
                <a:ea typeface="楷体_GB2312" pitchFamily="49" charset="-122"/>
              </a:rPr>
              <a:t> 按空闲区大小的递增和递减的次序组织空闲区队列。</a:t>
            </a:r>
            <a:endParaRPr lang="zh-CN" altLang="en-US" sz="2400" b="1" dirty="0">
              <a:solidFill>
                <a:srgbClr val="000099"/>
              </a:solidFill>
              <a:ea typeface="楷体_GB2312" pitchFamily="49" charset="-122"/>
            </a:endParaRPr>
          </a:p>
          <a:p>
            <a:pPr marL="0" lvl="0" indent="0" eaLnBrk="1" hangingPunct="1">
              <a:lnSpc>
                <a:spcPct val="130000"/>
              </a:lnSpc>
              <a:spcBef>
                <a:spcPct val="0"/>
              </a:spcBef>
              <a:buClrTx/>
              <a:buSzTx/>
              <a:buFont typeface="Wingdings" panose="05000000000000000000" pitchFamily="2" charset="2"/>
              <a:buChar char="Ø"/>
            </a:pPr>
            <a:r>
              <a:rPr lang="zh-CN" altLang="en-US" sz="2400" b="1" dirty="0">
                <a:solidFill>
                  <a:srgbClr val="000099"/>
                </a:solidFill>
                <a:ea typeface="楷体_GB2312" pitchFamily="49" charset="-122"/>
              </a:rPr>
              <a:t> 按空闲区首址的增加或减少的次序组织空闲区队列。</a:t>
            </a:r>
            <a:endParaRPr lang="zh-CN" altLang="en-US" sz="2400" b="1" dirty="0">
              <a:solidFill>
                <a:srgbClr val="000099"/>
              </a:solidFill>
              <a:ea typeface="楷体_GB2312" pitchFamily="49" charset="-122"/>
            </a:endParaRPr>
          </a:p>
        </p:txBody>
      </p:sp>
      <p:sp>
        <p:nvSpPr>
          <p:cNvPr id="467973" name="Rectangle 5"/>
          <p:cNvSpPr/>
          <p:nvPr/>
        </p:nvSpPr>
        <p:spPr>
          <a:xfrm>
            <a:off x="684213" y="3644900"/>
            <a:ext cx="8208962" cy="250348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800" dirty="0">
                <a:solidFill>
                  <a:srgbClr val="9900CC"/>
                </a:solidFill>
                <a:latin typeface="隶书" panose="02010509060101010101" pitchFamily="49" charset="-122"/>
                <a:ea typeface="隶书" panose="02010509060101010101" pitchFamily="49" charset="-122"/>
              </a:rPr>
              <a:t>（</a:t>
            </a:r>
            <a:r>
              <a:rPr lang="en-US" altLang="zh-CN" sz="2800" dirty="0">
                <a:solidFill>
                  <a:srgbClr val="9900CC"/>
                </a:solidFill>
                <a:latin typeface="隶书" panose="02010509060101010101" pitchFamily="49" charset="-122"/>
                <a:ea typeface="隶书" panose="02010509060101010101" pitchFamily="49" charset="-122"/>
              </a:rPr>
              <a:t>1</a:t>
            </a:r>
            <a:r>
              <a:rPr lang="zh-CN" altLang="en-US" sz="2800" dirty="0">
                <a:solidFill>
                  <a:srgbClr val="9900CC"/>
                </a:solidFill>
                <a:latin typeface="隶书" panose="02010509060101010101" pitchFamily="49" charset="-122"/>
                <a:ea typeface="隶书" panose="02010509060101010101" pitchFamily="49" charset="-122"/>
              </a:rPr>
              <a:t>）最佳适应算法</a:t>
            </a:r>
            <a:r>
              <a:rPr lang="en-US" altLang="zh-CN" sz="2800" b="1" dirty="0">
                <a:solidFill>
                  <a:srgbClr val="9900CC"/>
                </a:solidFill>
                <a:latin typeface="隶书" panose="02010509060101010101" pitchFamily="49" charset="-122"/>
                <a:ea typeface="隶书" panose="02010509060101010101" pitchFamily="49" charset="-122"/>
              </a:rPr>
              <a:t>(BFA)</a:t>
            </a:r>
            <a:endParaRPr lang="en-US" altLang="zh-CN" sz="2800" b="1" dirty="0">
              <a:solidFill>
                <a:srgbClr val="9900CC"/>
              </a:solidFill>
              <a:latin typeface="隶书" panose="02010509060101010101" pitchFamily="49" charset="-122"/>
              <a:ea typeface="隶书" panose="02010509060101010101" pitchFamily="49" charset="-122"/>
            </a:endParaRPr>
          </a:p>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为一个作业选择分区时总是寻找大小最接近于作业所要求的存储区域。换句话说，把作业放入这样的分区后剩下的部分最小。</a:t>
            </a:r>
            <a:endParaRPr lang="zh-CN" altLang="en-US" sz="2400" b="1" dirty="0">
              <a:solidFill>
                <a:srgbClr val="000099"/>
              </a:solidFill>
              <a:ea typeface="楷体_GB2312" pitchFamily="49" charset="-122"/>
            </a:endParaRPr>
          </a:p>
          <a:p>
            <a:pPr marL="0" lvl="0" indent="0" eaLnBrk="1" hangingPunct="1">
              <a:lnSpc>
                <a:spcPct val="120000"/>
              </a:lnSpc>
              <a:buClrTx/>
              <a:buSzTx/>
              <a:buFontTx/>
              <a:buNone/>
            </a:pPr>
            <a:r>
              <a:rPr lang="zh-CN" altLang="en-US" sz="2400" b="1" dirty="0">
                <a:solidFill>
                  <a:srgbClr val="9900CC"/>
                </a:solidFill>
                <a:ea typeface="楷体_GB2312" pitchFamily="49" charset="-122"/>
              </a:rPr>
              <a:t> 存储空间中所有的空白区按其</a:t>
            </a:r>
            <a:r>
              <a:rPr lang="zh-CN" altLang="en-US" sz="2400" b="1" dirty="0">
                <a:solidFill>
                  <a:srgbClr val="FF0000"/>
                </a:solidFill>
                <a:ea typeface="楷体_GB2312" pitchFamily="49" charset="-122"/>
              </a:rPr>
              <a:t>大小递增</a:t>
            </a:r>
            <a:r>
              <a:rPr lang="zh-CN" altLang="en-US" sz="2400" b="1" dirty="0">
                <a:solidFill>
                  <a:srgbClr val="9900CC"/>
                </a:solidFill>
                <a:ea typeface="楷体_GB2312" pitchFamily="49" charset="-122"/>
              </a:rPr>
              <a:t>的顺序链接起来。</a:t>
            </a:r>
            <a:endParaRPr lang="zh-CN" altLang="en-US" sz="2400" b="1" dirty="0">
              <a:solidFill>
                <a:srgbClr val="9900CC"/>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67970"/>
                                        </p:tgtEl>
                                        <p:attrNameLst>
                                          <p:attrName>style.visibility</p:attrName>
                                        </p:attrNameLst>
                                      </p:cBhvr>
                                      <p:to>
                                        <p:strVal val="visible"/>
                                      </p:to>
                                    </p:set>
                                    <p:anim calcmode="lin" valueType="num">
                                      <p:cBhvr additive="base">
                                        <p:cTn id="7" dur="500" fill="hold"/>
                                        <p:tgtEl>
                                          <p:spTgt spid="467970"/>
                                        </p:tgtEl>
                                        <p:attrNameLst>
                                          <p:attrName>ppt_x</p:attrName>
                                        </p:attrNameLst>
                                      </p:cBhvr>
                                      <p:tavLst>
                                        <p:tav tm="0">
                                          <p:val>
                                            <p:strVal val="0-#ppt_w/2"/>
                                          </p:val>
                                        </p:tav>
                                        <p:tav tm="100000">
                                          <p:val>
                                            <p:strVal val="#ppt_x"/>
                                          </p:val>
                                        </p:tav>
                                      </p:tavLst>
                                    </p:anim>
                                    <p:anim calcmode="lin" valueType="num">
                                      <p:cBhvr additive="base">
                                        <p:cTn id="8" dur="500" fill="hold"/>
                                        <p:tgtEl>
                                          <p:spTgt spid="4679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67971"/>
                                        </p:tgtEl>
                                        <p:attrNameLst>
                                          <p:attrName>style.visibility</p:attrName>
                                        </p:attrNameLst>
                                      </p:cBhvr>
                                      <p:to>
                                        <p:strVal val="visible"/>
                                      </p:to>
                                    </p:set>
                                    <p:anim calcmode="lin" valueType="num">
                                      <p:cBhvr additive="base">
                                        <p:cTn id="13" dur="500" fill="hold"/>
                                        <p:tgtEl>
                                          <p:spTgt spid="467971"/>
                                        </p:tgtEl>
                                        <p:attrNameLst>
                                          <p:attrName>ppt_x</p:attrName>
                                        </p:attrNameLst>
                                      </p:cBhvr>
                                      <p:tavLst>
                                        <p:tav tm="0">
                                          <p:val>
                                            <p:strVal val="0-#ppt_w/2"/>
                                          </p:val>
                                        </p:tav>
                                        <p:tav tm="100000">
                                          <p:val>
                                            <p:strVal val="#ppt_x"/>
                                          </p:val>
                                        </p:tav>
                                      </p:tavLst>
                                    </p:anim>
                                    <p:anim calcmode="lin" valueType="num">
                                      <p:cBhvr additive="base">
                                        <p:cTn id="14" dur="500" fill="hold"/>
                                        <p:tgtEl>
                                          <p:spTgt spid="46797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67973"/>
                                        </p:tgtEl>
                                        <p:attrNameLst>
                                          <p:attrName>style.visibility</p:attrName>
                                        </p:attrNameLst>
                                      </p:cBhvr>
                                      <p:to>
                                        <p:strVal val="visible"/>
                                      </p:to>
                                    </p:set>
                                    <p:anim calcmode="lin" valueType="num">
                                      <p:cBhvr additive="base">
                                        <p:cTn id="19" dur="500" fill="hold"/>
                                        <p:tgtEl>
                                          <p:spTgt spid="467973"/>
                                        </p:tgtEl>
                                        <p:attrNameLst>
                                          <p:attrName>ppt_x</p:attrName>
                                        </p:attrNameLst>
                                      </p:cBhvr>
                                      <p:tavLst>
                                        <p:tav tm="0">
                                          <p:val>
                                            <p:strVal val="0-#ppt_w/2"/>
                                          </p:val>
                                        </p:tav>
                                        <p:tav tm="100000">
                                          <p:val>
                                            <p:strVal val="#ppt_x"/>
                                          </p:val>
                                        </p:tav>
                                      </p:tavLst>
                                    </p:anim>
                                    <p:anim calcmode="lin" valueType="num">
                                      <p:cBhvr additive="base">
                                        <p:cTn id="20" dur="500" fill="hold"/>
                                        <p:tgtEl>
                                          <p:spTgt spid="4679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0" grpId="0" animBg="1"/>
      <p:bldP spid="467971" grpId="0"/>
      <p:bldP spid="46797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47842" name="Rectangle 2"/>
          <p:cNvSpPr/>
          <p:nvPr/>
        </p:nvSpPr>
        <p:spPr>
          <a:xfrm>
            <a:off x="573088" y="304800"/>
            <a:ext cx="8386762" cy="2195513"/>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zh-CN" altLang="en-US" sz="2400" dirty="0">
                <a:solidFill>
                  <a:srgbClr val="006600"/>
                </a:solidFill>
                <a:ea typeface="隶书" panose="02010509060101010101" pitchFamily="49" charset="-122"/>
              </a:rPr>
              <a:t>优点：</a:t>
            </a:r>
            <a:endParaRPr lang="zh-CN" altLang="en-US" sz="2400" dirty="0">
              <a:solidFill>
                <a:srgbClr val="006600"/>
              </a:solidFill>
              <a:ea typeface="隶书" panose="02010509060101010101" pitchFamily="49" charset="-122"/>
            </a:endParaRPr>
          </a:p>
          <a:p>
            <a:pPr marL="0" lvl="0" indent="0" eaLnBrk="1" hangingPunct="1">
              <a:lnSpc>
                <a:spcPct val="115000"/>
              </a:lnSpc>
              <a:spcBef>
                <a:spcPct val="0"/>
              </a:spcBef>
              <a:buClrTx/>
              <a:buSzTx/>
              <a:buFont typeface="Wingdings" panose="05000000000000000000" pitchFamily="2" charset="2"/>
              <a:buChar char="Ø"/>
            </a:pPr>
            <a:r>
              <a:rPr lang="zh-CN" altLang="en-US" sz="2400" b="1" dirty="0">
                <a:solidFill>
                  <a:srgbClr val="000099"/>
                </a:solidFill>
                <a:ea typeface="楷体_GB2312" pitchFamily="49" charset="-122"/>
              </a:rPr>
              <a:t> 首先选择正好是所要求大小的空白区；</a:t>
            </a:r>
            <a:endParaRPr lang="zh-CN" altLang="en-US" sz="2400" b="1" dirty="0">
              <a:solidFill>
                <a:srgbClr val="000099"/>
              </a:solidFill>
              <a:ea typeface="楷体_GB2312" pitchFamily="49" charset="-122"/>
            </a:endParaRPr>
          </a:p>
          <a:p>
            <a:pPr marL="0" lvl="0" indent="0" eaLnBrk="1" hangingPunct="1">
              <a:lnSpc>
                <a:spcPct val="115000"/>
              </a:lnSpc>
              <a:spcBef>
                <a:spcPct val="0"/>
              </a:spcBef>
              <a:buClrTx/>
              <a:buSzTx/>
              <a:buFont typeface="Wingdings" panose="05000000000000000000" pitchFamily="2" charset="2"/>
              <a:buChar char="Ø"/>
            </a:pPr>
            <a:r>
              <a:rPr lang="zh-CN" altLang="en-US" sz="2400" b="1" dirty="0">
                <a:solidFill>
                  <a:srgbClr val="000099"/>
                </a:solidFill>
                <a:ea typeface="楷体_GB2312" pitchFamily="49" charset="-122"/>
              </a:rPr>
              <a:t> 其次选择比要求稍大的空白区划分，而不会去划分一个更大的空白区。因此，其后遇到大的作业到来时，作业要求的存储区域就比较容易得到满足。</a:t>
            </a:r>
            <a:endParaRPr lang="zh-CN" altLang="en-US" sz="2400" b="1" dirty="0">
              <a:solidFill>
                <a:srgbClr val="000099"/>
              </a:solidFill>
              <a:ea typeface="楷体_GB2312" pitchFamily="49" charset="-122"/>
            </a:endParaRPr>
          </a:p>
        </p:txBody>
      </p:sp>
      <p:sp>
        <p:nvSpPr>
          <p:cNvPr id="547844" name="Rectangle 4"/>
          <p:cNvSpPr/>
          <p:nvPr/>
        </p:nvSpPr>
        <p:spPr>
          <a:xfrm>
            <a:off x="600075" y="2487613"/>
            <a:ext cx="8302625" cy="26162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zh-CN" altLang="en-US" sz="2400" dirty="0">
                <a:solidFill>
                  <a:srgbClr val="006600"/>
                </a:solidFill>
                <a:ea typeface="隶书" panose="02010509060101010101" pitchFamily="49" charset="-122"/>
              </a:rPr>
              <a:t>缺点：</a:t>
            </a:r>
            <a:endParaRPr lang="zh-CN" altLang="en-US" sz="2400" dirty="0">
              <a:solidFill>
                <a:srgbClr val="006600"/>
              </a:solidFill>
              <a:ea typeface="隶书" panose="02010509060101010101" pitchFamily="49" charset="-122"/>
            </a:endParaRPr>
          </a:p>
          <a:p>
            <a:pPr marL="0" lvl="0" indent="0" eaLnBrk="1" hangingPunct="1">
              <a:lnSpc>
                <a:spcPct val="115000"/>
              </a:lnSpc>
              <a:spcBef>
                <a:spcPct val="0"/>
              </a:spcBef>
              <a:buClrTx/>
              <a:buSzTx/>
              <a:buFont typeface="Wingdings" panose="05000000000000000000" pitchFamily="2" charset="2"/>
              <a:buChar char="Ø"/>
            </a:pPr>
            <a:r>
              <a:rPr lang="zh-CN" altLang="en-US" sz="2400" b="1" dirty="0">
                <a:solidFill>
                  <a:srgbClr val="000099"/>
                </a:solidFill>
                <a:ea typeface="楷体_GB2312" pitchFamily="49" charset="-122"/>
              </a:rPr>
              <a:t> 在每次分配时，容易产生较小的空白区，由于其太小而无法使用，从而形成“</a:t>
            </a:r>
            <a:r>
              <a:rPr lang="zh-CN" altLang="en-US" sz="2400" b="1" dirty="0">
                <a:solidFill>
                  <a:srgbClr val="FF0000"/>
                </a:solidFill>
                <a:ea typeface="楷体_GB2312" pitchFamily="49" charset="-122"/>
              </a:rPr>
              <a:t>碎片</a:t>
            </a:r>
            <a:r>
              <a:rPr lang="zh-CN" altLang="en-US" sz="2400" b="1" dirty="0">
                <a:solidFill>
                  <a:srgbClr val="000099"/>
                </a:solidFill>
                <a:ea typeface="楷体_GB2312" pitchFamily="49" charset="-122"/>
              </a:rPr>
              <a:t>”。因此，经过一段时期后，存储空间中可能留下许多这样的“</a:t>
            </a:r>
            <a:r>
              <a:rPr lang="zh-CN" altLang="en-US" sz="2400" b="1" dirty="0">
                <a:solidFill>
                  <a:srgbClr val="FF0000"/>
                </a:solidFill>
                <a:ea typeface="楷体_GB2312" pitchFamily="49" charset="-122"/>
              </a:rPr>
              <a:t>碎片</a:t>
            </a:r>
            <a:r>
              <a:rPr lang="zh-CN" altLang="en-US" sz="2400" b="1" dirty="0">
                <a:solidFill>
                  <a:srgbClr val="000099"/>
                </a:solidFill>
                <a:ea typeface="楷体_GB2312" pitchFamily="49" charset="-122"/>
              </a:rPr>
              <a:t>”</a:t>
            </a:r>
            <a:r>
              <a:rPr lang="zh-CN" altLang="en-US" sz="2400" dirty="0">
                <a:ea typeface="楷体_GB2312" pitchFamily="49" charset="-122"/>
              </a:rPr>
              <a:t> </a:t>
            </a:r>
            <a:r>
              <a:rPr lang="zh-CN" altLang="en-US" sz="2400" b="1" dirty="0">
                <a:solidFill>
                  <a:srgbClr val="000099"/>
                </a:solidFill>
                <a:ea typeface="楷体_GB2312" pitchFamily="49" charset="-122"/>
              </a:rPr>
              <a:t>。</a:t>
            </a:r>
            <a:endParaRPr lang="zh-CN" altLang="en-US" sz="2400" b="1" dirty="0">
              <a:solidFill>
                <a:srgbClr val="000099"/>
              </a:solidFill>
              <a:ea typeface="楷体_GB2312" pitchFamily="49" charset="-122"/>
            </a:endParaRPr>
          </a:p>
          <a:p>
            <a:pPr marL="0" lvl="0" indent="0" eaLnBrk="1" hangingPunct="1">
              <a:lnSpc>
                <a:spcPct val="115000"/>
              </a:lnSpc>
              <a:spcBef>
                <a:spcPct val="0"/>
              </a:spcBef>
              <a:buClrTx/>
              <a:buSzTx/>
              <a:buFont typeface="Wingdings" panose="05000000000000000000" pitchFamily="2" charset="2"/>
              <a:buChar char="Ø"/>
            </a:pPr>
            <a:r>
              <a:rPr lang="zh-CN" altLang="en-US" sz="2400" b="1" dirty="0">
                <a:solidFill>
                  <a:srgbClr val="000099"/>
                </a:solidFill>
                <a:ea typeface="楷体_GB2312" pitchFamily="49" charset="-122"/>
              </a:rPr>
              <a:t> 在回收一个分区时，为了把它插入到空白区链中合适的位置上也颇为费时。</a:t>
            </a:r>
            <a:endParaRPr lang="zh-CN" altLang="en-US" sz="2400" b="1" dirty="0">
              <a:solidFill>
                <a:srgbClr val="000099"/>
              </a:solidFill>
              <a:ea typeface="楷体_GB2312" pitchFamily="49" charset="-122"/>
            </a:endParaRPr>
          </a:p>
        </p:txBody>
      </p:sp>
      <p:sp>
        <p:nvSpPr>
          <p:cNvPr id="547847" name="Rectangle 7"/>
          <p:cNvSpPr/>
          <p:nvPr/>
        </p:nvSpPr>
        <p:spPr>
          <a:xfrm>
            <a:off x="585788" y="5080000"/>
            <a:ext cx="8424862" cy="135413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zh-CN" altLang="en-US" sz="2400" b="1" dirty="0">
                <a:solidFill>
                  <a:srgbClr val="990033"/>
                </a:solidFill>
                <a:ea typeface="楷体_GB2312" pitchFamily="49" charset="-122"/>
              </a:rPr>
              <a:t>改进：</a:t>
            </a:r>
            <a:r>
              <a:rPr lang="zh-CN" altLang="en-US" sz="2400" b="1" dirty="0">
                <a:solidFill>
                  <a:srgbClr val="000099"/>
                </a:solidFill>
                <a:ea typeface="楷体_GB2312" pitchFamily="49" charset="-122"/>
              </a:rPr>
              <a:t>可设置一参数</a:t>
            </a:r>
            <a:r>
              <a:rPr lang="en-US" altLang="zh-CN" sz="2400" b="1" dirty="0">
                <a:solidFill>
                  <a:srgbClr val="000099"/>
                </a:solidFill>
                <a:ea typeface="楷体_GB2312" pitchFamily="49" charset="-122"/>
              </a:rPr>
              <a:t>G</a:t>
            </a:r>
            <a:r>
              <a:rPr lang="zh-CN" altLang="en-US" sz="2400" b="1" dirty="0">
                <a:solidFill>
                  <a:srgbClr val="000099"/>
                </a:solidFill>
                <a:ea typeface="楷体_GB2312" pitchFamily="49" charset="-122"/>
              </a:rPr>
              <a:t>，用它来确定最小分区的大小。当选择一个分区时，如果选中的空白区与要求的大小之差小于</a:t>
            </a:r>
            <a:r>
              <a:rPr lang="en-US" altLang="zh-CN" sz="2400" b="1" dirty="0">
                <a:solidFill>
                  <a:srgbClr val="000099"/>
                </a:solidFill>
                <a:ea typeface="楷体_GB2312" pitchFamily="49" charset="-122"/>
              </a:rPr>
              <a:t>G</a:t>
            </a:r>
            <a:r>
              <a:rPr lang="zh-CN" altLang="en-US" sz="2400" b="1" dirty="0">
                <a:solidFill>
                  <a:srgbClr val="000099"/>
                </a:solidFill>
                <a:ea typeface="楷体_GB2312" pitchFamily="49" charset="-122"/>
              </a:rPr>
              <a:t>，则不再对它划分，而把整个这个空白区分配给申请的作业。</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47842"/>
                                        </p:tgtEl>
                                        <p:attrNameLst>
                                          <p:attrName>style.visibility</p:attrName>
                                        </p:attrNameLst>
                                      </p:cBhvr>
                                      <p:to>
                                        <p:strVal val="visible"/>
                                      </p:to>
                                    </p:set>
                                    <p:anim calcmode="lin" valueType="num">
                                      <p:cBhvr additive="base">
                                        <p:cTn id="7" dur="500" fill="hold"/>
                                        <p:tgtEl>
                                          <p:spTgt spid="547842"/>
                                        </p:tgtEl>
                                        <p:attrNameLst>
                                          <p:attrName>ppt_x</p:attrName>
                                        </p:attrNameLst>
                                      </p:cBhvr>
                                      <p:tavLst>
                                        <p:tav tm="0">
                                          <p:val>
                                            <p:strVal val="0-#ppt_w/2"/>
                                          </p:val>
                                        </p:tav>
                                        <p:tav tm="100000">
                                          <p:val>
                                            <p:strVal val="#ppt_x"/>
                                          </p:val>
                                        </p:tav>
                                      </p:tavLst>
                                    </p:anim>
                                    <p:anim calcmode="lin" valueType="num">
                                      <p:cBhvr additive="base">
                                        <p:cTn id="8" dur="500" fill="hold"/>
                                        <p:tgtEl>
                                          <p:spTgt spid="5478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47844"/>
                                        </p:tgtEl>
                                        <p:attrNameLst>
                                          <p:attrName>style.visibility</p:attrName>
                                        </p:attrNameLst>
                                      </p:cBhvr>
                                      <p:to>
                                        <p:strVal val="visible"/>
                                      </p:to>
                                    </p:set>
                                    <p:anim calcmode="lin" valueType="num">
                                      <p:cBhvr additive="base">
                                        <p:cTn id="13" dur="500" fill="hold"/>
                                        <p:tgtEl>
                                          <p:spTgt spid="547844"/>
                                        </p:tgtEl>
                                        <p:attrNameLst>
                                          <p:attrName>ppt_x</p:attrName>
                                        </p:attrNameLst>
                                      </p:cBhvr>
                                      <p:tavLst>
                                        <p:tav tm="0">
                                          <p:val>
                                            <p:strVal val="0-#ppt_w/2"/>
                                          </p:val>
                                        </p:tav>
                                        <p:tav tm="100000">
                                          <p:val>
                                            <p:strVal val="#ppt_x"/>
                                          </p:val>
                                        </p:tav>
                                      </p:tavLst>
                                    </p:anim>
                                    <p:anim calcmode="lin" valueType="num">
                                      <p:cBhvr additive="base">
                                        <p:cTn id="14" dur="500" fill="hold"/>
                                        <p:tgtEl>
                                          <p:spTgt spid="54784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47847"/>
                                        </p:tgtEl>
                                        <p:attrNameLst>
                                          <p:attrName>style.visibility</p:attrName>
                                        </p:attrNameLst>
                                      </p:cBhvr>
                                      <p:to>
                                        <p:strVal val="visible"/>
                                      </p:to>
                                    </p:set>
                                    <p:anim calcmode="lin" valueType="num">
                                      <p:cBhvr additive="base">
                                        <p:cTn id="19" dur="500" fill="hold"/>
                                        <p:tgtEl>
                                          <p:spTgt spid="547847"/>
                                        </p:tgtEl>
                                        <p:attrNameLst>
                                          <p:attrName>ppt_x</p:attrName>
                                        </p:attrNameLst>
                                      </p:cBhvr>
                                      <p:tavLst>
                                        <p:tav tm="0">
                                          <p:val>
                                            <p:strVal val="0-#ppt_w/2"/>
                                          </p:val>
                                        </p:tav>
                                        <p:tav tm="100000">
                                          <p:val>
                                            <p:strVal val="#ppt_x"/>
                                          </p:val>
                                        </p:tav>
                                      </p:tavLst>
                                    </p:anim>
                                    <p:anim calcmode="lin" valueType="num">
                                      <p:cBhvr additive="base">
                                        <p:cTn id="20" dur="500" fill="hold"/>
                                        <p:tgtEl>
                                          <p:spTgt spid="5478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2" grpId="0" animBg="1"/>
      <p:bldP spid="547844" grpId="0"/>
      <p:bldP spid="54784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74115" name="Rectangle 3"/>
          <p:cNvSpPr/>
          <p:nvPr/>
        </p:nvSpPr>
        <p:spPr>
          <a:xfrm>
            <a:off x="630238" y="882650"/>
            <a:ext cx="8229600" cy="162718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800" dirty="0">
                <a:solidFill>
                  <a:srgbClr val="9900CC"/>
                </a:solidFill>
                <a:ea typeface="隶书" panose="02010509060101010101" pitchFamily="49" charset="-122"/>
              </a:rPr>
              <a:t>（</a:t>
            </a:r>
            <a:r>
              <a:rPr lang="en-US" altLang="zh-CN" sz="2800" dirty="0">
                <a:solidFill>
                  <a:srgbClr val="9900CC"/>
                </a:solidFill>
                <a:ea typeface="隶书" panose="02010509060101010101" pitchFamily="49" charset="-122"/>
              </a:rPr>
              <a:t>2</a:t>
            </a:r>
            <a:r>
              <a:rPr lang="zh-CN" altLang="en-US" sz="2800" dirty="0">
                <a:solidFill>
                  <a:srgbClr val="9900CC"/>
                </a:solidFill>
                <a:ea typeface="隶书" panose="02010509060101010101" pitchFamily="49" charset="-122"/>
              </a:rPr>
              <a:t>）最坏适应算法</a:t>
            </a:r>
            <a:r>
              <a:rPr lang="en-US" altLang="zh-CN" sz="2400" b="1" dirty="0">
                <a:solidFill>
                  <a:srgbClr val="9900CC"/>
                </a:solidFill>
                <a:ea typeface="楷体_GB2312" pitchFamily="49" charset="-122"/>
              </a:rPr>
              <a:t>(WFA)</a:t>
            </a:r>
            <a:endParaRPr lang="en-US" altLang="zh-CN" sz="2800" dirty="0">
              <a:solidFill>
                <a:srgbClr val="9900CC"/>
              </a:solidFill>
              <a:ea typeface="隶书" panose="02010509060101010101" pitchFamily="49" charset="-122"/>
            </a:endParaRPr>
          </a:p>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在为作业选择存储区域时，总是寻找最大的空闲区。</a:t>
            </a:r>
            <a:endParaRPr lang="zh-CN" altLang="en-US" sz="2400" b="1" dirty="0">
              <a:solidFill>
                <a:srgbClr val="000099"/>
              </a:solidFill>
              <a:ea typeface="楷体_GB2312" pitchFamily="49" charset="-122"/>
            </a:endParaRPr>
          </a:p>
          <a:p>
            <a:pPr marL="0" lvl="0" indent="0" eaLnBrk="1" hangingPunct="1">
              <a:lnSpc>
                <a:spcPct val="120000"/>
              </a:lnSpc>
              <a:buClrTx/>
              <a:buSzTx/>
              <a:buFontTx/>
              <a:buNone/>
            </a:pPr>
            <a:r>
              <a:rPr lang="zh-CN" altLang="en-US" sz="2400" b="1" dirty="0">
                <a:solidFill>
                  <a:srgbClr val="9900CC"/>
                </a:solidFill>
                <a:ea typeface="楷体_GB2312" pitchFamily="49" charset="-122"/>
              </a:rPr>
              <a:t>        空闲区以</a:t>
            </a:r>
            <a:r>
              <a:rPr lang="zh-CN" altLang="en-US" sz="2400" b="1" dirty="0">
                <a:solidFill>
                  <a:srgbClr val="FF0000"/>
                </a:solidFill>
                <a:ea typeface="楷体_GB2312" pitchFamily="49" charset="-122"/>
              </a:rPr>
              <a:t>大小递减</a:t>
            </a:r>
            <a:r>
              <a:rPr lang="zh-CN" altLang="en-US" sz="2400" b="1" dirty="0">
                <a:solidFill>
                  <a:srgbClr val="9900CC"/>
                </a:solidFill>
                <a:ea typeface="楷体_GB2312" pitchFamily="49" charset="-122"/>
              </a:rPr>
              <a:t>的顺序链接起来。</a:t>
            </a:r>
            <a:endParaRPr lang="zh-CN" altLang="en-US" sz="2400" b="1" dirty="0">
              <a:solidFill>
                <a:srgbClr val="9900CC"/>
              </a:solidFill>
              <a:ea typeface="楷体_GB2312" pitchFamily="49" charset="-122"/>
            </a:endParaRPr>
          </a:p>
        </p:txBody>
      </p:sp>
      <p:sp>
        <p:nvSpPr>
          <p:cNvPr id="474116" name="Rectangle 4"/>
          <p:cNvSpPr/>
          <p:nvPr/>
        </p:nvSpPr>
        <p:spPr>
          <a:xfrm>
            <a:off x="684213" y="2636838"/>
            <a:ext cx="8229600" cy="16414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800" dirty="0">
                <a:solidFill>
                  <a:srgbClr val="006600"/>
                </a:solidFill>
                <a:ea typeface="隶书" panose="02010509060101010101" pitchFamily="49" charset="-122"/>
              </a:rPr>
              <a:t>优点：</a:t>
            </a:r>
            <a:endParaRPr lang="zh-CN" altLang="en-US" sz="2800" dirty="0">
              <a:solidFill>
                <a:srgbClr val="006600"/>
              </a:solidFill>
              <a:ea typeface="隶书" panose="02010509060101010101" pitchFamily="49" charset="-122"/>
            </a:endParaRPr>
          </a:p>
          <a:p>
            <a:pPr marL="0" lvl="0" indent="0" eaLnBrk="1" hangingPunct="1">
              <a:lnSpc>
                <a:spcPct val="120000"/>
              </a:lnSpc>
              <a:buClrTx/>
              <a:buSzTx/>
              <a:buFontTx/>
              <a:buNone/>
            </a:pPr>
            <a:r>
              <a:rPr lang="zh-CN" altLang="en-US" sz="2800" dirty="0">
                <a:solidFill>
                  <a:srgbClr val="006600"/>
                </a:solidFill>
                <a:ea typeface="隶书" panose="02010509060101010101" pitchFamily="49" charset="-122"/>
              </a:rPr>
              <a:t>       </a:t>
            </a:r>
            <a:r>
              <a:rPr lang="zh-CN" altLang="en-US" sz="2400" b="1" dirty="0">
                <a:solidFill>
                  <a:srgbClr val="000099"/>
                </a:solidFill>
                <a:ea typeface="楷体_GB2312" pitchFamily="49" charset="-122"/>
              </a:rPr>
              <a:t>在划分后剩下的空闲区较大，因而对以后的分配很可能仍然是有用的。</a:t>
            </a:r>
            <a:endParaRPr lang="zh-CN" altLang="en-US" sz="2400" b="1" dirty="0">
              <a:solidFill>
                <a:srgbClr val="000099"/>
              </a:solidFill>
              <a:ea typeface="楷体_GB2312" pitchFamily="49" charset="-122"/>
            </a:endParaRPr>
          </a:p>
        </p:txBody>
      </p:sp>
      <p:sp>
        <p:nvSpPr>
          <p:cNvPr id="474117" name="Rectangle 5"/>
          <p:cNvSpPr/>
          <p:nvPr/>
        </p:nvSpPr>
        <p:spPr>
          <a:xfrm>
            <a:off x="711200" y="4332288"/>
            <a:ext cx="8229600" cy="1573212"/>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spcBef>
                <a:spcPct val="25000"/>
              </a:spcBef>
              <a:buClrTx/>
              <a:buSzTx/>
              <a:buFontTx/>
              <a:buNone/>
            </a:pPr>
            <a:r>
              <a:rPr lang="zh-CN" altLang="en-US" sz="2800" dirty="0">
                <a:solidFill>
                  <a:srgbClr val="006600"/>
                </a:solidFill>
                <a:ea typeface="隶书" panose="02010509060101010101" pitchFamily="49" charset="-122"/>
              </a:rPr>
              <a:t>缺点：</a:t>
            </a:r>
            <a:endParaRPr lang="zh-CN" altLang="en-US" sz="2800" dirty="0">
              <a:solidFill>
                <a:srgbClr val="006600"/>
              </a:solidFill>
              <a:ea typeface="隶书" panose="02010509060101010101" pitchFamily="49" charset="-122"/>
            </a:endParaRPr>
          </a:p>
          <a:p>
            <a:pPr marL="0" lvl="0" indent="0" eaLnBrk="1" hangingPunct="1">
              <a:lnSpc>
                <a:spcPct val="120000"/>
              </a:lnSpc>
              <a:spcBef>
                <a:spcPct val="25000"/>
              </a:spcBef>
              <a:buClrTx/>
              <a:buSzTx/>
              <a:buFontTx/>
              <a:buNone/>
            </a:pPr>
            <a:r>
              <a:rPr lang="zh-CN" altLang="en-US" sz="2400" b="1" dirty="0">
                <a:solidFill>
                  <a:srgbClr val="000099"/>
                </a:solidFill>
                <a:ea typeface="楷体_GB2312" pitchFamily="49" charset="-122"/>
              </a:rPr>
              <a:t>        由于最大的空闲区总是首先被分配而进行划分，当有大的作业时，其存储空间的申请往往得不到满足。</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4115"/>
                                        </p:tgtEl>
                                        <p:attrNameLst>
                                          <p:attrName>style.visibility</p:attrName>
                                        </p:attrNameLst>
                                      </p:cBhvr>
                                      <p:to>
                                        <p:strVal val="visible"/>
                                      </p:to>
                                    </p:set>
                                    <p:anim calcmode="lin" valueType="num">
                                      <p:cBhvr additive="base">
                                        <p:cTn id="7" dur="500" fill="hold"/>
                                        <p:tgtEl>
                                          <p:spTgt spid="474115"/>
                                        </p:tgtEl>
                                        <p:attrNameLst>
                                          <p:attrName>ppt_x</p:attrName>
                                        </p:attrNameLst>
                                      </p:cBhvr>
                                      <p:tavLst>
                                        <p:tav tm="0">
                                          <p:val>
                                            <p:strVal val="0-#ppt_w/2"/>
                                          </p:val>
                                        </p:tav>
                                        <p:tav tm="100000">
                                          <p:val>
                                            <p:strVal val="#ppt_x"/>
                                          </p:val>
                                        </p:tav>
                                      </p:tavLst>
                                    </p:anim>
                                    <p:anim calcmode="lin" valueType="num">
                                      <p:cBhvr additive="base">
                                        <p:cTn id="8" dur="500" fill="hold"/>
                                        <p:tgtEl>
                                          <p:spTgt spid="4741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74116"/>
                                        </p:tgtEl>
                                        <p:attrNameLst>
                                          <p:attrName>style.visibility</p:attrName>
                                        </p:attrNameLst>
                                      </p:cBhvr>
                                      <p:to>
                                        <p:strVal val="visible"/>
                                      </p:to>
                                    </p:set>
                                    <p:anim calcmode="lin" valueType="num">
                                      <p:cBhvr additive="base">
                                        <p:cTn id="13" dur="500" fill="hold"/>
                                        <p:tgtEl>
                                          <p:spTgt spid="474116"/>
                                        </p:tgtEl>
                                        <p:attrNameLst>
                                          <p:attrName>ppt_x</p:attrName>
                                        </p:attrNameLst>
                                      </p:cBhvr>
                                      <p:tavLst>
                                        <p:tav tm="0">
                                          <p:val>
                                            <p:strVal val="0-#ppt_w/2"/>
                                          </p:val>
                                        </p:tav>
                                        <p:tav tm="100000">
                                          <p:val>
                                            <p:strVal val="#ppt_x"/>
                                          </p:val>
                                        </p:tav>
                                      </p:tavLst>
                                    </p:anim>
                                    <p:anim calcmode="lin" valueType="num">
                                      <p:cBhvr additive="base">
                                        <p:cTn id="14" dur="500" fill="hold"/>
                                        <p:tgtEl>
                                          <p:spTgt spid="4741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74117"/>
                                        </p:tgtEl>
                                        <p:attrNameLst>
                                          <p:attrName>style.visibility</p:attrName>
                                        </p:attrNameLst>
                                      </p:cBhvr>
                                      <p:to>
                                        <p:strVal val="visible"/>
                                      </p:to>
                                    </p:set>
                                    <p:anim calcmode="lin" valueType="num">
                                      <p:cBhvr additive="base">
                                        <p:cTn id="19" dur="500" fill="hold"/>
                                        <p:tgtEl>
                                          <p:spTgt spid="474117"/>
                                        </p:tgtEl>
                                        <p:attrNameLst>
                                          <p:attrName>ppt_x</p:attrName>
                                        </p:attrNameLst>
                                      </p:cBhvr>
                                      <p:tavLst>
                                        <p:tav tm="0">
                                          <p:val>
                                            <p:strVal val="0-#ppt_w/2"/>
                                          </p:val>
                                        </p:tav>
                                        <p:tav tm="100000">
                                          <p:val>
                                            <p:strVal val="#ppt_x"/>
                                          </p:val>
                                        </p:tav>
                                      </p:tavLst>
                                    </p:anim>
                                    <p:anim calcmode="lin" valueType="num">
                                      <p:cBhvr additive="base">
                                        <p:cTn id="20" dur="500" fill="hold"/>
                                        <p:tgtEl>
                                          <p:spTgt spid="4741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5" grpId="0"/>
      <p:bldP spid="474116" grpId="0"/>
      <p:bldP spid="47411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75138" name="Rectangle 2"/>
          <p:cNvSpPr/>
          <p:nvPr/>
        </p:nvSpPr>
        <p:spPr>
          <a:xfrm>
            <a:off x="611188" y="1052513"/>
            <a:ext cx="8229600" cy="2874962"/>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spcBef>
                <a:spcPct val="30000"/>
              </a:spcBef>
              <a:buClrTx/>
              <a:buSzTx/>
              <a:buFontTx/>
              <a:buNone/>
            </a:pPr>
            <a:r>
              <a:rPr lang="zh-CN" altLang="en-US" sz="2800" dirty="0">
                <a:solidFill>
                  <a:srgbClr val="9900CC"/>
                </a:solidFill>
                <a:ea typeface="隶书" panose="02010509060101010101" pitchFamily="49" charset="-122"/>
              </a:rPr>
              <a:t>（</a:t>
            </a:r>
            <a:r>
              <a:rPr lang="en-US" altLang="zh-CN" sz="2800" dirty="0">
                <a:solidFill>
                  <a:srgbClr val="9900CC"/>
                </a:solidFill>
                <a:ea typeface="隶书" panose="02010509060101010101" pitchFamily="49" charset="-122"/>
              </a:rPr>
              <a:t>3</a:t>
            </a:r>
            <a:r>
              <a:rPr lang="zh-CN" altLang="en-US" sz="2800" dirty="0">
                <a:solidFill>
                  <a:srgbClr val="9900CC"/>
                </a:solidFill>
                <a:ea typeface="隶书" panose="02010509060101010101" pitchFamily="49" charset="-122"/>
              </a:rPr>
              <a:t>）首次</a:t>
            </a:r>
            <a:r>
              <a:rPr lang="en-US" altLang="zh-CN" sz="2800" dirty="0">
                <a:solidFill>
                  <a:srgbClr val="9900CC"/>
                </a:solidFill>
                <a:ea typeface="隶书" panose="02010509060101010101" pitchFamily="49" charset="-122"/>
              </a:rPr>
              <a:t>(</a:t>
            </a:r>
            <a:r>
              <a:rPr lang="zh-CN" altLang="en-US" sz="2800" dirty="0">
                <a:solidFill>
                  <a:srgbClr val="9900CC"/>
                </a:solidFill>
                <a:ea typeface="隶书" panose="02010509060101010101" pitchFamily="49" charset="-122"/>
              </a:rPr>
              <a:t>最先</a:t>
            </a:r>
            <a:r>
              <a:rPr lang="en-US" altLang="zh-CN" sz="2800" dirty="0">
                <a:solidFill>
                  <a:srgbClr val="9900CC"/>
                </a:solidFill>
                <a:ea typeface="隶书" panose="02010509060101010101" pitchFamily="49" charset="-122"/>
              </a:rPr>
              <a:t>)</a:t>
            </a:r>
            <a:r>
              <a:rPr lang="zh-CN" altLang="en-US" sz="2800" dirty="0">
                <a:solidFill>
                  <a:srgbClr val="9900CC"/>
                </a:solidFill>
                <a:ea typeface="隶书" panose="02010509060101010101" pitchFamily="49" charset="-122"/>
              </a:rPr>
              <a:t>适应算法</a:t>
            </a:r>
            <a:r>
              <a:rPr lang="en-US" altLang="zh-CN" sz="2400" b="1" dirty="0">
                <a:solidFill>
                  <a:srgbClr val="9900CC"/>
                </a:solidFill>
                <a:ea typeface="楷体_GB2312" pitchFamily="49" charset="-122"/>
              </a:rPr>
              <a:t>(FFA)</a:t>
            </a:r>
            <a:endParaRPr lang="en-US" altLang="zh-CN" sz="2800" dirty="0">
              <a:solidFill>
                <a:srgbClr val="9900CC"/>
              </a:solidFill>
              <a:ea typeface="隶书" panose="02010509060101010101" pitchFamily="49" charset="-122"/>
            </a:endParaRPr>
          </a:p>
          <a:p>
            <a:pPr marL="0" lvl="0" indent="0" eaLnBrk="1" hangingPunct="1">
              <a:lnSpc>
                <a:spcPct val="130000"/>
              </a:lnSpc>
              <a:spcBef>
                <a:spcPct val="30000"/>
              </a:spcBef>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在为作业分配存储区域时，从空闲区链的始端开始查找，选择第一个满足请求的空闲区．而不管它究竟有多大。</a:t>
            </a:r>
            <a:endParaRPr lang="zh-CN" altLang="en-US" sz="2400" b="1" dirty="0">
              <a:solidFill>
                <a:srgbClr val="000099"/>
              </a:solidFill>
              <a:ea typeface="楷体_GB2312" pitchFamily="49" charset="-122"/>
            </a:endParaRPr>
          </a:p>
          <a:p>
            <a:pPr marL="0" lvl="0" indent="0" eaLnBrk="1" hangingPunct="1">
              <a:lnSpc>
                <a:spcPct val="130000"/>
              </a:lnSpc>
              <a:spcBef>
                <a:spcPct val="30000"/>
              </a:spcBef>
              <a:buClrTx/>
              <a:buSzTx/>
              <a:buFontTx/>
              <a:buNone/>
            </a:pPr>
            <a:r>
              <a:rPr lang="zh-CN" altLang="en-US" sz="2400" b="1" dirty="0">
                <a:solidFill>
                  <a:srgbClr val="9900CC"/>
                </a:solidFill>
                <a:ea typeface="楷体_GB2312" pitchFamily="49" charset="-122"/>
              </a:rPr>
              <a:t>每个空闲区按其在存储空间中地址递增的顺序链在一起。</a:t>
            </a:r>
            <a:endParaRPr lang="zh-CN" altLang="en-US" sz="2400" b="1" dirty="0">
              <a:solidFill>
                <a:srgbClr val="9900CC"/>
              </a:solidFill>
              <a:ea typeface="楷体_GB2312" pitchFamily="49" charset="-122"/>
            </a:endParaRPr>
          </a:p>
          <a:p>
            <a:pPr marL="0" lvl="0" indent="0" eaLnBrk="1" hangingPunct="1">
              <a:lnSpc>
                <a:spcPct val="130000"/>
              </a:lnSpc>
              <a:spcBef>
                <a:spcPct val="30000"/>
              </a:spcBef>
              <a:buClrTx/>
              <a:buSzTx/>
              <a:buFontTx/>
              <a:buNone/>
            </a:pPr>
            <a:r>
              <a:rPr lang="zh-CN" altLang="en-US" sz="2400" b="1" dirty="0">
                <a:solidFill>
                  <a:srgbClr val="000099"/>
                </a:solidFill>
                <a:ea typeface="楷体_GB2312" pitchFamily="49" charset="-122"/>
              </a:rPr>
              <a:t>即每个后继空闲区的起始地址总是比前者的大。</a:t>
            </a:r>
            <a:endParaRPr lang="zh-CN" altLang="en-US" sz="2400" b="1" dirty="0">
              <a:solidFill>
                <a:srgbClr val="000099"/>
              </a:solidFill>
              <a:ea typeface="楷体_GB2312" pitchFamily="49" charset="-122"/>
            </a:endParaRPr>
          </a:p>
        </p:txBody>
      </p:sp>
      <p:sp>
        <p:nvSpPr>
          <p:cNvPr id="475140" name="Rectangle 4"/>
          <p:cNvSpPr/>
          <p:nvPr/>
        </p:nvSpPr>
        <p:spPr>
          <a:xfrm>
            <a:off x="684213" y="4076700"/>
            <a:ext cx="76200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006600"/>
                </a:solidFill>
                <a:ea typeface="楷体_GB2312" pitchFamily="49" charset="-122"/>
              </a:rPr>
              <a:t>特点：</a:t>
            </a:r>
            <a:r>
              <a:rPr lang="zh-CN" altLang="en-US" sz="2400" b="1" dirty="0">
                <a:solidFill>
                  <a:srgbClr val="000099"/>
                </a:solidFill>
                <a:ea typeface="楷体_GB2312" pitchFamily="49" charset="-122"/>
              </a:rPr>
              <a:t>倾向于优先利用存储空间中低址部分的空白区。</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5138"/>
                                        </p:tgtEl>
                                        <p:attrNameLst>
                                          <p:attrName>style.visibility</p:attrName>
                                        </p:attrNameLst>
                                      </p:cBhvr>
                                      <p:to>
                                        <p:strVal val="visible"/>
                                      </p:to>
                                    </p:set>
                                    <p:anim calcmode="lin" valueType="num">
                                      <p:cBhvr additive="base">
                                        <p:cTn id="7" dur="500" fill="hold"/>
                                        <p:tgtEl>
                                          <p:spTgt spid="475138"/>
                                        </p:tgtEl>
                                        <p:attrNameLst>
                                          <p:attrName>ppt_x</p:attrName>
                                        </p:attrNameLst>
                                      </p:cBhvr>
                                      <p:tavLst>
                                        <p:tav tm="0">
                                          <p:val>
                                            <p:strVal val="0-#ppt_w/2"/>
                                          </p:val>
                                        </p:tav>
                                        <p:tav tm="100000">
                                          <p:val>
                                            <p:strVal val="#ppt_x"/>
                                          </p:val>
                                        </p:tav>
                                      </p:tavLst>
                                    </p:anim>
                                    <p:anim calcmode="lin" valueType="num">
                                      <p:cBhvr additive="base">
                                        <p:cTn id="8" dur="500" fill="hold"/>
                                        <p:tgtEl>
                                          <p:spTgt spid="4751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75140"/>
                                        </p:tgtEl>
                                        <p:attrNameLst>
                                          <p:attrName>style.visibility</p:attrName>
                                        </p:attrNameLst>
                                      </p:cBhvr>
                                      <p:to>
                                        <p:strVal val="visible"/>
                                      </p:to>
                                    </p:set>
                                    <p:anim calcmode="lin" valueType="num">
                                      <p:cBhvr additive="base">
                                        <p:cTn id="13" dur="500" fill="hold"/>
                                        <p:tgtEl>
                                          <p:spTgt spid="475140"/>
                                        </p:tgtEl>
                                        <p:attrNameLst>
                                          <p:attrName>ppt_x</p:attrName>
                                        </p:attrNameLst>
                                      </p:cBhvr>
                                      <p:tavLst>
                                        <p:tav tm="0">
                                          <p:val>
                                            <p:strVal val="0-#ppt_w/2"/>
                                          </p:val>
                                        </p:tav>
                                        <p:tav tm="100000">
                                          <p:val>
                                            <p:strVal val="#ppt_x"/>
                                          </p:val>
                                        </p:tav>
                                      </p:tavLst>
                                    </p:anim>
                                    <p:anim calcmode="lin" valueType="num">
                                      <p:cBhvr additive="base">
                                        <p:cTn id="14" dur="500" fill="hold"/>
                                        <p:tgtEl>
                                          <p:spTgt spid="4751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8" grpId="0"/>
      <p:bldP spid="47514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76162" name="Rectangle 2"/>
          <p:cNvSpPr/>
          <p:nvPr/>
        </p:nvSpPr>
        <p:spPr>
          <a:xfrm>
            <a:off x="685800" y="2895600"/>
            <a:ext cx="8278813" cy="111601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800" dirty="0">
                <a:solidFill>
                  <a:srgbClr val="990033"/>
                </a:solidFill>
                <a:ea typeface="隶书" panose="02010509060101010101" pitchFamily="49" charset="-122"/>
              </a:rPr>
              <a:t>缺点：</a:t>
            </a:r>
            <a:endParaRPr lang="zh-CN" altLang="en-US" sz="2800" dirty="0">
              <a:solidFill>
                <a:srgbClr val="990033"/>
              </a:solidFill>
              <a:ea typeface="隶书" panose="02010509060101010101" pitchFamily="49" charset="-122"/>
            </a:endParaRPr>
          </a:p>
          <a:p>
            <a:pPr marL="0" lvl="0" indent="0" eaLnBrk="1" hangingPunct="1">
              <a:lnSpc>
                <a:spcPct val="120000"/>
              </a:lnSpc>
              <a:buClrTx/>
              <a:buSzTx/>
              <a:buFont typeface="Wingdings" panose="05000000000000000000" pitchFamily="2" charset="2"/>
              <a:buChar char="Ø"/>
            </a:pPr>
            <a:r>
              <a:rPr lang="zh-CN" altLang="en-US" sz="2400" b="1" dirty="0">
                <a:solidFill>
                  <a:srgbClr val="000099"/>
                </a:solidFill>
                <a:ea typeface="楷体_GB2312" pitchFamily="49" charset="-122"/>
              </a:rPr>
              <a:t> 这种算法可能会利用一个大的空闲区适应小作业的请求。</a:t>
            </a:r>
            <a:endParaRPr lang="zh-CN" altLang="en-US" sz="2400" b="1" dirty="0">
              <a:solidFill>
                <a:srgbClr val="000099"/>
              </a:solidFill>
              <a:ea typeface="楷体_GB2312" pitchFamily="49" charset="-122"/>
            </a:endParaRPr>
          </a:p>
        </p:txBody>
      </p:sp>
      <p:sp>
        <p:nvSpPr>
          <p:cNvPr id="476163" name="Rectangle 3"/>
          <p:cNvSpPr/>
          <p:nvPr/>
        </p:nvSpPr>
        <p:spPr>
          <a:xfrm>
            <a:off x="704850" y="4068763"/>
            <a:ext cx="8153400" cy="18446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 typeface="Wingdings" panose="05000000000000000000" pitchFamily="2" charset="2"/>
              <a:buChar char="Ø"/>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由于所有的请求都是从空白区链的始端开始查找，因而这些小的甚至无用的空闲区集中在这个链的前端，相应地，一些较大的空闲区在链的后端才能发现。这种情况使找到合适空闲区的速度降低。</a:t>
            </a:r>
            <a:endParaRPr lang="zh-CN" altLang="en-US" sz="2400" b="1" dirty="0">
              <a:solidFill>
                <a:srgbClr val="000099"/>
              </a:solidFill>
              <a:ea typeface="楷体_GB2312" pitchFamily="49" charset="-122"/>
            </a:endParaRPr>
          </a:p>
        </p:txBody>
      </p:sp>
      <p:sp>
        <p:nvSpPr>
          <p:cNvPr id="476164" name="Rectangle 4"/>
          <p:cNvSpPr/>
          <p:nvPr/>
        </p:nvSpPr>
        <p:spPr>
          <a:xfrm>
            <a:off x="838200" y="838200"/>
            <a:ext cx="8305800" cy="206533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800" dirty="0">
                <a:solidFill>
                  <a:srgbClr val="990033"/>
                </a:solidFill>
                <a:ea typeface="隶书" panose="02010509060101010101" pitchFamily="49" charset="-122"/>
              </a:rPr>
              <a:t>优点：</a:t>
            </a:r>
            <a:endParaRPr lang="zh-CN" altLang="en-US" sz="2800" dirty="0">
              <a:solidFill>
                <a:srgbClr val="990033"/>
              </a:solidFill>
              <a:ea typeface="隶书" panose="02010509060101010101" pitchFamily="49" charset="-122"/>
            </a:endParaRPr>
          </a:p>
          <a:p>
            <a:pPr marL="0" lvl="0" indent="0" eaLnBrk="1" hangingPunct="1">
              <a:lnSpc>
                <a:spcPct val="120000"/>
              </a:lnSpc>
              <a:buClrTx/>
              <a:buSzTx/>
              <a:buFont typeface="Wingdings" panose="05000000000000000000" pitchFamily="2" charset="2"/>
              <a:buChar char="Ø"/>
            </a:pPr>
            <a:r>
              <a:rPr lang="zh-CN" altLang="en-US" sz="2400" b="1" dirty="0">
                <a:solidFill>
                  <a:srgbClr val="000099"/>
                </a:solidFill>
                <a:ea typeface="楷体_GB2312" pitchFamily="49" charset="-122"/>
              </a:rPr>
              <a:t> 算法简单，查找速度快。</a:t>
            </a:r>
            <a:endParaRPr lang="zh-CN" altLang="en-US" sz="2400" b="1" dirty="0">
              <a:solidFill>
                <a:srgbClr val="000099"/>
              </a:solidFill>
              <a:ea typeface="楷体_GB2312" pitchFamily="49" charset="-122"/>
            </a:endParaRPr>
          </a:p>
          <a:p>
            <a:pPr marL="0" lvl="0" indent="0" eaLnBrk="1" hangingPunct="1">
              <a:lnSpc>
                <a:spcPct val="120000"/>
              </a:lnSpc>
              <a:buClrTx/>
              <a:buSzTx/>
              <a:buFont typeface="Wingdings" panose="05000000000000000000" pitchFamily="2" charset="2"/>
              <a:buChar char="Ø"/>
            </a:pPr>
            <a:r>
              <a:rPr lang="zh-CN" altLang="en-US" sz="2400" b="1" dirty="0">
                <a:solidFill>
                  <a:srgbClr val="000099"/>
                </a:solidFill>
                <a:ea typeface="楷体_GB2312" pitchFamily="49" charset="-122"/>
              </a:rPr>
              <a:t> 留在高地址部分的大的空闲区被划分的机会较少，因而在大作业到来时也比较容易得到满足。</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6164"/>
                                        </p:tgtEl>
                                        <p:attrNameLst>
                                          <p:attrName>style.visibility</p:attrName>
                                        </p:attrNameLst>
                                      </p:cBhvr>
                                      <p:to>
                                        <p:strVal val="visible"/>
                                      </p:to>
                                    </p:set>
                                    <p:anim calcmode="lin" valueType="num">
                                      <p:cBhvr additive="base">
                                        <p:cTn id="7" dur="500" fill="hold"/>
                                        <p:tgtEl>
                                          <p:spTgt spid="476164"/>
                                        </p:tgtEl>
                                        <p:attrNameLst>
                                          <p:attrName>ppt_x</p:attrName>
                                        </p:attrNameLst>
                                      </p:cBhvr>
                                      <p:tavLst>
                                        <p:tav tm="0">
                                          <p:val>
                                            <p:strVal val="0-#ppt_w/2"/>
                                          </p:val>
                                        </p:tav>
                                        <p:tav tm="100000">
                                          <p:val>
                                            <p:strVal val="#ppt_x"/>
                                          </p:val>
                                        </p:tav>
                                      </p:tavLst>
                                    </p:anim>
                                    <p:anim calcmode="lin" valueType="num">
                                      <p:cBhvr additive="base">
                                        <p:cTn id="8" dur="500" fill="hold"/>
                                        <p:tgtEl>
                                          <p:spTgt spid="4761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76162"/>
                                        </p:tgtEl>
                                        <p:attrNameLst>
                                          <p:attrName>style.visibility</p:attrName>
                                        </p:attrNameLst>
                                      </p:cBhvr>
                                      <p:to>
                                        <p:strVal val="visible"/>
                                      </p:to>
                                    </p:set>
                                    <p:anim calcmode="lin" valueType="num">
                                      <p:cBhvr additive="base">
                                        <p:cTn id="13" dur="500" fill="hold"/>
                                        <p:tgtEl>
                                          <p:spTgt spid="476162"/>
                                        </p:tgtEl>
                                        <p:attrNameLst>
                                          <p:attrName>ppt_x</p:attrName>
                                        </p:attrNameLst>
                                      </p:cBhvr>
                                      <p:tavLst>
                                        <p:tav tm="0">
                                          <p:val>
                                            <p:strVal val="0-#ppt_w/2"/>
                                          </p:val>
                                        </p:tav>
                                        <p:tav tm="100000">
                                          <p:val>
                                            <p:strVal val="#ppt_x"/>
                                          </p:val>
                                        </p:tav>
                                      </p:tavLst>
                                    </p:anim>
                                    <p:anim calcmode="lin" valueType="num">
                                      <p:cBhvr additive="base">
                                        <p:cTn id="14" dur="500" fill="hold"/>
                                        <p:tgtEl>
                                          <p:spTgt spid="47616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76163"/>
                                        </p:tgtEl>
                                        <p:attrNameLst>
                                          <p:attrName>style.visibility</p:attrName>
                                        </p:attrNameLst>
                                      </p:cBhvr>
                                      <p:to>
                                        <p:strVal val="visible"/>
                                      </p:to>
                                    </p:set>
                                    <p:anim calcmode="lin" valueType="num">
                                      <p:cBhvr additive="base">
                                        <p:cTn id="19" dur="500" fill="hold"/>
                                        <p:tgtEl>
                                          <p:spTgt spid="476163"/>
                                        </p:tgtEl>
                                        <p:attrNameLst>
                                          <p:attrName>ppt_x</p:attrName>
                                        </p:attrNameLst>
                                      </p:cBhvr>
                                      <p:tavLst>
                                        <p:tav tm="0">
                                          <p:val>
                                            <p:strVal val="0-#ppt_w/2"/>
                                          </p:val>
                                        </p:tav>
                                        <p:tav tm="100000">
                                          <p:val>
                                            <p:strVal val="#ppt_x"/>
                                          </p:val>
                                        </p:tav>
                                      </p:tavLst>
                                    </p:anim>
                                    <p:anim calcmode="lin" valueType="num">
                                      <p:cBhvr additive="base">
                                        <p:cTn id="20" dur="500" fill="hold"/>
                                        <p:tgtEl>
                                          <p:spTgt spid="4761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2" grpId="0"/>
      <p:bldP spid="476163" grpId="0"/>
      <p:bldP spid="47616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85059" name="Rectangle 3"/>
          <p:cNvSpPr/>
          <p:nvPr/>
        </p:nvSpPr>
        <p:spPr>
          <a:xfrm>
            <a:off x="827088" y="1052513"/>
            <a:ext cx="80010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3399"/>
                </a:solidFill>
                <a:ea typeface="楷体_GB2312" pitchFamily="49" charset="-122"/>
              </a:rPr>
              <a:t>动态分区分配的过程中选择的空闲区被分成两部分：一部分与请求的大小相等，分配给作业；剩下的部分作为空闲区仍留在空闲区链中。</a:t>
            </a:r>
            <a:endParaRPr lang="zh-CN" altLang="en-US" sz="2400" b="1" dirty="0">
              <a:solidFill>
                <a:srgbClr val="0033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85059"/>
                                        </p:tgtEl>
                                        <p:attrNameLst>
                                          <p:attrName>style.visibility</p:attrName>
                                        </p:attrNameLst>
                                      </p:cBhvr>
                                      <p:to>
                                        <p:strVal val="visible"/>
                                      </p:to>
                                    </p:set>
                                    <p:anim calcmode="lin" valueType="num">
                                      <p:cBhvr additive="base">
                                        <p:cTn id="7" dur="500" fill="hold"/>
                                        <p:tgtEl>
                                          <p:spTgt spid="685059"/>
                                        </p:tgtEl>
                                        <p:attrNameLst>
                                          <p:attrName>ppt_x</p:attrName>
                                        </p:attrNameLst>
                                      </p:cBhvr>
                                      <p:tavLst>
                                        <p:tav tm="0">
                                          <p:val>
                                            <p:strVal val="0-#ppt_w/2"/>
                                          </p:val>
                                        </p:tav>
                                        <p:tav tm="100000">
                                          <p:val>
                                            <p:strVal val="#ppt_x"/>
                                          </p:val>
                                        </p:tav>
                                      </p:tavLst>
                                    </p:anim>
                                    <p:anim calcmode="lin" valueType="num">
                                      <p:cBhvr additive="base">
                                        <p:cTn id="8" dur="500" fill="hold"/>
                                        <p:tgtEl>
                                          <p:spTgt spid="6850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05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pSp>
        <p:nvGrpSpPr>
          <p:cNvPr id="478229" name="Group 21"/>
          <p:cNvGrpSpPr/>
          <p:nvPr/>
        </p:nvGrpSpPr>
        <p:grpSpPr>
          <a:xfrm>
            <a:off x="838200" y="630238"/>
            <a:ext cx="7848600" cy="5908675"/>
            <a:chOff x="528" y="397"/>
            <a:chExt cx="4944" cy="3722"/>
          </a:xfrm>
        </p:grpSpPr>
        <p:grpSp>
          <p:nvGrpSpPr>
            <p:cNvPr id="54276" name="Group 7"/>
            <p:cNvGrpSpPr/>
            <p:nvPr/>
          </p:nvGrpSpPr>
          <p:grpSpPr>
            <a:xfrm>
              <a:off x="528" y="397"/>
              <a:ext cx="4944" cy="3722"/>
              <a:chOff x="528" y="397"/>
              <a:chExt cx="4944" cy="3722"/>
            </a:xfrm>
          </p:grpSpPr>
          <p:graphicFrame>
            <p:nvGraphicFramePr>
              <p:cNvPr id="54289" name="Object 3"/>
              <p:cNvGraphicFramePr>
                <a:graphicFrameLocks noChangeAspect="1"/>
              </p:cNvGraphicFramePr>
              <p:nvPr/>
            </p:nvGraphicFramePr>
            <p:xfrm>
              <a:off x="528" y="397"/>
              <a:ext cx="4944" cy="3705"/>
            </p:xfrm>
            <a:graphic>
              <a:graphicData uri="http://schemas.openxmlformats.org/presentationml/2006/ole">
                <mc:AlternateContent xmlns:mc="http://schemas.openxmlformats.org/markup-compatibility/2006">
                  <mc:Choice xmlns:v="urn:schemas-microsoft-com:vml" Requires="v">
                    <p:oleObj spid="_x0000_s3079" name="" r:id="rId1" imgW="6572250" imgH="4924425" progId="Paint.Picture">
                      <p:embed/>
                    </p:oleObj>
                  </mc:Choice>
                  <mc:Fallback>
                    <p:oleObj name="" r:id="rId1" imgW="6572250" imgH="4924425" progId="Paint.Picture">
                      <p:embed/>
                      <p:pic>
                        <p:nvPicPr>
                          <p:cNvPr id="0" name="图片 3078"/>
                          <p:cNvPicPr/>
                          <p:nvPr/>
                        </p:nvPicPr>
                        <p:blipFill>
                          <a:blip r:embed="rId2"/>
                          <a:stretch>
                            <a:fillRect/>
                          </a:stretch>
                        </p:blipFill>
                        <p:spPr>
                          <a:xfrm>
                            <a:off x="528" y="397"/>
                            <a:ext cx="4944" cy="3705"/>
                          </a:xfrm>
                          <a:prstGeom prst="rect">
                            <a:avLst/>
                          </a:prstGeom>
                          <a:noFill/>
                          <a:ln w="38100">
                            <a:noFill/>
                            <a:miter/>
                          </a:ln>
                        </p:spPr>
                      </p:pic>
                    </p:oleObj>
                  </mc:Fallback>
                </mc:AlternateContent>
              </a:graphicData>
            </a:graphic>
          </p:graphicFrame>
          <p:sp>
            <p:nvSpPr>
              <p:cNvPr id="54290" name="Text Box 4"/>
              <p:cNvSpPr txBox="1"/>
              <p:nvPr/>
            </p:nvSpPr>
            <p:spPr>
              <a:xfrm>
                <a:off x="1968" y="3888"/>
                <a:ext cx="2352" cy="231"/>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00"/>
                    </a:solidFill>
                    <a:ea typeface="楷体_GB2312" pitchFamily="49" charset="-122"/>
                  </a:rPr>
                  <a:t>（</a:t>
                </a:r>
                <a:r>
                  <a:rPr lang="en-US" altLang="zh-CN" sz="1800" b="1" dirty="0">
                    <a:solidFill>
                      <a:srgbClr val="000000"/>
                    </a:solidFill>
                    <a:ea typeface="楷体_GB2312" pitchFamily="49" charset="-122"/>
                  </a:rPr>
                  <a:t>c</a:t>
                </a:r>
                <a:r>
                  <a:rPr lang="zh-CN" altLang="en-US" sz="1800" b="1" dirty="0">
                    <a:solidFill>
                      <a:srgbClr val="000000"/>
                    </a:solidFill>
                    <a:ea typeface="楷体_GB2312" pitchFamily="49" charset="-122"/>
                  </a:rPr>
                  <a:t>）最坏适应法中的空闲区队列</a:t>
                </a:r>
                <a:endParaRPr lang="zh-CN" altLang="en-US" sz="1800" b="1" dirty="0">
                  <a:solidFill>
                    <a:srgbClr val="000000"/>
                  </a:solidFill>
                  <a:ea typeface="楷体_GB2312" pitchFamily="49" charset="-122"/>
                </a:endParaRPr>
              </a:p>
            </p:txBody>
          </p:sp>
          <p:sp>
            <p:nvSpPr>
              <p:cNvPr id="54291" name="Text Box 5"/>
              <p:cNvSpPr txBox="1"/>
              <p:nvPr/>
            </p:nvSpPr>
            <p:spPr>
              <a:xfrm>
                <a:off x="1872" y="1440"/>
                <a:ext cx="2352" cy="231"/>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00"/>
                    </a:solidFill>
                    <a:ea typeface="楷体_GB2312" pitchFamily="49" charset="-122"/>
                  </a:rPr>
                  <a:t>（</a:t>
                </a:r>
                <a:r>
                  <a:rPr lang="en-US" altLang="zh-CN" sz="1800" b="1" dirty="0">
                    <a:solidFill>
                      <a:srgbClr val="000000"/>
                    </a:solidFill>
                    <a:ea typeface="楷体_GB2312" pitchFamily="49" charset="-122"/>
                  </a:rPr>
                  <a:t>a</a:t>
                </a:r>
                <a:r>
                  <a:rPr lang="zh-CN" altLang="en-US" sz="1800" b="1" dirty="0">
                    <a:solidFill>
                      <a:srgbClr val="000000"/>
                    </a:solidFill>
                    <a:ea typeface="楷体_GB2312" pitchFamily="49" charset="-122"/>
                  </a:rPr>
                  <a:t>）首次适应法中的空闲区队列</a:t>
                </a:r>
                <a:endParaRPr lang="zh-CN" altLang="en-US" sz="1800" b="1" dirty="0">
                  <a:solidFill>
                    <a:srgbClr val="000000"/>
                  </a:solidFill>
                  <a:ea typeface="楷体_GB2312" pitchFamily="49" charset="-122"/>
                </a:endParaRPr>
              </a:p>
            </p:txBody>
          </p:sp>
          <p:sp>
            <p:nvSpPr>
              <p:cNvPr id="54292" name="Text Box 6"/>
              <p:cNvSpPr txBox="1"/>
              <p:nvPr/>
            </p:nvSpPr>
            <p:spPr>
              <a:xfrm>
                <a:off x="1872" y="2688"/>
                <a:ext cx="2352" cy="231"/>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00"/>
                    </a:solidFill>
                    <a:ea typeface="楷体_GB2312" pitchFamily="49" charset="-122"/>
                  </a:rPr>
                  <a:t>（</a:t>
                </a:r>
                <a:r>
                  <a:rPr lang="en-US" altLang="zh-CN" sz="1800" b="1" dirty="0">
                    <a:solidFill>
                      <a:srgbClr val="000000"/>
                    </a:solidFill>
                    <a:ea typeface="楷体_GB2312" pitchFamily="49" charset="-122"/>
                  </a:rPr>
                  <a:t>b</a:t>
                </a:r>
                <a:r>
                  <a:rPr lang="zh-CN" altLang="en-US" sz="1800" b="1" dirty="0">
                    <a:solidFill>
                      <a:srgbClr val="000000"/>
                    </a:solidFill>
                    <a:ea typeface="楷体_GB2312" pitchFamily="49" charset="-122"/>
                  </a:rPr>
                  <a:t>）最佳适应法中的空闲区队列</a:t>
                </a:r>
                <a:endParaRPr lang="zh-CN" altLang="en-US" sz="1800" b="1" dirty="0">
                  <a:solidFill>
                    <a:srgbClr val="000000"/>
                  </a:solidFill>
                  <a:ea typeface="楷体_GB2312" pitchFamily="49" charset="-122"/>
                </a:endParaRPr>
              </a:p>
            </p:txBody>
          </p:sp>
        </p:grpSp>
        <p:sp>
          <p:nvSpPr>
            <p:cNvPr id="54277" name="Text Box 9"/>
            <p:cNvSpPr txBox="1"/>
            <p:nvPr/>
          </p:nvSpPr>
          <p:spPr>
            <a:xfrm>
              <a:off x="1584" y="720"/>
              <a:ext cx="480" cy="192"/>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标志</a:t>
              </a: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sp>
          <p:nvSpPr>
            <p:cNvPr id="54278" name="Text Box 10"/>
            <p:cNvSpPr txBox="1"/>
            <p:nvPr/>
          </p:nvSpPr>
          <p:spPr>
            <a:xfrm>
              <a:off x="2640" y="720"/>
              <a:ext cx="480" cy="192"/>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标志</a:t>
              </a: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sp>
          <p:nvSpPr>
            <p:cNvPr id="54279" name="Text Box 11"/>
            <p:cNvSpPr txBox="1"/>
            <p:nvPr/>
          </p:nvSpPr>
          <p:spPr>
            <a:xfrm>
              <a:off x="3696" y="720"/>
              <a:ext cx="480" cy="192"/>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标志</a:t>
              </a: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sp>
          <p:nvSpPr>
            <p:cNvPr id="54280" name="Text Box 12"/>
            <p:cNvSpPr txBox="1"/>
            <p:nvPr/>
          </p:nvSpPr>
          <p:spPr>
            <a:xfrm>
              <a:off x="4752" y="688"/>
              <a:ext cx="480" cy="192"/>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标志</a:t>
              </a: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sp>
          <p:nvSpPr>
            <p:cNvPr id="54281" name="Text Box 13"/>
            <p:cNvSpPr txBox="1"/>
            <p:nvPr/>
          </p:nvSpPr>
          <p:spPr>
            <a:xfrm>
              <a:off x="1584" y="1984"/>
              <a:ext cx="480" cy="192"/>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标志</a:t>
              </a: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sp>
          <p:nvSpPr>
            <p:cNvPr id="54282" name="Text Box 14"/>
            <p:cNvSpPr txBox="1"/>
            <p:nvPr/>
          </p:nvSpPr>
          <p:spPr>
            <a:xfrm>
              <a:off x="2640" y="1968"/>
              <a:ext cx="480" cy="192"/>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标志</a:t>
              </a: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sp>
          <p:nvSpPr>
            <p:cNvPr id="54283" name="Text Box 15"/>
            <p:cNvSpPr txBox="1"/>
            <p:nvPr/>
          </p:nvSpPr>
          <p:spPr>
            <a:xfrm>
              <a:off x="3696" y="1968"/>
              <a:ext cx="480" cy="192"/>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标志</a:t>
              </a: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sp>
          <p:nvSpPr>
            <p:cNvPr id="54284" name="Text Box 16"/>
            <p:cNvSpPr txBox="1"/>
            <p:nvPr/>
          </p:nvSpPr>
          <p:spPr>
            <a:xfrm>
              <a:off x="4752" y="1968"/>
              <a:ext cx="480" cy="192"/>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标志</a:t>
              </a: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sp>
          <p:nvSpPr>
            <p:cNvPr id="54285" name="Text Box 17"/>
            <p:cNvSpPr txBox="1"/>
            <p:nvPr/>
          </p:nvSpPr>
          <p:spPr>
            <a:xfrm>
              <a:off x="1584" y="3152"/>
              <a:ext cx="480" cy="192"/>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标志</a:t>
              </a: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sp>
          <p:nvSpPr>
            <p:cNvPr id="54286" name="Text Box 18"/>
            <p:cNvSpPr txBox="1"/>
            <p:nvPr/>
          </p:nvSpPr>
          <p:spPr>
            <a:xfrm>
              <a:off x="2640" y="3168"/>
              <a:ext cx="480" cy="192"/>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标志</a:t>
              </a: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sp>
          <p:nvSpPr>
            <p:cNvPr id="54287" name="Text Box 19"/>
            <p:cNvSpPr txBox="1"/>
            <p:nvPr/>
          </p:nvSpPr>
          <p:spPr>
            <a:xfrm>
              <a:off x="3728" y="3168"/>
              <a:ext cx="480" cy="192"/>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标志</a:t>
              </a: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sp>
          <p:nvSpPr>
            <p:cNvPr id="54288" name="Text Box 20"/>
            <p:cNvSpPr txBox="1"/>
            <p:nvPr/>
          </p:nvSpPr>
          <p:spPr>
            <a:xfrm>
              <a:off x="4752" y="3120"/>
              <a:ext cx="480" cy="192"/>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标志</a:t>
              </a: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478229"/>
                                        </p:tgtEl>
                                        <p:attrNameLst>
                                          <p:attrName>style.visibility</p:attrName>
                                        </p:attrNameLst>
                                      </p:cBhvr>
                                      <p:to>
                                        <p:strVal val="visible"/>
                                      </p:to>
                                    </p:set>
                                    <p:animEffect transition="in" filter="strips(downRight)">
                                      <p:cBhvr>
                                        <p:cTn id="7" dur="500"/>
                                        <p:tgtEl>
                                          <p:spTgt spid="478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pSp>
        <p:nvGrpSpPr>
          <p:cNvPr id="477281" name="Group 97"/>
          <p:cNvGrpSpPr/>
          <p:nvPr/>
        </p:nvGrpSpPr>
        <p:grpSpPr>
          <a:xfrm>
            <a:off x="609600" y="838200"/>
            <a:ext cx="2362200" cy="4419600"/>
            <a:chOff x="384" y="528"/>
            <a:chExt cx="1488" cy="2784"/>
          </a:xfrm>
        </p:grpSpPr>
        <p:sp>
          <p:nvSpPr>
            <p:cNvPr id="55341" name="Rectangle 3"/>
            <p:cNvSpPr/>
            <p:nvPr/>
          </p:nvSpPr>
          <p:spPr>
            <a:xfrm>
              <a:off x="384" y="1008"/>
              <a:ext cx="384" cy="1008"/>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grpSp>
          <p:nvGrpSpPr>
            <p:cNvPr id="55342" name="Group 79"/>
            <p:cNvGrpSpPr/>
            <p:nvPr/>
          </p:nvGrpSpPr>
          <p:grpSpPr>
            <a:xfrm>
              <a:off x="384" y="528"/>
              <a:ext cx="1488" cy="2784"/>
              <a:chOff x="624" y="528"/>
              <a:chExt cx="1488" cy="2784"/>
            </a:xfrm>
          </p:grpSpPr>
          <p:sp>
            <p:nvSpPr>
              <p:cNvPr id="55343" name="Text Box 2"/>
              <p:cNvSpPr txBox="1"/>
              <p:nvPr/>
            </p:nvSpPr>
            <p:spPr>
              <a:xfrm>
                <a:off x="624" y="1056"/>
                <a:ext cx="384" cy="931"/>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0000"/>
                  </a:lnSpc>
                  <a:spcBef>
                    <a:spcPct val="10000"/>
                  </a:spcBef>
                  <a:buClrTx/>
                  <a:buSzTx/>
                  <a:buFontTx/>
                  <a:buNone/>
                </a:pPr>
                <a:r>
                  <a:rPr lang="en-US" altLang="zh-CN" sz="2000" b="1" dirty="0">
                    <a:ea typeface="楷体_GB2312" pitchFamily="49" charset="-122"/>
                  </a:rPr>
                  <a:t>  </a:t>
                </a:r>
                <a:r>
                  <a:rPr lang="zh-CN" altLang="en-US" sz="2000" b="1" dirty="0">
                    <a:solidFill>
                      <a:srgbClr val="000099"/>
                    </a:solidFill>
                    <a:ea typeface="楷体_GB2312" pitchFamily="49" charset="-122"/>
                  </a:rPr>
                  <a:t>作</a:t>
                </a:r>
                <a:endParaRPr lang="zh-CN" altLang="en-US" sz="2000" b="1" dirty="0">
                  <a:solidFill>
                    <a:srgbClr val="000099"/>
                  </a:solidFill>
                  <a:ea typeface="楷体_GB2312" pitchFamily="49" charset="-122"/>
                </a:endParaRPr>
              </a:p>
              <a:p>
                <a:pPr marL="0" lvl="0" indent="0" eaLnBrk="1" hangingPunct="1">
                  <a:lnSpc>
                    <a:spcPct val="110000"/>
                  </a:lnSpc>
                  <a:spcBef>
                    <a:spcPct val="10000"/>
                  </a:spcBef>
                  <a:buClrTx/>
                  <a:buSzTx/>
                  <a:buFontTx/>
                  <a:buNone/>
                </a:pPr>
                <a:r>
                  <a:rPr lang="zh-CN" altLang="en-US" sz="2000" b="1" dirty="0">
                    <a:solidFill>
                      <a:srgbClr val="000099"/>
                    </a:solidFill>
                    <a:ea typeface="楷体_GB2312" pitchFamily="49" charset="-122"/>
                  </a:rPr>
                  <a:t>  业</a:t>
                </a:r>
                <a:endParaRPr lang="zh-CN" altLang="en-US" sz="2000" b="1" dirty="0">
                  <a:solidFill>
                    <a:srgbClr val="000099"/>
                  </a:solidFill>
                  <a:ea typeface="楷体_GB2312" pitchFamily="49" charset="-122"/>
                </a:endParaRPr>
              </a:p>
              <a:p>
                <a:pPr marL="0" lvl="0" indent="0" eaLnBrk="1" hangingPunct="1">
                  <a:lnSpc>
                    <a:spcPct val="110000"/>
                  </a:lnSpc>
                  <a:spcBef>
                    <a:spcPct val="10000"/>
                  </a:spcBef>
                  <a:buClrTx/>
                  <a:buSzTx/>
                  <a:buFontTx/>
                  <a:buNone/>
                </a:pPr>
                <a:r>
                  <a:rPr lang="zh-CN" altLang="en-US" sz="2000" b="1" dirty="0">
                    <a:solidFill>
                      <a:srgbClr val="000099"/>
                    </a:solidFill>
                    <a:ea typeface="楷体_GB2312" pitchFamily="49" charset="-122"/>
                  </a:rPr>
                  <a:t>  </a:t>
                </a:r>
                <a:r>
                  <a:rPr lang="en-US" altLang="zh-CN" sz="2000" b="1" dirty="0">
                    <a:solidFill>
                      <a:srgbClr val="000099"/>
                    </a:solidFill>
                    <a:ea typeface="楷体_GB2312" pitchFamily="49" charset="-122"/>
                  </a:rPr>
                  <a:t>A</a:t>
                </a:r>
                <a:endParaRPr lang="en-US" altLang="zh-CN" sz="2000" b="1" dirty="0">
                  <a:solidFill>
                    <a:srgbClr val="000099"/>
                  </a:solidFill>
                  <a:ea typeface="楷体_GB2312" pitchFamily="49" charset="-122"/>
                </a:endParaRPr>
              </a:p>
              <a:p>
                <a:pPr marL="0" lvl="0" indent="0" eaLnBrk="1" hangingPunct="1">
                  <a:spcBef>
                    <a:spcPct val="50000"/>
                  </a:spcBef>
                  <a:buClrTx/>
                  <a:buSzTx/>
                  <a:buFontTx/>
                  <a:buNone/>
                </a:pPr>
                <a:r>
                  <a:rPr lang="en-US" altLang="zh-CN" sz="1800" b="1" dirty="0">
                    <a:solidFill>
                      <a:srgbClr val="000099"/>
                    </a:solidFill>
                    <a:latin typeface="楷体_GB2312" pitchFamily="49" charset="-122"/>
                    <a:ea typeface="楷体_GB2312" pitchFamily="49" charset="-122"/>
                  </a:rPr>
                  <a:t>18KB</a:t>
                </a:r>
                <a:endParaRPr lang="en-US" altLang="zh-CN" sz="1800" b="1" dirty="0">
                  <a:solidFill>
                    <a:srgbClr val="000099"/>
                  </a:solidFill>
                  <a:latin typeface="楷体_GB2312" pitchFamily="49" charset="-122"/>
                  <a:ea typeface="楷体_GB2312" pitchFamily="49" charset="-122"/>
                </a:endParaRPr>
              </a:p>
            </p:txBody>
          </p:sp>
          <p:sp>
            <p:nvSpPr>
              <p:cNvPr id="55344" name="Text Box 28"/>
              <p:cNvSpPr txBox="1"/>
              <p:nvPr/>
            </p:nvSpPr>
            <p:spPr>
              <a:xfrm>
                <a:off x="1584" y="624"/>
                <a:ext cx="528" cy="256"/>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ea typeface="楷体_GB2312" pitchFamily="49" charset="-122"/>
                  </a:rPr>
                  <a:t>  </a:t>
                </a:r>
                <a:r>
                  <a:rPr lang="en-US" altLang="zh-CN" sz="2000" b="1" dirty="0">
                    <a:solidFill>
                      <a:srgbClr val="000099"/>
                    </a:solidFill>
                    <a:ea typeface="楷体_GB2312" pitchFamily="49" charset="-122"/>
                  </a:rPr>
                  <a:t> </a:t>
                </a:r>
                <a:r>
                  <a:rPr lang="en-US" altLang="zh-CN" sz="2000" b="1" dirty="0">
                    <a:solidFill>
                      <a:srgbClr val="000099"/>
                    </a:solidFill>
                    <a:latin typeface="楷体_GB2312" pitchFamily="49" charset="-122"/>
                    <a:ea typeface="楷体_GB2312" pitchFamily="49" charset="-122"/>
                  </a:rPr>
                  <a:t>os</a:t>
                </a:r>
                <a:endParaRPr lang="en-US" altLang="zh-CN" sz="2000" b="1" dirty="0">
                  <a:solidFill>
                    <a:srgbClr val="000099"/>
                  </a:solidFill>
                  <a:latin typeface="楷体_GB2312" pitchFamily="49" charset="-122"/>
                  <a:ea typeface="楷体_GB2312" pitchFamily="49" charset="-122"/>
                </a:endParaRPr>
              </a:p>
            </p:txBody>
          </p:sp>
          <p:sp>
            <p:nvSpPr>
              <p:cNvPr id="55345" name="Text Box 29" descr="宽上对角线"/>
              <p:cNvSpPr txBox="1"/>
              <p:nvPr/>
            </p:nvSpPr>
            <p:spPr>
              <a:xfrm>
                <a:off x="1584" y="864"/>
                <a:ext cx="528" cy="218"/>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ea typeface="楷体_GB2312" pitchFamily="49" charset="-122"/>
                  </a:rPr>
                  <a:t>30KB</a:t>
                </a:r>
                <a:endParaRPr lang="en-US" altLang="zh-CN" sz="1600" b="1" dirty="0">
                  <a:solidFill>
                    <a:srgbClr val="000099"/>
                  </a:solidFill>
                  <a:ea typeface="楷体_GB2312" pitchFamily="49" charset="-122"/>
                </a:endParaRPr>
              </a:p>
            </p:txBody>
          </p:sp>
          <p:sp>
            <p:nvSpPr>
              <p:cNvPr id="55346" name="Text Box 30"/>
              <p:cNvSpPr txBox="1"/>
              <p:nvPr/>
            </p:nvSpPr>
            <p:spPr>
              <a:xfrm>
                <a:off x="1584" y="1088"/>
                <a:ext cx="528" cy="218"/>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solidFill>
                      <a:srgbClr val="000099"/>
                    </a:solidFill>
                    <a:ea typeface="楷体_GB2312" pitchFamily="49" charset="-122"/>
                  </a:rPr>
                  <a:t>在使用</a:t>
                </a:r>
                <a:endParaRPr lang="zh-CN" altLang="en-US" sz="1600" b="1" dirty="0">
                  <a:solidFill>
                    <a:srgbClr val="000099"/>
                  </a:solidFill>
                  <a:ea typeface="楷体_GB2312" pitchFamily="49" charset="-122"/>
                </a:endParaRPr>
              </a:p>
            </p:txBody>
          </p:sp>
          <p:sp>
            <p:nvSpPr>
              <p:cNvPr id="55347" name="Text Box 31" descr="宽上对角线"/>
              <p:cNvSpPr txBox="1"/>
              <p:nvPr/>
            </p:nvSpPr>
            <p:spPr>
              <a:xfrm>
                <a:off x="1584" y="1304"/>
                <a:ext cx="528" cy="218"/>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ea typeface="楷体_GB2312" pitchFamily="49" charset="-122"/>
                  </a:rPr>
                  <a:t>20KB</a:t>
                </a:r>
                <a:endParaRPr lang="en-US" altLang="zh-CN" sz="1600" b="1" dirty="0">
                  <a:solidFill>
                    <a:srgbClr val="000099"/>
                  </a:solidFill>
                  <a:ea typeface="楷体_GB2312" pitchFamily="49" charset="-122"/>
                </a:endParaRPr>
              </a:p>
            </p:txBody>
          </p:sp>
          <p:sp>
            <p:nvSpPr>
              <p:cNvPr id="55348" name="Text Box 32"/>
              <p:cNvSpPr txBox="1"/>
              <p:nvPr/>
            </p:nvSpPr>
            <p:spPr>
              <a:xfrm>
                <a:off x="1584" y="1520"/>
                <a:ext cx="528" cy="218"/>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solidFill>
                      <a:srgbClr val="000099"/>
                    </a:solidFill>
                    <a:ea typeface="楷体_GB2312" pitchFamily="49" charset="-122"/>
                  </a:rPr>
                  <a:t>在使用</a:t>
                </a:r>
                <a:endParaRPr lang="zh-CN" altLang="en-US" sz="1600" b="1" dirty="0">
                  <a:solidFill>
                    <a:srgbClr val="000099"/>
                  </a:solidFill>
                  <a:ea typeface="楷体_GB2312" pitchFamily="49" charset="-122"/>
                </a:endParaRPr>
              </a:p>
            </p:txBody>
          </p:sp>
          <p:sp>
            <p:nvSpPr>
              <p:cNvPr id="55349" name="Text Box 33" descr="宽上对角线"/>
              <p:cNvSpPr txBox="1"/>
              <p:nvPr/>
            </p:nvSpPr>
            <p:spPr>
              <a:xfrm>
                <a:off x="1584" y="1736"/>
                <a:ext cx="528" cy="218"/>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ea typeface="楷体_GB2312" pitchFamily="49" charset="-122"/>
                  </a:rPr>
                  <a:t>  5KB</a:t>
                </a:r>
                <a:endParaRPr lang="en-US" altLang="zh-CN" sz="1600" b="1" dirty="0">
                  <a:solidFill>
                    <a:srgbClr val="000099"/>
                  </a:solidFill>
                  <a:ea typeface="楷体_GB2312" pitchFamily="49" charset="-122"/>
                </a:endParaRPr>
              </a:p>
            </p:txBody>
          </p:sp>
          <p:sp>
            <p:nvSpPr>
              <p:cNvPr id="55350" name="Text Box 34"/>
              <p:cNvSpPr txBox="1"/>
              <p:nvPr/>
            </p:nvSpPr>
            <p:spPr>
              <a:xfrm>
                <a:off x="1584" y="1952"/>
                <a:ext cx="528" cy="218"/>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solidFill>
                      <a:srgbClr val="000099"/>
                    </a:solidFill>
                    <a:ea typeface="楷体_GB2312" pitchFamily="49" charset="-122"/>
                  </a:rPr>
                  <a:t>在使用</a:t>
                </a:r>
                <a:endParaRPr lang="zh-CN" altLang="en-US" sz="1600" b="1" dirty="0">
                  <a:solidFill>
                    <a:srgbClr val="000099"/>
                  </a:solidFill>
                  <a:ea typeface="楷体_GB2312" pitchFamily="49" charset="-122"/>
                </a:endParaRPr>
              </a:p>
            </p:txBody>
          </p:sp>
          <p:sp>
            <p:nvSpPr>
              <p:cNvPr id="55351" name="Text Box 35" descr="宽上对角线"/>
              <p:cNvSpPr txBox="1"/>
              <p:nvPr/>
            </p:nvSpPr>
            <p:spPr>
              <a:xfrm>
                <a:off x="1584" y="2168"/>
                <a:ext cx="528" cy="449"/>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ea typeface="楷体_GB2312" pitchFamily="49" charset="-122"/>
                  </a:rPr>
                  <a:t>46KB</a:t>
                </a:r>
                <a:endParaRPr lang="en-US" altLang="zh-CN" sz="1600" b="1" dirty="0">
                  <a:ea typeface="楷体_GB2312" pitchFamily="49" charset="-122"/>
                </a:endParaRPr>
              </a:p>
              <a:p>
                <a:pPr marL="0" lvl="0" indent="0" eaLnBrk="1" hangingPunct="1">
                  <a:spcBef>
                    <a:spcPct val="50000"/>
                  </a:spcBef>
                  <a:buClrTx/>
                  <a:buSzTx/>
                  <a:buFontTx/>
                  <a:buNone/>
                </a:pPr>
                <a:endParaRPr lang="en-US" altLang="zh-CN" sz="1600" b="1" dirty="0">
                  <a:ea typeface="楷体_GB2312" pitchFamily="49" charset="-122"/>
                </a:endParaRPr>
              </a:p>
            </p:txBody>
          </p:sp>
          <p:sp>
            <p:nvSpPr>
              <p:cNvPr id="55352" name="Text Box 37"/>
              <p:cNvSpPr txBox="1"/>
              <p:nvPr/>
            </p:nvSpPr>
            <p:spPr>
              <a:xfrm>
                <a:off x="1392" y="528"/>
                <a:ext cx="14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0</a:t>
                </a:r>
                <a:endParaRPr lang="en-US" altLang="zh-CN" sz="2000" b="1" dirty="0">
                  <a:solidFill>
                    <a:srgbClr val="000099"/>
                  </a:solidFill>
                  <a:latin typeface="楷体_GB2312" pitchFamily="49" charset="-122"/>
                  <a:ea typeface="楷体_GB2312" pitchFamily="49" charset="-122"/>
                </a:endParaRPr>
              </a:p>
            </p:txBody>
          </p:sp>
          <p:sp>
            <p:nvSpPr>
              <p:cNvPr id="55353" name="Text Box 38"/>
              <p:cNvSpPr txBox="1"/>
              <p:nvPr/>
            </p:nvSpPr>
            <p:spPr>
              <a:xfrm>
                <a:off x="1200" y="768"/>
                <a:ext cx="336"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20KB</a:t>
                </a:r>
                <a:endParaRPr lang="en-US" altLang="zh-CN" sz="2000" b="1" dirty="0">
                  <a:solidFill>
                    <a:srgbClr val="000099"/>
                  </a:solidFill>
                  <a:latin typeface="楷体_GB2312" pitchFamily="49" charset="-122"/>
                  <a:ea typeface="楷体_GB2312" pitchFamily="49" charset="-122"/>
                </a:endParaRPr>
              </a:p>
            </p:txBody>
          </p:sp>
          <p:sp>
            <p:nvSpPr>
              <p:cNvPr id="55354" name="Text Box 39"/>
              <p:cNvSpPr txBox="1"/>
              <p:nvPr/>
            </p:nvSpPr>
            <p:spPr>
              <a:xfrm>
                <a:off x="1104" y="1200"/>
                <a:ext cx="43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100KB</a:t>
                </a:r>
                <a:endParaRPr lang="en-US" altLang="zh-CN" sz="2000" b="1" dirty="0">
                  <a:solidFill>
                    <a:srgbClr val="000099"/>
                  </a:solidFill>
                  <a:latin typeface="楷体_GB2312" pitchFamily="49" charset="-122"/>
                  <a:ea typeface="楷体_GB2312" pitchFamily="49" charset="-122"/>
                </a:endParaRPr>
              </a:p>
            </p:txBody>
          </p:sp>
          <p:sp>
            <p:nvSpPr>
              <p:cNvPr id="55355" name="Text Box 40"/>
              <p:cNvSpPr txBox="1"/>
              <p:nvPr/>
            </p:nvSpPr>
            <p:spPr>
              <a:xfrm>
                <a:off x="1104" y="1632"/>
                <a:ext cx="43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160KB</a:t>
                </a:r>
                <a:endParaRPr lang="en-US" altLang="zh-CN" sz="2000" b="1" dirty="0">
                  <a:solidFill>
                    <a:srgbClr val="000099"/>
                  </a:solidFill>
                  <a:latin typeface="楷体_GB2312" pitchFamily="49" charset="-122"/>
                  <a:ea typeface="楷体_GB2312" pitchFamily="49" charset="-122"/>
                </a:endParaRPr>
              </a:p>
            </p:txBody>
          </p:sp>
          <p:sp>
            <p:nvSpPr>
              <p:cNvPr id="55356" name="Text Box 41"/>
              <p:cNvSpPr txBox="1"/>
              <p:nvPr/>
            </p:nvSpPr>
            <p:spPr>
              <a:xfrm>
                <a:off x="1104" y="2064"/>
                <a:ext cx="43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210KB</a:t>
                </a:r>
                <a:endParaRPr lang="en-US" altLang="zh-CN" sz="2000" b="1" dirty="0">
                  <a:solidFill>
                    <a:srgbClr val="000099"/>
                  </a:solidFill>
                  <a:latin typeface="楷体_GB2312" pitchFamily="49" charset="-122"/>
                  <a:ea typeface="楷体_GB2312" pitchFamily="49" charset="-122"/>
                </a:endParaRPr>
              </a:p>
            </p:txBody>
          </p:sp>
          <p:sp>
            <p:nvSpPr>
              <p:cNvPr id="55357" name="Text Box 42"/>
              <p:cNvSpPr txBox="1"/>
              <p:nvPr/>
            </p:nvSpPr>
            <p:spPr>
              <a:xfrm>
                <a:off x="1104" y="2640"/>
                <a:ext cx="67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256KB</a:t>
                </a:r>
                <a:r>
                  <a:rPr lang="zh-CN" altLang="en-US" sz="2000" b="1" dirty="0">
                    <a:solidFill>
                      <a:srgbClr val="000099"/>
                    </a:solidFill>
                    <a:latin typeface="楷体_GB2312" pitchFamily="49" charset="-122"/>
                    <a:ea typeface="楷体_GB2312" pitchFamily="49" charset="-122"/>
                  </a:rPr>
                  <a:t>－</a:t>
                </a:r>
                <a:r>
                  <a:rPr lang="en-US" altLang="zh-CN" sz="2000" b="1" dirty="0">
                    <a:solidFill>
                      <a:srgbClr val="000099"/>
                    </a:solidFill>
                    <a:latin typeface="楷体_GB2312" pitchFamily="49" charset="-122"/>
                    <a:ea typeface="楷体_GB2312" pitchFamily="49" charset="-122"/>
                  </a:rPr>
                  <a:t>1</a:t>
                </a:r>
                <a:endParaRPr lang="en-US" altLang="zh-CN" sz="2000" b="1" dirty="0">
                  <a:solidFill>
                    <a:srgbClr val="000099"/>
                  </a:solidFill>
                  <a:latin typeface="楷体_GB2312" pitchFamily="49" charset="-122"/>
                  <a:ea typeface="楷体_GB2312" pitchFamily="49" charset="-122"/>
                </a:endParaRPr>
              </a:p>
            </p:txBody>
          </p:sp>
          <p:sp>
            <p:nvSpPr>
              <p:cNvPr id="55358" name="Text Box 43"/>
              <p:cNvSpPr txBox="1"/>
              <p:nvPr/>
            </p:nvSpPr>
            <p:spPr>
              <a:xfrm>
                <a:off x="1008" y="3120"/>
                <a:ext cx="100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9900CC"/>
                    </a:solidFill>
                    <a:ea typeface="楷体_GB2312" pitchFamily="49" charset="-122"/>
                  </a:rPr>
                  <a:t>首次适应算法</a:t>
                </a:r>
                <a:endParaRPr lang="zh-CN" altLang="en-US" sz="2000" b="1" dirty="0">
                  <a:solidFill>
                    <a:srgbClr val="9900CC"/>
                  </a:solidFill>
                  <a:ea typeface="楷体_GB2312" pitchFamily="49" charset="-122"/>
                </a:endParaRPr>
              </a:p>
            </p:txBody>
          </p:sp>
        </p:grpSp>
      </p:grpSp>
      <p:grpSp>
        <p:nvGrpSpPr>
          <p:cNvPr id="477282" name="Group 98"/>
          <p:cNvGrpSpPr/>
          <p:nvPr/>
        </p:nvGrpSpPr>
        <p:grpSpPr>
          <a:xfrm>
            <a:off x="3581400" y="838200"/>
            <a:ext cx="2362200" cy="4419600"/>
            <a:chOff x="384" y="528"/>
            <a:chExt cx="1488" cy="2784"/>
          </a:xfrm>
        </p:grpSpPr>
        <p:sp>
          <p:nvSpPr>
            <p:cNvPr id="55323" name="Rectangle 99"/>
            <p:cNvSpPr/>
            <p:nvPr/>
          </p:nvSpPr>
          <p:spPr>
            <a:xfrm>
              <a:off x="384" y="1008"/>
              <a:ext cx="384" cy="1008"/>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grpSp>
          <p:nvGrpSpPr>
            <p:cNvPr id="55324" name="Group 100"/>
            <p:cNvGrpSpPr/>
            <p:nvPr/>
          </p:nvGrpSpPr>
          <p:grpSpPr>
            <a:xfrm>
              <a:off x="384" y="528"/>
              <a:ext cx="1488" cy="2784"/>
              <a:chOff x="624" y="528"/>
              <a:chExt cx="1488" cy="2784"/>
            </a:xfrm>
          </p:grpSpPr>
          <p:sp>
            <p:nvSpPr>
              <p:cNvPr id="55325" name="Text Box 101"/>
              <p:cNvSpPr txBox="1"/>
              <p:nvPr/>
            </p:nvSpPr>
            <p:spPr>
              <a:xfrm>
                <a:off x="624" y="1056"/>
                <a:ext cx="384" cy="931"/>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0000"/>
                  </a:lnSpc>
                  <a:spcBef>
                    <a:spcPct val="10000"/>
                  </a:spcBef>
                  <a:buClrTx/>
                  <a:buSzTx/>
                  <a:buFontTx/>
                  <a:buNone/>
                </a:pPr>
                <a:r>
                  <a:rPr lang="en-US" altLang="zh-CN" sz="2000" b="1" dirty="0">
                    <a:ea typeface="楷体_GB2312" pitchFamily="49" charset="-122"/>
                  </a:rPr>
                  <a:t>  </a:t>
                </a:r>
                <a:r>
                  <a:rPr lang="zh-CN" altLang="en-US" sz="2000" b="1" dirty="0">
                    <a:solidFill>
                      <a:srgbClr val="000099"/>
                    </a:solidFill>
                    <a:ea typeface="楷体_GB2312" pitchFamily="49" charset="-122"/>
                  </a:rPr>
                  <a:t>作</a:t>
                </a:r>
                <a:endParaRPr lang="zh-CN" altLang="en-US" sz="2000" b="1" dirty="0">
                  <a:solidFill>
                    <a:srgbClr val="000099"/>
                  </a:solidFill>
                  <a:ea typeface="楷体_GB2312" pitchFamily="49" charset="-122"/>
                </a:endParaRPr>
              </a:p>
              <a:p>
                <a:pPr marL="0" lvl="0" indent="0" eaLnBrk="1" hangingPunct="1">
                  <a:lnSpc>
                    <a:spcPct val="110000"/>
                  </a:lnSpc>
                  <a:spcBef>
                    <a:spcPct val="10000"/>
                  </a:spcBef>
                  <a:buClrTx/>
                  <a:buSzTx/>
                  <a:buFontTx/>
                  <a:buNone/>
                </a:pPr>
                <a:r>
                  <a:rPr lang="zh-CN" altLang="en-US" sz="2000" b="1" dirty="0">
                    <a:solidFill>
                      <a:srgbClr val="000099"/>
                    </a:solidFill>
                    <a:ea typeface="楷体_GB2312" pitchFamily="49" charset="-122"/>
                  </a:rPr>
                  <a:t>  业</a:t>
                </a:r>
                <a:endParaRPr lang="zh-CN" altLang="en-US" sz="2000" b="1" dirty="0">
                  <a:solidFill>
                    <a:srgbClr val="000099"/>
                  </a:solidFill>
                  <a:ea typeface="楷体_GB2312" pitchFamily="49" charset="-122"/>
                </a:endParaRPr>
              </a:p>
              <a:p>
                <a:pPr marL="0" lvl="0" indent="0" eaLnBrk="1" hangingPunct="1">
                  <a:lnSpc>
                    <a:spcPct val="110000"/>
                  </a:lnSpc>
                  <a:spcBef>
                    <a:spcPct val="10000"/>
                  </a:spcBef>
                  <a:buClrTx/>
                  <a:buSzTx/>
                  <a:buFontTx/>
                  <a:buNone/>
                </a:pPr>
                <a:r>
                  <a:rPr lang="zh-CN" altLang="en-US" sz="2000" b="1" dirty="0">
                    <a:solidFill>
                      <a:srgbClr val="000099"/>
                    </a:solidFill>
                    <a:ea typeface="楷体_GB2312" pitchFamily="49" charset="-122"/>
                  </a:rPr>
                  <a:t>  </a:t>
                </a:r>
                <a:r>
                  <a:rPr lang="en-US" altLang="zh-CN" sz="2000" b="1" dirty="0">
                    <a:solidFill>
                      <a:srgbClr val="000099"/>
                    </a:solidFill>
                    <a:ea typeface="楷体_GB2312" pitchFamily="49" charset="-122"/>
                  </a:rPr>
                  <a:t>A</a:t>
                </a:r>
                <a:endParaRPr lang="en-US" altLang="zh-CN" sz="2000" b="1" dirty="0">
                  <a:solidFill>
                    <a:srgbClr val="000099"/>
                  </a:solidFill>
                  <a:ea typeface="楷体_GB2312" pitchFamily="49" charset="-122"/>
                </a:endParaRPr>
              </a:p>
              <a:p>
                <a:pPr marL="0" lvl="0" indent="0" eaLnBrk="1" hangingPunct="1">
                  <a:spcBef>
                    <a:spcPct val="50000"/>
                  </a:spcBef>
                  <a:buClrTx/>
                  <a:buSzTx/>
                  <a:buFontTx/>
                  <a:buNone/>
                </a:pPr>
                <a:r>
                  <a:rPr lang="en-US" altLang="zh-CN" sz="1800" b="1" dirty="0">
                    <a:solidFill>
                      <a:srgbClr val="000099"/>
                    </a:solidFill>
                    <a:latin typeface="楷体_GB2312" pitchFamily="49" charset="-122"/>
                    <a:ea typeface="楷体_GB2312" pitchFamily="49" charset="-122"/>
                  </a:rPr>
                  <a:t>18KB</a:t>
                </a:r>
                <a:endParaRPr lang="en-US" altLang="zh-CN" sz="1800" b="1" dirty="0">
                  <a:solidFill>
                    <a:srgbClr val="000099"/>
                  </a:solidFill>
                  <a:latin typeface="楷体_GB2312" pitchFamily="49" charset="-122"/>
                  <a:ea typeface="楷体_GB2312" pitchFamily="49" charset="-122"/>
                </a:endParaRPr>
              </a:p>
            </p:txBody>
          </p:sp>
          <p:sp>
            <p:nvSpPr>
              <p:cNvPr id="55326" name="Text Box 102"/>
              <p:cNvSpPr txBox="1"/>
              <p:nvPr/>
            </p:nvSpPr>
            <p:spPr>
              <a:xfrm>
                <a:off x="1584" y="624"/>
                <a:ext cx="528" cy="256"/>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ea typeface="楷体_GB2312" pitchFamily="49" charset="-122"/>
                  </a:rPr>
                  <a:t>  </a:t>
                </a:r>
                <a:r>
                  <a:rPr lang="en-US" altLang="zh-CN" sz="2000" b="1" dirty="0">
                    <a:solidFill>
                      <a:srgbClr val="000099"/>
                    </a:solidFill>
                    <a:ea typeface="楷体_GB2312" pitchFamily="49" charset="-122"/>
                  </a:rPr>
                  <a:t> </a:t>
                </a:r>
                <a:r>
                  <a:rPr lang="en-US" altLang="zh-CN" sz="2000" b="1" dirty="0">
                    <a:solidFill>
                      <a:srgbClr val="000099"/>
                    </a:solidFill>
                    <a:latin typeface="楷体_GB2312" pitchFamily="49" charset="-122"/>
                    <a:ea typeface="楷体_GB2312" pitchFamily="49" charset="-122"/>
                  </a:rPr>
                  <a:t>os</a:t>
                </a:r>
                <a:endParaRPr lang="en-US" altLang="zh-CN" sz="2000" b="1" dirty="0">
                  <a:solidFill>
                    <a:srgbClr val="000099"/>
                  </a:solidFill>
                  <a:latin typeface="楷体_GB2312" pitchFamily="49" charset="-122"/>
                  <a:ea typeface="楷体_GB2312" pitchFamily="49" charset="-122"/>
                </a:endParaRPr>
              </a:p>
            </p:txBody>
          </p:sp>
          <p:sp>
            <p:nvSpPr>
              <p:cNvPr id="55327" name="Text Box 103" descr="宽上对角线"/>
              <p:cNvSpPr txBox="1"/>
              <p:nvPr/>
            </p:nvSpPr>
            <p:spPr>
              <a:xfrm>
                <a:off x="1584" y="864"/>
                <a:ext cx="528" cy="218"/>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ea typeface="楷体_GB2312" pitchFamily="49" charset="-122"/>
                  </a:rPr>
                  <a:t>30KB</a:t>
                </a:r>
                <a:endParaRPr lang="en-US" altLang="zh-CN" sz="1600" b="1" dirty="0">
                  <a:solidFill>
                    <a:srgbClr val="000099"/>
                  </a:solidFill>
                  <a:ea typeface="楷体_GB2312" pitchFamily="49" charset="-122"/>
                </a:endParaRPr>
              </a:p>
            </p:txBody>
          </p:sp>
          <p:sp>
            <p:nvSpPr>
              <p:cNvPr id="55328" name="Text Box 104"/>
              <p:cNvSpPr txBox="1"/>
              <p:nvPr/>
            </p:nvSpPr>
            <p:spPr>
              <a:xfrm>
                <a:off x="1584" y="1088"/>
                <a:ext cx="528" cy="218"/>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solidFill>
                      <a:srgbClr val="000099"/>
                    </a:solidFill>
                    <a:ea typeface="楷体_GB2312" pitchFamily="49" charset="-122"/>
                  </a:rPr>
                  <a:t>在使用</a:t>
                </a:r>
                <a:endParaRPr lang="zh-CN" altLang="en-US" sz="1600" b="1" dirty="0">
                  <a:solidFill>
                    <a:srgbClr val="000099"/>
                  </a:solidFill>
                  <a:ea typeface="楷体_GB2312" pitchFamily="49" charset="-122"/>
                </a:endParaRPr>
              </a:p>
            </p:txBody>
          </p:sp>
          <p:sp>
            <p:nvSpPr>
              <p:cNvPr id="55329" name="Text Box 105" descr="宽上对角线"/>
              <p:cNvSpPr txBox="1"/>
              <p:nvPr/>
            </p:nvSpPr>
            <p:spPr>
              <a:xfrm>
                <a:off x="1584" y="1304"/>
                <a:ext cx="528" cy="218"/>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ea typeface="楷体_GB2312" pitchFamily="49" charset="-122"/>
                  </a:rPr>
                  <a:t>20KB</a:t>
                </a:r>
                <a:endParaRPr lang="en-US" altLang="zh-CN" sz="1600" b="1" dirty="0">
                  <a:solidFill>
                    <a:srgbClr val="000099"/>
                  </a:solidFill>
                  <a:ea typeface="楷体_GB2312" pitchFamily="49" charset="-122"/>
                </a:endParaRPr>
              </a:p>
            </p:txBody>
          </p:sp>
          <p:sp>
            <p:nvSpPr>
              <p:cNvPr id="55330" name="Text Box 106"/>
              <p:cNvSpPr txBox="1"/>
              <p:nvPr/>
            </p:nvSpPr>
            <p:spPr>
              <a:xfrm>
                <a:off x="1584" y="1520"/>
                <a:ext cx="528" cy="218"/>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solidFill>
                      <a:srgbClr val="000099"/>
                    </a:solidFill>
                    <a:ea typeface="楷体_GB2312" pitchFamily="49" charset="-122"/>
                  </a:rPr>
                  <a:t>在使用</a:t>
                </a:r>
                <a:endParaRPr lang="zh-CN" altLang="en-US" sz="1600" b="1" dirty="0">
                  <a:solidFill>
                    <a:srgbClr val="000099"/>
                  </a:solidFill>
                  <a:ea typeface="楷体_GB2312" pitchFamily="49" charset="-122"/>
                </a:endParaRPr>
              </a:p>
            </p:txBody>
          </p:sp>
          <p:sp>
            <p:nvSpPr>
              <p:cNvPr id="55331" name="Text Box 107" descr="宽上对角线"/>
              <p:cNvSpPr txBox="1"/>
              <p:nvPr/>
            </p:nvSpPr>
            <p:spPr>
              <a:xfrm>
                <a:off x="1584" y="1736"/>
                <a:ext cx="528" cy="218"/>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ea typeface="楷体_GB2312" pitchFamily="49" charset="-122"/>
                  </a:rPr>
                  <a:t>  5KB</a:t>
                </a:r>
                <a:endParaRPr lang="en-US" altLang="zh-CN" sz="1600" b="1" dirty="0">
                  <a:solidFill>
                    <a:srgbClr val="000099"/>
                  </a:solidFill>
                  <a:ea typeface="楷体_GB2312" pitchFamily="49" charset="-122"/>
                </a:endParaRPr>
              </a:p>
            </p:txBody>
          </p:sp>
          <p:sp>
            <p:nvSpPr>
              <p:cNvPr id="55332" name="Text Box 108"/>
              <p:cNvSpPr txBox="1"/>
              <p:nvPr/>
            </p:nvSpPr>
            <p:spPr>
              <a:xfrm>
                <a:off x="1584" y="1952"/>
                <a:ext cx="528" cy="218"/>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solidFill>
                      <a:srgbClr val="000099"/>
                    </a:solidFill>
                    <a:ea typeface="楷体_GB2312" pitchFamily="49" charset="-122"/>
                  </a:rPr>
                  <a:t>在使用</a:t>
                </a:r>
                <a:endParaRPr lang="zh-CN" altLang="en-US" sz="1600" b="1" dirty="0">
                  <a:solidFill>
                    <a:srgbClr val="000099"/>
                  </a:solidFill>
                  <a:ea typeface="楷体_GB2312" pitchFamily="49" charset="-122"/>
                </a:endParaRPr>
              </a:p>
            </p:txBody>
          </p:sp>
          <p:sp>
            <p:nvSpPr>
              <p:cNvPr id="55333" name="Text Box 109" descr="宽上对角线"/>
              <p:cNvSpPr txBox="1"/>
              <p:nvPr/>
            </p:nvSpPr>
            <p:spPr>
              <a:xfrm>
                <a:off x="1584" y="2168"/>
                <a:ext cx="528" cy="449"/>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ea typeface="楷体_GB2312" pitchFamily="49" charset="-122"/>
                  </a:rPr>
                  <a:t>46KB</a:t>
                </a:r>
                <a:endParaRPr lang="en-US" altLang="zh-CN" sz="1600" b="1" dirty="0">
                  <a:ea typeface="楷体_GB2312" pitchFamily="49" charset="-122"/>
                </a:endParaRPr>
              </a:p>
              <a:p>
                <a:pPr marL="0" lvl="0" indent="0" eaLnBrk="1" hangingPunct="1">
                  <a:spcBef>
                    <a:spcPct val="50000"/>
                  </a:spcBef>
                  <a:buClrTx/>
                  <a:buSzTx/>
                  <a:buFontTx/>
                  <a:buNone/>
                </a:pPr>
                <a:endParaRPr lang="en-US" altLang="zh-CN" sz="1600" b="1" dirty="0">
                  <a:ea typeface="楷体_GB2312" pitchFamily="49" charset="-122"/>
                </a:endParaRPr>
              </a:p>
            </p:txBody>
          </p:sp>
          <p:sp>
            <p:nvSpPr>
              <p:cNvPr id="55334" name="Text Box 110"/>
              <p:cNvSpPr txBox="1"/>
              <p:nvPr/>
            </p:nvSpPr>
            <p:spPr>
              <a:xfrm>
                <a:off x="1392" y="528"/>
                <a:ext cx="14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0</a:t>
                </a:r>
                <a:endParaRPr lang="en-US" altLang="zh-CN" sz="2000" b="1" dirty="0">
                  <a:solidFill>
                    <a:srgbClr val="000099"/>
                  </a:solidFill>
                  <a:latin typeface="楷体_GB2312" pitchFamily="49" charset="-122"/>
                  <a:ea typeface="楷体_GB2312" pitchFamily="49" charset="-122"/>
                </a:endParaRPr>
              </a:p>
            </p:txBody>
          </p:sp>
          <p:sp>
            <p:nvSpPr>
              <p:cNvPr id="55335" name="Text Box 111"/>
              <p:cNvSpPr txBox="1"/>
              <p:nvPr/>
            </p:nvSpPr>
            <p:spPr>
              <a:xfrm>
                <a:off x="1200" y="768"/>
                <a:ext cx="336"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20KB</a:t>
                </a:r>
                <a:endParaRPr lang="en-US" altLang="zh-CN" sz="2000" b="1" dirty="0">
                  <a:solidFill>
                    <a:srgbClr val="000099"/>
                  </a:solidFill>
                  <a:latin typeface="楷体_GB2312" pitchFamily="49" charset="-122"/>
                  <a:ea typeface="楷体_GB2312" pitchFamily="49" charset="-122"/>
                </a:endParaRPr>
              </a:p>
            </p:txBody>
          </p:sp>
          <p:sp>
            <p:nvSpPr>
              <p:cNvPr id="55336" name="Text Box 112"/>
              <p:cNvSpPr txBox="1"/>
              <p:nvPr/>
            </p:nvSpPr>
            <p:spPr>
              <a:xfrm>
                <a:off x="1104" y="1200"/>
                <a:ext cx="43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100KB</a:t>
                </a:r>
                <a:endParaRPr lang="en-US" altLang="zh-CN" sz="2000" b="1" dirty="0">
                  <a:solidFill>
                    <a:srgbClr val="000099"/>
                  </a:solidFill>
                  <a:latin typeface="楷体_GB2312" pitchFamily="49" charset="-122"/>
                  <a:ea typeface="楷体_GB2312" pitchFamily="49" charset="-122"/>
                </a:endParaRPr>
              </a:p>
            </p:txBody>
          </p:sp>
          <p:sp>
            <p:nvSpPr>
              <p:cNvPr id="55337" name="Text Box 113"/>
              <p:cNvSpPr txBox="1"/>
              <p:nvPr/>
            </p:nvSpPr>
            <p:spPr>
              <a:xfrm>
                <a:off x="1104" y="1632"/>
                <a:ext cx="43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160KB</a:t>
                </a:r>
                <a:endParaRPr lang="en-US" altLang="zh-CN" sz="2000" b="1" dirty="0">
                  <a:solidFill>
                    <a:srgbClr val="000099"/>
                  </a:solidFill>
                  <a:latin typeface="楷体_GB2312" pitchFamily="49" charset="-122"/>
                  <a:ea typeface="楷体_GB2312" pitchFamily="49" charset="-122"/>
                </a:endParaRPr>
              </a:p>
            </p:txBody>
          </p:sp>
          <p:sp>
            <p:nvSpPr>
              <p:cNvPr id="55338" name="Text Box 114"/>
              <p:cNvSpPr txBox="1"/>
              <p:nvPr/>
            </p:nvSpPr>
            <p:spPr>
              <a:xfrm>
                <a:off x="1104" y="2064"/>
                <a:ext cx="43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210KB</a:t>
                </a:r>
                <a:endParaRPr lang="en-US" altLang="zh-CN" sz="2000" b="1" dirty="0">
                  <a:solidFill>
                    <a:srgbClr val="000099"/>
                  </a:solidFill>
                  <a:latin typeface="楷体_GB2312" pitchFamily="49" charset="-122"/>
                  <a:ea typeface="楷体_GB2312" pitchFamily="49" charset="-122"/>
                </a:endParaRPr>
              </a:p>
            </p:txBody>
          </p:sp>
          <p:sp>
            <p:nvSpPr>
              <p:cNvPr id="55339" name="Text Box 115"/>
              <p:cNvSpPr txBox="1"/>
              <p:nvPr/>
            </p:nvSpPr>
            <p:spPr>
              <a:xfrm>
                <a:off x="1104" y="2640"/>
                <a:ext cx="67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256KB</a:t>
                </a:r>
                <a:r>
                  <a:rPr lang="zh-CN" altLang="en-US" sz="2000" b="1" dirty="0">
                    <a:solidFill>
                      <a:srgbClr val="000099"/>
                    </a:solidFill>
                    <a:latin typeface="楷体_GB2312" pitchFamily="49" charset="-122"/>
                    <a:ea typeface="楷体_GB2312" pitchFamily="49" charset="-122"/>
                  </a:rPr>
                  <a:t>－</a:t>
                </a:r>
                <a:r>
                  <a:rPr lang="en-US" altLang="zh-CN" sz="2000" b="1" dirty="0">
                    <a:solidFill>
                      <a:srgbClr val="000099"/>
                    </a:solidFill>
                    <a:latin typeface="楷体_GB2312" pitchFamily="49" charset="-122"/>
                    <a:ea typeface="楷体_GB2312" pitchFamily="49" charset="-122"/>
                  </a:rPr>
                  <a:t>1</a:t>
                </a:r>
                <a:endParaRPr lang="en-US" altLang="zh-CN" sz="2000" b="1" dirty="0">
                  <a:solidFill>
                    <a:srgbClr val="000099"/>
                  </a:solidFill>
                  <a:latin typeface="楷体_GB2312" pitchFamily="49" charset="-122"/>
                  <a:ea typeface="楷体_GB2312" pitchFamily="49" charset="-122"/>
                </a:endParaRPr>
              </a:p>
            </p:txBody>
          </p:sp>
          <p:sp>
            <p:nvSpPr>
              <p:cNvPr id="55340" name="Text Box 116"/>
              <p:cNvSpPr txBox="1"/>
              <p:nvPr/>
            </p:nvSpPr>
            <p:spPr>
              <a:xfrm>
                <a:off x="1008" y="3120"/>
                <a:ext cx="100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9900CC"/>
                    </a:solidFill>
                    <a:ea typeface="楷体_GB2312" pitchFamily="49" charset="-122"/>
                  </a:rPr>
                  <a:t>最佳适应算法</a:t>
                </a:r>
                <a:endParaRPr lang="zh-CN" altLang="en-US" sz="2000" b="1" dirty="0">
                  <a:solidFill>
                    <a:srgbClr val="9900CC"/>
                  </a:solidFill>
                  <a:ea typeface="楷体_GB2312" pitchFamily="49" charset="-122"/>
                </a:endParaRPr>
              </a:p>
            </p:txBody>
          </p:sp>
        </p:grpSp>
      </p:grpSp>
      <p:grpSp>
        <p:nvGrpSpPr>
          <p:cNvPr id="477301" name="Group 117"/>
          <p:cNvGrpSpPr/>
          <p:nvPr/>
        </p:nvGrpSpPr>
        <p:grpSpPr>
          <a:xfrm>
            <a:off x="6477000" y="838200"/>
            <a:ext cx="2362200" cy="4419600"/>
            <a:chOff x="384" y="528"/>
            <a:chExt cx="1488" cy="2784"/>
          </a:xfrm>
        </p:grpSpPr>
        <p:sp>
          <p:nvSpPr>
            <p:cNvPr id="55305" name="Rectangle 118"/>
            <p:cNvSpPr/>
            <p:nvPr/>
          </p:nvSpPr>
          <p:spPr>
            <a:xfrm>
              <a:off x="384" y="1008"/>
              <a:ext cx="384" cy="1008"/>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grpSp>
          <p:nvGrpSpPr>
            <p:cNvPr id="55306" name="Group 119"/>
            <p:cNvGrpSpPr/>
            <p:nvPr/>
          </p:nvGrpSpPr>
          <p:grpSpPr>
            <a:xfrm>
              <a:off x="384" y="528"/>
              <a:ext cx="1488" cy="2784"/>
              <a:chOff x="624" y="528"/>
              <a:chExt cx="1488" cy="2784"/>
            </a:xfrm>
          </p:grpSpPr>
          <p:sp>
            <p:nvSpPr>
              <p:cNvPr id="55307" name="Text Box 120"/>
              <p:cNvSpPr txBox="1"/>
              <p:nvPr/>
            </p:nvSpPr>
            <p:spPr>
              <a:xfrm>
                <a:off x="624" y="1056"/>
                <a:ext cx="384" cy="931"/>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0000"/>
                  </a:lnSpc>
                  <a:spcBef>
                    <a:spcPct val="10000"/>
                  </a:spcBef>
                  <a:buClrTx/>
                  <a:buSzTx/>
                  <a:buFontTx/>
                  <a:buNone/>
                </a:pPr>
                <a:r>
                  <a:rPr lang="en-US" altLang="zh-CN" sz="2000" b="1" dirty="0">
                    <a:ea typeface="楷体_GB2312" pitchFamily="49" charset="-122"/>
                  </a:rPr>
                  <a:t>  </a:t>
                </a:r>
                <a:r>
                  <a:rPr lang="zh-CN" altLang="en-US" sz="2000" b="1" dirty="0">
                    <a:solidFill>
                      <a:srgbClr val="000099"/>
                    </a:solidFill>
                    <a:ea typeface="楷体_GB2312" pitchFamily="49" charset="-122"/>
                  </a:rPr>
                  <a:t>作</a:t>
                </a:r>
                <a:endParaRPr lang="zh-CN" altLang="en-US" sz="2000" b="1" dirty="0">
                  <a:solidFill>
                    <a:srgbClr val="000099"/>
                  </a:solidFill>
                  <a:ea typeface="楷体_GB2312" pitchFamily="49" charset="-122"/>
                </a:endParaRPr>
              </a:p>
              <a:p>
                <a:pPr marL="0" lvl="0" indent="0" eaLnBrk="1" hangingPunct="1">
                  <a:lnSpc>
                    <a:spcPct val="110000"/>
                  </a:lnSpc>
                  <a:spcBef>
                    <a:spcPct val="10000"/>
                  </a:spcBef>
                  <a:buClrTx/>
                  <a:buSzTx/>
                  <a:buFontTx/>
                  <a:buNone/>
                </a:pPr>
                <a:r>
                  <a:rPr lang="zh-CN" altLang="en-US" sz="2000" b="1" dirty="0">
                    <a:solidFill>
                      <a:srgbClr val="000099"/>
                    </a:solidFill>
                    <a:ea typeface="楷体_GB2312" pitchFamily="49" charset="-122"/>
                  </a:rPr>
                  <a:t>  业</a:t>
                </a:r>
                <a:endParaRPr lang="zh-CN" altLang="en-US" sz="2000" b="1" dirty="0">
                  <a:solidFill>
                    <a:srgbClr val="000099"/>
                  </a:solidFill>
                  <a:ea typeface="楷体_GB2312" pitchFamily="49" charset="-122"/>
                </a:endParaRPr>
              </a:p>
              <a:p>
                <a:pPr marL="0" lvl="0" indent="0" eaLnBrk="1" hangingPunct="1">
                  <a:lnSpc>
                    <a:spcPct val="110000"/>
                  </a:lnSpc>
                  <a:spcBef>
                    <a:spcPct val="10000"/>
                  </a:spcBef>
                  <a:buClrTx/>
                  <a:buSzTx/>
                  <a:buFontTx/>
                  <a:buNone/>
                </a:pPr>
                <a:r>
                  <a:rPr lang="zh-CN" altLang="en-US" sz="2000" b="1" dirty="0">
                    <a:solidFill>
                      <a:srgbClr val="000099"/>
                    </a:solidFill>
                    <a:ea typeface="楷体_GB2312" pitchFamily="49" charset="-122"/>
                  </a:rPr>
                  <a:t>  </a:t>
                </a:r>
                <a:r>
                  <a:rPr lang="en-US" altLang="zh-CN" sz="2000" b="1" dirty="0">
                    <a:solidFill>
                      <a:srgbClr val="000099"/>
                    </a:solidFill>
                    <a:ea typeface="楷体_GB2312" pitchFamily="49" charset="-122"/>
                  </a:rPr>
                  <a:t>A</a:t>
                </a:r>
                <a:endParaRPr lang="en-US" altLang="zh-CN" sz="2000" b="1" dirty="0">
                  <a:solidFill>
                    <a:srgbClr val="000099"/>
                  </a:solidFill>
                  <a:ea typeface="楷体_GB2312" pitchFamily="49" charset="-122"/>
                </a:endParaRPr>
              </a:p>
              <a:p>
                <a:pPr marL="0" lvl="0" indent="0" eaLnBrk="1" hangingPunct="1">
                  <a:spcBef>
                    <a:spcPct val="50000"/>
                  </a:spcBef>
                  <a:buClrTx/>
                  <a:buSzTx/>
                  <a:buFontTx/>
                  <a:buNone/>
                </a:pPr>
                <a:r>
                  <a:rPr lang="en-US" altLang="zh-CN" sz="1800" b="1" dirty="0">
                    <a:solidFill>
                      <a:srgbClr val="000099"/>
                    </a:solidFill>
                    <a:latin typeface="楷体_GB2312" pitchFamily="49" charset="-122"/>
                    <a:ea typeface="楷体_GB2312" pitchFamily="49" charset="-122"/>
                  </a:rPr>
                  <a:t>18KB</a:t>
                </a:r>
                <a:endParaRPr lang="en-US" altLang="zh-CN" sz="1800" b="1" dirty="0">
                  <a:solidFill>
                    <a:srgbClr val="000099"/>
                  </a:solidFill>
                  <a:latin typeface="楷体_GB2312" pitchFamily="49" charset="-122"/>
                  <a:ea typeface="楷体_GB2312" pitchFamily="49" charset="-122"/>
                </a:endParaRPr>
              </a:p>
            </p:txBody>
          </p:sp>
          <p:sp>
            <p:nvSpPr>
              <p:cNvPr id="55308" name="Text Box 121"/>
              <p:cNvSpPr txBox="1"/>
              <p:nvPr/>
            </p:nvSpPr>
            <p:spPr>
              <a:xfrm>
                <a:off x="1584" y="624"/>
                <a:ext cx="528" cy="256"/>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ea typeface="楷体_GB2312" pitchFamily="49" charset="-122"/>
                  </a:rPr>
                  <a:t>  </a:t>
                </a:r>
                <a:r>
                  <a:rPr lang="en-US" altLang="zh-CN" sz="2000" b="1" dirty="0">
                    <a:solidFill>
                      <a:srgbClr val="000099"/>
                    </a:solidFill>
                    <a:ea typeface="楷体_GB2312" pitchFamily="49" charset="-122"/>
                  </a:rPr>
                  <a:t> </a:t>
                </a:r>
                <a:r>
                  <a:rPr lang="en-US" altLang="zh-CN" sz="2000" b="1" dirty="0">
                    <a:solidFill>
                      <a:srgbClr val="000099"/>
                    </a:solidFill>
                    <a:latin typeface="楷体_GB2312" pitchFamily="49" charset="-122"/>
                    <a:ea typeface="楷体_GB2312" pitchFamily="49" charset="-122"/>
                  </a:rPr>
                  <a:t>os</a:t>
                </a:r>
                <a:endParaRPr lang="en-US" altLang="zh-CN" sz="2000" b="1" dirty="0">
                  <a:solidFill>
                    <a:srgbClr val="000099"/>
                  </a:solidFill>
                  <a:latin typeface="楷体_GB2312" pitchFamily="49" charset="-122"/>
                  <a:ea typeface="楷体_GB2312" pitchFamily="49" charset="-122"/>
                </a:endParaRPr>
              </a:p>
            </p:txBody>
          </p:sp>
          <p:sp>
            <p:nvSpPr>
              <p:cNvPr id="55309" name="Text Box 122" descr="宽上对角线"/>
              <p:cNvSpPr txBox="1"/>
              <p:nvPr/>
            </p:nvSpPr>
            <p:spPr>
              <a:xfrm>
                <a:off x="1584" y="864"/>
                <a:ext cx="528" cy="218"/>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ea typeface="楷体_GB2312" pitchFamily="49" charset="-122"/>
                  </a:rPr>
                  <a:t>30KB</a:t>
                </a:r>
                <a:endParaRPr lang="en-US" altLang="zh-CN" sz="1600" b="1" dirty="0">
                  <a:solidFill>
                    <a:srgbClr val="000099"/>
                  </a:solidFill>
                  <a:ea typeface="楷体_GB2312" pitchFamily="49" charset="-122"/>
                </a:endParaRPr>
              </a:p>
            </p:txBody>
          </p:sp>
          <p:sp>
            <p:nvSpPr>
              <p:cNvPr id="55310" name="Text Box 123"/>
              <p:cNvSpPr txBox="1"/>
              <p:nvPr/>
            </p:nvSpPr>
            <p:spPr>
              <a:xfrm>
                <a:off x="1584" y="1088"/>
                <a:ext cx="528" cy="218"/>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solidFill>
                      <a:srgbClr val="000099"/>
                    </a:solidFill>
                    <a:ea typeface="楷体_GB2312" pitchFamily="49" charset="-122"/>
                  </a:rPr>
                  <a:t>在使用</a:t>
                </a:r>
                <a:endParaRPr lang="zh-CN" altLang="en-US" sz="1600" b="1" dirty="0">
                  <a:solidFill>
                    <a:srgbClr val="000099"/>
                  </a:solidFill>
                  <a:ea typeface="楷体_GB2312" pitchFamily="49" charset="-122"/>
                </a:endParaRPr>
              </a:p>
            </p:txBody>
          </p:sp>
          <p:sp>
            <p:nvSpPr>
              <p:cNvPr id="55311" name="Text Box 124" descr="宽上对角线"/>
              <p:cNvSpPr txBox="1"/>
              <p:nvPr/>
            </p:nvSpPr>
            <p:spPr>
              <a:xfrm>
                <a:off x="1584" y="1304"/>
                <a:ext cx="528" cy="218"/>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ea typeface="楷体_GB2312" pitchFamily="49" charset="-122"/>
                  </a:rPr>
                  <a:t>20KB</a:t>
                </a:r>
                <a:endParaRPr lang="en-US" altLang="zh-CN" sz="1600" b="1" dirty="0">
                  <a:solidFill>
                    <a:srgbClr val="000099"/>
                  </a:solidFill>
                  <a:ea typeface="楷体_GB2312" pitchFamily="49" charset="-122"/>
                </a:endParaRPr>
              </a:p>
            </p:txBody>
          </p:sp>
          <p:sp>
            <p:nvSpPr>
              <p:cNvPr id="55312" name="Text Box 125"/>
              <p:cNvSpPr txBox="1"/>
              <p:nvPr/>
            </p:nvSpPr>
            <p:spPr>
              <a:xfrm>
                <a:off x="1584" y="1520"/>
                <a:ext cx="528" cy="218"/>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solidFill>
                      <a:srgbClr val="000099"/>
                    </a:solidFill>
                    <a:ea typeface="楷体_GB2312" pitchFamily="49" charset="-122"/>
                  </a:rPr>
                  <a:t>在使用</a:t>
                </a:r>
                <a:endParaRPr lang="zh-CN" altLang="en-US" sz="1600" b="1" dirty="0">
                  <a:solidFill>
                    <a:srgbClr val="000099"/>
                  </a:solidFill>
                  <a:ea typeface="楷体_GB2312" pitchFamily="49" charset="-122"/>
                </a:endParaRPr>
              </a:p>
            </p:txBody>
          </p:sp>
          <p:sp>
            <p:nvSpPr>
              <p:cNvPr id="55313" name="Text Box 126" descr="宽上对角线"/>
              <p:cNvSpPr txBox="1"/>
              <p:nvPr/>
            </p:nvSpPr>
            <p:spPr>
              <a:xfrm>
                <a:off x="1584" y="1736"/>
                <a:ext cx="528" cy="218"/>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ea typeface="楷体_GB2312" pitchFamily="49" charset="-122"/>
                  </a:rPr>
                  <a:t>  5KB</a:t>
                </a:r>
                <a:endParaRPr lang="en-US" altLang="zh-CN" sz="1600" b="1" dirty="0">
                  <a:solidFill>
                    <a:srgbClr val="000099"/>
                  </a:solidFill>
                  <a:ea typeface="楷体_GB2312" pitchFamily="49" charset="-122"/>
                </a:endParaRPr>
              </a:p>
            </p:txBody>
          </p:sp>
          <p:sp>
            <p:nvSpPr>
              <p:cNvPr id="55314" name="Text Box 127"/>
              <p:cNvSpPr txBox="1"/>
              <p:nvPr/>
            </p:nvSpPr>
            <p:spPr>
              <a:xfrm>
                <a:off x="1584" y="1952"/>
                <a:ext cx="528" cy="218"/>
              </a:xfrm>
              <a:prstGeom prst="rect">
                <a:avLst/>
              </a:prstGeom>
              <a:no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600" b="1" dirty="0">
                    <a:solidFill>
                      <a:srgbClr val="000099"/>
                    </a:solidFill>
                    <a:ea typeface="楷体_GB2312" pitchFamily="49" charset="-122"/>
                  </a:rPr>
                  <a:t>在使用</a:t>
                </a:r>
                <a:endParaRPr lang="zh-CN" altLang="en-US" sz="1600" b="1" dirty="0">
                  <a:solidFill>
                    <a:srgbClr val="000099"/>
                  </a:solidFill>
                  <a:ea typeface="楷体_GB2312" pitchFamily="49" charset="-122"/>
                </a:endParaRPr>
              </a:p>
            </p:txBody>
          </p:sp>
          <p:sp>
            <p:nvSpPr>
              <p:cNvPr id="55315" name="Text Box 128" descr="宽上对角线"/>
              <p:cNvSpPr txBox="1"/>
              <p:nvPr/>
            </p:nvSpPr>
            <p:spPr>
              <a:xfrm>
                <a:off x="1584" y="2168"/>
                <a:ext cx="528" cy="449"/>
              </a:xfrm>
              <a:prstGeom prst="rect">
                <a:avLst/>
              </a:prstGeom>
              <a:blipFill rotWithShape="0">
                <a:blip r:embed="rId1"/>
              </a:blipFill>
              <a:ln w="9525" cap="flat" cmpd="sng">
                <a:solidFill>
                  <a:srgbClr val="000000"/>
                </a:solidFill>
                <a:prstDash val="solid"/>
                <a:miter/>
                <a:headEnd type="none" w="med" len="med"/>
                <a:tailEnd type="none" w="med" len="med"/>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ea typeface="楷体_GB2312" pitchFamily="49" charset="-122"/>
                  </a:rPr>
                  <a:t>46KB</a:t>
                </a:r>
                <a:endParaRPr lang="en-US" altLang="zh-CN" sz="1600" b="1" dirty="0">
                  <a:ea typeface="楷体_GB2312" pitchFamily="49" charset="-122"/>
                </a:endParaRPr>
              </a:p>
              <a:p>
                <a:pPr marL="0" lvl="0" indent="0" eaLnBrk="1" hangingPunct="1">
                  <a:spcBef>
                    <a:spcPct val="50000"/>
                  </a:spcBef>
                  <a:buClrTx/>
                  <a:buSzTx/>
                  <a:buFontTx/>
                  <a:buNone/>
                </a:pPr>
                <a:endParaRPr lang="en-US" altLang="zh-CN" sz="1600" b="1" dirty="0">
                  <a:ea typeface="楷体_GB2312" pitchFamily="49" charset="-122"/>
                </a:endParaRPr>
              </a:p>
            </p:txBody>
          </p:sp>
          <p:sp>
            <p:nvSpPr>
              <p:cNvPr id="55316" name="Text Box 129"/>
              <p:cNvSpPr txBox="1"/>
              <p:nvPr/>
            </p:nvSpPr>
            <p:spPr>
              <a:xfrm>
                <a:off x="1392" y="528"/>
                <a:ext cx="14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0</a:t>
                </a:r>
                <a:endParaRPr lang="en-US" altLang="zh-CN" sz="2000" b="1" dirty="0">
                  <a:solidFill>
                    <a:srgbClr val="000099"/>
                  </a:solidFill>
                  <a:latin typeface="楷体_GB2312" pitchFamily="49" charset="-122"/>
                  <a:ea typeface="楷体_GB2312" pitchFamily="49" charset="-122"/>
                </a:endParaRPr>
              </a:p>
            </p:txBody>
          </p:sp>
          <p:sp>
            <p:nvSpPr>
              <p:cNvPr id="55317" name="Text Box 130"/>
              <p:cNvSpPr txBox="1"/>
              <p:nvPr/>
            </p:nvSpPr>
            <p:spPr>
              <a:xfrm>
                <a:off x="1200" y="768"/>
                <a:ext cx="336"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20KB</a:t>
                </a:r>
                <a:endParaRPr lang="en-US" altLang="zh-CN" sz="2000" b="1" dirty="0">
                  <a:solidFill>
                    <a:srgbClr val="000099"/>
                  </a:solidFill>
                  <a:latin typeface="楷体_GB2312" pitchFamily="49" charset="-122"/>
                  <a:ea typeface="楷体_GB2312" pitchFamily="49" charset="-122"/>
                </a:endParaRPr>
              </a:p>
            </p:txBody>
          </p:sp>
          <p:sp>
            <p:nvSpPr>
              <p:cNvPr id="55318" name="Text Box 131"/>
              <p:cNvSpPr txBox="1"/>
              <p:nvPr/>
            </p:nvSpPr>
            <p:spPr>
              <a:xfrm>
                <a:off x="1104" y="1200"/>
                <a:ext cx="43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100KB</a:t>
                </a:r>
                <a:endParaRPr lang="en-US" altLang="zh-CN" sz="2000" b="1" dirty="0">
                  <a:solidFill>
                    <a:srgbClr val="000099"/>
                  </a:solidFill>
                  <a:latin typeface="楷体_GB2312" pitchFamily="49" charset="-122"/>
                  <a:ea typeface="楷体_GB2312" pitchFamily="49" charset="-122"/>
                </a:endParaRPr>
              </a:p>
            </p:txBody>
          </p:sp>
          <p:sp>
            <p:nvSpPr>
              <p:cNvPr id="55319" name="Text Box 132"/>
              <p:cNvSpPr txBox="1"/>
              <p:nvPr/>
            </p:nvSpPr>
            <p:spPr>
              <a:xfrm>
                <a:off x="1104" y="1632"/>
                <a:ext cx="43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160KB</a:t>
                </a:r>
                <a:endParaRPr lang="en-US" altLang="zh-CN" sz="2000" b="1" dirty="0">
                  <a:solidFill>
                    <a:srgbClr val="000099"/>
                  </a:solidFill>
                  <a:latin typeface="楷体_GB2312" pitchFamily="49" charset="-122"/>
                  <a:ea typeface="楷体_GB2312" pitchFamily="49" charset="-122"/>
                </a:endParaRPr>
              </a:p>
            </p:txBody>
          </p:sp>
          <p:sp>
            <p:nvSpPr>
              <p:cNvPr id="55320" name="Text Box 133"/>
              <p:cNvSpPr txBox="1"/>
              <p:nvPr/>
            </p:nvSpPr>
            <p:spPr>
              <a:xfrm>
                <a:off x="1104" y="2064"/>
                <a:ext cx="43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210KB</a:t>
                </a:r>
                <a:endParaRPr lang="en-US" altLang="zh-CN" sz="2000" b="1" dirty="0">
                  <a:solidFill>
                    <a:srgbClr val="000099"/>
                  </a:solidFill>
                  <a:latin typeface="楷体_GB2312" pitchFamily="49" charset="-122"/>
                  <a:ea typeface="楷体_GB2312" pitchFamily="49" charset="-122"/>
                </a:endParaRPr>
              </a:p>
            </p:txBody>
          </p:sp>
          <p:sp>
            <p:nvSpPr>
              <p:cNvPr id="55321" name="Text Box 134"/>
              <p:cNvSpPr txBox="1"/>
              <p:nvPr/>
            </p:nvSpPr>
            <p:spPr>
              <a:xfrm>
                <a:off x="1104" y="2640"/>
                <a:ext cx="67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256KB</a:t>
                </a:r>
                <a:r>
                  <a:rPr lang="zh-CN" altLang="en-US" sz="2000" b="1" dirty="0">
                    <a:solidFill>
                      <a:srgbClr val="000099"/>
                    </a:solidFill>
                    <a:latin typeface="楷体_GB2312" pitchFamily="49" charset="-122"/>
                    <a:ea typeface="楷体_GB2312" pitchFamily="49" charset="-122"/>
                  </a:rPr>
                  <a:t>－</a:t>
                </a:r>
                <a:r>
                  <a:rPr lang="en-US" altLang="zh-CN" sz="2000" b="1" dirty="0">
                    <a:solidFill>
                      <a:srgbClr val="000099"/>
                    </a:solidFill>
                    <a:latin typeface="楷体_GB2312" pitchFamily="49" charset="-122"/>
                    <a:ea typeface="楷体_GB2312" pitchFamily="49" charset="-122"/>
                  </a:rPr>
                  <a:t>1</a:t>
                </a:r>
                <a:endParaRPr lang="en-US" altLang="zh-CN" sz="2000" b="1" dirty="0">
                  <a:solidFill>
                    <a:srgbClr val="000099"/>
                  </a:solidFill>
                  <a:latin typeface="楷体_GB2312" pitchFamily="49" charset="-122"/>
                  <a:ea typeface="楷体_GB2312" pitchFamily="49" charset="-122"/>
                </a:endParaRPr>
              </a:p>
            </p:txBody>
          </p:sp>
          <p:sp>
            <p:nvSpPr>
              <p:cNvPr id="55322" name="Text Box 135"/>
              <p:cNvSpPr txBox="1"/>
              <p:nvPr/>
            </p:nvSpPr>
            <p:spPr>
              <a:xfrm>
                <a:off x="1008" y="3120"/>
                <a:ext cx="100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9900CC"/>
                    </a:solidFill>
                    <a:ea typeface="楷体_GB2312" pitchFamily="49" charset="-122"/>
                  </a:rPr>
                  <a:t>最坏适应算法</a:t>
                </a:r>
                <a:endParaRPr lang="zh-CN" altLang="en-US" sz="2000" b="1" dirty="0">
                  <a:solidFill>
                    <a:srgbClr val="9900CC"/>
                  </a:solidFill>
                  <a:ea typeface="楷体_GB2312" pitchFamily="49" charset="-122"/>
                </a:endParaRPr>
              </a:p>
            </p:txBody>
          </p:sp>
        </p:grpSp>
      </p:grpSp>
      <p:sp>
        <p:nvSpPr>
          <p:cNvPr id="477320" name="Line 136"/>
          <p:cNvSpPr/>
          <p:nvPr/>
        </p:nvSpPr>
        <p:spPr>
          <a:xfrm flipV="1">
            <a:off x="1219200" y="1524000"/>
            <a:ext cx="914400" cy="381000"/>
          </a:xfrm>
          <a:prstGeom prst="line">
            <a:avLst/>
          </a:prstGeom>
          <a:ln w="25400" cap="flat" cmpd="sng">
            <a:solidFill>
              <a:srgbClr val="FF0000"/>
            </a:solidFill>
            <a:prstDash val="solid"/>
            <a:miter/>
            <a:headEnd type="none" w="med" len="med"/>
            <a:tailEnd type="stealth" w="med" len="med"/>
          </a:ln>
        </p:spPr>
      </p:sp>
      <p:sp>
        <p:nvSpPr>
          <p:cNvPr id="477321" name="Line 137"/>
          <p:cNvSpPr/>
          <p:nvPr/>
        </p:nvSpPr>
        <p:spPr>
          <a:xfrm flipV="1">
            <a:off x="4191000" y="2209800"/>
            <a:ext cx="914400" cy="381000"/>
          </a:xfrm>
          <a:prstGeom prst="line">
            <a:avLst/>
          </a:prstGeom>
          <a:ln w="25400" cap="flat" cmpd="sng">
            <a:solidFill>
              <a:srgbClr val="FF0000"/>
            </a:solidFill>
            <a:prstDash val="solid"/>
            <a:miter/>
            <a:headEnd type="none" w="med" len="med"/>
            <a:tailEnd type="stealth" w="med" len="med"/>
          </a:ln>
        </p:spPr>
      </p:sp>
      <p:sp>
        <p:nvSpPr>
          <p:cNvPr id="477322" name="Line 138"/>
          <p:cNvSpPr/>
          <p:nvPr/>
        </p:nvSpPr>
        <p:spPr>
          <a:xfrm>
            <a:off x="7086600" y="2819400"/>
            <a:ext cx="914400" cy="1066800"/>
          </a:xfrm>
          <a:prstGeom prst="line">
            <a:avLst/>
          </a:prstGeom>
          <a:ln w="25400" cap="flat" cmpd="sng">
            <a:solidFill>
              <a:srgbClr val="FF0000"/>
            </a:solidFill>
            <a:prstDash val="solid"/>
            <a:miter/>
            <a:headEnd type="none" w="med" len="med"/>
            <a:tailEnd type="stealth"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7281"/>
                                        </p:tgtEl>
                                        <p:attrNameLst>
                                          <p:attrName>style.visibility</p:attrName>
                                        </p:attrNameLst>
                                      </p:cBhvr>
                                      <p:to>
                                        <p:strVal val="visible"/>
                                      </p:to>
                                    </p:set>
                                    <p:animEffect transition="in" filter="blinds(horizontal)">
                                      <p:cBhvr>
                                        <p:cTn id="7" dur="500"/>
                                        <p:tgtEl>
                                          <p:spTgt spid="4772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77320"/>
                                        </p:tgtEl>
                                        <p:attrNameLst>
                                          <p:attrName>style.visibility</p:attrName>
                                        </p:attrNameLst>
                                      </p:cBhvr>
                                      <p:to>
                                        <p:strVal val="visible"/>
                                      </p:to>
                                    </p:set>
                                    <p:animEffect transition="in" filter="wipe(left)">
                                      <p:cBhvr>
                                        <p:cTn id="12" dur="500"/>
                                        <p:tgtEl>
                                          <p:spTgt spid="4773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77282"/>
                                        </p:tgtEl>
                                        <p:attrNameLst>
                                          <p:attrName>style.visibility</p:attrName>
                                        </p:attrNameLst>
                                      </p:cBhvr>
                                      <p:to>
                                        <p:strVal val="visible"/>
                                      </p:to>
                                    </p:set>
                                    <p:animEffect transition="in" filter="blinds(horizontal)">
                                      <p:cBhvr>
                                        <p:cTn id="17" dur="500"/>
                                        <p:tgtEl>
                                          <p:spTgt spid="4772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77321"/>
                                        </p:tgtEl>
                                        <p:attrNameLst>
                                          <p:attrName>style.visibility</p:attrName>
                                        </p:attrNameLst>
                                      </p:cBhvr>
                                      <p:to>
                                        <p:strVal val="visible"/>
                                      </p:to>
                                    </p:set>
                                    <p:animEffect transition="in" filter="wipe(left)">
                                      <p:cBhvr>
                                        <p:cTn id="22" dur="500"/>
                                        <p:tgtEl>
                                          <p:spTgt spid="4773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77301"/>
                                        </p:tgtEl>
                                        <p:attrNameLst>
                                          <p:attrName>style.visibility</p:attrName>
                                        </p:attrNameLst>
                                      </p:cBhvr>
                                      <p:to>
                                        <p:strVal val="visible"/>
                                      </p:to>
                                    </p:set>
                                    <p:animEffect transition="in" filter="blinds(horizontal)">
                                      <p:cBhvr>
                                        <p:cTn id="27" dur="500"/>
                                        <p:tgtEl>
                                          <p:spTgt spid="47730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77322"/>
                                        </p:tgtEl>
                                        <p:attrNameLst>
                                          <p:attrName>style.visibility</p:attrName>
                                        </p:attrNameLst>
                                      </p:cBhvr>
                                      <p:to>
                                        <p:strVal val="visible"/>
                                      </p:to>
                                    </p:set>
                                    <p:animEffect transition="in" filter="wipe(left)">
                                      <p:cBhvr>
                                        <p:cTn id="32" dur="500"/>
                                        <p:tgtEl>
                                          <p:spTgt spid="477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aphicFrame>
        <p:nvGraphicFramePr>
          <p:cNvPr id="579586" name="Object 2"/>
          <p:cNvGraphicFramePr>
            <a:graphicFrameLocks noChangeAspect="1"/>
          </p:cNvGraphicFramePr>
          <p:nvPr/>
        </p:nvGraphicFramePr>
        <p:xfrm>
          <a:off x="838200" y="4763"/>
          <a:ext cx="7391400" cy="6777037"/>
        </p:xfrm>
        <a:graphic>
          <a:graphicData uri="http://schemas.openxmlformats.org/presentationml/2006/ole">
            <mc:AlternateContent xmlns:mc="http://schemas.openxmlformats.org/markup-compatibility/2006">
              <mc:Choice xmlns:v="urn:schemas-microsoft-com:vml" Requires="v">
                <p:oleObj spid="_x0000_s3080" name="" r:id="rId1" imgW="6400800" imgH="5867400" progId="Paint.Picture">
                  <p:embed/>
                </p:oleObj>
              </mc:Choice>
              <mc:Fallback>
                <p:oleObj name="" r:id="rId1" imgW="6400800" imgH="5867400" progId="Paint.Picture">
                  <p:embed/>
                  <p:pic>
                    <p:nvPicPr>
                      <p:cNvPr id="0" name="图片 3079"/>
                      <p:cNvPicPr/>
                      <p:nvPr/>
                    </p:nvPicPr>
                    <p:blipFill>
                      <a:blip r:embed="rId2"/>
                      <a:stretch>
                        <a:fillRect/>
                      </a:stretch>
                    </p:blipFill>
                    <p:spPr>
                      <a:xfrm>
                        <a:off x="838200" y="4763"/>
                        <a:ext cx="7391400" cy="67770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79586"/>
                                        </p:tgtEl>
                                        <p:attrNameLst>
                                          <p:attrName>style.visibility</p:attrName>
                                        </p:attrNameLst>
                                      </p:cBhvr>
                                      <p:to>
                                        <p:strVal val="visible"/>
                                      </p:to>
                                    </p:set>
                                    <p:animEffect transition="in" filter="wipe(up)">
                                      <p:cBhvr>
                                        <p:cTn id="7" dur="500"/>
                                        <p:tgtEl>
                                          <p:spTgt spid="579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7347" name="矩形 2"/>
          <p:cNvSpPr/>
          <p:nvPr/>
        </p:nvSpPr>
        <p:spPr>
          <a:xfrm>
            <a:off x="971550" y="1166813"/>
            <a:ext cx="7416800" cy="2678112"/>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zh-CN" altLang="en-US" sz="2400" b="1" dirty="0">
                <a:solidFill>
                  <a:srgbClr val="000099"/>
                </a:solidFill>
                <a:latin typeface="黑体" panose="02010609060101010101" pitchFamily="49" charset="-122"/>
                <a:ea typeface="黑体" panose="02010609060101010101" pitchFamily="49" charset="-122"/>
              </a:rPr>
              <a:t>循环首次适应</a:t>
            </a:r>
            <a:r>
              <a:rPr lang="en-US" altLang="zh-CN" sz="2400" b="1" dirty="0">
                <a:solidFill>
                  <a:srgbClr val="000099"/>
                </a:solidFill>
                <a:latin typeface="黑体" panose="02010609060101010101" pitchFamily="49" charset="-122"/>
                <a:ea typeface="黑体" panose="02010609060101010101" pitchFamily="49" charset="-122"/>
              </a:rPr>
              <a:t>(next fit</a:t>
            </a:r>
            <a:r>
              <a:rPr lang="zh-CN" altLang="en-US" sz="2400" b="1" dirty="0">
                <a:solidFill>
                  <a:srgbClr val="000099"/>
                </a:solidFill>
                <a:latin typeface="黑体" panose="02010609060101010101" pitchFamily="49" charset="-122"/>
                <a:ea typeface="黑体" panose="02010609060101010101" pitchFamily="49" charset="-122"/>
              </a:rPr>
              <a:t>，</a:t>
            </a:r>
            <a:r>
              <a:rPr lang="en-US" altLang="zh-CN" sz="2400" b="1" dirty="0">
                <a:solidFill>
                  <a:srgbClr val="000099"/>
                </a:solidFill>
                <a:latin typeface="黑体" panose="02010609060101010101" pitchFamily="49" charset="-122"/>
                <a:ea typeface="黑体" panose="02010609060101010101" pitchFamily="49" charset="-122"/>
              </a:rPr>
              <a:t>NF)</a:t>
            </a:r>
            <a:r>
              <a:rPr lang="zh-CN" altLang="en-US" sz="2400" b="1" dirty="0">
                <a:solidFill>
                  <a:srgbClr val="000099"/>
                </a:solidFill>
                <a:latin typeface="黑体" panose="02010609060101010101" pitchFamily="49" charset="-122"/>
                <a:ea typeface="黑体" panose="02010609060101010101" pitchFamily="49" charset="-122"/>
              </a:rPr>
              <a:t>算法</a:t>
            </a:r>
            <a:br>
              <a:rPr lang="zh-CN" altLang="en-US" sz="2400" b="1" dirty="0">
                <a:solidFill>
                  <a:srgbClr val="000099"/>
                </a:solidFill>
                <a:ea typeface="楷体_GB2312" pitchFamily="49" charset="-122"/>
              </a:rPr>
            </a:br>
            <a:r>
              <a:rPr lang="zh-CN" altLang="en-US" sz="2400" b="1" dirty="0">
                <a:solidFill>
                  <a:srgbClr val="000099"/>
                </a:solidFill>
                <a:ea typeface="楷体_GB2312" pitchFamily="49" charset="-122"/>
              </a:rPr>
              <a:t>　　为避免低址部分留下许多很小的空闲分区，以及减少查找可用空闲分区的开销，循环首次适应算法在为进程分配内存空间时，不再是每次都从链首开始查找，而是从上次找到的空闲分区的下一个空闲分区开始查找，直至找到一个能满足要求的空闲分区，从中划出一块与请求大小相等的内存空间分配给作业。 </a:t>
            </a:r>
            <a:endParaRPr lang="zh-CN" altLang="en-US" sz="2400" b="1" dirty="0">
              <a:solidFill>
                <a:srgbClr val="000099"/>
              </a:solidFill>
              <a:ea typeface="楷体_GB2312"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40002" name="Rectangle 2"/>
          <p:cNvSpPr/>
          <p:nvPr/>
        </p:nvSpPr>
        <p:spPr>
          <a:xfrm>
            <a:off x="685800" y="241300"/>
            <a:ext cx="5541963" cy="519113"/>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800" dirty="0">
                <a:solidFill>
                  <a:srgbClr val="006600"/>
                </a:solidFill>
                <a:ea typeface="隶书" panose="02010509060101010101" pitchFamily="49" charset="-122"/>
              </a:rPr>
              <a:t>回收一个主存块</a:t>
            </a:r>
            <a:r>
              <a:rPr lang="en-US" altLang="zh-CN" sz="2800" dirty="0">
                <a:solidFill>
                  <a:srgbClr val="006600"/>
                </a:solidFill>
                <a:ea typeface="隶书" panose="02010509060101010101" pitchFamily="49" charset="-122"/>
              </a:rPr>
              <a:t>——</a:t>
            </a:r>
            <a:r>
              <a:rPr lang="zh-CN" altLang="en-US" sz="2800" dirty="0">
                <a:solidFill>
                  <a:srgbClr val="006600"/>
                </a:solidFill>
                <a:ea typeface="隶书" panose="02010509060101010101" pitchFamily="49" charset="-122"/>
              </a:rPr>
              <a:t>空闲区的拼接</a:t>
            </a:r>
            <a:endParaRPr lang="zh-CN" altLang="en-US" sz="2800" dirty="0">
              <a:solidFill>
                <a:srgbClr val="006600"/>
              </a:solidFill>
              <a:ea typeface="隶书" panose="02010509060101010101" pitchFamily="49" charset="-122"/>
            </a:endParaRPr>
          </a:p>
        </p:txBody>
      </p:sp>
      <p:sp>
        <p:nvSpPr>
          <p:cNvPr id="640003" name="Rectangle 3"/>
          <p:cNvSpPr/>
          <p:nvPr/>
        </p:nvSpPr>
        <p:spPr>
          <a:xfrm>
            <a:off x="609600" y="838200"/>
            <a:ext cx="83058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006600"/>
                </a:solidFill>
                <a:ea typeface="楷体_GB2312" pitchFamily="49" charset="-122"/>
              </a:rPr>
              <a:t>具体工作：</a:t>
            </a:r>
            <a:r>
              <a:rPr lang="zh-CN" altLang="en-US" sz="2400" b="1" dirty="0">
                <a:solidFill>
                  <a:srgbClr val="000099"/>
                </a:solidFill>
                <a:ea typeface="楷体_GB2312" pitchFamily="49" charset="-122"/>
              </a:rPr>
              <a:t>检查释放区是否与系统中的空闲区相邻，若相邻则</a:t>
            </a:r>
            <a:r>
              <a:rPr lang="zh-CN" altLang="en-US" sz="2400" b="1" dirty="0">
                <a:solidFill>
                  <a:srgbClr val="009900"/>
                </a:solidFill>
                <a:ea typeface="楷体_GB2312" pitchFamily="49" charset="-122"/>
              </a:rPr>
              <a:t>把释放区合并到相邻的空闲区中</a:t>
            </a:r>
            <a:r>
              <a:rPr lang="zh-CN" altLang="en-US" sz="2400" b="1" dirty="0">
                <a:solidFill>
                  <a:srgbClr val="000099"/>
                </a:solidFill>
                <a:ea typeface="楷体_GB2312" pitchFamily="49" charset="-122"/>
              </a:rPr>
              <a:t>，否则把释放区作为一个空闲区插入到自由主存队列的适当位置。</a:t>
            </a:r>
            <a:endParaRPr lang="zh-CN" altLang="en-US" sz="2400" b="1" dirty="0">
              <a:solidFill>
                <a:srgbClr val="000099"/>
              </a:solidFill>
              <a:ea typeface="楷体_GB2312" pitchFamily="49" charset="-122"/>
            </a:endParaRPr>
          </a:p>
        </p:txBody>
      </p:sp>
      <p:sp>
        <p:nvSpPr>
          <p:cNvPr id="640004" name="Rectangle 4"/>
          <p:cNvSpPr/>
          <p:nvPr/>
        </p:nvSpPr>
        <p:spPr>
          <a:xfrm>
            <a:off x="609600" y="2184400"/>
            <a:ext cx="5834063"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800000"/>
                </a:solidFill>
                <a:ea typeface="楷体_GB2312" pitchFamily="49" charset="-122"/>
              </a:rPr>
              <a:t>释放区与空闲区相邻有四种情况：</a:t>
            </a:r>
            <a:endParaRPr lang="zh-CN" altLang="en-US" sz="2400" b="1" dirty="0">
              <a:solidFill>
                <a:srgbClr val="800000"/>
              </a:solidFill>
              <a:ea typeface="楷体_GB2312" pitchFamily="49" charset="-122"/>
            </a:endParaRPr>
          </a:p>
        </p:txBody>
      </p:sp>
      <p:grpSp>
        <p:nvGrpSpPr>
          <p:cNvPr id="640014" name="Group 14"/>
          <p:cNvGrpSpPr/>
          <p:nvPr/>
        </p:nvGrpSpPr>
        <p:grpSpPr>
          <a:xfrm>
            <a:off x="2971800" y="3429000"/>
            <a:ext cx="1524000" cy="2514600"/>
            <a:chOff x="960" y="1824"/>
            <a:chExt cx="960" cy="1680"/>
          </a:xfrm>
        </p:grpSpPr>
        <p:sp>
          <p:nvSpPr>
            <p:cNvPr id="58386" name="Rectangle 15"/>
            <p:cNvSpPr/>
            <p:nvPr/>
          </p:nvSpPr>
          <p:spPr>
            <a:xfrm>
              <a:off x="960" y="1824"/>
              <a:ext cx="960" cy="1680"/>
            </a:xfrm>
            <a:prstGeom prst="rect">
              <a:avLst/>
            </a:prstGeom>
            <a:solidFill>
              <a:schemeClr val="bg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ea typeface="楷体_GB2312" pitchFamily="49" charset="-122"/>
                </a:rPr>
                <a:t>占用区</a:t>
              </a:r>
              <a:endParaRPr lang="zh-CN" altLang="en-US" sz="2400" b="1" dirty="0">
                <a:solidFill>
                  <a:srgbClr val="000099"/>
                </a:solidFill>
                <a:latin typeface="楷体_GB2312" pitchFamily="49" charset="-122"/>
                <a:ea typeface="楷体_GB2312" pitchFamily="49" charset="-122"/>
              </a:endParaRPr>
            </a:p>
            <a:p>
              <a:pPr marL="0" lvl="0" indent="0" algn="ctr" eaLnBrk="1" hangingPunct="1">
                <a:spcBef>
                  <a:spcPct val="0"/>
                </a:spcBef>
                <a:buClrTx/>
                <a:buSzTx/>
                <a:buFontTx/>
                <a:buNone/>
              </a:pPr>
              <a:endParaRPr lang="zh-CN" altLang="en-US" sz="2400" dirty="0">
                <a:ea typeface="楷体_GB2312" pitchFamily="49" charset="-122"/>
              </a:endParaRPr>
            </a:p>
            <a:p>
              <a:pPr marL="0" lvl="0" indent="0" algn="ctr" eaLnBrk="1" hangingPunct="1">
                <a:spcBef>
                  <a:spcPct val="0"/>
                </a:spcBef>
                <a:buClrTx/>
                <a:buSzTx/>
                <a:buFontTx/>
                <a:buNone/>
              </a:pPr>
              <a:endParaRPr lang="zh-CN" altLang="en-US" sz="2400" dirty="0">
                <a:ea typeface="楷体_GB2312" pitchFamily="49" charset="-122"/>
              </a:endParaRPr>
            </a:p>
            <a:p>
              <a:pPr marL="0" lvl="0" indent="0" algn="ctr" eaLnBrk="1" hangingPunct="1">
                <a:spcBef>
                  <a:spcPct val="0"/>
                </a:spcBef>
                <a:buClrTx/>
                <a:buSzTx/>
                <a:buFontTx/>
                <a:buNone/>
              </a:pPr>
              <a:endParaRPr lang="zh-CN" altLang="en-US" sz="2400" dirty="0">
                <a:ea typeface="楷体_GB2312" pitchFamily="49" charset="-122"/>
              </a:endParaRPr>
            </a:p>
            <a:p>
              <a:pPr marL="0" lvl="0" indent="0" algn="ctr" eaLnBrk="1" hangingPunct="1">
                <a:spcBef>
                  <a:spcPct val="0"/>
                </a:spcBef>
                <a:buClrTx/>
                <a:buSzTx/>
                <a:buFontTx/>
                <a:buNone/>
              </a:pPr>
              <a:r>
                <a:rPr lang="en-US" altLang="zh-CN" sz="2400" b="1" dirty="0">
                  <a:solidFill>
                    <a:srgbClr val="000099"/>
                  </a:solidFill>
                  <a:ea typeface="楷体_GB2312" pitchFamily="49" charset="-122"/>
                </a:rPr>
                <a:t>T</a:t>
              </a:r>
              <a:endParaRPr lang="en-US" altLang="zh-CN" sz="2400" b="1" dirty="0">
                <a:solidFill>
                  <a:srgbClr val="000099"/>
                </a:solidFill>
                <a:ea typeface="楷体_GB2312" pitchFamily="49" charset="-122"/>
              </a:endParaRPr>
            </a:p>
          </p:txBody>
        </p:sp>
        <p:sp>
          <p:nvSpPr>
            <p:cNvPr id="58387" name="Rectangle 16"/>
            <p:cNvSpPr/>
            <p:nvPr/>
          </p:nvSpPr>
          <p:spPr>
            <a:xfrm>
              <a:off x="960" y="2448"/>
              <a:ext cx="960" cy="480"/>
            </a:xfrm>
            <a:prstGeom prst="rect">
              <a:avLst/>
            </a:prstGeom>
            <a:solidFill>
              <a:schemeClr val="accent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I</a:t>
              </a:r>
              <a:endParaRPr lang="en-US" altLang="zh-CN" sz="2400" b="1" dirty="0">
                <a:solidFill>
                  <a:srgbClr val="000099"/>
                </a:solidFill>
                <a:latin typeface="楷体_GB2312" pitchFamily="49" charset="-122"/>
                <a:ea typeface="楷体_GB2312" pitchFamily="49" charset="-122"/>
              </a:endParaRPr>
            </a:p>
          </p:txBody>
        </p:sp>
      </p:grpSp>
      <p:grpSp>
        <p:nvGrpSpPr>
          <p:cNvPr id="640017" name="Group 17"/>
          <p:cNvGrpSpPr/>
          <p:nvPr/>
        </p:nvGrpSpPr>
        <p:grpSpPr>
          <a:xfrm>
            <a:off x="5029200" y="3429000"/>
            <a:ext cx="1524000" cy="2514600"/>
            <a:chOff x="960" y="1824"/>
            <a:chExt cx="960" cy="1680"/>
          </a:xfrm>
        </p:grpSpPr>
        <p:sp>
          <p:nvSpPr>
            <p:cNvPr id="58384" name="Rectangle 18"/>
            <p:cNvSpPr/>
            <p:nvPr/>
          </p:nvSpPr>
          <p:spPr>
            <a:xfrm>
              <a:off x="960" y="1824"/>
              <a:ext cx="960" cy="1680"/>
            </a:xfrm>
            <a:prstGeom prst="rect">
              <a:avLst/>
            </a:prstGeom>
            <a:solidFill>
              <a:schemeClr val="bg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H</a:t>
              </a:r>
              <a:endParaRPr lang="en-US" altLang="zh-CN" sz="2400" b="1" dirty="0">
                <a:solidFill>
                  <a:srgbClr val="000099"/>
                </a:solidFill>
                <a:latin typeface="楷体_GB2312" pitchFamily="49" charset="-122"/>
                <a:ea typeface="楷体_GB2312" pitchFamily="49" charset="-122"/>
              </a:endParaRPr>
            </a:p>
            <a:p>
              <a:pPr marL="0" lvl="0" indent="0" algn="ctr" eaLnBrk="1" hangingPunct="1">
                <a:spcBef>
                  <a:spcPct val="0"/>
                </a:spcBef>
                <a:buClrTx/>
                <a:buSzTx/>
                <a:buFontTx/>
                <a:buNone/>
              </a:pPr>
              <a:endParaRPr lang="en-US" altLang="zh-CN" sz="2400" dirty="0">
                <a:ea typeface="楷体_GB2312" pitchFamily="49" charset="-122"/>
              </a:endParaRPr>
            </a:p>
            <a:p>
              <a:pPr marL="0" lvl="0" indent="0" algn="ctr" eaLnBrk="1" hangingPunct="1">
                <a:spcBef>
                  <a:spcPct val="0"/>
                </a:spcBef>
                <a:buClrTx/>
                <a:buSzTx/>
                <a:buFontTx/>
                <a:buNone/>
              </a:pPr>
              <a:endParaRPr lang="en-US" altLang="zh-CN" sz="2400" dirty="0">
                <a:ea typeface="楷体_GB2312" pitchFamily="49" charset="-122"/>
              </a:endParaRPr>
            </a:p>
            <a:p>
              <a:pPr marL="0" lvl="0" indent="0" algn="ctr" eaLnBrk="1" hangingPunct="1">
                <a:spcBef>
                  <a:spcPct val="0"/>
                </a:spcBef>
                <a:buClrTx/>
                <a:buSzTx/>
                <a:buFontTx/>
                <a:buNone/>
              </a:pPr>
              <a:endParaRPr lang="en-US" altLang="zh-CN" sz="2400" dirty="0">
                <a:ea typeface="楷体_GB2312" pitchFamily="49" charset="-122"/>
              </a:endParaRPr>
            </a:p>
            <a:p>
              <a:pPr marL="0" lvl="0" indent="0" algn="ctr" eaLnBrk="1" hangingPunct="1">
                <a:spcBef>
                  <a:spcPct val="0"/>
                </a:spcBef>
                <a:buClrTx/>
                <a:buSzTx/>
                <a:buFontTx/>
                <a:buNone/>
              </a:pPr>
              <a:r>
                <a:rPr lang="en-US" altLang="zh-CN" sz="2400" b="1" dirty="0">
                  <a:solidFill>
                    <a:srgbClr val="000099"/>
                  </a:solidFill>
                  <a:ea typeface="楷体_GB2312" pitchFamily="49" charset="-122"/>
                </a:rPr>
                <a:t>T</a:t>
              </a:r>
              <a:endParaRPr lang="en-US" altLang="zh-CN" sz="2400" b="1" dirty="0">
                <a:solidFill>
                  <a:srgbClr val="000099"/>
                </a:solidFill>
                <a:ea typeface="楷体_GB2312" pitchFamily="49" charset="-122"/>
              </a:endParaRPr>
            </a:p>
          </p:txBody>
        </p:sp>
        <p:sp>
          <p:nvSpPr>
            <p:cNvPr id="58385" name="Rectangle 19"/>
            <p:cNvSpPr/>
            <p:nvPr/>
          </p:nvSpPr>
          <p:spPr>
            <a:xfrm>
              <a:off x="960" y="2448"/>
              <a:ext cx="960" cy="480"/>
            </a:xfrm>
            <a:prstGeom prst="rect">
              <a:avLst/>
            </a:prstGeom>
            <a:solidFill>
              <a:schemeClr val="accent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I</a:t>
              </a:r>
              <a:endParaRPr lang="en-US" altLang="zh-CN" sz="2400" b="1" dirty="0">
                <a:solidFill>
                  <a:srgbClr val="000099"/>
                </a:solidFill>
                <a:latin typeface="楷体_GB2312" pitchFamily="49" charset="-122"/>
                <a:ea typeface="楷体_GB2312" pitchFamily="49" charset="-122"/>
              </a:endParaRPr>
            </a:p>
          </p:txBody>
        </p:sp>
      </p:grpSp>
      <p:grpSp>
        <p:nvGrpSpPr>
          <p:cNvPr id="640020" name="Group 20"/>
          <p:cNvGrpSpPr/>
          <p:nvPr/>
        </p:nvGrpSpPr>
        <p:grpSpPr>
          <a:xfrm>
            <a:off x="7086600" y="3429000"/>
            <a:ext cx="1524000" cy="2514600"/>
            <a:chOff x="960" y="1824"/>
            <a:chExt cx="960" cy="1680"/>
          </a:xfrm>
        </p:grpSpPr>
        <p:sp>
          <p:nvSpPr>
            <p:cNvPr id="58382" name="Rectangle 21"/>
            <p:cNvSpPr/>
            <p:nvPr/>
          </p:nvSpPr>
          <p:spPr>
            <a:xfrm>
              <a:off x="960" y="1824"/>
              <a:ext cx="960" cy="1680"/>
            </a:xfrm>
            <a:prstGeom prst="rect">
              <a:avLst/>
            </a:prstGeom>
            <a:solidFill>
              <a:schemeClr val="bg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ea typeface="楷体_GB2312" pitchFamily="49" charset="-122"/>
                </a:rPr>
                <a:t>占用区</a:t>
              </a:r>
              <a:endParaRPr lang="zh-CN" altLang="en-US" sz="2400" b="1" dirty="0">
                <a:solidFill>
                  <a:srgbClr val="000099"/>
                </a:solidFill>
                <a:latin typeface="楷体_GB2312" pitchFamily="49" charset="-122"/>
                <a:ea typeface="楷体_GB2312" pitchFamily="49" charset="-122"/>
              </a:endParaRPr>
            </a:p>
            <a:p>
              <a:pPr marL="0" lvl="0" indent="0" algn="ctr" eaLnBrk="1" hangingPunct="1">
                <a:spcBef>
                  <a:spcPct val="0"/>
                </a:spcBef>
                <a:buClrTx/>
                <a:buSzTx/>
                <a:buFontTx/>
                <a:buNone/>
              </a:pPr>
              <a:endParaRPr lang="zh-CN" altLang="en-US" sz="2400" dirty="0">
                <a:ea typeface="楷体_GB2312" pitchFamily="49" charset="-122"/>
              </a:endParaRPr>
            </a:p>
            <a:p>
              <a:pPr marL="0" lvl="0" indent="0" algn="ctr" eaLnBrk="1" hangingPunct="1">
                <a:spcBef>
                  <a:spcPct val="0"/>
                </a:spcBef>
                <a:buClrTx/>
                <a:buSzTx/>
                <a:buFontTx/>
                <a:buNone/>
              </a:pPr>
              <a:endParaRPr lang="zh-CN" altLang="en-US" sz="2400" dirty="0">
                <a:ea typeface="楷体_GB2312" pitchFamily="49" charset="-122"/>
              </a:endParaRPr>
            </a:p>
            <a:p>
              <a:pPr marL="0" lvl="0" indent="0" algn="ctr" eaLnBrk="1" hangingPunct="1">
                <a:spcBef>
                  <a:spcPct val="0"/>
                </a:spcBef>
                <a:buClrTx/>
                <a:buSzTx/>
                <a:buFontTx/>
                <a:buNone/>
              </a:pPr>
              <a:endParaRPr lang="zh-CN" altLang="en-US" sz="2400" dirty="0">
                <a:ea typeface="楷体_GB2312" pitchFamily="49" charset="-122"/>
              </a:endParaRPr>
            </a:p>
            <a:p>
              <a:pPr marL="0" lvl="0" indent="0" algn="ctr" eaLnBrk="1" hangingPunct="1">
                <a:spcBef>
                  <a:spcPct val="0"/>
                </a:spcBef>
                <a:buClrTx/>
                <a:buSzTx/>
                <a:buFontTx/>
                <a:buNone/>
              </a:pPr>
              <a:r>
                <a:rPr lang="zh-CN" altLang="en-US" sz="2400" b="1" dirty="0">
                  <a:solidFill>
                    <a:srgbClr val="000099"/>
                  </a:solidFill>
                  <a:ea typeface="楷体_GB2312" pitchFamily="49" charset="-122"/>
                </a:rPr>
                <a:t>占用区</a:t>
              </a:r>
              <a:endParaRPr lang="zh-CN" altLang="en-US" sz="2400" b="1" dirty="0">
                <a:solidFill>
                  <a:srgbClr val="000099"/>
                </a:solidFill>
                <a:ea typeface="楷体_GB2312" pitchFamily="49" charset="-122"/>
              </a:endParaRPr>
            </a:p>
          </p:txBody>
        </p:sp>
        <p:sp>
          <p:nvSpPr>
            <p:cNvPr id="58383" name="Rectangle 22"/>
            <p:cNvSpPr/>
            <p:nvPr/>
          </p:nvSpPr>
          <p:spPr>
            <a:xfrm>
              <a:off x="960" y="2448"/>
              <a:ext cx="960" cy="480"/>
            </a:xfrm>
            <a:prstGeom prst="rect">
              <a:avLst/>
            </a:prstGeom>
            <a:solidFill>
              <a:schemeClr val="accent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I</a:t>
              </a:r>
              <a:endParaRPr lang="en-US" altLang="zh-CN" sz="2400" b="1" dirty="0">
                <a:solidFill>
                  <a:srgbClr val="000099"/>
                </a:solidFill>
                <a:latin typeface="楷体_GB2312" pitchFamily="49" charset="-122"/>
                <a:ea typeface="楷体_GB2312" pitchFamily="49" charset="-122"/>
              </a:endParaRPr>
            </a:p>
          </p:txBody>
        </p:sp>
      </p:grpSp>
      <p:grpSp>
        <p:nvGrpSpPr>
          <p:cNvPr id="640023" name="Group 23"/>
          <p:cNvGrpSpPr/>
          <p:nvPr/>
        </p:nvGrpSpPr>
        <p:grpSpPr>
          <a:xfrm>
            <a:off x="914400" y="3429000"/>
            <a:ext cx="1524000" cy="2514600"/>
            <a:chOff x="960" y="1824"/>
            <a:chExt cx="960" cy="1680"/>
          </a:xfrm>
        </p:grpSpPr>
        <p:sp>
          <p:nvSpPr>
            <p:cNvPr id="58380" name="Rectangle 24"/>
            <p:cNvSpPr/>
            <p:nvPr/>
          </p:nvSpPr>
          <p:spPr>
            <a:xfrm>
              <a:off x="960" y="1824"/>
              <a:ext cx="960" cy="1680"/>
            </a:xfrm>
            <a:prstGeom prst="rect">
              <a:avLst/>
            </a:prstGeom>
            <a:solidFill>
              <a:schemeClr val="bg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H</a:t>
              </a:r>
              <a:endParaRPr lang="en-US" altLang="zh-CN" sz="2400" b="1" dirty="0">
                <a:solidFill>
                  <a:srgbClr val="000099"/>
                </a:solidFill>
                <a:latin typeface="楷体_GB2312" pitchFamily="49" charset="-122"/>
                <a:ea typeface="楷体_GB2312" pitchFamily="49" charset="-122"/>
              </a:endParaRPr>
            </a:p>
            <a:p>
              <a:pPr marL="0" lvl="0" indent="0" algn="ctr" eaLnBrk="1" hangingPunct="1">
                <a:spcBef>
                  <a:spcPct val="0"/>
                </a:spcBef>
                <a:buClrTx/>
                <a:buSzTx/>
                <a:buFontTx/>
                <a:buNone/>
              </a:pPr>
              <a:endParaRPr lang="en-US" altLang="zh-CN" sz="2400" dirty="0">
                <a:ea typeface="楷体_GB2312" pitchFamily="49" charset="-122"/>
              </a:endParaRPr>
            </a:p>
            <a:p>
              <a:pPr marL="0" lvl="0" indent="0" algn="ctr" eaLnBrk="1" hangingPunct="1">
                <a:spcBef>
                  <a:spcPct val="0"/>
                </a:spcBef>
                <a:buClrTx/>
                <a:buSzTx/>
                <a:buFontTx/>
                <a:buNone/>
              </a:pPr>
              <a:endParaRPr lang="en-US" altLang="zh-CN" sz="2400" dirty="0">
                <a:ea typeface="楷体_GB2312" pitchFamily="49" charset="-122"/>
              </a:endParaRPr>
            </a:p>
            <a:p>
              <a:pPr marL="0" lvl="0" indent="0" algn="ctr" eaLnBrk="1" hangingPunct="1">
                <a:spcBef>
                  <a:spcPct val="0"/>
                </a:spcBef>
                <a:buClrTx/>
                <a:buSzTx/>
                <a:buFontTx/>
                <a:buNone/>
              </a:pPr>
              <a:endParaRPr lang="en-US" altLang="zh-CN" sz="2400" dirty="0">
                <a:ea typeface="楷体_GB2312" pitchFamily="49" charset="-122"/>
              </a:endParaRPr>
            </a:p>
            <a:p>
              <a:pPr marL="0" lvl="0" indent="0" algn="ctr" eaLnBrk="1" hangingPunct="1">
                <a:spcBef>
                  <a:spcPct val="0"/>
                </a:spcBef>
                <a:buClrTx/>
                <a:buSzTx/>
                <a:buFontTx/>
                <a:buNone/>
              </a:pPr>
              <a:r>
                <a:rPr lang="zh-CN" altLang="en-US" sz="2400" b="1" dirty="0">
                  <a:solidFill>
                    <a:srgbClr val="000099"/>
                  </a:solidFill>
                  <a:ea typeface="楷体_GB2312" pitchFamily="49" charset="-122"/>
                </a:rPr>
                <a:t>占用区</a:t>
              </a:r>
              <a:endParaRPr lang="zh-CN" altLang="en-US" sz="2400" b="1" dirty="0">
                <a:solidFill>
                  <a:srgbClr val="000099"/>
                </a:solidFill>
                <a:ea typeface="楷体_GB2312" pitchFamily="49" charset="-122"/>
              </a:endParaRPr>
            </a:p>
          </p:txBody>
        </p:sp>
        <p:sp>
          <p:nvSpPr>
            <p:cNvPr id="58381" name="Rectangle 25"/>
            <p:cNvSpPr/>
            <p:nvPr/>
          </p:nvSpPr>
          <p:spPr>
            <a:xfrm>
              <a:off x="960" y="2448"/>
              <a:ext cx="960" cy="480"/>
            </a:xfrm>
            <a:prstGeom prst="rect">
              <a:avLst/>
            </a:prstGeom>
            <a:solidFill>
              <a:schemeClr val="accent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I</a:t>
              </a:r>
              <a:endParaRPr lang="en-US" altLang="zh-CN" sz="2400" b="1" dirty="0">
                <a:solidFill>
                  <a:srgbClr val="000099"/>
                </a:solidFill>
                <a:latin typeface="楷体_GB2312" pitchFamily="49" charset="-122"/>
                <a:ea typeface="楷体_GB2312" pitchFamily="49" charset="-122"/>
              </a:endParaRPr>
            </a:p>
          </p:txBody>
        </p:sp>
      </p:grpSp>
      <p:sp>
        <p:nvSpPr>
          <p:cNvPr id="640026" name="Rectangle 26"/>
          <p:cNvSpPr/>
          <p:nvPr/>
        </p:nvSpPr>
        <p:spPr>
          <a:xfrm>
            <a:off x="2209800" y="6096000"/>
            <a:ext cx="4449763"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释放区与空闲区相邻情况</a:t>
            </a:r>
            <a:endParaRPr lang="zh-CN" altLang="en-US" sz="2400" b="1" dirty="0">
              <a:solidFill>
                <a:srgbClr val="000099"/>
              </a:solidFill>
              <a:ea typeface="楷体_GB2312" pitchFamily="49" charset="-122"/>
            </a:endParaRPr>
          </a:p>
        </p:txBody>
      </p:sp>
      <p:sp>
        <p:nvSpPr>
          <p:cNvPr id="640028" name="Rectangle 28"/>
          <p:cNvSpPr/>
          <p:nvPr/>
        </p:nvSpPr>
        <p:spPr>
          <a:xfrm>
            <a:off x="609600" y="2743200"/>
            <a:ext cx="75438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000099"/>
                </a:solidFill>
                <a:ea typeface="楷体_GB2312" pitchFamily="49" charset="-122"/>
              </a:rPr>
              <a:t>其中： </a:t>
            </a:r>
            <a:r>
              <a:rPr lang="en-US" altLang="zh-CN" sz="2400" b="1" dirty="0">
                <a:solidFill>
                  <a:srgbClr val="000099"/>
                </a:solidFill>
                <a:ea typeface="楷体_GB2312" pitchFamily="49" charset="-122"/>
              </a:rPr>
              <a:t>I</a:t>
            </a:r>
            <a:r>
              <a:rPr lang="zh-CN" altLang="en-US" sz="2400" b="1" dirty="0">
                <a:solidFill>
                  <a:srgbClr val="000099"/>
                </a:solidFill>
                <a:ea typeface="楷体_GB2312" pitchFamily="49" charset="-122"/>
              </a:rPr>
              <a:t>：释放区    </a:t>
            </a:r>
            <a:r>
              <a:rPr lang="en-US" altLang="zh-CN" sz="2400" b="1" dirty="0">
                <a:solidFill>
                  <a:srgbClr val="000099"/>
                </a:solidFill>
                <a:ea typeface="楷体_GB2312" pitchFamily="49" charset="-122"/>
              </a:rPr>
              <a:t>H</a:t>
            </a:r>
            <a:r>
              <a:rPr lang="zh-CN" altLang="en-US" sz="2400" b="1" dirty="0">
                <a:solidFill>
                  <a:srgbClr val="000099"/>
                </a:solidFill>
                <a:ea typeface="楷体_GB2312" pitchFamily="49" charset="-122"/>
              </a:rPr>
              <a:t>：前空闲区    </a:t>
            </a:r>
            <a:r>
              <a:rPr lang="en-US" altLang="zh-CN" sz="2400" b="1" dirty="0">
                <a:solidFill>
                  <a:srgbClr val="000099"/>
                </a:solidFill>
                <a:ea typeface="楷体_GB2312" pitchFamily="49" charset="-122"/>
              </a:rPr>
              <a:t>T</a:t>
            </a:r>
            <a:r>
              <a:rPr lang="zh-CN" altLang="en-US" sz="2400" b="1" dirty="0">
                <a:solidFill>
                  <a:srgbClr val="000099"/>
                </a:solidFill>
                <a:ea typeface="楷体_GB2312" pitchFamily="49" charset="-122"/>
              </a:rPr>
              <a:t>：后空闲区</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40002"/>
                                        </p:tgtEl>
                                        <p:attrNameLst>
                                          <p:attrName>style.visibility</p:attrName>
                                        </p:attrNameLst>
                                      </p:cBhvr>
                                      <p:to>
                                        <p:strVal val="visible"/>
                                      </p:to>
                                    </p:set>
                                    <p:anim calcmode="lin" valueType="num">
                                      <p:cBhvr additive="base">
                                        <p:cTn id="7" dur="500" fill="hold"/>
                                        <p:tgtEl>
                                          <p:spTgt spid="640002"/>
                                        </p:tgtEl>
                                        <p:attrNameLst>
                                          <p:attrName>ppt_x</p:attrName>
                                        </p:attrNameLst>
                                      </p:cBhvr>
                                      <p:tavLst>
                                        <p:tav tm="0">
                                          <p:val>
                                            <p:strVal val="0-#ppt_w/2"/>
                                          </p:val>
                                        </p:tav>
                                        <p:tav tm="100000">
                                          <p:val>
                                            <p:strVal val="#ppt_x"/>
                                          </p:val>
                                        </p:tav>
                                      </p:tavLst>
                                    </p:anim>
                                    <p:anim calcmode="lin" valueType="num">
                                      <p:cBhvr additive="base">
                                        <p:cTn id="8" dur="500" fill="hold"/>
                                        <p:tgtEl>
                                          <p:spTgt spid="64000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40003"/>
                                        </p:tgtEl>
                                        <p:attrNameLst>
                                          <p:attrName>style.visibility</p:attrName>
                                        </p:attrNameLst>
                                      </p:cBhvr>
                                      <p:to>
                                        <p:strVal val="visible"/>
                                      </p:to>
                                    </p:set>
                                    <p:anim calcmode="lin" valueType="num">
                                      <p:cBhvr additive="base">
                                        <p:cTn id="13" dur="500" fill="hold"/>
                                        <p:tgtEl>
                                          <p:spTgt spid="640003"/>
                                        </p:tgtEl>
                                        <p:attrNameLst>
                                          <p:attrName>ppt_x</p:attrName>
                                        </p:attrNameLst>
                                      </p:cBhvr>
                                      <p:tavLst>
                                        <p:tav tm="0">
                                          <p:val>
                                            <p:strVal val="0-#ppt_w/2"/>
                                          </p:val>
                                        </p:tav>
                                        <p:tav tm="100000">
                                          <p:val>
                                            <p:strVal val="#ppt_x"/>
                                          </p:val>
                                        </p:tav>
                                      </p:tavLst>
                                    </p:anim>
                                    <p:anim calcmode="lin" valueType="num">
                                      <p:cBhvr additive="base">
                                        <p:cTn id="14" dur="500" fill="hold"/>
                                        <p:tgtEl>
                                          <p:spTgt spid="64000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40004"/>
                                        </p:tgtEl>
                                        <p:attrNameLst>
                                          <p:attrName>style.visibility</p:attrName>
                                        </p:attrNameLst>
                                      </p:cBhvr>
                                      <p:to>
                                        <p:strVal val="visible"/>
                                      </p:to>
                                    </p:set>
                                    <p:anim calcmode="lin" valueType="num">
                                      <p:cBhvr additive="base">
                                        <p:cTn id="19" dur="500" fill="hold"/>
                                        <p:tgtEl>
                                          <p:spTgt spid="640004"/>
                                        </p:tgtEl>
                                        <p:attrNameLst>
                                          <p:attrName>ppt_x</p:attrName>
                                        </p:attrNameLst>
                                      </p:cBhvr>
                                      <p:tavLst>
                                        <p:tav tm="0">
                                          <p:val>
                                            <p:strVal val="0-#ppt_w/2"/>
                                          </p:val>
                                        </p:tav>
                                        <p:tav tm="100000">
                                          <p:val>
                                            <p:strVal val="#ppt_x"/>
                                          </p:val>
                                        </p:tav>
                                      </p:tavLst>
                                    </p:anim>
                                    <p:anim calcmode="lin" valueType="num">
                                      <p:cBhvr additive="base">
                                        <p:cTn id="20" dur="500" fill="hold"/>
                                        <p:tgtEl>
                                          <p:spTgt spid="64000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40028"/>
                                        </p:tgtEl>
                                        <p:attrNameLst>
                                          <p:attrName>style.visibility</p:attrName>
                                        </p:attrNameLst>
                                      </p:cBhvr>
                                      <p:to>
                                        <p:strVal val="visible"/>
                                      </p:to>
                                    </p:set>
                                    <p:animEffect transition="in" filter="wipe(left)">
                                      <p:cBhvr>
                                        <p:cTn id="25" dur="500"/>
                                        <p:tgtEl>
                                          <p:spTgt spid="640028"/>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640026"/>
                                        </p:tgtEl>
                                        <p:attrNameLst>
                                          <p:attrName>style.visibility</p:attrName>
                                        </p:attrNameLst>
                                      </p:cBhvr>
                                      <p:to>
                                        <p:strVal val="visible"/>
                                      </p:to>
                                    </p:set>
                                    <p:anim calcmode="lin" valueType="num">
                                      <p:cBhvr additive="base">
                                        <p:cTn id="30" dur="500" fill="hold"/>
                                        <p:tgtEl>
                                          <p:spTgt spid="640026"/>
                                        </p:tgtEl>
                                        <p:attrNameLst>
                                          <p:attrName>ppt_x</p:attrName>
                                        </p:attrNameLst>
                                      </p:cBhvr>
                                      <p:tavLst>
                                        <p:tav tm="0">
                                          <p:val>
                                            <p:strVal val="0-#ppt_w/2"/>
                                          </p:val>
                                        </p:tav>
                                        <p:tav tm="100000">
                                          <p:val>
                                            <p:strVal val="#ppt_x"/>
                                          </p:val>
                                        </p:tav>
                                      </p:tavLst>
                                    </p:anim>
                                    <p:anim calcmode="lin" valueType="num">
                                      <p:cBhvr additive="base">
                                        <p:cTn id="31" dur="500" fill="hold"/>
                                        <p:tgtEl>
                                          <p:spTgt spid="64002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640023"/>
                                        </p:tgtEl>
                                        <p:attrNameLst>
                                          <p:attrName>style.visibility</p:attrName>
                                        </p:attrNameLst>
                                      </p:cBhvr>
                                      <p:to>
                                        <p:strVal val="visible"/>
                                      </p:to>
                                    </p:set>
                                    <p:animEffect transition="in" filter="wipe(up)">
                                      <p:cBhvr>
                                        <p:cTn id="36" dur="500"/>
                                        <p:tgtEl>
                                          <p:spTgt spid="64002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640014"/>
                                        </p:tgtEl>
                                        <p:attrNameLst>
                                          <p:attrName>style.visibility</p:attrName>
                                        </p:attrNameLst>
                                      </p:cBhvr>
                                      <p:to>
                                        <p:strVal val="visible"/>
                                      </p:to>
                                    </p:set>
                                    <p:animEffect transition="in" filter="wipe(up)">
                                      <p:cBhvr>
                                        <p:cTn id="41" dur="500"/>
                                        <p:tgtEl>
                                          <p:spTgt spid="6400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640017"/>
                                        </p:tgtEl>
                                        <p:attrNameLst>
                                          <p:attrName>style.visibility</p:attrName>
                                        </p:attrNameLst>
                                      </p:cBhvr>
                                      <p:to>
                                        <p:strVal val="visible"/>
                                      </p:to>
                                    </p:set>
                                    <p:animEffect transition="in" filter="wipe(up)">
                                      <p:cBhvr>
                                        <p:cTn id="46" dur="500"/>
                                        <p:tgtEl>
                                          <p:spTgt spid="64001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640020"/>
                                        </p:tgtEl>
                                        <p:attrNameLst>
                                          <p:attrName>style.visibility</p:attrName>
                                        </p:attrNameLst>
                                      </p:cBhvr>
                                      <p:to>
                                        <p:strVal val="visible"/>
                                      </p:to>
                                    </p:set>
                                    <p:animEffect transition="in" filter="wipe(up)">
                                      <p:cBhvr>
                                        <p:cTn id="51" dur="500"/>
                                        <p:tgtEl>
                                          <p:spTgt spid="640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0002" grpId="0" animBg="1"/>
      <p:bldP spid="640003" grpId="0"/>
      <p:bldP spid="640004" grpId="0"/>
      <p:bldP spid="640026" grpId="0"/>
      <p:bldP spid="64002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81634" name="Rectangle 2"/>
          <p:cNvSpPr/>
          <p:nvPr/>
        </p:nvSpPr>
        <p:spPr>
          <a:xfrm>
            <a:off x="685800" y="914400"/>
            <a:ext cx="83058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9900"/>
                </a:solidFill>
                <a:ea typeface="楷体_GB2312" pitchFamily="49" charset="-122"/>
              </a:rPr>
              <a:t>(1) </a:t>
            </a:r>
            <a:r>
              <a:rPr lang="zh-CN" altLang="en-US" sz="2400" b="1" dirty="0">
                <a:solidFill>
                  <a:srgbClr val="009900"/>
                </a:solidFill>
                <a:ea typeface="楷体_GB2312" pitchFamily="49" charset="-122"/>
              </a:rPr>
              <a:t>释放区与前空闲区相邻：</a:t>
            </a:r>
            <a:r>
              <a:rPr lang="zh-CN" altLang="en-US" sz="2400" b="1" dirty="0">
                <a:solidFill>
                  <a:srgbClr val="000099"/>
                </a:solidFill>
                <a:ea typeface="楷体_GB2312" pitchFamily="49" charset="-122"/>
              </a:rPr>
              <a:t>如图所示。对这种情况是将释放区与前空闲区合并为一个空闲区，其首址仍为前空闲区首址，大小为释放区大小与空闲区大小之和。</a:t>
            </a:r>
            <a:endParaRPr lang="zh-CN" altLang="en-US" sz="2400" b="1" dirty="0">
              <a:solidFill>
                <a:srgbClr val="000099"/>
              </a:solidFill>
              <a:ea typeface="楷体_GB2312" pitchFamily="49" charset="-122"/>
            </a:endParaRPr>
          </a:p>
        </p:txBody>
      </p:sp>
      <p:grpSp>
        <p:nvGrpSpPr>
          <p:cNvPr id="581642" name="Group 10"/>
          <p:cNvGrpSpPr/>
          <p:nvPr/>
        </p:nvGrpSpPr>
        <p:grpSpPr>
          <a:xfrm>
            <a:off x="914400" y="2743200"/>
            <a:ext cx="1524000" cy="2819400"/>
            <a:chOff x="960" y="1824"/>
            <a:chExt cx="960" cy="1680"/>
          </a:xfrm>
        </p:grpSpPr>
        <p:sp>
          <p:nvSpPr>
            <p:cNvPr id="59399" name="Rectangle 6"/>
            <p:cNvSpPr/>
            <p:nvPr/>
          </p:nvSpPr>
          <p:spPr>
            <a:xfrm>
              <a:off x="960" y="1824"/>
              <a:ext cx="960" cy="1680"/>
            </a:xfrm>
            <a:prstGeom prst="rect">
              <a:avLst/>
            </a:prstGeom>
            <a:solidFill>
              <a:schemeClr val="bg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H</a:t>
              </a:r>
              <a:endParaRPr lang="en-US" altLang="zh-CN" sz="2400" b="1" dirty="0">
                <a:solidFill>
                  <a:srgbClr val="000099"/>
                </a:solidFill>
                <a:latin typeface="楷体_GB2312" pitchFamily="49" charset="-122"/>
                <a:ea typeface="楷体_GB2312" pitchFamily="49" charset="-122"/>
              </a:endParaRPr>
            </a:p>
            <a:p>
              <a:pPr marL="0" lvl="0" indent="0" algn="ctr" eaLnBrk="1" hangingPunct="1">
                <a:spcBef>
                  <a:spcPct val="0"/>
                </a:spcBef>
                <a:buClrTx/>
                <a:buSzTx/>
                <a:buFontTx/>
                <a:buNone/>
              </a:pPr>
              <a:endParaRPr lang="en-US" altLang="zh-CN" sz="2400" dirty="0">
                <a:ea typeface="楷体_GB2312" pitchFamily="49" charset="-122"/>
              </a:endParaRPr>
            </a:p>
            <a:p>
              <a:pPr marL="0" lvl="0" indent="0" algn="ctr" eaLnBrk="1" hangingPunct="1">
                <a:spcBef>
                  <a:spcPct val="0"/>
                </a:spcBef>
                <a:buClrTx/>
                <a:buSzTx/>
                <a:buFontTx/>
                <a:buNone/>
              </a:pPr>
              <a:endParaRPr lang="en-US" altLang="zh-CN" sz="2400" dirty="0">
                <a:ea typeface="楷体_GB2312" pitchFamily="49" charset="-122"/>
              </a:endParaRPr>
            </a:p>
            <a:p>
              <a:pPr marL="0" lvl="0" indent="0" algn="ctr" eaLnBrk="1" hangingPunct="1">
                <a:spcBef>
                  <a:spcPct val="0"/>
                </a:spcBef>
                <a:buClrTx/>
                <a:buSzTx/>
                <a:buFontTx/>
                <a:buNone/>
              </a:pPr>
              <a:endParaRPr lang="en-US" altLang="zh-CN" sz="2400" dirty="0">
                <a:ea typeface="楷体_GB2312" pitchFamily="49" charset="-122"/>
              </a:endParaRPr>
            </a:p>
            <a:p>
              <a:pPr marL="0" lvl="0" indent="0" algn="ctr" eaLnBrk="1" hangingPunct="1">
                <a:spcBef>
                  <a:spcPct val="0"/>
                </a:spcBef>
                <a:buClrTx/>
                <a:buSzTx/>
                <a:buFontTx/>
                <a:buNone/>
              </a:pPr>
              <a:r>
                <a:rPr lang="zh-CN" altLang="en-US" sz="2400" b="1" dirty="0">
                  <a:solidFill>
                    <a:srgbClr val="000099"/>
                  </a:solidFill>
                  <a:ea typeface="楷体_GB2312" pitchFamily="49" charset="-122"/>
                </a:rPr>
                <a:t>占用区</a:t>
              </a:r>
              <a:endParaRPr lang="zh-CN" altLang="en-US" sz="2400" b="1" dirty="0">
                <a:solidFill>
                  <a:srgbClr val="000099"/>
                </a:solidFill>
                <a:ea typeface="楷体_GB2312" pitchFamily="49" charset="-122"/>
              </a:endParaRPr>
            </a:p>
          </p:txBody>
        </p:sp>
        <p:sp>
          <p:nvSpPr>
            <p:cNvPr id="59400" name="Rectangle 9"/>
            <p:cNvSpPr/>
            <p:nvPr/>
          </p:nvSpPr>
          <p:spPr>
            <a:xfrm>
              <a:off x="960" y="2448"/>
              <a:ext cx="960" cy="480"/>
            </a:xfrm>
            <a:prstGeom prst="rect">
              <a:avLst/>
            </a:prstGeom>
            <a:solidFill>
              <a:schemeClr val="accent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I</a:t>
              </a:r>
              <a:endParaRPr lang="en-US" altLang="zh-CN" sz="2400" b="1" dirty="0">
                <a:solidFill>
                  <a:srgbClr val="000099"/>
                </a:solidFill>
                <a:latin typeface="楷体_GB2312" pitchFamily="49" charset="-122"/>
                <a:ea typeface="楷体_GB2312" pitchFamily="49" charset="-122"/>
              </a:endParaRPr>
            </a:p>
          </p:txBody>
        </p:sp>
      </p:grpSp>
      <p:sp>
        <p:nvSpPr>
          <p:cNvPr id="581643" name="Rectangle 11"/>
          <p:cNvSpPr/>
          <p:nvPr/>
        </p:nvSpPr>
        <p:spPr>
          <a:xfrm>
            <a:off x="2819400" y="2514600"/>
            <a:ext cx="5791200" cy="162560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40000"/>
              </a:lnSpc>
              <a:spcBef>
                <a:spcPct val="0"/>
              </a:spcBef>
              <a:buClrTx/>
              <a:buSzTx/>
              <a:buFontTx/>
              <a:buNone/>
            </a:pPr>
            <a:r>
              <a:rPr lang="zh-CN" altLang="en-US" sz="2400" b="1" dirty="0">
                <a:solidFill>
                  <a:srgbClr val="006600"/>
                </a:solidFill>
                <a:ea typeface="楷体_GB2312" pitchFamily="49" charset="-122"/>
              </a:rPr>
              <a:t>判断相邻空闲区：</a:t>
            </a:r>
            <a:endParaRPr lang="zh-CN" altLang="en-US" sz="2400" b="1" dirty="0">
              <a:solidFill>
                <a:srgbClr val="006600"/>
              </a:solidFill>
              <a:ea typeface="楷体_GB2312" pitchFamily="49" charset="-122"/>
            </a:endParaRPr>
          </a:p>
          <a:p>
            <a:pPr marL="0" lvl="0" indent="0" eaLnBrk="1" hangingPunct="1">
              <a:lnSpc>
                <a:spcPct val="140000"/>
              </a:lnSpc>
              <a:spcBef>
                <a:spcPct val="0"/>
              </a:spcBef>
              <a:buClrTx/>
              <a:buSzTx/>
              <a:buFontTx/>
              <a:buNone/>
            </a:pPr>
            <a:r>
              <a:rPr lang="en-US" altLang="zh-CN" sz="2400" b="1" dirty="0">
                <a:solidFill>
                  <a:srgbClr val="000099"/>
                </a:solidFill>
                <a:ea typeface="楷体_GB2312" pitchFamily="49" charset="-122"/>
              </a:rPr>
              <a:t>addr(I) = addr(H) + size(H)</a:t>
            </a:r>
            <a:endParaRPr lang="en-US" altLang="zh-CN" sz="2400" b="1" dirty="0">
              <a:solidFill>
                <a:srgbClr val="000099"/>
              </a:solidFill>
              <a:ea typeface="楷体_GB2312" pitchFamily="49" charset="-122"/>
            </a:endParaRPr>
          </a:p>
          <a:p>
            <a:pPr marL="0" lvl="0" indent="0" eaLnBrk="1" hangingPunct="1">
              <a:lnSpc>
                <a:spcPct val="140000"/>
              </a:lnSpc>
              <a:spcBef>
                <a:spcPct val="0"/>
              </a:spcBef>
              <a:buClrTx/>
              <a:buSzTx/>
              <a:buFontTx/>
              <a:buNone/>
            </a:pPr>
            <a:r>
              <a:rPr lang="zh-CN" altLang="en-US" sz="2400" b="1" dirty="0">
                <a:solidFill>
                  <a:srgbClr val="000099"/>
                </a:solidFill>
                <a:ea typeface="楷体_GB2312" pitchFamily="49" charset="-122"/>
              </a:rPr>
              <a:t>则前邻为空闲区：</a:t>
            </a:r>
            <a:endParaRPr lang="zh-CN" altLang="en-US" sz="2400" b="1" dirty="0">
              <a:solidFill>
                <a:srgbClr val="000099"/>
              </a:solidFill>
              <a:ea typeface="楷体_GB2312" pitchFamily="49" charset="-122"/>
            </a:endParaRPr>
          </a:p>
        </p:txBody>
      </p:sp>
      <p:sp>
        <p:nvSpPr>
          <p:cNvPr id="581644" name="Rectangle 12"/>
          <p:cNvSpPr/>
          <p:nvPr/>
        </p:nvSpPr>
        <p:spPr>
          <a:xfrm>
            <a:off x="2819400" y="4191000"/>
            <a:ext cx="5791200" cy="2136775"/>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40000"/>
              </a:lnSpc>
              <a:spcBef>
                <a:spcPct val="0"/>
              </a:spcBef>
              <a:buClrTx/>
              <a:buSzTx/>
              <a:buFontTx/>
              <a:buNone/>
            </a:pPr>
            <a:r>
              <a:rPr lang="zh-CN" altLang="en-US" sz="2400" b="1" dirty="0">
                <a:solidFill>
                  <a:srgbClr val="006600"/>
                </a:solidFill>
                <a:ea typeface="楷体_GB2312" pitchFamily="49" charset="-122"/>
              </a:rPr>
              <a:t>释放区与空闲区的拼接：</a:t>
            </a:r>
            <a:endParaRPr lang="zh-CN" altLang="en-US" sz="2400" b="1" dirty="0">
              <a:solidFill>
                <a:srgbClr val="006600"/>
              </a:solidFill>
              <a:ea typeface="楷体_GB2312" pitchFamily="49" charset="-122"/>
            </a:endParaRPr>
          </a:p>
          <a:p>
            <a:pPr marL="0" lvl="0" indent="0" eaLnBrk="1" hangingPunct="1">
              <a:lnSpc>
                <a:spcPct val="14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addr = addr(H)  </a:t>
            </a:r>
            <a:endParaRPr lang="en-US" altLang="zh-CN" sz="2400" b="1" dirty="0">
              <a:solidFill>
                <a:srgbClr val="000099"/>
              </a:solidFill>
              <a:ea typeface="楷体_GB2312" pitchFamily="49" charset="-122"/>
            </a:endParaRPr>
          </a:p>
          <a:p>
            <a:pPr marL="0" lvl="0" indent="0" eaLnBrk="1" hangingPunct="1">
              <a:lnSpc>
                <a:spcPct val="140000"/>
              </a:lnSpc>
              <a:spcBef>
                <a:spcPct val="0"/>
              </a:spcBef>
              <a:buClrTx/>
              <a:buSzTx/>
              <a:buFontTx/>
              <a:buNone/>
            </a:pPr>
            <a:r>
              <a:rPr lang="en-US" altLang="zh-CN" sz="2400" b="1" dirty="0">
                <a:solidFill>
                  <a:srgbClr val="000099"/>
                </a:solidFill>
                <a:ea typeface="楷体_GB2312" pitchFamily="49" charset="-122"/>
              </a:rPr>
              <a:t> </a:t>
            </a:r>
            <a:r>
              <a:rPr lang="en-US" altLang="zh-CN" sz="2400" b="1" dirty="0">
                <a:solidFill>
                  <a:srgbClr val="9900CC"/>
                </a:solidFill>
                <a:ea typeface="楷体_GB2312" pitchFamily="49" charset="-122"/>
              </a:rPr>
              <a:t>size</a:t>
            </a:r>
            <a:r>
              <a:rPr lang="en-US" altLang="zh-CN" sz="2400" b="1" dirty="0">
                <a:solidFill>
                  <a:srgbClr val="000099"/>
                </a:solidFill>
                <a:ea typeface="楷体_GB2312" pitchFamily="49" charset="-122"/>
              </a:rPr>
              <a:t> = size(H) </a:t>
            </a:r>
            <a:r>
              <a:rPr lang="en-US" altLang="zh-CN" sz="2400" b="1" dirty="0">
                <a:solidFill>
                  <a:srgbClr val="9900CC"/>
                </a:solidFill>
                <a:ea typeface="楷体_GB2312" pitchFamily="49" charset="-122"/>
              </a:rPr>
              <a:t>+ size(I)</a:t>
            </a: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a:t>
            </a:r>
            <a:r>
              <a:rPr lang="zh-CN" altLang="en-US" sz="2400" b="1" dirty="0">
                <a:solidFill>
                  <a:srgbClr val="9900CC"/>
                </a:solidFill>
                <a:ea typeface="楷体_GB2312" pitchFamily="49" charset="-122"/>
              </a:rPr>
              <a:t>修改</a:t>
            </a:r>
            <a:r>
              <a:rPr lang="en-US" altLang="zh-CN" sz="2400" b="1" dirty="0">
                <a:solidFill>
                  <a:srgbClr val="9900CC"/>
                </a:solidFill>
                <a:ea typeface="楷体_GB2312" pitchFamily="49" charset="-122"/>
              </a:rPr>
              <a:t>H</a:t>
            </a:r>
            <a:r>
              <a:rPr lang="zh-CN" altLang="en-US" sz="2400" b="1" dirty="0">
                <a:solidFill>
                  <a:srgbClr val="9900CC"/>
                </a:solidFill>
                <a:ea typeface="楷体_GB2312" pitchFamily="49" charset="-122"/>
              </a:rPr>
              <a:t>的登记项</a:t>
            </a:r>
            <a:r>
              <a:rPr lang="zh-CN" altLang="en-US" sz="2400" b="1" dirty="0">
                <a:solidFill>
                  <a:srgbClr val="000099"/>
                </a:solidFill>
                <a:ea typeface="楷体_GB2312" pitchFamily="49" charset="-122"/>
              </a:rPr>
              <a:t>）</a:t>
            </a:r>
            <a:endParaRPr lang="zh-CN" altLang="en-US" sz="2400" b="1" dirty="0">
              <a:solidFill>
                <a:srgbClr val="000099"/>
              </a:solidFill>
              <a:ea typeface="楷体_GB2312" pitchFamily="49" charset="-122"/>
            </a:endParaRPr>
          </a:p>
          <a:p>
            <a:pPr marL="0" lvl="0" indent="0" eaLnBrk="1" hangingPunct="1">
              <a:lnSpc>
                <a:spcPct val="140000"/>
              </a:lnSpc>
              <a:spcBef>
                <a:spcPct val="0"/>
              </a:spcBef>
              <a:buClrTx/>
              <a:buSzTx/>
              <a:buFontTx/>
              <a:buNone/>
            </a:pPr>
            <a:endParaRPr lang="en-US" altLang="zh-CN" sz="2400" b="1"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81634"/>
                                        </p:tgtEl>
                                        <p:attrNameLst>
                                          <p:attrName>style.visibility</p:attrName>
                                        </p:attrNameLst>
                                      </p:cBhvr>
                                      <p:to>
                                        <p:strVal val="visible"/>
                                      </p:to>
                                    </p:set>
                                    <p:anim calcmode="lin" valueType="num">
                                      <p:cBhvr additive="base">
                                        <p:cTn id="7" dur="500" fill="hold"/>
                                        <p:tgtEl>
                                          <p:spTgt spid="581634"/>
                                        </p:tgtEl>
                                        <p:attrNameLst>
                                          <p:attrName>ppt_x</p:attrName>
                                        </p:attrNameLst>
                                      </p:cBhvr>
                                      <p:tavLst>
                                        <p:tav tm="0">
                                          <p:val>
                                            <p:strVal val="0-#ppt_w/2"/>
                                          </p:val>
                                        </p:tav>
                                        <p:tav tm="100000">
                                          <p:val>
                                            <p:strVal val="#ppt_x"/>
                                          </p:val>
                                        </p:tav>
                                      </p:tavLst>
                                    </p:anim>
                                    <p:anim calcmode="lin" valueType="num">
                                      <p:cBhvr additive="base">
                                        <p:cTn id="8" dur="500" fill="hold"/>
                                        <p:tgtEl>
                                          <p:spTgt spid="5816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581642"/>
                                        </p:tgtEl>
                                        <p:attrNameLst>
                                          <p:attrName>style.visibility</p:attrName>
                                        </p:attrNameLst>
                                      </p:cBhvr>
                                      <p:to>
                                        <p:strVal val="visible"/>
                                      </p:to>
                                    </p:set>
                                    <p:animEffect transition="in" filter="wipe(up)">
                                      <p:cBhvr>
                                        <p:cTn id="13" dur="500"/>
                                        <p:tgtEl>
                                          <p:spTgt spid="581642"/>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8" fill="hold" nodeType="clickEffect">
                                  <p:stCondLst>
                                    <p:cond delay="0"/>
                                  </p:stCondLst>
                                  <p:childTnLst>
                                    <p:set>
                                      <p:cBhvr>
                                        <p:cTn id="17" dur="1" fill="hold">
                                          <p:stCondLst>
                                            <p:cond delay="0"/>
                                          </p:stCondLst>
                                        </p:cTn>
                                        <p:tgtEl>
                                          <p:spTgt spid="581643"/>
                                        </p:tgtEl>
                                        <p:attrNameLst>
                                          <p:attrName>style.visibility</p:attrName>
                                        </p:attrNameLst>
                                      </p:cBhvr>
                                      <p:to>
                                        <p:strVal val="visible"/>
                                      </p:to>
                                    </p:set>
                                    <p:anim calcmode="lin" valueType="num">
                                      <p:cBhvr>
                                        <p:cTn id="18" dur="500" fill="hold"/>
                                        <p:tgtEl>
                                          <p:spTgt spid="581643"/>
                                        </p:tgtEl>
                                        <p:attrNameLst>
                                          <p:attrName>ppt_x</p:attrName>
                                        </p:attrNameLst>
                                      </p:cBhvr>
                                      <p:tavLst>
                                        <p:tav tm="0">
                                          <p:val>
                                            <p:strVal val="#ppt_x-#ppt_w/2"/>
                                          </p:val>
                                        </p:tav>
                                        <p:tav tm="100000">
                                          <p:val>
                                            <p:strVal val="#ppt_x"/>
                                          </p:val>
                                        </p:tav>
                                      </p:tavLst>
                                    </p:anim>
                                    <p:anim calcmode="lin" valueType="num">
                                      <p:cBhvr>
                                        <p:cTn id="19" dur="500" fill="hold"/>
                                        <p:tgtEl>
                                          <p:spTgt spid="581643"/>
                                        </p:tgtEl>
                                        <p:attrNameLst>
                                          <p:attrName>ppt_y</p:attrName>
                                        </p:attrNameLst>
                                      </p:cBhvr>
                                      <p:tavLst>
                                        <p:tav tm="0">
                                          <p:val>
                                            <p:strVal val="#ppt_y"/>
                                          </p:val>
                                        </p:tav>
                                        <p:tav tm="100000">
                                          <p:val>
                                            <p:strVal val="#ppt_y"/>
                                          </p:val>
                                        </p:tav>
                                      </p:tavLst>
                                    </p:anim>
                                    <p:anim calcmode="lin" valueType="num">
                                      <p:cBhvr>
                                        <p:cTn id="20" dur="500" fill="hold"/>
                                        <p:tgtEl>
                                          <p:spTgt spid="581643"/>
                                        </p:tgtEl>
                                        <p:attrNameLst>
                                          <p:attrName>ppt_w</p:attrName>
                                        </p:attrNameLst>
                                      </p:cBhvr>
                                      <p:tavLst>
                                        <p:tav tm="0">
                                          <p:val>
                                            <p:fltVal val="0.000000"/>
                                          </p:val>
                                        </p:tav>
                                        <p:tav tm="100000">
                                          <p:val>
                                            <p:strVal val="#ppt_w"/>
                                          </p:val>
                                        </p:tav>
                                      </p:tavLst>
                                    </p:anim>
                                    <p:anim calcmode="lin" valueType="num">
                                      <p:cBhvr>
                                        <p:cTn id="21" dur="500" fill="hold"/>
                                        <p:tgtEl>
                                          <p:spTgt spid="581643"/>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7" presetClass="entr" presetSubtype="8" fill="hold" nodeType="clickEffect">
                                  <p:stCondLst>
                                    <p:cond delay="0"/>
                                  </p:stCondLst>
                                  <p:childTnLst>
                                    <p:set>
                                      <p:cBhvr>
                                        <p:cTn id="25" dur="1" fill="hold">
                                          <p:stCondLst>
                                            <p:cond delay="0"/>
                                          </p:stCondLst>
                                        </p:cTn>
                                        <p:tgtEl>
                                          <p:spTgt spid="581644"/>
                                        </p:tgtEl>
                                        <p:attrNameLst>
                                          <p:attrName>style.visibility</p:attrName>
                                        </p:attrNameLst>
                                      </p:cBhvr>
                                      <p:to>
                                        <p:strVal val="visible"/>
                                      </p:to>
                                    </p:set>
                                    <p:anim calcmode="lin" valueType="num">
                                      <p:cBhvr>
                                        <p:cTn id="26" dur="500" fill="hold"/>
                                        <p:tgtEl>
                                          <p:spTgt spid="581644"/>
                                        </p:tgtEl>
                                        <p:attrNameLst>
                                          <p:attrName>ppt_x</p:attrName>
                                        </p:attrNameLst>
                                      </p:cBhvr>
                                      <p:tavLst>
                                        <p:tav tm="0">
                                          <p:val>
                                            <p:strVal val="#ppt_x-#ppt_w/2"/>
                                          </p:val>
                                        </p:tav>
                                        <p:tav tm="100000">
                                          <p:val>
                                            <p:strVal val="#ppt_x"/>
                                          </p:val>
                                        </p:tav>
                                      </p:tavLst>
                                    </p:anim>
                                    <p:anim calcmode="lin" valueType="num">
                                      <p:cBhvr>
                                        <p:cTn id="27" dur="500" fill="hold"/>
                                        <p:tgtEl>
                                          <p:spTgt spid="581644"/>
                                        </p:tgtEl>
                                        <p:attrNameLst>
                                          <p:attrName>ppt_y</p:attrName>
                                        </p:attrNameLst>
                                      </p:cBhvr>
                                      <p:tavLst>
                                        <p:tav tm="0">
                                          <p:val>
                                            <p:strVal val="#ppt_y"/>
                                          </p:val>
                                        </p:tav>
                                        <p:tav tm="100000">
                                          <p:val>
                                            <p:strVal val="#ppt_y"/>
                                          </p:val>
                                        </p:tav>
                                      </p:tavLst>
                                    </p:anim>
                                    <p:anim calcmode="lin" valueType="num">
                                      <p:cBhvr>
                                        <p:cTn id="28" dur="500" fill="hold"/>
                                        <p:tgtEl>
                                          <p:spTgt spid="581644"/>
                                        </p:tgtEl>
                                        <p:attrNameLst>
                                          <p:attrName>ppt_w</p:attrName>
                                        </p:attrNameLst>
                                      </p:cBhvr>
                                      <p:tavLst>
                                        <p:tav tm="0">
                                          <p:val>
                                            <p:fltVal val="0.000000"/>
                                          </p:val>
                                        </p:tav>
                                        <p:tav tm="100000">
                                          <p:val>
                                            <p:strVal val="#ppt_w"/>
                                          </p:val>
                                        </p:tav>
                                      </p:tavLst>
                                    </p:anim>
                                    <p:anim calcmode="lin" valueType="num">
                                      <p:cBhvr>
                                        <p:cTn id="29" dur="500" fill="hold"/>
                                        <p:tgtEl>
                                          <p:spTgt spid="58164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4" grpId="0"/>
      <p:bldP spid="581643" grpId="0"/>
      <p:bldP spid="58164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42054" name="Rectangle 6"/>
          <p:cNvSpPr/>
          <p:nvPr/>
        </p:nvSpPr>
        <p:spPr>
          <a:xfrm>
            <a:off x="2819400" y="2514600"/>
            <a:ext cx="5791200" cy="162560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40000"/>
              </a:lnSpc>
              <a:spcBef>
                <a:spcPct val="0"/>
              </a:spcBef>
              <a:buClrTx/>
              <a:buSzTx/>
              <a:buFontTx/>
              <a:buNone/>
            </a:pPr>
            <a:r>
              <a:rPr lang="zh-CN" altLang="en-US" sz="2400" b="1" dirty="0">
                <a:solidFill>
                  <a:srgbClr val="006600"/>
                </a:solidFill>
                <a:ea typeface="楷体_GB2312" pitchFamily="49" charset="-122"/>
              </a:rPr>
              <a:t>判断相邻空闲区：</a:t>
            </a:r>
            <a:endParaRPr lang="zh-CN" altLang="en-US" sz="2400" b="1" dirty="0">
              <a:solidFill>
                <a:srgbClr val="006600"/>
              </a:solidFill>
              <a:ea typeface="楷体_GB2312" pitchFamily="49" charset="-122"/>
            </a:endParaRPr>
          </a:p>
          <a:p>
            <a:pPr marL="0" lvl="0" indent="0" eaLnBrk="1" hangingPunct="1">
              <a:lnSpc>
                <a:spcPct val="14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addr(T) = addr(I) + size(I)</a:t>
            </a:r>
            <a:endParaRPr lang="en-US" altLang="zh-CN" sz="2400" b="1" dirty="0">
              <a:solidFill>
                <a:srgbClr val="000099"/>
              </a:solidFill>
              <a:ea typeface="楷体_GB2312" pitchFamily="49" charset="-122"/>
            </a:endParaRPr>
          </a:p>
          <a:p>
            <a:pPr marL="0" lvl="0" indent="0" eaLnBrk="1" hangingPunct="1">
              <a:lnSpc>
                <a:spcPct val="140000"/>
              </a:lnSpc>
              <a:spcBef>
                <a:spcPct val="0"/>
              </a:spcBef>
              <a:buClrTx/>
              <a:buSzTx/>
              <a:buFontTx/>
              <a:buNone/>
            </a:pPr>
            <a:r>
              <a:rPr lang="zh-CN" altLang="en-US" sz="2400" b="1" dirty="0">
                <a:solidFill>
                  <a:srgbClr val="000099"/>
                </a:solidFill>
                <a:ea typeface="楷体_GB2312" pitchFamily="49" charset="-122"/>
              </a:rPr>
              <a:t>则后邻为空闲区：</a:t>
            </a:r>
            <a:endParaRPr lang="zh-CN" altLang="en-US" sz="2400" b="1" dirty="0">
              <a:solidFill>
                <a:srgbClr val="000099"/>
              </a:solidFill>
              <a:ea typeface="楷体_GB2312" pitchFamily="49" charset="-122"/>
            </a:endParaRPr>
          </a:p>
        </p:txBody>
      </p:sp>
      <p:sp>
        <p:nvSpPr>
          <p:cNvPr id="642055" name="Rectangle 7"/>
          <p:cNvSpPr/>
          <p:nvPr/>
        </p:nvSpPr>
        <p:spPr>
          <a:xfrm>
            <a:off x="2819400" y="4191000"/>
            <a:ext cx="5791200" cy="2136775"/>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40000"/>
              </a:lnSpc>
              <a:spcBef>
                <a:spcPct val="0"/>
              </a:spcBef>
              <a:buClrTx/>
              <a:buSzTx/>
              <a:buFontTx/>
              <a:buNone/>
            </a:pPr>
            <a:r>
              <a:rPr lang="zh-CN" altLang="en-US" sz="2400" b="1" dirty="0">
                <a:solidFill>
                  <a:srgbClr val="006600"/>
                </a:solidFill>
                <a:ea typeface="楷体_GB2312" pitchFamily="49" charset="-122"/>
              </a:rPr>
              <a:t>释放区与空闲区的拼接：</a:t>
            </a:r>
            <a:endParaRPr lang="zh-CN" altLang="en-US" sz="2400" b="1" dirty="0">
              <a:solidFill>
                <a:srgbClr val="006600"/>
              </a:solidFill>
              <a:ea typeface="楷体_GB2312" pitchFamily="49" charset="-122"/>
            </a:endParaRPr>
          </a:p>
          <a:p>
            <a:pPr marL="0" lvl="0" indent="0" eaLnBrk="1" hangingPunct="1">
              <a:lnSpc>
                <a:spcPct val="14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9900CC"/>
                </a:solidFill>
                <a:ea typeface="楷体_GB2312" pitchFamily="49" charset="-122"/>
              </a:rPr>
              <a:t>addr </a:t>
            </a:r>
            <a:r>
              <a:rPr lang="en-US" altLang="zh-CN" sz="2400" b="1" dirty="0">
                <a:solidFill>
                  <a:srgbClr val="000099"/>
                </a:solidFill>
                <a:ea typeface="楷体_GB2312" pitchFamily="49" charset="-122"/>
              </a:rPr>
              <a:t>= </a:t>
            </a:r>
            <a:r>
              <a:rPr lang="en-US" altLang="zh-CN" sz="2400" b="1" dirty="0">
                <a:solidFill>
                  <a:srgbClr val="9900CC"/>
                </a:solidFill>
                <a:ea typeface="楷体_GB2312" pitchFamily="49" charset="-122"/>
              </a:rPr>
              <a:t>addr(I)</a:t>
            </a:r>
            <a:r>
              <a:rPr lang="en-US" altLang="zh-CN" sz="2400" b="1" dirty="0">
                <a:solidFill>
                  <a:srgbClr val="000099"/>
                </a:solidFill>
                <a:ea typeface="楷体_GB2312" pitchFamily="49" charset="-122"/>
              </a:rPr>
              <a:t>  </a:t>
            </a:r>
            <a:endParaRPr lang="en-US" altLang="zh-CN" sz="2400" b="1" dirty="0">
              <a:solidFill>
                <a:srgbClr val="000099"/>
              </a:solidFill>
              <a:ea typeface="楷体_GB2312" pitchFamily="49" charset="-122"/>
            </a:endParaRPr>
          </a:p>
          <a:p>
            <a:pPr marL="0" lvl="0" indent="0" eaLnBrk="1" hangingPunct="1">
              <a:lnSpc>
                <a:spcPct val="140000"/>
              </a:lnSpc>
              <a:spcBef>
                <a:spcPct val="0"/>
              </a:spcBef>
              <a:buClrTx/>
              <a:buSzTx/>
              <a:buFontTx/>
              <a:buNone/>
            </a:pPr>
            <a:r>
              <a:rPr lang="en-US" altLang="zh-CN" sz="2400" b="1" dirty="0">
                <a:solidFill>
                  <a:srgbClr val="000099"/>
                </a:solidFill>
                <a:ea typeface="楷体_GB2312" pitchFamily="49" charset="-122"/>
              </a:rPr>
              <a:t> </a:t>
            </a:r>
            <a:r>
              <a:rPr lang="en-US" altLang="zh-CN" sz="2400" b="1" dirty="0">
                <a:solidFill>
                  <a:srgbClr val="9900CC"/>
                </a:solidFill>
                <a:ea typeface="楷体_GB2312" pitchFamily="49" charset="-122"/>
              </a:rPr>
              <a:t>size</a:t>
            </a:r>
            <a:r>
              <a:rPr lang="en-US" altLang="zh-CN" sz="2400" b="1" dirty="0">
                <a:solidFill>
                  <a:srgbClr val="000099"/>
                </a:solidFill>
                <a:ea typeface="楷体_GB2312" pitchFamily="49" charset="-122"/>
              </a:rPr>
              <a:t> = size(T) </a:t>
            </a:r>
            <a:r>
              <a:rPr lang="en-US" altLang="zh-CN" sz="2400" b="1" dirty="0">
                <a:solidFill>
                  <a:srgbClr val="9900CC"/>
                </a:solidFill>
                <a:ea typeface="楷体_GB2312" pitchFamily="49" charset="-122"/>
              </a:rPr>
              <a:t>+ size(I)</a:t>
            </a: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a:t>
            </a:r>
            <a:r>
              <a:rPr lang="zh-CN" altLang="en-US" sz="2400" b="1" dirty="0">
                <a:solidFill>
                  <a:srgbClr val="9900CC"/>
                </a:solidFill>
                <a:ea typeface="楷体_GB2312" pitchFamily="49" charset="-122"/>
              </a:rPr>
              <a:t>修改</a:t>
            </a:r>
            <a:r>
              <a:rPr lang="en-US" altLang="zh-CN" sz="2400" b="1" dirty="0">
                <a:solidFill>
                  <a:srgbClr val="9900CC"/>
                </a:solidFill>
                <a:ea typeface="楷体_GB2312" pitchFamily="49" charset="-122"/>
              </a:rPr>
              <a:t>T</a:t>
            </a:r>
            <a:r>
              <a:rPr lang="zh-CN" altLang="en-US" sz="2400" b="1" dirty="0">
                <a:solidFill>
                  <a:srgbClr val="9900CC"/>
                </a:solidFill>
                <a:ea typeface="楷体_GB2312" pitchFamily="49" charset="-122"/>
              </a:rPr>
              <a:t>的登记项</a:t>
            </a:r>
            <a:r>
              <a:rPr lang="zh-CN" altLang="en-US" sz="2400" b="1" dirty="0">
                <a:solidFill>
                  <a:srgbClr val="000099"/>
                </a:solidFill>
                <a:ea typeface="楷体_GB2312" pitchFamily="49" charset="-122"/>
              </a:rPr>
              <a:t>）</a:t>
            </a:r>
            <a:endParaRPr lang="zh-CN" altLang="en-US" sz="2400" b="1" dirty="0">
              <a:solidFill>
                <a:srgbClr val="000099"/>
              </a:solidFill>
              <a:ea typeface="楷体_GB2312" pitchFamily="49" charset="-122"/>
            </a:endParaRPr>
          </a:p>
          <a:p>
            <a:pPr marL="0" lvl="0" indent="0" eaLnBrk="1" hangingPunct="1">
              <a:lnSpc>
                <a:spcPct val="140000"/>
              </a:lnSpc>
              <a:spcBef>
                <a:spcPct val="0"/>
              </a:spcBef>
              <a:buClrTx/>
              <a:buSzTx/>
              <a:buFontTx/>
              <a:buNone/>
            </a:pPr>
            <a:endParaRPr lang="en-US" altLang="zh-CN" sz="2400" b="1" dirty="0">
              <a:ea typeface="楷体_GB2312" pitchFamily="49" charset="-122"/>
            </a:endParaRPr>
          </a:p>
        </p:txBody>
      </p:sp>
      <p:sp>
        <p:nvSpPr>
          <p:cNvPr id="642056" name="Rectangle 8"/>
          <p:cNvSpPr/>
          <p:nvPr/>
        </p:nvSpPr>
        <p:spPr>
          <a:xfrm>
            <a:off x="609600" y="1066800"/>
            <a:ext cx="83058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9900"/>
                </a:solidFill>
                <a:ea typeface="楷体_GB2312" pitchFamily="49" charset="-122"/>
              </a:rPr>
              <a:t> (2) </a:t>
            </a:r>
            <a:r>
              <a:rPr lang="zh-CN" altLang="en-US" sz="2400" b="1" dirty="0">
                <a:solidFill>
                  <a:srgbClr val="009900"/>
                </a:solidFill>
                <a:ea typeface="楷体_GB2312" pitchFamily="49" charset="-122"/>
              </a:rPr>
              <a:t>释放区与后空闲区相邻：</a:t>
            </a:r>
            <a:r>
              <a:rPr lang="zh-CN" altLang="en-US" sz="2400" b="1" dirty="0">
                <a:solidFill>
                  <a:srgbClr val="000099"/>
                </a:solidFill>
                <a:ea typeface="楷体_GB2312" pitchFamily="49" charset="-122"/>
              </a:rPr>
              <a:t>如图所示。对这种情况是把释放区合并到后空闲区，首地址为释放区首地址，大小为二者大小之和。</a:t>
            </a:r>
            <a:endParaRPr lang="zh-CN" altLang="en-US" sz="2400" b="1" dirty="0">
              <a:solidFill>
                <a:srgbClr val="000099"/>
              </a:solidFill>
              <a:ea typeface="楷体_GB2312" pitchFamily="49" charset="-122"/>
            </a:endParaRPr>
          </a:p>
        </p:txBody>
      </p:sp>
      <p:grpSp>
        <p:nvGrpSpPr>
          <p:cNvPr id="642057" name="Group 9"/>
          <p:cNvGrpSpPr/>
          <p:nvPr/>
        </p:nvGrpSpPr>
        <p:grpSpPr>
          <a:xfrm>
            <a:off x="990600" y="2819400"/>
            <a:ext cx="1524000" cy="2895600"/>
            <a:chOff x="960" y="1824"/>
            <a:chExt cx="960" cy="1680"/>
          </a:xfrm>
        </p:grpSpPr>
        <p:sp>
          <p:nvSpPr>
            <p:cNvPr id="60423" name="Rectangle 10"/>
            <p:cNvSpPr/>
            <p:nvPr/>
          </p:nvSpPr>
          <p:spPr>
            <a:xfrm>
              <a:off x="960" y="1824"/>
              <a:ext cx="960" cy="1680"/>
            </a:xfrm>
            <a:prstGeom prst="rect">
              <a:avLst/>
            </a:prstGeom>
            <a:solidFill>
              <a:schemeClr val="bg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ea typeface="楷体_GB2312" pitchFamily="49" charset="-122"/>
                </a:rPr>
                <a:t>占用区</a:t>
              </a:r>
              <a:endParaRPr lang="zh-CN" altLang="en-US" sz="2400" b="1" dirty="0">
                <a:solidFill>
                  <a:srgbClr val="000099"/>
                </a:solidFill>
                <a:latin typeface="楷体_GB2312" pitchFamily="49" charset="-122"/>
                <a:ea typeface="楷体_GB2312" pitchFamily="49" charset="-122"/>
              </a:endParaRPr>
            </a:p>
            <a:p>
              <a:pPr marL="0" lvl="0" indent="0" algn="ctr" eaLnBrk="1" hangingPunct="1">
                <a:spcBef>
                  <a:spcPct val="0"/>
                </a:spcBef>
                <a:buClrTx/>
                <a:buSzTx/>
                <a:buFontTx/>
                <a:buNone/>
              </a:pPr>
              <a:endParaRPr lang="zh-CN" altLang="en-US" sz="2400" dirty="0">
                <a:ea typeface="楷体_GB2312" pitchFamily="49" charset="-122"/>
              </a:endParaRPr>
            </a:p>
            <a:p>
              <a:pPr marL="0" lvl="0" indent="0" algn="ctr" eaLnBrk="1" hangingPunct="1">
                <a:spcBef>
                  <a:spcPct val="0"/>
                </a:spcBef>
                <a:buClrTx/>
                <a:buSzTx/>
                <a:buFontTx/>
                <a:buNone/>
              </a:pPr>
              <a:endParaRPr lang="zh-CN" altLang="en-US" sz="2400" dirty="0">
                <a:ea typeface="楷体_GB2312" pitchFamily="49" charset="-122"/>
              </a:endParaRPr>
            </a:p>
            <a:p>
              <a:pPr marL="0" lvl="0" indent="0" algn="ctr" eaLnBrk="1" hangingPunct="1">
                <a:spcBef>
                  <a:spcPct val="0"/>
                </a:spcBef>
                <a:buClrTx/>
                <a:buSzTx/>
                <a:buFontTx/>
                <a:buNone/>
              </a:pPr>
              <a:endParaRPr lang="zh-CN" altLang="en-US" sz="2400" dirty="0">
                <a:ea typeface="楷体_GB2312" pitchFamily="49" charset="-122"/>
              </a:endParaRPr>
            </a:p>
            <a:p>
              <a:pPr marL="0" lvl="0" indent="0" algn="ctr" eaLnBrk="1" hangingPunct="1">
                <a:spcBef>
                  <a:spcPct val="0"/>
                </a:spcBef>
                <a:buClrTx/>
                <a:buSzTx/>
                <a:buFontTx/>
                <a:buNone/>
              </a:pPr>
              <a:r>
                <a:rPr lang="en-US" altLang="zh-CN" sz="2400" b="1" dirty="0">
                  <a:solidFill>
                    <a:srgbClr val="000099"/>
                  </a:solidFill>
                  <a:ea typeface="楷体_GB2312" pitchFamily="49" charset="-122"/>
                </a:rPr>
                <a:t>T</a:t>
              </a:r>
              <a:endParaRPr lang="en-US" altLang="zh-CN" sz="2400" b="1" dirty="0">
                <a:solidFill>
                  <a:srgbClr val="000099"/>
                </a:solidFill>
                <a:ea typeface="楷体_GB2312" pitchFamily="49" charset="-122"/>
              </a:endParaRPr>
            </a:p>
          </p:txBody>
        </p:sp>
        <p:sp>
          <p:nvSpPr>
            <p:cNvPr id="60424" name="Rectangle 11"/>
            <p:cNvSpPr/>
            <p:nvPr/>
          </p:nvSpPr>
          <p:spPr>
            <a:xfrm>
              <a:off x="960" y="2448"/>
              <a:ext cx="960" cy="480"/>
            </a:xfrm>
            <a:prstGeom prst="rect">
              <a:avLst/>
            </a:prstGeom>
            <a:solidFill>
              <a:schemeClr val="accent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I</a:t>
              </a:r>
              <a:endParaRPr lang="en-US" altLang="zh-CN" sz="2400" b="1" dirty="0">
                <a:solidFill>
                  <a:srgbClr val="000099"/>
                </a:solidFill>
                <a:latin typeface="楷体_GB2312" pitchFamily="49" charset="-122"/>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42056"/>
                                        </p:tgtEl>
                                        <p:attrNameLst>
                                          <p:attrName>style.visibility</p:attrName>
                                        </p:attrNameLst>
                                      </p:cBhvr>
                                      <p:to>
                                        <p:strVal val="visible"/>
                                      </p:to>
                                    </p:set>
                                    <p:anim calcmode="lin" valueType="num">
                                      <p:cBhvr additive="base">
                                        <p:cTn id="7" dur="500" fill="hold"/>
                                        <p:tgtEl>
                                          <p:spTgt spid="642056"/>
                                        </p:tgtEl>
                                        <p:attrNameLst>
                                          <p:attrName>ppt_x</p:attrName>
                                        </p:attrNameLst>
                                      </p:cBhvr>
                                      <p:tavLst>
                                        <p:tav tm="0">
                                          <p:val>
                                            <p:strVal val="0-#ppt_w/2"/>
                                          </p:val>
                                        </p:tav>
                                        <p:tav tm="100000">
                                          <p:val>
                                            <p:strVal val="#ppt_x"/>
                                          </p:val>
                                        </p:tav>
                                      </p:tavLst>
                                    </p:anim>
                                    <p:anim calcmode="lin" valueType="num">
                                      <p:cBhvr additive="base">
                                        <p:cTn id="8" dur="500" fill="hold"/>
                                        <p:tgtEl>
                                          <p:spTgt spid="6420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642057"/>
                                        </p:tgtEl>
                                        <p:attrNameLst>
                                          <p:attrName>style.visibility</p:attrName>
                                        </p:attrNameLst>
                                      </p:cBhvr>
                                      <p:to>
                                        <p:strVal val="visible"/>
                                      </p:to>
                                    </p:set>
                                    <p:animEffect transition="in" filter="wipe(up)">
                                      <p:cBhvr>
                                        <p:cTn id="13" dur="500"/>
                                        <p:tgtEl>
                                          <p:spTgt spid="642057"/>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8" fill="hold" nodeType="clickEffect">
                                  <p:stCondLst>
                                    <p:cond delay="0"/>
                                  </p:stCondLst>
                                  <p:childTnLst>
                                    <p:set>
                                      <p:cBhvr>
                                        <p:cTn id="17" dur="1" fill="hold">
                                          <p:stCondLst>
                                            <p:cond delay="0"/>
                                          </p:stCondLst>
                                        </p:cTn>
                                        <p:tgtEl>
                                          <p:spTgt spid="642054"/>
                                        </p:tgtEl>
                                        <p:attrNameLst>
                                          <p:attrName>style.visibility</p:attrName>
                                        </p:attrNameLst>
                                      </p:cBhvr>
                                      <p:to>
                                        <p:strVal val="visible"/>
                                      </p:to>
                                    </p:set>
                                    <p:anim calcmode="lin" valueType="num">
                                      <p:cBhvr>
                                        <p:cTn id="18" dur="500" fill="hold"/>
                                        <p:tgtEl>
                                          <p:spTgt spid="642054"/>
                                        </p:tgtEl>
                                        <p:attrNameLst>
                                          <p:attrName>ppt_x</p:attrName>
                                        </p:attrNameLst>
                                      </p:cBhvr>
                                      <p:tavLst>
                                        <p:tav tm="0">
                                          <p:val>
                                            <p:strVal val="#ppt_x-#ppt_w/2"/>
                                          </p:val>
                                        </p:tav>
                                        <p:tav tm="100000">
                                          <p:val>
                                            <p:strVal val="#ppt_x"/>
                                          </p:val>
                                        </p:tav>
                                      </p:tavLst>
                                    </p:anim>
                                    <p:anim calcmode="lin" valueType="num">
                                      <p:cBhvr>
                                        <p:cTn id="19" dur="500" fill="hold"/>
                                        <p:tgtEl>
                                          <p:spTgt spid="642054"/>
                                        </p:tgtEl>
                                        <p:attrNameLst>
                                          <p:attrName>ppt_y</p:attrName>
                                        </p:attrNameLst>
                                      </p:cBhvr>
                                      <p:tavLst>
                                        <p:tav tm="0">
                                          <p:val>
                                            <p:strVal val="#ppt_y"/>
                                          </p:val>
                                        </p:tav>
                                        <p:tav tm="100000">
                                          <p:val>
                                            <p:strVal val="#ppt_y"/>
                                          </p:val>
                                        </p:tav>
                                      </p:tavLst>
                                    </p:anim>
                                    <p:anim calcmode="lin" valueType="num">
                                      <p:cBhvr>
                                        <p:cTn id="20" dur="500" fill="hold"/>
                                        <p:tgtEl>
                                          <p:spTgt spid="642054"/>
                                        </p:tgtEl>
                                        <p:attrNameLst>
                                          <p:attrName>ppt_w</p:attrName>
                                        </p:attrNameLst>
                                      </p:cBhvr>
                                      <p:tavLst>
                                        <p:tav tm="0">
                                          <p:val>
                                            <p:fltVal val="0.000000"/>
                                          </p:val>
                                        </p:tav>
                                        <p:tav tm="100000">
                                          <p:val>
                                            <p:strVal val="#ppt_w"/>
                                          </p:val>
                                        </p:tav>
                                      </p:tavLst>
                                    </p:anim>
                                    <p:anim calcmode="lin" valueType="num">
                                      <p:cBhvr>
                                        <p:cTn id="21" dur="500" fill="hold"/>
                                        <p:tgtEl>
                                          <p:spTgt spid="642054"/>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7" presetClass="entr" presetSubtype="8" fill="hold" nodeType="clickEffect">
                                  <p:stCondLst>
                                    <p:cond delay="0"/>
                                  </p:stCondLst>
                                  <p:childTnLst>
                                    <p:set>
                                      <p:cBhvr>
                                        <p:cTn id="25" dur="1" fill="hold">
                                          <p:stCondLst>
                                            <p:cond delay="0"/>
                                          </p:stCondLst>
                                        </p:cTn>
                                        <p:tgtEl>
                                          <p:spTgt spid="642055"/>
                                        </p:tgtEl>
                                        <p:attrNameLst>
                                          <p:attrName>style.visibility</p:attrName>
                                        </p:attrNameLst>
                                      </p:cBhvr>
                                      <p:to>
                                        <p:strVal val="visible"/>
                                      </p:to>
                                    </p:set>
                                    <p:anim calcmode="lin" valueType="num">
                                      <p:cBhvr>
                                        <p:cTn id="26" dur="500" fill="hold"/>
                                        <p:tgtEl>
                                          <p:spTgt spid="642055"/>
                                        </p:tgtEl>
                                        <p:attrNameLst>
                                          <p:attrName>ppt_x</p:attrName>
                                        </p:attrNameLst>
                                      </p:cBhvr>
                                      <p:tavLst>
                                        <p:tav tm="0">
                                          <p:val>
                                            <p:strVal val="#ppt_x-#ppt_w/2"/>
                                          </p:val>
                                        </p:tav>
                                        <p:tav tm="100000">
                                          <p:val>
                                            <p:strVal val="#ppt_x"/>
                                          </p:val>
                                        </p:tav>
                                      </p:tavLst>
                                    </p:anim>
                                    <p:anim calcmode="lin" valueType="num">
                                      <p:cBhvr>
                                        <p:cTn id="27" dur="500" fill="hold"/>
                                        <p:tgtEl>
                                          <p:spTgt spid="642055"/>
                                        </p:tgtEl>
                                        <p:attrNameLst>
                                          <p:attrName>ppt_y</p:attrName>
                                        </p:attrNameLst>
                                      </p:cBhvr>
                                      <p:tavLst>
                                        <p:tav tm="0">
                                          <p:val>
                                            <p:strVal val="#ppt_y"/>
                                          </p:val>
                                        </p:tav>
                                        <p:tav tm="100000">
                                          <p:val>
                                            <p:strVal val="#ppt_y"/>
                                          </p:val>
                                        </p:tav>
                                      </p:tavLst>
                                    </p:anim>
                                    <p:anim calcmode="lin" valueType="num">
                                      <p:cBhvr>
                                        <p:cTn id="28" dur="500" fill="hold"/>
                                        <p:tgtEl>
                                          <p:spTgt spid="642055"/>
                                        </p:tgtEl>
                                        <p:attrNameLst>
                                          <p:attrName>ppt_w</p:attrName>
                                        </p:attrNameLst>
                                      </p:cBhvr>
                                      <p:tavLst>
                                        <p:tav tm="0">
                                          <p:val>
                                            <p:fltVal val="0.000000"/>
                                          </p:val>
                                        </p:tav>
                                        <p:tav tm="100000">
                                          <p:val>
                                            <p:strVal val="#ppt_w"/>
                                          </p:val>
                                        </p:tav>
                                      </p:tavLst>
                                    </p:anim>
                                    <p:anim calcmode="lin" valueType="num">
                                      <p:cBhvr>
                                        <p:cTn id="29" dur="500" fill="hold"/>
                                        <p:tgtEl>
                                          <p:spTgt spid="64205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054" grpId="0"/>
      <p:bldP spid="642055" grpId="0"/>
      <p:bldP spid="64205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pSp>
        <p:nvGrpSpPr>
          <p:cNvPr id="641027" name="Group 3"/>
          <p:cNvGrpSpPr/>
          <p:nvPr/>
        </p:nvGrpSpPr>
        <p:grpSpPr>
          <a:xfrm>
            <a:off x="914400" y="2590800"/>
            <a:ext cx="1524000" cy="3429000"/>
            <a:chOff x="960" y="1824"/>
            <a:chExt cx="960" cy="1680"/>
          </a:xfrm>
        </p:grpSpPr>
        <p:sp>
          <p:nvSpPr>
            <p:cNvPr id="61447" name="Rectangle 4"/>
            <p:cNvSpPr/>
            <p:nvPr/>
          </p:nvSpPr>
          <p:spPr>
            <a:xfrm>
              <a:off x="960" y="1824"/>
              <a:ext cx="960" cy="1680"/>
            </a:xfrm>
            <a:prstGeom prst="rect">
              <a:avLst/>
            </a:prstGeom>
            <a:solidFill>
              <a:schemeClr val="bg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H</a:t>
              </a:r>
              <a:endParaRPr lang="en-US" altLang="zh-CN" sz="2400" b="1" dirty="0">
                <a:solidFill>
                  <a:srgbClr val="000099"/>
                </a:solidFill>
                <a:latin typeface="楷体_GB2312" pitchFamily="49" charset="-122"/>
                <a:ea typeface="楷体_GB2312" pitchFamily="49" charset="-122"/>
              </a:endParaRPr>
            </a:p>
            <a:p>
              <a:pPr marL="0" lvl="0" indent="0" algn="ctr" eaLnBrk="1" hangingPunct="1">
                <a:spcBef>
                  <a:spcPct val="0"/>
                </a:spcBef>
                <a:buClrTx/>
                <a:buSzTx/>
                <a:buFontTx/>
                <a:buNone/>
              </a:pPr>
              <a:endParaRPr lang="en-US" altLang="zh-CN" sz="2400" dirty="0">
                <a:ea typeface="楷体_GB2312" pitchFamily="49" charset="-122"/>
              </a:endParaRPr>
            </a:p>
            <a:p>
              <a:pPr marL="0" lvl="0" indent="0" algn="ctr" eaLnBrk="1" hangingPunct="1">
                <a:spcBef>
                  <a:spcPct val="0"/>
                </a:spcBef>
                <a:buClrTx/>
                <a:buSzTx/>
                <a:buFontTx/>
                <a:buNone/>
              </a:pPr>
              <a:endParaRPr lang="en-US" altLang="zh-CN" sz="2400" dirty="0">
                <a:ea typeface="楷体_GB2312" pitchFamily="49" charset="-122"/>
              </a:endParaRPr>
            </a:p>
            <a:p>
              <a:pPr marL="0" lvl="0" indent="0" algn="ctr" eaLnBrk="1" hangingPunct="1">
                <a:spcBef>
                  <a:spcPct val="0"/>
                </a:spcBef>
                <a:buClrTx/>
                <a:buSzTx/>
                <a:buFontTx/>
                <a:buNone/>
              </a:pPr>
              <a:endParaRPr lang="en-US" altLang="zh-CN" sz="2400" dirty="0">
                <a:ea typeface="楷体_GB2312" pitchFamily="49" charset="-122"/>
              </a:endParaRPr>
            </a:p>
            <a:p>
              <a:pPr marL="0" lvl="0" indent="0" algn="ctr" eaLnBrk="1" hangingPunct="1">
                <a:spcBef>
                  <a:spcPct val="0"/>
                </a:spcBef>
                <a:buClrTx/>
                <a:buSzTx/>
                <a:buFontTx/>
                <a:buNone/>
              </a:pPr>
              <a:r>
                <a:rPr lang="en-US" altLang="zh-CN" sz="2400" b="1" dirty="0">
                  <a:solidFill>
                    <a:srgbClr val="000099"/>
                  </a:solidFill>
                  <a:ea typeface="楷体_GB2312" pitchFamily="49" charset="-122"/>
                </a:rPr>
                <a:t>T</a:t>
              </a:r>
              <a:endParaRPr lang="en-US" altLang="zh-CN" sz="2400" b="1" dirty="0">
                <a:solidFill>
                  <a:srgbClr val="000099"/>
                </a:solidFill>
                <a:ea typeface="楷体_GB2312" pitchFamily="49" charset="-122"/>
              </a:endParaRPr>
            </a:p>
          </p:txBody>
        </p:sp>
        <p:sp>
          <p:nvSpPr>
            <p:cNvPr id="61448" name="Rectangle 5"/>
            <p:cNvSpPr/>
            <p:nvPr/>
          </p:nvSpPr>
          <p:spPr>
            <a:xfrm>
              <a:off x="960" y="2448"/>
              <a:ext cx="960" cy="480"/>
            </a:xfrm>
            <a:prstGeom prst="rect">
              <a:avLst/>
            </a:prstGeom>
            <a:solidFill>
              <a:schemeClr val="accent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I</a:t>
              </a:r>
              <a:endParaRPr lang="en-US" altLang="zh-CN" sz="2400" b="1" dirty="0">
                <a:solidFill>
                  <a:srgbClr val="000099"/>
                </a:solidFill>
                <a:latin typeface="楷体_GB2312" pitchFamily="49" charset="-122"/>
                <a:ea typeface="楷体_GB2312" pitchFamily="49" charset="-122"/>
              </a:endParaRPr>
            </a:p>
          </p:txBody>
        </p:sp>
      </p:grpSp>
      <p:sp>
        <p:nvSpPr>
          <p:cNvPr id="641030" name="Rectangle 6"/>
          <p:cNvSpPr/>
          <p:nvPr/>
        </p:nvSpPr>
        <p:spPr>
          <a:xfrm>
            <a:off x="2667000" y="2286000"/>
            <a:ext cx="6248400" cy="162560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40000"/>
              </a:lnSpc>
              <a:spcBef>
                <a:spcPct val="0"/>
              </a:spcBef>
              <a:buClrTx/>
              <a:buSzTx/>
              <a:buFontTx/>
              <a:buNone/>
            </a:pPr>
            <a:r>
              <a:rPr lang="zh-CN" altLang="en-US" sz="2400" b="1" dirty="0">
                <a:solidFill>
                  <a:srgbClr val="006600"/>
                </a:solidFill>
                <a:ea typeface="楷体_GB2312" pitchFamily="49" charset="-122"/>
              </a:rPr>
              <a:t>判断相邻空闲区：</a:t>
            </a:r>
            <a:endParaRPr lang="zh-CN" altLang="en-US" sz="2400" b="1" dirty="0">
              <a:solidFill>
                <a:srgbClr val="006600"/>
              </a:solidFill>
              <a:ea typeface="楷体_GB2312" pitchFamily="49" charset="-122"/>
            </a:endParaRPr>
          </a:p>
          <a:p>
            <a:pPr marL="0" lvl="0" indent="0" eaLnBrk="1" hangingPunct="1">
              <a:lnSpc>
                <a:spcPct val="140000"/>
              </a:lnSpc>
              <a:spcBef>
                <a:spcPct val="0"/>
              </a:spcBef>
              <a:buClrTx/>
              <a:buSzTx/>
              <a:buFontTx/>
              <a:buNone/>
            </a:pPr>
            <a:r>
              <a:rPr lang="en-US" altLang="zh-CN" sz="2400" b="1" dirty="0">
                <a:solidFill>
                  <a:srgbClr val="000099"/>
                </a:solidFill>
                <a:ea typeface="楷体_GB2312" pitchFamily="49" charset="-122"/>
              </a:rPr>
              <a:t>addr(I) = addr(H) + size(H)</a:t>
            </a:r>
            <a:r>
              <a:rPr lang="zh-CN" altLang="en-US" sz="2400" b="1" dirty="0">
                <a:solidFill>
                  <a:srgbClr val="000099"/>
                </a:solidFill>
                <a:ea typeface="楷体_GB2312" pitchFamily="49" charset="-122"/>
              </a:rPr>
              <a:t>，则前邻为空闲区</a:t>
            </a:r>
            <a:endParaRPr lang="zh-CN" altLang="en-US" sz="2400" b="1" dirty="0">
              <a:solidFill>
                <a:srgbClr val="000099"/>
              </a:solidFill>
              <a:ea typeface="楷体_GB2312" pitchFamily="49" charset="-122"/>
            </a:endParaRPr>
          </a:p>
          <a:p>
            <a:pPr marL="0" lvl="0" indent="0" eaLnBrk="1" hangingPunct="1">
              <a:lnSpc>
                <a:spcPct val="140000"/>
              </a:lnSpc>
              <a:spcBef>
                <a:spcPct val="0"/>
              </a:spcBef>
              <a:buClrTx/>
              <a:buSzTx/>
              <a:buFontTx/>
              <a:buNone/>
            </a:pPr>
            <a:r>
              <a:rPr lang="en-US" altLang="zh-CN" sz="2400" b="1" dirty="0">
                <a:solidFill>
                  <a:srgbClr val="000099"/>
                </a:solidFill>
                <a:ea typeface="楷体_GB2312" pitchFamily="49" charset="-122"/>
              </a:rPr>
              <a:t>addr(T) = addr(I) + size(I)</a:t>
            </a:r>
            <a:r>
              <a:rPr lang="zh-CN" altLang="en-US" sz="2400" b="1" dirty="0">
                <a:solidFill>
                  <a:srgbClr val="000099"/>
                </a:solidFill>
                <a:ea typeface="楷体_GB2312" pitchFamily="49" charset="-122"/>
              </a:rPr>
              <a:t>，则后邻为空闲区</a:t>
            </a:r>
            <a:endParaRPr lang="zh-CN" altLang="en-US" sz="2400" b="1" dirty="0">
              <a:solidFill>
                <a:srgbClr val="000099"/>
              </a:solidFill>
              <a:ea typeface="楷体_GB2312" pitchFamily="49" charset="-122"/>
            </a:endParaRPr>
          </a:p>
        </p:txBody>
      </p:sp>
      <p:sp>
        <p:nvSpPr>
          <p:cNvPr id="641031" name="Rectangle 7"/>
          <p:cNvSpPr/>
          <p:nvPr/>
        </p:nvSpPr>
        <p:spPr>
          <a:xfrm>
            <a:off x="2667000" y="4114800"/>
            <a:ext cx="5791200" cy="2136775"/>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40000"/>
              </a:lnSpc>
              <a:spcBef>
                <a:spcPct val="0"/>
              </a:spcBef>
              <a:buClrTx/>
              <a:buSzTx/>
              <a:buFontTx/>
              <a:buNone/>
            </a:pPr>
            <a:r>
              <a:rPr lang="zh-CN" altLang="en-US" sz="2400" b="1" dirty="0">
                <a:solidFill>
                  <a:srgbClr val="006600"/>
                </a:solidFill>
                <a:ea typeface="楷体_GB2312" pitchFamily="49" charset="-122"/>
              </a:rPr>
              <a:t>释放区与空闲区的拼接：</a:t>
            </a:r>
            <a:endParaRPr lang="zh-CN" altLang="en-US" sz="2400" b="1" dirty="0">
              <a:solidFill>
                <a:srgbClr val="006600"/>
              </a:solidFill>
              <a:ea typeface="楷体_GB2312" pitchFamily="49" charset="-122"/>
            </a:endParaRPr>
          </a:p>
          <a:p>
            <a:pPr marL="0" lvl="0" indent="0" eaLnBrk="1" hangingPunct="1">
              <a:lnSpc>
                <a:spcPct val="14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addr = addr(H)  </a:t>
            </a:r>
            <a:endParaRPr lang="en-US" altLang="zh-CN" sz="2400" b="1" dirty="0">
              <a:solidFill>
                <a:srgbClr val="000099"/>
              </a:solidFill>
              <a:ea typeface="楷体_GB2312" pitchFamily="49" charset="-122"/>
            </a:endParaRPr>
          </a:p>
          <a:p>
            <a:pPr marL="0" lvl="0" indent="0" eaLnBrk="1" hangingPunct="1">
              <a:lnSpc>
                <a:spcPct val="140000"/>
              </a:lnSpc>
              <a:spcBef>
                <a:spcPct val="0"/>
              </a:spcBef>
              <a:buClrTx/>
              <a:buSzTx/>
              <a:buFontTx/>
              <a:buNone/>
            </a:pPr>
            <a:r>
              <a:rPr lang="en-US" altLang="zh-CN" sz="2400" b="1" dirty="0">
                <a:solidFill>
                  <a:srgbClr val="000099"/>
                </a:solidFill>
                <a:ea typeface="楷体_GB2312" pitchFamily="49" charset="-122"/>
              </a:rPr>
              <a:t> </a:t>
            </a:r>
            <a:r>
              <a:rPr lang="en-US" altLang="zh-CN" sz="2400" b="1" dirty="0">
                <a:solidFill>
                  <a:srgbClr val="9900CC"/>
                </a:solidFill>
                <a:ea typeface="楷体_GB2312" pitchFamily="49" charset="-122"/>
              </a:rPr>
              <a:t>size</a:t>
            </a:r>
            <a:r>
              <a:rPr lang="en-US" altLang="zh-CN" sz="2400" b="1" dirty="0">
                <a:solidFill>
                  <a:srgbClr val="000099"/>
                </a:solidFill>
                <a:ea typeface="楷体_GB2312" pitchFamily="49" charset="-122"/>
              </a:rPr>
              <a:t> = size(H) </a:t>
            </a:r>
            <a:r>
              <a:rPr lang="en-US" altLang="zh-CN" sz="2400" b="1" dirty="0">
                <a:solidFill>
                  <a:srgbClr val="9900CC"/>
                </a:solidFill>
                <a:ea typeface="楷体_GB2312" pitchFamily="49" charset="-122"/>
              </a:rPr>
              <a:t>+ size(I)</a:t>
            </a:r>
            <a:r>
              <a:rPr lang="en-US" altLang="zh-CN" sz="2400" b="1" dirty="0">
                <a:solidFill>
                  <a:srgbClr val="000099"/>
                </a:solidFill>
                <a:ea typeface="楷体_GB2312" pitchFamily="49" charset="-122"/>
              </a:rPr>
              <a:t> </a:t>
            </a:r>
            <a:r>
              <a:rPr lang="en-US" altLang="zh-CN" sz="2400" b="1" dirty="0">
                <a:solidFill>
                  <a:srgbClr val="9900CC"/>
                </a:solidFill>
                <a:ea typeface="楷体_GB2312" pitchFamily="49" charset="-122"/>
              </a:rPr>
              <a:t>+ size(T)</a:t>
            </a:r>
            <a:r>
              <a:rPr lang="en-US" altLang="zh-CN" sz="2400" b="1" dirty="0">
                <a:solidFill>
                  <a:srgbClr val="000099"/>
                </a:solidFill>
                <a:ea typeface="楷体_GB2312" pitchFamily="49" charset="-122"/>
              </a:rPr>
              <a:t> </a:t>
            </a:r>
            <a:endParaRPr lang="en-US" altLang="zh-CN" sz="2400" b="1" dirty="0">
              <a:solidFill>
                <a:srgbClr val="000099"/>
              </a:solidFill>
              <a:ea typeface="楷体_GB2312" pitchFamily="49" charset="-122"/>
            </a:endParaRPr>
          </a:p>
          <a:p>
            <a:pPr marL="0" lvl="0" indent="0" eaLnBrk="1" hangingPunct="1">
              <a:lnSpc>
                <a:spcPct val="140000"/>
              </a:lnSpc>
              <a:spcBef>
                <a:spcPct val="0"/>
              </a:spcBef>
              <a:buClrTx/>
              <a:buSzTx/>
              <a:buFontTx/>
              <a:buNone/>
            </a:pPr>
            <a:r>
              <a:rPr lang="zh-CN" altLang="en-US" sz="2400" b="1" dirty="0">
                <a:solidFill>
                  <a:srgbClr val="000099"/>
                </a:solidFill>
                <a:ea typeface="楷体_GB2312" pitchFamily="49" charset="-122"/>
              </a:rPr>
              <a:t>（</a:t>
            </a:r>
            <a:r>
              <a:rPr lang="zh-CN" altLang="en-US" sz="2400" b="1" dirty="0">
                <a:solidFill>
                  <a:srgbClr val="9900CC"/>
                </a:solidFill>
                <a:ea typeface="楷体_GB2312" pitchFamily="49" charset="-122"/>
              </a:rPr>
              <a:t>修改</a:t>
            </a:r>
            <a:r>
              <a:rPr lang="en-US" altLang="zh-CN" sz="2400" b="1" dirty="0">
                <a:solidFill>
                  <a:srgbClr val="9900CC"/>
                </a:solidFill>
                <a:ea typeface="楷体_GB2312" pitchFamily="49" charset="-122"/>
              </a:rPr>
              <a:t>H</a:t>
            </a:r>
            <a:r>
              <a:rPr lang="zh-CN" altLang="en-US" sz="2400" b="1" dirty="0">
                <a:solidFill>
                  <a:srgbClr val="9900CC"/>
                </a:solidFill>
                <a:ea typeface="楷体_GB2312" pitchFamily="49" charset="-122"/>
              </a:rPr>
              <a:t>的登记项</a:t>
            </a:r>
            <a:r>
              <a:rPr lang="zh-CN" altLang="en-US" sz="2400" b="1" dirty="0">
                <a:solidFill>
                  <a:srgbClr val="000099"/>
                </a:solidFill>
                <a:ea typeface="楷体_GB2312" pitchFamily="49" charset="-122"/>
              </a:rPr>
              <a:t>，并</a:t>
            </a:r>
            <a:r>
              <a:rPr lang="zh-CN" altLang="en-US" sz="2400" b="1" dirty="0">
                <a:solidFill>
                  <a:srgbClr val="660033"/>
                </a:solidFill>
                <a:ea typeface="楷体_GB2312" pitchFamily="49" charset="-122"/>
              </a:rPr>
              <a:t>删除</a:t>
            </a:r>
            <a:r>
              <a:rPr lang="en-US" altLang="zh-CN" sz="2400" b="1" dirty="0">
                <a:solidFill>
                  <a:srgbClr val="660033"/>
                </a:solidFill>
                <a:ea typeface="楷体_GB2312" pitchFamily="49" charset="-122"/>
              </a:rPr>
              <a:t>T</a:t>
            </a:r>
            <a:r>
              <a:rPr lang="zh-CN" altLang="en-US" sz="2400" b="1" dirty="0">
                <a:solidFill>
                  <a:srgbClr val="660033"/>
                </a:solidFill>
                <a:ea typeface="楷体_GB2312" pitchFamily="49" charset="-122"/>
              </a:rPr>
              <a:t>的登记项</a:t>
            </a:r>
            <a:r>
              <a:rPr lang="zh-CN" altLang="en-US" sz="2400" b="1" dirty="0">
                <a:solidFill>
                  <a:srgbClr val="000099"/>
                </a:solidFill>
                <a:ea typeface="楷体_GB2312" pitchFamily="49" charset="-122"/>
              </a:rPr>
              <a:t>）</a:t>
            </a:r>
            <a:endParaRPr lang="zh-CN" altLang="en-US" sz="2400" b="1" dirty="0">
              <a:ea typeface="楷体_GB2312" pitchFamily="49" charset="-122"/>
            </a:endParaRPr>
          </a:p>
        </p:txBody>
      </p:sp>
      <p:sp>
        <p:nvSpPr>
          <p:cNvPr id="641032" name="Rectangle 8"/>
          <p:cNvSpPr/>
          <p:nvPr/>
        </p:nvSpPr>
        <p:spPr>
          <a:xfrm>
            <a:off x="609600" y="914400"/>
            <a:ext cx="83058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9900"/>
                </a:solidFill>
                <a:ea typeface="楷体_GB2312" pitchFamily="49" charset="-122"/>
              </a:rPr>
              <a:t> (3) </a:t>
            </a:r>
            <a:r>
              <a:rPr lang="zh-CN" altLang="en-US" sz="2400" b="1" dirty="0">
                <a:solidFill>
                  <a:srgbClr val="009900"/>
                </a:solidFill>
                <a:ea typeface="楷体_GB2312" pitchFamily="49" charset="-122"/>
              </a:rPr>
              <a:t>释放区与前后两个空闲区相邻：</a:t>
            </a:r>
            <a:r>
              <a:rPr lang="zh-CN" altLang="en-US" sz="2400" b="1" dirty="0">
                <a:solidFill>
                  <a:srgbClr val="000099"/>
                </a:solidFill>
                <a:ea typeface="楷体_GB2312" pitchFamily="49" charset="-122"/>
              </a:rPr>
              <a:t>如图所示。在这种情况下将这三个区合为一个空闲区，其首地址为前空闲区首地址，大小为这三个区大小之和。</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41032"/>
                                        </p:tgtEl>
                                        <p:attrNameLst>
                                          <p:attrName>style.visibility</p:attrName>
                                        </p:attrNameLst>
                                      </p:cBhvr>
                                      <p:to>
                                        <p:strVal val="visible"/>
                                      </p:to>
                                    </p:set>
                                    <p:anim calcmode="lin" valueType="num">
                                      <p:cBhvr additive="base">
                                        <p:cTn id="7" dur="500" fill="hold"/>
                                        <p:tgtEl>
                                          <p:spTgt spid="641032"/>
                                        </p:tgtEl>
                                        <p:attrNameLst>
                                          <p:attrName>ppt_x</p:attrName>
                                        </p:attrNameLst>
                                      </p:cBhvr>
                                      <p:tavLst>
                                        <p:tav tm="0">
                                          <p:val>
                                            <p:strVal val="0-#ppt_w/2"/>
                                          </p:val>
                                        </p:tav>
                                        <p:tav tm="100000">
                                          <p:val>
                                            <p:strVal val="#ppt_x"/>
                                          </p:val>
                                        </p:tav>
                                      </p:tavLst>
                                    </p:anim>
                                    <p:anim calcmode="lin" valueType="num">
                                      <p:cBhvr additive="base">
                                        <p:cTn id="8" dur="500" fill="hold"/>
                                        <p:tgtEl>
                                          <p:spTgt spid="6410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641027"/>
                                        </p:tgtEl>
                                        <p:attrNameLst>
                                          <p:attrName>style.visibility</p:attrName>
                                        </p:attrNameLst>
                                      </p:cBhvr>
                                      <p:to>
                                        <p:strVal val="visible"/>
                                      </p:to>
                                    </p:set>
                                    <p:animEffect transition="in" filter="wipe(up)">
                                      <p:cBhvr>
                                        <p:cTn id="13" dur="500"/>
                                        <p:tgtEl>
                                          <p:spTgt spid="641027"/>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8" fill="hold" nodeType="clickEffect">
                                  <p:stCondLst>
                                    <p:cond delay="0"/>
                                  </p:stCondLst>
                                  <p:childTnLst>
                                    <p:set>
                                      <p:cBhvr>
                                        <p:cTn id="17" dur="1" fill="hold">
                                          <p:stCondLst>
                                            <p:cond delay="0"/>
                                          </p:stCondLst>
                                        </p:cTn>
                                        <p:tgtEl>
                                          <p:spTgt spid="641030"/>
                                        </p:tgtEl>
                                        <p:attrNameLst>
                                          <p:attrName>style.visibility</p:attrName>
                                        </p:attrNameLst>
                                      </p:cBhvr>
                                      <p:to>
                                        <p:strVal val="visible"/>
                                      </p:to>
                                    </p:set>
                                    <p:anim calcmode="lin" valueType="num">
                                      <p:cBhvr>
                                        <p:cTn id="18" dur="500" fill="hold"/>
                                        <p:tgtEl>
                                          <p:spTgt spid="641030"/>
                                        </p:tgtEl>
                                        <p:attrNameLst>
                                          <p:attrName>ppt_x</p:attrName>
                                        </p:attrNameLst>
                                      </p:cBhvr>
                                      <p:tavLst>
                                        <p:tav tm="0">
                                          <p:val>
                                            <p:strVal val="#ppt_x-#ppt_w/2"/>
                                          </p:val>
                                        </p:tav>
                                        <p:tav tm="100000">
                                          <p:val>
                                            <p:strVal val="#ppt_x"/>
                                          </p:val>
                                        </p:tav>
                                      </p:tavLst>
                                    </p:anim>
                                    <p:anim calcmode="lin" valueType="num">
                                      <p:cBhvr>
                                        <p:cTn id="19" dur="500" fill="hold"/>
                                        <p:tgtEl>
                                          <p:spTgt spid="641030"/>
                                        </p:tgtEl>
                                        <p:attrNameLst>
                                          <p:attrName>ppt_y</p:attrName>
                                        </p:attrNameLst>
                                      </p:cBhvr>
                                      <p:tavLst>
                                        <p:tav tm="0">
                                          <p:val>
                                            <p:strVal val="#ppt_y"/>
                                          </p:val>
                                        </p:tav>
                                        <p:tav tm="100000">
                                          <p:val>
                                            <p:strVal val="#ppt_y"/>
                                          </p:val>
                                        </p:tav>
                                      </p:tavLst>
                                    </p:anim>
                                    <p:anim calcmode="lin" valueType="num">
                                      <p:cBhvr>
                                        <p:cTn id="20" dur="500" fill="hold"/>
                                        <p:tgtEl>
                                          <p:spTgt spid="641030"/>
                                        </p:tgtEl>
                                        <p:attrNameLst>
                                          <p:attrName>ppt_w</p:attrName>
                                        </p:attrNameLst>
                                      </p:cBhvr>
                                      <p:tavLst>
                                        <p:tav tm="0">
                                          <p:val>
                                            <p:fltVal val="0.000000"/>
                                          </p:val>
                                        </p:tav>
                                        <p:tav tm="100000">
                                          <p:val>
                                            <p:strVal val="#ppt_w"/>
                                          </p:val>
                                        </p:tav>
                                      </p:tavLst>
                                    </p:anim>
                                    <p:anim calcmode="lin" valueType="num">
                                      <p:cBhvr>
                                        <p:cTn id="21" dur="500" fill="hold"/>
                                        <p:tgtEl>
                                          <p:spTgt spid="641030"/>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7" presetClass="entr" presetSubtype="8" fill="hold" nodeType="clickEffect">
                                  <p:stCondLst>
                                    <p:cond delay="0"/>
                                  </p:stCondLst>
                                  <p:childTnLst>
                                    <p:set>
                                      <p:cBhvr>
                                        <p:cTn id="25" dur="1" fill="hold">
                                          <p:stCondLst>
                                            <p:cond delay="0"/>
                                          </p:stCondLst>
                                        </p:cTn>
                                        <p:tgtEl>
                                          <p:spTgt spid="641031"/>
                                        </p:tgtEl>
                                        <p:attrNameLst>
                                          <p:attrName>style.visibility</p:attrName>
                                        </p:attrNameLst>
                                      </p:cBhvr>
                                      <p:to>
                                        <p:strVal val="visible"/>
                                      </p:to>
                                    </p:set>
                                    <p:anim calcmode="lin" valueType="num">
                                      <p:cBhvr>
                                        <p:cTn id="26" dur="500" fill="hold"/>
                                        <p:tgtEl>
                                          <p:spTgt spid="641031"/>
                                        </p:tgtEl>
                                        <p:attrNameLst>
                                          <p:attrName>ppt_x</p:attrName>
                                        </p:attrNameLst>
                                      </p:cBhvr>
                                      <p:tavLst>
                                        <p:tav tm="0">
                                          <p:val>
                                            <p:strVal val="#ppt_x-#ppt_w/2"/>
                                          </p:val>
                                        </p:tav>
                                        <p:tav tm="100000">
                                          <p:val>
                                            <p:strVal val="#ppt_x"/>
                                          </p:val>
                                        </p:tav>
                                      </p:tavLst>
                                    </p:anim>
                                    <p:anim calcmode="lin" valueType="num">
                                      <p:cBhvr>
                                        <p:cTn id="27" dur="500" fill="hold"/>
                                        <p:tgtEl>
                                          <p:spTgt spid="641031"/>
                                        </p:tgtEl>
                                        <p:attrNameLst>
                                          <p:attrName>ppt_y</p:attrName>
                                        </p:attrNameLst>
                                      </p:cBhvr>
                                      <p:tavLst>
                                        <p:tav tm="0">
                                          <p:val>
                                            <p:strVal val="#ppt_y"/>
                                          </p:val>
                                        </p:tav>
                                        <p:tav tm="100000">
                                          <p:val>
                                            <p:strVal val="#ppt_y"/>
                                          </p:val>
                                        </p:tav>
                                      </p:tavLst>
                                    </p:anim>
                                    <p:anim calcmode="lin" valueType="num">
                                      <p:cBhvr>
                                        <p:cTn id="28" dur="500" fill="hold"/>
                                        <p:tgtEl>
                                          <p:spTgt spid="641031"/>
                                        </p:tgtEl>
                                        <p:attrNameLst>
                                          <p:attrName>ppt_w</p:attrName>
                                        </p:attrNameLst>
                                      </p:cBhvr>
                                      <p:tavLst>
                                        <p:tav tm="0">
                                          <p:val>
                                            <p:fltVal val="0.000000"/>
                                          </p:val>
                                        </p:tav>
                                        <p:tav tm="100000">
                                          <p:val>
                                            <p:strVal val="#ppt_w"/>
                                          </p:val>
                                        </p:tav>
                                      </p:tavLst>
                                    </p:anim>
                                    <p:anim calcmode="lin" valueType="num">
                                      <p:cBhvr>
                                        <p:cTn id="29" dur="500" fill="hold"/>
                                        <p:tgtEl>
                                          <p:spTgt spid="64103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30" grpId="0"/>
      <p:bldP spid="641031" grpId="0"/>
      <p:bldP spid="64103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36933" name="Rectangle 5"/>
          <p:cNvSpPr/>
          <p:nvPr/>
        </p:nvSpPr>
        <p:spPr>
          <a:xfrm>
            <a:off x="533400" y="990600"/>
            <a:ext cx="83058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9900"/>
                </a:solidFill>
                <a:ea typeface="楷体_GB2312" pitchFamily="49" charset="-122"/>
              </a:rPr>
              <a:t> (4) </a:t>
            </a:r>
            <a:r>
              <a:rPr lang="zh-CN" altLang="en-US" sz="2400" b="1" dirty="0">
                <a:solidFill>
                  <a:srgbClr val="009900"/>
                </a:solidFill>
                <a:ea typeface="楷体_GB2312" pitchFamily="49" charset="-122"/>
              </a:rPr>
              <a:t>释放区不与任何空闲区相邻：</a:t>
            </a:r>
            <a:r>
              <a:rPr lang="zh-CN" altLang="en-US" sz="2400" b="1" dirty="0">
                <a:solidFill>
                  <a:srgbClr val="000099"/>
                </a:solidFill>
                <a:ea typeface="楷体_GB2312" pitchFamily="49" charset="-122"/>
              </a:rPr>
              <a:t>如图所示。这种情况下把释放区作为一个空闲区，将其插入到自由链的适当位置。</a:t>
            </a:r>
            <a:endParaRPr lang="zh-CN" altLang="en-US" sz="2400" b="1" dirty="0">
              <a:solidFill>
                <a:srgbClr val="000099"/>
              </a:solidFill>
              <a:ea typeface="楷体_GB2312" pitchFamily="49" charset="-122"/>
            </a:endParaRPr>
          </a:p>
        </p:txBody>
      </p:sp>
      <p:grpSp>
        <p:nvGrpSpPr>
          <p:cNvPr id="636934" name="Group 6"/>
          <p:cNvGrpSpPr/>
          <p:nvPr/>
        </p:nvGrpSpPr>
        <p:grpSpPr>
          <a:xfrm>
            <a:off x="990600" y="2209800"/>
            <a:ext cx="1524000" cy="2514600"/>
            <a:chOff x="960" y="1824"/>
            <a:chExt cx="960" cy="1680"/>
          </a:xfrm>
        </p:grpSpPr>
        <p:sp>
          <p:nvSpPr>
            <p:cNvPr id="62470" name="Rectangle 7"/>
            <p:cNvSpPr/>
            <p:nvPr/>
          </p:nvSpPr>
          <p:spPr>
            <a:xfrm>
              <a:off x="960" y="1824"/>
              <a:ext cx="960" cy="1680"/>
            </a:xfrm>
            <a:prstGeom prst="rect">
              <a:avLst/>
            </a:prstGeom>
            <a:solidFill>
              <a:schemeClr val="bg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ea typeface="楷体_GB2312" pitchFamily="49" charset="-122"/>
                </a:rPr>
                <a:t>占用区</a:t>
              </a:r>
              <a:endParaRPr lang="zh-CN" altLang="en-US" sz="2400" b="1" dirty="0">
                <a:solidFill>
                  <a:srgbClr val="000099"/>
                </a:solidFill>
                <a:latin typeface="楷体_GB2312" pitchFamily="49" charset="-122"/>
                <a:ea typeface="楷体_GB2312" pitchFamily="49" charset="-122"/>
              </a:endParaRPr>
            </a:p>
            <a:p>
              <a:pPr marL="0" lvl="0" indent="0" algn="ctr" eaLnBrk="1" hangingPunct="1">
                <a:spcBef>
                  <a:spcPct val="0"/>
                </a:spcBef>
                <a:buClrTx/>
                <a:buSzTx/>
                <a:buFontTx/>
                <a:buNone/>
              </a:pPr>
              <a:endParaRPr lang="zh-CN" altLang="en-US" sz="2400" dirty="0">
                <a:ea typeface="楷体_GB2312" pitchFamily="49" charset="-122"/>
              </a:endParaRPr>
            </a:p>
            <a:p>
              <a:pPr marL="0" lvl="0" indent="0" algn="ctr" eaLnBrk="1" hangingPunct="1">
                <a:spcBef>
                  <a:spcPct val="0"/>
                </a:spcBef>
                <a:buClrTx/>
                <a:buSzTx/>
                <a:buFontTx/>
                <a:buNone/>
              </a:pPr>
              <a:endParaRPr lang="zh-CN" altLang="en-US" sz="2400" dirty="0">
                <a:ea typeface="楷体_GB2312" pitchFamily="49" charset="-122"/>
              </a:endParaRPr>
            </a:p>
            <a:p>
              <a:pPr marL="0" lvl="0" indent="0" algn="ctr" eaLnBrk="1" hangingPunct="1">
                <a:spcBef>
                  <a:spcPct val="0"/>
                </a:spcBef>
                <a:buClrTx/>
                <a:buSzTx/>
                <a:buFontTx/>
                <a:buNone/>
              </a:pPr>
              <a:endParaRPr lang="zh-CN" altLang="en-US" sz="2400" dirty="0">
                <a:ea typeface="楷体_GB2312" pitchFamily="49" charset="-122"/>
              </a:endParaRPr>
            </a:p>
            <a:p>
              <a:pPr marL="0" lvl="0" indent="0" algn="ctr" eaLnBrk="1" hangingPunct="1">
                <a:spcBef>
                  <a:spcPct val="0"/>
                </a:spcBef>
                <a:buClrTx/>
                <a:buSzTx/>
                <a:buFontTx/>
                <a:buNone/>
              </a:pPr>
              <a:r>
                <a:rPr lang="zh-CN" altLang="en-US" sz="2400" b="1" dirty="0">
                  <a:solidFill>
                    <a:srgbClr val="000099"/>
                  </a:solidFill>
                  <a:ea typeface="楷体_GB2312" pitchFamily="49" charset="-122"/>
                </a:rPr>
                <a:t>占用区</a:t>
              </a:r>
              <a:endParaRPr lang="zh-CN" altLang="en-US" sz="2400" b="1" dirty="0">
                <a:solidFill>
                  <a:srgbClr val="000099"/>
                </a:solidFill>
                <a:ea typeface="楷体_GB2312" pitchFamily="49" charset="-122"/>
              </a:endParaRPr>
            </a:p>
          </p:txBody>
        </p:sp>
        <p:sp>
          <p:nvSpPr>
            <p:cNvPr id="62471" name="Rectangle 8"/>
            <p:cNvSpPr/>
            <p:nvPr/>
          </p:nvSpPr>
          <p:spPr>
            <a:xfrm>
              <a:off x="960" y="2448"/>
              <a:ext cx="960" cy="480"/>
            </a:xfrm>
            <a:prstGeom prst="rect">
              <a:avLst/>
            </a:prstGeom>
            <a:solidFill>
              <a:schemeClr val="accent1"/>
            </a:solidFill>
            <a:ln w="38100" cap="flat" cmpd="sng">
              <a:solidFill>
                <a:srgbClr val="00008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I</a:t>
              </a:r>
              <a:endParaRPr lang="en-US" altLang="zh-CN" sz="2400" b="1" dirty="0">
                <a:solidFill>
                  <a:srgbClr val="000099"/>
                </a:solidFill>
                <a:latin typeface="楷体_GB2312" pitchFamily="49" charset="-122"/>
                <a:ea typeface="楷体_GB2312" pitchFamily="49" charset="-122"/>
              </a:endParaRPr>
            </a:p>
          </p:txBody>
        </p:sp>
      </p:grpSp>
      <p:sp>
        <p:nvSpPr>
          <p:cNvPr id="636937" name="Rectangle 9"/>
          <p:cNvSpPr/>
          <p:nvPr/>
        </p:nvSpPr>
        <p:spPr>
          <a:xfrm>
            <a:off x="2819400" y="2209800"/>
            <a:ext cx="5791200" cy="2136775"/>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40000"/>
              </a:lnSpc>
              <a:spcBef>
                <a:spcPct val="0"/>
              </a:spcBef>
              <a:buClrTx/>
              <a:buSzTx/>
              <a:buFontTx/>
              <a:buNone/>
            </a:pPr>
            <a:r>
              <a:rPr lang="zh-CN" altLang="en-US" sz="2400" b="1" dirty="0">
                <a:solidFill>
                  <a:srgbClr val="006600"/>
                </a:solidFill>
                <a:ea typeface="楷体_GB2312" pitchFamily="49" charset="-122"/>
              </a:rPr>
              <a:t>释放区作为一个新的空闲区：</a:t>
            </a:r>
            <a:endParaRPr lang="zh-CN" altLang="en-US" sz="2400" b="1" dirty="0">
              <a:solidFill>
                <a:srgbClr val="006600"/>
              </a:solidFill>
              <a:ea typeface="楷体_GB2312" pitchFamily="49" charset="-122"/>
            </a:endParaRPr>
          </a:p>
          <a:p>
            <a:pPr marL="0" lvl="0" indent="0" eaLnBrk="1" hangingPunct="1">
              <a:lnSpc>
                <a:spcPct val="14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9900CC"/>
                </a:solidFill>
                <a:ea typeface="楷体_GB2312" pitchFamily="49" charset="-122"/>
              </a:rPr>
              <a:t>addr = addr(I)  </a:t>
            </a:r>
            <a:endParaRPr lang="en-US" altLang="zh-CN" sz="2400" b="1" dirty="0">
              <a:solidFill>
                <a:srgbClr val="9900CC"/>
              </a:solidFill>
              <a:ea typeface="楷体_GB2312" pitchFamily="49" charset="-122"/>
            </a:endParaRPr>
          </a:p>
          <a:p>
            <a:pPr marL="0" lvl="0" indent="0" eaLnBrk="1" hangingPunct="1">
              <a:lnSpc>
                <a:spcPct val="140000"/>
              </a:lnSpc>
              <a:spcBef>
                <a:spcPct val="0"/>
              </a:spcBef>
              <a:buClrTx/>
              <a:buSzTx/>
              <a:buFontTx/>
              <a:buNone/>
            </a:pPr>
            <a:r>
              <a:rPr lang="en-US" altLang="zh-CN" sz="2400" b="1" dirty="0">
                <a:solidFill>
                  <a:srgbClr val="9900CC"/>
                </a:solidFill>
                <a:ea typeface="楷体_GB2312" pitchFamily="49" charset="-122"/>
              </a:rPr>
              <a:t> size =  size(I) </a:t>
            </a:r>
            <a:endParaRPr lang="en-US" altLang="zh-CN" sz="2400" b="1" dirty="0">
              <a:solidFill>
                <a:srgbClr val="9900CC"/>
              </a:solidFill>
              <a:ea typeface="楷体_GB2312" pitchFamily="49" charset="-122"/>
            </a:endParaRPr>
          </a:p>
          <a:p>
            <a:pPr marL="0" lvl="0" indent="0" eaLnBrk="1" hangingPunct="1">
              <a:lnSpc>
                <a:spcPct val="140000"/>
              </a:lnSpc>
              <a:spcBef>
                <a:spcPct val="0"/>
              </a:spcBef>
              <a:buClrTx/>
              <a:buSzTx/>
              <a:buFontTx/>
              <a:buNone/>
            </a:pPr>
            <a:r>
              <a:rPr lang="zh-CN" altLang="en-US" sz="2400" b="1" dirty="0">
                <a:solidFill>
                  <a:srgbClr val="000099"/>
                </a:solidFill>
                <a:ea typeface="楷体_GB2312" pitchFamily="49" charset="-122"/>
              </a:rPr>
              <a:t>（</a:t>
            </a:r>
            <a:r>
              <a:rPr lang="zh-CN" altLang="en-US" sz="2400" b="1" dirty="0">
                <a:solidFill>
                  <a:srgbClr val="660033"/>
                </a:solidFill>
                <a:ea typeface="楷体_GB2312" pitchFamily="49" charset="-122"/>
              </a:rPr>
              <a:t>增加一个新的登记项</a:t>
            </a:r>
            <a:r>
              <a:rPr lang="zh-CN" altLang="en-US" sz="2400" b="1" dirty="0">
                <a:solidFill>
                  <a:srgbClr val="000099"/>
                </a:solidFill>
                <a:ea typeface="楷体_GB2312" pitchFamily="49" charset="-122"/>
              </a:rPr>
              <a:t>）</a:t>
            </a:r>
            <a:endParaRPr lang="zh-CN" altLang="en-US" sz="2400" b="1"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36933"/>
                                        </p:tgtEl>
                                        <p:attrNameLst>
                                          <p:attrName>style.visibility</p:attrName>
                                        </p:attrNameLst>
                                      </p:cBhvr>
                                      <p:to>
                                        <p:strVal val="visible"/>
                                      </p:to>
                                    </p:set>
                                    <p:anim calcmode="lin" valueType="num">
                                      <p:cBhvr additive="base">
                                        <p:cTn id="7" dur="500" fill="hold"/>
                                        <p:tgtEl>
                                          <p:spTgt spid="636933"/>
                                        </p:tgtEl>
                                        <p:attrNameLst>
                                          <p:attrName>ppt_x</p:attrName>
                                        </p:attrNameLst>
                                      </p:cBhvr>
                                      <p:tavLst>
                                        <p:tav tm="0">
                                          <p:val>
                                            <p:strVal val="0-#ppt_w/2"/>
                                          </p:val>
                                        </p:tav>
                                        <p:tav tm="100000">
                                          <p:val>
                                            <p:strVal val="#ppt_x"/>
                                          </p:val>
                                        </p:tav>
                                      </p:tavLst>
                                    </p:anim>
                                    <p:anim calcmode="lin" valueType="num">
                                      <p:cBhvr additive="base">
                                        <p:cTn id="8" dur="500" fill="hold"/>
                                        <p:tgtEl>
                                          <p:spTgt spid="63693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636934"/>
                                        </p:tgtEl>
                                        <p:attrNameLst>
                                          <p:attrName>style.visibility</p:attrName>
                                        </p:attrNameLst>
                                      </p:cBhvr>
                                      <p:to>
                                        <p:strVal val="visible"/>
                                      </p:to>
                                    </p:set>
                                    <p:animEffect transition="in" filter="wipe(up)">
                                      <p:cBhvr>
                                        <p:cTn id="13" dur="500"/>
                                        <p:tgtEl>
                                          <p:spTgt spid="636934"/>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8" fill="hold" nodeType="clickEffect">
                                  <p:stCondLst>
                                    <p:cond delay="0"/>
                                  </p:stCondLst>
                                  <p:childTnLst>
                                    <p:set>
                                      <p:cBhvr>
                                        <p:cTn id="17" dur="1" fill="hold">
                                          <p:stCondLst>
                                            <p:cond delay="0"/>
                                          </p:stCondLst>
                                        </p:cTn>
                                        <p:tgtEl>
                                          <p:spTgt spid="636937"/>
                                        </p:tgtEl>
                                        <p:attrNameLst>
                                          <p:attrName>style.visibility</p:attrName>
                                        </p:attrNameLst>
                                      </p:cBhvr>
                                      <p:to>
                                        <p:strVal val="visible"/>
                                      </p:to>
                                    </p:set>
                                    <p:anim calcmode="lin" valueType="num">
                                      <p:cBhvr>
                                        <p:cTn id="18" dur="500" fill="hold"/>
                                        <p:tgtEl>
                                          <p:spTgt spid="636937"/>
                                        </p:tgtEl>
                                        <p:attrNameLst>
                                          <p:attrName>ppt_x</p:attrName>
                                        </p:attrNameLst>
                                      </p:cBhvr>
                                      <p:tavLst>
                                        <p:tav tm="0">
                                          <p:val>
                                            <p:strVal val="#ppt_x-#ppt_w/2"/>
                                          </p:val>
                                        </p:tav>
                                        <p:tav tm="100000">
                                          <p:val>
                                            <p:strVal val="#ppt_x"/>
                                          </p:val>
                                        </p:tav>
                                      </p:tavLst>
                                    </p:anim>
                                    <p:anim calcmode="lin" valueType="num">
                                      <p:cBhvr>
                                        <p:cTn id="19" dur="500" fill="hold"/>
                                        <p:tgtEl>
                                          <p:spTgt spid="636937"/>
                                        </p:tgtEl>
                                        <p:attrNameLst>
                                          <p:attrName>ppt_y</p:attrName>
                                        </p:attrNameLst>
                                      </p:cBhvr>
                                      <p:tavLst>
                                        <p:tav tm="0">
                                          <p:val>
                                            <p:strVal val="#ppt_y"/>
                                          </p:val>
                                        </p:tav>
                                        <p:tav tm="100000">
                                          <p:val>
                                            <p:strVal val="#ppt_y"/>
                                          </p:val>
                                        </p:tav>
                                      </p:tavLst>
                                    </p:anim>
                                    <p:anim calcmode="lin" valueType="num">
                                      <p:cBhvr>
                                        <p:cTn id="20" dur="500" fill="hold"/>
                                        <p:tgtEl>
                                          <p:spTgt spid="636937"/>
                                        </p:tgtEl>
                                        <p:attrNameLst>
                                          <p:attrName>ppt_w</p:attrName>
                                        </p:attrNameLst>
                                      </p:cBhvr>
                                      <p:tavLst>
                                        <p:tav tm="0">
                                          <p:val>
                                            <p:fltVal val="0.000000"/>
                                          </p:val>
                                        </p:tav>
                                        <p:tav tm="100000">
                                          <p:val>
                                            <p:strVal val="#ppt_w"/>
                                          </p:val>
                                        </p:tav>
                                      </p:tavLst>
                                    </p:anim>
                                    <p:anim calcmode="lin" valueType="num">
                                      <p:cBhvr>
                                        <p:cTn id="21" dur="500" fill="hold"/>
                                        <p:tgtEl>
                                          <p:spTgt spid="63693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3" grpId="0"/>
      <p:bldP spid="63693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79234" name="Rectangle 2"/>
          <p:cNvSpPr/>
          <p:nvPr/>
        </p:nvSpPr>
        <p:spPr>
          <a:xfrm>
            <a:off x="539750" y="692150"/>
            <a:ext cx="4857750" cy="579438"/>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b="1" dirty="0">
                <a:solidFill>
                  <a:srgbClr val="003300"/>
                </a:solidFill>
                <a:latin typeface="隶书" panose="02010509060101010101" pitchFamily="49" charset="-122"/>
                <a:ea typeface="隶书" panose="02010509060101010101" pitchFamily="49" charset="-122"/>
              </a:rPr>
              <a:t>三、碎片问题及拼接技术</a:t>
            </a:r>
            <a:r>
              <a:rPr lang="zh-CN" altLang="en-US" dirty="0">
                <a:solidFill>
                  <a:srgbClr val="000000"/>
                </a:solidFill>
                <a:latin typeface="隶书" panose="02010509060101010101" pitchFamily="49" charset="-122"/>
                <a:ea typeface="隶书" panose="02010509060101010101" pitchFamily="49" charset="-122"/>
              </a:rPr>
              <a:t> </a:t>
            </a:r>
            <a:endParaRPr lang="zh-CN" altLang="en-US" dirty="0">
              <a:solidFill>
                <a:srgbClr val="000000"/>
              </a:solidFill>
              <a:latin typeface="隶书" panose="02010509060101010101" pitchFamily="49" charset="-122"/>
              <a:ea typeface="隶书" panose="02010509060101010101" pitchFamily="49" charset="-122"/>
            </a:endParaRPr>
          </a:p>
        </p:txBody>
      </p:sp>
      <p:sp>
        <p:nvSpPr>
          <p:cNvPr id="479235" name="Rectangle 3"/>
          <p:cNvSpPr/>
          <p:nvPr/>
        </p:nvSpPr>
        <p:spPr>
          <a:xfrm>
            <a:off x="622300" y="1268413"/>
            <a:ext cx="8305800" cy="4572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990033"/>
                </a:solidFill>
                <a:latin typeface="楷体_GB2312" pitchFamily="49" charset="-122"/>
                <a:ea typeface="楷体_GB2312" pitchFamily="49" charset="-122"/>
              </a:rPr>
              <a:t>碎片：</a:t>
            </a:r>
            <a:r>
              <a:rPr lang="zh-CN" altLang="en-US" sz="2400" b="1" dirty="0">
                <a:solidFill>
                  <a:srgbClr val="000099"/>
                </a:solidFill>
                <a:latin typeface="楷体_GB2312" pitchFamily="49" charset="-122"/>
                <a:ea typeface="楷体_GB2312" pitchFamily="49" charset="-122"/>
              </a:rPr>
              <a:t>主存中不连续的极小的空闲区。 </a:t>
            </a:r>
            <a:endParaRPr lang="zh-CN" altLang="en-US" sz="2400" b="1" dirty="0">
              <a:solidFill>
                <a:srgbClr val="000099"/>
              </a:solidFill>
              <a:latin typeface="楷体_GB2312" pitchFamily="49" charset="-122"/>
              <a:ea typeface="楷体_GB2312" pitchFamily="49" charset="-122"/>
            </a:endParaRPr>
          </a:p>
        </p:txBody>
      </p:sp>
      <p:sp>
        <p:nvSpPr>
          <p:cNvPr id="479236" name="Rectangle 4"/>
          <p:cNvSpPr/>
          <p:nvPr/>
        </p:nvSpPr>
        <p:spPr>
          <a:xfrm>
            <a:off x="611188" y="1700213"/>
            <a:ext cx="83058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lnSpc>
                <a:spcPct val="120000"/>
              </a:lnSpc>
              <a:buClrTx/>
              <a:buSzTx/>
              <a:buFontTx/>
              <a:buNone/>
            </a:pPr>
            <a:r>
              <a:rPr lang="zh-CN" altLang="en-US" sz="2400" b="1" dirty="0">
                <a:solidFill>
                  <a:srgbClr val="006600"/>
                </a:solidFill>
                <a:latin typeface="楷体_GB2312" pitchFamily="49" charset="-122"/>
                <a:ea typeface="楷体_GB2312" pitchFamily="49" charset="-122"/>
              </a:rPr>
              <a:t>解决方法：</a:t>
            </a:r>
            <a:r>
              <a:rPr lang="zh-CN" altLang="en-US" sz="2400" b="1" dirty="0">
                <a:solidFill>
                  <a:srgbClr val="000099"/>
                </a:solidFill>
                <a:latin typeface="楷体_GB2312" pitchFamily="49" charset="-122"/>
                <a:ea typeface="楷体_GB2312" pitchFamily="49" charset="-122"/>
              </a:rPr>
              <a:t>采用</a:t>
            </a:r>
            <a:r>
              <a:rPr lang="zh-CN" altLang="en-US" sz="2400" b="1" dirty="0">
                <a:solidFill>
                  <a:srgbClr val="000099"/>
                </a:solidFill>
                <a:ea typeface="楷体_GB2312" pitchFamily="49" charset="-122"/>
              </a:rPr>
              <a:t>“</a:t>
            </a:r>
            <a:r>
              <a:rPr lang="zh-CN" altLang="en-US" sz="2400" b="1" dirty="0">
                <a:solidFill>
                  <a:srgbClr val="800000"/>
                </a:solidFill>
                <a:ea typeface="楷体_GB2312" pitchFamily="49" charset="-122"/>
              </a:rPr>
              <a:t>拼接</a:t>
            </a:r>
            <a:r>
              <a:rPr lang="zh-CN" altLang="en-US" sz="2400" b="1" dirty="0">
                <a:solidFill>
                  <a:srgbClr val="800000"/>
                </a:solidFill>
                <a:latin typeface="楷体_GB2312" pitchFamily="49" charset="-122"/>
                <a:ea typeface="楷体_GB2312" pitchFamily="49" charset="-122"/>
              </a:rPr>
              <a:t>技术</a:t>
            </a:r>
            <a:r>
              <a:rPr lang="zh-CN" altLang="en-US" sz="2400" b="1" dirty="0">
                <a:solidFill>
                  <a:srgbClr val="000099"/>
                </a:solidFill>
                <a:ea typeface="楷体_GB2312" pitchFamily="49" charset="-122"/>
              </a:rPr>
              <a:t>”</a:t>
            </a:r>
            <a:r>
              <a:rPr lang="zh-CN" altLang="en-US" sz="2400" b="1" dirty="0">
                <a:solidFill>
                  <a:srgbClr val="000099"/>
                </a:solidFill>
                <a:latin typeface="楷体_GB2312" pitchFamily="49" charset="-122"/>
                <a:ea typeface="楷体_GB2312" pitchFamily="49" charset="-122"/>
              </a:rPr>
              <a:t>（</a:t>
            </a:r>
            <a:r>
              <a:rPr lang="zh-CN" altLang="en-US" sz="2400" b="1" dirty="0">
                <a:solidFill>
                  <a:srgbClr val="800000"/>
                </a:solidFill>
                <a:latin typeface="楷体_GB2312" pitchFamily="49" charset="-122"/>
                <a:ea typeface="楷体_GB2312" pitchFamily="49" charset="-122"/>
              </a:rPr>
              <a:t>移动技术</a:t>
            </a:r>
            <a:r>
              <a:rPr lang="zh-CN" altLang="en-US" sz="2400" b="1" dirty="0">
                <a:solidFill>
                  <a:srgbClr val="000099"/>
                </a:solidFill>
                <a:latin typeface="楷体_GB2312" pitchFamily="49" charset="-122"/>
                <a:ea typeface="楷体_GB2312" pitchFamily="49" charset="-122"/>
              </a:rPr>
              <a:t>或</a:t>
            </a:r>
            <a:r>
              <a:rPr lang="zh-CN" altLang="en-US" sz="2400" b="1" dirty="0">
                <a:solidFill>
                  <a:srgbClr val="800000"/>
                </a:solidFill>
                <a:latin typeface="楷体_GB2312" pitchFamily="49" charset="-122"/>
                <a:ea typeface="楷体_GB2312" pitchFamily="49" charset="-122"/>
              </a:rPr>
              <a:t>紧凑技术</a:t>
            </a:r>
            <a:r>
              <a:rPr lang="zh-CN" altLang="en-US" sz="2400" b="1" dirty="0">
                <a:solidFill>
                  <a:srgbClr val="000099"/>
                </a:solidFill>
                <a:latin typeface="楷体_GB2312" pitchFamily="49" charset="-122"/>
                <a:ea typeface="楷体_GB2312" pitchFamily="49" charset="-122"/>
              </a:rPr>
              <a:t>）使分散的空闲区集中起来，以容纳新的作业。</a:t>
            </a:r>
            <a:endParaRPr lang="zh-CN" altLang="en-US" sz="2400" b="1" dirty="0">
              <a:solidFill>
                <a:srgbClr val="000099"/>
              </a:solidFill>
              <a:latin typeface="楷体_GB2312" pitchFamily="49" charset="-122"/>
              <a:ea typeface="楷体_GB2312" pitchFamily="49" charset="-122"/>
            </a:endParaRPr>
          </a:p>
        </p:txBody>
      </p:sp>
      <p:graphicFrame>
        <p:nvGraphicFramePr>
          <p:cNvPr id="479242" name="Object 10"/>
          <p:cNvGraphicFramePr>
            <a:graphicFrameLocks noChangeAspect="1"/>
          </p:cNvGraphicFramePr>
          <p:nvPr/>
        </p:nvGraphicFramePr>
        <p:xfrm>
          <a:off x="1763713" y="2708275"/>
          <a:ext cx="6408737" cy="3529013"/>
        </p:xfrm>
        <a:graphic>
          <a:graphicData uri="http://schemas.openxmlformats.org/presentationml/2006/ole">
            <mc:AlternateContent xmlns:mc="http://schemas.openxmlformats.org/markup-compatibility/2006">
              <mc:Choice xmlns:v="urn:schemas-microsoft-com:vml" Requires="v">
                <p:oleObj spid="_x0000_s3081" name="" r:id="rId1" imgW="2057400" imgH="1935480" progId="Visio.Drawing.4">
                  <p:embed/>
                </p:oleObj>
              </mc:Choice>
              <mc:Fallback>
                <p:oleObj name="" r:id="rId1" imgW="2057400" imgH="1935480" progId="Visio.Drawing.4">
                  <p:embed/>
                  <p:pic>
                    <p:nvPicPr>
                      <p:cNvPr id="0" name="图片 3080"/>
                      <p:cNvPicPr/>
                      <p:nvPr/>
                    </p:nvPicPr>
                    <p:blipFill>
                      <a:blip r:embed="rId2"/>
                      <a:stretch>
                        <a:fillRect/>
                      </a:stretch>
                    </p:blipFill>
                    <p:spPr>
                      <a:xfrm>
                        <a:off x="1763713" y="2708275"/>
                        <a:ext cx="6408737" cy="3529013"/>
                      </a:xfrm>
                      <a:prstGeom prst="rect">
                        <a:avLst/>
                      </a:prstGeom>
                      <a:noFill/>
                      <a:ln w="38100">
                        <a:noFill/>
                        <a:miter/>
                      </a:ln>
                    </p:spPr>
                  </p:pic>
                </p:oleObj>
              </mc:Fallback>
            </mc:AlternateContent>
          </a:graphicData>
        </a:graphic>
      </p:graphicFrame>
      <p:sp>
        <p:nvSpPr>
          <p:cNvPr id="63495" name="Text Box 11"/>
          <p:cNvSpPr txBox="1"/>
          <p:nvPr/>
        </p:nvSpPr>
        <p:spPr>
          <a:xfrm>
            <a:off x="3851275" y="6165850"/>
            <a:ext cx="1784350" cy="457200"/>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00"/>
                </a:solidFill>
              </a:rPr>
              <a:t>紧凑的示意</a:t>
            </a:r>
            <a:r>
              <a:rPr lang="zh-CN" altLang="en-US" sz="2400" dirty="0"/>
              <a:t> </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9234"/>
                                        </p:tgtEl>
                                        <p:attrNameLst>
                                          <p:attrName>style.visibility</p:attrName>
                                        </p:attrNameLst>
                                      </p:cBhvr>
                                      <p:to>
                                        <p:strVal val="visible"/>
                                      </p:to>
                                    </p:set>
                                    <p:anim calcmode="lin" valueType="num">
                                      <p:cBhvr additive="base">
                                        <p:cTn id="7" dur="500" fill="hold"/>
                                        <p:tgtEl>
                                          <p:spTgt spid="479234"/>
                                        </p:tgtEl>
                                        <p:attrNameLst>
                                          <p:attrName>ppt_x</p:attrName>
                                        </p:attrNameLst>
                                      </p:cBhvr>
                                      <p:tavLst>
                                        <p:tav tm="0">
                                          <p:val>
                                            <p:strVal val="0-#ppt_w/2"/>
                                          </p:val>
                                        </p:tav>
                                        <p:tav tm="100000">
                                          <p:val>
                                            <p:strVal val="#ppt_x"/>
                                          </p:val>
                                        </p:tav>
                                      </p:tavLst>
                                    </p:anim>
                                    <p:anim calcmode="lin" valueType="num">
                                      <p:cBhvr additive="base">
                                        <p:cTn id="8" dur="500" fill="hold"/>
                                        <p:tgtEl>
                                          <p:spTgt spid="4792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79235"/>
                                        </p:tgtEl>
                                        <p:attrNameLst>
                                          <p:attrName>style.visibility</p:attrName>
                                        </p:attrNameLst>
                                      </p:cBhvr>
                                      <p:to>
                                        <p:strVal val="visible"/>
                                      </p:to>
                                    </p:set>
                                    <p:anim calcmode="lin" valueType="num">
                                      <p:cBhvr additive="base">
                                        <p:cTn id="13" dur="500" fill="hold"/>
                                        <p:tgtEl>
                                          <p:spTgt spid="479235"/>
                                        </p:tgtEl>
                                        <p:attrNameLst>
                                          <p:attrName>ppt_x</p:attrName>
                                        </p:attrNameLst>
                                      </p:cBhvr>
                                      <p:tavLst>
                                        <p:tav tm="0">
                                          <p:val>
                                            <p:strVal val="0-#ppt_w/2"/>
                                          </p:val>
                                        </p:tav>
                                        <p:tav tm="100000">
                                          <p:val>
                                            <p:strVal val="#ppt_x"/>
                                          </p:val>
                                        </p:tav>
                                      </p:tavLst>
                                    </p:anim>
                                    <p:anim calcmode="lin" valueType="num">
                                      <p:cBhvr additive="base">
                                        <p:cTn id="14" dur="500" fill="hold"/>
                                        <p:tgtEl>
                                          <p:spTgt spid="47923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79236"/>
                                        </p:tgtEl>
                                        <p:attrNameLst>
                                          <p:attrName>style.visibility</p:attrName>
                                        </p:attrNameLst>
                                      </p:cBhvr>
                                      <p:to>
                                        <p:strVal val="visible"/>
                                      </p:to>
                                    </p:set>
                                    <p:anim calcmode="lin" valueType="num">
                                      <p:cBhvr additive="base">
                                        <p:cTn id="19" dur="500" fill="hold"/>
                                        <p:tgtEl>
                                          <p:spTgt spid="479236"/>
                                        </p:tgtEl>
                                        <p:attrNameLst>
                                          <p:attrName>ppt_x</p:attrName>
                                        </p:attrNameLst>
                                      </p:cBhvr>
                                      <p:tavLst>
                                        <p:tav tm="0">
                                          <p:val>
                                            <p:strVal val="0-#ppt_w/2"/>
                                          </p:val>
                                        </p:tav>
                                        <p:tav tm="100000">
                                          <p:val>
                                            <p:strVal val="#ppt_x"/>
                                          </p:val>
                                        </p:tav>
                                      </p:tavLst>
                                    </p:anim>
                                    <p:anim calcmode="lin" valueType="num">
                                      <p:cBhvr additive="base">
                                        <p:cTn id="20" dur="500" fill="hold"/>
                                        <p:tgtEl>
                                          <p:spTgt spid="47923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79242"/>
                                        </p:tgtEl>
                                        <p:attrNameLst>
                                          <p:attrName>style.visibility</p:attrName>
                                        </p:attrNameLst>
                                      </p:cBhvr>
                                      <p:to>
                                        <p:strVal val="visible"/>
                                      </p:to>
                                    </p:set>
                                    <p:animEffect transition="in" filter="wipe(left)">
                                      <p:cBhvr>
                                        <p:cTn id="25" dur="5000"/>
                                        <p:tgtEl>
                                          <p:spTgt spid="479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4" grpId="0"/>
      <p:bldP spid="479235" grpId="0"/>
      <p:bldP spid="47923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pic>
        <p:nvPicPr>
          <p:cNvPr id="3" name="Picture 4"/>
          <p:cNvPicPr>
            <a:picLocks noChangeAspect="1" noChangeArrowheads="1"/>
          </p:cNvPicPr>
          <p:nvPr/>
        </p:nvPicPr>
        <p:blipFill>
          <a:blip r:embed="rId1">
            <a:clrChange>
              <a:clrFrom>
                <a:srgbClr val="FFFFFF"/>
              </a:clrFrom>
              <a:clrTo>
                <a:srgbClr val="FFFFFF">
                  <a:alpha val="0"/>
                </a:srgbClr>
              </a:clrTo>
            </a:clrChange>
            <a:duotone>
              <a:schemeClr val="accent4">
                <a:shade val="45000"/>
                <a:satMod val="135000"/>
              </a:schemeClr>
              <a:prstClr val="white"/>
            </a:duotone>
          </a:blip>
          <a:srcRect l="922" t="10748" r="948" b="10780"/>
          <a:stretch>
            <a:fillRect/>
          </a:stretch>
        </p:blipFill>
        <p:spPr bwMode="auto">
          <a:xfrm>
            <a:off x="899592" y="836712"/>
            <a:ext cx="7962222" cy="5365508"/>
          </a:xfrm>
          <a:prstGeom prst="rect">
            <a:avLst/>
          </a:prstGeom>
          <a:noFill/>
          <a:ln>
            <a:noFill/>
          </a:ln>
          <a:effectLst/>
        </p:spPr>
      </p:pic>
      <p:sp>
        <p:nvSpPr>
          <p:cNvPr id="64516" name="文本框 4"/>
          <p:cNvSpPr txBox="1"/>
          <p:nvPr/>
        </p:nvSpPr>
        <p:spPr>
          <a:xfrm>
            <a:off x="1116013" y="193675"/>
            <a:ext cx="4654550" cy="5238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zh-CN" altLang="en-US" sz="2800" b="1" dirty="0">
                <a:solidFill>
                  <a:srgbClr val="002060"/>
                </a:solidFill>
                <a:ea typeface="楷体_GB2312" pitchFamily="49" charset="-122"/>
              </a:rPr>
              <a:t>紧凑例子</a:t>
            </a:r>
            <a:endParaRPr lang="zh-CN" altLang="en-US" sz="2800" b="1" dirty="0">
              <a:solidFill>
                <a:srgbClr val="002060"/>
              </a:solidFill>
              <a:ea typeface="楷体_GB2312"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66630" name="Rectangle 6"/>
          <p:cNvSpPr/>
          <p:nvPr/>
        </p:nvSpPr>
        <p:spPr>
          <a:xfrm>
            <a:off x="628650" y="981075"/>
            <a:ext cx="8229600" cy="45466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50000"/>
              </a:lnSpc>
              <a:buClrTx/>
              <a:buSzTx/>
              <a:buFontTx/>
              <a:buNone/>
            </a:pPr>
            <a:r>
              <a:rPr lang="zh-CN" altLang="en-US" sz="2400" b="1" dirty="0">
                <a:solidFill>
                  <a:srgbClr val="FF9900"/>
                </a:solidFill>
                <a:latin typeface="楷体_GB2312" pitchFamily="49" charset="-122"/>
                <a:ea typeface="楷体_GB2312" pitchFamily="49" charset="-122"/>
              </a:rPr>
              <a:t>优缺点：</a:t>
            </a:r>
            <a:endParaRPr lang="zh-CN" altLang="en-US" sz="2400" b="1" dirty="0">
              <a:solidFill>
                <a:srgbClr val="FF9900"/>
              </a:solidFill>
              <a:latin typeface="楷体_GB2312" pitchFamily="49" charset="-122"/>
              <a:ea typeface="楷体_GB2312" pitchFamily="49" charset="-122"/>
            </a:endParaRPr>
          </a:p>
          <a:p>
            <a:pPr marL="0" lvl="0" indent="0" eaLnBrk="1" hangingPunct="1">
              <a:lnSpc>
                <a:spcPct val="150000"/>
              </a:lnSpc>
              <a:buClrTx/>
              <a:buSzTx/>
              <a:buFontTx/>
              <a:buNone/>
            </a:pPr>
            <a:r>
              <a:rPr lang="zh-CN" altLang="en-US" sz="2400" b="1" dirty="0">
                <a:solidFill>
                  <a:srgbClr val="000099"/>
                </a:solidFill>
                <a:latin typeface="楷体_GB2312" pitchFamily="49" charset="-122"/>
                <a:ea typeface="楷体_GB2312" pitchFamily="49" charset="-122"/>
              </a:rPr>
              <a:t>  （</a:t>
            </a:r>
            <a:r>
              <a:rPr lang="en-US" altLang="zh-CN" sz="2400" b="1" dirty="0">
                <a:solidFill>
                  <a:srgbClr val="000099"/>
                </a:solidFill>
                <a:latin typeface="楷体_GB2312" pitchFamily="49" charset="-122"/>
                <a:ea typeface="楷体_GB2312" pitchFamily="49" charset="-122"/>
              </a:rPr>
              <a:t>1</a:t>
            </a:r>
            <a:r>
              <a:rPr lang="zh-CN" altLang="en-US" sz="2400" b="1" dirty="0">
                <a:solidFill>
                  <a:srgbClr val="000099"/>
                </a:solidFill>
                <a:latin typeface="楷体_GB2312" pitchFamily="49" charset="-122"/>
                <a:ea typeface="楷体_GB2312" pitchFamily="49" charset="-122"/>
              </a:rPr>
              <a:t>）集中分散的空闲区，提高了主存空间的利用率；</a:t>
            </a:r>
            <a:endParaRPr lang="zh-CN" altLang="en-US" sz="2400" b="1" dirty="0">
              <a:solidFill>
                <a:srgbClr val="000099"/>
              </a:solidFill>
              <a:latin typeface="楷体_GB2312" pitchFamily="49" charset="-122"/>
              <a:ea typeface="楷体_GB2312" pitchFamily="49" charset="-122"/>
            </a:endParaRPr>
          </a:p>
          <a:p>
            <a:pPr marL="0" lvl="0" indent="0" eaLnBrk="1" hangingPunct="1">
              <a:lnSpc>
                <a:spcPct val="150000"/>
              </a:lnSpc>
              <a:spcBef>
                <a:spcPct val="0"/>
              </a:spcBef>
              <a:buClrTx/>
              <a:buSzTx/>
              <a:buFontTx/>
              <a:buNone/>
            </a:pPr>
            <a:r>
              <a:rPr lang="zh-CN" altLang="en-US" sz="2400" b="1" dirty="0">
                <a:solidFill>
                  <a:srgbClr val="000099"/>
                </a:solidFill>
                <a:latin typeface="楷体_GB2312" pitchFamily="49" charset="-122"/>
                <a:ea typeface="楷体_GB2312" pitchFamily="49" charset="-122"/>
              </a:rPr>
              <a:t>  （</a:t>
            </a:r>
            <a:r>
              <a:rPr lang="en-US" altLang="zh-CN" sz="2400" b="1" dirty="0">
                <a:solidFill>
                  <a:srgbClr val="000099"/>
                </a:solidFill>
                <a:ea typeface="楷体_GB2312" pitchFamily="49" charset="-122"/>
              </a:rPr>
              <a:t>2</a:t>
            </a:r>
            <a:r>
              <a:rPr lang="zh-CN" altLang="en-US" sz="2400" b="1" dirty="0">
                <a:solidFill>
                  <a:srgbClr val="000099"/>
                </a:solidFill>
                <a:ea typeface="楷体_GB2312" pitchFamily="49" charset="-122"/>
              </a:rPr>
              <a:t>）移动会增加系统的开销，花费大量的</a:t>
            </a:r>
            <a:r>
              <a:rPr lang="en-US" altLang="zh-CN" sz="2400" b="1" dirty="0">
                <a:solidFill>
                  <a:srgbClr val="000099"/>
                </a:solidFill>
                <a:ea typeface="楷体_GB2312" pitchFamily="49" charset="-122"/>
              </a:rPr>
              <a:t>CPU</a:t>
            </a:r>
            <a:r>
              <a:rPr lang="zh-CN" altLang="en-US" sz="2400" b="1" dirty="0">
                <a:solidFill>
                  <a:srgbClr val="000099"/>
                </a:solidFill>
                <a:ea typeface="楷体_GB2312" pitchFamily="49" charset="-122"/>
              </a:rPr>
              <a:t>时间；      </a:t>
            </a:r>
            <a:endParaRPr lang="zh-CN" altLang="en-US" sz="2400" b="1" dirty="0">
              <a:solidFill>
                <a:srgbClr val="000099"/>
              </a:solidFill>
              <a:ea typeface="楷体_GB2312" pitchFamily="49" charset="-122"/>
            </a:endParaRPr>
          </a:p>
          <a:p>
            <a:pPr marL="0" lvl="0" indent="0" eaLnBrk="1" hangingPunct="1">
              <a:lnSpc>
                <a:spcPct val="150000"/>
              </a:lnSpc>
              <a:spcBef>
                <a:spcPct val="0"/>
              </a:spcBef>
              <a:buClrTx/>
              <a:buSzTx/>
              <a:buFontTx/>
              <a:buNone/>
            </a:pPr>
            <a:r>
              <a:rPr lang="zh-CN" altLang="en-US" sz="2400" b="1" dirty="0">
                <a:solidFill>
                  <a:srgbClr val="000099"/>
                </a:solidFill>
                <a:ea typeface="楷体_GB2312" pitchFamily="49" charset="-122"/>
              </a:rPr>
              <a:t>             （尽量减少移动）</a:t>
            </a:r>
            <a:endParaRPr lang="zh-CN" altLang="en-US" sz="2400" b="1" dirty="0">
              <a:solidFill>
                <a:srgbClr val="000099"/>
              </a:solidFill>
              <a:ea typeface="楷体_GB2312" pitchFamily="49" charset="-122"/>
            </a:endParaRPr>
          </a:p>
          <a:p>
            <a:pPr marL="0" lvl="0" indent="0" eaLnBrk="1" hangingPunct="1">
              <a:lnSpc>
                <a:spcPct val="15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3</a:t>
            </a:r>
            <a:r>
              <a:rPr lang="zh-CN" altLang="en-US" sz="2400" b="1" dirty="0">
                <a:solidFill>
                  <a:srgbClr val="000099"/>
                </a:solidFill>
                <a:ea typeface="楷体_GB2312" pitchFamily="49" charset="-122"/>
              </a:rPr>
              <a:t>）移动是有条件的。</a:t>
            </a:r>
            <a:endParaRPr lang="zh-CN" altLang="en-US" sz="2400" b="1" dirty="0">
              <a:solidFill>
                <a:srgbClr val="000099"/>
              </a:solidFill>
              <a:ea typeface="楷体_GB2312" pitchFamily="49" charset="-122"/>
            </a:endParaRPr>
          </a:p>
          <a:p>
            <a:pPr marL="0" lvl="0" indent="0" eaLnBrk="1" hangingPunct="1">
              <a:lnSpc>
                <a:spcPct val="150000"/>
              </a:lnSpc>
              <a:spcBef>
                <a:spcPct val="0"/>
              </a:spcBef>
              <a:buClrTx/>
              <a:buSzTx/>
              <a:buFontTx/>
              <a:buNone/>
            </a:pPr>
            <a:r>
              <a:rPr lang="zh-CN" altLang="en-US" sz="2400" b="1" dirty="0">
                <a:solidFill>
                  <a:srgbClr val="000099"/>
                </a:solidFill>
                <a:ea typeface="楷体_GB2312" pitchFamily="49" charset="-122"/>
              </a:rPr>
              <a:t>             （正等待外围设备进行信息传输的进程不能移动）</a:t>
            </a:r>
            <a:endParaRPr lang="zh-CN" altLang="en-US" sz="2400" b="1" dirty="0">
              <a:solidFill>
                <a:srgbClr val="000099"/>
              </a:solidFill>
              <a:ea typeface="楷体_GB2312" pitchFamily="49" charset="-122"/>
            </a:endParaRPr>
          </a:p>
          <a:p>
            <a:pPr marL="0" lvl="0" indent="0" eaLnBrk="1" hangingPunct="1">
              <a:lnSpc>
                <a:spcPct val="15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4</a:t>
            </a:r>
            <a:r>
              <a:rPr lang="zh-CN" altLang="en-US" sz="2400" b="1" dirty="0">
                <a:solidFill>
                  <a:srgbClr val="000099"/>
                </a:solidFill>
                <a:ea typeface="楷体_GB2312" pitchFamily="49" charset="-122"/>
              </a:rPr>
              <a:t>）当系统进行拼接时，它必须停止所有其它的工作；</a:t>
            </a:r>
            <a:endParaRPr lang="zh-CN" altLang="en-US" sz="2400" b="1" dirty="0">
              <a:solidFill>
                <a:srgbClr val="000099"/>
              </a:solidFill>
              <a:ea typeface="楷体_GB2312" pitchFamily="49" charset="-122"/>
            </a:endParaRPr>
          </a:p>
          <a:p>
            <a:pPr marL="0" lvl="0" indent="0" eaLnBrk="1" hangingPunct="1">
              <a:lnSpc>
                <a:spcPct val="15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5</a:t>
            </a:r>
            <a:r>
              <a:rPr lang="zh-CN" altLang="en-US" sz="2400" b="1" dirty="0">
                <a:solidFill>
                  <a:srgbClr val="000099"/>
                </a:solidFill>
                <a:ea typeface="楷体_GB2312" pitchFamily="49" charset="-122"/>
              </a:rPr>
              <a:t>）拼接需要重新定位已装入主存的作业。</a:t>
            </a:r>
            <a:r>
              <a:rPr lang="zh-CN" altLang="en-US" sz="2400" b="1" dirty="0">
                <a:solidFill>
                  <a:srgbClr val="000099"/>
                </a:solidFill>
                <a:latin typeface="楷体_GB2312" pitchFamily="49" charset="-122"/>
                <a:ea typeface="楷体_GB2312" pitchFamily="49" charset="-122"/>
              </a:rPr>
              <a:t> </a:t>
            </a:r>
            <a:endParaRPr lang="zh-CN" altLang="en-US" sz="2400" b="1" dirty="0">
              <a:solidFill>
                <a:srgbClr val="000099"/>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66630"/>
                                        </p:tgtEl>
                                        <p:attrNameLst>
                                          <p:attrName>style.visibility</p:attrName>
                                        </p:attrNameLst>
                                      </p:cBhvr>
                                      <p:to>
                                        <p:strVal val="visible"/>
                                      </p:to>
                                    </p:set>
                                    <p:anim calcmode="lin" valueType="num">
                                      <p:cBhvr additive="base">
                                        <p:cTn id="7" dur="500" fill="hold"/>
                                        <p:tgtEl>
                                          <p:spTgt spid="666630"/>
                                        </p:tgtEl>
                                        <p:attrNameLst>
                                          <p:attrName>ppt_x</p:attrName>
                                        </p:attrNameLst>
                                      </p:cBhvr>
                                      <p:tavLst>
                                        <p:tav tm="0">
                                          <p:val>
                                            <p:strVal val="0-#ppt_w/2"/>
                                          </p:val>
                                        </p:tav>
                                        <p:tav tm="100000">
                                          <p:val>
                                            <p:strVal val="#ppt_x"/>
                                          </p:val>
                                        </p:tav>
                                      </p:tavLst>
                                    </p:anim>
                                    <p:anim calcmode="lin" valueType="num">
                                      <p:cBhvr additive="base">
                                        <p:cTn id="8" dur="500" fill="hold"/>
                                        <p:tgtEl>
                                          <p:spTgt spid="6666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3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44418" name="Rectangle 2"/>
          <p:cNvSpPr/>
          <p:nvPr/>
        </p:nvSpPr>
        <p:spPr>
          <a:xfrm>
            <a:off x="755650" y="476250"/>
            <a:ext cx="4394200" cy="476250"/>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006600"/>
                </a:solidFill>
                <a:latin typeface="楷体_GB2312" pitchFamily="49" charset="-122"/>
                <a:ea typeface="楷体_GB2312" pitchFamily="49" charset="-122"/>
              </a:rPr>
              <a:t>动态重定位</a:t>
            </a:r>
            <a:endParaRPr lang="zh-CN" altLang="en-US" sz="2400" b="1" dirty="0">
              <a:solidFill>
                <a:srgbClr val="006600"/>
              </a:solidFill>
              <a:latin typeface="楷体_GB2312" pitchFamily="49" charset="-122"/>
              <a:ea typeface="楷体_GB2312" pitchFamily="49" charset="-122"/>
            </a:endParaRPr>
          </a:p>
        </p:txBody>
      </p:sp>
      <p:sp>
        <p:nvSpPr>
          <p:cNvPr id="444419" name="Rectangle 3"/>
          <p:cNvSpPr/>
          <p:nvPr/>
        </p:nvSpPr>
        <p:spPr>
          <a:xfrm>
            <a:off x="762000" y="1052513"/>
            <a:ext cx="83820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在作业执行过程中，每当执行一条指令时都由</a:t>
            </a:r>
            <a:r>
              <a:rPr lang="zh-CN" altLang="en-US" sz="2400" b="1" dirty="0">
                <a:solidFill>
                  <a:srgbClr val="FF0000"/>
                </a:solidFill>
                <a:ea typeface="楷体_GB2312" pitchFamily="49" charset="-122"/>
              </a:rPr>
              <a:t>硬件地址转换机构</a:t>
            </a:r>
            <a:r>
              <a:rPr lang="zh-CN" altLang="en-US" sz="2400" b="1" dirty="0">
                <a:solidFill>
                  <a:srgbClr val="000099"/>
                </a:solidFill>
                <a:ea typeface="楷体_GB2312" pitchFamily="49" charset="-122"/>
              </a:rPr>
              <a:t>将指令中的逻辑地址转换成物理地址。（在作业执行时动态完成） </a:t>
            </a:r>
            <a:endParaRPr lang="zh-CN" altLang="en-US" sz="2400" b="1" dirty="0">
              <a:solidFill>
                <a:srgbClr val="000099"/>
              </a:solidFill>
              <a:ea typeface="楷体_GB2312" pitchFamily="49" charset="-122"/>
            </a:endParaRPr>
          </a:p>
        </p:txBody>
      </p:sp>
      <p:sp>
        <p:nvSpPr>
          <p:cNvPr id="444421" name="Rectangle 5"/>
          <p:cNvSpPr/>
          <p:nvPr/>
        </p:nvSpPr>
        <p:spPr>
          <a:xfrm>
            <a:off x="762000" y="2438400"/>
            <a:ext cx="8382000" cy="18446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动态重定位时，</a:t>
            </a:r>
            <a:r>
              <a:rPr lang="zh-CN" altLang="en-US" sz="2400" b="1" dirty="0">
                <a:solidFill>
                  <a:srgbClr val="9900CC"/>
                </a:solidFill>
                <a:latin typeface="楷体_GB2312" pitchFamily="49" charset="-122"/>
                <a:ea typeface="楷体_GB2312" pitchFamily="49" charset="-122"/>
              </a:rPr>
              <a:t>处理机每执行一条指令都会把指令中的逻辑地址与重定位寄存器中的数值相加得到物理地址，</a:t>
            </a:r>
            <a:r>
              <a:rPr lang="zh-CN" altLang="en-US" sz="2400" b="1" dirty="0">
                <a:solidFill>
                  <a:srgbClr val="000099"/>
                </a:solidFill>
                <a:latin typeface="楷体_GB2312" pitchFamily="49" charset="-122"/>
                <a:ea typeface="楷体_GB2312" pitchFamily="49" charset="-122"/>
              </a:rPr>
              <a:t>然后按物理地址访问主存储器。重定位寄存器的值是根据作业分配到的</a:t>
            </a:r>
            <a:r>
              <a:rPr lang="zh-CN" altLang="en-US" sz="2400" b="1" dirty="0">
                <a:solidFill>
                  <a:srgbClr val="990033"/>
                </a:solidFill>
                <a:latin typeface="楷体_GB2312" pitchFamily="49" charset="-122"/>
                <a:ea typeface="楷体_GB2312" pitchFamily="49" charset="-122"/>
              </a:rPr>
              <a:t>存储空间起始地址</a:t>
            </a:r>
            <a:r>
              <a:rPr lang="zh-CN" altLang="en-US" sz="2400" b="1" dirty="0">
                <a:solidFill>
                  <a:srgbClr val="000099"/>
                </a:solidFill>
                <a:latin typeface="楷体_GB2312" pitchFamily="49" charset="-122"/>
                <a:ea typeface="楷体_GB2312" pitchFamily="49" charset="-122"/>
              </a:rPr>
              <a:t>来设定的。</a:t>
            </a:r>
            <a:endParaRPr lang="zh-CN" altLang="en-US" sz="2400" b="1" dirty="0">
              <a:solidFill>
                <a:srgbClr val="000099"/>
              </a:solidFill>
              <a:latin typeface="楷体_GB2312" pitchFamily="49" charset="-122"/>
              <a:ea typeface="楷体_GB2312" pitchFamily="49" charset="-122"/>
            </a:endParaRPr>
          </a:p>
        </p:txBody>
      </p:sp>
      <p:sp>
        <p:nvSpPr>
          <p:cNvPr id="444423" name="Rectangle 7"/>
          <p:cNvSpPr/>
          <p:nvPr/>
        </p:nvSpPr>
        <p:spPr>
          <a:xfrm>
            <a:off x="762000" y="4343400"/>
            <a:ext cx="8077200" cy="18446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采用动态重定位技术后，程序中所有指令和数据的实际地址是在程序运行过程中最后访问指令和数据的时刻确定的。因此，在作业运行过程中临时申请分配附加的存储区域或释放巳占用的部分存储空间是允许的。</a:t>
            </a:r>
            <a:endParaRPr lang="zh-CN" altLang="en-US" sz="2400" b="1" dirty="0">
              <a:solidFill>
                <a:srgbClr val="000099"/>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44418"/>
                                        </p:tgtEl>
                                        <p:attrNameLst>
                                          <p:attrName>style.visibility</p:attrName>
                                        </p:attrNameLst>
                                      </p:cBhvr>
                                      <p:to>
                                        <p:strVal val="visible"/>
                                      </p:to>
                                    </p:set>
                                    <p:anim calcmode="lin" valueType="num">
                                      <p:cBhvr additive="base">
                                        <p:cTn id="7" dur="500" fill="hold"/>
                                        <p:tgtEl>
                                          <p:spTgt spid="444418"/>
                                        </p:tgtEl>
                                        <p:attrNameLst>
                                          <p:attrName>ppt_x</p:attrName>
                                        </p:attrNameLst>
                                      </p:cBhvr>
                                      <p:tavLst>
                                        <p:tav tm="0">
                                          <p:val>
                                            <p:strVal val="0-#ppt_w/2"/>
                                          </p:val>
                                        </p:tav>
                                        <p:tav tm="100000">
                                          <p:val>
                                            <p:strVal val="#ppt_x"/>
                                          </p:val>
                                        </p:tav>
                                      </p:tavLst>
                                    </p:anim>
                                    <p:anim calcmode="lin" valueType="num">
                                      <p:cBhvr additive="base">
                                        <p:cTn id="8" dur="500" fill="hold"/>
                                        <p:tgtEl>
                                          <p:spTgt spid="4444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44419"/>
                                        </p:tgtEl>
                                        <p:attrNameLst>
                                          <p:attrName>style.visibility</p:attrName>
                                        </p:attrNameLst>
                                      </p:cBhvr>
                                      <p:to>
                                        <p:strVal val="visible"/>
                                      </p:to>
                                    </p:set>
                                    <p:anim calcmode="lin" valueType="num">
                                      <p:cBhvr additive="base">
                                        <p:cTn id="13" dur="500" fill="hold"/>
                                        <p:tgtEl>
                                          <p:spTgt spid="444419"/>
                                        </p:tgtEl>
                                        <p:attrNameLst>
                                          <p:attrName>ppt_x</p:attrName>
                                        </p:attrNameLst>
                                      </p:cBhvr>
                                      <p:tavLst>
                                        <p:tav tm="0">
                                          <p:val>
                                            <p:strVal val="0-#ppt_w/2"/>
                                          </p:val>
                                        </p:tav>
                                        <p:tav tm="100000">
                                          <p:val>
                                            <p:strVal val="#ppt_x"/>
                                          </p:val>
                                        </p:tav>
                                      </p:tavLst>
                                    </p:anim>
                                    <p:anim calcmode="lin" valueType="num">
                                      <p:cBhvr additive="base">
                                        <p:cTn id="14" dur="500" fill="hold"/>
                                        <p:tgtEl>
                                          <p:spTgt spid="4444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44421"/>
                                        </p:tgtEl>
                                        <p:attrNameLst>
                                          <p:attrName>style.visibility</p:attrName>
                                        </p:attrNameLst>
                                      </p:cBhvr>
                                      <p:to>
                                        <p:strVal val="visible"/>
                                      </p:to>
                                    </p:set>
                                    <p:anim calcmode="lin" valueType="num">
                                      <p:cBhvr additive="base">
                                        <p:cTn id="19" dur="500" fill="hold"/>
                                        <p:tgtEl>
                                          <p:spTgt spid="444421"/>
                                        </p:tgtEl>
                                        <p:attrNameLst>
                                          <p:attrName>ppt_x</p:attrName>
                                        </p:attrNameLst>
                                      </p:cBhvr>
                                      <p:tavLst>
                                        <p:tav tm="0">
                                          <p:val>
                                            <p:strVal val="0-#ppt_w/2"/>
                                          </p:val>
                                        </p:tav>
                                        <p:tav tm="100000">
                                          <p:val>
                                            <p:strVal val="#ppt_x"/>
                                          </p:val>
                                        </p:tav>
                                      </p:tavLst>
                                    </p:anim>
                                    <p:anim calcmode="lin" valueType="num">
                                      <p:cBhvr additive="base">
                                        <p:cTn id="20" dur="500" fill="hold"/>
                                        <p:tgtEl>
                                          <p:spTgt spid="44442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44423"/>
                                        </p:tgtEl>
                                        <p:attrNameLst>
                                          <p:attrName>style.visibility</p:attrName>
                                        </p:attrNameLst>
                                      </p:cBhvr>
                                      <p:to>
                                        <p:strVal val="visible"/>
                                      </p:to>
                                    </p:set>
                                    <p:anim calcmode="lin" valueType="num">
                                      <p:cBhvr additive="base">
                                        <p:cTn id="25" dur="500" fill="hold"/>
                                        <p:tgtEl>
                                          <p:spTgt spid="444423"/>
                                        </p:tgtEl>
                                        <p:attrNameLst>
                                          <p:attrName>ppt_x</p:attrName>
                                        </p:attrNameLst>
                                      </p:cBhvr>
                                      <p:tavLst>
                                        <p:tav tm="0">
                                          <p:val>
                                            <p:strVal val="0-#ppt_w/2"/>
                                          </p:val>
                                        </p:tav>
                                        <p:tav tm="100000">
                                          <p:val>
                                            <p:strVal val="#ppt_x"/>
                                          </p:val>
                                        </p:tav>
                                      </p:tavLst>
                                    </p:anim>
                                    <p:anim calcmode="lin" valueType="num">
                                      <p:cBhvr additive="base">
                                        <p:cTn id="26" dur="500" fill="hold"/>
                                        <p:tgtEl>
                                          <p:spTgt spid="4444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8" grpId="0" animBg="1"/>
      <p:bldP spid="444419" grpId="0"/>
      <p:bldP spid="444421" grpId="0"/>
      <p:bldP spid="44442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7587" name="Text Box 2"/>
          <p:cNvSpPr txBox="1"/>
          <p:nvPr/>
        </p:nvSpPr>
        <p:spPr>
          <a:xfrm>
            <a:off x="827088" y="981075"/>
            <a:ext cx="3017837" cy="457200"/>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动态重定位的实现</a:t>
            </a:r>
            <a:r>
              <a:rPr lang="zh-CN" altLang="en-US" sz="2400" b="1" dirty="0"/>
              <a:t> </a:t>
            </a:r>
            <a:endParaRPr lang="zh-CN" altLang="en-US" sz="2400" b="1" dirty="0"/>
          </a:p>
        </p:txBody>
      </p:sp>
      <p:sp>
        <p:nvSpPr>
          <p:cNvPr id="67588" name="Text Box 3"/>
          <p:cNvSpPr txBox="1"/>
          <p:nvPr/>
        </p:nvSpPr>
        <p:spPr>
          <a:xfrm>
            <a:off x="3276600" y="6092825"/>
            <a:ext cx="2711450" cy="457200"/>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动态重定位示意图</a:t>
            </a:r>
            <a:r>
              <a:rPr lang="zh-CN" altLang="en-US" sz="2400" dirty="0"/>
              <a:t> </a:t>
            </a:r>
            <a:endParaRPr lang="zh-CN" altLang="en-US" sz="2400" dirty="0"/>
          </a:p>
        </p:txBody>
      </p:sp>
      <p:graphicFrame>
        <p:nvGraphicFramePr>
          <p:cNvPr id="67589" name="Object 4"/>
          <p:cNvGraphicFramePr>
            <a:graphicFrameLocks noChangeAspect="1"/>
          </p:cNvGraphicFramePr>
          <p:nvPr/>
        </p:nvGraphicFramePr>
        <p:xfrm>
          <a:off x="395288" y="1271588"/>
          <a:ext cx="8820150" cy="4846637"/>
        </p:xfrm>
        <a:graphic>
          <a:graphicData uri="http://schemas.openxmlformats.org/presentationml/2006/ole">
            <mc:AlternateContent xmlns:mc="http://schemas.openxmlformats.org/markup-compatibility/2006">
              <mc:Choice xmlns:v="urn:schemas-microsoft-com:vml" Requires="v">
                <p:oleObj spid="_x0000_s3082" name="" r:id="rId1" imgW="3825240" imgH="1920240" progId="Visio.Drawing.4">
                  <p:embed/>
                </p:oleObj>
              </mc:Choice>
              <mc:Fallback>
                <p:oleObj name="" r:id="rId1" imgW="3825240" imgH="1920240" progId="Visio.Drawing.4">
                  <p:embed/>
                  <p:pic>
                    <p:nvPicPr>
                      <p:cNvPr id="0" name="图片 3081"/>
                      <p:cNvPicPr/>
                      <p:nvPr/>
                    </p:nvPicPr>
                    <p:blipFill>
                      <a:blip r:embed="rId2"/>
                      <a:stretch>
                        <a:fillRect/>
                      </a:stretch>
                    </p:blipFill>
                    <p:spPr>
                      <a:xfrm>
                        <a:off x="395288" y="1271588"/>
                        <a:ext cx="8820150" cy="4846637"/>
                      </a:xfrm>
                      <a:prstGeom prst="rect">
                        <a:avLst/>
                      </a:prstGeom>
                      <a:noFill/>
                      <a:ln w="38100">
                        <a:noFill/>
                        <a:miter/>
                      </a:ln>
                    </p:spPr>
                  </p:pic>
                </p:oleObj>
              </mc:Fallback>
            </mc:AlternateContent>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46466" name="Rectangle 2"/>
          <p:cNvSpPr/>
          <p:nvPr/>
        </p:nvSpPr>
        <p:spPr>
          <a:xfrm>
            <a:off x="611188" y="836613"/>
            <a:ext cx="8305800" cy="23558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990033"/>
                </a:solidFill>
                <a:ea typeface="楷体_GB2312" pitchFamily="49" charset="-122"/>
              </a:rPr>
              <a:t>优点：</a:t>
            </a:r>
            <a:endParaRPr lang="zh-CN" altLang="en-US" sz="2400" b="1" dirty="0">
              <a:solidFill>
                <a:srgbClr val="990033"/>
              </a:solidFill>
              <a:ea typeface="楷体_GB2312" pitchFamily="49" charset="-122"/>
            </a:endParaRPr>
          </a:p>
          <a:p>
            <a:pPr marL="0" lvl="0" indent="0" eaLnBrk="1" hangingPunct="1">
              <a:lnSpc>
                <a:spcPct val="120000"/>
              </a:lnSpc>
              <a:buClrTx/>
              <a:buSzTx/>
              <a:buFont typeface="Wingdings" panose="05000000000000000000" pitchFamily="2" charset="2"/>
              <a:buChar char="Ø"/>
            </a:pPr>
            <a:r>
              <a:rPr lang="zh-CN" altLang="en-US" sz="2400" b="1" dirty="0">
                <a:solidFill>
                  <a:srgbClr val="000099"/>
                </a:solidFill>
                <a:ea typeface="楷体_GB2312" pitchFamily="49" charset="-122"/>
              </a:rPr>
              <a:t> 主存的使用更加</a:t>
            </a:r>
            <a:r>
              <a:rPr lang="zh-CN" altLang="en-US" sz="2400" b="1" dirty="0">
                <a:solidFill>
                  <a:srgbClr val="9900CC"/>
                </a:solidFill>
                <a:ea typeface="楷体_GB2312" pitchFamily="49" charset="-122"/>
              </a:rPr>
              <a:t>灵活</a:t>
            </a:r>
            <a:r>
              <a:rPr lang="zh-CN" altLang="en-US" sz="2400" b="1" dirty="0">
                <a:solidFill>
                  <a:srgbClr val="000099"/>
                </a:solidFill>
                <a:ea typeface="楷体_GB2312" pitchFamily="49" charset="-122"/>
              </a:rPr>
              <a:t>有效。一个用户的作业不一定要分配在一个连续的存储区，因而可以使用较小的分配单位。而且在作业开始之前也不一定把它的地址空间中的信息全部装入主存，而可以在作业执行期间根据请求动态地进行。    </a:t>
            </a:r>
            <a:endParaRPr lang="zh-CN" altLang="en-US" sz="2400" b="1" dirty="0">
              <a:solidFill>
                <a:srgbClr val="000099"/>
              </a:solidFill>
              <a:ea typeface="楷体_GB2312" pitchFamily="49" charset="-122"/>
            </a:endParaRPr>
          </a:p>
        </p:txBody>
      </p:sp>
      <p:sp>
        <p:nvSpPr>
          <p:cNvPr id="446467" name="Rectangle 3"/>
          <p:cNvSpPr/>
          <p:nvPr/>
        </p:nvSpPr>
        <p:spPr>
          <a:xfrm>
            <a:off x="611188" y="4868863"/>
            <a:ext cx="8305800" cy="15525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990033"/>
                </a:solidFill>
                <a:ea typeface="楷体_GB2312" pitchFamily="49" charset="-122"/>
              </a:rPr>
              <a:t>缺点：</a:t>
            </a:r>
            <a:endParaRPr lang="zh-CN" altLang="en-US" sz="2400" b="1" dirty="0">
              <a:solidFill>
                <a:srgbClr val="990033"/>
              </a:solidFill>
              <a:ea typeface="楷体_GB2312" pitchFamily="49" charset="-122"/>
            </a:endParaRPr>
          </a:p>
          <a:p>
            <a:pPr marL="0" lvl="0" indent="0" eaLnBrk="1" hangingPunct="1">
              <a:lnSpc>
                <a:spcPct val="120000"/>
              </a:lnSpc>
              <a:buClrTx/>
              <a:buSzTx/>
              <a:buFont typeface="Wingdings" panose="05000000000000000000" pitchFamily="2" charset="2"/>
              <a:buChar char="Ø"/>
            </a:pPr>
            <a:r>
              <a:rPr lang="zh-CN" altLang="en-US" sz="2400" b="1" dirty="0">
                <a:solidFill>
                  <a:srgbClr val="000099"/>
                </a:solidFill>
                <a:ea typeface="楷体_GB2312" pitchFamily="49" charset="-122"/>
              </a:rPr>
              <a:t> 需要附加</a:t>
            </a:r>
            <a:r>
              <a:rPr lang="zh-CN" altLang="en-US" sz="2400" b="1" dirty="0">
                <a:solidFill>
                  <a:srgbClr val="9900CC"/>
                </a:solidFill>
                <a:ea typeface="楷体_GB2312" pitchFamily="49" charset="-122"/>
              </a:rPr>
              <a:t>硬件支持</a:t>
            </a:r>
            <a:r>
              <a:rPr lang="zh-CN" altLang="en-US" sz="2400" b="1" dirty="0">
                <a:solidFill>
                  <a:srgbClr val="000099"/>
                </a:solidFill>
                <a:ea typeface="楷体_GB2312" pitchFamily="49" charset="-122"/>
              </a:rPr>
              <a:t>；</a:t>
            </a:r>
            <a:endParaRPr lang="zh-CN" altLang="en-US" sz="2400" b="1" dirty="0">
              <a:solidFill>
                <a:srgbClr val="000099"/>
              </a:solidFill>
              <a:ea typeface="楷体_GB2312" pitchFamily="49" charset="-122"/>
            </a:endParaRPr>
          </a:p>
          <a:p>
            <a:pPr marL="0" lvl="0" indent="0" eaLnBrk="1" hangingPunct="1">
              <a:lnSpc>
                <a:spcPct val="120000"/>
              </a:lnSpc>
              <a:buClrTx/>
              <a:buSzTx/>
              <a:buFont typeface="Wingdings" panose="05000000000000000000" pitchFamily="2" charset="2"/>
              <a:buChar char="Ø"/>
            </a:pPr>
            <a:r>
              <a:rPr lang="zh-CN" altLang="en-US" sz="2400" b="1" dirty="0">
                <a:solidFill>
                  <a:srgbClr val="000099"/>
                </a:solidFill>
                <a:ea typeface="楷体_GB2312" pitchFamily="49" charset="-122"/>
              </a:rPr>
              <a:t> 实现存储器管理的软件比较</a:t>
            </a:r>
            <a:r>
              <a:rPr lang="zh-CN" altLang="en-US" sz="2400" b="1" dirty="0">
                <a:solidFill>
                  <a:srgbClr val="9900CC"/>
                </a:solidFill>
                <a:ea typeface="楷体_GB2312" pitchFamily="49" charset="-122"/>
              </a:rPr>
              <a:t>复杂</a:t>
            </a:r>
            <a:r>
              <a:rPr lang="zh-CN" altLang="en-US" sz="2400" b="1" dirty="0">
                <a:solidFill>
                  <a:srgbClr val="000099"/>
                </a:solidFill>
                <a:ea typeface="楷体_GB2312" pitchFamily="49" charset="-122"/>
              </a:rPr>
              <a:t>。</a:t>
            </a:r>
            <a:endParaRPr lang="zh-CN" altLang="en-US" sz="2400" b="1" dirty="0">
              <a:solidFill>
                <a:srgbClr val="000099"/>
              </a:solidFill>
              <a:ea typeface="楷体_GB2312" pitchFamily="49" charset="-122"/>
            </a:endParaRPr>
          </a:p>
        </p:txBody>
      </p:sp>
      <p:sp>
        <p:nvSpPr>
          <p:cNvPr id="446468" name="Rectangle 4"/>
          <p:cNvSpPr/>
          <p:nvPr/>
        </p:nvSpPr>
        <p:spPr>
          <a:xfrm>
            <a:off x="611188" y="3284538"/>
            <a:ext cx="83058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 typeface="Wingdings" panose="05000000000000000000" pitchFamily="2" charset="2"/>
              <a:buChar char="Ø"/>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几个作业</a:t>
            </a:r>
            <a:r>
              <a:rPr lang="zh-CN" altLang="en-US" sz="2400" b="1" dirty="0">
                <a:solidFill>
                  <a:srgbClr val="9900CC"/>
                </a:solidFill>
                <a:ea typeface="楷体_GB2312" pitchFamily="49" charset="-122"/>
              </a:rPr>
              <a:t>共享</a:t>
            </a:r>
            <a:r>
              <a:rPr lang="zh-CN" altLang="en-US" sz="2400" b="1" dirty="0">
                <a:solidFill>
                  <a:srgbClr val="000099"/>
                </a:solidFill>
                <a:ea typeface="楷体_GB2312" pitchFamily="49" charset="-122"/>
              </a:rPr>
              <a:t>一程序段的单个副本比较容易。    </a:t>
            </a:r>
            <a:endParaRPr lang="zh-CN" altLang="en-US" sz="2400" b="1" dirty="0">
              <a:solidFill>
                <a:srgbClr val="000099"/>
              </a:solidFill>
              <a:ea typeface="楷体_GB2312" pitchFamily="49" charset="-122"/>
            </a:endParaRPr>
          </a:p>
        </p:txBody>
      </p:sp>
      <p:sp>
        <p:nvSpPr>
          <p:cNvPr id="446469" name="Rectangle 5"/>
          <p:cNvSpPr/>
          <p:nvPr/>
        </p:nvSpPr>
        <p:spPr>
          <a:xfrm>
            <a:off x="611188" y="3860800"/>
            <a:ext cx="83058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 typeface="Wingdings" panose="05000000000000000000" pitchFamily="2" charset="2"/>
              <a:buChar char="Ø"/>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有可能向用户提供一个比主存的存储</a:t>
            </a:r>
            <a:r>
              <a:rPr lang="zh-CN" altLang="en-US" sz="2400" b="1" dirty="0">
                <a:solidFill>
                  <a:srgbClr val="9900CC"/>
                </a:solidFill>
                <a:ea typeface="楷体_GB2312" pitchFamily="49" charset="-122"/>
              </a:rPr>
              <a:t>空间大</a:t>
            </a:r>
            <a:r>
              <a:rPr lang="zh-CN" altLang="en-US" sz="2400" b="1" dirty="0">
                <a:solidFill>
                  <a:srgbClr val="000099"/>
                </a:solidFill>
                <a:ea typeface="楷体_GB2312" pitchFamily="49" charset="-122"/>
              </a:rPr>
              <a:t>用多的地址空间。</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46466"/>
                                        </p:tgtEl>
                                        <p:attrNameLst>
                                          <p:attrName>style.visibility</p:attrName>
                                        </p:attrNameLst>
                                      </p:cBhvr>
                                      <p:to>
                                        <p:strVal val="visible"/>
                                      </p:to>
                                    </p:set>
                                    <p:anim calcmode="lin" valueType="num">
                                      <p:cBhvr additive="base">
                                        <p:cTn id="7" dur="500" fill="hold"/>
                                        <p:tgtEl>
                                          <p:spTgt spid="446466"/>
                                        </p:tgtEl>
                                        <p:attrNameLst>
                                          <p:attrName>ppt_x</p:attrName>
                                        </p:attrNameLst>
                                      </p:cBhvr>
                                      <p:tavLst>
                                        <p:tav tm="0">
                                          <p:val>
                                            <p:strVal val="0-#ppt_w/2"/>
                                          </p:val>
                                        </p:tav>
                                        <p:tav tm="100000">
                                          <p:val>
                                            <p:strVal val="#ppt_x"/>
                                          </p:val>
                                        </p:tav>
                                      </p:tavLst>
                                    </p:anim>
                                    <p:anim calcmode="lin" valueType="num">
                                      <p:cBhvr additive="base">
                                        <p:cTn id="8" dur="500" fill="hold"/>
                                        <p:tgtEl>
                                          <p:spTgt spid="4464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46468"/>
                                        </p:tgtEl>
                                        <p:attrNameLst>
                                          <p:attrName>style.visibility</p:attrName>
                                        </p:attrNameLst>
                                      </p:cBhvr>
                                      <p:to>
                                        <p:strVal val="visible"/>
                                      </p:to>
                                    </p:set>
                                    <p:anim calcmode="lin" valueType="num">
                                      <p:cBhvr additive="base">
                                        <p:cTn id="13" dur="500" fill="hold"/>
                                        <p:tgtEl>
                                          <p:spTgt spid="446468"/>
                                        </p:tgtEl>
                                        <p:attrNameLst>
                                          <p:attrName>ppt_x</p:attrName>
                                        </p:attrNameLst>
                                      </p:cBhvr>
                                      <p:tavLst>
                                        <p:tav tm="0">
                                          <p:val>
                                            <p:strVal val="0-#ppt_w/2"/>
                                          </p:val>
                                        </p:tav>
                                        <p:tav tm="100000">
                                          <p:val>
                                            <p:strVal val="#ppt_x"/>
                                          </p:val>
                                        </p:tav>
                                      </p:tavLst>
                                    </p:anim>
                                    <p:anim calcmode="lin" valueType="num">
                                      <p:cBhvr additive="base">
                                        <p:cTn id="14" dur="500" fill="hold"/>
                                        <p:tgtEl>
                                          <p:spTgt spid="44646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46469"/>
                                        </p:tgtEl>
                                        <p:attrNameLst>
                                          <p:attrName>style.visibility</p:attrName>
                                        </p:attrNameLst>
                                      </p:cBhvr>
                                      <p:to>
                                        <p:strVal val="visible"/>
                                      </p:to>
                                    </p:set>
                                    <p:anim calcmode="lin" valueType="num">
                                      <p:cBhvr additive="base">
                                        <p:cTn id="19" dur="500" fill="hold"/>
                                        <p:tgtEl>
                                          <p:spTgt spid="446469"/>
                                        </p:tgtEl>
                                        <p:attrNameLst>
                                          <p:attrName>ppt_x</p:attrName>
                                        </p:attrNameLst>
                                      </p:cBhvr>
                                      <p:tavLst>
                                        <p:tav tm="0">
                                          <p:val>
                                            <p:strVal val="0-#ppt_w/2"/>
                                          </p:val>
                                        </p:tav>
                                        <p:tav tm="100000">
                                          <p:val>
                                            <p:strVal val="#ppt_x"/>
                                          </p:val>
                                        </p:tav>
                                      </p:tavLst>
                                    </p:anim>
                                    <p:anim calcmode="lin" valueType="num">
                                      <p:cBhvr additive="base">
                                        <p:cTn id="20" dur="500" fill="hold"/>
                                        <p:tgtEl>
                                          <p:spTgt spid="44646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46467"/>
                                        </p:tgtEl>
                                        <p:attrNameLst>
                                          <p:attrName>style.visibility</p:attrName>
                                        </p:attrNameLst>
                                      </p:cBhvr>
                                      <p:to>
                                        <p:strVal val="visible"/>
                                      </p:to>
                                    </p:set>
                                    <p:anim calcmode="lin" valueType="num">
                                      <p:cBhvr additive="base">
                                        <p:cTn id="25" dur="500" fill="hold"/>
                                        <p:tgtEl>
                                          <p:spTgt spid="446467"/>
                                        </p:tgtEl>
                                        <p:attrNameLst>
                                          <p:attrName>ppt_x</p:attrName>
                                        </p:attrNameLst>
                                      </p:cBhvr>
                                      <p:tavLst>
                                        <p:tav tm="0">
                                          <p:val>
                                            <p:strVal val="0-#ppt_w/2"/>
                                          </p:val>
                                        </p:tav>
                                        <p:tav tm="100000">
                                          <p:val>
                                            <p:strVal val="#ppt_x"/>
                                          </p:val>
                                        </p:tav>
                                      </p:tavLst>
                                    </p:anim>
                                    <p:anim calcmode="lin" valueType="num">
                                      <p:cBhvr additive="base">
                                        <p:cTn id="26" dur="500" fill="hold"/>
                                        <p:tgtEl>
                                          <p:spTgt spid="4464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6" grpId="0"/>
      <p:bldP spid="446467" grpId="0"/>
      <p:bldP spid="446468" grpId="0"/>
      <p:bldP spid="44646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9635" name="矩形 2"/>
          <p:cNvSpPr/>
          <p:nvPr/>
        </p:nvSpPr>
        <p:spPr>
          <a:xfrm>
            <a:off x="900113" y="1125538"/>
            <a:ext cx="7920037" cy="34893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r>
              <a:rPr lang="en-US" altLang="zh-CN" sz="2400" b="1" dirty="0">
                <a:solidFill>
                  <a:srgbClr val="000099"/>
                </a:solidFill>
                <a:latin typeface="黑体" panose="02010609060101010101" pitchFamily="49" charset="-122"/>
                <a:ea typeface="黑体" panose="02010609060101010101" pitchFamily="49" charset="-122"/>
              </a:rPr>
              <a:t>3. </a:t>
            </a:r>
            <a:r>
              <a:rPr lang="zh-CN" altLang="en-US" sz="2400" b="1" dirty="0">
                <a:solidFill>
                  <a:srgbClr val="000099"/>
                </a:solidFill>
                <a:latin typeface="黑体" panose="02010609060101010101" pitchFamily="49" charset="-122"/>
                <a:ea typeface="黑体" panose="02010609060101010101" pitchFamily="49" charset="-122"/>
              </a:rPr>
              <a:t>动态重定位分区分配算法</a:t>
            </a:r>
            <a:br>
              <a:rPr lang="zh-CN" altLang="en-US" sz="2400" b="1" dirty="0">
                <a:solidFill>
                  <a:srgbClr val="000099"/>
                </a:solidFill>
                <a:latin typeface="黑体" panose="02010609060101010101" pitchFamily="49" charset="-122"/>
                <a:ea typeface="黑体" panose="02010609060101010101" pitchFamily="49" charset="-122"/>
              </a:rPr>
            </a:br>
            <a:r>
              <a:rPr lang="zh-CN" altLang="en-US" sz="2400" b="1" dirty="0">
                <a:solidFill>
                  <a:srgbClr val="000099"/>
                </a:solidFill>
                <a:latin typeface="黑体" panose="02010609060101010101" pitchFamily="49" charset="-122"/>
                <a:ea typeface="黑体" panose="02010609060101010101" pitchFamily="49" charset="-122"/>
              </a:rPr>
              <a:t>　　</a:t>
            </a:r>
            <a:r>
              <a:rPr lang="zh-CN" altLang="en-US" sz="2400" b="1" dirty="0">
                <a:solidFill>
                  <a:srgbClr val="000099"/>
                </a:solidFill>
                <a:ea typeface="楷体_GB2312" pitchFamily="49" charset="-122"/>
              </a:rPr>
              <a:t>动态重定位分区分配算法与动态分区分配算法基本上相同，差别仅在于：在这种分配算法中，增加了紧凑的功能。通常，当该算法不能找到一个足够大的空闲分区以满足用户需求时，如果所有的小的空闲分区的容量总和大于用户的要求，这时便须对内存进行“紧凑”，将经“紧凑”后所得到的大空闲分区分配给用户。如果所有的小的空闲分区的容量总和仍小于用户的要求，则返回分配失败信息。 </a:t>
            </a:r>
            <a:endParaRPr lang="zh-CN" altLang="en-US" sz="2400" b="1" dirty="0">
              <a:solidFill>
                <a:srgbClr val="000099"/>
              </a:solidFill>
              <a:ea typeface="楷体_GB2312" pitchFamily="49"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pic>
        <p:nvPicPr>
          <p:cNvPr id="70659" name="Picture 4" descr="4-13"/>
          <p:cNvPicPr>
            <a:picLocks noChangeAspect="1"/>
          </p:cNvPicPr>
          <p:nvPr/>
        </p:nvPicPr>
        <p:blipFill>
          <a:blip r:embed="rId1"/>
          <a:stretch>
            <a:fillRect/>
          </a:stretch>
        </p:blipFill>
        <p:spPr>
          <a:xfrm>
            <a:off x="1331913" y="1196975"/>
            <a:ext cx="6897687" cy="4610100"/>
          </a:xfrm>
          <a:prstGeom prst="rect">
            <a:avLst/>
          </a:prstGeom>
          <a:noFill/>
          <a:ln w="9525">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xfrm>
            <a:off x="900113" y="1052513"/>
            <a:ext cx="7772400" cy="4149725"/>
          </a:xfrm>
          <a:ln/>
        </p:spPr>
        <p:txBody>
          <a:bodyPr vert="horz" wrap="square" lIns="91440" tIns="45720" rIns="91440" bIns="45720" anchor="b" anchorCtr="0"/>
          <a:p>
            <a:pPr eaLnBrk="1" hangingPunct="1"/>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　　</a:t>
            </a:r>
            <a:r>
              <a:rPr lang="en-US" altLang="zh-CN" sz="2800" b="1" dirty="0">
                <a:latin typeface="黑体" panose="02010609060101010101" pitchFamily="49" charset="-122"/>
                <a:ea typeface="黑体" panose="02010609060101010101" pitchFamily="49" charset="-122"/>
              </a:rPr>
              <a:t>5.5  </a:t>
            </a:r>
            <a:r>
              <a:rPr lang="zh-CN" altLang="en-US" sz="2800" b="1" dirty="0">
                <a:latin typeface="黑体" panose="02010609060101010101" pitchFamily="49" charset="-122"/>
                <a:ea typeface="黑体" panose="02010609060101010101" pitchFamily="49" charset="-122"/>
              </a:rPr>
              <a:t>对换与覆盖</a:t>
            </a:r>
            <a:br>
              <a:rPr lang="zh-CN" altLang="en-US" sz="2800" b="1" dirty="0">
                <a:latin typeface="黑体" panose="02010609060101010101" pitchFamily="49" charset="-122"/>
                <a:ea typeface="黑体" panose="02010609060101010101" pitchFamily="49" charset="-122"/>
              </a:rPr>
            </a:br>
            <a:br>
              <a:rPr lang="en-US" altLang="zh-CN" sz="2400" b="1" dirty="0"/>
            </a:br>
            <a:r>
              <a:rPr lang="zh-CN" altLang="en-US" sz="2400" b="1" dirty="0"/>
              <a:t>　　对换技术也称为交换技术，最早用于麻省理工学院的单用户分时系统</a:t>
            </a:r>
            <a:r>
              <a:rPr lang="en-US" altLang="zh-CN" sz="2400" b="1" dirty="0"/>
              <a:t>CTSS</a:t>
            </a:r>
            <a:r>
              <a:rPr lang="zh-CN" altLang="en-US" sz="2400" b="1" dirty="0"/>
              <a:t>中。由于当时计算机的内存都非常小，为了使该系统能分时运行多个用户程序而引入了对换技术。系统把所有的用户作业存放在磁盘上，每次只能调入一个作业进入内存，当该作业的一个时间片用完时，将它调至外存的后备队列上等待，再从后备队列上将另一个作业调入内存。这就是最早出现的分时系统中所用的对换技术。现在已经很少使用。</a:t>
            </a:r>
            <a:endParaRPr lang="zh-CN" altLang="en-US" sz="2400" b="1"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a:xfrm>
            <a:off x="827088" y="4652963"/>
            <a:ext cx="7772400" cy="1143000"/>
          </a:xfrm>
          <a:ln/>
        </p:spPr>
        <p:txBody>
          <a:bodyPr vert="horz" wrap="square" lIns="91440" tIns="45720" rIns="91440" bIns="45720" anchor="b" anchorCtr="0"/>
          <a:p>
            <a:pPr eaLnBrk="1" hangingPunct="1">
              <a:lnSpc>
                <a:spcPct val="140000"/>
              </a:lnSpc>
            </a:pPr>
            <a:r>
              <a:rPr lang="zh-CN" altLang="en-US" sz="2400" b="1" dirty="0">
                <a:latin typeface="黑体" panose="02010609060101010101" pitchFamily="49" charset="-122"/>
                <a:ea typeface="黑体" panose="02010609060101010101" pitchFamily="49" charset="-122"/>
              </a:rPr>
              <a:t>一、</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多道程序环境下的对换技术</a:t>
            </a:r>
            <a:br>
              <a:rPr lang="zh-CN" altLang="en-US" sz="2400" b="1" dirty="0">
                <a:latin typeface="黑体" panose="02010609060101010101" pitchFamily="49" charset="-122"/>
                <a:ea typeface="黑体" panose="02010609060101010101" pitchFamily="49" charset="-122"/>
              </a:rPr>
            </a:br>
            <a:r>
              <a:rPr lang="zh-CN" altLang="en-US" sz="2400" b="1" dirty="0">
                <a:latin typeface="黑体" panose="02010609060101010101" pitchFamily="49" charset="-122"/>
                <a:ea typeface="黑体" panose="02010609060101010101" pitchFamily="49" charset="-122"/>
              </a:rPr>
              <a:t>　　</a:t>
            </a:r>
            <a:r>
              <a:rPr lang="en-US" altLang="zh-CN" sz="2400" b="1" dirty="0">
                <a:latin typeface="黑体" panose="02010609060101010101" pitchFamily="49" charset="-122"/>
                <a:ea typeface="黑体" panose="02010609060101010101" pitchFamily="49" charset="-122"/>
              </a:rPr>
              <a:t>1. </a:t>
            </a:r>
            <a:r>
              <a:rPr lang="zh-CN" altLang="en-US" sz="2400" b="1" dirty="0">
                <a:latin typeface="黑体" panose="02010609060101010101" pitchFamily="49" charset="-122"/>
                <a:ea typeface="黑体" panose="02010609060101010101" pitchFamily="49" charset="-122"/>
              </a:rPr>
              <a:t>对换的引入</a:t>
            </a:r>
            <a:br>
              <a:rPr lang="zh-CN" altLang="en-US" sz="2400" b="1" dirty="0"/>
            </a:br>
            <a:r>
              <a:rPr lang="zh-CN" altLang="en-US" sz="2400" b="1" dirty="0"/>
              <a:t>　　在多道程序环境下，一方面，在内存中的某些进程由于某事件尚未发生而被阻塞运行，但它却占用了大量的内存空间，甚至有时可能出现在内存中所有进程都被阻塞，而无可运行之进程，迫使</a:t>
            </a:r>
            <a:r>
              <a:rPr lang="en-US" altLang="zh-CN" sz="2400" b="1" dirty="0"/>
              <a:t>CPU</a:t>
            </a:r>
            <a:r>
              <a:rPr lang="zh-CN" altLang="en-US" sz="2400" b="1" dirty="0"/>
              <a:t>停止下来等待的情况；另一方面，却又有着许多作业，因内存空间不足，一直驻留在外存上，而不能进入内存运行。显然这对系统资源是一种严重的浪费，且使系统吞吐量下降。 </a:t>
            </a:r>
            <a:endParaRPr lang="zh-CN" altLang="en-US" sz="2400" b="1"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a:xfrm>
            <a:off x="827088" y="3068638"/>
            <a:ext cx="7772400" cy="1143000"/>
          </a:xfrm>
          <a:ln/>
        </p:spPr>
        <p:txBody>
          <a:bodyPr vert="horz" wrap="square" lIns="91440" tIns="45720" rIns="91440" bIns="45720" anchor="b" anchorCtr="0"/>
          <a:p>
            <a:pPr eaLnBrk="1" hangingPunct="1">
              <a:lnSpc>
                <a:spcPct val="140000"/>
              </a:lnSpc>
            </a:pPr>
            <a:r>
              <a:rPr lang="zh-CN" altLang="en-US" sz="2400" b="1" dirty="0"/>
              <a:t>　　</a:t>
            </a:r>
            <a:r>
              <a:rPr lang="en-US" altLang="zh-CN" sz="2400" b="1" dirty="0">
                <a:latin typeface="黑体" panose="02010609060101010101" pitchFamily="49" charset="-122"/>
                <a:ea typeface="黑体" panose="02010609060101010101" pitchFamily="49" charset="-122"/>
              </a:rPr>
              <a:t>2. </a:t>
            </a:r>
            <a:r>
              <a:rPr lang="zh-CN" altLang="en-US" sz="2400" b="1" dirty="0">
                <a:latin typeface="黑体" panose="02010609060101010101" pitchFamily="49" charset="-122"/>
                <a:ea typeface="黑体" panose="02010609060101010101" pitchFamily="49" charset="-122"/>
              </a:rPr>
              <a:t>对换的类型</a:t>
            </a:r>
            <a:br>
              <a:rPr lang="zh-CN" altLang="en-US" sz="2400" b="1" dirty="0">
                <a:latin typeface="黑体" panose="02010609060101010101" pitchFamily="49" charset="-122"/>
                <a:ea typeface="黑体" panose="02010609060101010101" pitchFamily="49" charset="-122"/>
              </a:rPr>
            </a:br>
            <a:r>
              <a:rPr lang="zh-CN" altLang="en-US" sz="2400" b="1" dirty="0">
                <a:latin typeface="黑体" panose="02010609060101010101" pitchFamily="49" charset="-122"/>
                <a:ea typeface="黑体" panose="02010609060101010101" pitchFamily="49" charset="-122"/>
              </a:rPr>
              <a:t>　　</a:t>
            </a:r>
            <a:r>
              <a:rPr lang="zh-CN" altLang="en-US" sz="2400" b="1" dirty="0"/>
              <a:t>在每次对换时，都是将一定数量的程序或数据换入或换出内存。根据每次对换时所对换的数量，可将对换分为如下两类：</a:t>
            </a:r>
            <a:br>
              <a:rPr lang="zh-CN" altLang="en-US" sz="2400" b="1" dirty="0"/>
            </a:br>
            <a:r>
              <a:rPr lang="zh-CN" altLang="en-US" sz="2400" b="1" dirty="0"/>
              <a:t>　　</a:t>
            </a:r>
            <a:r>
              <a:rPr lang="en-US" altLang="zh-CN" sz="2400" b="1" dirty="0"/>
              <a:t>(1) </a:t>
            </a:r>
            <a:r>
              <a:rPr lang="zh-CN" altLang="en-US" sz="2400" b="1" dirty="0"/>
              <a:t>整体对换。</a:t>
            </a:r>
            <a:br>
              <a:rPr lang="zh-CN" altLang="en-US" sz="2400" b="1" dirty="0"/>
            </a:br>
            <a:r>
              <a:rPr lang="zh-CN" altLang="en-US" sz="2400" b="1" dirty="0"/>
              <a:t>　　</a:t>
            </a:r>
            <a:r>
              <a:rPr lang="en-US" altLang="zh-CN" sz="2400" b="1" dirty="0"/>
              <a:t>(2) </a:t>
            </a:r>
            <a:r>
              <a:rPr lang="zh-CN" altLang="en-US" sz="2400" b="1" dirty="0"/>
              <a:t>页面</a:t>
            </a:r>
            <a:r>
              <a:rPr lang="en-US" altLang="zh-CN" sz="2400" b="1" dirty="0"/>
              <a:t>(</a:t>
            </a:r>
            <a:r>
              <a:rPr lang="zh-CN" altLang="en-US" sz="2400" b="1" dirty="0"/>
              <a:t>分段</a:t>
            </a:r>
            <a:r>
              <a:rPr lang="en-US" altLang="zh-CN" sz="2400" b="1" dirty="0"/>
              <a:t>)</a:t>
            </a:r>
            <a:r>
              <a:rPr lang="zh-CN" altLang="en-US" sz="2400" b="1" dirty="0"/>
              <a:t>对换。 </a:t>
            </a:r>
            <a:endParaRPr lang="zh-CN" altLang="en-US" sz="2400" b="1"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pic>
        <p:nvPicPr>
          <p:cNvPr id="74755" name="内容占位符 4"/>
          <p:cNvPicPr>
            <a:picLocks noGrp="1" noChangeAspect="1"/>
          </p:cNvPicPr>
          <p:nvPr>
            <p:ph idx="1"/>
          </p:nvPr>
        </p:nvPicPr>
        <p:blipFill>
          <a:blip r:embed="rId1">
            <a:clrChange>
              <a:clrFrom>
                <a:srgbClr val="FFFFFF"/>
              </a:clrFrom>
              <a:clrTo>
                <a:srgbClr val="FFFFFF">
                  <a:alpha val="0"/>
                </a:srgbClr>
              </a:clrTo>
            </a:clrChange>
          </a:blip>
          <a:srcRect/>
          <a:stretch>
            <a:fillRect/>
          </a:stretch>
        </p:blipFill>
        <p:spPr>
          <a:xfrm>
            <a:off x="1547813" y="1089025"/>
            <a:ext cx="6630987" cy="4679950"/>
          </a:xfrm>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xfrm>
            <a:off x="827088" y="4076700"/>
            <a:ext cx="7772400" cy="1143000"/>
          </a:xfrm>
          <a:ln/>
        </p:spPr>
        <p:txBody>
          <a:bodyPr vert="horz" wrap="square" lIns="91440" tIns="45720" rIns="91440" bIns="45720" anchor="b" anchorCtr="0"/>
          <a:p>
            <a:pPr eaLnBrk="1" hangingPunct="1">
              <a:lnSpc>
                <a:spcPct val="150000"/>
              </a:lnSpc>
            </a:pPr>
            <a:r>
              <a:rPr lang="zh-CN" altLang="en-US" sz="2400" b="1" dirty="0">
                <a:latin typeface="黑体" panose="02010609060101010101" pitchFamily="49" charset="-122"/>
                <a:ea typeface="黑体" panose="02010609060101010101" pitchFamily="49" charset="-122"/>
              </a:rPr>
              <a:t>二、</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对换空间的管理 </a:t>
            </a:r>
            <a:br>
              <a:rPr lang="zh-CN" altLang="en-US" sz="2400" b="1" dirty="0">
                <a:latin typeface="黑体" panose="02010609060101010101" pitchFamily="49" charset="-122"/>
                <a:ea typeface="黑体" panose="02010609060101010101" pitchFamily="49" charset="-122"/>
              </a:rPr>
            </a:br>
            <a:r>
              <a:rPr lang="zh-CN" altLang="en-US" sz="2400" b="1" dirty="0">
                <a:latin typeface="黑体" panose="02010609060101010101" pitchFamily="49" charset="-122"/>
                <a:ea typeface="黑体" panose="02010609060101010101" pitchFamily="49" charset="-122"/>
              </a:rPr>
              <a:t>　　</a:t>
            </a:r>
            <a:r>
              <a:rPr lang="en-US" altLang="zh-CN" sz="2400" b="1" dirty="0">
                <a:latin typeface="黑体" panose="02010609060101010101" pitchFamily="49" charset="-122"/>
                <a:ea typeface="黑体" panose="02010609060101010101" pitchFamily="49" charset="-122"/>
              </a:rPr>
              <a:t>1. </a:t>
            </a:r>
            <a:r>
              <a:rPr lang="zh-CN" altLang="en-US" sz="2400" b="1" dirty="0">
                <a:latin typeface="黑体" panose="02010609060101010101" pitchFamily="49" charset="-122"/>
                <a:ea typeface="黑体" panose="02010609060101010101" pitchFamily="49" charset="-122"/>
              </a:rPr>
              <a:t>对换空间管理的主要目标</a:t>
            </a:r>
            <a:br>
              <a:rPr lang="zh-CN" altLang="en-US" sz="2400" b="1" dirty="0">
                <a:latin typeface="黑体" panose="02010609060101010101" pitchFamily="49" charset="-122"/>
                <a:ea typeface="黑体" panose="02010609060101010101" pitchFamily="49" charset="-122"/>
              </a:rPr>
            </a:br>
            <a:r>
              <a:rPr lang="zh-CN" altLang="en-US" sz="2400" b="1" dirty="0"/>
              <a:t>　　在具有对换功能的</a:t>
            </a:r>
            <a:r>
              <a:rPr lang="en-US" altLang="zh-CN" sz="2400" b="1" dirty="0"/>
              <a:t>OS</a:t>
            </a:r>
            <a:r>
              <a:rPr lang="zh-CN" altLang="en-US" sz="2400" b="1" dirty="0"/>
              <a:t>中，通常把磁盘空间分为文件区和对换区两部分。</a:t>
            </a:r>
            <a:br>
              <a:rPr lang="zh-CN" altLang="en-US" sz="2400" b="1" dirty="0"/>
            </a:br>
            <a:r>
              <a:rPr lang="zh-CN" altLang="en-US" sz="2400" b="1" dirty="0"/>
              <a:t>　　</a:t>
            </a:r>
            <a:r>
              <a:rPr lang="en-US" altLang="zh-CN" sz="2400" b="1" dirty="0"/>
              <a:t>1) </a:t>
            </a:r>
            <a:r>
              <a:rPr lang="zh-CN" altLang="en-US" sz="2400" b="1" dirty="0"/>
              <a:t>对文件区管理的主要目标</a:t>
            </a:r>
            <a:br>
              <a:rPr lang="zh-CN" altLang="en-US" sz="2400" b="1" dirty="0"/>
            </a:br>
            <a:r>
              <a:rPr lang="zh-CN" altLang="en-US" sz="2400" b="1" dirty="0"/>
              <a:t>　　</a:t>
            </a:r>
            <a:r>
              <a:rPr lang="en-US" altLang="zh-CN" sz="2400" b="1" dirty="0"/>
              <a:t>2) </a:t>
            </a:r>
            <a:r>
              <a:rPr lang="zh-CN" altLang="en-US" sz="2400" b="1" dirty="0"/>
              <a:t>对对换空间管理的主要目标</a:t>
            </a:r>
            <a:br>
              <a:rPr lang="zh-CN" altLang="en-US" sz="2400" b="1" dirty="0"/>
            </a:br>
            <a:endParaRPr lang="zh-CN" altLang="en-US" sz="2400" b="1"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xfrm>
            <a:off x="827088" y="4076700"/>
            <a:ext cx="7772400" cy="1143000"/>
          </a:xfrm>
          <a:ln/>
        </p:spPr>
        <p:txBody>
          <a:bodyPr vert="horz" wrap="square" lIns="91440" tIns="45720" rIns="91440" bIns="45720" anchor="b" anchorCtr="0"/>
          <a:p>
            <a:pPr eaLnBrk="1" hangingPunct="1">
              <a:lnSpc>
                <a:spcPct val="140000"/>
              </a:lnSpc>
            </a:pPr>
            <a:r>
              <a:rPr lang="zh-CN" altLang="en-US" sz="2400" b="1" dirty="0"/>
              <a:t>　　</a:t>
            </a:r>
            <a:r>
              <a:rPr lang="en-US" altLang="zh-CN" sz="2400" b="1" dirty="0">
                <a:latin typeface="黑体" panose="02010609060101010101" pitchFamily="49" charset="-122"/>
                <a:ea typeface="黑体" panose="02010609060101010101" pitchFamily="49" charset="-122"/>
              </a:rPr>
              <a:t>2. </a:t>
            </a:r>
            <a:r>
              <a:rPr lang="zh-CN" altLang="en-US" sz="2400" b="1" dirty="0">
                <a:latin typeface="黑体" panose="02010609060101010101" pitchFamily="49" charset="-122"/>
                <a:ea typeface="黑体" panose="02010609060101010101" pitchFamily="49" charset="-122"/>
              </a:rPr>
              <a:t>对换区空闲盘块管理中的数据结构</a:t>
            </a:r>
            <a:br>
              <a:rPr lang="zh-CN" altLang="en-US" sz="2400" b="1" dirty="0">
                <a:latin typeface="黑体" panose="02010609060101010101" pitchFamily="49" charset="-122"/>
                <a:ea typeface="黑体" panose="02010609060101010101" pitchFamily="49" charset="-122"/>
              </a:rPr>
            </a:br>
            <a:r>
              <a:rPr lang="zh-CN" altLang="en-US" sz="2400" b="1" dirty="0">
                <a:latin typeface="黑体" panose="02010609060101010101" pitchFamily="49" charset="-122"/>
                <a:ea typeface="黑体" panose="02010609060101010101" pitchFamily="49" charset="-122"/>
              </a:rPr>
              <a:t>　　</a:t>
            </a:r>
            <a:r>
              <a:rPr lang="zh-CN" altLang="en-US" sz="2400" b="1" dirty="0"/>
              <a:t>为了实现对对换区中的空闲盘块的管理，在系统中应配置相应的数据结构，用于记录外存对换区中的空闲盘块的使用情况。其数据结构的形式与内存在动态分区分配方式中所用数据结构相似，即同样可以用空闲分区表或空闲分区链。在空闲分区表的每个表目中，应包含两项：对换区的首址及其大小，分别用盘块号和盘块数表示。</a:t>
            </a:r>
            <a:endParaRPr lang="zh-CN" altLang="en-US" sz="2400" b="1"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xfrm>
            <a:off x="827088" y="3357563"/>
            <a:ext cx="7772400" cy="1143000"/>
          </a:xfrm>
          <a:ln/>
        </p:spPr>
        <p:txBody>
          <a:bodyPr vert="horz" wrap="square" lIns="91440" tIns="45720" rIns="91440" bIns="45720" anchor="b" anchorCtr="0"/>
          <a:p>
            <a:pPr eaLnBrk="1" hangingPunct="1">
              <a:lnSpc>
                <a:spcPct val="140000"/>
              </a:lnSpc>
            </a:pPr>
            <a:r>
              <a:rPr lang="zh-CN" altLang="en-US" sz="2400" b="1" dirty="0"/>
              <a:t>　　</a:t>
            </a:r>
            <a:r>
              <a:rPr lang="en-US" altLang="zh-CN" sz="2400" b="1" dirty="0">
                <a:latin typeface="黑体" panose="02010609060101010101" pitchFamily="49" charset="-122"/>
                <a:ea typeface="黑体" panose="02010609060101010101" pitchFamily="49" charset="-122"/>
              </a:rPr>
              <a:t>3. </a:t>
            </a:r>
            <a:r>
              <a:rPr lang="zh-CN" altLang="en-US" sz="2400" b="1" dirty="0">
                <a:latin typeface="黑体" panose="02010609060101010101" pitchFamily="49" charset="-122"/>
                <a:ea typeface="黑体" panose="02010609060101010101" pitchFamily="49" charset="-122"/>
              </a:rPr>
              <a:t>对换空间的分配与回收</a:t>
            </a:r>
            <a:br>
              <a:rPr lang="zh-CN" altLang="en-US" sz="2400" b="1" dirty="0">
                <a:latin typeface="黑体" panose="02010609060101010101" pitchFamily="49" charset="-122"/>
                <a:ea typeface="黑体" panose="02010609060101010101" pitchFamily="49" charset="-122"/>
              </a:rPr>
            </a:br>
            <a:r>
              <a:rPr lang="zh-CN" altLang="en-US" sz="2400" b="1" dirty="0">
                <a:latin typeface="黑体" panose="02010609060101010101" pitchFamily="49" charset="-122"/>
                <a:ea typeface="黑体" panose="02010609060101010101" pitchFamily="49" charset="-122"/>
              </a:rPr>
              <a:t>　　</a:t>
            </a:r>
            <a:r>
              <a:rPr lang="zh-CN" altLang="en-US" sz="2400" b="1" dirty="0"/>
              <a:t>由于对换分区的分配采用的是连续分配方式，因而对换空间的分配与回收与动态分区方式时的内存分配与回收方法雷同。其分配算法可以是首次适应算法、循环首次适应算法或最佳适应算法等。具体的分配操作也与图</a:t>
            </a:r>
            <a:r>
              <a:rPr lang="en-US" altLang="zh-CN" sz="2400" b="1" dirty="0"/>
              <a:t>4-8</a:t>
            </a:r>
            <a:r>
              <a:rPr lang="zh-CN" altLang="en-US" sz="2400" b="1" dirty="0"/>
              <a:t>中内存的分配过程相同。 </a:t>
            </a:r>
            <a:endParaRPr lang="zh-CN" altLang="en-US" sz="2400" b="1"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a:spLocks noGrp="1"/>
          </p:cNvSpPr>
          <p:nvPr>
            <p:ph type="title"/>
          </p:nvPr>
        </p:nvSpPr>
        <p:spPr>
          <a:xfrm>
            <a:off x="827088" y="3789363"/>
            <a:ext cx="7772400" cy="1143000"/>
          </a:xfrm>
          <a:ln/>
        </p:spPr>
        <p:txBody>
          <a:bodyPr vert="horz" wrap="square" lIns="91440" tIns="45720" rIns="91440" bIns="45720" anchor="b" anchorCtr="0"/>
          <a:p>
            <a:pPr eaLnBrk="1" hangingPunct="1">
              <a:lnSpc>
                <a:spcPct val="150000"/>
              </a:lnSpc>
            </a:pPr>
            <a:r>
              <a:rPr lang="zh-CN" altLang="en-US" sz="2400" b="1" dirty="0">
                <a:latin typeface="黑体" panose="02010609060101010101" pitchFamily="49" charset="-122"/>
                <a:ea typeface="黑体" panose="02010609060101010101" pitchFamily="49" charset="-122"/>
              </a:rPr>
              <a:t>三、</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进程的换出与换入</a:t>
            </a:r>
            <a:br>
              <a:rPr lang="zh-CN" altLang="en-US" sz="2400" b="1" dirty="0">
                <a:latin typeface="黑体" panose="02010609060101010101" pitchFamily="49" charset="-122"/>
                <a:ea typeface="黑体" panose="02010609060101010101" pitchFamily="49" charset="-122"/>
              </a:rPr>
            </a:br>
            <a:r>
              <a:rPr lang="zh-CN" altLang="en-US" sz="2400" b="1" dirty="0">
                <a:latin typeface="黑体" panose="02010609060101010101" pitchFamily="49" charset="-122"/>
                <a:ea typeface="黑体" panose="02010609060101010101" pitchFamily="49" charset="-122"/>
              </a:rPr>
              <a:t>　　</a:t>
            </a:r>
            <a:r>
              <a:rPr lang="en-US" altLang="zh-CN" sz="2400" b="1" dirty="0">
                <a:latin typeface="黑体" panose="02010609060101010101" pitchFamily="49" charset="-122"/>
                <a:ea typeface="黑体" panose="02010609060101010101" pitchFamily="49" charset="-122"/>
              </a:rPr>
              <a:t>1. </a:t>
            </a:r>
            <a:r>
              <a:rPr lang="zh-CN" altLang="en-US" sz="2400" b="1" dirty="0">
                <a:latin typeface="黑体" panose="02010609060101010101" pitchFamily="49" charset="-122"/>
                <a:ea typeface="黑体" panose="02010609060101010101" pitchFamily="49" charset="-122"/>
              </a:rPr>
              <a:t>进程的换出</a:t>
            </a:r>
            <a:br>
              <a:rPr lang="zh-CN" altLang="en-US" sz="2400" b="1" dirty="0">
                <a:latin typeface="黑体" panose="02010609060101010101" pitchFamily="49" charset="-122"/>
                <a:ea typeface="黑体" panose="02010609060101010101" pitchFamily="49" charset="-122"/>
              </a:rPr>
            </a:br>
            <a:r>
              <a:rPr lang="zh-CN" altLang="en-US" sz="2400" b="1" dirty="0"/>
              <a:t>　　对换进程在实现进程换出时，是将内存中的某些进程调出至对换区，以便腾出内存空间。换出过程可分为以下两步：</a:t>
            </a:r>
            <a:br>
              <a:rPr lang="zh-CN" altLang="en-US" sz="2400" b="1" dirty="0"/>
            </a:br>
            <a:r>
              <a:rPr lang="zh-CN" altLang="en-US" sz="2400" b="1" dirty="0"/>
              <a:t>　　</a:t>
            </a:r>
            <a:r>
              <a:rPr lang="en-US" altLang="zh-CN" sz="2400" b="1" dirty="0"/>
              <a:t>(1) </a:t>
            </a:r>
            <a:r>
              <a:rPr lang="zh-CN" altLang="en-US" sz="2400" b="1" dirty="0"/>
              <a:t>选择被换出的进程。</a:t>
            </a:r>
            <a:br>
              <a:rPr lang="zh-CN" altLang="en-US" sz="2400" b="1" dirty="0"/>
            </a:br>
            <a:r>
              <a:rPr lang="zh-CN" altLang="en-US" sz="2400" b="1" dirty="0"/>
              <a:t>　　</a:t>
            </a:r>
            <a:r>
              <a:rPr lang="en-US" altLang="zh-CN" sz="2400" b="1" dirty="0"/>
              <a:t>(2) </a:t>
            </a:r>
            <a:r>
              <a:rPr lang="zh-CN" altLang="en-US" sz="2400" b="1" dirty="0"/>
              <a:t>进程换出过程。 </a:t>
            </a:r>
            <a:endParaRPr lang="zh-CN" altLang="en-US" sz="2400" b="1"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a:xfrm>
            <a:off x="801688" y="3933825"/>
            <a:ext cx="7772400" cy="1143000"/>
          </a:xfrm>
          <a:ln/>
        </p:spPr>
        <p:txBody>
          <a:bodyPr vert="horz" wrap="square" lIns="91440" tIns="45720" rIns="91440" bIns="45720" anchor="b" anchorCtr="0"/>
          <a:p>
            <a:pPr eaLnBrk="1" hangingPunct="1">
              <a:lnSpc>
                <a:spcPct val="140000"/>
              </a:lnSpc>
            </a:pPr>
            <a:r>
              <a:rPr lang="zh-CN" altLang="en-US" sz="2400" b="1" dirty="0"/>
              <a:t>　　</a:t>
            </a:r>
            <a:r>
              <a:rPr lang="en-US" altLang="zh-CN" sz="2400" b="1" dirty="0">
                <a:latin typeface="黑体" panose="02010609060101010101" pitchFamily="49" charset="-122"/>
                <a:ea typeface="黑体" panose="02010609060101010101" pitchFamily="49" charset="-122"/>
              </a:rPr>
              <a:t>2. </a:t>
            </a:r>
            <a:r>
              <a:rPr lang="zh-CN" altLang="en-US" sz="2400" b="1" dirty="0">
                <a:latin typeface="黑体" panose="02010609060101010101" pitchFamily="49" charset="-122"/>
                <a:ea typeface="黑体" panose="02010609060101010101" pitchFamily="49" charset="-122"/>
              </a:rPr>
              <a:t>进程的换入</a:t>
            </a:r>
            <a:br>
              <a:rPr lang="zh-CN" altLang="en-US" sz="2400" b="1" dirty="0">
                <a:latin typeface="黑体" panose="02010609060101010101" pitchFamily="49" charset="-122"/>
                <a:ea typeface="黑体" panose="02010609060101010101" pitchFamily="49" charset="-122"/>
              </a:rPr>
            </a:br>
            <a:r>
              <a:rPr lang="zh-CN" altLang="en-US" sz="2400" b="1" dirty="0">
                <a:latin typeface="黑体" panose="02010609060101010101" pitchFamily="49" charset="-122"/>
                <a:ea typeface="黑体" panose="02010609060101010101" pitchFamily="49" charset="-122"/>
              </a:rPr>
              <a:t>　　</a:t>
            </a:r>
            <a:r>
              <a:rPr lang="zh-CN" altLang="en-US" sz="2400" b="1" dirty="0"/>
              <a:t>对换进程将定时执行换入操作，它首先查看</a:t>
            </a:r>
            <a:r>
              <a:rPr lang="en-US" altLang="zh-CN" sz="2400" b="1" dirty="0"/>
              <a:t>PCB</a:t>
            </a:r>
            <a:r>
              <a:rPr lang="zh-CN" altLang="en-US" sz="2400" b="1" dirty="0"/>
              <a:t>集合中所有进程的状态，从中找出“就绪”状态但已换出的进程。当有许多这样的进程时，它将选择其中已换出到磁盘上时间最久</a:t>
            </a:r>
            <a:r>
              <a:rPr lang="en-US" altLang="zh-CN" sz="2400" b="1" dirty="0"/>
              <a:t>(</a:t>
            </a:r>
            <a:r>
              <a:rPr lang="zh-CN" altLang="en-US" sz="2400" b="1" dirty="0"/>
              <a:t>必须大于规定时间，如</a:t>
            </a:r>
            <a:r>
              <a:rPr lang="en-US" altLang="zh-CN" sz="2400" b="1" dirty="0"/>
              <a:t>2 s)</a:t>
            </a:r>
            <a:r>
              <a:rPr lang="zh-CN" altLang="en-US" sz="2400" b="1" dirty="0"/>
              <a:t>的进程作为换入进程，为它申请内存。如果申请成功，可直接将进程从外存调入内存；如果失败，则需先将内存中的某些进程换出，腾出足够的内存空间后，再将进程调入。</a:t>
            </a:r>
            <a:endParaRPr lang="zh-CN" altLang="en-US" sz="2400" b="1" dirty="0"/>
          </a:p>
        </p:txBody>
      </p:sp>
      <p:sp>
        <p:nvSpPr>
          <p:cNvPr id="79875" name="AutoShape 4">
            <a:hlinkClick r:id="" action="ppaction://hlinkshowjump?jump=firstslide"/>
          </p:cNvPr>
          <p:cNvSpPr/>
          <p:nvPr/>
        </p:nvSpPr>
        <p:spPr>
          <a:xfrm>
            <a:off x="8591550" y="6540500"/>
            <a:ext cx="527050" cy="304800"/>
          </a:xfrm>
          <a:prstGeom prst="actionButtonBackPrevious">
            <a:avLst/>
          </a:prstGeom>
          <a:solidFill>
            <a:schemeClr val="hlink"/>
          </a:solidFill>
          <a:ln w="9525">
            <a:noFill/>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en-US" sz="3600" b="1" dirty="0">
              <a:solidFill>
                <a:schemeClr val="tx2"/>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80899" name="矩形 4"/>
          <p:cNvSpPr/>
          <p:nvPr/>
        </p:nvSpPr>
        <p:spPr>
          <a:xfrm>
            <a:off x="755015" y="404495"/>
            <a:ext cx="7026275" cy="460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zh-CN" altLang="en-US" sz="2400" b="1" dirty="0">
                <a:solidFill>
                  <a:srgbClr val="002060"/>
                </a:solidFill>
                <a:ea typeface="楷体_GB2312" pitchFamily="49" charset="-122"/>
              </a:rPr>
              <a:t>四、覆盖</a:t>
            </a:r>
            <a:r>
              <a:rPr lang="en-US" altLang="zh-CN" sz="2400" b="1" dirty="0">
                <a:solidFill>
                  <a:srgbClr val="002060"/>
                </a:solidFill>
                <a:ea typeface="楷体_GB2312" pitchFamily="49" charset="-122"/>
              </a:rPr>
              <a:t>Overlaying</a:t>
            </a:r>
            <a:endParaRPr lang="zh-CN" altLang="en-US" sz="2400" b="1" dirty="0">
              <a:solidFill>
                <a:srgbClr val="002060"/>
              </a:solidFill>
              <a:ea typeface="楷体_GB2312" pitchFamily="49" charset="-122"/>
            </a:endParaRPr>
          </a:p>
        </p:txBody>
      </p:sp>
      <p:sp>
        <p:nvSpPr>
          <p:cNvPr id="6" name="îşļïďè"/>
          <p:cNvSpPr/>
          <p:nvPr/>
        </p:nvSpPr>
        <p:spPr>
          <a:xfrm>
            <a:off x="1114425" y="5754688"/>
            <a:ext cx="623888" cy="623888"/>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bg1"/>
                </a:solidFill>
                <a:effectLst/>
                <a:uLnTx/>
                <a:uFillTx/>
                <a:latin typeface="+mj-lt"/>
                <a:ea typeface="+mn-ea"/>
                <a:cs typeface="+mn-cs"/>
              </a:rPr>
              <a:t>5</a:t>
            </a:r>
            <a:endParaRPr kumimoji="1" lang="en-US" altLang="zh-CN" sz="2800" b="1" i="0" u="none" strike="noStrike" kern="1200" cap="none" spc="0" normalizeH="0" baseline="0" noProof="0" dirty="0">
              <a:ln>
                <a:noFill/>
              </a:ln>
              <a:solidFill>
                <a:schemeClr val="bg1"/>
              </a:solidFill>
              <a:effectLst/>
              <a:uLnTx/>
              <a:uFillTx/>
              <a:latin typeface="+mj-lt"/>
              <a:ea typeface="+mn-ea"/>
              <a:cs typeface="+mn-cs"/>
            </a:endParaRPr>
          </a:p>
        </p:txBody>
      </p:sp>
      <p:sp>
        <p:nvSpPr>
          <p:cNvPr id="80901" name="îšḷîḑé"/>
          <p:cNvSpPr txBox="1"/>
          <p:nvPr/>
        </p:nvSpPr>
        <p:spPr>
          <a:xfrm>
            <a:off x="1816100" y="5867400"/>
            <a:ext cx="4659313" cy="430213"/>
          </a:xfrm>
          <a:prstGeom prst="rect">
            <a:avLst/>
          </a:prstGeom>
          <a:noFill/>
          <a:ln w="9525">
            <a:noFill/>
          </a:ln>
        </p:spPr>
        <p:txBody>
          <a:bodyPr anchor="b"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zh-CN" altLang="en-US" sz="2400" b="1" dirty="0">
                <a:solidFill>
                  <a:srgbClr val="000099"/>
                </a:solidFill>
                <a:ea typeface="楷体_GB2312" pitchFamily="49" charset="-122"/>
              </a:rPr>
              <a:t>应用于早期的操作系统</a:t>
            </a:r>
            <a:endParaRPr lang="zh-CN" altLang="en-US" sz="2400" b="1" dirty="0">
              <a:solidFill>
                <a:srgbClr val="000099"/>
              </a:solidFill>
              <a:ea typeface="楷体_GB2312" pitchFamily="49" charset="-122"/>
            </a:endParaRPr>
          </a:p>
        </p:txBody>
      </p:sp>
      <p:sp>
        <p:nvSpPr>
          <p:cNvPr id="8" name="işlíḋé"/>
          <p:cNvSpPr/>
          <p:nvPr/>
        </p:nvSpPr>
        <p:spPr>
          <a:xfrm>
            <a:off x="1120775" y="4875213"/>
            <a:ext cx="623888" cy="625475"/>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bg1"/>
                </a:solidFill>
                <a:effectLst/>
                <a:uLnTx/>
                <a:uFillTx/>
                <a:latin typeface="+mj-lt"/>
                <a:ea typeface="+mn-ea"/>
                <a:cs typeface="+mn-cs"/>
              </a:rPr>
              <a:t>4</a:t>
            </a:r>
            <a:endParaRPr kumimoji="1" lang="en-US" altLang="zh-CN" sz="2800" b="1" i="0" u="none" strike="noStrike" kern="1200" cap="none" spc="0" normalizeH="0" baseline="0" noProof="0" dirty="0">
              <a:ln>
                <a:noFill/>
              </a:ln>
              <a:solidFill>
                <a:schemeClr val="bg1"/>
              </a:solidFill>
              <a:effectLst/>
              <a:uLnTx/>
              <a:uFillTx/>
              <a:latin typeface="+mj-lt"/>
              <a:ea typeface="+mn-ea"/>
              <a:cs typeface="+mn-cs"/>
            </a:endParaRPr>
          </a:p>
        </p:txBody>
      </p:sp>
      <p:sp>
        <p:nvSpPr>
          <p:cNvPr id="80903" name="iṥlïḋè"/>
          <p:cNvSpPr txBox="1"/>
          <p:nvPr/>
        </p:nvSpPr>
        <p:spPr>
          <a:xfrm>
            <a:off x="1816100" y="4976813"/>
            <a:ext cx="4659313" cy="430212"/>
          </a:xfrm>
          <a:prstGeom prst="rect">
            <a:avLst/>
          </a:prstGeom>
          <a:noFill/>
          <a:ln w="9525">
            <a:noFill/>
          </a:ln>
        </p:spPr>
        <p:txBody>
          <a:bodyPr anchor="b"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zh-CN" altLang="en-US" sz="2400" b="1" dirty="0">
                <a:solidFill>
                  <a:srgbClr val="000099"/>
                </a:solidFill>
                <a:ea typeface="楷体_GB2312" pitchFamily="49" charset="-122"/>
              </a:rPr>
              <a:t>覆盖结构的程序设计很复杂</a:t>
            </a:r>
            <a:endParaRPr lang="en-US" altLang="zh-CN" sz="2400" b="1" dirty="0">
              <a:solidFill>
                <a:srgbClr val="000099"/>
              </a:solidFill>
              <a:ea typeface="楷体_GB2312" pitchFamily="49" charset="-122"/>
            </a:endParaRPr>
          </a:p>
        </p:txBody>
      </p:sp>
      <p:sp>
        <p:nvSpPr>
          <p:cNvPr id="10" name="i$1îḑe"/>
          <p:cNvSpPr/>
          <p:nvPr/>
        </p:nvSpPr>
        <p:spPr>
          <a:xfrm>
            <a:off x="1120775" y="3997325"/>
            <a:ext cx="623888" cy="623888"/>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bg1"/>
                </a:solidFill>
                <a:effectLst/>
                <a:uLnTx/>
                <a:uFillTx/>
                <a:latin typeface="+mj-lt"/>
                <a:ea typeface="+mn-ea"/>
                <a:cs typeface="+mn-cs"/>
              </a:rPr>
              <a:t>3</a:t>
            </a:r>
            <a:endParaRPr kumimoji="1" lang="en-US" altLang="zh-CN" sz="2800" b="1" i="0" u="none" strike="noStrike" kern="1200" cap="none" spc="0" normalizeH="0" baseline="0" noProof="0" dirty="0">
              <a:ln>
                <a:noFill/>
              </a:ln>
              <a:solidFill>
                <a:schemeClr val="bg1"/>
              </a:solidFill>
              <a:effectLst/>
              <a:uLnTx/>
              <a:uFillTx/>
              <a:latin typeface="+mj-lt"/>
              <a:ea typeface="+mn-ea"/>
              <a:cs typeface="+mn-cs"/>
            </a:endParaRPr>
          </a:p>
        </p:txBody>
      </p:sp>
      <p:sp>
        <p:nvSpPr>
          <p:cNvPr id="80905" name="í$1îḍe"/>
          <p:cNvSpPr txBox="1"/>
          <p:nvPr/>
        </p:nvSpPr>
        <p:spPr>
          <a:xfrm>
            <a:off x="1816100" y="4097338"/>
            <a:ext cx="8255000" cy="433387"/>
          </a:xfrm>
          <a:prstGeom prst="rect">
            <a:avLst/>
          </a:prstGeom>
          <a:noFill/>
          <a:ln w="9525">
            <a:noFill/>
          </a:ln>
        </p:spPr>
        <p:txBody>
          <a:bodyPr anchor="b"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zh-CN" altLang="en-US" sz="2400" b="1" dirty="0">
                <a:solidFill>
                  <a:srgbClr val="000099"/>
                </a:solidFill>
                <a:ea typeface="楷体_GB2312" pitchFamily="49" charset="-122"/>
              </a:rPr>
              <a:t>由程序员声明覆盖结构，不需要操作系统的特别支持</a:t>
            </a:r>
            <a:endParaRPr lang="en-US" altLang="zh-CN" sz="2400" b="1" dirty="0">
              <a:solidFill>
                <a:srgbClr val="000099"/>
              </a:solidFill>
              <a:ea typeface="楷体_GB2312" pitchFamily="49" charset="-122"/>
            </a:endParaRPr>
          </a:p>
        </p:txBody>
      </p:sp>
      <p:sp>
        <p:nvSpPr>
          <p:cNvPr id="12" name="ïSļïḓè"/>
          <p:cNvSpPr/>
          <p:nvPr/>
        </p:nvSpPr>
        <p:spPr>
          <a:xfrm>
            <a:off x="1120775" y="2268538"/>
            <a:ext cx="623888" cy="623888"/>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bg1"/>
                </a:solidFill>
                <a:effectLst/>
                <a:uLnTx/>
                <a:uFillTx/>
                <a:latin typeface="+mj-lt"/>
                <a:ea typeface="+mn-ea"/>
                <a:cs typeface="+mn-cs"/>
              </a:rPr>
              <a:t>2</a:t>
            </a:r>
            <a:endParaRPr kumimoji="1" lang="en-US" altLang="zh-CN" sz="2800" b="1" i="0" u="none" strike="noStrike" kern="1200" cap="none" spc="0" normalizeH="0" baseline="0" noProof="0" dirty="0">
              <a:ln>
                <a:noFill/>
              </a:ln>
              <a:solidFill>
                <a:schemeClr val="bg1"/>
              </a:solidFill>
              <a:effectLst/>
              <a:uLnTx/>
              <a:uFillTx/>
              <a:latin typeface="+mj-lt"/>
              <a:ea typeface="+mn-ea"/>
              <a:cs typeface="+mn-cs"/>
            </a:endParaRPr>
          </a:p>
        </p:txBody>
      </p:sp>
      <p:sp>
        <p:nvSpPr>
          <p:cNvPr id="80907" name="iŝļíďè"/>
          <p:cNvSpPr txBox="1"/>
          <p:nvPr/>
        </p:nvSpPr>
        <p:spPr>
          <a:xfrm>
            <a:off x="1816100" y="2368550"/>
            <a:ext cx="4659313" cy="431800"/>
          </a:xfrm>
          <a:prstGeom prst="rect">
            <a:avLst/>
          </a:prstGeom>
          <a:noFill/>
          <a:ln w="9525">
            <a:noFill/>
          </a:ln>
        </p:spPr>
        <p:txBody>
          <a:bodyPr anchor="b"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zh-CN" altLang="en-US" sz="2400" b="1" dirty="0">
                <a:solidFill>
                  <a:srgbClr val="000099"/>
                </a:solidFill>
                <a:ea typeface="楷体_GB2312" pitchFamily="49" charset="-122"/>
              </a:rPr>
              <a:t>程序执行时：</a:t>
            </a:r>
            <a:endParaRPr lang="en-US" altLang="zh-CN" sz="2400" b="1" dirty="0">
              <a:solidFill>
                <a:srgbClr val="000099"/>
              </a:solidFill>
              <a:ea typeface="楷体_GB2312" pitchFamily="49" charset="-122"/>
            </a:endParaRPr>
          </a:p>
        </p:txBody>
      </p:sp>
      <p:sp>
        <p:nvSpPr>
          <p:cNvPr id="14" name="ïśľiďe"/>
          <p:cNvSpPr/>
          <p:nvPr/>
        </p:nvSpPr>
        <p:spPr>
          <a:xfrm>
            <a:off x="1120775" y="1390650"/>
            <a:ext cx="623888" cy="623888"/>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bg1"/>
                </a:solidFill>
                <a:effectLst/>
                <a:uLnTx/>
                <a:uFillTx/>
                <a:latin typeface="+mj-lt"/>
                <a:ea typeface="+mn-ea"/>
                <a:cs typeface="+mn-cs"/>
              </a:rPr>
              <a:t>1</a:t>
            </a:r>
            <a:endParaRPr kumimoji="1" lang="en-US" altLang="zh-CN" sz="2800" b="1" i="0" u="none" strike="noStrike" kern="1200" cap="none" spc="0" normalizeH="0" baseline="0" noProof="0" dirty="0">
              <a:ln>
                <a:noFill/>
              </a:ln>
              <a:solidFill>
                <a:schemeClr val="bg1"/>
              </a:solidFill>
              <a:effectLst/>
              <a:uLnTx/>
              <a:uFillTx/>
              <a:latin typeface="+mj-lt"/>
              <a:ea typeface="+mn-ea"/>
              <a:cs typeface="+mn-cs"/>
            </a:endParaRPr>
          </a:p>
        </p:txBody>
      </p:sp>
      <p:sp>
        <p:nvSpPr>
          <p:cNvPr id="80909" name="îṡ1ide"/>
          <p:cNvSpPr txBox="1"/>
          <p:nvPr/>
        </p:nvSpPr>
        <p:spPr>
          <a:xfrm>
            <a:off x="1816100" y="1465263"/>
            <a:ext cx="5464175" cy="430212"/>
          </a:xfrm>
          <a:prstGeom prst="rect">
            <a:avLst/>
          </a:prstGeom>
          <a:noFill/>
          <a:ln w="9525">
            <a:noFill/>
          </a:ln>
        </p:spPr>
        <p:txBody>
          <a:bodyPr anchor="b"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spcBef>
                <a:spcPct val="0"/>
              </a:spcBef>
              <a:buClrTx/>
              <a:buSzTx/>
              <a:buFontTx/>
              <a:buNone/>
            </a:pPr>
            <a:r>
              <a:rPr lang="zh-CN" altLang="en-US" sz="2400" b="1" dirty="0">
                <a:solidFill>
                  <a:srgbClr val="000099"/>
                </a:solidFill>
                <a:ea typeface="楷体_GB2312" pitchFamily="49" charset="-122"/>
              </a:rPr>
              <a:t>解决问题</a:t>
            </a:r>
            <a:r>
              <a:rPr lang="en-US" altLang="zh-CN" sz="2400" b="1" dirty="0">
                <a:solidFill>
                  <a:srgbClr val="000099"/>
                </a:solidFill>
                <a:ea typeface="楷体_GB2312" pitchFamily="49" charset="-122"/>
                <a:sym typeface="Wingdings" panose="05000000000000000000" pitchFamily="2" charset="2"/>
              </a:rPr>
              <a:t></a:t>
            </a:r>
            <a:r>
              <a:rPr lang="zh-CN" altLang="en-US" sz="2400" b="1" dirty="0">
                <a:solidFill>
                  <a:srgbClr val="FF0000"/>
                </a:solidFill>
                <a:ea typeface="楷体_GB2312" pitchFamily="49" charset="-122"/>
                <a:sym typeface="Wingdings" panose="05000000000000000000" pitchFamily="2" charset="2"/>
              </a:rPr>
              <a:t>程序大小超过物理内存总和</a:t>
            </a:r>
            <a:endParaRPr lang="en-US" altLang="zh-CN" sz="2400" b="1" dirty="0">
              <a:solidFill>
                <a:srgbClr val="000099"/>
              </a:solidFill>
              <a:ea typeface="楷体_GB2312" pitchFamily="49" charset="-122"/>
              <a:sym typeface="Wingdings" panose="05000000000000000000" pitchFamily="2" charset="2"/>
            </a:endParaRPr>
          </a:p>
        </p:txBody>
      </p:sp>
      <p:cxnSp>
        <p:nvCxnSpPr>
          <p:cNvPr id="16" name="直接连接符 15"/>
          <p:cNvCxnSpPr/>
          <p:nvPr/>
        </p:nvCxnSpPr>
        <p:spPr>
          <a:xfrm>
            <a:off x="1816100" y="2073275"/>
            <a:ext cx="935037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80911" name="iŝļíďè"/>
          <p:cNvSpPr txBox="1"/>
          <p:nvPr/>
        </p:nvSpPr>
        <p:spPr>
          <a:xfrm>
            <a:off x="1816100" y="2947988"/>
            <a:ext cx="9672638" cy="815975"/>
          </a:xfrm>
          <a:prstGeom prst="rect">
            <a:avLst/>
          </a:prstGeom>
          <a:noFill/>
          <a:ln w="9525">
            <a:noFill/>
          </a:ln>
        </p:spPr>
        <p:txBody>
          <a:bodyPr anchor="b"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a:lnSpc>
                <a:spcPct val="123000"/>
              </a:lnSpc>
              <a:spcBef>
                <a:spcPct val="0"/>
              </a:spcBef>
              <a:buClr>
                <a:srgbClr val="FFC000"/>
              </a:buClr>
              <a:buSzTx/>
              <a:buFont typeface="Wingdings" panose="05000000000000000000" pitchFamily="2" charset="2"/>
              <a:buChar char="Ø"/>
            </a:pPr>
            <a:r>
              <a:rPr lang="zh-CN" altLang="en-US" sz="2400" b="1" dirty="0">
                <a:solidFill>
                  <a:srgbClr val="000099"/>
                </a:solidFill>
                <a:ea typeface="楷体_GB2312" pitchFamily="49" charset="-122"/>
              </a:rPr>
              <a:t>只在内存中保留那些在任何时间都需要的指令和数据；</a:t>
            </a:r>
            <a:endParaRPr lang="zh-CN" altLang="en-US" sz="2400" b="1" dirty="0">
              <a:solidFill>
                <a:srgbClr val="000099"/>
              </a:solidFill>
              <a:ea typeface="楷体_GB2312" pitchFamily="49" charset="-122"/>
            </a:endParaRPr>
          </a:p>
          <a:p>
            <a:pPr marL="342900" lvl="0" indent="-342900">
              <a:lnSpc>
                <a:spcPct val="123000"/>
              </a:lnSpc>
              <a:spcBef>
                <a:spcPct val="0"/>
              </a:spcBef>
              <a:buClr>
                <a:srgbClr val="FFC000"/>
              </a:buClr>
              <a:buSzTx/>
              <a:buFont typeface="Wingdings" panose="05000000000000000000" pitchFamily="2" charset="2"/>
              <a:buChar char="Ø"/>
            </a:pPr>
            <a:r>
              <a:rPr lang="zh-CN" altLang="en-US" sz="2400" b="1" dirty="0">
                <a:solidFill>
                  <a:srgbClr val="000099"/>
                </a:solidFill>
                <a:ea typeface="楷体_GB2312" pitchFamily="49" charset="-122"/>
              </a:rPr>
              <a:t>程序的不同部分在内存中相互替换。</a:t>
            </a:r>
            <a:endParaRPr lang="zh-CN" altLang="en-US" sz="2400" b="1" dirty="0">
              <a:solidFill>
                <a:srgbClr val="000099"/>
              </a:solidFill>
              <a:ea typeface="楷体_GB2312" pitchFamily="49"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pic>
        <p:nvPicPr>
          <p:cNvPr id="81923" name="图片 70" descr="overlay"/>
          <p:cNvPicPr>
            <a:picLocks noChangeAspect="1"/>
          </p:cNvPicPr>
          <p:nvPr/>
        </p:nvPicPr>
        <p:blipFill>
          <a:blip r:embed="rId1">
            <a:clrChange>
              <a:clrFrom>
                <a:srgbClr val="FFFFFF"/>
              </a:clrFrom>
              <a:clrTo>
                <a:srgbClr val="FFFFFF">
                  <a:alpha val="0"/>
                </a:srgbClr>
              </a:clrTo>
            </a:clrChange>
          </a:blip>
          <a:stretch>
            <a:fillRect/>
          </a:stretch>
        </p:blipFill>
        <p:spPr>
          <a:xfrm>
            <a:off x="684213" y="1125538"/>
            <a:ext cx="8175625" cy="4395787"/>
          </a:xfrm>
          <a:prstGeom prst="rect">
            <a:avLst/>
          </a:prstGeom>
          <a:noFill/>
          <a:ln w="9525">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80259" name="Rectangle 3"/>
          <p:cNvSpPr/>
          <p:nvPr/>
        </p:nvSpPr>
        <p:spPr>
          <a:xfrm>
            <a:off x="2269173" y="765175"/>
            <a:ext cx="4754880" cy="645160"/>
          </a:xfrm>
          <a:prstGeom prst="rect">
            <a:avLst/>
          </a:prstGeom>
          <a:solidFill>
            <a:schemeClr val="bg1"/>
          </a:solid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3600" dirty="0">
                <a:solidFill>
                  <a:srgbClr val="9900CC"/>
                </a:solidFill>
                <a:latin typeface="隶书" panose="02010509060101010101" pitchFamily="49" charset="-122"/>
                <a:ea typeface="隶书" panose="02010509060101010101" pitchFamily="49" charset="-122"/>
              </a:rPr>
              <a:t>5.6  </a:t>
            </a:r>
            <a:r>
              <a:rPr lang="zh-CN" altLang="en-US" sz="3600" dirty="0">
                <a:solidFill>
                  <a:srgbClr val="9900CC"/>
                </a:solidFill>
                <a:latin typeface="隶书" panose="02010509060101010101" pitchFamily="49" charset="-122"/>
                <a:ea typeface="隶书" panose="02010509060101010101" pitchFamily="49" charset="-122"/>
              </a:rPr>
              <a:t>分页式存储管理</a:t>
            </a:r>
            <a:r>
              <a:rPr lang="zh-CN" altLang="en-US" sz="3600" dirty="0">
                <a:latin typeface="隶书" panose="02010509060101010101" pitchFamily="49" charset="-122"/>
                <a:ea typeface="隶书" panose="02010509060101010101" pitchFamily="49" charset="-122"/>
              </a:rPr>
              <a:t> </a:t>
            </a:r>
            <a:endParaRPr lang="zh-CN" altLang="en-US" sz="3600" dirty="0">
              <a:latin typeface="隶书" panose="02010509060101010101" pitchFamily="49" charset="-122"/>
              <a:ea typeface="隶书" panose="02010509060101010101" pitchFamily="49" charset="-122"/>
            </a:endParaRPr>
          </a:p>
        </p:txBody>
      </p:sp>
      <p:sp>
        <p:nvSpPr>
          <p:cNvPr id="480260" name="Rectangle 4"/>
          <p:cNvSpPr/>
          <p:nvPr/>
        </p:nvSpPr>
        <p:spPr>
          <a:xfrm>
            <a:off x="827088" y="1484313"/>
            <a:ext cx="6858000" cy="6762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dirty="0">
                <a:solidFill>
                  <a:srgbClr val="000000"/>
                </a:solidFill>
                <a:ea typeface="隶书" panose="02010509060101010101" pitchFamily="49" charset="-122"/>
              </a:rPr>
              <a:t>一、基本原理</a:t>
            </a:r>
            <a:endParaRPr lang="zh-CN" altLang="en-US" dirty="0">
              <a:solidFill>
                <a:srgbClr val="000000"/>
              </a:solidFill>
              <a:ea typeface="隶书" panose="02010509060101010101" pitchFamily="49" charset="-122"/>
            </a:endParaRPr>
          </a:p>
        </p:txBody>
      </p:sp>
      <p:sp>
        <p:nvSpPr>
          <p:cNvPr id="480261" name="Rectangle 5"/>
          <p:cNvSpPr/>
          <p:nvPr/>
        </p:nvSpPr>
        <p:spPr>
          <a:xfrm>
            <a:off x="684213" y="2181225"/>
            <a:ext cx="8001000" cy="10160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lnSpc>
                <a:spcPct val="125000"/>
              </a:lnSpc>
              <a:spcBef>
                <a:spcPct val="25000"/>
              </a:spcBef>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将主存空间按固定大小等分为</a:t>
            </a:r>
            <a:r>
              <a:rPr lang="zh-CN" altLang="en-US" sz="2400" b="1" dirty="0">
                <a:solidFill>
                  <a:srgbClr val="FF0000"/>
                </a:solidFill>
                <a:latin typeface="楷体_GB2312" pitchFamily="49" charset="-122"/>
                <a:ea typeface="楷体_GB2312" pitchFamily="49" charset="-122"/>
              </a:rPr>
              <a:t>若干个大小相等的块</a:t>
            </a:r>
            <a:r>
              <a:rPr lang="zh-CN" altLang="en-US" sz="2400" b="1" dirty="0">
                <a:solidFill>
                  <a:srgbClr val="000099"/>
                </a:solidFill>
                <a:latin typeface="楷体_GB2312" pitchFamily="49" charset="-122"/>
                <a:ea typeface="楷体_GB2312" pitchFamily="49" charset="-122"/>
              </a:rPr>
              <a:t>，并给以从</a:t>
            </a:r>
            <a:r>
              <a:rPr lang="zh-CN" altLang="en-US" sz="2400" b="1" dirty="0">
                <a:solidFill>
                  <a:srgbClr val="000099"/>
                </a:solidFill>
                <a:ea typeface="楷体_GB2312" pitchFamily="49" charset="-122"/>
              </a:rPr>
              <a:t>“</a:t>
            </a:r>
            <a:r>
              <a:rPr lang="en-US" altLang="zh-CN" sz="2400" b="1" dirty="0">
                <a:solidFill>
                  <a:srgbClr val="000099"/>
                </a:solidFill>
                <a:latin typeface="楷体_GB2312" pitchFamily="49" charset="-122"/>
                <a:ea typeface="楷体_GB2312" pitchFamily="49" charset="-122"/>
              </a:rPr>
              <a:t>0</a:t>
            </a:r>
            <a:r>
              <a:rPr lang="en-US" altLang="zh-CN" sz="2400" b="1" dirty="0">
                <a:solidFill>
                  <a:srgbClr val="000099"/>
                </a:solidFill>
                <a:ea typeface="楷体_GB2312" pitchFamily="49" charset="-122"/>
              </a:rPr>
              <a:t>”</a:t>
            </a:r>
            <a:r>
              <a:rPr lang="zh-CN" altLang="en-US" sz="2400" b="1" dirty="0">
                <a:solidFill>
                  <a:srgbClr val="000099"/>
                </a:solidFill>
                <a:latin typeface="楷体_GB2312" pitchFamily="49" charset="-122"/>
                <a:ea typeface="楷体_GB2312" pitchFamily="49" charset="-122"/>
              </a:rPr>
              <a:t>开始的顺序的编号</a:t>
            </a:r>
            <a:r>
              <a:rPr lang="en-US" altLang="zh-CN" sz="2400" b="1" dirty="0">
                <a:solidFill>
                  <a:srgbClr val="000099"/>
                </a:solidFill>
                <a:ea typeface="楷体_GB2312" pitchFamily="49" charset="-122"/>
              </a:rPr>
              <a:t>——</a:t>
            </a:r>
            <a:r>
              <a:rPr lang="zh-CN" altLang="en-US" sz="2400" b="1" dirty="0">
                <a:solidFill>
                  <a:srgbClr val="990033"/>
                </a:solidFill>
                <a:latin typeface="楷体_GB2312" pitchFamily="49" charset="-122"/>
                <a:ea typeface="楷体_GB2312" pitchFamily="49" charset="-122"/>
              </a:rPr>
              <a:t>块号</a:t>
            </a:r>
            <a:r>
              <a:rPr lang="zh-CN" altLang="en-US" sz="2400" b="1" dirty="0">
                <a:solidFill>
                  <a:srgbClr val="000099"/>
                </a:solidFill>
                <a:latin typeface="楷体_GB2312" pitchFamily="49" charset="-122"/>
                <a:ea typeface="楷体_GB2312" pitchFamily="49" charset="-122"/>
              </a:rPr>
              <a:t>。 </a:t>
            </a:r>
            <a:endParaRPr lang="zh-CN" altLang="en-US" sz="2400" b="1" dirty="0">
              <a:solidFill>
                <a:srgbClr val="000099"/>
              </a:solidFill>
              <a:latin typeface="楷体_GB2312" pitchFamily="49" charset="-122"/>
              <a:ea typeface="楷体_GB2312" pitchFamily="49" charset="-122"/>
            </a:endParaRPr>
          </a:p>
        </p:txBody>
      </p:sp>
      <p:sp>
        <p:nvSpPr>
          <p:cNvPr id="480262" name="Rectangle 6"/>
          <p:cNvSpPr/>
          <p:nvPr/>
        </p:nvSpPr>
        <p:spPr>
          <a:xfrm>
            <a:off x="685800" y="3657600"/>
            <a:ext cx="8153400" cy="10064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lnSpc>
                <a:spcPct val="125000"/>
              </a:lnSpc>
              <a:spcBef>
                <a:spcPct val="25000"/>
              </a:spcBef>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将作业的地址空间等分为</a:t>
            </a:r>
            <a:r>
              <a:rPr lang="zh-CN" altLang="en-US" sz="2400" b="1" dirty="0">
                <a:solidFill>
                  <a:srgbClr val="FF0000"/>
                </a:solidFill>
                <a:latin typeface="楷体_GB2312" pitchFamily="49" charset="-122"/>
                <a:ea typeface="楷体_GB2312" pitchFamily="49" charset="-122"/>
              </a:rPr>
              <a:t>若干个与块相等的页</a:t>
            </a:r>
            <a:r>
              <a:rPr lang="zh-CN" altLang="en-US" sz="2400" b="1" dirty="0">
                <a:solidFill>
                  <a:srgbClr val="000099"/>
                </a:solidFill>
                <a:latin typeface="楷体_GB2312" pitchFamily="49" charset="-122"/>
                <a:ea typeface="楷体_GB2312" pitchFamily="49" charset="-122"/>
              </a:rPr>
              <a:t>，并给以从</a:t>
            </a:r>
            <a:r>
              <a:rPr lang="zh-CN" altLang="en-US" sz="2400" b="1" dirty="0">
                <a:solidFill>
                  <a:srgbClr val="000099"/>
                </a:solidFill>
                <a:ea typeface="楷体_GB2312" pitchFamily="49" charset="-122"/>
              </a:rPr>
              <a:t>“</a:t>
            </a:r>
            <a:r>
              <a:rPr lang="en-US" altLang="zh-CN" sz="2400" b="1" dirty="0">
                <a:solidFill>
                  <a:srgbClr val="000099"/>
                </a:solidFill>
                <a:latin typeface="楷体_GB2312" pitchFamily="49" charset="-122"/>
                <a:ea typeface="楷体_GB2312" pitchFamily="49" charset="-122"/>
              </a:rPr>
              <a:t>0</a:t>
            </a:r>
            <a:r>
              <a:rPr lang="en-US" altLang="zh-CN" sz="2400" b="1" dirty="0">
                <a:solidFill>
                  <a:srgbClr val="000099"/>
                </a:solidFill>
                <a:ea typeface="楷体_GB2312" pitchFamily="49" charset="-122"/>
              </a:rPr>
              <a:t>”</a:t>
            </a:r>
            <a:r>
              <a:rPr lang="zh-CN" altLang="en-US" sz="2400" b="1" dirty="0">
                <a:solidFill>
                  <a:srgbClr val="000099"/>
                </a:solidFill>
                <a:latin typeface="楷体_GB2312" pitchFamily="49" charset="-122"/>
                <a:ea typeface="楷体_GB2312" pitchFamily="49" charset="-122"/>
              </a:rPr>
              <a:t>开始的顺序的编号</a:t>
            </a:r>
            <a:r>
              <a:rPr lang="en-US" altLang="zh-CN" sz="2400" b="1" dirty="0">
                <a:solidFill>
                  <a:srgbClr val="000099"/>
                </a:solidFill>
                <a:ea typeface="楷体_GB2312" pitchFamily="49" charset="-122"/>
              </a:rPr>
              <a:t>——</a:t>
            </a:r>
            <a:r>
              <a:rPr lang="zh-CN" altLang="en-US" sz="2400" b="1" dirty="0">
                <a:solidFill>
                  <a:srgbClr val="990033"/>
                </a:solidFill>
                <a:latin typeface="楷体_GB2312" pitchFamily="49" charset="-122"/>
                <a:ea typeface="楷体_GB2312" pitchFamily="49" charset="-122"/>
              </a:rPr>
              <a:t>页号（页面号）。</a:t>
            </a:r>
            <a:r>
              <a:rPr lang="zh-CN" altLang="en-US" sz="2400" b="1" dirty="0">
                <a:solidFill>
                  <a:srgbClr val="000099"/>
                </a:solidFill>
                <a:latin typeface="楷体_GB2312" pitchFamily="49" charset="-122"/>
                <a:ea typeface="楷体_GB2312" pitchFamily="49" charset="-122"/>
              </a:rPr>
              <a:t> </a:t>
            </a:r>
            <a:endParaRPr lang="zh-CN" altLang="en-US" sz="2400" b="1" dirty="0">
              <a:solidFill>
                <a:srgbClr val="000099"/>
              </a:solidFill>
              <a:latin typeface="楷体_GB2312" pitchFamily="49" charset="-122"/>
              <a:ea typeface="楷体_GB2312" pitchFamily="49" charset="-122"/>
            </a:endParaRPr>
          </a:p>
        </p:txBody>
      </p:sp>
      <p:sp>
        <p:nvSpPr>
          <p:cNvPr id="480263" name="Rectangle 7"/>
          <p:cNvSpPr/>
          <p:nvPr/>
        </p:nvSpPr>
        <p:spPr>
          <a:xfrm>
            <a:off x="684213" y="4724400"/>
            <a:ext cx="81534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lnSpc>
                <a:spcPct val="120000"/>
              </a:lnSpc>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存储分配时，将作业信息按页存放到块中（</a:t>
            </a:r>
            <a:r>
              <a:rPr lang="zh-CN" altLang="en-US" sz="2400" b="1" dirty="0">
                <a:solidFill>
                  <a:srgbClr val="800000"/>
                </a:solidFill>
                <a:latin typeface="楷体_GB2312" pitchFamily="49" charset="-122"/>
                <a:ea typeface="楷体_GB2312" pitchFamily="49" charset="-122"/>
              </a:rPr>
              <a:t>存储分配时，以块为单位</a:t>
            </a:r>
            <a:r>
              <a:rPr lang="zh-CN" altLang="en-US" sz="2400" b="1" dirty="0">
                <a:solidFill>
                  <a:srgbClr val="000099"/>
                </a:solidFill>
                <a:latin typeface="楷体_GB2312" pitchFamily="49" charset="-122"/>
                <a:ea typeface="楷体_GB2312" pitchFamily="49" charset="-122"/>
              </a:rPr>
              <a:t>），一个作业所占用的若干个主存块可以是</a:t>
            </a:r>
            <a:r>
              <a:rPr lang="zh-CN" altLang="en-US" sz="2400" b="1" dirty="0">
                <a:solidFill>
                  <a:srgbClr val="800000"/>
                </a:solidFill>
                <a:latin typeface="楷体_GB2312" pitchFamily="49" charset="-122"/>
                <a:ea typeface="楷体_GB2312" pitchFamily="49" charset="-122"/>
              </a:rPr>
              <a:t>不相邻</a:t>
            </a:r>
            <a:r>
              <a:rPr lang="zh-CN" altLang="en-US" sz="2400" b="1" dirty="0">
                <a:solidFill>
                  <a:srgbClr val="000099"/>
                </a:solidFill>
                <a:latin typeface="楷体_GB2312" pitchFamily="49" charset="-122"/>
                <a:ea typeface="楷体_GB2312" pitchFamily="49" charset="-122"/>
              </a:rPr>
              <a:t>的（块号可以是</a:t>
            </a:r>
            <a:r>
              <a:rPr lang="zh-CN" altLang="en-US" sz="2400" b="1" dirty="0">
                <a:solidFill>
                  <a:srgbClr val="800000"/>
                </a:solidFill>
                <a:latin typeface="楷体_GB2312" pitchFamily="49" charset="-122"/>
                <a:ea typeface="楷体_GB2312" pitchFamily="49" charset="-122"/>
              </a:rPr>
              <a:t>不连续</a:t>
            </a:r>
            <a:r>
              <a:rPr lang="zh-CN" altLang="en-US" sz="2400" b="1" dirty="0">
                <a:solidFill>
                  <a:srgbClr val="000099"/>
                </a:solidFill>
                <a:latin typeface="楷体_GB2312" pitchFamily="49" charset="-122"/>
                <a:ea typeface="楷体_GB2312" pitchFamily="49" charset="-122"/>
              </a:rPr>
              <a:t>的）。 </a:t>
            </a:r>
            <a:endParaRPr lang="zh-CN" altLang="en-US" sz="2400" b="1" dirty="0">
              <a:solidFill>
                <a:srgbClr val="000099"/>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0259"/>
                                        </p:tgtEl>
                                        <p:attrNameLst>
                                          <p:attrName>style.visibility</p:attrName>
                                        </p:attrNameLst>
                                      </p:cBhvr>
                                      <p:to>
                                        <p:strVal val="visible"/>
                                      </p:to>
                                    </p:set>
                                    <p:anim calcmode="lin" valueType="num">
                                      <p:cBhvr additive="base">
                                        <p:cTn id="7" dur="500" fill="hold"/>
                                        <p:tgtEl>
                                          <p:spTgt spid="480259"/>
                                        </p:tgtEl>
                                        <p:attrNameLst>
                                          <p:attrName>ppt_x</p:attrName>
                                        </p:attrNameLst>
                                      </p:cBhvr>
                                      <p:tavLst>
                                        <p:tav tm="0">
                                          <p:val>
                                            <p:strVal val="0-#ppt_w/2"/>
                                          </p:val>
                                        </p:tav>
                                        <p:tav tm="100000">
                                          <p:val>
                                            <p:strVal val="#ppt_x"/>
                                          </p:val>
                                        </p:tav>
                                      </p:tavLst>
                                    </p:anim>
                                    <p:anim calcmode="lin" valueType="num">
                                      <p:cBhvr additive="base">
                                        <p:cTn id="8" dur="500" fill="hold"/>
                                        <p:tgtEl>
                                          <p:spTgt spid="4802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80260"/>
                                        </p:tgtEl>
                                        <p:attrNameLst>
                                          <p:attrName>style.visibility</p:attrName>
                                        </p:attrNameLst>
                                      </p:cBhvr>
                                      <p:to>
                                        <p:strVal val="visible"/>
                                      </p:to>
                                    </p:set>
                                    <p:anim calcmode="lin" valueType="num">
                                      <p:cBhvr additive="base">
                                        <p:cTn id="13" dur="500" fill="hold"/>
                                        <p:tgtEl>
                                          <p:spTgt spid="480260"/>
                                        </p:tgtEl>
                                        <p:attrNameLst>
                                          <p:attrName>ppt_x</p:attrName>
                                        </p:attrNameLst>
                                      </p:cBhvr>
                                      <p:tavLst>
                                        <p:tav tm="0">
                                          <p:val>
                                            <p:strVal val="0-#ppt_w/2"/>
                                          </p:val>
                                        </p:tav>
                                        <p:tav tm="100000">
                                          <p:val>
                                            <p:strVal val="#ppt_x"/>
                                          </p:val>
                                        </p:tav>
                                      </p:tavLst>
                                    </p:anim>
                                    <p:anim calcmode="lin" valueType="num">
                                      <p:cBhvr additive="base">
                                        <p:cTn id="14" dur="500" fill="hold"/>
                                        <p:tgtEl>
                                          <p:spTgt spid="48026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80261"/>
                                        </p:tgtEl>
                                        <p:attrNameLst>
                                          <p:attrName>style.visibility</p:attrName>
                                        </p:attrNameLst>
                                      </p:cBhvr>
                                      <p:to>
                                        <p:strVal val="visible"/>
                                      </p:to>
                                    </p:set>
                                    <p:anim calcmode="lin" valueType="num">
                                      <p:cBhvr additive="base">
                                        <p:cTn id="19" dur="500" fill="hold"/>
                                        <p:tgtEl>
                                          <p:spTgt spid="480261"/>
                                        </p:tgtEl>
                                        <p:attrNameLst>
                                          <p:attrName>ppt_x</p:attrName>
                                        </p:attrNameLst>
                                      </p:cBhvr>
                                      <p:tavLst>
                                        <p:tav tm="0">
                                          <p:val>
                                            <p:strVal val="0-#ppt_w/2"/>
                                          </p:val>
                                        </p:tav>
                                        <p:tav tm="100000">
                                          <p:val>
                                            <p:strVal val="#ppt_x"/>
                                          </p:val>
                                        </p:tav>
                                      </p:tavLst>
                                    </p:anim>
                                    <p:anim calcmode="lin" valueType="num">
                                      <p:cBhvr additive="base">
                                        <p:cTn id="20" dur="500" fill="hold"/>
                                        <p:tgtEl>
                                          <p:spTgt spid="48026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80262"/>
                                        </p:tgtEl>
                                        <p:attrNameLst>
                                          <p:attrName>style.visibility</p:attrName>
                                        </p:attrNameLst>
                                      </p:cBhvr>
                                      <p:to>
                                        <p:strVal val="visible"/>
                                      </p:to>
                                    </p:set>
                                    <p:anim calcmode="lin" valueType="num">
                                      <p:cBhvr additive="base">
                                        <p:cTn id="25" dur="500" fill="hold"/>
                                        <p:tgtEl>
                                          <p:spTgt spid="480262"/>
                                        </p:tgtEl>
                                        <p:attrNameLst>
                                          <p:attrName>ppt_x</p:attrName>
                                        </p:attrNameLst>
                                      </p:cBhvr>
                                      <p:tavLst>
                                        <p:tav tm="0">
                                          <p:val>
                                            <p:strVal val="0-#ppt_w/2"/>
                                          </p:val>
                                        </p:tav>
                                        <p:tav tm="100000">
                                          <p:val>
                                            <p:strVal val="#ppt_x"/>
                                          </p:val>
                                        </p:tav>
                                      </p:tavLst>
                                    </p:anim>
                                    <p:anim calcmode="lin" valueType="num">
                                      <p:cBhvr additive="base">
                                        <p:cTn id="26" dur="500" fill="hold"/>
                                        <p:tgtEl>
                                          <p:spTgt spid="48026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80263"/>
                                        </p:tgtEl>
                                        <p:attrNameLst>
                                          <p:attrName>style.visibility</p:attrName>
                                        </p:attrNameLst>
                                      </p:cBhvr>
                                      <p:to>
                                        <p:strVal val="visible"/>
                                      </p:to>
                                    </p:set>
                                    <p:anim calcmode="lin" valueType="num">
                                      <p:cBhvr additive="base">
                                        <p:cTn id="31" dur="500" fill="hold"/>
                                        <p:tgtEl>
                                          <p:spTgt spid="480263"/>
                                        </p:tgtEl>
                                        <p:attrNameLst>
                                          <p:attrName>ppt_x</p:attrName>
                                        </p:attrNameLst>
                                      </p:cBhvr>
                                      <p:tavLst>
                                        <p:tav tm="0">
                                          <p:val>
                                            <p:strVal val="0-#ppt_w/2"/>
                                          </p:val>
                                        </p:tav>
                                        <p:tav tm="100000">
                                          <p:val>
                                            <p:strVal val="#ppt_x"/>
                                          </p:val>
                                        </p:tav>
                                      </p:tavLst>
                                    </p:anim>
                                    <p:anim calcmode="lin" valueType="num">
                                      <p:cBhvr additive="base">
                                        <p:cTn id="32" dur="500" fill="hold"/>
                                        <p:tgtEl>
                                          <p:spTgt spid="4802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59" grpId="0" animBg="1"/>
      <p:bldP spid="480260" grpId="0"/>
      <p:bldP spid="480261" grpId="0"/>
      <p:bldP spid="480262" grpId="0"/>
      <p:bldP spid="48026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pSp>
        <p:nvGrpSpPr>
          <p:cNvPr id="593957" name="Group 37"/>
          <p:cNvGrpSpPr/>
          <p:nvPr/>
        </p:nvGrpSpPr>
        <p:grpSpPr>
          <a:xfrm>
            <a:off x="5705475" y="990600"/>
            <a:ext cx="3006725" cy="4875213"/>
            <a:chOff x="3600" y="672"/>
            <a:chExt cx="1894" cy="3071"/>
          </a:xfrm>
        </p:grpSpPr>
        <p:sp>
          <p:nvSpPr>
            <p:cNvPr id="83993" name="Rectangle 6"/>
            <p:cNvSpPr/>
            <p:nvPr/>
          </p:nvSpPr>
          <p:spPr>
            <a:xfrm>
              <a:off x="3600" y="1028"/>
              <a:ext cx="1135" cy="191"/>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b="1" dirty="0">
                <a:ea typeface="楷体_GB2312" pitchFamily="49" charset="-122"/>
              </a:endParaRPr>
            </a:p>
          </p:txBody>
        </p:sp>
        <p:sp>
          <p:nvSpPr>
            <p:cNvPr id="83994" name="Rectangle 7"/>
            <p:cNvSpPr/>
            <p:nvPr/>
          </p:nvSpPr>
          <p:spPr>
            <a:xfrm>
              <a:off x="3600" y="1219"/>
              <a:ext cx="1135" cy="191"/>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b="1" dirty="0">
                <a:ea typeface="楷体_GB2312" pitchFamily="49" charset="-122"/>
              </a:endParaRPr>
            </a:p>
          </p:txBody>
        </p:sp>
        <p:sp>
          <p:nvSpPr>
            <p:cNvPr id="83995" name="Rectangle 9"/>
            <p:cNvSpPr/>
            <p:nvPr/>
          </p:nvSpPr>
          <p:spPr>
            <a:xfrm>
              <a:off x="3600" y="3497"/>
              <a:ext cx="1135" cy="191"/>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b="1" dirty="0">
                <a:ea typeface="楷体_GB2312" pitchFamily="49" charset="-122"/>
              </a:endParaRPr>
            </a:p>
          </p:txBody>
        </p:sp>
        <p:sp>
          <p:nvSpPr>
            <p:cNvPr id="83996" name="Rectangle 11"/>
            <p:cNvSpPr/>
            <p:nvPr/>
          </p:nvSpPr>
          <p:spPr>
            <a:xfrm>
              <a:off x="3600" y="3115"/>
              <a:ext cx="1135" cy="191"/>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b="1" dirty="0">
                <a:ea typeface="楷体_GB2312" pitchFamily="49" charset="-122"/>
              </a:endParaRPr>
            </a:p>
          </p:txBody>
        </p:sp>
        <p:sp>
          <p:nvSpPr>
            <p:cNvPr id="83997" name="Rectangle 12"/>
            <p:cNvSpPr/>
            <p:nvPr/>
          </p:nvSpPr>
          <p:spPr>
            <a:xfrm>
              <a:off x="3600" y="3306"/>
              <a:ext cx="1135" cy="191"/>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b="1" dirty="0">
                <a:ea typeface="楷体_GB2312" pitchFamily="49" charset="-122"/>
              </a:endParaRPr>
            </a:p>
          </p:txBody>
        </p:sp>
        <p:sp>
          <p:nvSpPr>
            <p:cNvPr id="83998" name="Rectangle 13"/>
            <p:cNvSpPr/>
            <p:nvPr/>
          </p:nvSpPr>
          <p:spPr>
            <a:xfrm>
              <a:off x="3600" y="1777"/>
              <a:ext cx="1135" cy="1338"/>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latin typeface="宋体" panose="02010600030101010101" pitchFamily="2" charset="-122"/>
                </a:rPr>
                <a:t>      </a:t>
              </a:r>
              <a:endParaRPr lang="en-US" altLang="zh-CN" sz="1000" dirty="0">
                <a:latin typeface="宋体" panose="02010600030101010101" pitchFamily="2" charset="-122"/>
              </a:endParaRPr>
            </a:p>
            <a:p>
              <a:pPr marL="0" lvl="0" indent="0" algn="just" eaLnBrk="1" hangingPunct="1">
                <a:spcBef>
                  <a:spcPct val="0"/>
                </a:spcBef>
                <a:buClrTx/>
                <a:buSzTx/>
                <a:buFontTx/>
                <a:buNone/>
              </a:pPr>
              <a:r>
                <a:rPr lang="en-US" altLang="zh-CN" sz="1000" dirty="0">
                  <a:latin typeface="宋体" panose="02010600030101010101" pitchFamily="2" charset="-122"/>
                </a:rPr>
                <a:t>                  </a:t>
              </a:r>
              <a:endParaRPr lang="en-US" altLang="zh-CN" sz="1000" dirty="0"/>
            </a:p>
            <a:p>
              <a:pPr marL="0" lvl="0" indent="0" algn="just" eaLnBrk="1" hangingPunct="1">
                <a:spcBef>
                  <a:spcPct val="0"/>
                </a:spcBef>
                <a:buClrTx/>
                <a:buSzTx/>
                <a:buFontTx/>
                <a:buNone/>
              </a:pPr>
              <a:r>
                <a:rPr lang="en-US" altLang="zh-CN" sz="1000" dirty="0"/>
                <a:t>              </a:t>
              </a:r>
              <a:endParaRPr lang="en-US" altLang="zh-CN" sz="1000" dirty="0"/>
            </a:p>
            <a:p>
              <a:pPr marL="0" lvl="0" indent="0" algn="just" eaLnBrk="1" hangingPunct="1">
                <a:spcBef>
                  <a:spcPct val="0"/>
                </a:spcBef>
                <a:buClrTx/>
                <a:buSzTx/>
                <a:buFontTx/>
                <a:buNone/>
              </a:pPr>
              <a:r>
                <a:rPr lang="en-US" altLang="zh-CN" sz="1000" dirty="0"/>
                <a:t>    </a:t>
              </a:r>
              <a:r>
                <a:rPr lang="en-US" altLang="zh-CN" sz="1000" dirty="0">
                  <a:latin typeface="宋体" panose="02010600030101010101" pitchFamily="2" charset="-122"/>
                </a:rPr>
                <a:t>     </a:t>
              </a:r>
              <a:endParaRPr lang="en-US" altLang="zh-CN" sz="2400" b="1" dirty="0">
                <a:ea typeface="楷体_GB2312" pitchFamily="49" charset="-122"/>
              </a:endParaRPr>
            </a:p>
          </p:txBody>
        </p:sp>
        <p:sp>
          <p:nvSpPr>
            <p:cNvPr id="83999" name="Rectangle 20"/>
            <p:cNvSpPr/>
            <p:nvPr/>
          </p:nvSpPr>
          <p:spPr>
            <a:xfrm>
              <a:off x="3873" y="2532"/>
              <a:ext cx="501" cy="288"/>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ea typeface="楷体_GB2312" pitchFamily="49" charset="-122"/>
                </a:rPr>
                <a:t>   </a:t>
              </a:r>
              <a:r>
                <a:rPr lang="en-US" altLang="zh-CN" sz="2400" b="1" dirty="0">
                  <a:solidFill>
                    <a:srgbClr val="000099"/>
                  </a:solidFill>
                  <a:ea typeface="楷体_GB2312" pitchFamily="49" charset="-122"/>
                </a:rPr>
                <a:t>┆ </a:t>
              </a:r>
              <a:endParaRPr lang="en-US" altLang="zh-CN" sz="2400" b="1" dirty="0">
                <a:solidFill>
                  <a:srgbClr val="000099"/>
                </a:solidFill>
                <a:ea typeface="楷体_GB2312" pitchFamily="49" charset="-122"/>
              </a:endParaRPr>
            </a:p>
          </p:txBody>
        </p:sp>
        <p:sp>
          <p:nvSpPr>
            <p:cNvPr id="84000" name="Rectangle 24"/>
            <p:cNvSpPr/>
            <p:nvPr/>
          </p:nvSpPr>
          <p:spPr>
            <a:xfrm>
              <a:off x="3691" y="672"/>
              <a:ext cx="984" cy="288"/>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主存空间</a:t>
              </a:r>
              <a:r>
                <a:rPr lang="zh-CN" altLang="en-US" sz="2400" b="1" dirty="0">
                  <a:ea typeface="楷体_GB2312" pitchFamily="49" charset="-122"/>
                </a:rPr>
                <a:t>  </a:t>
              </a:r>
              <a:endParaRPr lang="zh-CN" altLang="en-US" sz="2400" b="1" dirty="0">
                <a:ea typeface="楷体_GB2312" pitchFamily="49" charset="-122"/>
              </a:endParaRPr>
            </a:p>
          </p:txBody>
        </p:sp>
        <p:sp>
          <p:nvSpPr>
            <p:cNvPr id="84001" name="Rectangle 26"/>
            <p:cNvSpPr/>
            <p:nvPr/>
          </p:nvSpPr>
          <p:spPr>
            <a:xfrm>
              <a:off x="4729" y="857"/>
              <a:ext cx="680" cy="250"/>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ea typeface="楷体_GB2312" pitchFamily="49" charset="-122"/>
                </a:rPr>
                <a:t>00000H </a:t>
              </a:r>
              <a:endParaRPr lang="en-US" altLang="zh-CN" sz="2000" b="1" dirty="0">
                <a:solidFill>
                  <a:srgbClr val="000099"/>
                </a:solidFill>
                <a:ea typeface="楷体_GB2312" pitchFamily="49" charset="-122"/>
              </a:endParaRPr>
            </a:p>
          </p:txBody>
        </p:sp>
        <p:sp>
          <p:nvSpPr>
            <p:cNvPr id="84002" name="Rectangle 27"/>
            <p:cNvSpPr/>
            <p:nvPr/>
          </p:nvSpPr>
          <p:spPr>
            <a:xfrm>
              <a:off x="4716" y="3455"/>
              <a:ext cx="778" cy="288"/>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ea typeface="楷体_GB2312" pitchFamily="49" charset="-122"/>
                </a:rPr>
                <a:t>FFFFFH</a:t>
              </a:r>
              <a:r>
                <a:rPr lang="en-US" altLang="zh-CN" sz="2400" b="1" dirty="0">
                  <a:ea typeface="楷体_GB2312" pitchFamily="49" charset="-122"/>
                </a:rPr>
                <a:t> </a:t>
              </a:r>
              <a:endParaRPr lang="en-US" altLang="zh-CN" sz="2400" b="1" dirty="0">
                <a:ea typeface="楷体_GB2312" pitchFamily="49" charset="-122"/>
              </a:endParaRPr>
            </a:p>
          </p:txBody>
        </p:sp>
        <p:sp>
          <p:nvSpPr>
            <p:cNvPr id="84003" name="Rectangle 30"/>
            <p:cNvSpPr/>
            <p:nvPr/>
          </p:nvSpPr>
          <p:spPr>
            <a:xfrm>
              <a:off x="3600" y="1404"/>
              <a:ext cx="1135" cy="191"/>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b="1" dirty="0">
                <a:ea typeface="楷体_GB2312" pitchFamily="49" charset="-122"/>
              </a:endParaRPr>
            </a:p>
          </p:txBody>
        </p:sp>
        <p:sp>
          <p:nvSpPr>
            <p:cNvPr id="84004" name="Rectangle 31"/>
            <p:cNvSpPr/>
            <p:nvPr/>
          </p:nvSpPr>
          <p:spPr>
            <a:xfrm>
              <a:off x="3600" y="1588"/>
              <a:ext cx="1135" cy="191"/>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b="1" dirty="0">
                <a:ea typeface="楷体_GB2312" pitchFamily="49" charset="-122"/>
              </a:endParaRPr>
            </a:p>
          </p:txBody>
        </p:sp>
      </p:grpSp>
      <p:grpSp>
        <p:nvGrpSpPr>
          <p:cNvPr id="593956" name="Group 36"/>
          <p:cNvGrpSpPr/>
          <p:nvPr/>
        </p:nvGrpSpPr>
        <p:grpSpPr>
          <a:xfrm>
            <a:off x="914400" y="1371600"/>
            <a:ext cx="2665413" cy="2667000"/>
            <a:chOff x="432" y="672"/>
            <a:chExt cx="1679" cy="1680"/>
          </a:xfrm>
        </p:grpSpPr>
        <p:grpSp>
          <p:nvGrpSpPr>
            <p:cNvPr id="83985" name="Group 35"/>
            <p:cNvGrpSpPr/>
            <p:nvPr/>
          </p:nvGrpSpPr>
          <p:grpSpPr>
            <a:xfrm>
              <a:off x="432" y="672"/>
              <a:ext cx="1679" cy="1680"/>
              <a:chOff x="612" y="866"/>
              <a:chExt cx="1679" cy="1680"/>
            </a:xfrm>
          </p:grpSpPr>
          <p:sp>
            <p:nvSpPr>
              <p:cNvPr id="83987" name="Rectangle 5"/>
              <p:cNvSpPr/>
              <p:nvPr/>
            </p:nvSpPr>
            <p:spPr>
              <a:xfrm>
                <a:off x="1156" y="2035"/>
                <a:ext cx="1135" cy="382"/>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990033"/>
                    </a:solidFill>
                    <a:ea typeface="楷体_GB2312" pitchFamily="49" charset="-122"/>
                  </a:rPr>
                  <a:t>2#</a:t>
                </a:r>
                <a:endParaRPr lang="en-US" altLang="zh-CN" sz="2000" b="1" dirty="0">
                  <a:solidFill>
                    <a:srgbClr val="990033"/>
                  </a:solidFill>
                  <a:ea typeface="楷体_GB2312" pitchFamily="49" charset="-122"/>
                </a:endParaRPr>
              </a:p>
            </p:txBody>
          </p:sp>
          <p:sp>
            <p:nvSpPr>
              <p:cNvPr id="83988" name="Rectangle 14"/>
              <p:cNvSpPr/>
              <p:nvPr/>
            </p:nvSpPr>
            <p:spPr>
              <a:xfrm>
                <a:off x="1156" y="1270"/>
                <a:ext cx="1135" cy="383"/>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990033"/>
                    </a:solidFill>
                    <a:ea typeface="楷体_GB2312" pitchFamily="49" charset="-122"/>
                  </a:rPr>
                  <a:t>0#</a:t>
                </a:r>
                <a:endParaRPr lang="en-US" altLang="zh-CN" sz="2000" b="1" dirty="0">
                  <a:solidFill>
                    <a:srgbClr val="990033"/>
                  </a:solidFill>
                  <a:ea typeface="楷体_GB2312" pitchFamily="49" charset="-122"/>
                </a:endParaRPr>
              </a:p>
            </p:txBody>
          </p:sp>
          <p:sp>
            <p:nvSpPr>
              <p:cNvPr id="83989" name="Rectangle 15"/>
              <p:cNvSpPr/>
              <p:nvPr/>
            </p:nvSpPr>
            <p:spPr>
              <a:xfrm>
                <a:off x="1156" y="1653"/>
                <a:ext cx="1135" cy="382"/>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000" b="1" dirty="0">
                    <a:solidFill>
                      <a:srgbClr val="990033"/>
                    </a:solidFill>
                    <a:ea typeface="楷体_GB2312" pitchFamily="49" charset="-122"/>
                  </a:rPr>
                  <a:t>1#</a:t>
                </a:r>
                <a:endParaRPr lang="en-US" altLang="zh-CN" sz="2000" b="1" dirty="0">
                  <a:solidFill>
                    <a:srgbClr val="990033"/>
                  </a:solidFill>
                  <a:ea typeface="楷体_GB2312" pitchFamily="49" charset="-122"/>
                </a:endParaRPr>
              </a:p>
            </p:txBody>
          </p:sp>
          <p:sp>
            <p:nvSpPr>
              <p:cNvPr id="83990" name="Rectangle 23"/>
              <p:cNvSpPr/>
              <p:nvPr/>
            </p:nvSpPr>
            <p:spPr>
              <a:xfrm>
                <a:off x="1247" y="866"/>
                <a:ext cx="936" cy="288"/>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地址空间</a:t>
                </a:r>
                <a:r>
                  <a:rPr lang="zh-CN" altLang="en-US" sz="2400" b="1" dirty="0">
                    <a:ea typeface="楷体_GB2312" pitchFamily="49" charset="-122"/>
                  </a:rPr>
                  <a:t> </a:t>
                </a:r>
                <a:endParaRPr lang="zh-CN" altLang="en-US" sz="2400" b="1" dirty="0">
                  <a:ea typeface="楷体_GB2312" pitchFamily="49" charset="-122"/>
                </a:endParaRPr>
              </a:p>
            </p:txBody>
          </p:sp>
          <p:sp>
            <p:nvSpPr>
              <p:cNvPr id="83991" name="Rectangle 25"/>
              <p:cNvSpPr/>
              <p:nvPr/>
            </p:nvSpPr>
            <p:spPr>
              <a:xfrm>
                <a:off x="930" y="1117"/>
                <a:ext cx="244" cy="288"/>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ea typeface="楷体_GB2312" pitchFamily="49" charset="-122"/>
                  </a:rPr>
                  <a:t>0</a:t>
                </a:r>
                <a:r>
                  <a:rPr lang="en-US" altLang="zh-CN" sz="2400" b="1" dirty="0">
                    <a:ea typeface="楷体_GB2312" pitchFamily="49" charset="-122"/>
                  </a:rPr>
                  <a:t> </a:t>
                </a:r>
                <a:endParaRPr lang="en-US" altLang="zh-CN" sz="2400" b="1" dirty="0">
                  <a:ea typeface="楷体_GB2312" pitchFamily="49" charset="-122"/>
                </a:endParaRPr>
              </a:p>
            </p:txBody>
          </p:sp>
          <p:sp>
            <p:nvSpPr>
              <p:cNvPr id="83992" name="Rectangle 28"/>
              <p:cNvSpPr/>
              <p:nvPr/>
            </p:nvSpPr>
            <p:spPr>
              <a:xfrm>
                <a:off x="612" y="2296"/>
                <a:ext cx="549" cy="25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ea typeface="楷体_GB2312" pitchFamily="49" charset="-122"/>
                  </a:rPr>
                  <a:t>3K -1</a:t>
                </a:r>
                <a:endParaRPr lang="en-US" altLang="zh-CN" sz="2000" b="1" dirty="0">
                  <a:solidFill>
                    <a:srgbClr val="000099"/>
                  </a:solidFill>
                  <a:ea typeface="楷体_GB2312" pitchFamily="49" charset="-122"/>
                </a:endParaRPr>
              </a:p>
            </p:txBody>
          </p:sp>
        </p:grpSp>
        <p:sp>
          <p:nvSpPr>
            <p:cNvPr id="83986" name="Rectangle 21"/>
            <p:cNvSpPr/>
            <p:nvPr/>
          </p:nvSpPr>
          <p:spPr>
            <a:xfrm>
              <a:off x="976" y="2112"/>
              <a:ext cx="1134" cy="113"/>
            </a:xfrm>
            <a:prstGeom prst="rect">
              <a:avLst/>
            </a:prstGeom>
            <a:solidFill>
              <a:srgbClr val="FF99CC">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b="1" dirty="0">
                <a:ea typeface="楷体_GB2312" pitchFamily="49" charset="-122"/>
              </a:endParaRPr>
            </a:p>
          </p:txBody>
        </p:sp>
      </p:grpSp>
      <p:grpSp>
        <p:nvGrpSpPr>
          <p:cNvPr id="593960" name="Group 40"/>
          <p:cNvGrpSpPr/>
          <p:nvPr/>
        </p:nvGrpSpPr>
        <p:grpSpPr>
          <a:xfrm>
            <a:off x="3581400" y="2146300"/>
            <a:ext cx="3922713" cy="303213"/>
            <a:chOff x="2256" y="1352"/>
            <a:chExt cx="2471" cy="191"/>
          </a:xfrm>
        </p:grpSpPr>
        <p:sp>
          <p:nvSpPr>
            <p:cNvPr id="83983" name="Line 16"/>
            <p:cNvSpPr/>
            <p:nvPr/>
          </p:nvSpPr>
          <p:spPr>
            <a:xfrm flipV="1">
              <a:off x="2256" y="1440"/>
              <a:ext cx="1344" cy="48"/>
            </a:xfrm>
            <a:prstGeom prst="line">
              <a:avLst/>
            </a:prstGeom>
            <a:ln w="57150" cap="flat" cmpd="sng">
              <a:solidFill>
                <a:srgbClr val="0000FF"/>
              </a:solidFill>
              <a:prstDash val="solid"/>
              <a:headEnd type="none" w="med" len="med"/>
              <a:tailEnd type="stealth" w="sm" len="lg"/>
            </a:ln>
          </p:spPr>
        </p:sp>
        <p:sp>
          <p:nvSpPr>
            <p:cNvPr id="83984" name="Rectangle 8"/>
            <p:cNvSpPr/>
            <p:nvPr/>
          </p:nvSpPr>
          <p:spPr>
            <a:xfrm>
              <a:off x="3592" y="1352"/>
              <a:ext cx="1135" cy="191"/>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b="1" dirty="0">
                <a:ea typeface="楷体_GB2312" pitchFamily="49" charset="-122"/>
              </a:endParaRPr>
            </a:p>
          </p:txBody>
        </p:sp>
      </p:grpSp>
      <p:grpSp>
        <p:nvGrpSpPr>
          <p:cNvPr id="593961" name="Group 41"/>
          <p:cNvGrpSpPr/>
          <p:nvPr/>
        </p:nvGrpSpPr>
        <p:grpSpPr>
          <a:xfrm>
            <a:off x="3581400" y="2438400"/>
            <a:ext cx="3922713" cy="533400"/>
            <a:chOff x="2256" y="1536"/>
            <a:chExt cx="2471" cy="336"/>
          </a:xfrm>
        </p:grpSpPr>
        <p:sp>
          <p:nvSpPr>
            <p:cNvPr id="83981" name="Line 38"/>
            <p:cNvSpPr/>
            <p:nvPr/>
          </p:nvSpPr>
          <p:spPr>
            <a:xfrm flipV="1">
              <a:off x="2256" y="1632"/>
              <a:ext cx="1344" cy="240"/>
            </a:xfrm>
            <a:prstGeom prst="line">
              <a:avLst/>
            </a:prstGeom>
            <a:ln w="57150" cap="flat" cmpd="sng">
              <a:solidFill>
                <a:srgbClr val="0000FF"/>
              </a:solidFill>
              <a:prstDash val="solid"/>
              <a:headEnd type="none" w="med" len="med"/>
              <a:tailEnd type="stealth" w="sm" len="lg"/>
            </a:ln>
          </p:spPr>
        </p:sp>
        <p:sp>
          <p:nvSpPr>
            <p:cNvPr id="83982" name="Rectangle 18"/>
            <p:cNvSpPr/>
            <p:nvPr/>
          </p:nvSpPr>
          <p:spPr>
            <a:xfrm>
              <a:off x="3592" y="1536"/>
              <a:ext cx="1135" cy="191"/>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b="1" dirty="0">
                <a:ea typeface="楷体_GB2312" pitchFamily="49" charset="-122"/>
              </a:endParaRPr>
            </a:p>
          </p:txBody>
        </p:sp>
      </p:grpSp>
      <p:grpSp>
        <p:nvGrpSpPr>
          <p:cNvPr id="593963" name="Group 43"/>
          <p:cNvGrpSpPr/>
          <p:nvPr/>
        </p:nvGrpSpPr>
        <p:grpSpPr>
          <a:xfrm>
            <a:off x="3581400" y="2908300"/>
            <a:ext cx="3922713" cy="908050"/>
            <a:chOff x="2256" y="1832"/>
            <a:chExt cx="2471" cy="572"/>
          </a:xfrm>
        </p:grpSpPr>
        <p:grpSp>
          <p:nvGrpSpPr>
            <p:cNvPr id="83976" name="Group 42"/>
            <p:cNvGrpSpPr/>
            <p:nvPr/>
          </p:nvGrpSpPr>
          <p:grpSpPr>
            <a:xfrm>
              <a:off x="2256" y="1832"/>
              <a:ext cx="2471" cy="568"/>
              <a:chOff x="2256" y="1832"/>
              <a:chExt cx="2471" cy="568"/>
            </a:xfrm>
          </p:grpSpPr>
          <p:sp>
            <p:nvSpPr>
              <p:cNvPr id="83978" name="Rectangle 33"/>
              <p:cNvSpPr/>
              <p:nvPr/>
            </p:nvSpPr>
            <p:spPr>
              <a:xfrm>
                <a:off x="4040" y="1832"/>
                <a:ext cx="277" cy="250"/>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latin typeface="楷体_GB2312" pitchFamily="49" charset="-122"/>
                    <a:ea typeface="楷体_GB2312" pitchFamily="49" charset="-122"/>
                  </a:rPr>
                  <a:t>┆</a:t>
                </a:r>
                <a:endParaRPr lang="en-US" altLang="zh-CN" sz="2000" b="1" dirty="0">
                  <a:solidFill>
                    <a:srgbClr val="000099"/>
                  </a:solidFill>
                  <a:latin typeface="楷体_GB2312" pitchFamily="49" charset="-122"/>
                  <a:ea typeface="楷体_GB2312" pitchFamily="49" charset="-122"/>
                </a:endParaRPr>
              </a:p>
            </p:txBody>
          </p:sp>
          <p:sp>
            <p:nvSpPr>
              <p:cNvPr id="83979" name="Line 39"/>
              <p:cNvSpPr/>
              <p:nvPr/>
            </p:nvSpPr>
            <p:spPr>
              <a:xfrm>
                <a:off x="2256" y="2160"/>
                <a:ext cx="1344" cy="144"/>
              </a:xfrm>
              <a:prstGeom prst="line">
                <a:avLst/>
              </a:prstGeom>
              <a:ln w="57150" cap="flat" cmpd="sng">
                <a:solidFill>
                  <a:srgbClr val="0000FF"/>
                </a:solidFill>
                <a:prstDash val="solid"/>
                <a:headEnd type="none" w="med" len="med"/>
                <a:tailEnd type="stealth" w="sm" len="lg"/>
              </a:ln>
            </p:spPr>
          </p:sp>
          <p:sp>
            <p:nvSpPr>
              <p:cNvPr id="83980" name="Rectangle 10"/>
              <p:cNvSpPr/>
              <p:nvPr/>
            </p:nvSpPr>
            <p:spPr>
              <a:xfrm>
                <a:off x="3592" y="2208"/>
                <a:ext cx="1135" cy="192"/>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b="1" dirty="0">
                  <a:ea typeface="楷体_GB2312" pitchFamily="49" charset="-122"/>
                </a:endParaRPr>
              </a:p>
            </p:txBody>
          </p:sp>
        </p:grpSp>
        <p:sp>
          <p:nvSpPr>
            <p:cNvPr id="83977" name="Rectangle 22"/>
            <p:cNvSpPr/>
            <p:nvPr/>
          </p:nvSpPr>
          <p:spPr>
            <a:xfrm>
              <a:off x="3592" y="2360"/>
              <a:ext cx="1134" cy="44"/>
            </a:xfrm>
            <a:prstGeom prst="rect">
              <a:avLst/>
            </a:prstGeom>
            <a:solidFill>
              <a:srgbClr val="FF99CC">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b="1" dirty="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93957"/>
                                        </p:tgtEl>
                                        <p:attrNameLst>
                                          <p:attrName>style.visibility</p:attrName>
                                        </p:attrNameLst>
                                      </p:cBhvr>
                                      <p:to>
                                        <p:strVal val="visible"/>
                                      </p:to>
                                    </p:set>
                                    <p:animEffect transition="in" filter="wipe(up)">
                                      <p:cBhvr>
                                        <p:cTn id="7" dur="500"/>
                                        <p:tgtEl>
                                          <p:spTgt spid="59395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5" fill="hold" nodeType="clickEffect">
                                  <p:stCondLst>
                                    <p:cond delay="0"/>
                                  </p:stCondLst>
                                  <p:childTnLst>
                                    <p:set>
                                      <p:cBhvr>
                                        <p:cTn id="11" dur="1" fill="hold">
                                          <p:stCondLst>
                                            <p:cond delay="0"/>
                                          </p:stCondLst>
                                        </p:cTn>
                                        <p:tgtEl>
                                          <p:spTgt spid="593956"/>
                                        </p:tgtEl>
                                        <p:attrNameLst>
                                          <p:attrName>style.visibility</p:attrName>
                                        </p:attrNameLst>
                                      </p:cBhvr>
                                      <p:to>
                                        <p:strVal val="visible"/>
                                      </p:to>
                                    </p:set>
                                    <p:animEffect transition="in" filter="checkerboard(down)">
                                      <p:cBhvr>
                                        <p:cTn id="12" dur="500"/>
                                        <p:tgtEl>
                                          <p:spTgt spid="5939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93960"/>
                                        </p:tgtEl>
                                        <p:attrNameLst>
                                          <p:attrName>style.visibility</p:attrName>
                                        </p:attrNameLst>
                                      </p:cBhvr>
                                      <p:to>
                                        <p:strVal val="visible"/>
                                      </p:to>
                                    </p:set>
                                    <p:animEffect transition="in" filter="wipe(left)">
                                      <p:cBhvr>
                                        <p:cTn id="17" dur="500"/>
                                        <p:tgtEl>
                                          <p:spTgt spid="59396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93961"/>
                                        </p:tgtEl>
                                        <p:attrNameLst>
                                          <p:attrName>style.visibility</p:attrName>
                                        </p:attrNameLst>
                                      </p:cBhvr>
                                      <p:to>
                                        <p:strVal val="visible"/>
                                      </p:to>
                                    </p:set>
                                    <p:animEffect transition="in" filter="wipe(left)">
                                      <p:cBhvr>
                                        <p:cTn id="22" dur="500"/>
                                        <p:tgtEl>
                                          <p:spTgt spid="59396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93963"/>
                                        </p:tgtEl>
                                        <p:attrNameLst>
                                          <p:attrName>style.visibility</p:attrName>
                                        </p:attrNameLst>
                                      </p:cBhvr>
                                      <p:to>
                                        <p:strVal val="visible"/>
                                      </p:to>
                                    </p:set>
                                    <p:animEffect transition="in" filter="wipe(left)">
                                      <p:cBhvr>
                                        <p:cTn id="27" dur="500"/>
                                        <p:tgtEl>
                                          <p:spTgt spid="5939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94946" name="Text Box 2"/>
          <p:cNvSpPr txBox="1"/>
          <p:nvPr/>
        </p:nvSpPr>
        <p:spPr>
          <a:xfrm>
            <a:off x="673100" y="1081088"/>
            <a:ext cx="5867400" cy="519112"/>
          </a:xfrm>
          <a:prstGeom prst="rect">
            <a:avLst/>
          </a:prstGeom>
          <a:gradFill rotWithShape="0">
            <a:gsLst>
              <a:gs pos="0">
                <a:srgbClr val="F0F0F0"/>
              </a:gs>
              <a:gs pos="100000">
                <a:srgbClr val="FAFAFA"/>
              </a:gs>
            </a:gsLst>
            <a:lin ang="0" scaled="1"/>
            <a:tileRect/>
          </a:gra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9900CC"/>
                </a:solidFill>
                <a:latin typeface="隶书" panose="02010509060101010101" pitchFamily="49" charset="-122"/>
                <a:ea typeface="隶书" panose="02010509060101010101" pitchFamily="49" charset="-122"/>
              </a:rPr>
              <a:t>（一）逻辑地址结构</a:t>
            </a:r>
            <a:endParaRPr lang="zh-CN" altLang="en-US" sz="2800" b="1" dirty="0">
              <a:solidFill>
                <a:srgbClr val="9900CC"/>
              </a:solidFill>
              <a:latin typeface="隶书" panose="02010509060101010101" pitchFamily="49" charset="-122"/>
              <a:ea typeface="隶书" panose="02010509060101010101" pitchFamily="49" charset="-122"/>
            </a:endParaRPr>
          </a:p>
        </p:txBody>
      </p:sp>
      <p:sp>
        <p:nvSpPr>
          <p:cNvPr id="594947" name="Rectangle 3"/>
          <p:cNvSpPr/>
          <p:nvPr/>
        </p:nvSpPr>
        <p:spPr>
          <a:xfrm>
            <a:off x="673100" y="1628775"/>
            <a:ext cx="836295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在分页存贮管理中，程序的逻辑地址包含两部分内容：页号和页内地址（页内偏移量）。（设：页长</a:t>
            </a:r>
            <a:r>
              <a:rPr lang="en-US" altLang="zh-CN" sz="2400" b="1" dirty="0">
                <a:solidFill>
                  <a:srgbClr val="000099"/>
                </a:solidFill>
                <a:ea typeface="楷体_GB2312" pitchFamily="49" charset="-122"/>
              </a:rPr>
              <a:t>=1KB=2</a:t>
            </a:r>
            <a:r>
              <a:rPr lang="en-US" altLang="zh-CN" sz="2400" b="1" baseline="30000" dirty="0">
                <a:solidFill>
                  <a:srgbClr val="000099"/>
                </a:solidFill>
                <a:ea typeface="楷体_GB2312" pitchFamily="49" charset="-122"/>
              </a:rPr>
              <a:t>10</a:t>
            </a:r>
            <a:r>
              <a:rPr lang="en-US" altLang="zh-CN" sz="2400" b="1" dirty="0">
                <a:solidFill>
                  <a:srgbClr val="000099"/>
                </a:solidFill>
                <a:ea typeface="楷体_GB2312" pitchFamily="49" charset="-122"/>
              </a:rPr>
              <a:t>B</a:t>
            </a:r>
            <a:r>
              <a:rPr lang="zh-CN" altLang="en-US" sz="2400" b="1" dirty="0">
                <a:solidFill>
                  <a:srgbClr val="000099"/>
                </a:solidFill>
                <a:ea typeface="楷体_GB2312" pitchFamily="49" charset="-122"/>
              </a:rPr>
              <a:t>）</a:t>
            </a:r>
            <a:r>
              <a:rPr lang="zh-CN" altLang="en-US" sz="2400" b="1" dirty="0">
                <a:ea typeface="楷体_GB2312" pitchFamily="49" charset="-122"/>
              </a:rPr>
              <a:t> </a:t>
            </a:r>
            <a:endParaRPr lang="zh-CN" altLang="en-US" sz="2400" b="1" dirty="0">
              <a:ea typeface="楷体_GB2312" pitchFamily="49" charset="-122"/>
            </a:endParaRPr>
          </a:p>
        </p:txBody>
      </p:sp>
      <p:sp>
        <p:nvSpPr>
          <p:cNvPr id="594948" name="Rectangle 4"/>
          <p:cNvSpPr/>
          <p:nvPr/>
        </p:nvSpPr>
        <p:spPr>
          <a:xfrm>
            <a:off x="684213" y="3860800"/>
            <a:ext cx="8215312" cy="253841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页内地址的位数由页长决定，逻辑地址字中除去页内地址所占的低位部分外，其余高位部分为页号。</a:t>
            </a:r>
            <a:endParaRPr lang="zh-CN" altLang="en-US" sz="2400" b="1" dirty="0">
              <a:solidFill>
                <a:srgbClr val="000099"/>
              </a:solidFill>
              <a:ea typeface="楷体_GB2312" pitchFamily="49" charset="-122"/>
            </a:endParaRPr>
          </a:p>
          <a:p>
            <a:pPr marL="0" lvl="0" indent="0" eaLnBrk="1" hangingPunct="1">
              <a:lnSpc>
                <a:spcPct val="130000"/>
              </a:lnSpc>
              <a:buClrTx/>
              <a:buSzTx/>
              <a:buFontTx/>
              <a:buNone/>
            </a:pPr>
            <a:r>
              <a:rPr lang="zh-CN" altLang="en-US" sz="2400" b="1" dirty="0">
                <a:solidFill>
                  <a:srgbClr val="000099"/>
                </a:solidFill>
                <a:ea typeface="楷体_GB2312" pitchFamily="49" charset="-122"/>
              </a:rPr>
              <a:t>        例如一个系统的逻辑地址字为</a:t>
            </a:r>
            <a:r>
              <a:rPr lang="en-US" altLang="zh-CN" sz="2400" b="1" dirty="0">
                <a:solidFill>
                  <a:srgbClr val="000099"/>
                </a:solidFill>
                <a:ea typeface="楷体_GB2312" pitchFamily="49" charset="-122"/>
              </a:rPr>
              <a:t>16</a:t>
            </a:r>
            <a:r>
              <a:rPr lang="zh-CN" altLang="en-US" sz="2400" b="1" dirty="0">
                <a:solidFill>
                  <a:srgbClr val="000099"/>
                </a:solidFill>
                <a:ea typeface="楷体_GB2312" pitchFamily="49" charset="-122"/>
              </a:rPr>
              <a:t>位，页长为</a:t>
            </a:r>
            <a:r>
              <a:rPr lang="en-US" altLang="zh-CN" sz="2400" b="1" dirty="0">
                <a:solidFill>
                  <a:srgbClr val="000099"/>
                </a:solidFill>
                <a:ea typeface="楷体_GB2312" pitchFamily="49" charset="-122"/>
              </a:rPr>
              <a:t>1KB</a:t>
            </a:r>
            <a:r>
              <a:rPr lang="zh-CN" altLang="en-US" sz="2400" b="1" dirty="0">
                <a:solidFill>
                  <a:srgbClr val="000099"/>
                </a:solidFill>
                <a:ea typeface="楷体_GB2312" pitchFamily="49" charset="-122"/>
              </a:rPr>
              <a:t>，则页长占</a:t>
            </a:r>
            <a:r>
              <a:rPr lang="en-US" altLang="zh-CN" sz="2400" b="1" dirty="0">
                <a:solidFill>
                  <a:srgbClr val="000099"/>
                </a:solidFill>
                <a:ea typeface="楷体_GB2312" pitchFamily="49" charset="-122"/>
              </a:rPr>
              <a:t>10</a:t>
            </a:r>
            <a:r>
              <a:rPr lang="zh-CN" altLang="en-US" sz="2400" b="1" dirty="0">
                <a:solidFill>
                  <a:srgbClr val="000099"/>
                </a:solidFill>
                <a:ea typeface="楷体_GB2312" pitchFamily="49" charset="-122"/>
              </a:rPr>
              <a:t>位，占逻辑地址字的第</a:t>
            </a:r>
            <a:r>
              <a:rPr lang="en-US" altLang="zh-CN" sz="2400" b="1" dirty="0">
                <a:solidFill>
                  <a:srgbClr val="000099"/>
                </a:solidFill>
                <a:ea typeface="楷体_GB2312" pitchFamily="49" charset="-122"/>
              </a:rPr>
              <a:t>0—9</a:t>
            </a:r>
            <a:r>
              <a:rPr lang="zh-CN" altLang="en-US" sz="2400" b="1" dirty="0">
                <a:solidFill>
                  <a:srgbClr val="000099"/>
                </a:solidFill>
                <a:ea typeface="楷体_GB2312" pitchFamily="49" charset="-122"/>
              </a:rPr>
              <a:t>位，余下的第</a:t>
            </a:r>
            <a:r>
              <a:rPr lang="en-US" altLang="zh-CN" sz="2400" b="1" dirty="0">
                <a:solidFill>
                  <a:srgbClr val="000099"/>
                </a:solidFill>
                <a:ea typeface="楷体_GB2312" pitchFamily="49" charset="-122"/>
              </a:rPr>
              <a:t>10—15</a:t>
            </a:r>
            <a:r>
              <a:rPr lang="zh-CN" altLang="en-US" sz="2400" b="1" dirty="0">
                <a:solidFill>
                  <a:srgbClr val="000099"/>
                </a:solidFill>
                <a:ea typeface="楷体_GB2312" pitchFamily="49" charset="-122"/>
              </a:rPr>
              <a:t>位为页号。</a:t>
            </a:r>
            <a:endParaRPr lang="zh-CN" altLang="en-US" sz="2400" b="1" dirty="0">
              <a:solidFill>
                <a:srgbClr val="000099"/>
              </a:solidFill>
              <a:ea typeface="楷体_GB2312" pitchFamily="49" charset="-122"/>
            </a:endParaRPr>
          </a:p>
        </p:txBody>
      </p:sp>
      <p:grpSp>
        <p:nvGrpSpPr>
          <p:cNvPr id="594949" name="Group 5"/>
          <p:cNvGrpSpPr/>
          <p:nvPr/>
        </p:nvGrpSpPr>
        <p:grpSpPr>
          <a:xfrm>
            <a:off x="2700338" y="2781300"/>
            <a:ext cx="4535487" cy="1044575"/>
            <a:chOff x="2160" y="1104"/>
            <a:chExt cx="2208" cy="853"/>
          </a:xfrm>
        </p:grpSpPr>
        <p:grpSp>
          <p:nvGrpSpPr>
            <p:cNvPr id="85000" name="Group 6"/>
            <p:cNvGrpSpPr/>
            <p:nvPr/>
          </p:nvGrpSpPr>
          <p:grpSpPr>
            <a:xfrm>
              <a:off x="2160" y="1104"/>
              <a:ext cx="2208" cy="853"/>
              <a:chOff x="2160" y="1200"/>
              <a:chExt cx="2208" cy="853"/>
            </a:xfrm>
          </p:grpSpPr>
          <p:sp>
            <p:nvSpPr>
              <p:cNvPr id="85002" name="Rectangle 7"/>
              <p:cNvSpPr/>
              <p:nvPr/>
            </p:nvSpPr>
            <p:spPr>
              <a:xfrm>
                <a:off x="2160" y="1200"/>
                <a:ext cx="2112" cy="48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85003" name="Text Box 8"/>
              <p:cNvSpPr txBox="1"/>
              <p:nvPr/>
            </p:nvSpPr>
            <p:spPr>
              <a:xfrm>
                <a:off x="2448" y="1296"/>
                <a:ext cx="528" cy="373"/>
              </a:xfrm>
              <a:prstGeom prst="rect">
                <a:avLst/>
              </a:prstGeom>
              <a:noFill/>
              <a:ln w="9525">
                <a:noFill/>
              </a:ln>
            </p:spPr>
            <p:txBody>
              <a:bodyPr lIns="0" r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99"/>
                    </a:solidFill>
                    <a:ea typeface="楷体_GB2312" pitchFamily="49" charset="-122"/>
                  </a:rPr>
                  <a:t>页号</a:t>
                </a:r>
                <a:r>
                  <a:rPr lang="en-US" altLang="zh-CN" sz="2400" b="1" dirty="0">
                    <a:solidFill>
                      <a:srgbClr val="000099"/>
                    </a:solidFill>
                    <a:ea typeface="楷体_GB2312" pitchFamily="49" charset="-122"/>
                  </a:rPr>
                  <a:t>P</a:t>
                </a:r>
                <a:endParaRPr lang="en-US" altLang="zh-CN" sz="2400" b="1" dirty="0">
                  <a:solidFill>
                    <a:srgbClr val="000099"/>
                  </a:solidFill>
                  <a:ea typeface="楷体_GB2312" pitchFamily="49" charset="-122"/>
                </a:endParaRPr>
              </a:p>
            </p:txBody>
          </p:sp>
          <p:sp>
            <p:nvSpPr>
              <p:cNvPr id="85004" name="Text Box 9"/>
              <p:cNvSpPr txBox="1"/>
              <p:nvPr/>
            </p:nvSpPr>
            <p:spPr>
              <a:xfrm>
                <a:off x="3264" y="1296"/>
                <a:ext cx="960" cy="37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99"/>
                    </a:solidFill>
                    <a:ea typeface="楷体_GB2312" pitchFamily="49" charset="-122"/>
                  </a:rPr>
                  <a:t>页内地址ｄ</a:t>
                </a:r>
                <a:endParaRPr lang="zh-CN" altLang="en-US" sz="2400" b="1" dirty="0">
                  <a:solidFill>
                    <a:srgbClr val="000099"/>
                  </a:solidFill>
                  <a:ea typeface="楷体_GB2312" pitchFamily="49" charset="-122"/>
                </a:endParaRPr>
              </a:p>
            </p:txBody>
          </p:sp>
          <p:sp>
            <p:nvSpPr>
              <p:cNvPr id="85005" name="Text Box 10"/>
              <p:cNvSpPr txBox="1"/>
              <p:nvPr/>
            </p:nvSpPr>
            <p:spPr>
              <a:xfrm>
                <a:off x="4128" y="1680"/>
                <a:ext cx="240" cy="37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99"/>
                    </a:solidFill>
                    <a:ea typeface="楷体_GB2312" pitchFamily="49" charset="-122"/>
                  </a:rPr>
                  <a:t>0</a:t>
                </a:r>
                <a:endParaRPr lang="en-US" altLang="zh-CN" sz="2400" b="1" dirty="0">
                  <a:solidFill>
                    <a:srgbClr val="000099"/>
                  </a:solidFill>
                  <a:ea typeface="楷体_GB2312" pitchFamily="49" charset="-122"/>
                </a:endParaRPr>
              </a:p>
            </p:txBody>
          </p:sp>
          <p:sp>
            <p:nvSpPr>
              <p:cNvPr id="85006" name="Text Box 11"/>
              <p:cNvSpPr txBox="1"/>
              <p:nvPr/>
            </p:nvSpPr>
            <p:spPr>
              <a:xfrm>
                <a:off x="3264" y="1680"/>
                <a:ext cx="336" cy="37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99"/>
                    </a:solidFill>
                    <a:ea typeface="楷体_GB2312" pitchFamily="49" charset="-122"/>
                  </a:rPr>
                  <a:t>9</a:t>
                </a:r>
                <a:endParaRPr lang="en-US" altLang="zh-CN" sz="2400" b="1" dirty="0">
                  <a:solidFill>
                    <a:srgbClr val="000099"/>
                  </a:solidFill>
                  <a:ea typeface="楷体_GB2312" pitchFamily="49" charset="-122"/>
                </a:endParaRPr>
              </a:p>
            </p:txBody>
          </p:sp>
          <p:sp>
            <p:nvSpPr>
              <p:cNvPr id="85007" name="Text Box 12"/>
              <p:cNvSpPr txBox="1"/>
              <p:nvPr/>
            </p:nvSpPr>
            <p:spPr>
              <a:xfrm>
                <a:off x="2880" y="1680"/>
                <a:ext cx="336" cy="37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99"/>
                    </a:solidFill>
                    <a:ea typeface="楷体_GB2312" pitchFamily="49" charset="-122"/>
                  </a:rPr>
                  <a:t>10</a:t>
                </a:r>
                <a:endParaRPr lang="en-US" altLang="zh-CN" sz="2400" b="1" dirty="0">
                  <a:solidFill>
                    <a:srgbClr val="000099"/>
                  </a:solidFill>
                  <a:ea typeface="楷体_GB2312" pitchFamily="49" charset="-122"/>
                </a:endParaRPr>
              </a:p>
            </p:txBody>
          </p:sp>
          <p:sp>
            <p:nvSpPr>
              <p:cNvPr id="85008" name="Text Box 13"/>
              <p:cNvSpPr txBox="1"/>
              <p:nvPr/>
            </p:nvSpPr>
            <p:spPr>
              <a:xfrm>
                <a:off x="2160" y="1680"/>
                <a:ext cx="336" cy="37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99"/>
                    </a:solidFill>
                    <a:ea typeface="楷体_GB2312" pitchFamily="49" charset="-122"/>
                  </a:rPr>
                  <a:t>15</a:t>
                </a:r>
                <a:endParaRPr lang="en-US" altLang="zh-CN" sz="2400" b="1" dirty="0">
                  <a:solidFill>
                    <a:srgbClr val="000099"/>
                  </a:solidFill>
                  <a:ea typeface="楷体_GB2312" pitchFamily="49" charset="-122"/>
                </a:endParaRPr>
              </a:p>
            </p:txBody>
          </p:sp>
        </p:grpSp>
        <p:sp>
          <p:nvSpPr>
            <p:cNvPr id="85001" name="Line 14"/>
            <p:cNvSpPr/>
            <p:nvPr/>
          </p:nvSpPr>
          <p:spPr>
            <a:xfrm>
              <a:off x="3216" y="1104"/>
              <a:ext cx="0" cy="480"/>
            </a:xfrm>
            <a:prstGeom prst="line">
              <a:avLst/>
            </a:prstGeom>
            <a:ln w="9525" cap="flat" cmpd="sng">
              <a:solidFill>
                <a:schemeClr val="tx1"/>
              </a:solidFill>
              <a:prstDash val="solid"/>
              <a:miter/>
              <a:headEnd type="none" w="med" len="med"/>
              <a:tailEnd type="none" w="med" len="med"/>
            </a:ln>
          </p:spPr>
        </p:sp>
      </p:grpSp>
      <p:sp>
        <p:nvSpPr>
          <p:cNvPr id="594960" name="Rectangle 16"/>
          <p:cNvSpPr/>
          <p:nvPr/>
        </p:nvSpPr>
        <p:spPr>
          <a:xfrm>
            <a:off x="668338" y="319088"/>
            <a:ext cx="4114800" cy="676275"/>
          </a:xfrm>
          <a:prstGeom prst="rect">
            <a:avLst/>
          </a:prstGeom>
          <a:gradFill rotWithShape="0">
            <a:gsLst>
              <a:gs pos="0">
                <a:srgbClr val="EFECB9"/>
              </a:gs>
              <a:gs pos="100000">
                <a:srgbClr val="F9F8E4"/>
              </a:gs>
            </a:gsLst>
            <a:lin ang="0" scaled="1"/>
            <a:tileRect/>
          </a:gra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dirty="0">
                <a:solidFill>
                  <a:srgbClr val="000000"/>
                </a:solidFill>
                <a:ea typeface="隶书" panose="02010509060101010101" pitchFamily="49" charset="-122"/>
              </a:rPr>
              <a:t> </a:t>
            </a:r>
            <a:r>
              <a:rPr lang="zh-CN" altLang="en-US" b="1" dirty="0">
                <a:solidFill>
                  <a:srgbClr val="000000"/>
                </a:solidFill>
                <a:ea typeface="隶书" panose="02010509060101010101" pitchFamily="49" charset="-122"/>
              </a:rPr>
              <a:t>二、页式地址转换</a:t>
            </a:r>
            <a:endParaRPr lang="zh-CN" altLang="en-US" b="1" dirty="0">
              <a:solidFill>
                <a:srgbClr val="000000"/>
              </a:solidFill>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94960"/>
                                        </p:tgtEl>
                                        <p:attrNameLst>
                                          <p:attrName>style.visibility</p:attrName>
                                        </p:attrNameLst>
                                      </p:cBhvr>
                                      <p:to>
                                        <p:strVal val="visible"/>
                                      </p:to>
                                    </p:set>
                                    <p:anim calcmode="lin" valueType="num">
                                      <p:cBhvr additive="base">
                                        <p:cTn id="7" dur="500" fill="hold"/>
                                        <p:tgtEl>
                                          <p:spTgt spid="594960"/>
                                        </p:tgtEl>
                                        <p:attrNameLst>
                                          <p:attrName>ppt_x</p:attrName>
                                        </p:attrNameLst>
                                      </p:cBhvr>
                                      <p:tavLst>
                                        <p:tav tm="0">
                                          <p:val>
                                            <p:strVal val="0-#ppt_w/2"/>
                                          </p:val>
                                        </p:tav>
                                        <p:tav tm="100000">
                                          <p:val>
                                            <p:strVal val="#ppt_x"/>
                                          </p:val>
                                        </p:tav>
                                      </p:tavLst>
                                    </p:anim>
                                    <p:anim calcmode="lin" valueType="num">
                                      <p:cBhvr additive="base">
                                        <p:cTn id="8" dur="500" fill="hold"/>
                                        <p:tgtEl>
                                          <p:spTgt spid="5949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94946"/>
                                        </p:tgtEl>
                                        <p:attrNameLst>
                                          <p:attrName>style.visibility</p:attrName>
                                        </p:attrNameLst>
                                      </p:cBhvr>
                                      <p:to>
                                        <p:strVal val="visible"/>
                                      </p:to>
                                    </p:set>
                                    <p:anim calcmode="lin" valueType="num">
                                      <p:cBhvr additive="base">
                                        <p:cTn id="13" dur="500" fill="hold"/>
                                        <p:tgtEl>
                                          <p:spTgt spid="594946"/>
                                        </p:tgtEl>
                                        <p:attrNameLst>
                                          <p:attrName>ppt_x</p:attrName>
                                        </p:attrNameLst>
                                      </p:cBhvr>
                                      <p:tavLst>
                                        <p:tav tm="0">
                                          <p:val>
                                            <p:strVal val="0-#ppt_w/2"/>
                                          </p:val>
                                        </p:tav>
                                        <p:tav tm="100000">
                                          <p:val>
                                            <p:strVal val="#ppt_x"/>
                                          </p:val>
                                        </p:tav>
                                      </p:tavLst>
                                    </p:anim>
                                    <p:anim calcmode="lin" valueType="num">
                                      <p:cBhvr additive="base">
                                        <p:cTn id="14" dur="500" fill="hold"/>
                                        <p:tgtEl>
                                          <p:spTgt spid="59494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94947"/>
                                        </p:tgtEl>
                                        <p:attrNameLst>
                                          <p:attrName>style.visibility</p:attrName>
                                        </p:attrNameLst>
                                      </p:cBhvr>
                                      <p:to>
                                        <p:strVal val="visible"/>
                                      </p:to>
                                    </p:set>
                                    <p:anim calcmode="lin" valueType="num">
                                      <p:cBhvr additive="base">
                                        <p:cTn id="19" dur="500" fill="hold"/>
                                        <p:tgtEl>
                                          <p:spTgt spid="594947"/>
                                        </p:tgtEl>
                                        <p:attrNameLst>
                                          <p:attrName>ppt_x</p:attrName>
                                        </p:attrNameLst>
                                      </p:cBhvr>
                                      <p:tavLst>
                                        <p:tav tm="0">
                                          <p:val>
                                            <p:strVal val="0-#ppt_w/2"/>
                                          </p:val>
                                        </p:tav>
                                        <p:tav tm="100000">
                                          <p:val>
                                            <p:strVal val="#ppt_x"/>
                                          </p:val>
                                        </p:tav>
                                      </p:tavLst>
                                    </p:anim>
                                    <p:anim calcmode="lin" valueType="num">
                                      <p:cBhvr additive="base">
                                        <p:cTn id="20" dur="500" fill="hold"/>
                                        <p:tgtEl>
                                          <p:spTgt spid="59494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94949"/>
                                        </p:tgtEl>
                                        <p:attrNameLst>
                                          <p:attrName>style.visibility</p:attrName>
                                        </p:attrNameLst>
                                      </p:cBhvr>
                                      <p:to>
                                        <p:strVal val="visible"/>
                                      </p:to>
                                    </p:set>
                                    <p:anim calcmode="lin" valueType="num">
                                      <p:cBhvr additive="base">
                                        <p:cTn id="25" dur="500" fill="hold"/>
                                        <p:tgtEl>
                                          <p:spTgt spid="594949"/>
                                        </p:tgtEl>
                                        <p:attrNameLst>
                                          <p:attrName>ppt_x</p:attrName>
                                        </p:attrNameLst>
                                      </p:cBhvr>
                                      <p:tavLst>
                                        <p:tav tm="0">
                                          <p:val>
                                            <p:strVal val="0-#ppt_w/2"/>
                                          </p:val>
                                        </p:tav>
                                        <p:tav tm="100000">
                                          <p:val>
                                            <p:strVal val="#ppt_x"/>
                                          </p:val>
                                        </p:tav>
                                      </p:tavLst>
                                    </p:anim>
                                    <p:anim calcmode="lin" valueType="num">
                                      <p:cBhvr additive="base">
                                        <p:cTn id="26" dur="500" fill="hold"/>
                                        <p:tgtEl>
                                          <p:spTgt spid="59494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94948"/>
                                        </p:tgtEl>
                                        <p:attrNameLst>
                                          <p:attrName>style.visibility</p:attrName>
                                        </p:attrNameLst>
                                      </p:cBhvr>
                                      <p:to>
                                        <p:strVal val="visible"/>
                                      </p:to>
                                    </p:set>
                                    <p:anim calcmode="lin" valueType="num">
                                      <p:cBhvr additive="base">
                                        <p:cTn id="31" dur="500" fill="hold"/>
                                        <p:tgtEl>
                                          <p:spTgt spid="594948"/>
                                        </p:tgtEl>
                                        <p:attrNameLst>
                                          <p:attrName>ppt_x</p:attrName>
                                        </p:attrNameLst>
                                      </p:cBhvr>
                                      <p:tavLst>
                                        <p:tav tm="0">
                                          <p:val>
                                            <p:strVal val="0-#ppt_w/2"/>
                                          </p:val>
                                        </p:tav>
                                        <p:tav tm="100000">
                                          <p:val>
                                            <p:strVal val="#ppt_x"/>
                                          </p:val>
                                        </p:tav>
                                      </p:tavLst>
                                    </p:anim>
                                    <p:anim calcmode="lin" valueType="num">
                                      <p:cBhvr additive="base">
                                        <p:cTn id="32" dur="500" fill="hold"/>
                                        <p:tgtEl>
                                          <p:spTgt spid="5949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46" grpId="0" animBg="1"/>
      <p:bldP spid="594947" grpId="0"/>
      <p:bldP spid="594948" grpId="0"/>
      <p:bldP spid="59496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99396" name="Rectangle 4"/>
          <p:cNvSpPr/>
          <p:nvPr/>
        </p:nvSpPr>
        <p:spPr>
          <a:xfrm>
            <a:off x="1835150" y="3644900"/>
            <a:ext cx="6481763" cy="22098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则：</a:t>
            </a:r>
            <a:endParaRPr lang="zh-CN" altLang="en-US" sz="2400" b="1" dirty="0">
              <a:solidFill>
                <a:srgbClr val="000099"/>
              </a:solidFill>
              <a:ea typeface="楷体_GB2312" pitchFamily="49" charset="-122"/>
            </a:endParaRPr>
          </a:p>
          <a:p>
            <a:pPr marL="0" lvl="0" indent="0" eaLnBrk="1" hangingPunct="1">
              <a:lnSpc>
                <a:spcPct val="130000"/>
              </a:lnSpc>
              <a:buClrTx/>
              <a:buSzTx/>
              <a:buFontTx/>
              <a:buNone/>
            </a:pPr>
            <a:r>
              <a:rPr lang="zh-CN" altLang="en-US" sz="2400" b="1" dirty="0">
                <a:solidFill>
                  <a:srgbClr val="000099"/>
                </a:solidFill>
                <a:ea typeface="楷体_GB2312" pitchFamily="49" charset="-122"/>
              </a:rPr>
              <a:t>        页长（</a:t>
            </a:r>
            <a:r>
              <a:rPr lang="en-US" altLang="zh-CN" sz="2400" b="1" dirty="0">
                <a:solidFill>
                  <a:srgbClr val="000099"/>
                </a:solidFill>
                <a:ea typeface="楷体_GB2312" pitchFamily="49" charset="-122"/>
              </a:rPr>
              <a:t>L</a:t>
            </a:r>
            <a:r>
              <a:rPr lang="zh-CN" altLang="en-US" sz="2400" b="1" dirty="0">
                <a:solidFill>
                  <a:srgbClr val="000099"/>
                </a:solidFill>
                <a:ea typeface="楷体_GB2312" pitchFamily="49" charset="-122"/>
              </a:rPr>
              <a:t>）</a:t>
            </a:r>
            <a:r>
              <a:rPr lang="en-US" altLang="zh-CN" sz="2400" b="1" dirty="0">
                <a:solidFill>
                  <a:srgbClr val="000099"/>
                </a:solidFill>
                <a:ea typeface="楷体_GB2312" pitchFamily="49" charset="-122"/>
              </a:rPr>
              <a:t>=2</a:t>
            </a:r>
            <a:r>
              <a:rPr lang="en-US" altLang="zh-CN" sz="2400" b="1" baseline="30000" dirty="0">
                <a:solidFill>
                  <a:srgbClr val="000099"/>
                </a:solidFill>
                <a:ea typeface="楷体_GB2312" pitchFamily="49" charset="-122"/>
              </a:rPr>
              <a:t>12</a:t>
            </a:r>
            <a:r>
              <a:rPr lang="en-US" altLang="zh-CN" sz="2400" b="1" dirty="0">
                <a:solidFill>
                  <a:srgbClr val="000099"/>
                </a:solidFill>
                <a:ea typeface="楷体_GB2312" pitchFamily="49" charset="-122"/>
              </a:rPr>
              <a:t>B=4</a:t>
            </a:r>
            <a:r>
              <a:rPr lang="zh-CN" altLang="en-US" sz="2400" b="1" dirty="0">
                <a:solidFill>
                  <a:srgbClr val="000099"/>
                </a:solidFill>
                <a:ea typeface="楷体_GB2312" pitchFamily="49" charset="-122"/>
              </a:rPr>
              <a:t>ＫＢ</a:t>
            </a:r>
            <a:endParaRPr lang="zh-CN" altLang="en-US" sz="2400" b="1" baseline="30000" dirty="0">
              <a:solidFill>
                <a:srgbClr val="000099"/>
              </a:solidFill>
              <a:ea typeface="楷体_GB2312" pitchFamily="49" charset="-122"/>
            </a:endParaRPr>
          </a:p>
          <a:p>
            <a:pPr marL="0" lvl="0" indent="0" eaLnBrk="1" hangingPunct="1">
              <a:lnSpc>
                <a:spcPct val="130000"/>
              </a:lnSpc>
              <a:buClrTx/>
              <a:buSzTx/>
              <a:buFontTx/>
              <a:buNone/>
            </a:pPr>
            <a:r>
              <a:rPr lang="zh-CN" altLang="en-US" sz="2400" b="1" dirty="0">
                <a:solidFill>
                  <a:srgbClr val="000099"/>
                </a:solidFill>
                <a:ea typeface="楷体_GB2312" pitchFamily="49" charset="-122"/>
              </a:rPr>
              <a:t>　　最大分页数＝</a:t>
            </a:r>
            <a:r>
              <a:rPr lang="en-US" altLang="zh-CN" sz="2400" b="1" dirty="0">
                <a:solidFill>
                  <a:srgbClr val="000099"/>
                </a:solidFill>
                <a:ea typeface="楷体_GB2312" pitchFamily="49" charset="-122"/>
              </a:rPr>
              <a:t>2</a:t>
            </a:r>
            <a:r>
              <a:rPr lang="zh-CN" altLang="en-US" sz="2400" b="1" baseline="30000" dirty="0">
                <a:solidFill>
                  <a:srgbClr val="000099"/>
                </a:solidFill>
                <a:ea typeface="楷体_GB2312" pitchFamily="49" charset="-122"/>
              </a:rPr>
              <a:t>２０</a:t>
            </a:r>
            <a:r>
              <a:rPr lang="zh-CN" altLang="en-US" sz="2400" b="1" dirty="0">
                <a:solidFill>
                  <a:srgbClr val="000099"/>
                </a:solidFill>
                <a:ea typeface="楷体_GB2312" pitchFamily="49" charset="-122"/>
              </a:rPr>
              <a:t>页</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１Ｍ页</a:t>
            </a:r>
            <a:endParaRPr lang="zh-CN" altLang="en-US" sz="2400" b="1" dirty="0">
              <a:solidFill>
                <a:srgbClr val="000099"/>
              </a:solidFill>
              <a:ea typeface="楷体_GB2312" pitchFamily="49" charset="-122"/>
            </a:endParaRPr>
          </a:p>
          <a:p>
            <a:pPr marL="0" lvl="0" indent="0" eaLnBrk="1" hangingPunct="1">
              <a:lnSpc>
                <a:spcPct val="130000"/>
              </a:lnSpc>
              <a:buClrTx/>
              <a:buSzTx/>
              <a:buFontTx/>
              <a:buNone/>
            </a:pPr>
            <a:endParaRPr lang="en-US" altLang="zh-CN" sz="2400" b="1" dirty="0">
              <a:solidFill>
                <a:srgbClr val="000099"/>
              </a:solidFill>
              <a:ea typeface="楷体_GB2312" pitchFamily="49" charset="-122"/>
            </a:endParaRPr>
          </a:p>
        </p:txBody>
      </p:sp>
      <p:grpSp>
        <p:nvGrpSpPr>
          <p:cNvPr id="699397" name="Group 5"/>
          <p:cNvGrpSpPr/>
          <p:nvPr/>
        </p:nvGrpSpPr>
        <p:grpSpPr>
          <a:xfrm>
            <a:off x="2555875" y="2492375"/>
            <a:ext cx="4319588" cy="1044575"/>
            <a:chOff x="2160" y="1104"/>
            <a:chExt cx="2208" cy="853"/>
          </a:xfrm>
        </p:grpSpPr>
        <p:grpSp>
          <p:nvGrpSpPr>
            <p:cNvPr id="86022" name="Group 6"/>
            <p:cNvGrpSpPr/>
            <p:nvPr/>
          </p:nvGrpSpPr>
          <p:grpSpPr>
            <a:xfrm>
              <a:off x="2160" y="1104"/>
              <a:ext cx="2208" cy="853"/>
              <a:chOff x="2160" y="1200"/>
              <a:chExt cx="2208" cy="853"/>
            </a:xfrm>
          </p:grpSpPr>
          <p:sp>
            <p:nvSpPr>
              <p:cNvPr id="86024" name="Rectangle 7"/>
              <p:cNvSpPr/>
              <p:nvPr/>
            </p:nvSpPr>
            <p:spPr>
              <a:xfrm>
                <a:off x="2160" y="1200"/>
                <a:ext cx="2112" cy="48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86025" name="Text Box 8"/>
              <p:cNvSpPr txBox="1"/>
              <p:nvPr/>
            </p:nvSpPr>
            <p:spPr>
              <a:xfrm>
                <a:off x="2448" y="1296"/>
                <a:ext cx="528" cy="373"/>
              </a:xfrm>
              <a:prstGeom prst="rect">
                <a:avLst/>
              </a:prstGeom>
              <a:noFill/>
              <a:ln w="9525">
                <a:noFill/>
              </a:ln>
            </p:spPr>
            <p:txBody>
              <a:bodyPr lIns="0" r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99"/>
                    </a:solidFill>
                    <a:ea typeface="楷体_GB2312" pitchFamily="49" charset="-122"/>
                  </a:rPr>
                  <a:t>页号</a:t>
                </a:r>
                <a:r>
                  <a:rPr lang="en-US" altLang="zh-CN" sz="2400" b="1" dirty="0">
                    <a:solidFill>
                      <a:srgbClr val="000099"/>
                    </a:solidFill>
                    <a:ea typeface="楷体_GB2312" pitchFamily="49" charset="-122"/>
                  </a:rPr>
                  <a:t>P</a:t>
                </a:r>
                <a:endParaRPr lang="en-US" altLang="zh-CN" sz="2400" b="1" dirty="0">
                  <a:solidFill>
                    <a:srgbClr val="000099"/>
                  </a:solidFill>
                  <a:ea typeface="楷体_GB2312" pitchFamily="49" charset="-122"/>
                </a:endParaRPr>
              </a:p>
            </p:txBody>
          </p:sp>
          <p:sp>
            <p:nvSpPr>
              <p:cNvPr id="86026" name="Text Box 9"/>
              <p:cNvSpPr txBox="1"/>
              <p:nvPr/>
            </p:nvSpPr>
            <p:spPr>
              <a:xfrm>
                <a:off x="3264" y="1296"/>
                <a:ext cx="960" cy="37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99"/>
                    </a:solidFill>
                    <a:ea typeface="楷体_GB2312" pitchFamily="49" charset="-122"/>
                  </a:rPr>
                  <a:t>页内地址ｄ</a:t>
                </a:r>
                <a:endParaRPr lang="zh-CN" altLang="en-US" sz="2400" b="1" dirty="0">
                  <a:solidFill>
                    <a:srgbClr val="000099"/>
                  </a:solidFill>
                  <a:ea typeface="楷体_GB2312" pitchFamily="49" charset="-122"/>
                </a:endParaRPr>
              </a:p>
            </p:txBody>
          </p:sp>
          <p:sp>
            <p:nvSpPr>
              <p:cNvPr id="86027" name="Text Box 10"/>
              <p:cNvSpPr txBox="1"/>
              <p:nvPr/>
            </p:nvSpPr>
            <p:spPr>
              <a:xfrm>
                <a:off x="4128" y="1680"/>
                <a:ext cx="240" cy="37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99"/>
                    </a:solidFill>
                    <a:ea typeface="楷体_GB2312" pitchFamily="49" charset="-122"/>
                  </a:rPr>
                  <a:t>0</a:t>
                </a:r>
                <a:endParaRPr lang="en-US" altLang="zh-CN" sz="2400" b="1" dirty="0">
                  <a:solidFill>
                    <a:srgbClr val="000099"/>
                  </a:solidFill>
                  <a:ea typeface="楷体_GB2312" pitchFamily="49" charset="-122"/>
                </a:endParaRPr>
              </a:p>
            </p:txBody>
          </p:sp>
          <p:sp>
            <p:nvSpPr>
              <p:cNvPr id="86028" name="Text Box 11"/>
              <p:cNvSpPr txBox="1"/>
              <p:nvPr/>
            </p:nvSpPr>
            <p:spPr>
              <a:xfrm>
                <a:off x="3264" y="1680"/>
                <a:ext cx="336" cy="37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99"/>
                    </a:solidFill>
                    <a:ea typeface="楷体_GB2312" pitchFamily="49" charset="-122"/>
                  </a:rPr>
                  <a:t>11</a:t>
                </a:r>
                <a:endParaRPr lang="en-US" altLang="zh-CN" sz="2400" b="1" dirty="0">
                  <a:solidFill>
                    <a:srgbClr val="000099"/>
                  </a:solidFill>
                  <a:ea typeface="楷体_GB2312" pitchFamily="49" charset="-122"/>
                </a:endParaRPr>
              </a:p>
            </p:txBody>
          </p:sp>
          <p:sp>
            <p:nvSpPr>
              <p:cNvPr id="86029" name="Text Box 12"/>
              <p:cNvSpPr txBox="1"/>
              <p:nvPr/>
            </p:nvSpPr>
            <p:spPr>
              <a:xfrm>
                <a:off x="2880" y="1680"/>
                <a:ext cx="336" cy="37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99"/>
                    </a:solidFill>
                    <a:ea typeface="楷体_GB2312" pitchFamily="49" charset="-122"/>
                  </a:rPr>
                  <a:t>12</a:t>
                </a:r>
                <a:endParaRPr lang="en-US" altLang="zh-CN" sz="2400" b="1" dirty="0">
                  <a:solidFill>
                    <a:srgbClr val="000099"/>
                  </a:solidFill>
                  <a:ea typeface="楷体_GB2312" pitchFamily="49" charset="-122"/>
                </a:endParaRPr>
              </a:p>
            </p:txBody>
          </p:sp>
          <p:sp>
            <p:nvSpPr>
              <p:cNvPr id="86030" name="Text Box 13"/>
              <p:cNvSpPr txBox="1"/>
              <p:nvPr/>
            </p:nvSpPr>
            <p:spPr>
              <a:xfrm>
                <a:off x="2160" y="1680"/>
                <a:ext cx="336" cy="37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99"/>
                    </a:solidFill>
                    <a:ea typeface="楷体_GB2312" pitchFamily="49" charset="-122"/>
                  </a:rPr>
                  <a:t>31</a:t>
                </a:r>
                <a:endParaRPr lang="en-US" altLang="zh-CN" sz="2400" b="1" dirty="0">
                  <a:solidFill>
                    <a:srgbClr val="000099"/>
                  </a:solidFill>
                  <a:ea typeface="楷体_GB2312" pitchFamily="49" charset="-122"/>
                </a:endParaRPr>
              </a:p>
            </p:txBody>
          </p:sp>
        </p:grpSp>
        <p:sp>
          <p:nvSpPr>
            <p:cNvPr id="86023" name="Line 14"/>
            <p:cNvSpPr/>
            <p:nvPr/>
          </p:nvSpPr>
          <p:spPr>
            <a:xfrm>
              <a:off x="3216" y="1104"/>
              <a:ext cx="0" cy="480"/>
            </a:xfrm>
            <a:prstGeom prst="line">
              <a:avLst/>
            </a:prstGeom>
            <a:ln w="9525" cap="flat" cmpd="sng">
              <a:solidFill>
                <a:schemeClr val="tx1"/>
              </a:solidFill>
              <a:prstDash val="solid"/>
              <a:miter/>
              <a:headEnd type="none" w="med" len="med"/>
              <a:tailEnd type="none" w="med" len="med"/>
            </a:ln>
          </p:spPr>
        </p:sp>
      </p:grpSp>
      <p:sp>
        <p:nvSpPr>
          <p:cNvPr id="699408" name="Rectangle 16"/>
          <p:cNvSpPr/>
          <p:nvPr/>
        </p:nvSpPr>
        <p:spPr>
          <a:xfrm>
            <a:off x="1476375" y="1125538"/>
            <a:ext cx="6959600" cy="10414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spcBef>
                <a:spcPct val="30000"/>
              </a:spcBef>
              <a:buClrTx/>
              <a:buSzTx/>
              <a:buFontTx/>
              <a:buNone/>
            </a:pPr>
            <a:r>
              <a:rPr lang="zh-CN" altLang="en-US" sz="2400" b="1" dirty="0">
                <a:solidFill>
                  <a:srgbClr val="000099"/>
                </a:solidFill>
                <a:ea typeface="楷体_GB2312" pitchFamily="49" charset="-122"/>
              </a:rPr>
              <a:t>若逻辑地址的长度为</a:t>
            </a:r>
            <a:r>
              <a:rPr lang="en-US" altLang="zh-CN" sz="2400" b="1" dirty="0">
                <a:solidFill>
                  <a:srgbClr val="000099"/>
                </a:solidFill>
                <a:ea typeface="楷体_GB2312" pitchFamily="49" charset="-122"/>
              </a:rPr>
              <a:t>32</a:t>
            </a:r>
            <a:r>
              <a:rPr lang="zh-CN" altLang="en-US" sz="2400" b="1" dirty="0">
                <a:solidFill>
                  <a:srgbClr val="000099"/>
                </a:solidFill>
                <a:ea typeface="楷体_GB2312" pitchFamily="49" charset="-122"/>
              </a:rPr>
              <a:t>位，其中</a:t>
            </a:r>
            <a:r>
              <a:rPr lang="en-US" altLang="zh-CN" sz="2400" b="1" dirty="0">
                <a:solidFill>
                  <a:srgbClr val="000099"/>
                </a:solidFill>
                <a:ea typeface="楷体_GB2312" pitchFamily="49" charset="-122"/>
              </a:rPr>
              <a:t>0~11</a:t>
            </a:r>
            <a:r>
              <a:rPr lang="zh-CN" altLang="en-US" sz="2400" b="1" dirty="0">
                <a:solidFill>
                  <a:srgbClr val="000099"/>
                </a:solidFill>
                <a:ea typeface="楷体_GB2312" pitchFamily="49" charset="-122"/>
              </a:rPr>
              <a:t>为页内地址，</a:t>
            </a:r>
            <a:r>
              <a:rPr lang="en-US" altLang="zh-CN" sz="2400" b="1" dirty="0">
                <a:solidFill>
                  <a:srgbClr val="000099"/>
                </a:solidFill>
                <a:ea typeface="楷体_GB2312" pitchFamily="49" charset="-122"/>
              </a:rPr>
              <a:t>12~31</a:t>
            </a:r>
            <a:r>
              <a:rPr lang="zh-CN" altLang="en-US" sz="2400" b="1" dirty="0">
                <a:solidFill>
                  <a:srgbClr val="000099"/>
                </a:solidFill>
                <a:ea typeface="楷体_GB2312" pitchFamily="49" charset="-122"/>
              </a:rPr>
              <a:t>位为页号</a:t>
            </a:r>
            <a:r>
              <a:rPr lang="zh-CN" altLang="en-US" sz="2400" b="1" dirty="0">
                <a:ea typeface="楷体_GB2312" pitchFamily="49" charset="-122"/>
              </a:rPr>
              <a:t> </a:t>
            </a:r>
            <a:endParaRPr lang="zh-CN" altLang="en-US" sz="2400" b="1"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99408"/>
                                        </p:tgtEl>
                                        <p:attrNameLst>
                                          <p:attrName>style.visibility</p:attrName>
                                        </p:attrNameLst>
                                      </p:cBhvr>
                                      <p:to>
                                        <p:strVal val="visible"/>
                                      </p:to>
                                    </p:set>
                                    <p:anim calcmode="lin" valueType="num">
                                      <p:cBhvr additive="base">
                                        <p:cTn id="7" dur="500" fill="hold"/>
                                        <p:tgtEl>
                                          <p:spTgt spid="699408"/>
                                        </p:tgtEl>
                                        <p:attrNameLst>
                                          <p:attrName>ppt_x</p:attrName>
                                        </p:attrNameLst>
                                      </p:cBhvr>
                                      <p:tavLst>
                                        <p:tav tm="0">
                                          <p:val>
                                            <p:strVal val="0-#ppt_w/2"/>
                                          </p:val>
                                        </p:tav>
                                        <p:tav tm="100000">
                                          <p:val>
                                            <p:strVal val="#ppt_x"/>
                                          </p:val>
                                        </p:tav>
                                      </p:tavLst>
                                    </p:anim>
                                    <p:anim calcmode="lin" valueType="num">
                                      <p:cBhvr additive="base">
                                        <p:cTn id="8" dur="500" fill="hold"/>
                                        <p:tgtEl>
                                          <p:spTgt spid="69940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99397"/>
                                        </p:tgtEl>
                                        <p:attrNameLst>
                                          <p:attrName>style.visibility</p:attrName>
                                        </p:attrNameLst>
                                      </p:cBhvr>
                                      <p:to>
                                        <p:strVal val="visible"/>
                                      </p:to>
                                    </p:set>
                                    <p:anim calcmode="lin" valueType="num">
                                      <p:cBhvr additive="base">
                                        <p:cTn id="13" dur="500" fill="hold"/>
                                        <p:tgtEl>
                                          <p:spTgt spid="699397"/>
                                        </p:tgtEl>
                                        <p:attrNameLst>
                                          <p:attrName>ppt_x</p:attrName>
                                        </p:attrNameLst>
                                      </p:cBhvr>
                                      <p:tavLst>
                                        <p:tav tm="0">
                                          <p:val>
                                            <p:strVal val="0-#ppt_w/2"/>
                                          </p:val>
                                        </p:tav>
                                        <p:tav tm="100000">
                                          <p:val>
                                            <p:strVal val="#ppt_x"/>
                                          </p:val>
                                        </p:tav>
                                      </p:tavLst>
                                    </p:anim>
                                    <p:anim calcmode="lin" valueType="num">
                                      <p:cBhvr additive="base">
                                        <p:cTn id="14" dur="500" fill="hold"/>
                                        <p:tgtEl>
                                          <p:spTgt spid="69939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99396"/>
                                        </p:tgtEl>
                                        <p:attrNameLst>
                                          <p:attrName>style.visibility</p:attrName>
                                        </p:attrNameLst>
                                      </p:cBhvr>
                                      <p:to>
                                        <p:strVal val="visible"/>
                                      </p:to>
                                    </p:set>
                                    <p:anim calcmode="lin" valueType="num">
                                      <p:cBhvr additive="base">
                                        <p:cTn id="19" dur="500" fill="hold"/>
                                        <p:tgtEl>
                                          <p:spTgt spid="699396"/>
                                        </p:tgtEl>
                                        <p:attrNameLst>
                                          <p:attrName>ppt_x</p:attrName>
                                        </p:attrNameLst>
                                      </p:cBhvr>
                                      <p:tavLst>
                                        <p:tav tm="0">
                                          <p:val>
                                            <p:strVal val="0-#ppt_w/2"/>
                                          </p:val>
                                        </p:tav>
                                        <p:tav tm="100000">
                                          <p:val>
                                            <p:strVal val="#ppt_x"/>
                                          </p:val>
                                        </p:tav>
                                      </p:tavLst>
                                    </p:anim>
                                    <p:anim calcmode="lin" valueType="num">
                                      <p:cBhvr additive="base">
                                        <p:cTn id="20" dur="500" fill="hold"/>
                                        <p:tgtEl>
                                          <p:spTgt spid="6993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396" grpId="0"/>
      <p:bldP spid="69940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68688" name="Text Box 16"/>
          <p:cNvSpPr txBox="1"/>
          <p:nvPr/>
        </p:nvSpPr>
        <p:spPr>
          <a:xfrm>
            <a:off x="655638" y="836613"/>
            <a:ext cx="8001000" cy="1573212"/>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lnSpc>
                <a:spcPct val="135000"/>
              </a:lnSpc>
              <a:spcBef>
                <a:spcPct val="50000"/>
              </a:spcBef>
              <a:buClrTx/>
              <a:buSzTx/>
              <a:buFontTx/>
              <a:buNone/>
            </a:pPr>
            <a:r>
              <a:rPr lang="en-US" altLang="zh-CN" sz="2400" dirty="0"/>
              <a:t>        </a:t>
            </a:r>
            <a:r>
              <a:rPr lang="zh-CN" altLang="en-US" sz="2400" b="1" dirty="0">
                <a:solidFill>
                  <a:srgbClr val="000099"/>
                </a:solidFill>
                <a:latin typeface="楷体_GB2312" pitchFamily="49" charset="-122"/>
                <a:ea typeface="楷体_GB2312" pitchFamily="49" charset="-122"/>
              </a:rPr>
              <a:t>对某特定机器，其地址结构是一定的。若给定一个逻辑地址空间中的地址为</a:t>
            </a:r>
            <a:r>
              <a:rPr lang="en-US" altLang="zh-CN" sz="2400" b="1" dirty="0">
                <a:solidFill>
                  <a:srgbClr val="000099"/>
                </a:solidFill>
                <a:latin typeface="楷体_GB2312" pitchFamily="49" charset="-122"/>
                <a:ea typeface="楷体_GB2312" pitchFamily="49" charset="-122"/>
              </a:rPr>
              <a:t>A</a:t>
            </a:r>
            <a:r>
              <a:rPr lang="zh-CN" altLang="en-US" sz="2400" b="1" dirty="0">
                <a:solidFill>
                  <a:srgbClr val="000099"/>
                </a:solidFill>
                <a:latin typeface="楷体_GB2312" pitchFamily="49" charset="-122"/>
                <a:ea typeface="楷体_GB2312" pitchFamily="49" charset="-122"/>
              </a:rPr>
              <a:t>，页面的大小为</a:t>
            </a:r>
            <a:r>
              <a:rPr lang="en-US" altLang="zh-CN" sz="2400" b="1" dirty="0">
                <a:solidFill>
                  <a:srgbClr val="000099"/>
                </a:solidFill>
                <a:latin typeface="楷体_GB2312" pitchFamily="49" charset="-122"/>
                <a:ea typeface="楷体_GB2312" pitchFamily="49" charset="-122"/>
              </a:rPr>
              <a:t>L</a:t>
            </a:r>
            <a:r>
              <a:rPr lang="zh-CN" altLang="en-US" sz="2400" b="1" dirty="0">
                <a:solidFill>
                  <a:srgbClr val="000099"/>
                </a:solidFill>
                <a:latin typeface="楷体_GB2312" pitchFamily="49" charset="-122"/>
                <a:ea typeface="楷体_GB2312" pitchFamily="49" charset="-122"/>
              </a:rPr>
              <a:t>，则页号</a:t>
            </a:r>
            <a:r>
              <a:rPr lang="en-US" altLang="zh-CN" sz="2400" b="1" dirty="0">
                <a:solidFill>
                  <a:srgbClr val="000099"/>
                </a:solidFill>
                <a:latin typeface="楷体_GB2312" pitchFamily="49" charset="-122"/>
                <a:ea typeface="楷体_GB2312" pitchFamily="49" charset="-122"/>
              </a:rPr>
              <a:t>P</a:t>
            </a:r>
            <a:r>
              <a:rPr lang="zh-CN" altLang="en-US" sz="2400" b="1" dirty="0">
                <a:solidFill>
                  <a:srgbClr val="000099"/>
                </a:solidFill>
                <a:latin typeface="楷体_GB2312" pitchFamily="49" charset="-122"/>
                <a:ea typeface="楷体_GB2312" pitchFamily="49" charset="-122"/>
              </a:rPr>
              <a:t>和页内地址</a:t>
            </a:r>
            <a:r>
              <a:rPr lang="en-US" altLang="zh-CN" sz="2400" b="1" dirty="0">
                <a:solidFill>
                  <a:srgbClr val="000099"/>
                </a:solidFill>
                <a:latin typeface="楷体_GB2312" pitchFamily="49" charset="-122"/>
                <a:ea typeface="楷体_GB2312" pitchFamily="49" charset="-122"/>
              </a:rPr>
              <a:t>d</a:t>
            </a:r>
            <a:r>
              <a:rPr lang="zh-CN" altLang="en-US" sz="2400" b="1" dirty="0">
                <a:solidFill>
                  <a:srgbClr val="000099"/>
                </a:solidFill>
                <a:latin typeface="楷体_GB2312" pitchFamily="49" charset="-122"/>
                <a:ea typeface="楷体_GB2312" pitchFamily="49" charset="-122"/>
              </a:rPr>
              <a:t>可按下式求得： </a:t>
            </a:r>
            <a:endParaRPr lang="zh-CN" altLang="en-US" sz="2400" b="1" dirty="0">
              <a:solidFill>
                <a:srgbClr val="000099"/>
              </a:solidFill>
              <a:latin typeface="楷体_GB2312" pitchFamily="49" charset="-122"/>
              <a:ea typeface="楷体_GB2312" pitchFamily="49" charset="-122"/>
            </a:endParaRPr>
          </a:p>
        </p:txBody>
      </p:sp>
      <p:graphicFrame>
        <p:nvGraphicFramePr>
          <p:cNvPr id="668689" name="Object 17"/>
          <p:cNvGraphicFramePr>
            <a:graphicFrameLocks noChangeAspect="1"/>
          </p:cNvGraphicFramePr>
          <p:nvPr/>
        </p:nvGraphicFramePr>
        <p:xfrm>
          <a:off x="3563938" y="2565400"/>
          <a:ext cx="3240087" cy="1579563"/>
        </p:xfrm>
        <a:graphic>
          <a:graphicData uri="http://schemas.openxmlformats.org/presentationml/2006/ole">
            <mc:AlternateContent xmlns:mc="http://schemas.openxmlformats.org/markup-compatibility/2006">
              <mc:Choice xmlns:v="urn:schemas-microsoft-com:vml" Requires="v">
                <p:oleObj spid="_x0000_s3084" name="" r:id="rId1" imgW="927100" imgH="736600" progId="Equation.3">
                  <p:embed/>
                </p:oleObj>
              </mc:Choice>
              <mc:Fallback>
                <p:oleObj name="" r:id="rId1" imgW="927100" imgH="736600" progId="Equation.3">
                  <p:embed/>
                  <p:pic>
                    <p:nvPicPr>
                      <p:cNvPr id="0" name="图片 3083"/>
                      <p:cNvPicPr/>
                      <p:nvPr/>
                    </p:nvPicPr>
                    <p:blipFill>
                      <a:blip r:embed="rId2"/>
                      <a:stretch>
                        <a:fillRect/>
                      </a:stretch>
                    </p:blipFill>
                    <p:spPr>
                      <a:xfrm>
                        <a:off x="3563938" y="2565400"/>
                        <a:ext cx="3240087" cy="1579563"/>
                      </a:xfrm>
                      <a:prstGeom prst="rect">
                        <a:avLst/>
                      </a:prstGeom>
                      <a:noFill/>
                      <a:ln w="38100">
                        <a:noFill/>
                        <a:miter/>
                      </a:ln>
                    </p:spPr>
                  </p:pic>
                </p:oleObj>
              </mc:Fallback>
            </mc:AlternateContent>
          </a:graphicData>
        </a:graphic>
      </p:graphicFrame>
      <p:sp>
        <p:nvSpPr>
          <p:cNvPr id="668692" name="Rectangle 20"/>
          <p:cNvSpPr/>
          <p:nvPr/>
        </p:nvSpPr>
        <p:spPr>
          <a:xfrm>
            <a:off x="685800" y="4365625"/>
            <a:ext cx="8278813"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在系统进行存访操作时，由</a:t>
            </a:r>
            <a:r>
              <a:rPr lang="zh-CN" altLang="en-US" sz="2400" b="1" dirty="0">
                <a:solidFill>
                  <a:srgbClr val="990033"/>
                </a:solidFill>
                <a:ea typeface="楷体_GB2312" pitchFamily="49" charset="-122"/>
              </a:rPr>
              <a:t>硬件地址转换机构</a:t>
            </a:r>
            <a:r>
              <a:rPr lang="zh-CN" altLang="en-US" sz="2400" b="1" dirty="0">
                <a:solidFill>
                  <a:srgbClr val="000099"/>
                </a:solidFill>
                <a:ea typeface="楷体_GB2312" pitchFamily="49" charset="-122"/>
              </a:rPr>
              <a:t>自动地取出页号和页内地址，然后进行页地址变换。</a:t>
            </a:r>
            <a:endParaRPr lang="zh-CN" altLang="en-US" sz="2400" b="1" dirty="0">
              <a:solidFill>
                <a:srgbClr val="000099"/>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68688"/>
                                        </p:tgtEl>
                                        <p:attrNameLst>
                                          <p:attrName>style.visibility</p:attrName>
                                        </p:attrNameLst>
                                      </p:cBhvr>
                                      <p:to>
                                        <p:strVal val="visible"/>
                                      </p:to>
                                    </p:set>
                                    <p:animEffect transition="in" filter="wipe(up)">
                                      <p:cBhvr>
                                        <p:cTn id="7" dur="2000"/>
                                        <p:tgtEl>
                                          <p:spTgt spid="6686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68689"/>
                                        </p:tgtEl>
                                        <p:attrNameLst>
                                          <p:attrName>style.visibility</p:attrName>
                                        </p:attrNameLst>
                                      </p:cBhvr>
                                      <p:to>
                                        <p:strVal val="visible"/>
                                      </p:to>
                                    </p:set>
                                    <p:animEffect transition="in" filter="wipe(left)">
                                      <p:cBhvr>
                                        <p:cTn id="12" dur="5000"/>
                                        <p:tgtEl>
                                          <p:spTgt spid="66868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68692"/>
                                        </p:tgtEl>
                                        <p:attrNameLst>
                                          <p:attrName>style.visibility</p:attrName>
                                        </p:attrNameLst>
                                      </p:cBhvr>
                                      <p:to>
                                        <p:strVal val="visible"/>
                                      </p:to>
                                    </p:set>
                                    <p:anim calcmode="lin" valueType="num">
                                      <p:cBhvr additive="base">
                                        <p:cTn id="17" dur="500" fill="hold"/>
                                        <p:tgtEl>
                                          <p:spTgt spid="668692"/>
                                        </p:tgtEl>
                                        <p:attrNameLst>
                                          <p:attrName>ppt_x</p:attrName>
                                        </p:attrNameLst>
                                      </p:cBhvr>
                                      <p:tavLst>
                                        <p:tav tm="0">
                                          <p:val>
                                            <p:strVal val="0-#ppt_w/2"/>
                                          </p:val>
                                        </p:tav>
                                        <p:tav tm="100000">
                                          <p:val>
                                            <p:strVal val="#ppt_x"/>
                                          </p:val>
                                        </p:tav>
                                      </p:tavLst>
                                    </p:anim>
                                    <p:anim calcmode="lin" valueType="num">
                                      <p:cBhvr additive="base">
                                        <p:cTn id="18" dur="500" fill="hold"/>
                                        <p:tgtEl>
                                          <p:spTgt spid="6686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688" grpId="0"/>
      <p:bldP spid="66869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82307" name="Rectangle 3"/>
          <p:cNvSpPr/>
          <p:nvPr/>
        </p:nvSpPr>
        <p:spPr>
          <a:xfrm>
            <a:off x="971550" y="3213100"/>
            <a:ext cx="7707313" cy="19907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spcBef>
                <a:spcPct val="30000"/>
              </a:spcBef>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系统为每个进程建立一个页表，页表的起始地址和它的长度存放在进程的进程控制块</a:t>
            </a:r>
            <a:r>
              <a:rPr lang="en-US" altLang="zh-CN" sz="2400" b="1" dirty="0">
                <a:solidFill>
                  <a:srgbClr val="000099"/>
                </a:solidFill>
                <a:latin typeface="楷体_GB2312" pitchFamily="49" charset="-122"/>
                <a:ea typeface="楷体_GB2312" pitchFamily="49" charset="-122"/>
              </a:rPr>
              <a:t>(PCB)</a:t>
            </a:r>
            <a:r>
              <a:rPr lang="zh-CN" altLang="en-US" sz="2400" b="1" dirty="0">
                <a:solidFill>
                  <a:srgbClr val="000099"/>
                </a:solidFill>
                <a:latin typeface="楷体_GB2312" pitchFamily="49" charset="-122"/>
                <a:ea typeface="楷体_GB2312" pitchFamily="49" charset="-122"/>
              </a:rPr>
              <a:t>中。占用处理机的现行进程的页表必须驻留在内存，其首地址和长度由地址映射机构的页表起址和页表长度寄存器指示。</a:t>
            </a:r>
            <a:endParaRPr lang="zh-CN" altLang="en-US" sz="2400" b="1" dirty="0">
              <a:solidFill>
                <a:srgbClr val="000099"/>
              </a:solidFill>
              <a:latin typeface="楷体_GB2312" pitchFamily="49" charset="-122"/>
              <a:ea typeface="楷体_GB2312" pitchFamily="49" charset="-122"/>
            </a:endParaRPr>
          </a:p>
        </p:txBody>
      </p:sp>
      <p:sp>
        <p:nvSpPr>
          <p:cNvPr id="482308" name="Text Box 4"/>
          <p:cNvSpPr txBox="1"/>
          <p:nvPr/>
        </p:nvSpPr>
        <p:spPr>
          <a:xfrm>
            <a:off x="609600" y="838200"/>
            <a:ext cx="2209800" cy="51911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9900CC"/>
                </a:solidFill>
                <a:ea typeface="隶书" panose="02010509060101010101" pitchFamily="49" charset="-122"/>
              </a:rPr>
              <a:t>（二）页表</a:t>
            </a:r>
            <a:endParaRPr lang="zh-CN" altLang="en-US" sz="2800" b="1" dirty="0">
              <a:solidFill>
                <a:srgbClr val="9900CC"/>
              </a:solidFill>
              <a:ea typeface="隶书" panose="02010509060101010101" pitchFamily="49" charset="-122"/>
            </a:endParaRPr>
          </a:p>
        </p:txBody>
      </p:sp>
      <p:sp>
        <p:nvSpPr>
          <p:cNvPr id="482309" name="Rectangle 5"/>
          <p:cNvSpPr/>
          <p:nvPr/>
        </p:nvSpPr>
        <p:spPr>
          <a:xfrm>
            <a:off x="1149350" y="1484313"/>
            <a:ext cx="7526338"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006600"/>
                </a:solidFill>
                <a:latin typeface="楷体_GB2312" pitchFamily="49" charset="-122"/>
                <a:ea typeface="楷体_GB2312" pitchFamily="49" charset="-122"/>
              </a:rPr>
              <a:t>页表：</a:t>
            </a:r>
            <a:r>
              <a:rPr lang="zh-CN" altLang="en-US" sz="2400" b="1" dirty="0">
                <a:solidFill>
                  <a:srgbClr val="000099"/>
                </a:solidFill>
                <a:latin typeface="楷体_GB2312" pitchFamily="49" charset="-122"/>
                <a:ea typeface="楷体_GB2312" pitchFamily="49" charset="-122"/>
              </a:rPr>
              <a:t>指出逻辑地址中的页号与该页所在主存的块号的对应关系。 </a:t>
            </a:r>
            <a:endParaRPr lang="zh-CN" altLang="en-US" sz="2400" b="1" dirty="0">
              <a:solidFill>
                <a:srgbClr val="000099"/>
              </a:solidFill>
              <a:latin typeface="楷体_GB2312" pitchFamily="49" charset="-122"/>
              <a:ea typeface="楷体_GB2312" pitchFamily="49" charset="-122"/>
            </a:endParaRPr>
          </a:p>
        </p:txBody>
      </p:sp>
      <p:grpSp>
        <p:nvGrpSpPr>
          <p:cNvPr id="482321" name="Group 17"/>
          <p:cNvGrpSpPr/>
          <p:nvPr/>
        </p:nvGrpSpPr>
        <p:grpSpPr>
          <a:xfrm>
            <a:off x="3200400" y="2438400"/>
            <a:ext cx="2051050" cy="549275"/>
            <a:chOff x="1824" y="1536"/>
            <a:chExt cx="1292" cy="346"/>
          </a:xfrm>
        </p:grpSpPr>
        <p:sp>
          <p:nvSpPr>
            <p:cNvPr id="88071" name="Rectangle 6"/>
            <p:cNvSpPr/>
            <p:nvPr/>
          </p:nvSpPr>
          <p:spPr>
            <a:xfrm>
              <a:off x="1824" y="1536"/>
              <a:ext cx="644" cy="346"/>
            </a:xfrm>
            <a:prstGeom prst="rect">
              <a:avLst/>
            </a:prstGeom>
            <a:noFill/>
            <a:ln w="28575" cap="flat" cmpd="sng">
              <a:solidFill>
                <a:srgbClr val="0000FF"/>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200" dirty="0">
                  <a:latin typeface="Arial" panose="020B0604020202020204" pitchFamily="34" charset="0"/>
                </a:rPr>
                <a:t>  </a:t>
              </a:r>
              <a:r>
                <a:rPr lang="zh-CN" altLang="en-US" sz="2000" b="1" dirty="0">
                  <a:solidFill>
                    <a:srgbClr val="000099"/>
                  </a:solidFill>
                  <a:latin typeface="楷体_GB2312" pitchFamily="49" charset="-122"/>
                  <a:ea typeface="楷体_GB2312" pitchFamily="49" charset="-122"/>
                </a:rPr>
                <a:t>页 号</a:t>
              </a:r>
              <a:endParaRPr lang="zh-CN" altLang="en-US" sz="2000" b="1" dirty="0">
                <a:solidFill>
                  <a:srgbClr val="000099"/>
                </a:solidFill>
                <a:latin typeface="楷体_GB2312" pitchFamily="49" charset="-122"/>
                <a:ea typeface="楷体_GB2312" pitchFamily="49" charset="-122"/>
              </a:endParaRPr>
            </a:p>
            <a:p>
              <a:pPr marL="0" lvl="0" indent="0" algn="just">
                <a:spcBef>
                  <a:spcPct val="0"/>
                </a:spcBef>
                <a:buClrTx/>
                <a:buSzTx/>
                <a:buFontTx/>
                <a:buNone/>
              </a:pPr>
              <a:endParaRPr lang="en-US" altLang="zh-CN" sz="1800" b="1" dirty="0">
                <a:solidFill>
                  <a:srgbClr val="000099"/>
                </a:solidFill>
                <a:latin typeface="楷体_GB2312" pitchFamily="49" charset="-122"/>
                <a:ea typeface="楷体_GB2312" pitchFamily="49" charset="-122"/>
              </a:endParaRPr>
            </a:p>
          </p:txBody>
        </p:sp>
        <p:sp>
          <p:nvSpPr>
            <p:cNvPr id="88072" name="Rectangle 7"/>
            <p:cNvSpPr/>
            <p:nvPr/>
          </p:nvSpPr>
          <p:spPr>
            <a:xfrm>
              <a:off x="2472" y="1536"/>
              <a:ext cx="644" cy="346"/>
            </a:xfrm>
            <a:prstGeom prst="rect">
              <a:avLst/>
            </a:prstGeom>
            <a:noFill/>
            <a:ln w="28575" cap="flat" cmpd="sng">
              <a:solidFill>
                <a:srgbClr val="0000FF"/>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200" dirty="0">
                  <a:latin typeface="Arial" panose="020B0604020202020204" pitchFamily="34" charset="0"/>
                </a:rPr>
                <a:t> </a:t>
              </a:r>
              <a:r>
                <a:rPr lang="zh-CN" altLang="en-US" sz="2000" b="1" dirty="0">
                  <a:solidFill>
                    <a:srgbClr val="000099"/>
                  </a:solidFill>
                  <a:latin typeface="楷体_GB2312" pitchFamily="49" charset="-122"/>
                  <a:ea typeface="楷体_GB2312" pitchFamily="49" charset="-122"/>
                </a:rPr>
                <a:t>块 号</a:t>
              </a:r>
              <a:endParaRPr lang="zh-CN" altLang="en-US" sz="2000" b="1" dirty="0">
                <a:solidFill>
                  <a:srgbClr val="000099"/>
                </a:solidFill>
                <a:latin typeface="楷体_GB2312" pitchFamily="49" charset="-122"/>
                <a:ea typeface="楷体_GB2312" pitchFamily="49" charset="-122"/>
              </a:endParaRPr>
            </a:p>
            <a:p>
              <a:pPr marL="0" lvl="0" indent="0" algn="just">
                <a:spcBef>
                  <a:spcPct val="0"/>
                </a:spcBef>
                <a:buClrTx/>
                <a:buSzTx/>
                <a:buFontTx/>
                <a:buNone/>
              </a:pPr>
              <a:endParaRPr lang="en-US" altLang="zh-CN" sz="2000" b="1" dirty="0">
                <a:solidFill>
                  <a:srgbClr val="000099"/>
                </a:solidFill>
                <a:latin typeface="楷体_GB2312" pitchFamily="49" charset="-122"/>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2308"/>
                                        </p:tgtEl>
                                        <p:attrNameLst>
                                          <p:attrName>style.visibility</p:attrName>
                                        </p:attrNameLst>
                                      </p:cBhvr>
                                      <p:to>
                                        <p:strVal val="visible"/>
                                      </p:to>
                                    </p:set>
                                    <p:anim calcmode="lin" valueType="num">
                                      <p:cBhvr additive="base">
                                        <p:cTn id="7" dur="500" fill="hold"/>
                                        <p:tgtEl>
                                          <p:spTgt spid="482308"/>
                                        </p:tgtEl>
                                        <p:attrNameLst>
                                          <p:attrName>ppt_x</p:attrName>
                                        </p:attrNameLst>
                                      </p:cBhvr>
                                      <p:tavLst>
                                        <p:tav tm="0">
                                          <p:val>
                                            <p:strVal val="0-#ppt_w/2"/>
                                          </p:val>
                                        </p:tav>
                                        <p:tav tm="100000">
                                          <p:val>
                                            <p:strVal val="#ppt_x"/>
                                          </p:val>
                                        </p:tav>
                                      </p:tavLst>
                                    </p:anim>
                                    <p:anim calcmode="lin" valueType="num">
                                      <p:cBhvr additive="base">
                                        <p:cTn id="8" dur="500" fill="hold"/>
                                        <p:tgtEl>
                                          <p:spTgt spid="48230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82309"/>
                                        </p:tgtEl>
                                        <p:attrNameLst>
                                          <p:attrName>style.visibility</p:attrName>
                                        </p:attrNameLst>
                                      </p:cBhvr>
                                      <p:to>
                                        <p:strVal val="visible"/>
                                      </p:to>
                                    </p:set>
                                    <p:anim calcmode="lin" valueType="num">
                                      <p:cBhvr additive="base">
                                        <p:cTn id="13" dur="500" fill="hold"/>
                                        <p:tgtEl>
                                          <p:spTgt spid="482309"/>
                                        </p:tgtEl>
                                        <p:attrNameLst>
                                          <p:attrName>ppt_x</p:attrName>
                                        </p:attrNameLst>
                                      </p:cBhvr>
                                      <p:tavLst>
                                        <p:tav tm="0">
                                          <p:val>
                                            <p:strVal val="0-#ppt_w/2"/>
                                          </p:val>
                                        </p:tav>
                                        <p:tav tm="100000">
                                          <p:val>
                                            <p:strVal val="#ppt_x"/>
                                          </p:val>
                                        </p:tav>
                                      </p:tavLst>
                                    </p:anim>
                                    <p:anim calcmode="lin" valueType="num">
                                      <p:cBhvr additive="base">
                                        <p:cTn id="14" dur="500" fill="hold"/>
                                        <p:tgtEl>
                                          <p:spTgt spid="48230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82321"/>
                                        </p:tgtEl>
                                        <p:attrNameLst>
                                          <p:attrName>style.visibility</p:attrName>
                                        </p:attrNameLst>
                                      </p:cBhvr>
                                      <p:to>
                                        <p:strVal val="visible"/>
                                      </p:to>
                                    </p:set>
                                    <p:anim calcmode="lin" valueType="num">
                                      <p:cBhvr additive="base">
                                        <p:cTn id="19" dur="500" fill="hold"/>
                                        <p:tgtEl>
                                          <p:spTgt spid="482321"/>
                                        </p:tgtEl>
                                        <p:attrNameLst>
                                          <p:attrName>ppt_x</p:attrName>
                                        </p:attrNameLst>
                                      </p:cBhvr>
                                      <p:tavLst>
                                        <p:tav tm="0">
                                          <p:val>
                                            <p:strVal val="0-#ppt_w/2"/>
                                          </p:val>
                                        </p:tav>
                                        <p:tav tm="100000">
                                          <p:val>
                                            <p:strVal val="#ppt_x"/>
                                          </p:val>
                                        </p:tav>
                                      </p:tavLst>
                                    </p:anim>
                                    <p:anim calcmode="lin" valueType="num">
                                      <p:cBhvr additive="base">
                                        <p:cTn id="20" dur="500" fill="hold"/>
                                        <p:tgtEl>
                                          <p:spTgt spid="48232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82307"/>
                                        </p:tgtEl>
                                        <p:attrNameLst>
                                          <p:attrName>style.visibility</p:attrName>
                                        </p:attrNameLst>
                                      </p:cBhvr>
                                      <p:to>
                                        <p:strVal val="visible"/>
                                      </p:to>
                                    </p:set>
                                    <p:anim calcmode="lin" valueType="num">
                                      <p:cBhvr additive="base">
                                        <p:cTn id="25" dur="500" fill="hold"/>
                                        <p:tgtEl>
                                          <p:spTgt spid="482307"/>
                                        </p:tgtEl>
                                        <p:attrNameLst>
                                          <p:attrName>ppt_x</p:attrName>
                                        </p:attrNameLst>
                                      </p:cBhvr>
                                      <p:tavLst>
                                        <p:tav tm="0">
                                          <p:val>
                                            <p:strVal val="0-#ppt_w/2"/>
                                          </p:val>
                                        </p:tav>
                                        <p:tav tm="100000">
                                          <p:val>
                                            <p:strVal val="#ppt_x"/>
                                          </p:val>
                                        </p:tav>
                                      </p:tavLst>
                                    </p:anim>
                                    <p:anim calcmode="lin" valueType="num">
                                      <p:cBhvr additive="base">
                                        <p:cTn id="26" dur="500" fill="hold"/>
                                        <p:tgtEl>
                                          <p:spTgt spid="4823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7" grpId="0"/>
      <p:bldP spid="482308" grpId="0"/>
      <p:bldP spid="48230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pSp>
        <p:nvGrpSpPr>
          <p:cNvPr id="592898" name="Group 2"/>
          <p:cNvGrpSpPr/>
          <p:nvPr/>
        </p:nvGrpSpPr>
        <p:grpSpPr>
          <a:xfrm>
            <a:off x="539750" y="836613"/>
            <a:ext cx="8070850" cy="5630862"/>
            <a:chOff x="576" y="645"/>
            <a:chExt cx="4848" cy="3429"/>
          </a:xfrm>
        </p:grpSpPr>
        <p:graphicFrame>
          <p:nvGraphicFramePr>
            <p:cNvPr id="89092" name="Object 3"/>
            <p:cNvGraphicFramePr>
              <a:graphicFrameLocks noChangeAspect="1"/>
            </p:cNvGraphicFramePr>
            <p:nvPr/>
          </p:nvGraphicFramePr>
          <p:xfrm>
            <a:off x="576" y="645"/>
            <a:ext cx="4848" cy="3429"/>
          </p:xfrm>
          <a:graphic>
            <a:graphicData uri="http://schemas.openxmlformats.org/presentationml/2006/ole">
              <mc:AlternateContent xmlns:mc="http://schemas.openxmlformats.org/markup-compatibility/2006">
                <mc:Choice xmlns:v="urn:schemas-microsoft-com:vml" Requires="v">
                  <p:oleObj spid="_x0000_s3085" name="" r:id="rId1" imgW="6800850" imgH="4810125" progId="Paint.Picture">
                    <p:embed/>
                  </p:oleObj>
                </mc:Choice>
                <mc:Fallback>
                  <p:oleObj name="" r:id="rId1" imgW="6800850" imgH="4810125" progId="Paint.Picture">
                    <p:embed/>
                    <p:pic>
                      <p:nvPicPr>
                        <p:cNvPr id="0" name="图片 3084"/>
                        <p:cNvPicPr/>
                        <p:nvPr/>
                      </p:nvPicPr>
                      <p:blipFill>
                        <a:blip r:embed="rId2"/>
                        <a:stretch>
                          <a:fillRect/>
                        </a:stretch>
                      </p:blipFill>
                      <p:spPr>
                        <a:xfrm>
                          <a:off x="576" y="645"/>
                          <a:ext cx="4848" cy="3429"/>
                        </a:xfrm>
                        <a:prstGeom prst="rect">
                          <a:avLst/>
                        </a:prstGeom>
                        <a:noFill/>
                        <a:ln w="38100">
                          <a:noFill/>
                          <a:miter/>
                        </a:ln>
                      </p:spPr>
                    </p:pic>
                  </p:oleObj>
                </mc:Fallback>
              </mc:AlternateContent>
            </a:graphicData>
          </a:graphic>
        </p:graphicFrame>
        <p:sp>
          <p:nvSpPr>
            <p:cNvPr id="89093" name="Text Box 4"/>
            <p:cNvSpPr txBox="1"/>
            <p:nvPr/>
          </p:nvSpPr>
          <p:spPr>
            <a:xfrm>
              <a:off x="912" y="3840"/>
              <a:ext cx="240" cy="186"/>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00"/>
                  </a:solidFill>
                  <a:ea typeface="楷体_GB2312" pitchFamily="49" charset="-122"/>
                </a:rPr>
                <a:t>21</a:t>
              </a:r>
              <a:endParaRPr lang="en-US" altLang="zh-CN" sz="2000" b="1" dirty="0">
                <a:solidFill>
                  <a:srgbClr val="000000"/>
                </a:solidFill>
                <a:ea typeface="楷体_GB2312" pitchFamily="49" charset="-122"/>
              </a:endParaRPr>
            </a:p>
          </p:txBody>
        </p:sp>
        <p:sp>
          <p:nvSpPr>
            <p:cNvPr id="89094" name="Text Box 5"/>
            <p:cNvSpPr txBox="1"/>
            <p:nvPr/>
          </p:nvSpPr>
          <p:spPr>
            <a:xfrm>
              <a:off x="768" y="3312"/>
              <a:ext cx="1152" cy="242"/>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程序地址空间</a:t>
              </a:r>
              <a:endParaRPr lang="zh-CN" altLang="en-US" sz="2000" b="1" dirty="0">
                <a:solidFill>
                  <a:srgbClr val="000000"/>
                </a:solidFill>
                <a:ea typeface="楷体_GB2312" pitchFamily="49" charset="-122"/>
              </a:endParaRPr>
            </a:p>
          </p:txBody>
        </p:sp>
        <p:sp>
          <p:nvSpPr>
            <p:cNvPr id="89095" name="Text Box 6"/>
            <p:cNvSpPr txBox="1"/>
            <p:nvPr/>
          </p:nvSpPr>
          <p:spPr>
            <a:xfrm>
              <a:off x="2112" y="912"/>
              <a:ext cx="1152" cy="242"/>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页号  块号</a:t>
              </a:r>
              <a:endParaRPr lang="zh-CN" altLang="en-US" sz="2000" b="1" dirty="0">
                <a:solidFill>
                  <a:srgbClr val="000000"/>
                </a:solidFill>
                <a:ea typeface="楷体_GB2312" pitchFamily="49" charset="-122"/>
              </a:endParaRPr>
            </a:p>
          </p:txBody>
        </p:sp>
        <p:sp>
          <p:nvSpPr>
            <p:cNvPr id="89096" name="Text Box 7"/>
            <p:cNvSpPr txBox="1"/>
            <p:nvPr/>
          </p:nvSpPr>
          <p:spPr>
            <a:xfrm>
              <a:off x="672" y="912"/>
              <a:ext cx="1152" cy="242"/>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00"/>
                  </a:solidFill>
                  <a:ea typeface="楷体_GB2312" pitchFamily="49" charset="-122"/>
                </a:rPr>
                <a:t> </a:t>
              </a:r>
              <a:r>
                <a:rPr lang="zh-CN" altLang="en-US" sz="2000" b="1" dirty="0">
                  <a:solidFill>
                    <a:srgbClr val="000000"/>
                  </a:solidFill>
                  <a:ea typeface="楷体_GB2312" pitchFamily="49" charset="-122"/>
                </a:rPr>
                <a:t>页号  作业</a:t>
              </a:r>
              <a:r>
                <a:rPr lang="en-US" altLang="zh-CN" sz="2000" b="1" dirty="0">
                  <a:solidFill>
                    <a:srgbClr val="000000"/>
                  </a:solidFill>
                  <a:ea typeface="楷体_GB2312" pitchFamily="49" charset="-122"/>
                </a:rPr>
                <a:t>1</a:t>
              </a:r>
              <a:endParaRPr lang="en-US" altLang="zh-CN" sz="2000" b="1" dirty="0">
                <a:solidFill>
                  <a:srgbClr val="000000"/>
                </a:solidFill>
                <a:ea typeface="楷体_GB2312" pitchFamily="49" charset="-122"/>
              </a:endParaRPr>
            </a:p>
          </p:txBody>
        </p:sp>
        <p:sp>
          <p:nvSpPr>
            <p:cNvPr id="89097" name="Text Box 8"/>
            <p:cNvSpPr txBox="1"/>
            <p:nvPr/>
          </p:nvSpPr>
          <p:spPr>
            <a:xfrm>
              <a:off x="1056" y="2008"/>
              <a:ext cx="624" cy="242"/>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作业</a:t>
              </a:r>
              <a:r>
                <a:rPr lang="en-US" altLang="zh-CN" sz="2000" b="1" dirty="0">
                  <a:solidFill>
                    <a:srgbClr val="000000"/>
                  </a:solidFill>
                  <a:ea typeface="楷体_GB2312" pitchFamily="49" charset="-122"/>
                </a:rPr>
                <a:t>2</a:t>
              </a:r>
              <a:endParaRPr lang="en-US" altLang="zh-CN" sz="2000" b="1" dirty="0">
                <a:solidFill>
                  <a:srgbClr val="000000"/>
                </a:solidFill>
                <a:ea typeface="楷体_GB2312" pitchFamily="49" charset="-122"/>
              </a:endParaRPr>
            </a:p>
          </p:txBody>
        </p:sp>
        <p:sp>
          <p:nvSpPr>
            <p:cNvPr id="89098" name="Text Box 9"/>
            <p:cNvSpPr txBox="1"/>
            <p:nvPr/>
          </p:nvSpPr>
          <p:spPr>
            <a:xfrm>
              <a:off x="1104" y="2784"/>
              <a:ext cx="624" cy="186"/>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作业</a:t>
              </a:r>
              <a:r>
                <a:rPr lang="en-US" altLang="zh-CN" sz="2000" b="1" dirty="0">
                  <a:solidFill>
                    <a:srgbClr val="000000"/>
                  </a:solidFill>
                  <a:ea typeface="楷体_GB2312" pitchFamily="49" charset="-122"/>
                </a:rPr>
                <a:t>3</a:t>
              </a:r>
              <a:endParaRPr lang="en-US" altLang="zh-CN" sz="2000" b="1" dirty="0">
                <a:solidFill>
                  <a:srgbClr val="000000"/>
                </a:solidFill>
                <a:ea typeface="楷体_GB2312" pitchFamily="49" charset="-122"/>
              </a:endParaRPr>
            </a:p>
          </p:txBody>
        </p:sp>
        <p:sp>
          <p:nvSpPr>
            <p:cNvPr id="89099" name="Text Box 10"/>
            <p:cNvSpPr txBox="1"/>
            <p:nvPr/>
          </p:nvSpPr>
          <p:spPr>
            <a:xfrm>
              <a:off x="4224" y="2832"/>
              <a:ext cx="624" cy="167"/>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   </a:t>
              </a:r>
              <a:r>
                <a:rPr lang="zh-CN" altLang="en-US" sz="1800" b="1" dirty="0">
                  <a:solidFill>
                    <a:srgbClr val="000000"/>
                  </a:solidFill>
                  <a:ea typeface="楷体_GB2312" pitchFamily="49" charset="-122"/>
                </a:rPr>
                <a:t>作业</a:t>
              </a:r>
              <a:r>
                <a:rPr lang="en-US" altLang="zh-CN" sz="1800" b="1" dirty="0">
                  <a:solidFill>
                    <a:srgbClr val="000000"/>
                  </a:solidFill>
                  <a:ea typeface="楷体_GB2312" pitchFamily="49" charset="-122"/>
                </a:rPr>
                <a:t>3</a:t>
              </a:r>
              <a:endParaRPr lang="en-US" altLang="zh-CN" sz="1800" b="1" dirty="0">
                <a:solidFill>
                  <a:srgbClr val="000000"/>
                </a:solidFill>
                <a:ea typeface="楷体_GB2312" pitchFamily="49" charset="-122"/>
              </a:endParaRPr>
            </a:p>
          </p:txBody>
        </p:sp>
        <p:sp>
          <p:nvSpPr>
            <p:cNvPr id="89100" name="Text Box 11"/>
            <p:cNvSpPr txBox="1"/>
            <p:nvPr/>
          </p:nvSpPr>
          <p:spPr>
            <a:xfrm>
              <a:off x="4224" y="1072"/>
              <a:ext cx="624" cy="168"/>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   </a:t>
              </a:r>
              <a:r>
                <a:rPr lang="zh-CN" altLang="en-US" sz="1800" b="1" dirty="0">
                  <a:solidFill>
                    <a:srgbClr val="000000"/>
                  </a:solidFill>
                  <a:ea typeface="楷体_GB2312" pitchFamily="49" charset="-122"/>
                </a:rPr>
                <a:t>作业</a:t>
              </a:r>
              <a:r>
                <a:rPr lang="en-US" altLang="zh-CN" sz="1800" b="1" dirty="0">
                  <a:solidFill>
                    <a:srgbClr val="000000"/>
                  </a:solidFill>
                  <a:ea typeface="楷体_GB2312" pitchFamily="49" charset="-122"/>
                </a:rPr>
                <a:t>1</a:t>
              </a:r>
              <a:endParaRPr lang="en-US" altLang="zh-CN" sz="1800" b="1" dirty="0">
                <a:solidFill>
                  <a:srgbClr val="000000"/>
                </a:solidFill>
                <a:ea typeface="楷体_GB2312" pitchFamily="49" charset="-122"/>
              </a:endParaRPr>
            </a:p>
          </p:txBody>
        </p:sp>
        <p:sp>
          <p:nvSpPr>
            <p:cNvPr id="89101" name="Text Box 12"/>
            <p:cNvSpPr txBox="1"/>
            <p:nvPr/>
          </p:nvSpPr>
          <p:spPr>
            <a:xfrm>
              <a:off x="4224" y="1296"/>
              <a:ext cx="624" cy="167"/>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   </a:t>
              </a:r>
              <a:r>
                <a:rPr lang="zh-CN" altLang="en-US" sz="1800" b="1" dirty="0">
                  <a:solidFill>
                    <a:srgbClr val="000000"/>
                  </a:solidFill>
                  <a:ea typeface="楷体_GB2312" pitchFamily="49" charset="-122"/>
                </a:rPr>
                <a:t>作业</a:t>
              </a:r>
              <a:r>
                <a:rPr lang="en-US" altLang="zh-CN" sz="1800" b="1" dirty="0">
                  <a:solidFill>
                    <a:srgbClr val="000000"/>
                  </a:solidFill>
                  <a:ea typeface="楷体_GB2312" pitchFamily="49" charset="-122"/>
                </a:rPr>
                <a:t>1</a:t>
              </a:r>
              <a:endParaRPr lang="en-US" altLang="zh-CN" sz="1800" b="1" dirty="0">
                <a:solidFill>
                  <a:srgbClr val="000000"/>
                </a:solidFill>
                <a:ea typeface="楷体_GB2312" pitchFamily="49" charset="-122"/>
              </a:endParaRPr>
            </a:p>
          </p:txBody>
        </p:sp>
        <p:sp>
          <p:nvSpPr>
            <p:cNvPr id="89102" name="Text Box 13"/>
            <p:cNvSpPr txBox="1"/>
            <p:nvPr/>
          </p:nvSpPr>
          <p:spPr>
            <a:xfrm>
              <a:off x="4224" y="1488"/>
              <a:ext cx="624" cy="167"/>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   </a:t>
              </a:r>
              <a:r>
                <a:rPr lang="zh-CN" altLang="en-US" sz="1800" b="1" dirty="0">
                  <a:solidFill>
                    <a:srgbClr val="000000"/>
                  </a:solidFill>
                  <a:ea typeface="楷体_GB2312" pitchFamily="49" charset="-122"/>
                </a:rPr>
                <a:t>作业</a:t>
              </a:r>
              <a:r>
                <a:rPr lang="en-US" altLang="zh-CN" sz="1800" b="1" dirty="0">
                  <a:solidFill>
                    <a:srgbClr val="000000"/>
                  </a:solidFill>
                  <a:ea typeface="楷体_GB2312" pitchFamily="49" charset="-122"/>
                </a:rPr>
                <a:t>2</a:t>
              </a:r>
              <a:endParaRPr lang="en-US" altLang="zh-CN" sz="1800" b="1" dirty="0">
                <a:solidFill>
                  <a:srgbClr val="000000"/>
                </a:solidFill>
                <a:ea typeface="楷体_GB2312" pitchFamily="49" charset="-122"/>
              </a:endParaRPr>
            </a:p>
          </p:txBody>
        </p:sp>
        <p:sp>
          <p:nvSpPr>
            <p:cNvPr id="89103" name="Text Box 14"/>
            <p:cNvSpPr txBox="1"/>
            <p:nvPr/>
          </p:nvSpPr>
          <p:spPr>
            <a:xfrm>
              <a:off x="4224" y="2400"/>
              <a:ext cx="624" cy="167"/>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   </a:t>
              </a:r>
              <a:r>
                <a:rPr lang="zh-CN" altLang="en-US" sz="1800" b="1" dirty="0">
                  <a:solidFill>
                    <a:srgbClr val="000000"/>
                  </a:solidFill>
                  <a:ea typeface="楷体_GB2312" pitchFamily="49" charset="-122"/>
                </a:rPr>
                <a:t>作业</a:t>
              </a:r>
              <a:r>
                <a:rPr lang="en-US" altLang="zh-CN" sz="1800" b="1" dirty="0">
                  <a:solidFill>
                    <a:srgbClr val="000000"/>
                  </a:solidFill>
                  <a:ea typeface="楷体_GB2312" pitchFamily="49" charset="-122"/>
                </a:rPr>
                <a:t>2</a:t>
              </a:r>
              <a:endParaRPr lang="en-US" altLang="zh-CN" sz="1800" b="1" dirty="0">
                <a:solidFill>
                  <a:srgbClr val="000000"/>
                </a:solidFill>
                <a:ea typeface="楷体_GB2312" pitchFamily="49" charset="-122"/>
              </a:endParaRPr>
            </a:p>
          </p:txBody>
        </p:sp>
        <p:sp>
          <p:nvSpPr>
            <p:cNvPr id="89104" name="Text Box 15"/>
            <p:cNvSpPr txBox="1"/>
            <p:nvPr/>
          </p:nvSpPr>
          <p:spPr>
            <a:xfrm>
              <a:off x="4224" y="2176"/>
              <a:ext cx="624" cy="168"/>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00"/>
                  </a:solidFill>
                  <a:ea typeface="楷体_GB2312" pitchFamily="49" charset="-122"/>
                </a:rPr>
                <a:t>   </a:t>
              </a:r>
              <a:r>
                <a:rPr lang="zh-CN" altLang="en-US" sz="1800" b="1" dirty="0">
                  <a:solidFill>
                    <a:srgbClr val="000000"/>
                  </a:solidFill>
                  <a:ea typeface="楷体_GB2312" pitchFamily="49" charset="-122"/>
                </a:rPr>
                <a:t>作业</a:t>
              </a:r>
              <a:r>
                <a:rPr lang="en-US" altLang="zh-CN" sz="1800" b="1" dirty="0">
                  <a:solidFill>
                    <a:srgbClr val="000000"/>
                  </a:solidFill>
                  <a:ea typeface="楷体_GB2312" pitchFamily="49" charset="-122"/>
                </a:rPr>
                <a:t>1</a:t>
              </a:r>
              <a:endParaRPr lang="en-US" altLang="zh-CN" sz="1800" b="1" dirty="0">
                <a:solidFill>
                  <a:srgbClr val="000000"/>
                </a:solidFill>
                <a:ea typeface="楷体_GB2312" pitchFamily="49" charset="-122"/>
              </a:endParaRPr>
            </a:p>
          </p:txBody>
        </p:sp>
        <p:sp>
          <p:nvSpPr>
            <p:cNvPr id="89105" name="Text Box 16"/>
            <p:cNvSpPr txBox="1"/>
            <p:nvPr/>
          </p:nvSpPr>
          <p:spPr>
            <a:xfrm>
              <a:off x="2928" y="3792"/>
              <a:ext cx="768" cy="185"/>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页表结构</a:t>
              </a:r>
              <a:endParaRPr lang="zh-CN" altLang="en-US" sz="2000" b="1" dirty="0">
                <a:solidFill>
                  <a:srgbClr val="000000"/>
                </a:solidFill>
                <a:ea typeface="楷体_GB2312" pitchFamily="49" charset="-122"/>
              </a:endParaRPr>
            </a:p>
          </p:txBody>
        </p:sp>
        <p:sp>
          <p:nvSpPr>
            <p:cNvPr id="89106" name="Text Box 17"/>
            <p:cNvSpPr txBox="1"/>
            <p:nvPr/>
          </p:nvSpPr>
          <p:spPr>
            <a:xfrm>
              <a:off x="2496" y="3312"/>
              <a:ext cx="432" cy="186"/>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页表</a:t>
              </a:r>
              <a:endParaRPr lang="zh-CN" altLang="en-US" sz="2000" b="1" dirty="0">
                <a:solidFill>
                  <a:srgbClr val="000000"/>
                </a:solidFill>
                <a:ea typeface="楷体_GB2312" pitchFamily="49" charset="-122"/>
              </a:endParaRPr>
            </a:p>
          </p:txBody>
        </p:sp>
        <p:sp>
          <p:nvSpPr>
            <p:cNvPr id="89107" name="Text Box 18"/>
            <p:cNvSpPr txBox="1"/>
            <p:nvPr/>
          </p:nvSpPr>
          <p:spPr>
            <a:xfrm>
              <a:off x="4320" y="3504"/>
              <a:ext cx="432" cy="185"/>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内存</a:t>
              </a:r>
              <a:endParaRPr lang="zh-CN" altLang="en-US" sz="2000" b="1" dirty="0">
                <a:solidFill>
                  <a:srgbClr val="000000"/>
                </a:solidFill>
                <a:ea typeface="楷体_GB2312" pitchFamily="49" charset="-122"/>
              </a:endParaRPr>
            </a:p>
          </p:txBody>
        </p:sp>
        <p:sp>
          <p:nvSpPr>
            <p:cNvPr id="89108" name="Text Box 19"/>
            <p:cNvSpPr txBox="1"/>
            <p:nvPr/>
          </p:nvSpPr>
          <p:spPr>
            <a:xfrm>
              <a:off x="2592" y="1200"/>
              <a:ext cx="240" cy="186"/>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00"/>
                  </a:solidFill>
                  <a:ea typeface="楷体_GB2312" pitchFamily="49" charset="-122"/>
                </a:rPr>
                <a:t>21</a:t>
              </a:r>
              <a:endParaRPr lang="en-US" altLang="zh-CN" sz="2000" b="1" dirty="0">
                <a:solidFill>
                  <a:srgbClr val="000000"/>
                </a:solidFill>
                <a:ea typeface="楷体_GB2312" pitchFamily="49" charset="-122"/>
              </a:endParaRPr>
            </a:p>
          </p:txBody>
        </p:sp>
        <p:sp>
          <p:nvSpPr>
            <p:cNvPr id="89109" name="Text Box 20"/>
            <p:cNvSpPr txBox="1"/>
            <p:nvPr/>
          </p:nvSpPr>
          <p:spPr>
            <a:xfrm>
              <a:off x="2592" y="1488"/>
              <a:ext cx="240" cy="186"/>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00"/>
                  </a:solidFill>
                  <a:ea typeface="楷体_GB2312" pitchFamily="49" charset="-122"/>
                </a:rPr>
                <a:t>22</a:t>
              </a:r>
              <a:endParaRPr lang="en-US" altLang="zh-CN" sz="2000" b="1" dirty="0">
                <a:solidFill>
                  <a:srgbClr val="000000"/>
                </a:solidFill>
                <a:ea typeface="楷体_GB2312" pitchFamily="49" charset="-122"/>
              </a:endParaRPr>
            </a:p>
          </p:txBody>
        </p:sp>
        <p:sp>
          <p:nvSpPr>
            <p:cNvPr id="89110" name="Text Box 21"/>
            <p:cNvSpPr txBox="1"/>
            <p:nvPr/>
          </p:nvSpPr>
          <p:spPr>
            <a:xfrm>
              <a:off x="2592" y="1728"/>
              <a:ext cx="240" cy="185"/>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00"/>
                  </a:solidFill>
                  <a:ea typeface="楷体_GB2312" pitchFamily="49" charset="-122"/>
                </a:rPr>
                <a:t>26</a:t>
              </a:r>
              <a:endParaRPr lang="en-US" altLang="zh-CN" sz="2000" b="1" dirty="0">
                <a:solidFill>
                  <a:srgbClr val="000000"/>
                </a:solidFill>
                <a:ea typeface="楷体_GB2312" pitchFamily="49" charset="-122"/>
              </a:endParaRPr>
            </a:p>
          </p:txBody>
        </p:sp>
        <p:sp>
          <p:nvSpPr>
            <p:cNvPr id="89111" name="Text Box 22"/>
            <p:cNvSpPr txBox="1"/>
            <p:nvPr/>
          </p:nvSpPr>
          <p:spPr>
            <a:xfrm>
              <a:off x="2592" y="2304"/>
              <a:ext cx="240" cy="186"/>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00"/>
                  </a:solidFill>
                  <a:ea typeface="楷体_GB2312" pitchFamily="49" charset="-122"/>
                </a:rPr>
                <a:t>23</a:t>
              </a:r>
              <a:endParaRPr lang="en-US" altLang="zh-CN" sz="2000" b="1" dirty="0">
                <a:solidFill>
                  <a:srgbClr val="000000"/>
                </a:solidFill>
                <a:ea typeface="楷体_GB2312" pitchFamily="49" charset="-122"/>
              </a:endParaRPr>
            </a:p>
          </p:txBody>
        </p:sp>
        <p:sp>
          <p:nvSpPr>
            <p:cNvPr id="89112" name="Text Box 23"/>
            <p:cNvSpPr txBox="1"/>
            <p:nvPr/>
          </p:nvSpPr>
          <p:spPr>
            <a:xfrm>
              <a:off x="2592" y="2520"/>
              <a:ext cx="240" cy="186"/>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00"/>
                  </a:solidFill>
                  <a:ea typeface="楷体_GB2312" pitchFamily="49" charset="-122"/>
                </a:rPr>
                <a:t>27</a:t>
              </a:r>
              <a:endParaRPr lang="en-US" altLang="zh-CN" sz="2000" b="1" dirty="0">
                <a:solidFill>
                  <a:srgbClr val="000000"/>
                </a:solidFill>
                <a:ea typeface="楷体_GB2312" pitchFamily="49" charset="-122"/>
              </a:endParaRPr>
            </a:p>
          </p:txBody>
        </p:sp>
        <p:sp>
          <p:nvSpPr>
            <p:cNvPr id="89113" name="Text Box 24"/>
            <p:cNvSpPr txBox="1"/>
            <p:nvPr/>
          </p:nvSpPr>
          <p:spPr>
            <a:xfrm>
              <a:off x="2592" y="3024"/>
              <a:ext cx="240" cy="186"/>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00"/>
                  </a:solidFill>
                  <a:ea typeface="楷体_GB2312" pitchFamily="49" charset="-122"/>
                </a:rPr>
                <a:t>29</a:t>
              </a:r>
              <a:endParaRPr lang="en-US" altLang="zh-CN" sz="2000" b="1" dirty="0">
                <a:solidFill>
                  <a:srgbClr val="000000"/>
                </a:solidFill>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2898"/>
                                        </p:tgtEl>
                                        <p:attrNameLst>
                                          <p:attrName>style.visibility</p:attrName>
                                        </p:attrNameLst>
                                      </p:cBhvr>
                                      <p:to>
                                        <p:strVal val="visible"/>
                                      </p:to>
                                    </p:set>
                                    <p:animEffect transition="in" filter="blinds(horizontal)">
                                      <p:cBhvr>
                                        <p:cTn id="7" dur="500"/>
                                        <p:tgtEl>
                                          <p:spTgt spid="592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85379" name="Text Box 3"/>
          <p:cNvSpPr txBox="1"/>
          <p:nvPr/>
        </p:nvSpPr>
        <p:spPr>
          <a:xfrm>
            <a:off x="609600" y="228600"/>
            <a:ext cx="4648200" cy="519113"/>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dirty="0">
                <a:solidFill>
                  <a:srgbClr val="9900CC"/>
                </a:solidFill>
                <a:ea typeface="隶书" panose="02010509060101010101" pitchFamily="49" charset="-122"/>
              </a:rPr>
              <a:t>（三）页地址转换过程</a:t>
            </a:r>
            <a:endParaRPr lang="zh-CN" altLang="en-US" sz="2800" dirty="0">
              <a:solidFill>
                <a:srgbClr val="000099"/>
              </a:solidFill>
              <a:ea typeface="隶书" panose="02010509060101010101" pitchFamily="49" charset="-122"/>
            </a:endParaRPr>
          </a:p>
        </p:txBody>
      </p:sp>
      <p:sp>
        <p:nvSpPr>
          <p:cNvPr id="485380" name="Text Box 4"/>
          <p:cNvSpPr txBox="1"/>
          <p:nvPr/>
        </p:nvSpPr>
        <p:spPr>
          <a:xfrm>
            <a:off x="533400" y="838200"/>
            <a:ext cx="7010400" cy="4572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99"/>
                </a:solidFill>
                <a:ea typeface="楷体_GB2312" pitchFamily="49" charset="-122"/>
              </a:rPr>
              <a:t>例：设页面大小为</a:t>
            </a:r>
            <a:r>
              <a:rPr lang="en-US" altLang="zh-CN" sz="2400" b="1" dirty="0">
                <a:solidFill>
                  <a:srgbClr val="000099"/>
                </a:solidFill>
                <a:ea typeface="楷体_GB2312" pitchFamily="49" charset="-122"/>
              </a:rPr>
              <a:t>1KB</a:t>
            </a:r>
            <a:r>
              <a:rPr lang="zh-CN" altLang="en-US" sz="2400" b="1" dirty="0">
                <a:solidFill>
                  <a:srgbClr val="000099"/>
                </a:solidFill>
                <a:ea typeface="楷体_GB2312" pitchFamily="49" charset="-122"/>
              </a:rPr>
              <a:t>，机器的地址长度为</a:t>
            </a:r>
            <a:r>
              <a:rPr lang="en-US" altLang="zh-CN" sz="2400" b="1" dirty="0">
                <a:solidFill>
                  <a:srgbClr val="000099"/>
                </a:solidFill>
                <a:ea typeface="楷体_GB2312" pitchFamily="49" charset="-122"/>
              </a:rPr>
              <a:t>16</a:t>
            </a:r>
            <a:r>
              <a:rPr lang="zh-CN" altLang="en-US" sz="2400" b="1" dirty="0">
                <a:solidFill>
                  <a:srgbClr val="000099"/>
                </a:solidFill>
                <a:ea typeface="楷体_GB2312" pitchFamily="49" charset="-122"/>
              </a:rPr>
              <a:t>位。</a:t>
            </a:r>
            <a:endParaRPr lang="zh-CN" altLang="en-US" sz="2400" b="1" dirty="0">
              <a:solidFill>
                <a:srgbClr val="000099"/>
              </a:solidFill>
              <a:ea typeface="楷体_GB2312" pitchFamily="49" charset="-122"/>
            </a:endParaRPr>
          </a:p>
        </p:txBody>
      </p:sp>
      <p:sp>
        <p:nvSpPr>
          <p:cNvPr id="485387" name="Rectangle 11"/>
          <p:cNvSpPr/>
          <p:nvPr/>
        </p:nvSpPr>
        <p:spPr>
          <a:xfrm>
            <a:off x="1066800" y="1219200"/>
            <a:ext cx="6248400" cy="304800"/>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latin typeface="楷体_GB2312" pitchFamily="49" charset="-122"/>
                <a:ea typeface="楷体_GB2312" pitchFamily="49" charset="-122"/>
              </a:rPr>
              <a:t>作业</a:t>
            </a:r>
            <a:r>
              <a:rPr lang="en-US" altLang="zh-CN" sz="2000" b="1" dirty="0">
                <a:solidFill>
                  <a:srgbClr val="000099"/>
                </a:solidFill>
                <a:latin typeface="楷体_GB2312" pitchFamily="49" charset="-122"/>
                <a:ea typeface="楷体_GB2312" pitchFamily="49" charset="-122"/>
              </a:rPr>
              <a:t>2</a:t>
            </a:r>
            <a:r>
              <a:rPr lang="zh-CN" altLang="en-US" sz="2000" b="1" dirty="0">
                <a:solidFill>
                  <a:srgbClr val="000099"/>
                </a:solidFill>
                <a:latin typeface="楷体_GB2312" pitchFamily="49" charset="-122"/>
                <a:ea typeface="楷体_GB2312" pitchFamily="49" charset="-122"/>
              </a:rPr>
              <a:t>的进程在</a:t>
            </a:r>
            <a:r>
              <a:rPr lang="en-US" altLang="zh-CN" sz="2000" b="1" dirty="0">
                <a:solidFill>
                  <a:srgbClr val="000099"/>
                </a:solidFill>
                <a:latin typeface="楷体_GB2312" pitchFamily="49" charset="-122"/>
                <a:ea typeface="楷体_GB2312" pitchFamily="49" charset="-122"/>
              </a:rPr>
              <a:t>CPU</a:t>
            </a:r>
            <a:r>
              <a:rPr lang="zh-CN" altLang="en-US" sz="2000" b="1" dirty="0">
                <a:solidFill>
                  <a:srgbClr val="000099"/>
                </a:solidFill>
                <a:latin typeface="楷体_GB2312" pitchFamily="49" charset="-122"/>
                <a:ea typeface="楷体_GB2312" pitchFamily="49" charset="-122"/>
              </a:rPr>
              <a:t>上运行，执行指令</a:t>
            </a:r>
            <a:r>
              <a:rPr lang="en-US" altLang="zh-CN" sz="2000" b="1" dirty="0">
                <a:solidFill>
                  <a:srgbClr val="000099"/>
                </a:solidFill>
                <a:latin typeface="楷体_GB2312" pitchFamily="49" charset="-122"/>
                <a:ea typeface="楷体_GB2312" pitchFamily="49" charset="-122"/>
              </a:rPr>
              <a:t>Mov r1,[2500]</a:t>
            </a:r>
            <a:endParaRPr lang="en-US" altLang="zh-CN" sz="2000" b="1" dirty="0">
              <a:solidFill>
                <a:srgbClr val="000099"/>
              </a:solidFill>
              <a:latin typeface="楷体_GB2312" pitchFamily="49" charset="-122"/>
              <a:ea typeface="楷体_GB2312" pitchFamily="49" charset="-122"/>
            </a:endParaRPr>
          </a:p>
        </p:txBody>
      </p:sp>
      <p:grpSp>
        <p:nvGrpSpPr>
          <p:cNvPr id="485529" name="Group 153"/>
          <p:cNvGrpSpPr/>
          <p:nvPr/>
        </p:nvGrpSpPr>
        <p:grpSpPr>
          <a:xfrm>
            <a:off x="2514600" y="2590800"/>
            <a:ext cx="1143000" cy="960438"/>
            <a:chOff x="1584" y="1632"/>
            <a:chExt cx="720" cy="605"/>
          </a:xfrm>
        </p:grpSpPr>
        <p:sp>
          <p:nvSpPr>
            <p:cNvPr id="90214" name="Rectangle 22"/>
            <p:cNvSpPr/>
            <p:nvPr/>
          </p:nvSpPr>
          <p:spPr>
            <a:xfrm>
              <a:off x="1684" y="2045"/>
              <a:ext cx="620"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90215" name="Rectangle 23"/>
            <p:cNvSpPr/>
            <p:nvPr/>
          </p:nvSpPr>
          <p:spPr>
            <a:xfrm>
              <a:off x="1584" y="1632"/>
              <a:ext cx="720" cy="384"/>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latin typeface="楷体_GB2312" pitchFamily="49" charset="-122"/>
                  <a:ea typeface="楷体_GB2312" pitchFamily="49" charset="-122"/>
                </a:rPr>
                <a:t>页表始址寄存器</a:t>
              </a:r>
              <a:endParaRPr lang="zh-CN" altLang="en-US" sz="2000" b="1" dirty="0">
                <a:solidFill>
                  <a:srgbClr val="000099"/>
                </a:solidFill>
                <a:latin typeface="楷体_GB2312" pitchFamily="49" charset="-122"/>
                <a:ea typeface="楷体_GB2312" pitchFamily="49" charset="-122"/>
              </a:endParaRPr>
            </a:p>
          </p:txBody>
        </p:sp>
      </p:grpSp>
      <p:grpSp>
        <p:nvGrpSpPr>
          <p:cNvPr id="485404" name="Group 28"/>
          <p:cNvGrpSpPr/>
          <p:nvPr/>
        </p:nvGrpSpPr>
        <p:grpSpPr>
          <a:xfrm>
            <a:off x="3733800" y="1752600"/>
            <a:ext cx="2514600" cy="1036638"/>
            <a:chOff x="2496" y="1296"/>
            <a:chExt cx="1488" cy="653"/>
          </a:xfrm>
        </p:grpSpPr>
        <p:sp>
          <p:nvSpPr>
            <p:cNvPr id="90204" name="Rectangle 12"/>
            <p:cNvSpPr/>
            <p:nvPr/>
          </p:nvSpPr>
          <p:spPr>
            <a:xfrm>
              <a:off x="2544" y="1536"/>
              <a:ext cx="1392" cy="240"/>
            </a:xfrm>
            <a:prstGeom prst="rect">
              <a:avLst/>
            </a:prstGeom>
            <a:solidFill>
              <a:schemeClr val="bg1"/>
            </a:solidFill>
            <a:ln w="9525" cap="flat" cmpd="sng">
              <a:solidFill>
                <a:srgbClr val="00000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90205" name="Rectangle 13"/>
            <p:cNvSpPr/>
            <p:nvPr/>
          </p:nvSpPr>
          <p:spPr>
            <a:xfrm>
              <a:off x="2592" y="1296"/>
              <a:ext cx="432"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latin typeface="楷体_GB2312" pitchFamily="49" charset="-122"/>
                  <a:ea typeface="楷体_GB2312" pitchFamily="49" charset="-122"/>
                </a:rPr>
                <a:t>页号</a:t>
              </a:r>
              <a:r>
                <a:rPr lang="en-US" altLang="zh-CN" sz="1800" b="1" dirty="0">
                  <a:solidFill>
                    <a:srgbClr val="000099"/>
                  </a:solidFill>
                  <a:latin typeface="楷体_GB2312" pitchFamily="49" charset="-122"/>
                  <a:ea typeface="楷体_GB2312" pitchFamily="49" charset="-122"/>
                </a:rPr>
                <a:t>p</a:t>
              </a:r>
              <a:endParaRPr lang="en-US" altLang="zh-CN" sz="1800" b="1" dirty="0">
                <a:solidFill>
                  <a:srgbClr val="000099"/>
                </a:solidFill>
                <a:latin typeface="楷体_GB2312" pitchFamily="49" charset="-122"/>
                <a:ea typeface="楷体_GB2312" pitchFamily="49" charset="-122"/>
              </a:endParaRPr>
            </a:p>
          </p:txBody>
        </p:sp>
        <p:sp>
          <p:nvSpPr>
            <p:cNvPr id="90206" name="Rectangle 14"/>
            <p:cNvSpPr/>
            <p:nvPr/>
          </p:nvSpPr>
          <p:spPr>
            <a:xfrm>
              <a:off x="3168" y="1296"/>
              <a:ext cx="816"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latin typeface="楷体_GB2312" pitchFamily="49" charset="-122"/>
                  <a:ea typeface="楷体_GB2312" pitchFamily="49" charset="-122"/>
                </a:rPr>
                <a:t>页内位移</a:t>
              </a:r>
              <a:r>
                <a:rPr lang="en-US" altLang="zh-CN" sz="1800" b="1" dirty="0">
                  <a:solidFill>
                    <a:srgbClr val="000099"/>
                  </a:solidFill>
                  <a:latin typeface="楷体_GB2312" pitchFamily="49" charset="-122"/>
                  <a:ea typeface="楷体_GB2312" pitchFamily="49" charset="-122"/>
                </a:rPr>
                <a:t>d</a:t>
              </a:r>
              <a:endParaRPr lang="en-US" altLang="zh-CN" sz="1800" b="1" dirty="0">
                <a:solidFill>
                  <a:srgbClr val="000099"/>
                </a:solidFill>
                <a:latin typeface="楷体_GB2312" pitchFamily="49" charset="-122"/>
                <a:ea typeface="楷体_GB2312" pitchFamily="49" charset="-122"/>
              </a:endParaRPr>
            </a:p>
          </p:txBody>
        </p:sp>
        <p:sp>
          <p:nvSpPr>
            <p:cNvPr id="90207" name="Line 15"/>
            <p:cNvSpPr/>
            <p:nvPr/>
          </p:nvSpPr>
          <p:spPr>
            <a:xfrm>
              <a:off x="3072" y="1536"/>
              <a:ext cx="0" cy="240"/>
            </a:xfrm>
            <a:prstGeom prst="line">
              <a:avLst/>
            </a:prstGeom>
            <a:ln w="9525" cap="flat" cmpd="sng">
              <a:solidFill>
                <a:schemeClr val="tx1"/>
              </a:solidFill>
              <a:prstDash val="solid"/>
              <a:miter/>
              <a:headEnd type="none" w="med" len="med"/>
              <a:tailEnd type="none" w="med" len="med"/>
            </a:ln>
          </p:spPr>
        </p:sp>
        <p:sp>
          <p:nvSpPr>
            <p:cNvPr id="90208" name="Rectangle 16"/>
            <p:cNvSpPr/>
            <p:nvPr/>
          </p:nvSpPr>
          <p:spPr>
            <a:xfrm>
              <a:off x="2592" y="1584"/>
              <a:ext cx="480" cy="154"/>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latin typeface="楷体_GB2312" pitchFamily="49" charset="-122"/>
                  <a:ea typeface="楷体_GB2312" pitchFamily="49" charset="-122"/>
                </a:rPr>
                <a:t>000010</a:t>
              </a:r>
              <a:endParaRPr lang="en-US" altLang="zh-CN" sz="1600" b="1" dirty="0">
                <a:solidFill>
                  <a:srgbClr val="000099"/>
                </a:solidFill>
                <a:latin typeface="楷体_GB2312" pitchFamily="49" charset="-122"/>
                <a:ea typeface="楷体_GB2312" pitchFamily="49" charset="-122"/>
              </a:endParaRPr>
            </a:p>
          </p:txBody>
        </p:sp>
        <p:sp>
          <p:nvSpPr>
            <p:cNvPr id="90209" name="Rectangle 17"/>
            <p:cNvSpPr/>
            <p:nvPr/>
          </p:nvSpPr>
          <p:spPr>
            <a:xfrm>
              <a:off x="3168" y="1584"/>
              <a:ext cx="720" cy="154"/>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latin typeface="楷体_GB2312" pitchFamily="49" charset="-122"/>
                  <a:ea typeface="楷体_GB2312" pitchFamily="49" charset="-122"/>
                </a:rPr>
                <a:t>0111000100</a:t>
              </a:r>
              <a:endParaRPr lang="en-US" altLang="zh-CN" sz="1600" b="1" dirty="0">
                <a:solidFill>
                  <a:srgbClr val="000099"/>
                </a:solidFill>
                <a:latin typeface="楷体_GB2312" pitchFamily="49" charset="-122"/>
                <a:ea typeface="楷体_GB2312" pitchFamily="49" charset="-122"/>
              </a:endParaRPr>
            </a:p>
          </p:txBody>
        </p:sp>
        <p:sp>
          <p:nvSpPr>
            <p:cNvPr id="90210" name="Text Box 24"/>
            <p:cNvSpPr txBox="1"/>
            <p:nvPr/>
          </p:nvSpPr>
          <p:spPr>
            <a:xfrm>
              <a:off x="3840" y="1776"/>
              <a:ext cx="14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latin typeface="楷体_GB2312" pitchFamily="49" charset="-122"/>
                  <a:ea typeface="楷体_GB2312" pitchFamily="49" charset="-122"/>
                </a:rPr>
                <a:t>0</a:t>
              </a:r>
              <a:endParaRPr lang="en-US" altLang="zh-CN" sz="1800" b="1" dirty="0">
                <a:solidFill>
                  <a:srgbClr val="000099"/>
                </a:solidFill>
                <a:latin typeface="楷体_GB2312" pitchFamily="49" charset="-122"/>
                <a:ea typeface="楷体_GB2312" pitchFamily="49" charset="-122"/>
              </a:endParaRPr>
            </a:p>
          </p:txBody>
        </p:sp>
        <p:sp>
          <p:nvSpPr>
            <p:cNvPr id="90211" name="Text Box 25"/>
            <p:cNvSpPr txBox="1"/>
            <p:nvPr/>
          </p:nvSpPr>
          <p:spPr>
            <a:xfrm>
              <a:off x="3120" y="1776"/>
              <a:ext cx="14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latin typeface="楷体_GB2312" pitchFamily="49" charset="-122"/>
                  <a:ea typeface="楷体_GB2312" pitchFamily="49" charset="-122"/>
                </a:rPr>
                <a:t>9</a:t>
              </a:r>
              <a:endParaRPr lang="en-US" altLang="zh-CN" sz="1800" b="1" dirty="0">
                <a:solidFill>
                  <a:srgbClr val="000099"/>
                </a:solidFill>
                <a:latin typeface="楷体_GB2312" pitchFamily="49" charset="-122"/>
                <a:ea typeface="楷体_GB2312" pitchFamily="49" charset="-122"/>
              </a:endParaRPr>
            </a:p>
          </p:txBody>
        </p:sp>
        <p:sp>
          <p:nvSpPr>
            <p:cNvPr id="90212" name="Text Box 26"/>
            <p:cNvSpPr txBox="1"/>
            <p:nvPr/>
          </p:nvSpPr>
          <p:spPr>
            <a:xfrm>
              <a:off x="2880" y="1776"/>
              <a:ext cx="240"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latin typeface="楷体_GB2312" pitchFamily="49" charset="-122"/>
                  <a:ea typeface="楷体_GB2312" pitchFamily="49" charset="-122"/>
                </a:rPr>
                <a:t>10</a:t>
              </a:r>
              <a:endParaRPr lang="en-US" altLang="zh-CN" sz="1800" b="1" dirty="0">
                <a:solidFill>
                  <a:srgbClr val="000099"/>
                </a:solidFill>
                <a:latin typeface="楷体_GB2312" pitchFamily="49" charset="-122"/>
                <a:ea typeface="楷体_GB2312" pitchFamily="49" charset="-122"/>
              </a:endParaRPr>
            </a:p>
          </p:txBody>
        </p:sp>
        <p:sp>
          <p:nvSpPr>
            <p:cNvPr id="90213" name="Text Box 27"/>
            <p:cNvSpPr txBox="1"/>
            <p:nvPr/>
          </p:nvSpPr>
          <p:spPr>
            <a:xfrm>
              <a:off x="2496" y="1776"/>
              <a:ext cx="240"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latin typeface="楷体_GB2312" pitchFamily="49" charset="-122"/>
                  <a:ea typeface="楷体_GB2312" pitchFamily="49" charset="-122"/>
                </a:rPr>
                <a:t>15</a:t>
              </a:r>
              <a:endParaRPr lang="en-US" altLang="zh-CN" sz="1800" b="1" dirty="0">
                <a:solidFill>
                  <a:srgbClr val="000099"/>
                </a:solidFill>
                <a:latin typeface="楷体_GB2312" pitchFamily="49" charset="-122"/>
                <a:ea typeface="楷体_GB2312" pitchFamily="49" charset="-122"/>
              </a:endParaRPr>
            </a:p>
          </p:txBody>
        </p:sp>
      </p:grpSp>
      <p:sp>
        <p:nvSpPr>
          <p:cNvPr id="485486" name="Text Box 110"/>
          <p:cNvSpPr txBox="1"/>
          <p:nvPr/>
        </p:nvSpPr>
        <p:spPr>
          <a:xfrm>
            <a:off x="4876800" y="292100"/>
            <a:ext cx="3810000" cy="466725"/>
          </a:xfrm>
          <a:prstGeom prst="rect">
            <a:avLst/>
          </a:prstGeom>
          <a:solidFill>
            <a:srgbClr val="CCFFCC"/>
          </a:solidFill>
          <a:ln w="9525" cap="flat" cmpd="sng">
            <a:solidFill>
              <a:srgbClr val="000000"/>
            </a:solidFill>
            <a:prstDash val="solid"/>
            <a:miter/>
            <a:headEnd type="none" w="med" len="med"/>
            <a:tailEnd type="none" w="med" len="med"/>
          </a:ln>
        </p:spPr>
        <p:txBody>
          <a:bodyPr lIns="0" r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00"/>
                </a:solidFill>
                <a:ea typeface="楷体_GB2312" pitchFamily="49" charset="-122"/>
              </a:rPr>
              <a:t> 2500</a:t>
            </a:r>
            <a:r>
              <a:rPr lang="zh-CN" altLang="en-US" sz="2400" b="1" dirty="0">
                <a:solidFill>
                  <a:srgbClr val="000000"/>
                </a:solidFill>
                <a:ea typeface="楷体_GB2312" pitchFamily="49" charset="-122"/>
              </a:rPr>
              <a:t>＝（</a:t>
            </a:r>
            <a:r>
              <a:rPr lang="en-US" altLang="zh-CN" sz="2400" b="1" dirty="0">
                <a:solidFill>
                  <a:srgbClr val="000000"/>
                </a:solidFill>
                <a:ea typeface="楷体_GB2312" pitchFamily="49" charset="-122"/>
              </a:rPr>
              <a:t>100111000100</a:t>
            </a:r>
            <a:r>
              <a:rPr lang="zh-CN" altLang="en-US" sz="2400" b="1" dirty="0">
                <a:solidFill>
                  <a:srgbClr val="000000"/>
                </a:solidFill>
                <a:ea typeface="楷体_GB2312" pitchFamily="49" charset="-122"/>
              </a:rPr>
              <a:t>）</a:t>
            </a:r>
            <a:r>
              <a:rPr lang="en-US" altLang="zh-CN" sz="2400" b="1" baseline="-25000" dirty="0">
                <a:solidFill>
                  <a:srgbClr val="000000"/>
                </a:solidFill>
                <a:ea typeface="楷体_GB2312" pitchFamily="49" charset="-122"/>
              </a:rPr>
              <a:t>2</a:t>
            </a:r>
            <a:endParaRPr lang="en-US" altLang="zh-CN" sz="2400" b="1" baseline="-25000" dirty="0">
              <a:solidFill>
                <a:srgbClr val="000000"/>
              </a:solidFill>
              <a:ea typeface="楷体_GB2312" pitchFamily="49" charset="-122"/>
            </a:endParaRPr>
          </a:p>
        </p:txBody>
      </p:sp>
      <p:grpSp>
        <p:nvGrpSpPr>
          <p:cNvPr id="485504" name="Group 128"/>
          <p:cNvGrpSpPr/>
          <p:nvPr/>
        </p:nvGrpSpPr>
        <p:grpSpPr>
          <a:xfrm>
            <a:off x="685800" y="1524000"/>
            <a:ext cx="1565275" cy="2414588"/>
            <a:chOff x="432" y="1248"/>
            <a:chExt cx="912" cy="1521"/>
          </a:xfrm>
        </p:grpSpPr>
        <p:sp>
          <p:nvSpPr>
            <p:cNvPr id="90194" name="Rectangle 5"/>
            <p:cNvSpPr/>
            <p:nvPr/>
          </p:nvSpPr>
          <p:spPr>
            <a:xfrm>
              <a:off x="720" y="1344"/>
              <a:ext cx="576" cy="1008"/>
            </a:xfrm>
            <a:prstGeom prst="rect">
              <a:avLst/>
            </a:prstGeom>
            <a:solidFill>
              <a:schemeClr val="bg1"/>
            </a:solidFill>
            <a:ln w="9525" cap="flat" cmpd="sng">
              <a:solidFill>
                <a:srgbClr val="00000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90195" name="Line 7"/>
            <p:cNvSpPr/>
            <p:nvPr/>
          </p:nvSpPr>
          <p:spPr>
            <a:xfrm>
              <a:off x="716" y="1699"/>
              <a:ext cx="576" cy="0"/>
            </a:xfrm>
            <a:prstGeom prst="line">
              <a:avLst/>
            </a:prstGeom>
            <a:ln w="9525" cap="flat" cmpd="sng">
              <a:solidFill>
                <a:schemeClr val="tx1"/>
              </a:solidFill>
              <a:prstDash val="solid"/>
              <a:miter/>
              <a:headEnd type="none" w="med" len="med"/>
              <a:tailEnd type="none" w="med" len="med"/>
            </a:ln>
          </p:spPr>
        </p:sp>
        <p:sp>
          <p:nvSpPr>
            <p:cNvPr id="90196" name="Text Box 8"/>
            <p:cNvSpPr txBox="1"/>
            <p:nvPr/>
          </p:nvSpPr>
          <p:spPr>
            <a:xfrm>
              <a:off x="768" y="1344"/>
              <a:ext cx="480" cy="308"/>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solidFill>
                    <a:srgbClr val="000099"/>
                  </a:solidFill>
                  <a:latin typeface="楷体_GB2312" pitchFamily="49" charset="-122"/>
                  <a:ea typeface="楷体_GB2312" pitchFamily="49" charset="-122"/>
                </a:rPr>
                <a:t>Mov r1,</a:t>
              </a:r>
              <a:endParaRPr lang="en-US" altLang="zh-CN" sz="1600" b="1" dirty="0">
                <a:solidFill>
                  <a:srgbClr val="000099"/>
                </a:solidFill>
                <a:latin typeface="楷体_GB2312" pitchFamily="49" charset="-122"/>
                <a:ea typeface="楷体_GB2312" pitchFamily="49" charset="-122"/>
              </a:endParaRPr>
            </a:p>
            <a:p>
              <a:pPr marL="0" lvl="0" indent="0" eaLnBrk="1" hangingPunct="1">
                <a:spcBef>
                  <a:spcPct val="0"/>
                </a:spcBef>
                <a:buClrTx/>
                <a:buSzTx/>
                <a:buFontTx/>
                <a:buNone/>
              </a:pPr>
              <a:r>
                <a:rPr lang="en-US" altLang="zh-CN" sz="1600" b="1" dirty="0">
                  <a:solidFill>
                    <a:srgbClr val="000099"/>
                  </a:solidFill>
                  <a:latin typeface="楷体_GB2312" pitchFamily="49" charset="-122"/>
                  <a:ea typeface="楷体_GB2312" pitchFamily="49" charset="-122"/>
                </a:rPr>
                <a:t>[2500]</a:t>
              </a:r>
              <a:endParaRPr lang="en-US" altLang="zh-CN" sz="1600" b="1" dirty="0">
                <a:solidFill>
                  <a:srgbClr val="000099"/>
                </a:solidFill>
                <a:latin typeface="楷体_GB2312" pitchFamily="49" charset="-122"/>
                <a:ea typeface="楷体_GB2312" pitchFamily="49" charset="-122"/>
              </a:endParaRPr>
            </a:p>
          </p:txBody>
        </p:sp>
        <p:sp>
          <p:nvSpPr>
            <p:cNvPr id="90197" name="Line 18"/>
            <p:cNvSpPr/>
            <p:nvPr/>
          </p:nvSpPr>
          <p:spPr>
            <a:xfrm>
              <a:off x="720" y="2016"/>
              <a:ext cx="576" cy="0"/>
            </a:xfrm>
            <a:prstGeom prst="line">
              <a:avLst/>
            </a:prstGeom>
            <a:ln w="9525" cap="flat" cmpd="sng">
              <a:solidFill>
                <a:schemeClr val="tx1"/>
              </a:solidFill>
              <a:prstDash val="solid"/>
              <a:miter/>
              <a:headEnd type="none" w="med" len="med"/>
              <a:tailEnd type="none" w="med" len="med"/>
            </a:ln>
          </p:spPr>
        </p:sp>
        <p:sp>
          <p:nvSpPr>
            <p:cNvPr id="90198" name="Text Box 86"/>
            <p:cNvSpPr txBox="1"/>
            <p:nvPr/>
          </p:nvSpPr>
          <p:spPr>
            <a:xfrm>
              <a:off x="768" y="2064"/>
              <a:ext cx="240" cy="154"/>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latin typeface="楷体_GB2312" pitchFamily="49" charset="-122"/>
                  <a:ea typeface="楷体_GB2312" pitchFamily="49" charset="-122"/>
                </a:rPr>
                <a:t>123</a:t>
              </a:r>
              <a:endParaRPr lang="en-US" altLang="zh-CN" sz="1600" b="1" dirty="0">
                <a:solidFill>
                  <a:srgbClr val="000099"/>
                </a:solidFill>
                <a:latin typeface="楷体_GB2312" pitchFamily="49" charset="-122"/>
                <a:ea typeface="楷体_GB2312" pitchFamily="49" charset="-122"/>
              </a:endParaRPr>
            </a:p>
          </p:txBody>
        </p:sp>
        <p:sp>
          <p:nvSpPr>
            <p:cNvPr id="90199" name="Text Box 88"/>
            <p:cNvSpPr txBox="1"/>
            <p:nvPr/>
          </p:nvSpPr>
          <p:spPr>
            <a:xfrm>
              <a:off x="576" y="1248"/>
              <a:ext cx="14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0</a:t>
              </a:r>
              <a:endParaRPr lang="en-US" altLang="zh-CN" sz="2000" b="1" dirty="0">
                <a:solidFill>
                  <a:srgbClr val="000099"/>
                </a:solidFill>
                <a:latin typeface="楷体_GB2312" pitchFamily="49" charset="-122"/>
                <a:ea typeface="楷体_GB2312" pitchFamily="49" charset="-122"/>
              </a:endParaRPr>
            </a:p>
          </p:txBody>
        </p:sp>
        <p:sp>
          <p:nvSpPr>
            <p:cNvPr id="90200" name="Text Box 89"/>
            <p:cNvSpPr txBox="1"/>
            <p:nvPr/>
          </p:nvSpPr>
          <p:spPr>
            <a:xfrm>
              <a:off x="432" y="1536"/>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1KB</a:t>
              </a:r>
              <a:endParaRPr lang="en-US" altLang="zh-CN" sz="2000" b="1" dirty="0">
                <a:solidFill>
                  <a:srgbClr val="000099"/>
                </a:solidFill>
                <a:latin typeface="楷体_GB2312" pitchFamily="49" charset="-122"/>
                <a:ea typeface="楷体_GB2312" pitchFamily="49" charset="-122"/>
              </a:endParaRPr>
            </a:p>
          </p:txBody>
        </p:sp>
        <p:sp>
          <p:nvSpPr>
            <p:cNvPr id="90201" name="Text Box 90"/>
            <p:cNvSpPr txBox="1"/>
            <p:nvPr/>
          </p:nvSpPr>
          <p:spPr>
            <a:xfrm>
              <a:off x="432" y="1872"/>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2KB</a:t>
              </a:r>
              <a:endParaRPr lang="en-US" altLang="zh-CN" sz="2000" b="1" dirty="0">
                <a:solidFill>
                  <a:srgbClr val="000099"/>
                </a:solidFill>
                <a:latin typeface="楷体_GB2312" pitchFamily="49" charset="-122"/>
                <a:ea typeface="楷体_GB2312" pitchFamily="49" charset="-122"/>
              </a:endParaRPr>
            </a:p>
          </p:txBody>
        </p:sp>
        <p:sp>
          <p:nvSpPr>
            <p:cNvPr id="90202" name="Text Box 91"/>
            <p:cNvSpPr txBox="1"/>
            <p:nvPr/>
          </p:nvSpPr>
          <p:spPr>
            <a:xfrm>
              <a:off x="432" y="2352"/>
              <a:ext cx="43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3KB-1</a:t>
              </a:r>
              <a:endParaRPr lang="en-US" altLang="zh-CN" sz="2000" b="1" dirty="0">
                <a:solidFill>
                  <a:srgbClr val="000099"/>
                </a:solidFill>
                <a:latin typeface="楷体_GB2312" pitchFamily="49" charset="-122"/>
                <a:ea typeface="楷体_GB2312" pitchFamily="49" charset="-122"/>
              </a:endParaRPr>
            </a:p>
          </p:txBody>
        </p:sp>
        <p:sp>
          <p:nvSpPr>
            <p:cNvPr id="90203" name="Rectangle 111"/>
            <p:cNvSpPr/>
            <p:nvPr/>
          </p:nvSpPr>
          <p:spPr>
            <a:xfrm>
              <a:off x="659" y="2481"/>
              <a:ext cx="685" cy="288"/>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b="1" dirty="0">
                  <a:solidFill>
                    <a:srgbClr val="000099"/>
                  </a:solidFill>
                  <a:ea typeface="楷体_GB2312" pitchFamily="49" charset="-122"/>
                </a:rPr>
                <a:t>地址空间</a:t>
              </a:r>
              <a:r>
                <a:rPr lang="zh-CN" altLang="en-US" sz="2400" b="1" dirty="0">
                  <a:ea typeface="楷体_GB2312" pitchFamily="49" charset="-122"/>
                </a:rPr>
                <a:t> </a:t>
              </a:r>
              <a:endParaRPr lang="zh-CN" altLang="en-US" sz="2400" b="1" dirty="0">
                <a:ea typeface="楷体_GB2312" pitchFamily="49" charset="-122"/>
              </a:endParaRPr>
            </a:p>
          </p:txBody>
        </p:sp>
      </p:grpSp>
      <p:sp>
        <p:nvSpPr>
          <p:cNvPr id="485488" name="Text Box 112"/>
          <p:cNvSpPr txBox="1"/>
          <p:nvPr/>
        </p:nvSpPr>
        <p:spPr>
          <a:xfrm>
            <a:off x="3886200" y="6172200"/>
            <a:ext cx="4114800" cy="466725"/>
          </a:xfrm>
          <a:prstGeom prst="rect">
            <a:avLst/>
          </a:prstGeom>
          <a:solidFill>
            <a:srgbClr val="CCFFCC"/>
          </a:solidFill>
          <a:ln w="9525" cap="flat" cmpd="sng">
            <a:solidFill>
              <a:srgbClr val="000000"/>
            </a:solidFill>
            <a:prstDash val="solid"/>
            <a:miter/>
            <a:headEnd type="none" w="med" len="med"/>
            <a:tailEnd type="none" w="med" len="med"/>
          </a:ln>
        </p:spPr>
        <p:txBody>
          <a:bodyPr lIns="0" r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00"/>
                </a:solidFill>
                <a:ea typeface="楷体_GB2312" pitchFamily="49" charset="-122"/>
              </a:rPr>
              <a:t>  </a:t>
            </a:r>
            <a:r>
              <a:rPr lang="zh-CN" altLang="en-US" sz="2400" b="1" dirty="0">
                <a:solidFill>
                  <a:srgbClr val="000000"/>
                </a:solidFill>
                <a:ea typeface="楷体_GB2312" pitchFamily="49" charset="-122"/>
              </a:rPr>
              <a:t>（</a:t>
            </a:r>
            <a:r>
              <a:rPr lang="en-US" altLang="zh-CN" sz="2400" b="1" dirty="0">
                <a:solidFill>
                  <a:srgbClr val="000000"/>
                </a:solidFill>
                <a:ea typeface="楷体_GB2312" pitchFamily="49" charset="-122"/>
              </a:rPr>
              <a:t>1110111000100</a:t>
            </a:r>
            <a:r>
              <a:rPr lang="zh-CN" altLang="en-US" sz="2400" b="1" dirty="0">
                <a:solidFill>
                  <a:srgbClr val="000000"/>
                </a:solidFill>
                <a:ea typeface="楷体_GB2312" pitchFamily="49" charset="-122"/>
              </a:rPr>
              <a:t>）</a:t>
            </a:r>
            <a:r>
              <a:rPr lang="en-US" altLang="zh-CN" sz="2400" b="1" baseline="-25000" dirty="0">
                <a:solidFill>
                  <a:srgbClr val="000000"/>
                </a:solidFill>
                <a:ea typeface="楷体_GB2312" pitchFamily="49" charset="-122"/>
              </a:rPr>
              <a:t>2 </a:t>
            </a:r>
            <a:r>
              <a:rPr lang="zh-CN" altLang="en-US" sz="2400" b="1" dirty="0">
                <a:solidFill>
                  <a:srgbClr val="000000"/>
                </a:solidFill>
                <a:ea typeface="楷体_GB2312" pitchFamily="49" charset="-122"/>
              </a:rPr>
              <a:t>＝</a:t>
            </a:r>
            <a:r>
              <a:rPr lang="en-US" altLang="zh-CN" sz="2400" b="1" dirty="0">
                <a:solidFill>
                  <a:srgbClr val="000000"/>
                </a:solidFill>
                <a:ea typeface="楷体_GB2312" pitchFamily="49" charset="-122"/>
              </a:rPr>
              <a:t>7620</a:t>
            </a:r>
            <a:endParaRPr lang="en-US" altLang="zh-CN" sz="2400" b="1" dirty="0">
              <a:solidFill>
                <a:srgbClr val="000000"/>
              </a:solidFill>
              <a:ea typeface="楷体_GB2312" pitchFamily="49" charset="-122"/>
            </a:endParaRPr>
          </a:p>
        </p:txBody>
      </p:sp>
      <p:grpSp>
        <p:nvGrpSpPr>
          <p:cNvPr id="485530" name="Group 154"/>
          <p:cNvGrpSpPr/>
          <p:nvPr/>
        </p:nvGrpSpPr>
        <p:grpSpPr>
          <a:xfrm>
            <a:off x="4121150" y="2743200"/>
            <a:ext cx="1752600" cy="503238"/>
            <a:chOff x="2596" y="1728"/>
            <a:chExt cx="1104" cy="317"/>
          </a:xfrm>
        </p:grpSpPr>
        <p:sp>
          <p:nvSpPr>
            <p:cNvPr id="90191" name="Text Box 97"/>
            <p:cNvSpPr txBox="1"/>
            <p:nvPr/>
          </p:nvSpPr>
          <p:spPr>
            <a:xfrm>
              <a:off x="2596" y="1853"/>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990033"/>
                  </a:solidFill>
                  <a:latin typeface="楷体_GB2312" pitchFamily="49" charset="-122"/>
                  <a:ea typeface="楷体_GB2312" pitchFamily="49" charset="-122"/>
                </a:rPr>
                <a:t>P=2</a:t>
              </a:r>
              <a:endParaRPr lang="en-US" altLang="zh-CN" sz="2000" b="1" dirty="0">
                <a:solidFill>
                  <a:srgbClr val="990033"/>
                </a:solidFill>
                <a:latin typeface="楷体_GB2312" pitchFamily="49" charset="-122"/>
                <a:ea typeface="楷体_GB2312" pitchFamily="49" charset="-122"/>
              </a:endParaRPr>
            </a:p>
          </p:txBody>
        </p:sp>
        <p:sp>
          <p:nvSpPr>
            <p:cNvPr id="90192" name="Text Box 98"/>
            <p:cNvSpPr txBox="1"/>
            <p:nvPr/>
          </p:nvSpPr>
          <p:spPr>
            <a:xfrm>
              <a:off x="3268" y="1853"/>
              <a:ext cx="432"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990033"/>
                  </a:solidFill>
                  <a:latin typeface="楷体_GB2312" pitchFamily="49" charset="-122"/>
                  <a:ea typeface="楷体_GB2312" pitchFamily="49" charset="-122"/>
                </a:rPr>
                <a:t>d=452</a:t>
              </a:r>
              <a:endParaRPr lang="en-US" altLang="zh-CN" sz="2000" b="1" dirty="0">
                <a:solidFill>
                  <a:srgbClr val="990033"/>
                </a:solidFill>
                <a:latin typeface="楷体_GB2312" pitchFamily="49" charset="-122"/>
                <a:ea typeface="楷体_GB2312" pitchFamily="49" charset="-122"/>
              </a:endParaRPr>
            </a:p>
          </p:txBody>
        </p:sp>
        <p:sp>
          <p:nvSpPr>
            <p:cNvPr id="90193" name="Rectangle 113"/>
            <p:cNvSpPr/>
            <p:nvPr/>
          </p:nvSpPr>
          <p:spPr>
            <a:xfrm>
              <a:off x="2928" y="1728"/>
              <a:ext cx="240" cy="230"/>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ea typeface="楷体_GB2312" pitchFamily="49" charset="-122"/>
                </a:rPr>
                <a:t>①</a:t>
              </a:r>
              <a:endParaRPr lang="en-US" altLang="zh-CN" sz="2400" b="1" dirty="0">
                <a:solidFill>
                  <a:srgbClr val="9900CC"/>
                </a:solidFill>
                <a:ea typeface="楷体_GB2312" pitchFamily="49" charset="-122"/>
              </a:endParaRPr>
            </a:p>
          </p:txBody>
        </p:sp>
      </p:grpSp>
      <p:grpSp>
        <p:nvGrpSpPr>
          <p:cNvPr id="485506" name="Group 130"/>
          <p:cNvGrpSpPr/>
          <p:nvPr/>
        </p:nvGrpSpPr>
        <p:grpSpPr>
          <a:xfrm>
            <a:off x="6400800" y="1447800"/>
            <a:ext cx="2362200" cy="4618038"/>
            <a:chOff x="4128" y="912"/>
            <a:chExt cx="1296" cy="2909"/>
          </a:xfrm>
        </p:grpSpPr>
        <p:grpSp>
          <p:nvGrpSpPr>
            <p:cNvPr id="90173" name="Group 129"/>
            <p:cNvGrpSpPr/>
            <p:nvPr/>
          </p:nvGrpSpPr>
          <p:grpSpPr>
            <a:xfrm>
              <a:off x="4128" y="912"/>
              <a:ext cx="1296" cy="2909"/>
              <a:chOff x="4084" y="720"/>
              <a:chExt cx="1296" cy="2909"/>
            </a:xfrm>
          </p:grpSpPr>
          <p:sp>
            <p:nvSpPr>
              <p:cNvPr id="90176" name="Rectangle 76"/>
              <p:cNvSpPr/>
              <p:nvPr/>
            </p:nvSpPr>
            <p:spPr>
              <a:xfrm>
                <a:off x="4368" y="960"/>
                <a:ext cx="1008" cy="249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90177" name="Line 77"/>
              <p:cNvSpPr/>
              <p:nvPr/>
            </p:nvSpPr>
            <p:spPr>
              <a:xfrm>
                <a:off x="4372" y="1181"/>
                <a:ext cx="1008" cy="0"/>
              </a:xfrm>
              <a:prstGeom prst="line">
                <a:avLst/>
              </a:prstGeom>
              <a:ln w="9525" cap="flat" cmpd="sng">
                <a:solidFill>
                  <a:schemeClr val="tx1"/>
                </a:solidFill>
                <a:prstDash val="solid"/>
                <a:miter/>
                <a:headEnd type="none" w="med" len="med"/>
                <a:tailEnd type="none" w="med" len="med"/>
              </a:ln>
            </p:spPr>
          </p:sp>
          <p:sp>
            <p:nvSpPr>
              <p:cNvPr id="90178" name="Line 80"/>
              <p:cNvSpPr/>
              <p:nvPr/>
            </p:nvSpPr>
            <p:spPr>
              <a:xfrm>
                <a:off x="4368" y="1896"/>
                <a:ext cx="1008" cy="0"/>
              </a:xfrm>
              <a:prstGeom prst="line">
                <a:avLst/>
              </a:prstGeom>
              <a:ln w="9525" cap="flat" cmpd="sng">
                <a:solidFill>
                  <a:schemeClr val="tx1"/>
                </a:solidFill>
                <a:prstDash val="solid"/>
                <a:miter/>
                <a:headEnd type="none" w="med" len="med"/>
                <a:tailEnd type="none" w="med" len="med"/>
              </a:ln>
            </p:spPr>
          </p:sp>
          <p:sp>
            <p:nvSpPr>
              <p:cNvPr id="90179" name="Line 81"/>
              <p:cNvSpPr/>
              <p:nvPr/>
            </p:nvSpPr>
            <p:spPr>
              <a:xfrm>
                <a:off x="4368" y="2112"/>
                <a:ext cx="1008" cy="0"/>
              </a:xfrm>
              <a:prstGeom prst="line">
                <a:avLst/>
              </a:prstGeom>
              <a:ln w="9525" cap="flat" cmpd="sng">
                <a:solidFill>
                  <a:schemeClr val="tx1"/>
                </a:solidFill>
                <a:prstDash val="solid"/>
                <a:miter/>
                <a:headEnd type="none" w="med" len="med"/>
                <a:tailEnd type="none" w="med" len="med"/>
              </a:ln>
            </p:spPr>
          </p:sp>
          <p:sp>
            <p:nvSpPr>
              <p:cNvPr id="90180" name="Line 82"/>
              <p:cNvSpPr/>
              <p:nvPr/>
            </p:nvSpPr>
            <p:spPr>
              <a:xfrm>
                <a:off x="4372" y="2621"/>
                <a:ext cx="1008" cy="0"/>
              </a:xfrm>
              <a:prstGeom prst="line">
                <a:avLst/>
              </a:prstGeom>
              <a:ln w="9525" cap="flat" cmpd="sng">
                <a:solidFill>
                  <a:schemeClr val="tx1"/>
                </a:solidFill>
                <a:prstDash val="solid"/>
                <a:miter/>
                <a:headEnd type="none" w="med" len="med"/>
                <a:tailEnd type="none" w="med" len="med"/>
              </a:ln>
            </p:spPr>
          </p:sp>
          <p:sp>
            <p:nvSpPr>
              <p:cNvPr id="90181" name="Line 83"/>
              <p:cNvSpPr/>
              <p:nvPr/>
            </p:nvSpPr>
            <p:spPr>
              <a:xfrm>
                <a:off x="4372" y="2861"/>
                <a:ext cx="1008" cy="0"/>
              </a:xfrm>
              <a:prstGeom prst="line">
                <a:avLst/>
              </a:prstGeom>
              <a:ln w="9525" cap="flat" cmpd="sng">
                <a:solidFill>
                  <a:schemeClr val="tx1"/>
                </a:solidFill>
                <a:prstDash val="solid"/>
                <a:miter/>
                <a:headEnd type="none" w="med" len="med"/>
                <a:tailEnd type="none" w="med" len="med"/>
              </a:ln>
            </p:spPr>
          </p:sp>
          <p:sp>
            <p:nvSpPr>
              <p:cNvPr id="90182" name="Line 84"/>
              <p:cNvSpPr/>
              <p:nvPr/>
            </p:nvSpPr>
            <p:spPr>
              <a:xfrm>
                <a:off x="4372" y="3197"/>
                <a:ext cx="1008" cy="0"/>
              </a:xfrm>
              <a:prstGeom prst="line">
                <a:avLst/>
              </a:prstGeom>
              <a:ln w="9525" cap="flat" cmpd="sng">
                <a:solidFill>
                  <a:schemeClr val="tx1"/>
                </a:solidFill>
                <a:prstDash val="solid"/>
                <a:miter/>
                <a:headEnd type="none" w="med" len="med"/>
                <a:tailEnd type="none" w="med" len="med"/>
              </a:ln>
            </p:spPr>
          </p:sp>
          <p:sp>
            <p:nvSpPr>
              <p:cNvPr id="90183" name="Rectangle 85"/>
              <p:cNvSpPr/>
              <p:nvPr/>
            </p:nvSpPr>
            <p:spPr>
              <a:xfrm>
                <a:off x="4372" y="1421"/>
                <a:ext cx="960" cy="212"/>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latin typeface="楷体_GB2312" pitchFamily="49" charset="-122"/>
                    <a:ea typeface="楷体_GB2312" pitchFamily="49" charset="-122"/>
                  </a:rPr>
                  <a:t>Mov r1,[2500]</a:t>
                </a:r>
                <a:endParaRPr lang="en-US" altLang="zh-CN" sz="1600" b="1" dirty="0">
                  <a:solidFill>
                    <a:srgbClr val="000099"/>
                  </a:solidFill>
                  <a:latin typeface="楷体_GB2312" pitchFamily="49" charset="-122"/>
                  <a:ea typeface="楷体_GB2312" pitchFamily="49" charset="-122"/>
                </a:endParaRPr>
              </a:p>
            </p:txBody>
          </p:sp>
          <p:sp>
            <p:nvSpPr>
              <p:cNvPr id="90184" name="Text Box 87"/>
              <p:cNvSpPr txBox="1"/>
              <p:nvPr/>
            </p:nvSpPr>
            <p:spPr>
              <a:xfrm>
                <a:off x="4468" y="2669"/>
                <a:ext cx="240" cy="134"/>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400" b="1" dirty="0">
                    <a:solidFill>
                      <a:srgbClr val="000099"/>
                    </a:solidFill>
                    <a:latin typeface="楷体_GB2312" pitchFamily="49" charset="-122"/>
                    <a:ea typeface="楷体_GB2312" pitchFamily="49" charset="-122"/>
                  </a:rPr>
                  <a:t>123</a:t>
                </a:r>
                <a:endParaRPr lang="en-US" altLang="zh-CN" sz="1400" b="1" dirty="0">
                  <a:solidFill>
                    <a:srgbClr val="000099"/>
                  </a:solidFill>
                  <a:latin typeface="楷体_GB2312" pitchFamily="49" charset="-122"/>
                  <a:ea typeface="楷体_GB2312" pitchFamily="49" charset="-122"/>
                </a:endParaRPr>
              </a:p>
            </p:txBody>
          </p:sp>
          <p:sp>
            <p:nvSpPr>
              <p:cNvPr id="90185" name="Text Box 92"/>
              <p:cNvSpPr txBox="1"/>
              <p:nvPr/>
            </p:nvSpPr>
            <p:spPr>
              <a:xfrm>
                <a:off x="4228" y="893"/>
                <a:ext cx="14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0</a:t>
                </a:r>
                <a:endParaRPr lang="en-US" altLang="zh-CN" sz="2000" b="1" dirty="0">
                  <a:solidFill>
                    <a:srgbClr val="000099"/>
                  </a:solidFill>
                  <a:latin typeface="楷体_GB2312" pitchFamily="49" charset="-122"/>
                  <a:ea typeface="楷体_GB2312" pitchFamily="49" charset="-122"/>
                </a:endParaRPr>
              </a:p>
            </p:txBody>
          </p:sp>
          <p:sp>
            <p:nvSpPr>
              <p:cNvPr id="90186" name="Text Box 93"/>
              <p:cNvSpPr txBox="1"/>
              <p:nvPr/>
            </p:nvSpPr>
            <p:spPr>
              <a:xfrm>
                <a:off x="4084" y="1325"/>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2KB</a:t>
                </a:r>
                <a:endParaRPr lang="en-US" altLang="zh-CN" sz="2000" b="1" dirty="0">
                  <a:solidFill>
                    <a:srgbClr val="000099"/>
                  </a:solidFill>
                  <a:latin typeface="楷体_GB2312" pitchFamily="49" charset="-122"/>
                  <a:ea typeface="楷体_GB2312" pitchFamily="49" charset="-122"/>
                </a:endParaRPr>
              </a:p>
            </p:txBody>
          </p:sp>
          <p:sp>
            <p:nvSpPr>
              <p:cNvPr id="90187" name="Text Box 94"/>
              <p:cNvSpPr txBox="1"/>
              <p:nvPr/>
            </p:nvSpPr>
            <p:spPr>
              <a:xfrm>
                <a:off x="4084" y="1805"/>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4KB</a:t>
                </a:r>
                <a:endParaRPr lang="en-US" altLang="zh-CN" sz="2000" b="1" dirty="0">
                  <a:solidFill>
                    <a:srgbClr val="000099"/>
                  </a:solidFill>
                  <a:latin typeface="楷体_GB2312" pitchFamily="49" charset="-122"/>
                  <a:ea typeface="楷体_GB2312" pitchFamily="49" charset="-122"/>
                </a:endParaRPr>
              </a:p>
            </p:txBody>
          </p:sp>
          <p:sp>
            <p:nvSpPr>
              <p:cNvPr id="90188" name="Text Box 95"/>
              <p:cNvSpPr txBox="1"/>
              <p:nvPr/>
            </p:nvSpPr>
            <p:spPr>
              <a:xfrm>
                <a:off x="4084" y="2525"/>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7KB</a:t>
                </a:r>
                <a:endParaRPr lang="en-US" altLang="zh-CN" sz="2000" b="1" dirty="0">
                  <a:solidFill>
                    <a:srgbClr val="000099"/>
                  </a:solidFill>
                  <a:latin typeface="楷体_GB2312" pitchFamily="49" charset="-122"/>
                  <a:ea typeface="楷体_GB2312" pitchFamily="49" charset="-122"/>
                </a:endParaRPr>
              </a:p>
            </p:txBody>
          </p:sp>
          <p:sp>
            <p:nvSpPr>
              <p:cNvPr id="90189" name="Text Box 96"/>
              <p:cNvSpPr txBox="1"/>
              <p:nvPr/>
            </p:nvSpPr>
            <p:spPr>
              <a:xfrm>
                <a:off x="4084" y="3437"/>
                <a:ext cx="62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latin typeface="楷体_GB2312" pitchFamily="49" charset="-122"/>
                    <a:ea typeface="楷体_GB2312" pitchFamily="49" charset="-122"/>
                  </a:rPr>
                  <a:t>256KB-1</a:t>
                </a:r>
                <a:endParaRPr lang="en-US" altLang="zh-CN" sz="2000" b="1" dirty="0">
                  <a:solidFill>
                    <a:srgbClr val="000099"/>
                  </a:solidFill>
                  <a:latin typeface="楷体_GB2312" pitchFamily="49" charset="-122"/>
                  <a:ea typeface="楷体_GB2312" pitchFamily="49" charset="-122"/>
                </a:endParaRPr>
              </a:p>
            </p:txBody>
          </p:sp>
          <p:sp>
            <p:nvSpPr>
              <p:cNvPr id="90190" name="Text Box 107"/>
              <p:cNvSpPr txBox="1"/>
              <p:nvPr/>
            </p:nvSpPr>
            <p:spPr>
              <a:xfrm>
                <a:off x="4656" y="720"/>
                <a:ext cx="336"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latin typeface="楷体_GB2312" pitchFamily="49" charset="-122"/>
                    <a:ea typeface="楷体_GB2312" pitchFamily="49" charset="-122"/>
                  </a:rPr>
                  <a:t>主存</a:t>
                </a:r>
                <a:endParaRPr lang="zh-CN" altLang="en-US" sz="2000" b="1" dirty="0">
                  <a:solidFill>
                    <a:srgbClr val="000099"/>
                  </a:solidFill>
                  <a:latin typeface="楷体_GB2312" pitchFamily="49" charset="-122"/>
                  <a:ea typeface="楷体_GB2312" pitchFamily="49" charset="-122"/>
                </a:endParaRPr>
              </a:p>
            </p:txBody>
          </p:sp>
        </p:grpSp>
        <p:sp>
          <p:nvSpPr>
            <p:cNvPr id="90174" name="Line 79"/>
            <p:cNvSpPr/>
            <p:nvPr/>
          </p:nvSpPr>
          <p:spPr>
            <a:xfrm>
              <a:off x="4416" y="1608"/>
              <a:ext cx="1008" cy="0"/>
            </a:xfrm>
            <a:prstGeom prst="line">
              <a:avLst/>
            </a:prstGeom>
            <a:ln w="9525" cap="flat" cmpd="sng">
              <a:solidFill>
                <a:schemeClr val="tx1"/>
              </a:solidFill>
              <a:prstDash val="solid"/>
              <a:miter/>
              <a:headEnd type="none" w="med" len="med"/>
              <a:tailEnd type="none" w="med" len="med"/>
            </a:ln>
          </p:spPr>
        </p:sp>
        <p:sp>
          <p:nvSpPr>
            <p:cNvPr id="90175" name="Line 78"/>
            <p:cNvSpPr/>
            <p:nvPr/>
          </p:nvSpPr>
          <p:spPr>
            <a:xfrm>
              <a:off x="4416" y="1856"/>
              <a:ext cx="1008" cy="0"/>
            </a:xfrm>
            <a:prstGeom prst="line">
              <a:avLst/>
            </a:prstGeom>
            <a:ln w="9525" cap="flat" cmpd="sng">
              <a:solidFill>
                <a:schemeClr val="tx1"/>
              </a:solidFill>
              <a:prstDash val="solid"/>
              <a:miter/>
              <a:headEnd type="none" w="med" len="med"/>
              <a:tailEnd type="none" w="med" len="med"/>
            </a:ln>
          </p:spPr>
        </p:sp>
      </p:grpSp>
      <p:grpSp>
        <p:nvGrpSpPr>
          <p:cNvPr id="485522" name="Group 146"/>
          <p:cNvGrpSpPr/>
          <p:nvPr/>
        </p:nvGrpSpPr>
        <p:grpSpPr>
          <a:xfrm>
            <a:off x="2590800" y="4648200"/>
            <a:ext cx="1295400" cy="1752600"/>
            <a:chOff x="576" y="3024"/>
            <a:chExt cx="720" cy="1104"/>
          </a:xfrm>
        </p:grpSpPr>
        <p:sp>
          <p:nvSpPr>
            <p:cNvPr id="90163" name="Rectangle 125"/>
            <p:cNvSpPr/>
            <p:nvPr/>
          </p:nvSpPr>
          <p:spPr>
            <a:xfrm>
              <a:off x="576" y="3024"/>
              <a:ext cx="720"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99"/>
                  </a:solidFill>
                  <a:ea typeface="楷体_GB2312" pitchFamily="49" charset="-122"/>
                </a:rPr>
                <a:t>页号 块号</a:t>
              </a:r>
              <a:endParaRPr lang="zh-CN" altLang="en-US" sz="2000" b="1" dirty="0">
                <a:solidFill>
                  <a:srgbClr val="000099"/>
                </a:solidFill>
                <a:ea typeface="楷体_GB2312" pitchFamily="49" charset="-122"/>
              </a:endParaRPr>
            </a:p>
          </p:txBody>
        </p:sp>
        <p:sp>
          <p:nvSpPr>
            <p:cNvPr id="90164" name="Rectangle 132"/>
            <p:cNvSpPr/>
            <p:nvPr/>
          </p:nvSpPr>
          <p:spPr>
            <a:xfrm>
              <a:off x="768" y="3936"/>
              <a:ext cx="38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99"/>
                  </a:solidFill>
                  <a:ea typeface="楷体_GB2312" pitchFamily="49" charset="-122"/>
                </a:rPr>
                <a:t>页表</a:t>
              </a:r>
              <a:endParaRPr lang="zh-CN" altLang="en-US" sz="2000" b="1" dirty="0">
                <a:solidFill>
                  <a:srgbClr val="000099"/>
                </a:solidFill>
                <a:ea typeface="楷体_GB2312" pitchFamily="49" charset="-122"/>
              </a:endParaRPr>
            </a:p>
          </p:txBody>
        </p:sp>
        <p:grpSp>
          <p:nvGrpSpPr>
            <p:cNvPr id="90165" name="Group 145"/>
            <p:cNvGrpSpPr/>
            <p:nvPr/>
          </p:nvGrpSpPr>
          <p:grpSpPr>
            <a:xfrm>
              <a:off x="624" y="3256"/>
              <a:ext cx="336" cy="638"/>
              <a:chOff x="480" y="3216"/>
              <a:chExt cx="336" cy="638"/>
            </a:xfrm>
          </p:grpSpPr>
          <p:sp>
            <p:nvSpPr>
              <p:cNvPr id="90170" name="Text Box 103"/>
              <p:cNvSpPr txBox="1"/>
              <p:nvPr/>
            </p:nvSpPr>
            <p:spPr>
              <a:xfrm>
                <a:off x="480" y="3216"/>
                <a:ext cx="336" cy="206"/>
              </a:xfrm>
              <a:prstGeom prst="rect">
                <a:avLst/>
              </a:prstGeom>
              <a:noFill/>
              <a:ln w="22225" cap="flat" cmpd="sng">
                <a:solidFill>
                  <a:schemeClr val="bg1"/>
                </a:solidFill>
                <a:prstDash val="solid"/>
                <a:miter/>
                <a:headEnd type="none" w="med" len="med"/>
                <a:tailEnd type="none" w="med" len="med"/>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   0</a:t>
                </a:r>
                <a:endParaRPr lang="en-US" altLang="zh-CN" sz="2000" b="1" dirty="0">
                  <a:solidFill>
                    <a:srgbClr val="000099"/>
                  </a:solidFill>
                  <a:ea typeface="楷体_GB2312" pitchFamily="49" charset="-122"/>
                </a:endParaRPr>
              </a:p>
            </p:txBody>
          </p:sp>
          <p:sp>
            <p:nvSpPr>
              <p:cNvPr id="90171" name="Text Box 139"/>
              <p:cNvSpPr txBox="1"/>
              <p:nvPr/>
            </p:nvSpPr>
            <p:spPr>
              <a:xfrm>
                <a:off x="480" y="3432"/>
                <a:ext cx="336" cy="206"/>
              </a:xfrm>
              <a:prstGeom prst="rect">
                <a:avLst/>
              </a:prstGeom>
              <a:noFill/>
              <a:ln w="22225" cap="flat" cmpd="sng">
                <a:solidFill>
                  <a:schemeClr val="bg1"/>
                </a:solidFill>
                <a:prstDash val="solid"/>
                <a:miter/>
                <a:headEnd type="none" w="med" len="med"/>
                <a:tailEnd type="none" w="med" len="med"/>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   1</a:t>
                </a:r>
                <a:endParaRPr lang="en-US" altLang="zh-CN" sz="2000" b="1" dirty="0">
                  <a:solidFill>
                    <a:srgbClr val="000099"/>
                  </a:solidFill>
                  <a:ea typeface="楷体_GB2312" pitchFamily="49" charset="-122"/>
                </a:endParaRPr>
              </a:p>
            </p:txBody>
          </p:sp>
          <p:sp>
            <p:nvSpPr>
              <p:cNvPr id="90172" name="Text Box 142"/>
              <p:cNvSpPr txBox="1"/>
              <p:nvPr/>
            </p:nvSpPr>
            <p:spPr>
              <a:xfrm>
                <a:off x="480" y="3648"/>
                <a:ext cx="336" cy="206"/>
              </a:xfrm>
              <a:prstGeom prst="rect">
                <a:avLst/>
              </a:prstGeom>
              <a:noFill/>
              <a:ln w="22225" cap="flat" cmpd="sng">
                <a:solidFill>
                  <a:schemeClr val="bg1"/>
                </a:solidFill>
                <a:prstDash val="solid"/>
                <a:miter/>
                <a:headEnd type="none" w="med" len="med"/>
                <a:tailEnd type="none" w="med" len="med"/>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   2</a:t>
                </a:r>
                <a:endParaRPr lang="en-US" altLang="zh-CN" sz="2000" b="1" dirty="0">
                  <a:solidFill>
                    <a:srgbClr val="000099"/>
                  </a:solidFill>
                  <a:ea typeface="楷体_GB2312" pitchFamily="49" charset="-122"/>
                </a:endParaRPr>
              </a:p>
            </p:txBody>
          </p:sp>
        </p:grpSp>
        <p:grpSp>
          <p:nvGrpSpPr>
            <p:cNvPr id="90166" name="Group 144"/>
            <p:cNvGrpSpPr/>
            <p:nvPr/>
          </p:nvGrpSpPr>
          <p:grpSpPr>
            <a:xfrm>
              <a:off x="912" y="3264"/>
              <a:ext cx="336" cy="622"/>
              <a:chOff x="912" y="3264"/>
              <a:chExt cx="336" cy="622"/>
            </a:xfrm>
          </p:grpSpPr>
          <p:sp>
            <p:nvSpPr>
              <p:cNvPr id="90167" name="Text Box 135"/>
              <p:cNvSpPr txBox="1"/>
              <p:nvPr/>
            </p:nvSpPr>
            <p:spPr>
              <a:xfrm>
                <a:off x="912" y="3264"/>
                <a:ext cx="336" cy="206"/>
              </a:xfrm>
              <a:prstGeom prst="rect">
                <a:avLst/>
              </a:prstGeom>
              <a:noFill/>
              <a:ln w="22225" cap="flat" cmpd="sng">
                <a:solidFill>
                  <a:srgbClr val="000000"/>
                </a:solidFill>
                <a:prstDash val="solid"/>
                <a:miter/>
                <a:headEnd type="none" w="med" len="med"/>
                <a:tailEnd type="none" w="med" len="med"/>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   2</a:t>
                </a:r>
                <a:endParaRPr lang="en-US" altLang="zh-CN" sz="2000" b="1" dirty="0">
                  <a:solidFill>
                    <a:srgbClr val="000099"/>
                  </a:solidFill>
                  <a:ea typeface="楷体_GB2312" pitchFamily="49" charset="-122"/>
                </a:endParaRPr>
              </a:p>
            </p:txBody>
          </p:sp>
          <p:sp>
            <p:nvSpPr>
              <p:cNvPr id="90168" name="Text Box 140"/>
              <p:cNvSpPr txBox="1"/>
              <p:nvPr/>
            </p:nvSpPr>
            <p:spPr>
              <a:xfrm>
                <a:off x="912" y="3472"/>
                <a:ext cx="336" cy="206"/>
              </a:xfrm>
              <a:prstGeom prst="rect">
                <a:avLst/>
              </a:prstGeom>
              <a:noFill/>
              <a:ln w="22225" cap="flat" cmpd="sng">
                <a:solidFill>
                  <a:srgbClr val="000000"/>
                </a:solidFill>
                <a:prstDash val="solid"/>
                <a:miter/>
                <a:headEnd type="none" w="med" len="med"/>
                <a:tailEnd type="none" w="med" len="med"/>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   4</a:t>
                </a:r>
                <a:endParaRPr lang="en-US" altLang="zh-CN" sz="2000" b="1" dirty="0">
                  <a:solidFill>
                    <a:srgbClr val="000099"/>
                  </a:solidFill>
                  <a:ea typeface="楷体_GB2312" pitchFamily="49" charset="-122"/>
                </a:endParaRPr>
              </a:p>
            </p:txBody>
          </p:sp>
          <p:sp>
            <p:nvSpPr>
              <p:cNvPr id="90169" name="Text Box 143"/>
              <p:cNvSpPr txBox="1"/>
              <p:nvPr/>
            </p:nvSpPr>
            <p:spPr>
              <a:xfrm>
                <a:off x="912" y="3680"/>
                <a:ext cx="336" cy="206"/>
              </a:xfrm>
              <a:prstGeom prst="rect">
                <a:avLst/>
              </a:prstGeom>
              <a:noFill/>
              <a:ln w="22225" cap="flat" cmpd="sng">
                <a:solidFill>
                  <a:srgbClr val="000000"/>
                </a:solidFill>
                <a:prstDash val="solid"/>
                <a:miter/>
                <a:headEnd type="none" w="med" len="med"/>
                <a:tailEnd type="none" w="med" len="med"/>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   7</a:t>
                </a:r>
                <a:endParaRPr lang="en-US" altLang="zh-CN" sz="2000" b="1" dirty="0">
                  <a:solidFill>
                    <a:srgbClr val="000099"/>
                  </a:solidFill>
                  <a:ea typeface="楷体_GB2312" pitchFamily="49" charset="-122"/>
                </a:endParaRPr>
              </a:p>
            </p:txBody>
          </p:sp>
        </p:grpSp>
      </p:grpSp>
      <p:grpSp>
        <p:nvGrpSpPr>
          <p:cNvPr id="485535" name="Group 159"/>
          <p:cNvGrpSpPr/>
          <p:nvPr/>
        </p:nvGrpSpPr>
        <p:grpSpPr>
          <a:xfrm>
            <a:off x="3810000" y="2514600"/>
            <a:ext cx="2438400" cy="3352800"/>
            <a:chOff x="2400" y="1584"/>
            <a:chExt cx="1536" cy="2112"/>
          </a:xfrm>
        </p:grpSpPr>
        <p:grpSp>
          <p:nvGrpSpPr>
            <p:cNvPr id="90146" name="Group 29"/>
            <p:cNvGrpSpPr/>
            <p:nvPr/>
          </p:nvGrpSpPr>
          <p:grpSpPr>
            <a:xfrm>
              <a:off x="2448" y="2640"/>
              <a:ext cx="1488" cy="653"/>
              <a:chOff x="2496" y="1296"/>
              <a:chExt cx="1488" cy="653"/>
            </a:xfrm>
          </p:grpSpPr>
          <p:sp>
            <p:nvSpPr>
              <p:cNvPr id="90153" name="Rectangle 30"/>
              <p:cNvSpPr/>
              <p:nvPr/>
            </p:nvSpPr>
            <p:spPr>
              <a:xfrm>
                <a:off x="2544" y="1536"/>
                <a:ext cx="1392" cy="240"/>
              </a:xfrm>
              <a:prstGeom prst="rect">
                <a:avLst/>
              </a:prstGeom>
              <a:solidFill>
                <a:schemeClr val="bg1"/>
              </a:solidFill>
              <a:ln w="9525" cap="flat" cmpd="sng">
                <a:solidFill>
                  <a:srgbClr val="000000"/>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90154" name="Rectangle 31"/>
              <p:cNvSpPr/>
              <p:nvPr/>
            </p:nvSpPr>
            <p:spPr>
              <a:xfrm>
                <a:off x="2592" y="1296"/>
                <a:ext cx="432"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latin typeface="楷体_GB2312" pitchFamily="49" charset="-122"/>
                    <a:ea typeface="楷体_GB2312" pitchFamily="49" charset="-122"/>
                  </a:rPr>
                  <a:t>块号</a:t>
                </a:r>
                <a:r>
                  <a:rPr lang="en-US" altLang="zh-CN" sz="1800" b="1" dirty="0">
                    <a:solidFill>
                      <a:srgbClr val="000099"/>
                    </a:solidFill>
                    <a:latin typeface="楷体_GB2312" pitchFamily="49" charset="-122"/>
                    <a:ea typeface="楷体_GB2312" pitchFamily="49" charset="-122"/>
                  </a:rPr>
                  <a:t>p</a:t>
                </a:r>
                <a:r>
                  <a:rPr lang="en-US" altLang="zh-CN" sz="1800" b="1" dirty="0">
                    <a:solidFill>
                      <a:srgbClr val="000099"/>
                    </a:solidFill>
                    <a:ea typeface="楷体_GB2312" pitchFamily="49" charset="-122"/>
                  </a:rPr>
                  <a:t>’</a:t>
                </a:r>
                <a:endParaRPr lang="en-US" altLang="zh-CN" sz="1800" b="1" dirty="0">
                  <a:solidFill>
                    <a:srgbClr val="000099"/>
                  </a:solidFill>
                  <a:latin typeface="楷体_GB2312" pitchFamily="49" charset="-122"/>
                  <a:ea typeface="楷体_GB2312" pitchFamily="49" charset="-122"/>
                </a:endParaRPr>
              </a:p>
            </p:txBody>
          </p:sp>
          <p:sp>
            <p:nvSpPr>
              <p:cNvPr id="90155" name="Rectangle 32"/>
              <p:cNvSpPr/>
              <p:nvPr/>
            </p:nvSpPr>
            <p:spPr>
              <a:xfrm>
                <a:off x="3168" y="1296"/>
                <a:ext cx="816"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latin typeface="楷体_GB2312" pitchFamily="49" charset="-122"/>
                    <a:ea typeface="楷体_GB2312" pitchFamily="49" charset="-122"/>
                  </a:rPr>
                  <a:t> </a:t>
                </a:r>
                <a:r>
                  <a:rPr lang="zh-CN" altLang="en-US" sz="1800" b="1" dirty="0">
                    <a:solidFill>
                      <a:srgbClr val="000099"/>
                    </a:solidFill>
                    <a:latin typeface="楷体_GB2312" pitchFamily="49" charset="-122"/>
                    <a:ea typeface="楷体_GB2312" pitchFamily="49" charset="-122"/>
                  </a:rPr>
                  <a:t>页内位移</a:t>
                </a:r>
                <a:r>
                  <a:rPr lang="en-US" altLang="zh-CN" sz="1800" b="1" dirty="0">
                    <a:solidFill>
                      <a:srgbClr val="000099"/>
                    </a:solidFill>
                    <a:latin typeface="楷体_GB2312" pitchFamily="49" charset="-122"/>
                    <a:ea typeface="楷体_GB2312" pitchFamily="49" charset="-122"/>
                  </a:rPr>
                  <a:t>d</a:t>
                </a:r>
                <a:endParaRPr lang="en-US" altLang="zh-CN" sz="1800" b="1" dirty="0">
                  <a:solidFill>
                    <a:srgbClr val="000099"/>
                  </a:solidFill>
                  <a:latin typeface="楷体_GB2312" pitchFamily="49" charset="-122"/>
                  <a:ea typeface="楷体_GB2312" pitchFamily="49" charset="-122"/>
                </a:endParaRPr>
              </a:p>
            </p:txBody>
          </p:sp>
          <p:sp>
            <p:nvSpPr>
              <p:cNvPr id="90156" name="Line 33"/>
              <p:cNvSpPr/>
              <p:nvPr/>
            </p:nvSpPr>
            <p:spPr>
              <a:xfrm>
                <a:off x="3072" y="1536"/>
                <a:ext cx="0" cy="240"/>
              </a:xfrm>
              <a:prstGeom prst="line">
                <a:avLst/>
              </a:prstGeom>
              <a:ln w="9525" cap="flat" cmpd="sng">
                <a:solidFill>
                  <a:schemeClr val="tx1"/>
                </a:solidFill>
                <a:prstDash val="solid"/>
                <a:miter/>
                <a:headEnd type="none" w="med" len="med"/>
                <a:tailEnd type="none" w="med" len="med"/>
              </a:ln>
            </p:spPr>
          </p:sp>
          <p:sp>
            <p:nvSpPr>
              <p:cNvPr id="90157" name="Rectangle 34"/>
              <p:cNvSpPr/>
              <p:nvPr/>
            </p:nvSpPr>
            <p:spPr>
              <a:xfrm>
                <a:off x="2592" y="1584"/>
                <a:ext cx="480" cy="154"/>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latin typeface="楷体_GB2312" pitchFamily="49" charset="-122"/>
                    <a:ea typeface="楷体_GB2312" pitchFamily="49" charset="-122"/>
                  </a:rPr>
                  <a:t>000111</a:t>
                </a:r>
                <a:endParaRPr lang="en-US" altLang="zh-CN" sz="1600" b="1" dirty="0">
                  <a:solidFill>
                    <a:srgbClr val="000099"/>
                  </a:solidFill>
                  <a:latin typeface="楷体_GB2312" pitchFamily="49" charset="-122"/>
                  <a:ea typeface="楷体_GB2312" pitchFamily="49" charset="-122"/>
                </a:endParaRPr>
              </a:p>
            </p:txBody>
          </p:sp>
          <p:sp>
            <p:nvSpPr>
              <p:cNvPr id="90158" name="Rectangle 35"/>
              <p:cNvSpPr/>
              <p:nvPr/>
            </p:nvSpPr>
            <p:spPr>
              <a:xfrm>
                <a:off x="3168" y="1584"/>
                <a:ext cx="720" cy="154"/>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000099"/>
                    </a:solidFill>
                    <a:latin typeface="楷体_GB2312" pitchFamily="49" charset="-122"/>
                    <a:ea typeface="楷体_GB2312" pitchFamily="49" charset="-122"/>
                  </a:rPr>
                  <a:t>0111000100</a:t>
                </a:r>
                <a:endParaRPr lang="en-US" altLang="zh-CN" sz="1600" b="1" dirty="0">
                  <a:solidFill>
                    <a:srgbClr val="000099"/>
                  </a:solidFill>
                  <a:latin typeface="楷体_GB2312" pitchFamily="49" charset="-122"/>
                  <a:ea typeface="楷体_GB2312" pitchFamily="49" charset="-122"/>
                </a:endParaRPr>
              </a:p>
            </p:txBody>
          </p:sp>
          <p:sp>
            <p:nvSpPr>
              <p:cNvPr id="90159" name="Text Box 36"/>
              <p:cNvSpPr txBox="1"/>
              <p:nvPr/>
            </p:nvSpPr>
            <p:spPr>
              <a:xfrm>
                <a:off x="3840" y="1776"/>
                <a:ext cx="14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latin typeface="楷体_GB2312" pitchFamily="49" charset="-122"/>
                    <a:ea typeface="楷体_GB2312" pitchFamily="49" charset="-122"/>
                  </a:rPr>
                  <a:t>0</a:t>
                </a:r>
                <a:endParaRPr lang="en-US" altLang="zh-CN" sz="1800" b="1" dirty="0">
                  <a:solidFill>
                    <a:srgbClr val="000099"/>
                  </a:solidFill>
                  <a:latin typeface="楷体_GB2312" pitchFamily="49" charset="-122"/>
                  <a:ea typeface="楷体_GB2312" pitchFamily="49" charset="-122"/>
                </a:endParaRPr>
              </a:p>
            </p:txBody>
          </p:sp>
          <p:sp>
            <p:nvSpPr>
              <p:cNvPr id="90160" name="Text Box 37"/>
              <p:cNvSpPr txBox="1"/>
              <p:nvPr/>
            </p:nvSpPr>
            <p:spPr>
              <a:xfrm>
                <a:off x="3120" y="1776"/>
                <a:ext cx="14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latin typeface="楷体_GB2312" pitchFamily="49" charset="-122"/>
                    <a:ea typeface="楷体_GB2312" pitchFamily="49" charset="-122"/>
                  </a:rPr>
                  <a:t>9</a:t>
                </a:r>
                <a:endParaRPr lang="en-US" altLang="zh-CN" sz="1800" b="1" dirty="0">
                  <a:solidFill>
                    <a:srgbClr val="000099"/>
                  </a:solidFill>
                  <a:latin typeface="楷体_GB2312" pitchFamily="49" charset="-122"/>
                  <a:ea typeface="楷体_GB2312" pitchFamily="49" charset="-122"/>
                </a:endParaRPr>
              </a:p>
            </p:txBody>
          </p:sp>
          <p:sp>
            <p:nvSpPr>
              <p:cNvPr id="90161" name="Text Box 38"/>
              <p:cNvSpPr txBox="1"/>
              <p:nvPr/>
            </p:nvSpPr>
            <p:spPr>
              <a:xfrm>
                <a:off x="2880" y="1776"/>
                <a:ext cx="240"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latin typeface="楷体_GB2312" pitchFamily="49" charset="-122"/>
                    <a:ea typeface="楷体_GB2312" pitchFamily="49" charset="-122"/>
                  </a:rPr>
                  <a:t>10</a:t>
                </a:r>
                <a:endParaRPr lang="en-US" altLang="zh-CN" sz="1800" b="1" dirty="0">
                  <a:solidFill>
                    <a:srgbClr val="000099"/>
                  </a:solidFill>
                  <a:latin typeface="楷体_GB2312" pitchFamily="49" charset="-122"/>
                  <a:ea typeface="楷体_GB2312" pitchFamily="49" charset="-122"/>
                </a:endParaRPr>
              </a:p>
            </p:txBody>
          </p:sp>
          <p:sp>
            <p:nvSpPr>
              <p:cNvPr id="90162" name="Text Box 39"/>
              <p:cNvSpPr txBox="1"/>
              <p:nvPr/>
            </p:nvSpPr>
            <p:spPr>
              <a:xfrm>
                <a:off x="2496" y="1776"/>
                <a:ext cx="240"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latin typeface="楷体_GB2312" pitchFamily="49" charset="-122"/>
                    <a:ea typeface="楷体_GB2312" pitchFamily="49" charset="-122"/>
                  </a:rPr>
                  <a:t>15</a:t>
                </a:r>
                <a:endParaRPr lang="en-US" altLang="zh-CN" sz="1800" b="1" dirty="0">
                  <a:solidFill>
                    <a:srgbClr val="000099"/>
                  </a:solidFill>
                  <a:latin typeface="楷体_GB2312" pitchFamily="49" charset="-122"/>
                  <a:ea typeface="楷体_GB2312" pitchFamily="49" charset="-122"/>
                </a:endParaRPr>
              </a:p>
            </p:txBody>
          </p:sp>
        </p:grpSp>
        <p:grpSp>
          <p:nvGrpSpPr>
            <p:cNvPr id="90147" name="Group 157"/>
            <p:cNvGrpSpPr/>
            <p:nvPr/>
          </p:nvGrpSpPr>
          <p:grpSpPr>
            <a:xfrm>
              <a:off x="2400" y="1584"/>
              <a:ext cx="1080" cy="2112"/>
              <a:chOff x="2400" y="1584"/>
              <a:chExt cx="1080" cy="2112"/>
            </a:xfrm>
          </p:grpSpPr>
          <p:sp>
            <p:nvSpPr>
              <p:cNvPr id="90148" name="Line 71"/>
              <p:cNvSpPr/>
              <p:nvPr/>
            </p:nvSpPr>
            <p:spPr>
              <a:xfrm flipV="1">
                <a:off x="2400" y="3696"/>
                <a:ext cx="384" cy="0"/>
              </a:xfrm>
              <a:prstGeom prst="line">
                <a:avLst/>
              </a:prstGeom>
              <a:ln w="22225" cap="flat" cmpd="sng">
                <a:solidFill>
                  <a:srgbClr val="000000"/>
                </a:solidFill>
                <a:prstDash val="solid"/>
                <a:miter/>
                <a:headEnd type="none" w="med" len="med"/>
                <a:tailEnd type="none" w="med" len="med"/>
              </a:ln>
            </p:spPr>
          </p:sp>
          <p:sp>
            <p:nvSpPr>
              <p:cNvPr id="90149" name="Line 72"/>
              <p:cNvSpPr/>
              <p:nvPr/>
            </p:nvSpPr>
            <p:spPr>
              <a:xfrm flipV="1">
                <a:off x="2776" y="3120"/>
                <a:ext cx="0" cy="576"/>
              </a:xfrm>
              <a:prstGeom prst="line">
                <a:avLst/>
              </a:prstGeom>
              <a:ln w="22225" cap="flat" cmpd="sng">
                <a:solidFill>
                  <a:srgbClr val="000000"/>
                </a:solidFill>
                <a:prstDash val="solid"/>
                <a:miter/>
                <a:headEnd type="none" w="med" len="med"/>
                <a:tailEnd type="stealth" w="med" len="lg"/>
              </a:ln>
            </p:spPr>
          </p:sp>
          <p:sp>
            <p:nvSpPr>
              <p:cNvPr id="90150" name="Line 75"/>
              <p:cNvSpPr/>
              <p:nvPr/>
            </p:nvSpPr>
            <p:spPr>
              <a:xfrm>
                <a:off x="3480" y="2024"/>
                <a:ext cx="0" cy="864"/>
              </a:xfrm>
              <a:prstGeom prst="line">
                <a:avLst/>
              </a:prstGeom>
              <a:ln w="22225" cap="flat" cmpd="sng">
                <a:solidFill>
                  <a:srgbClr val="000000"/>
                </a:solidFill>
                <a:prstDash val="solid"/>
                <a:miter/>
                <a:headEnd type="none" w="med" len="med"/>
                <a:tailEnd type="stealth" w="med" len="lg"/>
              </a:ln>
            </p:spPr>
          </p:sp>
          <p:sp>
            <p:nvSpPr>
              <p:cNvPr id="90151" name="Rectangle 115"/>
              <p:cNvSpPr/>
              <p:nvPr/>
            </p:nvSpPr>
            <p:spPr>
              <a:xfrm>
                <a:off x="2976" y="2496"/>
                <a:ext cx="248" cy="230"/>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ea typeface="楷体_GB2312" pitchFamily="49" charset="-122"/>
                  </a:rPr>
                  <a:t>③</a:t>
                </a:r>
                <a:endParaRPr lang="en-US" altLang="zh-CN" sz="2400" b="1" dirty="0">
                  <a:solidFill>
                    <a:srgbClr val="9900CC"/>
                  </a:solidFill>
                  <a:ea typeface="楷体_GB2312" pitchFamily="49" charset="-122"/>
                </a:endParaRPr>
              </a:p>
            </p:txBody>
          </p:sp>
          <p:sp>
            <p:nvSpPr>
              <p:cNvPr id="90152" name="Line 149"/>
              <p:cNvSpPr/>
              <p:nvPr/>
            </p:nvSpPr>
            <p:spPr>
              <a:xfrm>
                <a:off x="3480" y="1584"/>
                <a:ext cx="0" cy="288"/>
              </a:xfrm>
              <a:prstGeom prst="line">
                <a:avLst/>
              </a:prstGeom>
              <a:ln w="22225" cap="flat" cmpd="sng">
                <a:solidFill>
                  <a:srgbClr val="000000"/>
                </a:solidFill>
                <a:prstDash val="solid"/>
                <a:miter/>
                <a:headEnd type="none" w="med" len="med"/>
                <a:tailEnd type="none" w="med" len="med"/>
              </a:ln>
            </p:spPr>
          </p:sp>
        </p:grpSp>
      </p:grpSp>
      <p:grpSp>
        <p:nvGrpSpPr>
          <p:cNvPr id="485534" name="Group 158"/>
          <p:cNvGrpSpPr/>
          <p:nvPr/>
        </p:nvGrpSpPr>
        <p:grpSpPr>
          <a:xfrm>
            <a:off x="6172200" y="4572000"/>
            <a:ext cx="2578100" cy="190500"/>
            <a:chOff x="3888" y="2904"/>
            <a:chExt cx="1624" cy="120"/>
          </a:xfrm>
        </p:grpSpPr>
        <p:sp>
          <p:nvSpPr>
            <p:cNvPr id="90142" name="Line 108"/>
            <p:cNvSpPr/>
            <p:nvPr/>
          </p:nvSpPr>
          <p:spPr>
            <a:xfrm flipV="1">
              <a:off x="3888" y="2928"/>
              <a:ext cx="480" cy="96"/>
            </a:xfrm>
            <a:prstGeom prst="line">
              <a:avLst/>
            </a:prstGeom>
            <a:ln w="22225" cap="flat" cmpd="sng">
              <a:solidFill>
                <a:srgbClr val="000000"/>
              </a:solidFill>
              <a:prstDash val="solid"/>
              <a:miter/>
              <a:headEnd type="none" w="med" len="med"/>
              <a:tailEnd type="stealth" w="med" len="lg"/>
            </a:ln>
          </p:spPr>
        </p:sp>
        <p:grpSp>
          <p:nvGrpSpPr>
            <p:cNvPr id="90143" name="Group 152"/>
            <p:cNvGrpSpPr/>
            <p:nvPr/>
          </p:nvGrpSpPr>
          <p:grpSpPr>
            <a:xfrm>
              <a:off x="4360" y="2904"/>
              <a:ext cx="1152" cy="96"/>
              <a:chOff x="384" y="3064"/>
              <a:chExt cx="1152" cy="96"/>
            </a:xfrm>
          </p:grpSpPr>
          <p:sp>
            <p:nvSpPr>
              <p:cNvPr id="90144" name="Rectangle 150"/>
              <p:cNvSpPr/>
              <p:nvPr/>
            </p:nvSpPr>
            <p:spPr>
              <a:xfrm>
                <a:off x="384" y="3072"/>
                <a:ext cx="1152" cy="79"/>
              </a:xfrm>
              <a:prstGeom prst="rect">
                <a:avLst/>
              </a:prstGeom>
              <a:solidFill>
                <a:srgbClr val="FFCC99"/>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90145" name="Rectangle 151"/>
              <p:cNvSpPr/>
              <p:nvPr/>
            </p:nvSpPr>
            <p:spPr>
              <a:xfrm>
                <a:off x="840" y="3064"/>
                <a:ext cx="144" cy="96"/>
              </a:xfrm>
              <a:prstGeom prst="rect">
                <a:avLst/>
              </a:prstGeom>
              <a:solidFill>
                <a:srgbClr val="FFCC99">
                  <a:alpha val="50195"/>
                </a:srgbClr>
              </a:solidFill>
              <a:ln w="9525" cap="flat" cmpd="sng">
                <a:solidFill>
                  <a:srgbClr val="FFCC99"/>
                </a:solidFill>
                <a:prstDash val="solid"/>
                <a:miter/>
                <a:headEnd type="none" w="med" len="med"/>
                <a:tailEnd type="none" w="med" len="med"/>
              </a:ln>
            </p:spPr>
            <p:txBody>
              <a:bodyPr wrap="none" lIns="0" tIns="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1400" b="1" dirty="0">
                    <a:solidFill>
                      <a:srgbClr val="2C25B9"/>
                    </a:solidFill>
                    <a:latin typeface="楷体_GB2312" pitchFamily="49" charset="-122"/>
                    <a:ea typeface="楷体_GB2312" pitchFamily="49" charset="-122"/>
                  </a:rPr>
                  <a:t>123</a:t>
                </a:r>
                <a:endParaRPr lang="en-US" altLang="zh-CN" sz="1400" b="1" dirty="0">
                  <a:solidFill>
                    <a:srgbClr val="2C25B9"/>
                  </a:solidFill>
                  <a:latin typeface="楷体_GB2312" pitchFamily="49" charset="-122"/>
                  <a:ea typeface="楷体_GB2312" pitchFamily="49" charset="-122"/>
                </a:endParaRPr>
              </a:p>
            </p:txBody>
          </p:sp>
        </p:grpSp>
      </p:grpSp>
      <p:grpSp>
        <p:nvGrpSpPr>
          <p:cNvPr id="485532" name="Group 156"/>
          <p:cNvGrpSpPr/>
          <p:nvPr/>
        </p:nvGrpSpPr>
        <p:grpSpPr>
          <a:xfrm>
            <a:off x="2133600" y="2514600"/>
            <a:ext cx="2133600" cy="3352800"/>
            <a:chOff x="1344" y="1584"/>
            <a:chExt cx="1344" cy="2112"/>
          </a:xfrm>
        </p:grpSpPr>
        <p:grpSp>
          <p:nvGrpSpPr>
            <p:cNvPr id="90131" name="Group 155"/>
            <p:cNvGrpSpPr/>
            <p:nvPr/>
          </p:nvGrpSpPr>
          <p:grpSpPr>
            <a:xfrm>
              <a:off x="1348" y="1584"/>
              <a:ext cx="1340" cy="2112"/>
              <a:chOff x="1348" y="1584"/>
              <a:chExt cx="1340" cy="2112"/>
            </a:xfrm>
          </p:grpSpPr>
          <p:sp>
            <p:nvSpPr>
              <p:cNvPr id="90133" name="Oval 19"/>
              <p:cNvSpPr/>
              <p:nvPr/>
            </p:nvSpPr>
            <p:spPr>
              <a:xfrm>
                <a:off x="1348" y="2477"/>
                <a:ext cx="192" cy="192"/>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90134" name="Line 67"/>
              <p:cNvSpPr/>
              <p:nvPr/>
            </p:nvSpPr>
            <p:spPr>
              <a:xfrm flipH="1">
                <a:off x="1444" y="2141"/>
                <a:ext cx="240" cy="0"/>
              </a:xfrm>
              <a:prstGeom prst="line">
                <a:avLst/>
              </a:prstGeom>
              <a:ln w="22225" cap="flat" cmpd="sng">
                <a:solidFill>
                  <a:srgbClr val="000000"/>
                </a:solidFill>
                <a:prstDash val="solid"/>
                <a:miter/>
                <a:headEnd type="none" w="med" len="med"/>
                <a:tailEnd type="none" w="med" len="med"/>
              </a:ln>
            </p:spPr>
          </p:sp>
          <p:sp>
            <p:nvSpPr>
              <p:cNvPr id="90135" name="Line 68"/>
              <p:cNvSpPr/>
              <p:nvPr/>
            </p:nvSpPr>
            <p:spPr>
              <a:xfrm>
                <a:off x="1444" y="2141"/>
                <a:ext cx="0" cy="336"/>
              </a:xfrm>
              <a:prstGeom prst="line">
                <a:avLst/>
              </a:prstGeom>
              <a:ln w="22225" cap="flat" cmpd="sng">
                <a:solidFill>
                  <a:srgbClr val="000000"/>
                </a:solidFill>
                <a:prstDash val="solid"/>
                <a:miter/>
                <a:headEnd type="none" w="med" len="med"/>
                <a:tailEnd type="stealth" w="med" len="lg"/>
              </a:ln>
            </p:spPr>
          </p:sp>
          <p:sp>
            <p:nvSpPr>
              <p:cNvPr id="90136" name="Line 69"/>
              <p:cNvSpPr/>
              <p:nvPr/>
            </p:nvSpPr>
            <p:spPr>
              <a:xfrm flipH="1">
                <a:off x="1440" y="2669"/>
                <a:ext cx="4" cy="1027"/>
              </a:xfrm>
              <a:prstGeom prst="line">
                <a:avLst/>
              </a:prstGeom>
              <a:ln w="22225" cap="flat" cmpd="sng">
                <a:solidFill>
                  <a:srgbClr val="000000"/>
                </a:solidFill>
                <a:prstDash val="solid"/>
                <a:miter/>
                <a:headEnd type="none" w="med" len="med"/>
                <a:tailEnd type="none" w="med" len="med"/>
              </a:ln>
            </p:spPr>
          </p:sp>
          <p:sp>
            <p:nvSpPr>
              <p:cNvPr id="90137" name="Line 73"/>
              <p:cNvSpPr/>
              <p:nvPr/>
            </p:nvSpPr>
            <p:spPr>
              <a:xfrm>
                <a:off x="2688" y="2016"/>
                <a:ext cx="0" cy="576"/>
              </a:xfrm>
              <a:prstGeom prst="line">
                <a:avLst/>
              </a:prstGeom>
              <a:ln w="22225" cap="flat" cmpd="sng">
                <a:solidFill>
                  <a:srgbClr val="000000"/>
                </a:solidFill>
                <a:prstDash val="solid"/>
                <a:miter/>
                <a:headEnd type="none" w="med" len="med"/>
                <a:tailEnd type="none" w="med" len="med"/>
              </a:ln>
            </p:spPr>
          </p:sp>
          <p:sp>
            <p:nvSpPr>
              <p:cNvPr id="90138" name="Line 74"/>
              <p:cNvSpPr/>
              <p:nvPr/>
            </p:nvSpPr>
            <p:spPr>
              <a:xfrm flipH="1">
                <a:off x="1536" y="2584"/>
                <a:ext cx="1152" cy="0"/>
              </a:xfrm>
              <a:prstGeom prst="line">
                <a:avLst/>
              </a:prstGeom>
              <a:ln w="22225" cap="flat" cmpd="sng">
                <a:solidFill>
                  <a:srgbClr val="000000"/>
                </a:solidFill>
                <a:prstDash val="solid"/>
                <a:miter/>
                <a:headEnd type="none" w="med" len="med"/>
                <a:tailEnd type="stealth" w="med" len="lg"/>
              </a:ln>
            </p:spPr>
          </p:sp>
          <p:sp>
            <p:nvSpPr>
              <p:cNvPr id="90139" name="Rectangle 114"/>
              <p:cNvSpPr/>
              <p:nvPr/>
            </p:nvSpPr>
            <p:spPr>
              <a:xfrm>
                <a:off x="1488" y="3408"/>
                <a:ext cx="193" cy="230"/>
              </a:xfrm>
              <a:prstGeom prst="rect">
                <a:avLst/>
              </a:prstGeom>
              <a:noFill/>
              <a:ln w="9525">
                <a:noFill/>
              </a:ln>
            </p:spPr>
            <p:txBody>
              <a:bodyPr wrap="none"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ea typeface="楷体_GB2312" pitchFamily="49" charset="-122"/>
                  </a:rPr>
                  <a:t>②</a:t>
                </a:r>
                <a:endParaRPr lang="en-US" altLang="zh-CN" sz="2400" b="1" dirty="0">
                  <a:solidFill>
                    <a:srgbClr val="9900CC"/>
                  </a:solidFill>
                  <a:ea typeface="楷体_GB2312" pitchFamily="49" charset="-122"/>
                </a:endParaRPr>
              </a:p>
            </p:txBody>
          </p:sp>
          <p:sp>
            <p:nvSpPr>
              <p:cNvPr id="90140" name="Line 148"/>
              <p:cNvSpPr/>
              <p:nvPr/>
            </p:nvSpPr>
            <p:spPr>
              <a:xfrm>
                <a:off x="2688" y="1584"/>
                <a:ext cx="0" cy="288"/>
              </a:xfrm>
              <a:prstGeom prst="line">
                <a:avLst/>
              </a:prstGeom>
              <a:ln w="22225" cap="flat" cmpd="sng">
                <a:solidFill>
                  <a:srgbClr val="000000"/>
                </a:solidFill>
                <a:prstDash val="solid"/>
                <a:miter/>
                <a:headEnd type="none" w="med" len="med"/>
                <a:tailEnd type="none" w="med" len="med"/>
              </a:ln>
            </p:spPr>
          </p:sp>
          <p:sp>
            <p:nvSpPr>
              <p:cNvPr id="90141" name="Line 70"/>
              <p:cNvSpPr/>
              <p:nvPr/>
            </p:nvSpPr>
            <p:spPr>
              <a:xfrm>
                <a:off x="1432" y="3688"/>
                <a:ext cx="392" cy="8"/>
              </a:xfrm>
              <a:prstGeom prst="line">
                <a:avLst/>
              </a:prstGeom>
              <a:ln w="22225" cap="flat" cmpd="sng">
                <a:solidFill>
                  <a:srgbClr val="000000"/>
                </a:solidFill>
                <a:prstDash val="solid"/>
                <a:miter/>
                <a:headEnd type="none" w="med" len="med"/>
                <a:tailEnd type="stealth" w="med" len="lg"/>
              </a:ln>
            </p:spPr>
          </p:sp>
        </p:grpSp>
        <p:sp>
          <p:nvSpPr>
            <p:cNvPr id="90132" name="Text Box 20"/>
            <p:cNvSpPr txBox="1"/>
            <p:nvPr/>
          </p:nvSpPr>
          <p:spPr>
            <a:xfrm>
              <a:off x="1344" y="2448"/>
              <a:ext cx="192" cy="230"/>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99"/>
                  </a:solidFill>
                  <a:ea typeface="楷体_GB2312" pitchFamily="49" charset="-122"/>
                </a:rPr>
                <a:t>＋</a:t>
              </a:r>
              <a:endParaRPr lang="zh-CN" altLang="en-US" sz="2400" b="1" dirty="0">
                <a:solidFill>
                  <a:srgbClr val="000099"/>
                </a:solidFill>
                <a:ea typeface="楷体_GB2312" pitchFamily="49" charset="-122"/>
              </a:endParaRPr>
            </a:p>
          </p:txBody>
        </p:sp>
      </p:grpSp>
      <p:graphicFrame>
        <p:nvGraphicFramePr>
          <p:cNvPr id="485536" name="Object 160"/>
          <p:cNvGraphicFramePr>
            <a:graphicFrameLocks noChangeAspect="1"/>
          </p:cNvGraphicFramePr>
          <p:nvPr/>
        </p:nvGraphicFramePr>
        <p:xfrm>
          <a:off x="544513" y="5410200"/>
          <a:ext cx="1655762" cy="1258888"/>
        </p:xfrm>
        <a:graphic>
          <a:graphicData uri="http://schemas.openxmlformats.org/presentationml/2006/ole">
            <mc:AlternateContent xmlns:mc="http://schemas.openxmlformats.org/markup-compatibility/2006">
              <mc:Choice xmlns:v="urn:schemas-microsoft-com:vml" Requires="v">
                <p:oleObj spid="_x0000_s3083" name="" r:id="rId1" imgW="927100" imgH="660400" progId="Equation.3">
                  <p:embed/>
                </p:oleObj>
              </mc:Choice>
              <mc:Fallback>
                <p:oleObj name="" r:id="rId1" imgW="927100" imgH="660400" progId="Equation.3">
                  <p:embed/>
                  <p:pic>
                    <p:nvPicPr>
                      <p:cNvPr id="0" name="图片 3082"/>
                      <p:cNvPicPr/>
                      <p:nvPr/>
                    </p:nvPicPr>
                    <p:blipFill>
                      <a:blip r:embed="rId2"/>
                      <a:stretch>
                        <a:fillRect/>
                      </a:stretch>
                    </p:blipFill>
                    <p:spPr>
                      <a:xfrm>
                        <a:off x="544513" y="5410200"/>
                        <a:ext cx="1655762" cy="1258888"/>
                      </a:xfrm>
                      <a:prstGeom prst="rect">
                        <a:avLst/>
                      </a:prstGeom>
                      <a:solidFill>
                        <a:srgbClr val="CCFFCC"/>
                      </a:solidFill>
                      <a:ln w="9525" cap="flat" cmpd="sng">
                        <a:solidFill>
                          <a:schemeClr val="tx1"/>
                        </a:solidFill>
                        <a:prstDash val="solid"/>
                        <a:miter/>
                        <a:headEnd type="none" w="med" len="med"/>
                        <a:tailEnd type="none" w="med" len="med"/>
                      </a:ln>
                    </p:spPr>
                  </p:pic>
                </p:oleObj>
              </mc:Fallback>
            </mc:AlternateContent>
          </a:graphicData>
        </a:graphic>
      </p:graphicFrame>
      <p:sp>
        <p:nvSpPr>
          <p:cNvPr id="485537" name="Text Box 161"/>
          <p:cNvSpPr txBox="1"/>
          <p:nvPr/>
        </p:nvSpPr>
        <p:spPr>
          <a:xfrm>
            <a:off x="3889375" y="6165850"/>
            <a:ext cx="4114800" cy="528638"/>
          </a:xfrm>
          <a:prstGeom prst="rect">
            <a:avLst/>
          </a:prstGeom>
          <a:solidFill>
            <a:srgbClr val="CCFFCC"/>
          </a:solidFill>
          <a:ln w="9525" cap="flat" cmpd="sng">
            <a:solidFill>
              <a:srgbClr val="000000"/>
            </a:solidFill>
            <a:prstDash val="solid"/>
            <a:miter/>
            <a:headEnd type="none" w="med" len="med"/>
            <a:tailEnd type="none" w="med" len="med"/>
          </a:ln>
        </p:spPr>
        <p:txBody>
          <a:bodyPr lIns="0" r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00"/>
                </a:solidFill>
                <a:ea typeface="楷体_GB2312" pitchFamily="49" charset="-122"/>
              </a:rPr>
              <a:t> </a:t>
            </a:r>
            <a:r>
              <a:rPr lang="zh-CN" altLang="en-US" sz="2400" b="1" dirty="0">
                <a:solidFill>
                  <a:srgbClr val="000000"/>
                </a:solidFill>
                <a:ea typeface="楷体_GB2312" pitchFamily="49" charset="-122"/>
              </a:rPr>
              <a:t>物理地址</a:t>
            </a:r>
            <a:r>
              <a:rPr lang="zh-CN" altLang="en-US" sz="2400" b="1" dirty="0">
                <a:solidFill>
                  <a:srgbClr val="000000"/>
                </a:solidFill>
              </a:rPr>
              <a:t>＝</a:t>
            </a:r>
            <a:r>
              <a:rPr lang="zh-CN" altLang="en-US" sz="2400" b="1" dirty="0">
                <a:solidFill>
                  <a:srgbClr val="000000"/>
                </a:solidFill>
                <a:ea typeface="楷体_GB2312" pitchFamily="49" charset="-122"/>
              </a:rPr>
              <a:t> </a:t>
            </a:r>
            <a:r>
              <a:rPr lang="en-US" altLang="zh-CN" sz="2800" b="1" dirty="0">
                <a:latin typeface="楷体_GB2312" pitchFamily="49" charset="-122"/>
                <a:ea typeface="楷体_GB2312" pitchFamily="49" charset="-122"/>
              </a:rPr>
              <a:t>p</a:t>
            </a:r>
            <a:r>
              <a:rPr lang="en-US" altLang="zh-CN" sz="2800" b="1" dirty="0">
                <a:ea typeface="楷体_GB2312" pitchFamily="49" charset="-122"/>
              </a:rPr>
              <a:t>’</a:t>
            </a:r>
            <a:r>
              <a:rPr lang="en-US" altLang="zh-CN" sz="2400" b="1" dirty="0">
                <a:solidFill>
                  <a:srgbClr val="000000"/>
                </a:solidFill>
                <a:ea typeface="楷体_GB2312" pitchFamily="49" charset="-122"/>
              </a:rPr>
              <a:t>  </a:t>
            </a:r>
            <a:r>
              <a:rPr lang="en-US" altLang="zh-CN" sz="2400" b="1" dirty="0">
                <a:solidFill>
                  <a:srgbClr val="000000"/>
                </a:solidFill>
                <a:latin typeface="宋体" panose="02010600030101010101" pitchFamily="2" charset="-122"/>
              </a:rPr>
              <a:t>* </a:t>
            </a:r>
            <a:r>
              <a:rPr lang="en-US" altLang="zh-CN" sz="2400" b="1" dirty="0">
                <a:solidFill>
                  <a:srgbClr val="000000"/>
                </a:solidFill>
              </a:rPr>
              <a:t>L  </a:t>
            </a:r>
            <a:r>
              <a:rPr lang="en-US" altLang="zh-CN" sz="2400" b="1" dirty="0">
                <a:solidFill>
                  <a:srgbClr val="000000"/>
                </a:solidFill>
                <a:latin typeface="宋体" panose="02010600030101010101" pitchFamily="2" charset="-122"/>
              </a:rPr>
              <a:t>+ </a:t>
            </a:r>
            <a:r>
              <a:rPr lang="en-US" altLang="zh-CN" sz="2800" b="1" dirty="0">
                <a:solidFill>
                  <a:srgbClr val="000000"/>
                </a:solidFill>
              </a:rPr>
              <a:t>d</a:t>
            </a:r>
            <a:endParaRPr lang="en-US" altLang="zh-CN" sz="28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5379"/>
                                        </p:tgtEl>
                                        <p:attrNameLst>
                                          <p:attrName>style.visibility</p:attrName>
                                        </p:attrNameLst>
                                      </p:cBhvr>
                                      <p:to>
                                        <p:strVal val="visible"/>
                                      </p:to>
                                    </p:set>
                                    <p:anim calcmode="lin" valueType="num">
                                      <p:cBhvr additive="base">
                                        <p:cTn id="7" dur="500" fill="hold"/>
                                        <p:tgtEl>
                                          <p:spTgt spid="485379"/>
                                        </p:tgtEl>
                                        <p:attrNameLst>
                                          <p:attrName>ppt_x</p:attrName>
                                        </p:attrNameLst>
                                      </p:cBhvr>
                                      <p:tavLst>
                                        <p:tav tm="0">
                                          <p:val>
                                            <p:strVal val="0-#ppt_w/2"/>
                                          </p:val>
                                        </p:tav>
                                        <p:tav tm="100000">
                                          <p:val>
                                            <p:strVal val="#ppt_x"/>
                                          </p:val>
                                        </p:tav>
                                      </p:tavLst>
                                    </p:anim>
                                    <p:anim calcmode="lin" valueType="num">
                                      <p:cBhvr additive="base">
                                        <p:cTn id="8" dur="500" fill="hold"/>
                                        <p:tgtEl>
                                          <p:spTgt spid="4853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85380"/>
                                        </p:tgtEl>
                                        <p:attrNameLst>
                                          <p:attrName>style.visibility</p:attrName>
                                        </p:attrNameLst>
                                      </p:cBhvr>
                                      <p:to>
                                        <p:strVal val="visible"/>
                                      </p:to>
                                    </p:set>
                                    <p:anim calcmode="lin" valueType="num">
                                      <p:cBhvr additive="base">
                                        <p:cTn id="13" dur="500" fill="hold"/>
                                        <p:tgtEl>
                                          <p:spTgt spid="485380"/>
                                        </p:tgtEl>
                                        <p:attrNameLst>
                                          <p:attrName>ppt_x</p:attrName>
                                        </p:attrNameLst>
                                      </p:cBhvr>
                                      <p:tavLst>
                                        <p:tav tm="0">
                                          <p:val>
                                            <p:strVal val="0-#ppt_w/2"/>
                                          </p:val>
                                        </p:tav>
                                        <p:tav tm="100000">
                                          <p:val>
                                            <p:strVal val="#ppt_x"/>
                                          </p:val>
                                        </p:tav>
                                      </p:tavLst>
                                    </p:anim>
                                    <p:anim calcmode="lin" valueType="num">
                                      <p:cBhvr additive="base">
                                        <p:cTn id="14" dur="500" fill="hold"/>
                                        <p:tgtEl>
                                          <p:spTgt spid="48538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85387"/>
                                        </p:tgtEl>
                                        <p:attrNameLst>
                                          <p:attrName>style.visibility</p:attrName>
                                        </p:attrNameLst>
                                      </p:cBhvr>
                                      <p:to>
                                        <p:strVal val="visible"/>
                                      </p:to>
                                    </p:set>
                                    <p:anim calcmode="lin" valueType="num">
                                      <p:cBhvr additive="base">
                                        <p:cTn id="19" dur="500" fill="hold"/>
                                        <p:tgtEl>
                                          <p:spTgt spid="485387"/>
                                        </p:tgtEl>
                                        <p:attrNameLst>
                                          <p:attrName>ppt_x</p:attrName>
                                        </p:attrNameLst>
                                      </p:cBhvr>
                                      <p:tavLst>
                                        <p:tav tm="0">
                                          <p:val>
                                            <p:strVal val="0-#ppt_w/2"/>
                                          </p:val>
                                        </p:tav>
                                        <p:tav tm="100000">
                                          <p:val>
                                            <p:strVal val="#ppt_x"/>
                                          </p:val>
                                        </p:tav>
                                      </p:tavLst>
                                    </p:anim>
                                    <p:anim calcmode="lin" valueType="num">
                                      <p:cBhvr additive="base">
                                        <p:cTn id="20" dur="500" fill="hold"/>
                                        <p:tgtEl>
                                          <p:spTgt spid="48538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485504"/>
                                        </p:tgtEl>
                                        <p:attrNameLst>
                                          <p:attrName>style.visibility</p:attrName>
                                        </p:attrNameLst>
                                      </p:cBhvr>
                                      <p:to>
                                        <p:strVal val="visible"/>
                                      </p:to>
                                    </p:set>
                                    <p:animEffect transition="in" filter="wipe(up)">
                                      <p:cBhvr>
                                        <p:cTn id="25" dur="500"/>
                                        <p:tgtEl>
                                          <p:spTgt spid="48550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485506"/>
                                        </p:tgtEl>
                                        <p:attrNameLst>
                                          <p:attrName>style.visibility</p:attrName>
                                        </p:attrNameLst>
                                      </p:cBhvr>
                                      <p:to>
                                        <p:strVal val="visible"/>
                                      </p:to>
                                    </p:set>
                                    <p:animEffect transition="in" filter="wipe(up)">
                                      <p:cBhvr>
                                        <p:cTn id="30" dur="500"/>
                                        <p:tgtEl>
                                          <p:spTgt spid="48550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85522"/>
                                        </p:tgtEl>
                                        <p:attrNameLst>
                                          <p:attrName>style.visibility</p:attrName>
                                        </p:attrNameLst>
                                      </p:cBhvr>
                                      <p:to>
                                        <p:strVal val="visible"/>
                                      </p:to>
                                    </p:set>
                                    <p:animEffect transition="in" filter="wipe(left)">
                                      <p:cBhvr>
                                        <p:cTn id="35" dur="500"/>
                                        <p:tgtEl>
                                          <p:spTgt spid="485522"/>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nodeType="clickEffect">
                                  <p:stCondLst>
                                    <p:cond delay="0"/>
                                  </p:stCondLst>
                                  <p:childTnLst>
                                    <p:set>
                                      <p:cBhvr>
                                        <p:cTn id="39" dur="1" fill="hold">
                                          <p:stCondLst>
                                            <p:cond delay="0"/>
                                          </p:stCondLst>
                                        </p:cTn>
                                        <p:tgtEl>
                                          <p:spTgt spid="485529"/>
                                        </p:tgtEl>
                                        <p:attrNameLst>
                                          <p:attrName>style.visibility</p:attrName>
                                        </p:attrNameLst>
                                      </p:cBhvr>
                                      <p:to>
                                        <p:strVal val="visible"/>
                                      </p:to>
                                    </p:set>
                                    <p:animEffect transition="in" filter="slide(fromLeft)">
                                      <p:cBhvr>
                                        <p:cTn id="40" dur="500"/>
                                        <p:tgtEl>
                                          <p:spTgt spid="48552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85486"/>
                                        </p:tgtEl>
                                        <p:attrNameLst>
                                          <p:attrName>style.visibility</p:attrName>
                                        </p:attrNameLst>
                                      </p:cBhvr>
                                      <p:to>
                                        <p:strVal val="visible"/>
                                      </p:to>
                                    </p:set>
                                    <p:animEffect transition="in" filter="wipe(left)">
                                      <p:cBhvr>
                                        <p:cTn id="45" dur="500"/>
                                        <p:tgtEl>
                                          <p:spTgt spid="48548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485404"/>
                                        </p:tgtEl>
                                        <p:attrNameLst>
                                          <p:attrName>style.visibility</p:attrName>
                                        </p:attrNameLst>
                                      </p:cBhvr>
                                      <p:to>
                                        <p:strVal val="visible"/>
                                      </p:to>
                                    </p:set>
                                    <p:animEffect transition="in" filter="wipe(up)">
                                      <p:cBhvr>
                                        <p:cTn id="50" dur="5000"/>
                                        <p:tgtEl>
                                          <p:spTgt spid="48540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485536"/>
                                        </p:tgtEl>
                                        <p:attrNameLst>
                                          <p:attrName>style.visibility</p:attrName>
                                        </p:attrNameLst>
                                      </p:cBhvr>
                                      <p:to>
                                        <p:strVal val="visible"/>
                                      </p:to>
                                    </p:set>
                                    <p:animEffect transition="in" filter="wipe(left)">
                                      <p:cBhvr>
                                        <p:cTn id="55" dur="2000"/>
                                        <p:tgtEl>
                                          <p:spTgt spid="485536"/>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37" fill="hold" nodeType="clickEffect">
                                  <p:stCondLst>
                                    <p:cond delay="0"/>
                                  </p:stCondLst>
                                  <p:childTnLst>
                                    <p:set>
                                      <p:cBhvr>
                                        <p:cTn id="59" dur="1" fill="hold">
                                          <p:stCondLst>
                                            <p:cond delay="0"/>
                                          </p:stCondLst>
                                        </p:cTn>
                                        <p:tgtEl>
                                          <p:spTgt spid="485530"/>
                                        </p:tgtEl>
                                        <p:attrNameLst>
                                          <p:attrName>style.visibility</p:attrName>
                                        </p:attrNameLst>
                                      </p:cBhvr>
                                      <p:to>
                                        <p:strVal val="visible"/>
                                      </p:to>
                                    </p:set>
                                    <p:animEffect transition="in" filter="barn(outVertical)">
                                      <p:cBhvr>
                                        <p:cTn id="60" dur="5000"/>
                                        <p:tgtEl>
                                          <p:spTgt spid="48553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485532"/>
                                        </p:tgtEl>
                                        <p:attrNameLst>
                                          <p:attrName>style.visibility</p:attrName>
                                        </p:attrNameLst>
                                      </p:cBhvr>
                                      <p:to>
                                        <p:strVal val="visible"/>
                                      </p:to>
                                    </p:set>
                                    <p:animEffect transition="in" filter="wipe(up)">
                                      <p:cBhvr>
                                        <p:cTn id="65" dur="5000"/>
                                        <p:tgtEl>
                                          <p:spTgt spid="485532"/>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6" fill="hold" nodeType="clickEffect">
                                  <p:stCondLst>
                                    <p:cond delay="0"/>
                                  </p:stCondLst>
                                  <p:childTnLst>
                                    <p:set>
                                      <p:cBhvr>
                                        <p:cTn id="69" dur="1" fill="hold">
                                          <p:stCondLst>
                                            <p:cond delay="0"/>
                                          </p:stCondLst>
                                        </p:cTn>
                                        <p:tgtEl>
                                          <p:spTgt spid="485535"/>
                                        </p:tgtEl>
                                        <p:attrNameLst>
                                          <p:attrName>style.visibility</p:attrName>
                                        </p:attrNameLst>
                                      </p:cBhvr>
                                      <p:to>
                                        <p:strVal val="visible"/>
                                      </p:to>
                                    </p:set>
                                    <p:animEffect transition="in" filter="barn(inHorizontal)">
                                      <p:cBhvr>
                                        <p:cTn id="70" dur="5000"/>
                                        <p:tgtEl>
                                          <p:spTgt spid="48553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485488"/>
                                        </p:tgtEl>
                                        <p:attrNameLst>
                                          <p:attrName>style.visibility</p:attrName>
                                        </p:attrNameLst>
                                      </p:cBhvr>
                                      <p:to>
                                        <p:strVal val="visible"/>
                                      </p:to>
                                    </p:set>
                                    <p:animEffect transition="in" filter="wipe(left)">
                                      <p:cBhvr>
                                        <p:cTn id="75" dur="500"/>
                                        <p:tgtEl>
                                          <p:spTgt spid="485488"/>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485534"/>
                                        </p:tgtEl>
                                        <p:attrNameLst>
                                          <p:attrName>style.visibility</p:attrName>
                                        </p:attrNameLst>
                                      </p:cBhvr>
                                      <p:to>
                                        <p:strVal val="visible"/>
                                      </p:to>
                                    </p:set>
                                    <p:animEffect transition="in" filter="wipe(left)">
                                      <p:cBhvr>
                                        <p:cTn id="80" dur="5000"/>
                                        <p:tgtEl>
                                          <p:spTgt spid="48553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485537"/>
                                        </p:tgtEl>
                                        <p:attrNameLst>
                                          <p:attrName>style.visibility</p:attrName>
                                        </p:attrNameLst>
                                      </p:cBhvr>
                                      <p:to>
                                        <p:strVal val="visible"/>
                                      </p:to>
                                    </p:set>
                                    <p:animEffect transition="in" filter="wipe(left)">
                                      <p:cBhvr>
                                        <p:cTn id="85" dur="500"/>
                                        <p:tgtEl>
                                          <p:spTgt spid="4855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79" grpId="0" animBg="1"/>
      <p:bldP spid="485380" grpId="0"/>
      <p:bldP spid="485387" grpId="0"/>
      <p:bldP spid="485486" grpId="0" animBg="1"/>
      <p:bldP spid="485488" grpId="0" animBg="1"/>
      <p:bldP spid="48553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48866" name="Rectangle 2"/>
          <p:cNvSpPr/>
          <p:nvPr/>
        </p:nvSpPr>
        <p:spPr>
          <a:xfrm>
            <a:off x="533400" y="3657600"/>
            <a:ext cx="2806700" cy="51911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9900CC"/>
                </a:solidFill>
                <a:ea typeface="隶书" panose="02010509060101010101" pitchFamily="49" charset="-122"/>
              </a:rPr>
              <a:t>（四）快表</a:t>
            </a:r>
            <a:endParaRPr lang="zh-CN" altLang="en-US" sz="2800" b="1" dirty="0">
              <a:solidFill>
                <a:srgbClr val="9900CC"/>
              </a:solidFill>
              <a:ea typeface="隶书" panose="02010509060101010101" pitchFamily="49" charset="-122"/>
            </a:endParaRPr>
          </a:p>
        </p:txBody>
      </p:sp>
      <p:sp>
        <p:nvSpPr>
          <p:cNvPr id="548867" name="Rectangle 3"/>
          <p:cNvSpPr/>
          <p:nvPr/>
        </p:nvSpPr>
        <p:spPr>
          <a:xfrm>
            <a:off x="762000" y="4343400"/>
            <a:ext cx="8077200" cy="19907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spcBef>
                <a:spcPct val="30000"/>
              </a:spcBef>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在每次地址变换时要访问内存页表，然后产生内存地址，这样执行一条访问内存的指令至少要</a:t>
            </a:r>
            <a:r>
              <a:rPr lang="zh-CN" altLang="en-US" sz="2400" b="1" dirty="0">
                <a:solidFill>
                  <a:srgbClr val="990033"/>
                </a:solidFill>
                <a:latin typeface="楷体_GB2312" pitchFamily="49" charset="-122"/>
                <a:ea typeface="楷体_GB2312" pitchFamily="49" charset="-122"/>
              </a:rPr>
              <a:t>访问两次内存</a:t>
            </a:r>
            <a:r>
              <a:rPr lang="zh-CN" altLang="en-US" sz="2400" b="1" dirty="0">
                <a:solidFill>
                  <a:srgbClr val="000099"/>
                </a:solidFill>
                <a:latin typeface="楷体_GB2312" pitchFamily="49" charset="-122"/>
                <a:ea typeface="楷体_GB2312" pitchFamily="49" charset="-122"/>
              </a:rPr>
              <a:t>，运行速度降低一倍。解决这个问题的一种方法是把页表放在一组快速存储器中，而不是内存中。</a:t>
            </a:r>
            <a:endParaRPr lang="zh-CN" altLang="en-US" sz="2400" b="1" dirty="0">
              <a:solidFill>
                <a:srgbClr val="000099"/>
              </a:solidFill>
              <a:latin typeface="楷体_GB2312" pitchFamily="49" charset="-122"/>
              <a:ea typeface="楷体_GB2312" pitchFamily="49" charset="-122"/>
            </a:endParaRPr>
          </a:p>
        </p:txBody>
      </p:sp>
      <p:sp>
        <p:nvSpPr>
          <p:cNvPr id="548871" name="Rectangle 7"/>
          <p:cNvSpPr/>
          <p:nvPr/>
        </p:nvSpPr>
        <p:spPr>
          <a:xfrm>
            <a:off x="685800" y="762000"/>
            <a:ext cx="8153400" cy="294005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66675" eaLnBrk="1" hangingPunct="1">
              <a:lnSpc>
                <a:spcPct val="130000"/>
              </a:lnSpc>
              <a:spcBef>
                <a:spcPct val="0"/>
              </a:spcBef>
              <a:buClrTx/>
              <a:buSzTx/>
              <a:buFontTx/>
              <a:buNone/>
            </a:pPr>
            <a:r>
              <a:rPr lang="zh-CN" altLang="en-US" sz="2400" b="1" dirty="0">
                <a:solidFill>
                  <a:srgbClr val="006600"/>
                </a:solidFill>
                <a:ea typeface="楷体_GB2312" pitchFamily="49" charset="-122"/>
              </a:rPr>
              <a:t>转换过程</a:t>
            </a:r>
            <a:r>
              <a:rPr lang="en-US" altLang="zh-CN" sz="2400" b="1" dirty="0">
                <a:solidFill>
                  <a:srgbClr val="006600"/>
                </a:solidFill>
                <a:ea typeface="楷体_GB2312" pitchFamily="49" charset="-122"/>
              </a:rPr>
              <a:t>:</a:t>
            </a:r>
            <a:endParaRPr lang="en-US" altLang="zh-CN" sz="2400" b="1" dirty="0">
              <a:solidFill>
                <a:srgbClr val="006600"/>
              </a:solidFill>
              <a:ea typeface="楷体_GB2312" pitchFamily="49" charset="-122"/>
            </a:endParaRPr>
          </a:p>
          <a:p>
            <a:pPr marL="0" lvl="0" indent="66675" eaLnBrk="1" hangingPunct="1">
              <a:lnSpc>
                <a:spcPct val="130000"/>
              </a:lnSpc>
              <a:spcBef>
                <a:spcPct val="0"/>
              </a:spcBef>
              <a:buClrTx/>
              <a:buSzTx/>
              <a:buFontTx/>
              <a:buNone/>
            </a:pPr>
            <a:r>
              <a:rPr lang="en-US" altLang="zh-CN" sz="2400" b="1" dirty="0">
                <a:solidFill>
                  <a:srgbClr val="000099"/>
                </a:solidFill>
                <a:ea typeface="楷体_GB2312" pitchFamily="49" charset="-122"/>
              </a:rPr>
              <a:t>①</a:t>
            </a:r>
            <a:r>
              <a:rPr lang="zh-CN" altLang="en-US" sz="2400" b="1" dirty="0">
                <a:solidFill>
                  <a:srgbClr val="000099"/>
                </a:solidFill>
                <a:ea typeface="楷体_GB2312" pitchFamily="49" charset="-122"/>
              </a:rPr>
              <a:t>将当前指令中的逻辑地址（</a:t>
            </a:r>
            <a:r>
              <a:rPr lang="en-US" altLang="zh-CN" sz="2400" b="1" dirty="0">
                <a:solidFill>
                  <a:srgbClr val="000099"/>
                </a:solidFill>
                <a:ea typeface="楷体_GB2312" pitchFamily="49" charset="-122"/>
              </a:rPr>
              <a:t>2500</a:t>
            </a:r>
            <a:r>
              <a:rPr lang="zh-CN" altLang="en-US" sz="2400" b="1" dirty="0">
                <a:solidFill>
                  <a:srgbClr val="000099"/>
                </a:solidFill>
                <a:ea typeface="楷体_GB2312" pitchFamily="49" charset="-122"/>
              </a:rPr>
              <a:t>）分解为页号</a:t>
            </a:r>
            <a:r>
              <a:rPr lang="en-US" altLang="zh-CN" sz="2400" b="1" dirty="0">
                <a:solidFill>
                  <a:srgbClr val="000099"/>
                </a:solidFill>
                <a:ea typeface="楷体_GB2312" pitchFamily="49" charset="-122"/>
              </a:rPr>
              <a:t>P</a:t>
            </a:r>
            <a:r>
              <a:rPr lang="zh-CN" altLang="en-US" sz="2400" b="1" dirty="0">
                <a:solidFill>
                  <a:srgbClr val="000099"/>
                </a:solidFill>
                <a:ea typeface="楷体_GB2312" pitchFamily="49" charset="-122"/>
              </a:rPr>
              <a:t>（</a:t>
            </a:r>
            <a:r>
              <a:rPr lang="en-US" altLang="zh-CN" sz="2400" b="1" dirty="0">
                <a:solidFill>
                  <a:srgbClr val="000099"/>
                </a:solidFill>
                <a:ea typeface="楷体_GB2312" pitchFamily="49" charset="-122"/>
              </a:rPr>
              <a:t>2</a:t>
            </a:r>
            <a:r>
              <a:rPr lang="zh-CN" altLang="en-US" sz="2400" b="1" dirty="0">
                <a:solidFill>
                  <a:srgbClr val="000099"/>
                </a:solidFill>
                <a:ea typeface="楷体_GB2312" pitchFamily="49" charset="-122"/>
              </a:rPr>
              <a:t>）和     页内  地址</a:t>
            </a:r>
            <a:r>
              <a:rPr lang="en-US" altLang="zh-CN" sz="2400" b="1" dirty="0">
                <a:solidFill>
                  <a:srgbClr val="000099"/>
                </a:solidFill>
                <a:ea typeface="楷体_GB2312" pitchFamily="49" charset="-122"/>
              </a:rPr>
              <a:t>d</a:t>
            </a:r>
            <a:r>
              <a:rPr lang="zh-CN" altLang="en-US" sz="2400" b="1" dirty="0">
                <a:solidFill>
                  <a:srgbClr val="000099"/>
                </a:solidFill>
                <a:ea typeface="楷体_GB2312" pitchFamily="49" charset="-122"/>
              </a:rPr>
              <a:t>（</a:t>
            </a:r>
            <a:r>
              <a:rPr lang="en-US" altLang="zh-CN" sz="2400" b="1" dirty="0">
                <a:solidFill>
                  <a:srgbClr val="000099"/>
                </a:solidFill>
                <a:ea typeface="楷体_GB2312" pitchFamily="49" charset="-122"/>
              </a:rPr>
              <a:t>452</a:t>
            </a:r>
            <a:r>
              <a:rPr lang="zh-CN" altLang="en-US" sz="2400" b="1" dirty="0">
                <a:solidFill>
                  <a:srgbClr val="000099"/>
                </a:solidFill>
                <a:ea typeface="楷体_GB2312" pitchFamily="49" charset="-122"/>
              </a:rPr>
              <a:t>）。</a:t>
            </a:r>
            <a:endParaRPr lang="zh-CN" altLang="en-US" sz="2400" b="1" dirty="0">
              <a:solidFill>
                <a:srgbClr val="000099"/>
              </a:solidFill>
              <a:ea typeface="楷体_GB2312" pitchFamily="49" charset="-122"/>
            </a:endParaRPr>
          </a:p>
          <a:p>
            <a:pPr marL="0" lvl="0" indent="66675" eaLnBrk="1" hangingPunct="1">
              <a:lnSpc>
                <a:spcPct val="130000"/>
              </a:lnSpc>
              <a:spcBef>
                <a:spcPct val="0"/>
              </a:spcBef>
              <a:buClrTx/>
              <a:buSzTx/>
              <a:buFontTx/>
              <a:buNone/>
            </a:pPr>
            <a:r>
              <a:rPr lang="zh-CN" altLang="en-US" sz="2400" b="1" dirty="0">
                <a:solidFill>
                  <a:srgbClr val="000099"/>
                </a:solidFill>
                <a:ea typeface="楷体_GB2312" pitchFamily="49" charset="-122"/>
              </a:rPr>
              <a:t>②根据页号</a:t>
            </a:r>
            <a:r>
              <a:rPr lang="en-US" altLang="zh-CN" sz="2400" b="1" dirty="0">
                <a:solidFill>
                  <a:srgbClr val="000099"/>
                </a:solidFill>
                <a:ea typeface="楷体_GB2312" pitchFamily="49" charset="-122"/>
              </a:rPr>
              <a:t>P</a:t>
            </a:r>
            <a:r>
              <a:rPr lang="zh-CN" altLang="en-US" sz="2400" b="1" dirty="0">
                <a:solidFill>
                  <a:srgbClr val="000099"/>
                </a:solidFill>
                <a:ea typeface="楷体_GB2312" pitchFamily="49" charset="-122"/>
              </a:rPr>
              <a:t>（</a:t>
            </a:r>
            <a:r>
              <a:rPr lang="en-US" altLang="zh-CN" sz="2400" b="1" dirty="0">
                <a:solidFill>
                  <a:srgbClr val="000099"/>
                </a:solidFill>
                <a:ea typeface="楷体_GB2312" pitchFamily="49" charset="-122"/>
              </a:rPr>
              <a:t>2</a:t>
            </a:r>
            <a:r>
              <a:rPr lang="zh-CN" altLang="en-US" sz="2400" b="1" dirty="0">
                <a:solidFill>
                  <a:srgbClr val="000099"/>
                </a:solidFill>
                <a:ea typeface="楷体_GB2312" pitchFamily="49" charset="-122"/>
              </a:rPr>
              <a:t>）查页表，取得相应的块号</a:t>
            </a:r>
            <a:r>
              <a:rPr lang="en-US" altLang="zh-CN" sz="2400" b="1" dirty="0">
                <a:solidFill>
                  <a:srgbClr val="000099"/>
                </a:solidFill>
                <a:ea typeface="楷体_GB2312" pitchFamily="49" charset="-122"/>
              </a:rPr>
              <a:t>P’</a:t>
            </a:r>
            <a:r>
              <a:rPr lang="zh-CN" altLang="en-US" sz="2400" b="1" dirty="0">
                <a:solidFill>
                  <a:srgbClr val="000099"/>
                </a:solidFill>
                <a:ea typeface="楷体_GB2312" pitchFamily="49" charset="-122"/>
              </a:rPr>
              <a:t>（</a:t>
            </a:r>
            <a:r>
              <a:rPr lang="en-US" altLang="zh-CN" sz="2400" b="1" dirty="0">
                <a:solidFill>
                  <a:srgbClr val="000099"/>
                </a:solidFill>
                <a:ea typeface="楷体_GB2312" pitchFamily="49" charset="-122"/>
              </a:rPr>
              <a:t>7</a:t>
            </a:r>
            <a:r>
              <a:rPr lang="zh-CN" altLang="en-US" sz="2400" b="1" dirty="0">
                <a:solidFill>
                  <a:srgbClr val="000099"/>
                </a:solidFill>
                <a:ea typeface="楷体_GB2312" pitchFamily="49" charset="-122"/>
              </a:rPr>
              <a:t>）。</a:t>
            </a:r>
            <a:endParaRPr lang="zh-CN" altLang="en-US" sz="2400" b="1" dirty="0">
              <a:solidFill>
                <a:srgbClr val="000099"/>
              </a:solidFill>
              <a:ea typeface="楷体_GB2312" pitchFamily="49" charset="-122"/>
            </a:endParaRPr>
          </a:p>
          <a:p>
            <a:pPr marL="0" lvl="0" indent="66675" eaLnBrk="1" hangingPunct="1">
              <a:lnSpc>
                <a:spcPct val="130000"/>
              </a:lnSpc>
              <a:spcBef>
                <a:spcPct val="0"/>
              </a:spcBef>
              <a:buClrTx/>
              <a:buSzTx/>
              <a:buFontTx/>
              <a:buNone/>
            </a:pPr>
            <a:r>
              <a:rPr lang="zh-CN" altLang="en-US" sz="2400" b="1" dirty="0">
                <a:solidFill>
                  <a:srgbClr val="000099"/>
                </a:solidFill>
                <a:ea typeface="楷体_GB2312" pitchFamily="49" charset="-122"/>
              </a:rPr>
              <a:t>③将块号</a:t>
            </a:r>
            <a:r>
              <a:rPr lang="en-US" altLang="zh-CN" sz="2400" b="1" dirty="0">
                <a:solidFill>
                  <a:srgbClr val="000099"/>
                </a:solidFill>
                <a:ea typeface="楷体_GB2312" pitchFamily="49" charset="-122"/>
              </a:rPr>
              <a:t>P’</a:t>
            </a:r>
            <a:r>
              <a:rPr lang="zh-CN" altLang="en-US" sz="2400" b="1" dirty="0">
                <a:solidFill>
                  <a:srgbClr val="000099"/>
                </a:solidFill>
                <a:ea typeface="楷体_GB2312" pitchFamily="49" charset="-122"/>
              </a:rPr>
              <a:t>（</a:t>
            </a:r>
            <a:r>
              <a:rPr lang="en-US" altLang="zh-CN" sz="2400" b="1" dirty="0">
                <a:solidFill>
                  <a:srgbClr val="000099"/>
                </a:solidFill>
                <a:ea typeface="楷体_GB2312" pitchFamily="49" charset="-122"/>
              </a:rPr>
              <a:t>7</a:t>
            </a:r>
            <a:r>
              <a:rPr lang="zh-CN" altLang="en-US" sz="2400" b="1" dirty="0">
                <a:solidFill>
                  <a:srgbClr val="000099"/>
                </a:solidFill>
                <a:ea typeface="楷体_GB2312" pitchFamily="49" charset="-122"/>
              </a:rPr>
              <a:t>）与页内地址</a:t>
            </a:r>
            <a:r>
              <a:rPr lang="en-US" altLang="zh-CN" sz="2400" b="1" dirty="0">
                <a:solidFill>
                  <a:srgbClr val="000099"/>
                </a:solidFill>
                <a:ea typeface="楷体_GB2312" pitchFamily="49" charset="-122"/>
              </a:rPr>
              <a:t>d</a:t>
            </a:r>
            <a:r>
              <a:rPr lang="zh-CN" altLang="en-US" sz="2400" b="1" dirty="0">
                <a:solidFill>
                  <a:srgbClr val="000099"/>
                </a:solidFill>
                <a:ea typeface="楷体_GB2312" pitchFamily="49" charset="-122"/>
              </a:rPr>
              <a:t>（</a:t>
            </a:r>
            <a:r>
              <a:rPr lang="en-US" altLang="zh-CN" sz="2400" b="1" dirty="0">
                <a:solidFill>
                  <a:srgbClr val="000099"/>
                </a:solidFill>
                <a:ea typeface="楷体_GB2312" pitchFamily="49" charset="-122"/>
              </a:rPr>
              <a:t>452</a:t>
            </a:r>
            <a:r>
              <a:rPr lang="zh-CN" altLang="en-US" sz="2400" b="1" dirty="0">
                <a:solidFill>
                  <a:srgbClr val="000099"/>
                </a:solidFill>
                <a:ea typeface="楷体_GB2312" pitchFamily="49" charset="-122"/>
              </a:rPr>
              <a:t>）拼接为物理地址（</a:t>
            </a:r>
            <a:r>
              <a:rPr lang="en-US" altLang="zh-CN" sz="2400" b="1" dirty="0">
                <a:solidFill>
                  <a:srgbClr val="000099"/>
                </a:solidFill>
                <a:ea typeface="楷体_GB2312" pitchFamily="49" charset="-122"/>
              </a:rPr>
              <a:t>7620</a:t>
            </a:r>
            <a:r>
              <a:rPr lang="zh-CN" altLang="en-US" sz="2400" b="1" dirty="0">
                <a:solidFill>
                  <a:srgbClr val="000099"/>
                </a:solidFill>
                <a:ea typeface="楷体_GB2312" pitchFamily="49" charset="-122"/>
              </a:rPr>
              <a:t>）。</a:t>
            </a:r>
            <a:endParaRPr lang="zh-CN" altLang="en-US" sz="2400" b="1" dirty="0">
              <a:solidFill>
                <a:srgbClr val="000099"/>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48871"/>
                                        </p:tgtEl>
                                        <p:attrNameLst>
                                          <p:attrName>style.visibility</p:attrName>
                                        </p:attrNameLst>
                                      </p:cBhvr>
                                      <p:to>
                                        <p:strVal val="visible"/>
                                      </p:to>
                                    </p:set>
                                    <p:anim calcmode="lin" valueType="num">
                                      <p:cBhvr additive="base">
                                        <p:cTn id="7" dur="500" fill="hold"/>
                                        <p:tgtEl>
                                          <p:spTgt spid="548871"/>
                                        </p:tgtEl>
                                        <p:attrNameLst>
                                          <p:attrName>ppt_x</p:attrName>
                                        </p:attrNameLst>
                                      </p:cBhvr>
                                      <p:tavLst>
                                        <p:tav tm="0">
                                          <p:val>
                                            <p:strVal val="0-#ppt_w/2"/>
                                          </p:val>
                                        </p:tav>
                                        <p:tav tm="100000">
                                          <p:val>
                                            <p:strVal val="#ppt_x"/>
                                          </p:val>
                                        </p:tav>
                                      </p:tavLst>
                                    </p:anim>
                                    <p:anim calcmode="lin" valueType="num">
                                      <p:cBhvr additive="base">
                                        <p:cTn id="8" dur="500" fill="hold"/>
                                        <p:tgtEl>
                                          <p:spTgt spid="54887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48866"/>
                                        </p:tgtEl>
                                        <p:attrNameLst>
                                          <p:attrName>style.visibility</p:attrName>
                                        </p:attrNameLst>
                                      </p:cBhvr>
                                      <p:to>
                                        <p:strVal val="visible"/>
                                      </p:to>
                                    </p:set>
                                    <p:anim calcmode="lin" valueType="num">
                                      <p:cBhvr additive="base">
                                        <p:cTn id="13" dur="500" fill="hold"/>
                                        <p:tgtEl>
                                          <p:spTgt spid="548866"/>
                                        </p:tgtEl>
                                        <p:attrNameLst>
                                          <p:attrName>ppt_x</p:attrName>
                                        </p:attrNameLst>
                                      </p:cBhvr>
                                      <p:tavLst>
                                        <p:tav tm="0">
                                          <p:val>
                                            <p:strVal val="0-#ppt_w/2"/>
                                          </p:val>
                                        </p:tav>
                                        <p:tav tm="100000">
                                          <p:val>
                                            <p:strVal val="#ppt_x"/>
                                          </p:val>
                                        </p:tav>
                                      </p:tavLst>
                                    </p:anim>
                                    <p:anim calcmode="lin" valueType="num">
                                      <p:cBhvr additive="base">
                                        <p:cTn id="14" dur="500" fill="hold"/>
                                        <p:tgtEl>
                                          <p:spTgt spid="54886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48867"/>
                                        </p:tgtEl>
                                        <p:attrNameLst>
                                          <p:attrName>style.visibility</p:attrName>
                                        </p:attrNameLst>
                                      </p:cBhvr>
                                      <p:to>
                                        <p:strVal val="visible"/>
                                      </p:to>
                                    </p:set>
                                    <p:anim calcmode="lin" valueType="num">
                                      <p:cBhvr additive="base">
                                        <p:cTn id="19" dur="500" fill="hold"/>
                                        <p:tgtEl>
                                          <p:spTgt spid="548867"/>
                                        </p:tgtEl>
                                        <p:attrNameLst>
                                          <p:attrName>ppt_x</p:attrName>
                                        </p:attrNameLst>
                                      </p:cBhvr>
                                      <p:tavLst>
                                        <p:tav tm="0">
                                          <p:val>
                                            <p:strVal val="0-#ppt_w/2"/>
                                          </p:val>
                                        </p:tav>
                                        <p:tav tm="100000">
                                          <p:val>
                                            <p:strVal val="#ppt_x"/>
                                          </p:val>
                                        </p:tav>
                                      </p:tavLst>
                                    </p:anim>
                                    <p:anim calcmode="lin" valueType="num">
                                      <p:cBhvr additive="base">
                                        <p:cTn id="20" dur="500" fill="hold"/>
                                        <p:tgtEl>
                                          <p:spTgt spid="5488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6" grpId="0"/>
      <p:bldP spid="548867" grpId="0"/>
      <p:bldP spid="548871"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87427" name="Rectangle 3"/>
          <p:cNvSpPr/>
          <p:nvPr/>
        </p:nvSpPr>
        <p:spPr>
          <a:xfrm>
            <a:off x="609600" y="2603500"/>
            <a:ext cx="8229600" cy="151606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spcBef>
                <a:spcPct val="30000"/>
              </a:spcBef>
              <a:buClrTx/>
              <a:buSzTx/>
              <a:buFontTx/>
              <a:buNone/>
            </a:pPr>
            <a:r>
              <a:rPr lang="zh-CN" altLang="en-US" sz="2400" b="1" dirty="0">
                <a:solidFill>
                  <a:srgbClr val="990033"/>
                </a:solidFill>
                <a:latin typeface="楷体_GB2312" pitchFamily="49" charset="-122"/>
                <a:ea typeface="楷体_GB2312" pitchFamily="49" charset="-122"/>
              </a:rPr>
              <a:t>联想方式：</a:t>
            </a:r>
            <a:r>
              <a:rPr lang="zh-CN" altLang="en-US" sz="2400" b="1" dirty="0">
                <a:solidFill>
                  <a:srgbClr val="000099"/>
                </a:solidFill>
                <a:latin typeface="楷体_GB2312" pitchFamily="49" charset="-122"/>
                <a:ea typeface="楷体_GB2312" pitchFamily="49" charset="-122"/>
              </a:rPr>
              <a:t>是用联想线路连接各寄存器，查询时不再用查询内存表格的方法一个表目一个表目地查询，而是通过电子线路同时查询所有的快表寄存器。</a:t>
            </a:r>
            <a:endParaRPr lang="zh-CN" altLang="en-US" sz="2400" b="1" dirty="0">
              <a:solidFill>
                <a:srgbClr val="000099"/>
              </a:solidFill>
              <a:latin typeface="楷体_GB2312" pitchFamily="49" charset="-122"/>
              <a:ea typeface="楷体_GB2312" pitchFamily="49" charset="-122"/>
            </a:endParaRPr>
          </a:p>
        </p:txBody>
      </p:sp>
      <p:sp>
        <p:nvSpPr>
          <p:cNvPr id="487433" name="Rectangle 9"/>
          <p:cNvSpPr/>
          <p:nvPr/>
        </p:nvSpPr>
        <p:spPr>
          <a:xfrm>
            <a:off x="604838" y="4102100"/>
            <a:ext cx="8424862" cy="246538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spcBef>
                <a:spcPct val="30000"/>
              </a:spcBef>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在具有高速联想存储器的地址变换过程中，首先检查这个高速存储器，确定需要的页表目是否在其中。如果没有发现，再访问主存储器中的页表。</a:t>
            </a:r>
            <a:r>
              <a:rPr lang="zh-CN" altLang="en-US" sz="2400" b="1" dirty="0">
                <a:solidFill>
                  <a:srgbClr val="000099"/>
                </a:solidFill>
                <a:latin typeface="楷体_GB2312" pitchFamily="49" charset="-122"/>
                <a:ea typeface="楷体_GB2312" pitchFamily="49" charset="-122"/>
              </a:rPr>
              <a:t>在访问内存中页表的同时，把从页表中读出的页表目存入一个寄存器单元中，以替代一个老的、认为不再需要的页表目。</a:t>
            </a:r>
            <a:endParaRPr lang="zh-CN" altLang="en-US" sz="2400" b="1" dirty="0">
              <a:solidFill>
                <a:srgbClr val="000099"/>
              </a:solidFill>
              <a:latin typeface="楷体_GB2312" pitchFamily="49" charset="-122"/>
              <a:ea typeface="楷体_GB2312" pitchFamily="49" charset="-122"/>
            </a:endParaRPr>
          </a:p>
        </p:txBody>
      </p:sp>
      <p:sp>
        <p:nvSpPr>
          <p:cNvPr id="487435" name="Rectangle 11"/>
          <p:cNvSpPr/>
          <p:nvPr/>
        </p:nvSpPr>
        <p:spPr>
          <a:xfrm>
            <a:off x="609600" y="685800"/>
            <a:ext cx="8229600" cy="19177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006600"/>
                </a:solidFill>
                <a:latin typeface="楷体_GB2312" pitchFamily="49" charset="-122"/>
                <a:ea typeface="楷体_GB2312" pitchFamily="49" charset="-122"/>
              </a:rPr>
              <a:t>快表：</a:t>
            </a:r>
            <a:r>
              <a:rPr lang="zh-CN" altLang="en-US" sz="2400" b="1" dirty="0">
                <a:solidFill>
                  <a:srgbClr val="000099"/>
                </a:solidFill>
                <a:latin typeface="楷体_GB2312" pitchFamily="49" charset="-122"/>
                <a:ea typeface="楷体_GB2312" pitchFamily="49" charset="-122"/>
              </a:rPr>
              <a:t>将当前执行进程中最常用的页表目（页号与对应的块号）存入</a:t>
            </a:r>
            <a:r>
              <a:rPr lang="zh-CN" altLang="en-US" sz="2400" b="1" dirty="0">
                <a:solidFill>
                  <a:srgbClr val="006600"/>
                </a:solidFill>
                <a:latin typeface="楷体_GB2312" pitchFamily="49" charset="-122"/>
                <a:ea typeface="楷体_GB2312" pitchFamily="49" charset="-122"/>
              </a:rPr>
              <a:t>高速联想存储器</a:t>
            </a:r>
            <a:r>
              <a:rPr lang="zh-CN" altLang="en-US" sz="2400" b="1" dirty="0">
                <a:solidFill>
                  <a:srgbClr val="000099"/>
                </a:solidFill>
                <a:latin typeface="楷体_GB2312" pitchFamily="49" charset="-122"/>
                <a:ea typeface="楷体_GB2312" pitchFamily="49" charset="-122"/>
              </a:rPr>
              <a:t>构成一张快表，以减少访问主存的次数，提高存取的速度</a:t>
            </a:r>
            <a:r>
              <a:rPr lang="zh-CN" altLang="en-US" sz="2400" b="1" dirty="0">
                <a:solidFill>
                  <a:srgbClr val="000099"/>
                </a:solidFill>
                <a:latin typeface="楷体_GB2312" pitchFamily="49" charset="-122"/>
                <a:ea typeface="楷体_GB2312" pitchFamily="49" charset="-122"/>
              </a:rPr>
              <a:t>。</a:t>
            </a:r>
            <a:endParaRPr lang="zh-CN" altLang="en-US" sz="2400" b="1" dirty="0">
              <a:solidFill>
                <a:srgbClr val="000099"/>
              </a:solidFill>
              <a:latin typeface="楷体_GB2312" pitchFamily="49" charset="-122"/>
              <a:ea typeface="楷体_GB2312" pitchFamily="49" charset="-122"/>
            </a:endParaRPr>
          </a:p>
          <a:p>
            <a:pPr marL="0" lvl="0" indent="0" eaLnBrk="1" hangingPunct="1">
              <a:lnSpc>
                <a:spcPct val="120000"/>
              </a:lnSpc>
              <a:buClrTx/>
              <a:buSzTx/>
              <a:buFontTx/>
              <a:buNone/>
            </a:pPr>
            <a:r>
              <a:rPr lang="zh-CN" altLang="en-US" sz="2400" b="1" dirty="0">
                <a:solidFill>
                  <a:srgbClr val="006600"/>
                </a:solidFill>
                <a:latin typeface="楷体_GB2312" pitchFamily="49" charset="-122"/>
                <a:ea typeface="楷体_GB2312" pitchFamily="49" charset="-122"/>
              </a:rPr>
              <a:t>慢表：</a:t>
            </a:r>
            <a:r>
              <a:rPr lang="zh-CN" altLang="en-US" sz="2400" b="1" dirty="0">
                <a:solidFill>
                  <a:srgbClr val="000099"/>
                </a:solidFill>
                <a:latin typeface="楷体_GB2312" pitchFamily="49" charset="-122"/>
                <a:ea typeface="楷体_GB2312" pitchFamily="49" charset="-122"/>
              </a:rPr>
              <a:t>内存中存放的页表。</a:t>
            </a:r>
            <a:endParaRPr lang="zh-CN" altLang="en-US" sz="2400" b="1" dirty="0">
              <a:solidFill>
                <a:srgbClr val="000099"/>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7435"/>
                                        </p:tgtEl>
                                        <p:attrNameLst>
                                          <p:attrName>style.visibility</p:attrName>
                                        </p:attrNameLst>
                                      </p:cBhvr>
                                      <p:to>
                                        <p:strVal val="visible"/>
                                      </p:to>
                                    </p:set>
                                    <p:anim calcmode="lin" valueType="num">
                                      <p:cBhvr additive="base">
                                        <p:cTn id="7" dur="500" fill="hold"/>
                                        <p:tgtEl>
                                          <p:spTgt spid="487435"/>
                                        </p:tgtEl>
                                        <p:attrNameLst>
                                          <p:attrName>ppt_x</p:attrName>
                                        </p:attrNameLst>
                                      </p:cBhvr>
                                      <p:tavLst>
                                        <p:tav tm="0">
                                          <p:val>
                                            <p:strVal val="0-#ppt_w/2"/>
                                          </p:val>
                                        </p:tav>
                                        <p:tav tm="100000">
                                          <p:val>
                                            <p:strVal val="#ppt_x"/>
                                          </p:val>
                                        </p:tav>
                                      </p:tavLst>
                                    </p:anim>
                                    <p:anim calcmode="lin" valueType="num">
                                      <p:cBhvr additive="base">
                                        <p:cTn id="8" dur="500" fill="hold"/>
                                        <p:tgtEl>
                                          <p:spTgt spid="48743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87427"/>
                                        </p:tgtEl>
                                        <p:attrNameLst>
                                          <p:attrName>style.visibility</p:attrName>
                                        </p:attrNameLst>
                                      </p:cBhvr>
                                      <p:to>
                                        <p:strVal val="visible"/>
                                      </p:to>
                                    </p:set>
                                    <p:anim calcmode="lin" valueType="num">
                                      <p:cBhvr additive="base">
                                        <p:cTn id="13" dur="500" fill="hold"/>
                                        <p:tgtEl>
                                          <p:spTgt spid="487427"/>
                                        </p:tgtEl>
                                        <p:attrNameLst>
                                          <p:attrName>ppt_x</p:attrName>
                                        </p:attrNameLst>
                                      </p:cBhvr>
                                      <p:tavLst>
                                        <p:tav tm="0">
                                          <p:val>
                                            <p:strVal val="0-#ppt_w/2"/>
                                          </p:val>
                                        </p:tav>
                                        <p:tav tm="100000">
                                          <p:val>
                                            <p:strVal val="#ppt_x"/>
                                          </p:val>
                                        </p:tav>
                                      </p:tavLst>
                                    </p:anim>
                                    <p:anim calcmode="lin" valueType="num">
                                      <p:cBhvr additive="base">
                                        <p:cTn id="14" dur="500" fill="hold"/>
                                        <p:tgtEl>
                                          <p:spTgt spid="48742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87433"/>
                                        </p:tgtEl>
                                        <p:attrNameLst>
                                          <p:attrName>style.visibility</p:attrName>
                                        </p:attrNameLst>
                                      </p:cBhvr>
                                      <p:to>
                                        <p:strVal val="visible"/>
                                      </p:to>
                                    </p:set>
                                    <p:anim calcmode="lin" valueType="num">
                                      <p:cBhvr additive="base">
                                        <p:cTn id="19" dur="500" fill="hold"/>
                                        <p:tgtEl>
                                          <p:spTgt spid="487433"/>
                                        </p:tgtEl>
                                        <p:attrNameLst>
                                          <p:attrName>ppt_x</p:attrName>
                                        </p:attrNameLst>
                                      </p:cBhvr>
                                      <p:tavLst>
                                        <p:tav tm="0">
                                          <p:val>
                                            <p:strVal val="0-#ppt_w/2"/>
                                          </p:val>
                                        </p:tav>
                                        <p:tav tm="100000">
                                          <p:val>
                                            <p:strVal val="#ppt_x"/>
                                          </p:val>
                                        </p:tav>
                                      </p:tavLst>
                                    </p:anim>
                                    <p:anim calcmode="lin" valueType="num">
                                      <p:cBhvr additive="base">
                                        <p:cTn id="20" dur="500" fill="hold"/>
                                        <p:tgtEl>
                                          <p:spTgt spid="4874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7427" grpId="0"/>
      <p:bldP spid="487433" grpId="0"/>
      <p:bldP spid="48743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60551" name="Line 71"/>
          <p:cNvSpPr/>
          <p:nvPr/>
        </p:nvSpPr>
        <p:spPr>
          <a:xfrm flipH="1">
            <a:off x="7329488" y="2039938"/>
            <a:ext cx="6350" cy="3178175"/>
          </a:xfrm>
          <a:prstGeom prst="line">
            <a:avLst/>
          </a:prstGeom>
          <a:ln w="22225" cap="flat" cmpd="sng">
            <a:solidFill>
              <a:srgbClr val="FF0000"/>
            </a:solidFill>
            <a:prstDash val="solid"/>
            <a:miter/>
            <a:headEnd type="none" w="med" len="med"/>
            <a:tailEnd type="stealth" w="med" len="lg"/>
          </a:ln>
        </p:spPr>
      </p:sp>
      <p:grpSp>
        <p:nvGrpSpPr>
          <p:cNvPr id="660482" name="Group 2"/>
          <p:cNvGrpSpPr/>
          <p:nvPr/>
        </p:nvGrpSpPr>
        <p:grpSpPr>
          <a:xfrm>
            <a:off x="5562600" y="3787775"/>
            <a:ext cx="1365250" cy="1457325"/>
            <a:chOff x="3504" y="2386"/>
            <a:chExt cx="860" cy="918"/>
          </a:xfrm>
        </p:grpSpPr>
        <p:sp>
          <p:nvSpPr>
            <p:cNvPr id="93254" name="Line 3"/>
            <p:cNvSpPr/>
            <p:nvPr/>
          </p:nvSpPr>
          <p:spPr>
            <a:xfrm>
              <a:off x="4172" y="2386"/>
              <a:ext cx="192" cy="0"/>
            </a:xfrm>
            <a:prstGeom prst="line">
              <a:avLst/>
            </a:prstGeom>
            <a:ln w="22225" cap="flat" cmpd="sng">
              <a:solidFill>
                <a:srgbClr val="FF0000"/>
              </a:solidFill>
              <a:prstDash val="solid"/>
              <a:miter/>
              <a:headEnd type="none" w="med" len="med"/>
              <a:tailEnd type="none" w="med" len="med"/>
            </a:ln>
          </p:spPr>
        </p:sp>
        <p:sp>
          <p:nvSpPr>
            <p:cNvPr id="93255" name="Line 4"/>
            <p:cNvSpPr/>
            <p:nvPr/>
          </p:nvSpPr>
          <p:spPr>
            <a:xfrm>
              <a:off x="4348" y="2394"/>
              <a:ext cx="0" cy="720"/>
            </a:xfrm>
            <a:prstGeom prst="line">
              <a:avLst/>
            </a:prstGeom>
            <a:ln w="22225" cap="flat" cmpd="sng">
              <a:solidFill>
                <a:srgbClr val="FF0000"/>
              </a:solidFill>
              <a:prstDash val="solid"/>
              <a:miter/>
              <a:headEnd type="none" w="med" len="med"/>
              <a:tailEnd type="none" w="med" len="med"/>
            </a:ln>
          </p:spPr>
        </p:sp>
        <p:sp>
          <p:nvSpPr>
            <p:cNvPr id="93256" name="Line 5"/>
            <p:cNvSpPr/>
            <p:nvPr/>
          </p:nvSpPr>
          <p:spPr>
            <a:xfrm flipV="1">
              <a:off x="3504" y="3120"/>
              <a:ext cx="860" cy="0"/>
            </a:xfrm>
            <a:prstGeom prst="line">
              <a:avLst/>
            </a:prstGeom>
            <a:ln w="22225" cap="flat" cmpd="sng">
              <a:solidFill>
                <a:srgbClr val="FF0000"/>
              </a:solidFill>
              <a:prstDash val="solid"/>
              <a:miter/>
              <a:headEnd type="none" w="med" len="med"/>
              <a:tailEnd type="none" w="med" len="med"/>
            </a:ln>
          </p:spPr>
        </p:sp>
        <p:sp>
          <p:nvSpPr>
            <p:cNvPr id="93257" name="Line 6"/>
            <p:cNvSpPr/>
            <p:nvPr/>
          </p:nvSpPr>
          <p:spPr>
            <a:xfrm>
              <a:off x="3504" y="3112"/>
              <a:ext cx="0" cy="192"/>
            </a:xfrm>
            <a:prstGeom prst="line">
              <a:avLst/>
            </a:prstGeom>
            <a:ln w="22225" cap="flat" cmpd="sng">
              <a:solidFill>
                <a:srgbClr val="FF0000"/>
              </a:solidFill>
              <a:prstDash val="solid"/>
              <a:miter/>
              <a:headEnd type="none" w="med" len="med"/>
              <a:tailEnd type="stealth" w="med" len="lg"/>
            </a:ln>
          </p:spPr>
        </p:sp>
      </p:grpSp>
      <p:sp>
        <p:nvSpPr>
          <p:cNvPr id="660487" name="Line 7"/>
          <p:cNvSpPr/>
          <p:nvPr/>
        </p:nvSpPr>
        <p:spPr>
          <a:xfrm flipH="1">
            <a:off x="7334250" y="2047875"/>
            <a:ext cx="6350" cy="3178175"/>
          </a:xfrm>
          <a:prstGeom prst="line">
            <a:avLst/>
          </a:prstGeom>
          <a:ln w="31750" cap="flat" cmpd="sng">
            <a:solidFill>
              <a:srgbClr val="00FF00"/>
            </a:solidFill>
            <a:prstDash val="solid"/>
            <a:miter/>
            <a:headEnd type="none" w="med" len="med"/>
            <a:tailEnd type="stealth" w="med" len="lg"/>
          </a:ln>
        </p:spPr>
      </p:sp>
      <p:grpSp>
        <p:nvGrpSpPr>
          <p:cNvPr id="660488" name="Group 8"/>
          <p:cNvGrpSpPr/>
          <p:nvPr/>
        </p:nvGrpSpPr>
        <p:grpSpPr>
          <a:xfrm>
            <a:off x="831850" y="1196975"/>
            <a:ext cx="7315200" cy="4953000"/>
            <a:chOff x="524" y="754"/>
            <a:chExt cx="4608" cy="3120"/>
          </a:xfrm>
        </p:grpSpPr>
        <p:sp>
          <p:nvSpPr>
            <p:cNvPr id="93219" name="Rectangle 9"/>
            <p:cNvSpPr/>
            <p:nvPr/>
          </p:nvSpPr>
          <p:spPr>
            <a:xfrm>
              <a:off x="812" y="994"/>
              <a:ext cx="576"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grpSp>
          <p:nvGrpSpPr>
            <p:cNvPr id="93220" name="Group 10"/>
            <p:cNvGrpSpPr/>
            <p:nvPr/>
          </p:nvGrpSpPr>
          <p:grpSpPr>
            <a:xfrm>
              <a:off x="1100" y="1906"/>
              <a:ext cx="624" cy="1344"/>
              <a:chOff x="1008" y="2544"/>
              <a:chExt cx="624" cy="1344"/>
            </a:xfrm>
          </p:grpSpPr>
          <p:sp>
            <p:nvSpPr>
              <p:cNvPr id="93249" name="Rectangle 11"/>
              <p:cNvSpPr/>
              <p:nvPr/>
            </p:nvSpPr>
            <p:spPr>
              <a:xfrm>
                <a:off x="1008" y="2544"/>
                <a:ext cx="624" cy="134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93250" name="Line 12"/>
              <p:cNvSpPr/>
              <p:nvPr/>
            </p:nvSpPr>
            <p:spPr>
              <a:xfrm>
                <a:off x="1008" y="2880"/>
                <a:ext cx="624" cy="0"/>
              </a:xfrm>
              <a:prstGeom prst="line">
                <a:avLst/>
              </a:prstGeom>
              <a:ln w="9525" cap="flat" cmpd="sng">
                <a:solidFill>
                  <a:schemeClr val="tx1"/>
                </a:solidFill>
                <a:prstDash val="solid"/>
                <a:miter/>
                <a:headEnd type="none" w="med" len="med"/>
                <a:tailEnd type="none" w="med" len="med"/>
              </a:ln>
            </p:spPr>
          </p:sp>
          <p:sp>
            <p:nvSpPr>
              <p:cNvPr id="93251" name="Line 13"/>
              <p:cNvSpPr/>
              <p:nvPr/>
            </p:nvSpPr>
            <p:spPr>
              <a:xfrm>
                <a:off x="1008" y="3120"/>
                <a:ext cx="624" cy="0"/>
              </a:xfrm>
              <a:prstGeom prst="line">
                <a:avLst/>
              </a:prstGeom>
              <a:ln w="9525" cap="flat" cmpd="sng">
                <a:solidFill>
                  <a:schemeClr val="tx1"/>
                </a:solidFill>
                <a:prstDash val="solid"/>
                <a:miter/>
                <a:headEnd type="none" w="med" len="med"/>
                <a:tailEnd type="none" w="med" len="med"/>
              </a:ln>
            </p:spPr>
          </p:sp>
          <p:sp>
            <p:nvSpPr>
              <p:cNvPr id="93252" name="Line 14"/>
              <p:cNvSpPr/>
              <p:nvPr/>
            </p:nvSpPr>
            <p:spPr>
              <a:xfrm>
                <a:off x="1008" y="3312"/>
                <a:ext cx="624" cy="0"/>
              </a:xfrm>
              <a:prstGeom prst="line">
                <a:avLst/>
              </a:prstGeom>
              <a:ln w="9525" cap="flat" cmpd="sng">
                <a:solidFill>
                  <a:schemeClr val="tx1"/>
                </a:solidFill>
                <a:prstDash val="solid"/>
                <a:miter/>
                <a:headEnd type="none" w="med" len="med"/>
                <a:tailEnd type="none" w="med" len="med"/>
              </a:ln>
            </p:spPr>
          </p:sp>
          <p:sp>
            <p:nvSpPr>
              <p:cNvPr id="93253" name="Line 15"/>
              <p:cNvSpPr/>
              <p:nvPr/>
            </p:nvSpPr>
            <p:spPr>
              <a:xfrm>
                <a:off x="1008" y="3744"/>
                <a:ext cx="624" cy="0"/>
              </a:xfrm>
              <a:prstGeom prst="line">
                <a:avLst/>
              </a:prstGeom>
              <a:ln w="9525" cap="flat" cmpd="sng">
                <a:solidFill>
                  <a:schemeClr val="tx1"/>
                </a:solidFill>
                <a:prstDash val="solid"/>
                <a:miter/>
                <a:headEnd type="none" w="med" len="med"/>
                <a:tailEnd type="none" w="med" len="med"/>
              </a:ln>
            </p:spPr>
          </p:sp>
        </p:grpSp>
        <p:grpSp>
          <p:nvGrpSpPr>
            <p:cNvPr id="93221" name="Group 16"/>
            <p:cNvGrpSpPr/>
            <p:nvPr/>
          </p:nvGrpSpPr>
          <p:grpSpPr>
            <a:xfrm>
              <a:off x="3068" y="994"/>
              <a:ext cx="2064" cy="288"/>
              <a:chOff x="2976" y="1440"/>
              <a:chExt cx="2064" cy="288"/>
            </a:xfrm>
          </p:grpSpPr>
          <p:sp>
            <p:nvSpPr>
              <p:cNvPr id="93247" name="Rectangle 17"/>
              <p:cNvSpPr/>
              <p:nvPr/>
            </p:nvSpPr>
            <p:spPr>
              <a:xfrm>
                <a:off x="2976" y="1440"/>
                <a:ext cx="2064"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93248" name="Line 18"/>
              <p:cNvSpPr/>
              <p:nvPr/>
            </p:nvSpPr>
            <p:spPr>
              <a:xfrm>
                <a:off x="3600" y="1440"/>
                <a:ext cx="0" cy="288"/>
              </a:xfrm>
              <a:prstGeom prst="line">
                <a:avLst/>
              </a:prstGeom>
              <a:ln w="9525" cap="flat" cmpd="sng">
                <a:solidFill>
                  <a:schemeClr val="tx1"/>
                </a:solidFill>
                <a:prstDash val="solid"/>
                <a:miter/>
                <a:headEnd type="none" w="med" len="med"/>
                <a:tailEnd type="none" w="med" len="med"/>
              </a:ln>
            </p:spPr>
          </p:sp>
        </p:grpSp>
        <p:grpSp>
          <p:nvGrpSpPr>
            <p:cNvPr id="93222" name="Group 19"/>
            <p:cNvGrpSpPr/>
            <p:nvPr/>
          </p:nvGrpSpPr>
          <p:grpSpPr>
            <a:xfrm>
              <a:off x="3068" y="1858"/>
              <a:ext cx="1104" cy="1152"/>
              <a:chOff x="2976" y="2544"/>
              <a:chExt cx="1104" cy="1152"/>
            </a:xfrm>
          </p:grpSpPr>
          <p:sp>
            <p:nvSpPr>
              <p:cNvPr id="93241" name="Rectangle 20"/>
              <p:cNvSpPr/>
              <p:nvPr/>
            </p:nvSpPr>
            <p:spPr>
              <a:xfrm>
                <a:off x="2976" y="2544"/>
                <a:ext cx="1104" cy="115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93242" name="Line 21"/>
              <p:cNvSpPr/>
              <p:nvPr/>
            </p:nvSpPr>
            <p:spPr>
              <a:xfrm>
                <a:off x="3552" y="2544"/>
                <a:ext cx="0" cy="1152"/>
              </a:xfrm>
              <a:prstGeom prst="line">
                <a:avLst/>
              </a:prstGeom>
              <a:ln w="9525" cap="flat" cmpd="sng">
                <a:solidFill>
                  <a:schemeClr val="tx1"/>
                </a:solidFill>
                <a:prstDash val="solid"/>
                <a:miter/>
                <a:headEnd type="none" w="med" len="med"/>
                <a:tailEnd type="none" w="med" len="med"/>
              </a:ln>
            </p:spPr>
          </p:sp>
          <p:sp>
            <p:nvSpPr>
              <p:cNvPr id="93243" name="Line 22"/>
              <p:cNvSpPr/>
              <p:nvPr/>
            </p:nvSpPr>
            <p:spPr>
              <a:xfrm>
                <a:off x="2976" y="2688"/>
                <a:ext cx="1104" cy="0"/>
              </a:xfrm>
              <a:prstGeom prst="line">
                <a:avLst/>
              </a:prstGeom>
              <a:ln w="9525" cap="flat" cmpd="sng">
                <a:solidFill>
                  <a:schemeClr val="tx1"/>
                </a:solidFill>
                <a:prstDash val="solid"/>
                <a:miter/>
                <a:headEnd type="none" w="med" len="med"/>
                <a:tailEnd type="none" w="med" len="med"/>
              </a:ln>
            </p:spPr>
          </p:sp>
          <p:sp>
            <p:nvSpPr>
              <p:cNvPr id="93244" name="Line 23"/>
              <p:cNvSpPr/>
              <p:nvPr/>
            </p:nvSpPr>
            <p:spPr>
              <a:xfrm>
                <a:off x="2976" y="2976"/>
                <a:ext cx="1104" cy="0"/>
              </a:xfrm>
              <a:prstGeom prst="line">
                <a:avLst/>
              </a:prstGeom>
              <a:ln w="9525" cap="flat" cmpd="sng">
                <a:solidFill>
                  <a:schemeClr val="tx1"/>
                </a:solidFill>
                <a:prstDash val="solid"/>
                <a:miter/>
                <a:headEnd type="none" w="med" len="med"/>
                <a:tailEnd type="none" w="med" len="med"/>
              </a:ln>
            </p:spPr>
          </p:sp>
          <p:sp>
            <p:nvSpPr>
              <p:cNvPr id="93245" name="Line 24"/>
              <p:cNvSpPr/>
              <p:nvPr/>
            </p:nvSpPr>
            <p:spPr>
              <a:xfrm>
                <a:off x="2976" y="3168"/>
                <a:ext cx="1104" cy="0"/>
              </a:xfrm>
              <a:prstGeom prst="line">
                <a:avLst/>
              </a:prstGeom>
              <a:ln w="9525" cap="flat" cmpd="sng">
                <a:solidFill>
                  <a:schemeClr val="tx1"/>
                </a:solidFill>
                <a:prstDash val="solid"/>
                <a:miter/>
                <a:headEnd type="none" w="med" len="med"/>
                <a:tailEnd type="none" w="med" len="med"/>
              </a:ln>
            </p:spPr>
          </p:sp>
          <p:sp>
            <p:nvSpPr>
              <p:cNvPr id="93246" name="Line 25"/>
              <p:cNvSpPr/>
              <p:nvPr/>
            </p:nvSpPr>
            <p:spPr>
              <a:xfrm>
                <a:off x="2976" y="3504"/>
                <a:ext cx="1104" cy="0"/>
              </a:xfrm>
              <a:prstGeom prst="line">
                <a:avLst/>
              </a:prstGeom>
              <a:ln w="9525" cap="flat" cmpd="sng">
                <a:solidFill>
                  <a:schemeClr val="tx1"/>
                </a:solidFill>
                <a:prstDash val="solid"/>
                <a:miter/>
                <a:headEnd type="none" w="med" len="med"/>
                <a:tailEnd type="none" w="med" len="med"/>
              </a:ln>
            </p:spPr>
          </p:sp>
        </p:grpSp>
        <p:grpSp>
          <p:nvGrpSpPr>
            <p:cNvPr id="93223" name="Group 26"/>
            <p:cNvGrpSpPr/>
            <p:nvPr/>
          </p:nvGrpSpPr>
          <p:grpSpPr>
            <a:xfrm>
              <a:off x="3068" y="3298"/>
              <a:ext cx="2064" cy="288"/>
              <a:chOff x="2976" y="1440"/>
              <a:chExt cx="2064" cy="288"/>
            </a:xfrm>
          </p:grpSpPr>
          <p:sp>
            <p:nvSpPr>
              <p:cNvPr id="93239" name="Rectangle 27"/>
              <p:cNvSpPr/>
              <p:nvPr/>
            </p:nvSpPr>
            <p:spPr>
              <a:xfrm>
                <a:off x="2976" y="1440"/>
                <a:ext cx="2064" cy="28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93240" name="Line 28"/>
              <p:cNvSpPr/>
              <p:nvPr/>
            </p:nvSpPr>
            <p:spPr>
              <a:xfrm>
                <a:off x="3600" y="1440"/>
                <a:ext cx="0" cy="288"/>
              </a:xfrm>
              <a:prstGeom prst="line">
                <a:avLst/>
              </a:prstGeom>
              <a:ln w="9525" cap="flat" cmpd="sng">
                <a:solidFill>
                  <a:schemeClr val="tx1"/>
                </a:solidFill>
                <a:prstDash val="solid"/>
                <a:miter/>
                <a:headEnd type="none" w="med" len="med"/>
                <a:tailEnd type="none" w="med" len="med"/>
              </a:ln>
            </p:spPr>
          </p:sp>
        </p:grpSp>
        <p:sp>
          <p:nvSpPr>
            <p:cNvPr id="93224" name="Text Box 29"/>
            <p:cNvSpPr txBox="1"/>
            <p:nvPr/>
          </p:nvSpPr>
          <p:spPr>
            <a:xfrm>
              <a:off x="524" y="754"/>
              <a:ext cx="1248"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ea typeface="楷体_GB2312" pitchFamily="49" charset="-122"/>
                </a:rPr>
                <a:t>页表始址寄存器</a:t>
              </a:r>
              <a:endParaRPr lang="zh-CN" altLang="en-US" sz="2000" b="1" dirty="0">
                <a:solidFill>
                  <a:srgbClr val="000099"/>
                </a:solidFill>
                <a:ea typeface="楷体_GB2312" pitchFamily="49" charset="-122"/>
              </a:endParaRPr>
            </a:p>
          </p:txBody>
        </p:sp>
        <p:sp>
          <p:nvSpPr>
            <p:cNvPr id="93225" name="Text Box 30"/>
            <p:cNvSpPr txBox="1"/>
            <p:nvPr/>
          </p:nvSpPr>
          <p:spPr>
            <a:xfrm>
              <a:off x="3692" y="754"/>
              <a:ext cx="768"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ea typeface="楷体_GB2312" pitchFamily="49" charset="-122"/>
                </a:rPr>
                <a:t>分页机构</a:t>
              </a:r>
              <a:endParaRPr lang="zh-CN" altLang="en-US" sz="2000" b="1" dirty="0">
                <a:solidFill>
                  <a:srgbClr val="000099"/>
                </a:solidFill>
                <a:ea typeface="楷体_GB2312" pitchFamily="49" charset="-122"/>
              </a:endParaRPr>
            </a:p>
          </p:txBody>
        </p:sp>
        <p:sp>
          <p:nvSpPr>
            <p:cNvPr id="93226" name="Text Box 31"/>
            <p:cNvSpPr txBox="1"/>
            <p:nvPr/>
          </p:nvSpPr>
          <p:spPr>
            <a:xfrm>
              <a:off x="3164" y="1570"/>
              <a:ext cx="960"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ea typeface="楷体_GB2312" pitchFamily="49" charset="-122"/>
                </a:rPr>
                <a:t>联想寄存器</a:t>
              </a:r>
              <a:endParaRPr lang="zh-CN" altLang="en-US" sz="2000" b="1" dirty="0">
                <a:solidFill>
                  <a:srgbClr val="000099"/>
                </a:solidFill>
                <a:ea typeface="楷体_GB2312" pitchFamily="49" charset="-122"/>
              </a:endParaRPr>
            </a:p>
          </p:txBody>
        </p:sp>
        <p:sp>
          <p:nvSpPr>
            <p:cNvPr id="93227" name="Text Box 32"/>
            <p:cNvSpPr txBox="1"/>
            <p:nvPr/>
          </p:nvSpPr>
          <p:spPr>
            <a:xfrm>
              <a:off x="1196" y="1666"/>
              <a:ext cx="528"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ea typeface="楷体_GB2312" pitchFamily="49" charset="-122"/>
                </a:rPr>
                <a:t>块号</a:t>
              </a:r>
              <a:endParaRPr lang="zh-CN" altLang="en-US" sz="2000" b="1" dirty="0">
                <a:solidFill>
                  <a:srgbClr val="000099"/>
                </a:solidFill>
                <a:ea typeface="楷体_GB2312" pitchFamily="49" charset="-122"/>
              </a:endParaRPr>
            </a:p>
          </p:txBody>
        </p:sp>
        <p:sp>
          <p:nvSpPr>
            <p:cNvPr id="93228" name="Text Box 33"/>
            <p:cNvSpPr txBox="1"/>
            <p:nvPr/>
          </p:nvSpPr>
          <p:spPr>
            <a:xfrm>
              <a:off x="764" y="3298"/>
              <a:ext cx="1440"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  </a:t>
              </a:r>
              <a:r>
                <a:rPr lang="zh-CN" altLang="en-US" sz="2000" b="1" dirty="0">
                  <a:solidFill>
                    <a:srgbClr val="000099"/>
                  </a:solidFill>
                  <a:ea typeface="楷体_GB2312" pitchFamily="49" charset="-122"/>
                </a:rPr>
                <a:t>页表   </a:t>
              </a:r>
              <a:r>
                <a:rPr lang="en-US" altLang="zh-CN" sz="2000" b="1" dirty="0">
                  <a:solidFill>
                    <a:srgbClr val="000099"/>
                  </a:solidFill>
                  <a:ea typeface="楷体_GB2312" pitchFamily="49" charset="-122"/>
                </a:rPr>
                <a:t>(</a:t>
              </a:r>
              <a:r>
                <a:rPr lang="zh-CN" altLang="en-US" sz="2000" b="1" dirty="0">
                  <a:solidFill>
                    <a:srgbClr val="000099"/>
                  </a:solidFill>
                  <a:ea typeface="楷体_GB2312" pitchFamily="49" charset="-122"/>
                </a:rPr>
                <a:t>在主存中</a:t>
              </a:r>
              <a:r>
                <a:rPr lang="en-US" altLang="zh-CN" sz="2000" b="1" dirty="0">
                  <a:solidFill>
                    <a:srgbClr val="000099"/>
                  </a:solidFill>
                  <a:ea typeface="楷体_GB2312" pitchFamily="49" charset="-122"/>
                </a:rPr>
                <a:t>)</a:t>
              </a:r>
              <a:endParaRPr lang="en-US" altLang="zh-CN" sz="2000" b="1" dirty="0">
                <a:solidFill>
                  <a:srgbClr val="000099"/>
                </a:solidFill>
                <a:ea typeface="楷体_GB2312" pitchFamily="49" charset="-122"/>
              </a:endParaRPr>
            </a:p>
          </p:txBody>
        </p:sp>
        <p:sp>
          <p:nvSpPr>
            <p:cNvPr id="93229" name="Text Box 34"/>
            <p:cNvSpPr txBox="1"/>
            <p:nvPr/>
          </p:nvSpPr>
          <p:spPr>
            <a:xfrm>
              <a:off x="3596" y="3624"/>
              <a:ext cx="960"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ea typeface="楷体_GB2312" pitchFamily="49" charset="-122"/>
                </a:rPr>
                <a:t>物理地址</a:t>
              </a:r>
              <a:endParaRPr lang="zh-CN" altLang="en-US" sz="2000" b="1" dirty="0">
                <a:solidFill>
                  <a:srgbClr val="000099"/>
                </a:solidFill>
                <a:ea typeface="楷体_GB2312" pitchFamily="49" charset="-122"/>
              </a:endParaRPr>
            </a:p>
          </p:txBody>
        </p:sp>
        <p:sp>
          <p:nvSpPr>
            <p:cNvPr id="93230" name="Text Box 35"/>
            <p:cNvSpPr txBox="1"/>
            <p:nvPr/>
          </p:nvSpPr>
          <p:spPr>
            <a:xfrm>
              <a:off x="1004" y="1042"/>
              <a:ext cx="240"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a</a:t>
              </a:r>
              <a:endParaRPr lang="en-US" altLang="zh-CN" sz="2000" b="1" dirty="0">
                <a:solidFill>
                  <a:srgbClr val="000099"/>
                </a:solidFill>
                <a:ea typeface="楷体_GB2312" pitchFamily="49" charset="-122"/>
              </a:endParaRPr>
            </a:p>
          </p:txBody>
        </p:sp>
        <p:sp>
          <p:nvSpPr>
            <p:cNvPr id="93231" name="Text Box 36"/>
            <p:cNvSpPr txBox="1"/>
            <p:nvPr/>
          </p:nvSpPr>
          <p:spPr>
            <a:xfrm>
              <a:off x="3260" y="1042"/>
              <a:ext cx="240"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p</a:t>
              </a:r>
              <a:endParaRPr lang="en-US" altLang="zh-CN" sz="2000" b="1" dirty="0">
                <a:solidFill>
                  <a:srgbClr val="000099"/>
                </a:solidFill>
                <a:ea typeface="楷体_GB2312" pitchFamily="49" charset="-122"/>
              </a:endParaRPr>
            </a:p>
          </p:txBody>
        </p:sp>
        <p:sp>
          <p:nvSpPr>
            <p:cNvPr id="93232" name="Text Box 37"/>
            <p:cNvSpPr txBox="1"/>
            <p:nvPr/>
          </p:nvSpPr>
          <p:spPr>
            <a:xfrm>
              <a:off x="4268" y="1042"/>
              <a:ext cx="240"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d</a:t>
              </a:r>
              <a:endParaRPr lang="en-US" altLang="zh-CN" sz="2000" b="1" dirty="0">
                <a:solidFill>
                  <a:srgbClr val="000099"/>
                </a:solidFill>
                <a:ea typeface="楷体_GB2312" pitchFamily="49" charset="-122"/>
              </a:endParaRPr>
            </a:p>
          </p:txBody>
        </p:sp>
        <p:sp>
          <p:nvSpPr>
            <p:cNvPr id="93233" name="Text Box 38"/>
            <p:cNvSpPr txBox="1"/>
            <p:nvPr/>
          </p:nvSpPr>
          <p:spPr>
            <a:xfrm>
              <a:off x="3308" y="3346"/>
              <a:ext cx="240"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b</a:t>
              </a:r>
              <a:endParaRPr lang="en-US" altLang="zh-CN" sz="2000" b="1" dirty="0">
                <a:solidFill>
                  <a:srgbClr val="000099"/>
                </a:solidFill>
                <a:ea typeface="楷体_GB2312" pitchFamily="49" charset="-122"/>
              </a:endParaRPr>
            </a:p>
          </p:txBody>
        </p:sp>
        <p:sp>
          <p:nvSpPr>
            <p:cNvPr id="93234" name="Text Box 39"/>
            <p:cNvSpPr txBox="1"/>
            <p:nvPr/>
          </p:nvSpPr>
          <p:spPr>
            <a:xfrm>
              <a:off x="4220" y="3346"/>
              <a:ext cx="240"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d</a:t>
              </a:r>
              <a:endParaRPr lang="en-US" altLang="zh-CN" sz="2000" b="1" dirty="0">
                <a:solidFill>
                  <a:srgbClr val="000099"/>
                </a:solidFill>
                <a:ea typeface="楷体_GB2312" pitchFamily="49" charset="-122"/>
              </a:endParaRPr>
            </a:p>
          </p:txBody>
        </p:sp>
        <p:sp>
          <p:nvSpPr>
            <p:cNvPr id="93235" name="Text Box 40"/>
            <p:cNvSpPr txBox="1"/>
            <p:nvPr/>
          </p:nvSpPr>
          <p:spPr>
            <a:xfrm>
              <a:off x="1292" y="2482"/>
              <a:ext cx="240"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b</a:t>
              </a:r>
              <a:endParaRPr lang="en-US" altLang="zh-CN" sz="2000" b="1" dirty="0">
                <a:solidFill>
                  <a:srgbClr val="000099"/>
                </a:solidFill>
                <a:ea typeface="楷体_GB2312" pitchFamily="49" charset="-122"/>
              </a:endParaRPr>
            </a:p>
          </p:txBody>
        </p:sp>
        <p:sp>
          <p:nvSpPr>
            <p:cNvPr id="93236" name="Text Box 41"/>
            <p:cNvSpPr txBox="1"/>
            <p:nvPr/>
          </p:nvSpPr>
          <p:spPr>
            <a:xfrm>
              <a:off x="960" y="1824"/>
              <a:ext cx="96"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a</a:t>
              </a:r>
              <a:endParaRPr lang="en-US" altLang="zh-CN" sz="2000" b="1" dirty="0">
                <a:solidFill>
                  <a:srgbClr val="000099"/>
                </a:solidFill>
                <a:ea typeface="楷体_GB2312" pitchFamily="49" charset="-122"/>
              </a:endParaRPr>
            </a:p>
          </p:txBody>
        </p:sp>
        <p:sp>
          <p:nvSpPr>
            <p:cNvPr id="93237" name="Text Box 42"/>
            <p:cNvSpPr txBox="1"/>
            <p:nvPr/>
          </p:nvSpPr>
          <p:spPr>
            <a:xfrm>
              <a:off x="3212" y="2290"/>
              <a:ext cx="240"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p</a:t>
              </a:r>
              <a:endParaRPr lang="en-US" altLang="zh-CN" sz="2000" b="1" dirty="0">
                <a:solidFill>
                  <a:srgbClr val="000099"/>
                </a:solidFill>
                <a:ea typeface="楷体_GB2312" pitchFamily="49" charset="-122"/>
              </a:endParaRPr>
            </a:p>
          </p:txBody>
        </p:sp>
        <p:sp>
          <p:nvSpPr>
            <p:cNvPr id="93238" name="Text Box 43"/>
            <p:cNvSpPr txBox="1"/>
            <p:nvPr/>
          </p:nvSpPr>
          <p:spPr>
            <a:xfrm>
              <a:off x="3788" y="2290"/>
              <a:ext cx="240" cy="2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b</a:t>
              </a:r>
              <a:endParaRPr lang="en-US" altLang="zh-CN" sz="2000" b="1" dirty="0">
                <a:solidFill>
                  <a:srgbClr val="000099"/>
                </a:solidFill>
                <a:ea typeface="楷体_GB2312" pitchFamily="49" charset="-122"/>
              </a:endParaRPr>
            </a:p>
          </p:txBody>
        </p:sp>
      </p:grpSp>
      <p:grpSp>
        <p:nvGrpSpPr>
          <p:cNvPr id="660524" name="Group 44"/>
          <p:cNvGrpSpPr/>
          <p:nvPr/>
        </p:nvGrpSpPr>
        <p:grpSpPr>
          <a:xfrm>
            <a:off x="2755900" y="4114800"/>
            <a:ext cx="2425700" cy="1130300"/>
            <a:chOff x="1736" y="2592"/>
            <a:chExt cx="1528" cy="712"/>
          </a:xfrm>
        </p:grpSpPr>
        <p:sp>
          <p:nvSpPr>
            <p:cNvPr id="93215" name="Line 45"/>
            <p:cNvSpPr/>
            <p:nvPr/>
          </p:nvSpPr>
          <p:spPr>
            <a:xfrm flipV="1">
              <a:off x="1736" y="2592"/>
              <a:ext cx="384" cy="0"/>
            </a:xfrm>
            <a:prstGeom prst="line">
              <a:avLst/>
            </a:prstGeom>
            <a:ln w="22225" cap="flat" cmpd="sng">
              <a:solidFill>
                <a:srgbClr val="00FF00"/>
              </a:solidFill>
              <a:prstDash val="solid"/>
              <a:miter/>
              <a:headEnd type="none" w="med" len="med"/>
              <a:tailEnd type="none" w="med" len="med"/>
            </a:ln>
          </p:spPr>
        </p:sp>
        <p:sp>
          <p:nvSpPr>
            <p:cNvPr id="93216" name="Line 46"/>
            <p:cNvSpPr/>
            <p:nvPr/>
          </p:nvSpPr>
          <p:spPr>
            <a:xfrm>
              <a:off x="2112" y="2600"/>
              <a:ext cx="0" cy="528"/>
            </a:xfrm>
            <a:prstGeom prst="line">
              <a:avLst/>
            </a:prstGeom>
            <a:ln w="22225" cap="flat" cmpd="sng">
              <a:solidFill>
                <a:srgbClr val="00FF00"/>
              </a:solidFill>
              <a:prstDash val="solid"/>
              <a:miter/>
              <a:headEnd type="none" w="med" len="med"/>
              <a:tailEnd type="none" w="med" len="med"/>
            </a:ln>
          </p:spPr>
        </p:sp>
        <p:sp>
          <p:nvSpPr>
            <p:cNvPr id="93217" name="Line 47"/>
            <p:cNvSpPr/>
            <p:nvPr/>
          </p:nvSpPr>
          <p:spPr>
            <a:xfrm flipV="1">
              <a:off x="2112" y="3120"/>
              <a:ext cx="1152" cy="0"/>
            </a:xfrm>
            <a:prstGeom prst="line">
              <a:avLst/>
            </a:prstGeom>
            <a:ln w="22225" cap="flat" cmpd="sng">
              <a:solidFill>
                <a:srgbClr val="00FF00"/>
              </a:solidFill>
              <a:prstDash val="solid"/>
              <a:miter/>
              <a:headEnd type="none" w="med" len="med"/>
              <a:tailEnd type="none" w="med" len="med"/>
            </a:ln>
          </p:spPr>
        </p:sp>
        <p:sp>
          <p:nvSpPr>
            <p:cNvPr id="93218" name="Line 48"/>
            <p:cNvSpPr/>
            <p:nvPr/>
          </p:nvSpPr>
          <p:spPr>
            <a:xfrm>
              <a:off x="3264" y="3112"/>
              <a:ext cx="0" cy="192"/>
            </a:xfrm>
            <a:prstGeom prst="line">
              <a:avLst/>
            </a:prstGeom>
            <a:ln w="22225" cap="flat" cmpd="sng">
              <a:solidFill>
                <a:srgbClr val="00FF00"/>
              </a:solidFill>
              <a:prstDash val="solid"/>
              <a:miter/>
              <a:headEnd type="none" w="med" len="med"/>
              <a:tailEnd type="stealth" w="med" len="lg"/>
            </a:ln>
          </p:spPr>
        </p:sp>
      </p:grpSp>
      <p:grpSp>
        <p:nvGrpSpPr>
          <p:cNvPr id="660529" name="Group 49"/>
          <p:cNvGrpSpPr/>
          <p:nvPr/>
        </p:nvGrpSpPr>
        <p:grpSpPr>
          <a:xfrm>
            <a:off x="3898900" y="1803400"/>
            <a:ext cx="990600" cy="2782888"/>
            <a:chOff x="2448" y="1152"/>
            <a:chExt cx="624" cy="1753"/>
          </a:xfrm>
        </p:grpSpPr>
        <p:sp>
          <p:nvSpPr>
            <p:cNvPr id="93207" name="Line 50"/>
            <p:cNvSpPr/>
            <p:nvPr/>
          </p:nvSpPr>
          <p:spPr>
            <a:xfrm>
              <a:off x="2636" y="1152"/>
              <a:ext cx="432" cy="0"/>
            </a:xfrm>
            <a:prstGeom prst="line">
              <a:avLst/>
            </a:prstGeom>
            <a:ln w="25400" cap="flat" cmpd="sng">
              <a:solidFill>
                <a:srgbClr val="FF0000"/>
              </a:solidFill>
              <a:prstDash val="solid"/>
              <a:miter/>
              <a:headEnd type="none" w="med" len="med"/>
              <a:tailEnd type="none" w="med" len="med"/>
            </a:ln>
          </p:spPr>
        </p:sp>
        <p:sp>
          <p:nvSpPr>
            <p:cNvPr id="93208" name="Line 51"/>
            <p:cNvSpPr/>
            <p:nvPr/>
          </p:nvSpPr>
          <p:spPr>
            <a:xfrm>
              <a:off x="2636" y="1152"/>
              <a:ext cx="0" cy="1680"/>
            </a:xfrm>
            <a:prstGeom prst="line">
              <a:avLst/>
            </a:prstGeom>
            <a:ln w="25400" cap="flat" cmpd="sng">
              <a:solidFill>
                <a:srgbClr val="FF0000"/>
              </a:solidFill>
              <a:prstDash val="solid"/>
              <a:miter/>
              <a:headEnd type="none" w="med" len="med"/>
              <a:tailEnd type="none" w="med" len="med"/>
            </a:ln>
          </p:spPr>
        </p:sp>
        <p:sp>
          <p:nvSpPr>
            <p:cNvPr id="93209" name="Line 52"/>
            <p:cNvSpPr/>
            <p:nvPr/>
          </p:nvSpPr>
          <p:spPr>
            <a:xfrm>
              <a:off x="2636" y="2832"/>
              <a:ext cx="432" cy="0"/>
            </a:xfrm>
            <a:prstGeom prst="line">
              <a:avLst/>
            </a:prstGeom>
            <a:ln w="22225" cap="flat" cmpd="sng">
              <a:solidFill>
                <a:srgbClr val="FF0000"/>
              </a:solidFill>
              <a:prstDash val="solid"/>
              <a:miter/>
              <a:headEnd type="none" w="med" len="med"/>
              <a:tailEnd type="stealth" w="med" len="lg"/>
            </a:ln>
          </p:spPr>
        </p:sp>
        <p:sp>
          <p:nvSpPr>
            <p:cNvPr id="93210" name="Line 53"/>
            <p:cNvSpPr/>
            <p:nvPr/>
          </p:nvSpPr>
          <p:spPr>
            <a:xfrm>
              <a:off x="2636" y="2496"/>
              <a:ext cx="432" cy="0"/>
            </a:xfrm>
            <a:prstGeom prst="line">
              <a:avLst/>
            </a:prstGeom>
            <a:ln w="22225" cap="flat" cmpd="sng">
              <a:solidFill>
                <a:srgbClr val="FF0000"/>
              </a:solidFill>
              <a:prstDash val="solid"/>
              <a:miter/>
              <a:headEnd type="none" w="med" len="med"/>
              <a:tailEnd type="stealth" w="med" len="lg"/>
            </a:ln>
          </p:spPr>
        </p:sp>
        <p:sp>
          <p:nvSpPr>
            <p:cNvPr id="93211" name="Line 54"/>
            <p:cNvSpPr/>
            <p:nvPr/>
          </p:nvSpPr>
          <p:spPr>
            <a:xfrm>
              <a:off x="2636" y="2304"/>
              <a:ext cx="432" cy="0"/>
            </a:xfrm>
            <a:prstGeom prst="line">
              <a:avLst/>
            </a:prstGeom>
            <a:ln w="22225" cap="flat" cmpd="sng">
              <a:solidFill>
                <a:srgbClr val="FF0000"/>
              </a:solidFill>
              <a:prstDash val="solid"/>
              <a:miter/>
              <a:headEnd type="none" w="med" len="med"/>
              <a:tailEnd type="stealth" w="med" len="lg"/>
            </a:ln>
          </p:spPr>
        </p:sp>
        <p:sp>
          <p:nvSpPr>
            <p:cNvPr id="93212" name="Line 55"/>
            <p:cNvSpPr/>
            <p:nvPr/>
          </p:nvSpPr>
          <p:spPr>
            <a:xfrm>
              <a:off x="2636" y="2016"/>
              <a:ext cx="432" cy="0"/>
            </a:xfrm>
            <a:prstGeom prst="line">
              <a:avLst/>
            </a:prstGeom>
            <a:ln w="22225" cap="flat" cmpd="sng">
              <a:solidFill>
                <a:srgbClr val="FF0000"/>
              </a:solidFill>
              <a:prstDash val="solid"/>
              <a:miter/>
              <a:headEnd type="none" w="med" len="med"/>
              <a:tailEnd type="stealth" w="med" len="lg"/>
            </a:ln>
          </p:spPr>
        </p:sp>
        <p:sp>
          <p:nvSpPr>
            <p:cNvPr id="93213" name="Line 56"/>
            <p:cNvSpPr/>
            <p:nvPr/>
          </p:nvSpPr>
          <p:spPr>
            <a:xfrm>
              <a:off x="2640" y="1870"/>
              <a:ext cx="432" cy="0"/>
            </a:xfrm>
            <a:prstGeom prst="line">
              <a:avLst/>
            </a:prstGeom>
            <a:ln w="22225" cap="flat" cmpd="sng">
              <a:solidFill>
                <a:srgbClr val="FF0000"/>
              </a:solidFill>
              <a:prstDash val="solid"/>
              <a:miter/>
              <a:headEnd type="none" w="med" len="med"/>
              <a:tailEnd type="stealth" w="med" len="lg"/>
            </a:ln>
          </p:spPr>
        </p:sp>
        <p:sp>
          <p:nvSpPr>
            <p:cNvPr id="93214" name="Text Box 57"/>
            <p:cNvSpPr txBox="1"/>
            <p:nvPr/>
          </p:nvSpPr>
          <p:spPr>
            <a:xfrm>
              <a:off x="2448" y="1694"/>
              <a:ext cx="148" cy="1211"/>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FF0000"/>
                  </a:solidFill>
                  <a:ea typeface="楷体_GB2312" pitchFamily="49" charset="-122"/>
                </a:rPr>
                <a:t>首先选择这条路</a:t>
              </a:r>
              <a:endParaRPr lang="zh-CN" altLang="en-US" sz="1800" b="1" dirty="0">
                <a:solidFill>
                  <a:srgbClr val="FF0000"/>
                </a:solidFill>
                <a:ea typeface="楷体_GB2312" pitchFamily="49" charset="-122"/>
              </a:endParaRPr>
            </a:p>
          </p:txBody>
        </p:sp>
      </p:grpSp>
      <p:grpSp>
        <p:nvGrpSpPr>
          <p:cNvPr id="660538" name="Group 58"/>
          <p:cNvGrpSpPr/>
          <p:nvPr/>
        </p:nvGrpSpPr>
        <p:grpSpPr>
          <a:xfrm>
            <a:off x="736600" y="1752600"/>
            <a:ext cx="4140200" cy="2222500"/>
            <a:chOff x="464" y="1104"/>
            <a:chExt cx="2608" cy="1400"/>
          </a:xfrm>
        </p:grpSpPr>
        <p:grpSp>
          <p:nvGrpSpPr>
            <p:cNvPr id="93195" name="Group 59"/>
            <p:cNvGrpSpPr/>
            <p:nvPr/>
          </p:nvGrpSpPr>
          <p:grpSpPr>
            <a:xfrm>
              <a:off x="464" y="1104"/>
              <a:ext cx="2608" cy="1400"/>
              <a:chOff x="464" y="1104"/>
              <a:chExt cx="2608" cy="1400"/>
            </a:xfrm>
          </p:grpSpPr>
          <p:sp>
            <p:nvSpPr>
              <p:cNvPr id="93197" name="Text Box 60"/>
              <p:cNvSpPr txBox="1"/>
              <p:nvPr/>
            </p:nvSpPr>
            <p:spPr>
              <a:xfrm>
                <a:off x="720" y="2256"/>
                <a:ext cx="340"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a+p</a:t>
                </a:r>
                <a:endParaRPr lang="en-US" altLang="zh-CN" sz="2000" b="1" dirty="0">
                  <a:solidFill>
                    <a:srgbClr val="000099"/>
                  </a:solidFill>
                  <a:ea typeface="楷体_GB2312" pitchFamily="49" charset="-122"/>
                </a:endParaRPr>
              </a:p>
            </p:txBody>
          </p:sp>
          <p:sp>
            <p:nvSpPr>
              <p:cNvPr id="93198" name="Oval 61"/>
              <p:cNvSpPr/>
              <p:nvPr/>
            </p:nvSpPr>
            <p:spPr>
              <a:xfrm>
                <a:off x="464" y="1528"/>
                <a:ext cx="218" cy="215"/>
              </a:xfrm>
              <a:prstGeom prst="ellipse">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93199" name="Line 62"/>
              <p:cNvSpPr/>
              <p:nvPr/>
            </p:nvSpPr>
            <p:spPr>
              <a:xfrm flipH="1">
                <a:off x="688" y="1632"/>
                <a:ext cx="1968" cy="2"/>
              </a:xfrm>
              <a:prstGeom prst="line">
                <a:avLst/>
              </a:prstGeom>
              <a:ln w="25400" cap="flat" cmpd="sng">
                <a:solidFill>
                  <a:srgbClr val="00FF00"/>
                </a:solidFill>
                <a:prstDash val="solid"/>
                <a:miter/>
                <a:headEnd type="none" w="med" len="med"/>
                <a:tailEnd type="triangle" w="med" len="med"/>
              </a:ln>
            </p:spPr>
          </p:sp>
          <p:sp>
            <p:nvSpPr>
              <p:cNvPr id="93200" name="Line 63"/>
              <p:cNvSpPr/>
              <p:nvPr/>
            </p:nvSpPr>
            <p:spPr>
              <a:xfrm flipV="1">
                <a:off x="576" y="1104"/>
                <a:ext cx="240" cy="2"/>
              </a:xfrm>
              <a:prstGeom prst="line">
                <a:avLst/>
              </a:prstGeom>
              <a:ln w="22225" cap="flat" cmpd="sng">
                <a:solidFill>
                  <a:srgbClr val="00FF00"/>
                </a:solidFill>
                <a:prstDash val="solid"/>
                <a:miter/>
                <a:headEnd type="none" w="med" len="med"/>
                <a:tailEnd type="none" w="med" len="med"/>
              </a:ln>
            </p:spPr>
          </p:sp>
          <p:sp>
            <p:nvSpPr>
              <p:cNvPr id="93201" name="Line 64"/>
              <p:cNvSpPr/>
              <p:nvPr/>
            </p:nvSpPr>
            <p:spPr>
              <a:xfrm flipH="1">
                <a:off x="576" y="1105"/>
                <a:ext cx="4" cy="431"/>
              </a:xfrm>
              <a:prstGeom prst="line">
                <a:avLst/>
              </a:prstGeom>
              <a:ln w="22225" cap="flat" cmpd="sng">
                <a:solidFill>
                  <a:srgbClr val="00FF00"/>
                </a:solidFill>
                <a:prstDash val="solid"/>
                <a:miter/>
                <a:headEnd type="none" w="med" len="med"/>
                <a:tailEnd type="stealth" w="med" len="lg"/>
              </a:ln>
            </p:spPr>
          </p:sp>
          <p:sp>
            <p:nvSpPr>
              <p:cNvPr id="93202" name="Line 65"/>
              <p:cNvSpPr/>
              <p:nvPr/>
            </p:nvSpPr>
            <p:spPr>
              <a:xfrm>
                <a:off x="576" y="2496"/>
                <a:ext cx="528" cy="2"/>
              </a:xfrm>
              <a:prstGeom prst="line">
                <a:avLst/>
              </a:prstGeom>
              <a:ln w="22225" cap="flat" cmpd="sng">
                <a:solidFill>
                  <a:srgbClr val="00FF00"/>
                </a:solidFill>
                <a:prstDash val="solid"/>
                <a:miter/>
                <a:headEnd type="none" w="med" len="med"/>
                <a:tailEnd type="stealth" w="med" len="lg"/>
              </a:ln>
            </p:spPr>
          </p:sp>
          <p:sp>
            <p:nvSpPr>
              <p:cNvPr id="93203" name="Line 66"/>
              <p:cNvSpPr/>
              <p:nvPr/>
            </p:nvSpPr>
            <p:spPr>
              <a:xfrm flipH="1">
                <a:off x="576" y="1736"/>
                <a:ext cx="0" cy="768"/>
              </a:xfrm>
              <a:prstGeom prst="line">
                <a:avLst/>
              </a:prstGeom>
              <a:ln w="22225" cap="flat" cmpd="sng">
                <a:solidFill>
                  <a:srgbClr val="00FF00"/>
                </a:solidFill>
                <a:prstDash val="solid"/>
                <a:miter/>
                <a:headEnd type="none" w="med" len="med"/>
                <a:tailEnd type="none" w="med" len="med"/>
              </a:ln>
            </p:spPr>
          </p:sp>
          <p:sp>
            <p:nvSpPr>
              <p:cNvPr id="93204" name="Text Box 67"/>
              <p:cNvSpPr txBox="1"/>
              <p:nvPr/>
            </p:nvSpPr>
            <p:spPr>
              <a:xfrm>
                <a:off x="816" y="1440"/>
                <a:ext cx="1776" cy="173"/>
              </a:xfrm>
              <a:prstGeom prst="rect">
                <a:avLst/>
              </a:prstGeom>
              <a:noFill/>
              <a:ln w="9525">
                <a:noFill/>
              </a:ln>
            </p:spPr>
            <p:txBody>
              <a:bodyPr lIns="0" tIns="0" rIns="1800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9900CC"/>
                    </a:solidFill>
                    <a:ea typeface="楷体_GB2312" pitchFamily="49" charset="-122"/>
                  </a:rPr>
                  <a:t>仅在联想映像不匹配时进行</a:t>
                </a:r>
                <a:endParaRPr lang="zh-CN" altLang="en-US" sz="1800" b="1" dirty="0">
                  <a:solidFill>
                    <a:srgbClr val="9900CC"/>
                  </a:solidFill>
                  <a:ea typeface="楷体_GB2312" pitchFamily="49" charset="-122"/>
                </a:endParaRPr>
              </a:p>
            </p:txBody>
          </p:sp>
          <p:sp>
            <p:nvSpPr>
              <p:cNvPr id="93205" name="Line 68"/>
              <p:cNvSpPr/>
              <p:nvPr/>
            </p:nvSpPr>
            <p:spPr>
              <a:xfrm flipV="1">
                <a:off x="2640" y="1136"/>
                <a:ext cx="432" cy="2"/>
              </a:xfrm>
              <a:prstGeom prst="line">
                <a:avLst/>
              </a:prstGeom>
              <a:ln w="22225" cap="flat" cmpd="sng">
                <a:solidFill>
                  <a:srgbClr val="00FF00"/>
                </a:solidFill>
                <a:prstDash val="solid"/>
                <a:miter/>
                <a:headEnd type="none" w="med" len="med"/>
                <a:tailEnd type="none" w="med" len="med"/>
              </a:ln>
            </p:spPr>
          </p:sp>
          <p:sp>
            <p:nvSpPr>
              <p:cNvPr id="93206" name="Line 69"/>
              <p:cNvSpPr/>
              <p:nvPr/>
            </p:nvSpPr>
            <p:spPr>
              <a:xfrm>
                <a:off x="2648" y="1144"/>
                <a:ext cx="0" cy="480"/>
              </a:xfrm>
              <a:prstGeom prst="line">
                <a:avLst/>
              </a:prstGeom>
              <a:ln w="22225" cap="flat" cmpd="sng">
                <a:solidFill>
                  <a:srgbClr val="00FF00"/>
                </a:solidFill>
                <a:prstDash val="solid"/>
                <a:miter/>
                <a:headEnd type="none" w="med" len="med"/>
                <a:tailEnd type="none" w="med" len="med"/>
              </a:ln>
            </p:spPr>
          </p:sp>
        </p:grpSp>
        <p:sp>
          <p:nvSpPr>
            <p:cNvPr id="93196" name="Text Box 70"/>
            <p:cNvSpPr txBox="1"/>
            <p:nvPr/>
          </p:nvSpPr>
          <p:spPr>
            <a:xfrm>
              <a:off x="488" y="1520"/>
              <a:ext cx="14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ea typeface="楷体_GB2312" pitchFamily="49" charset="-122"/>
                </a:rPr>
                <a:t>＋</a:t>
              </a:r>
              <a:endParaRPr lang="zh-CN" altLang="en-US" sz="2000" b="1" dirty="0">
                <a:solidFill>
                  <a:srgbClr val="000099"/>
                </a:solidFill>
                <a:ea typeface="楷体_GB2312" pitchFamily="49" charset="-122"/>
              </a:endParaRPr>
            </a:p>
          </p:txBody>
        </p:sp>
      </p:grpSp>
      <p:sp>
        <p:nvSpPr>
          <p:cNvPr id="660552" name="Line 72"/>
          <p:cNvSpPr/>
          <p:nvPr/>
        </p:nvSpPr>
        <p:spPr>
          <a:xfrm>
            <a:off x="2716213" y="4025900"/>
            <a:ext cx="2203450" cy="9525"/>
          </a:xfrm>
          <a:prstGeom prst="line">
            <a:avLst/>
          </a:prstGeom>
          <a:ln w="31750" cap="flat" cmpd="sng">
            <a:solidFill>
              <a:srgbClr val="FF0000"/>
            </a:solidFill>
            <a:prstDash val="solid"/>
            <a:miter/>
            <a:headEnd type="none" w="med" len="med"/>
            <a:tailEnd type="stealth" w="med" len="lg"/>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660488"/>
                                        </p:tgtEl>
                                        <p:attrNameLst>
                                          <p:attrName>style.visibility</p:attrName>
                                        </p:attrNameLst>
                                      </p:cBhvr>
                                      <p:to>
                                        <p:strVal val="visible"/>
                                      </p:to>
                                    </p:set>
                                    <p:animEffect transition="in" filter="box(out)">
                                      <p:cBhvr>
                                        <p:cTn id="7" dur="500"/>
                                        <p:tgtEl>
                                          <p:spTgt spid="6604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60529"/>
                                        </p:tgtEl>
                                        <p:attrNameLst>
                                          <p:attrName>style.visibility</p:attrName>
                                        </p:attrNameLst>
                                      </p:cBhvr>
                                      <p:to>
                                        <p:strVal val="visible"/>
                                      </p:to>
                                    </p:set>
                                    <p:animEffect transition="in" filter="wipe(up)">
                                      <p:cBhvr>
                                        <p:cTn id="12" dur="500"/>
                                        <p:tgtEl>
                                          <p:spTgt spid="6605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60482"/>
                                        </p:tgtEl>
                                        <p:attrNameLst>
                                          <p:attrName>style.visibility</p:attrName>
                                        </p:attrNameLst>
                                      </p:cBhvr>
                                      <p:to>
                                        <p:strVal val="visible"/>
                                      </p:to>
                                    </p:set>
                                    <p:animEffect transition="in" filter="wipe(up)">
                                      <p:cBhvr>
                                        <p:cTn id="17" dur="500"/>
                                        <p:tgtEl>
                                          <p:spTgt spid="6604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60551"/>
                                        </p:tgtEl>
                                        <p:attrNameLst>
                                          <p:attrName>style.visibility</p:attrName>
                                        </p:attrNameLst>
                                      </p:cBhvr>
                                      <p:to>
                                        <p:strVal val="visible"/>
                                      </p:to>
                                    </p:set>
                                    <p:animEffect transition="in" filter="wipe(up)">
                                      <p:cBhvr>
                                        <p:cTn id="22" dur="500"/>
                                        <p:tgtEl>
                                          <p:spTgt spid="66055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60482"/>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660551"/>
                                        </p:tgtEl>
                                        <p:attrNameLst>
                                          <p:attrName>style.visibility</p:attrName>
                                        </p:attrNameLst>
                                      </p:cBhvr>
                                      <p:to>
                                        <p:strVal val="hidden"/>
                                      </p:to>
                                    </p:set>
                                  </p:childTnLst>
                                </p:cTn>
                              </p:par>
                            </p:childTnLst>
                          </p:cTn>
                        </p:par>
                        <p:par>
                          <p:cTn id="29" fill="hold">
                            <p:stCondLst>
                              <p:cond delay="0"/>
                            </p:stCondLst>
                            <p:childTnLst>
                              <p:par>
                                <p:cTn id="30" presetID="22" presetClass="entr" presetSubtype="1" fill="hold" nodeType="afterEffect">
                                  <p:stCondLst>
                                    <p:cond delay="2000"/>
                                  </p:stCondLst>
                                  <p:childTnLst>
                                    <p:set>
                                      <p:cBhvr>
                                        <p:cTn id="31" dur="1" fill="hold">
                                          <p:stCondLst>
                                            <p:cond delay="0"/>
                                          </p:stCondLst>
                                        </p:cTn>
                                        <p:tgtEl>
                                          <p:spTgt spid="660538"/>
                                        </p:tgtEl>
                                        <p:attrNameLst>
                                          <p:attrName>style.visibility</p:attrName>
                                        </p:attrNameLst>
                                      </p:cBhvr>
                                      <p:to>
                                        <p:strVal val="visible"/>
                                      </p:to>
                                    </p:set>
                                    <p:animEffect transition="in" filter="wipe(up)">
                                      <p:cBhvr>
                                        <p:cTn id="32" dur="5000"/>
                                        <p:tgtEl>
                                          <p:spTgt spid="66053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60524"/>
                                        </p:tgtEl>
                                        <p:attrNameLst>
                                          <p:attrName>style.visibility</p:attrName>
                                        </p:attrNameLst>
                                      </p:cBhvr>
                                      <p:to>
                                        <p:strVal val="visible"/>
                                      </p:to>
                                    </p:set>
                                    <p:animEffect transition="in" filter="wipe(left)">
                                      <p:cBhvr>
                                        <p:cTn id="37" dur="3000"/>
                                        <p:tgtEl>
                                          <p:spTgt spid="660524"/>
                                        </p:tgtEl>
                                      </p:cBhvr>
                                    </p:animEffect>
                                  </p:childTnLst>
                                </p:cTn>
                              </p:par>
                              <p:par>
                                <p:cTn id="38" presetID="22" presetClass="entr" presetSubtype="8" fill="hold" nodeType="withEffect">
                                  <p:stCondLst>
                                    <p:cond delay="2000"/>
                                  </p:stCondLst>
                                  <p:childTnLst>
                                    <p:set>
                                      <p:cBhvr>
                                        <p:cTn id="39" dur="1" fill="hold">
                                          <p:stCondLst>
                                            <p:cond delay="0"/>
                                          </p:stCondLst>
                                        </p:cTn>
                                        <p:tgtEl>
                                          <p:spTgt spid="660552"/>
                                        </p:tgtEl>
                                        <p:attrNameLst>
                                          <p:attrName>style.visibility</p:attrName>
                                        </p:attrNameLst>
                                      </p:cBhvr>
                                      <p:to>
                                        <p:strVal val="visible"/>
                                      </p:to>
                                    </p:set>
                                    <p:animEffect transition="in" filter="wipe(left)">
                                      <p:cBhvr>
                                        <p:cTn id="40" dur="3000"/>
                                        <p:tgtEl>
                                          <p:spTgt spid="66055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660487"/>
                                        </p:tgtEl>
                                        <p:attrNameLst>
                                          <p:attrName>style.visibility</p:attrName>
                                        </p:attrNameLst>
                                      </p:cBhvr>
                                      <p:to>
                                        <p:strVal val="visible"/>
                                      </p:to>
                                    </p:set>
                                    <p:animEffect transition="in" filter="wipe(up)">
                                      <p:cBhvr>
                                        <p:cTn id="45" dur="500"/>
                                        <p:tgtEl>
                                          <p:spTgt spid="660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488527" name="Text Box 1103"/>
          <p:cNvSpPr txBox="1"/>
          <p:nvPr/>
        </p:nvSpPr>
        <p:spPr>
          <a:xfrm>
            <a:off x="611188" y="908050"/>
            <a:ext cx="7345362" cy="579438"/>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eaLnBrk="1" hangingPunct="1">
              <a:spcBef>
                <a:spcPct val="50000"/>
              </a:spcBef>
              <a:buClrTx/>
              <a:buSzTx/>
              <a:buFontTx/>
              <a:buNone/>
            </a:pPr>
            <a:r>
              <a:rPr lang="zh-CN" altLang="en-US" dirty="0">
                <a:solidFill>
                  <a:srgbClr val="9900CC"/>
                </a:solidFill>
                <a:latin typeface="隶书" panose="02010509060101010101" pitchFamily="49" charset="-122"/>
                <a:ea typeface="隶书" panose="02010509060101010101" pitchFamily="49" charset="-122"/>
              </a:rPr>
              <a:t>（五）两级页表及多级页表结构</a:t>
            </a:r>
            <a:endParaRPr lang="zh-CN" altLang="en-US" dirty="0">
              <a:solidFill>
                <a:srgbClr val="9900CC"/>
              </a:solidFill>
              <a:latin typeface="隶书" panose="02010509060101010101" pitchFamily="49" charset="-122"/>
              <a:ea typeface="隶书" panose="02010509060101010101" pitchFamily="49" charset="-122"/>
            </a:endParaRPr>
          </a:p>
        </p:txBody>
      </p:sp>
      <p:sp>
        <p:nvSpPr>
          <p:cNvPr id="488543" name="Text Box 1119"/>
          <p:cNvSpPr txBox="1"/>
          <p:nvPr/>
        </p:nvSpPr>
        <p:spPr>
          <a:xfrm>
            <a:off x="611188" y="1557338"/>
            <a:ext cx="8137525" cy="45370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lnSpc>
                <a:spcPct val="130000"/>
              </a:lnSpc>
              <a:spcBef>
                <a:spcPct val="0"/>
              </a:spcBef>
              <a:buClrTx/>
              <a:buSzTx/>
              <a:buFontTx/>
              <a:buNone/>
            </a:pPr>
            <a:r>
              <a:rPr lang="en-US" altLang="zh-CN" sz="2400" dirty="0"/>
              <a:t>        </a:t>
            </a:r>
            <a:r>
              <a:rPr lang="zh-CN" altLang="en-US" sz="2800" b="1" dirty="0">
                <a:solidFill>
                  <a:srgbClr val="000066"/>
                </a:solidFill>
                <a:latin typeface="楷体_GB2312" pitchFamily="49" charset="-122"/>
                <a:ea typeface="楷体_GB2312" pitchFamily="49" charset="-122"/>
              </a:rPr>
              <a:t>现代的大多数计算机系统，都支持非常大的逻辑地址空间</a:t>
            </a:r>
            <a:r>
              <a:rPr lang="en-US" altLang="zh-CN" sz="2800" b="1" dirty="0">
                <a:solidFill>
                  <a:srgbClr val="000066"/>
                </a:solidFill>
                <a:latin typeface="楷体_GB2312" pitchFamily="49" charset="-122"/>
                <a:ea typeface="楷体_GB2312" pitchFamily="49" charset="-122"/>
              </a:rPr>
              <a:t>(2</a:t>
            </a:r>
            <a:r>
              <a:rPr lang="en-US" altLang="zh-CN" sz="2800" b="1" baseline="30000" dirty="0">
                <a:solidFill>
                  <a:srgbClr val="000066"/>
                </a:solidFill>
                <a:latin typeface="楷体_GB2312" pitchFamily="49" charset="-122"/>
                <a:ea typeface="楷体_GB2312" pitchFamily="49" charset="-122"/>
              </a:rPr>
              <a:t>32</a:t>
            </a:r>
            <a:r>
              <a:rPr lang="zh-CN" altLang="en-US" sz="2800" b="1" baseline="30000" dirty="0">
                <a:solidFill>
                  <a:srgbClr val="000066"/>
                </a:solidFill>
                <a:latin typeface="楷体_GB2312" pitchFamily="49" charset="-122"/>
                <a:ea typeface="楷体_GB2312" pitchFamily="49" charset="-122"/>
              </a:rPr>
              <a:t>～</a:t>
            </a:r>
            <a:r>
              <a:rPr lang="en-US" altLang="zh-CN" sz="2800" b="1" dirty="0">
                <a:solidFill>
                  <a:srgbClr val="000066"/>
                </a:solidFill>
                <a:latin typeface="楷体_GB2312" pitchFamily="49" charset="-122"/>
                <a:ea typeface="楷体_GB2312" pitchFamily="49" charset="-122"/>
              </a:rPr>
              <a:t>2</a:t>
            </a:r>
            <a:r>
              <a:rPr lang="en-US" altLang="zh-CN" sz="2800" b="1" baseline="30000" dirty="0">
                <a:solidFill>
                  <a:srgbClr val="000066"/>
                </a:solidFill>
                <a:latin typeface="楷体_GB2312" pitchFamily="49" charset="-122"/>
                <a:ea typeface="楷体_GB2312" pitchFamily="49" charset="-122"/>
              </a:rPr>
              <a:t>64</a:t>
            </a:r>
            <a:r>
              <a:rPr lang="en-US" altLang="zh-CN" sz="2800" b="1" dirty="0">
                <a:solidFill>
                  <a:srgbClr val="000066"/>
                </a:solidFill>
                <a:latin typeface="楷体_GB2312" pitchFamily="49" charset="-122"/>
                <a:ea typeface="楷体_GB2312" pitchFamily="49" charset="-122"/>
              </a:rPr>
              <a:t>)</a:t>
            </a:r>
            <a:r>
              <a:rPr lang="zh-CN" altLang="en-US" sz="2800" b="1" dirty="0">
                <a:solidFill>
                  <a:srgbClr val="000066"/>
                </a:solidFill>
                <a:latin typeface="楷体_GB2312" pitchFamily="49" charset="-122"/>
                <a:ea typeface="楷体_GB2312" pitchFamily="49" charset="-122"/>
              </a:rPr>
              <a:t>。在这样的环境下，页表就变得非常大，要占用相当大的内存空间。</a:t>
            </a:r>
            <a:endParaRPr lang="zh-CN" altLang="en-US" sz="2800" b="1" dirty="0">
              <a:solidFill>
                <a:srgbClr val="000066"/>
              </a:solidFill>
              <a:latin typeface="楷体_GB2312" pitchFamily="49" charset="-122"/>
              <a:ea typeface="楷体_GB2312" pitchFamily="49" charset="-122"/>
            </a:endParaRPr>
          </a:p>
          <a:p>
            <a:pPr marL="0" lvl="0" indent="0" algn="just" eaLnBrk="1" hangingPunct="1">
              <a:lnSpc>
                <a:spcPct val="130000"/>
              </a:lnSpc>
              <a:spcBef>
                <a:spcPct val="0"/>
              </a:spcBef>
              <a:buClrTx/>
              <a:buSzTx/>
              <a:buFontTx/>
              <a:buNone/>
            </a:pPr>
            <a:r>
              <a:rPr lang="zh-CN" altLang="en-US" sz="2800" b="1" dirty="0">
                <a:solidFill>
                  <a:srgbClr val="000066"/>
                </a:solidFill>
                <a:latin typeface="楷体_GB2312" pitchFamily="49" charset="-122"/>
                <a:ea typeface="楷体_GB2312" pitchFamily="49" charset="-122"/>
              </a:rPr>
              <a:t>    例如，对于一个具有</a:t>
            </a:r>
            <a:r>
              <a:rPr lang="en-US" altLang="zh-CN" sz="2800" b="1" dirty="0">
                <a:solidFill>
                  <a:srgbClr val="800000"/>
                </a:solidFill>
                <a:latin typeface="楷体_GB2312" pitchFamily="49" charset="-122"/>
                <a:ea typeface="楷体_GB2312" pitchFamily="49" charset="-122"/>
              </a:rPr>
              <a:t>32</a:t>
            </a:r>
            <a:r>
              <a:rPr lang="zh-CN" altLang="en-US" sz="2800" b="1" dirty="0">
                <a:solidFill>
                  <a:srgbClr val="000066"/>
                </a:solidFill>
                <a:latin typeface="楷体_GB2312" pitchFamily="49" charset="-122"/>
                <a:ea typeface="楷体_GB2312" pitchFamily="49" charset="-122"/>
              </a:rPr>
              <a:t>位</a:t>
            </a:r>
            <a:r>
              <a:rPr lang="zh-CN" altLang="en-US" sz="2800" b="1" dirty="0">
                <a:solidFill>
                  <a:srgbClr val="006600"/>
                </a:solidFill>
                <a:latin typeface="楷体_GB2312" pitchFamily="49" charset="-122"/>
                <a:ea typeface="楷体_GB2312" pitchFamily="49" charset="-122"/>
              </a:rPr>
              <a:t>逻辑地址空间</a:t>
            </a:r>
            <a:r>
              <a:rPr lang="zh-CN" altLang="en-US" sz="2800" b="1" dirty="0">
                <a:solidFill>
                  <a:srgbClr val="000066"/>
                </a:solidFill>
                <a:latin typeface="楷体_GB2312" pitchFamily="49" charset="-122"/>
                <a:ea typeface="楷体_GB2312" pitchFamily="49" charset="-122"/>
              </a:rPr>
              <a:t>的分页系统，规定</a:t>
            </a:r>
            <a:r>
              <a:rPr lang="zh-CN" altLang="en-US" sz="2800" b="1" dirty="0">
                <a:solidFill>
                  <a:srgbClr val="006600"/>
                </a:solidFill>
                <a:latin typeface="楷体_GB2312" pitchFamily="49" charset="-122"/>
                <a:ea typeface="楷体_GB2312" pitchFamily="49" charset="-122"/>
              </a:rPr>
              <a:t>页面大小</a:t>
            </a:r>
            <a:r>
              <a:rPr lang="zh-CN" altLang="en-US" sz="2800" b="1" dirty="0">
                <a:solidFill>
                  <a:srgbClr val="000066"/>
                </a:solidFill>
                <a:latin typeface="楷体_GB2312" pitchFamily="49" charset="-122"/>
                <a:ea typeface="楷体_GB2312" pitchFamily="49" charset="-122"/>
              </a:rPr>
              <a:t>为</a:t>
            </a:r>
            <a:r>
              <a:rPr lang="en-US" altLang="zh-CN" sz="2800" b="1" dirty="0">
                <a:solidFill>
                  <a:srgbClr val="800000"/>
                </a:solidFill>
                <a:latin typeface="楷体_GB2312" pitchFamily="49" charset="-122"/>
                <a:ea typeface="楷体_GB2312" pitchFamily="49" charset="-122"/>
              </a:rPr>
              <a:t>4KB</a:t>
            </a:r>
            <a:r>
              <a:rPr lang="zh-CN" altLang="en-US" sz="2800" b="1" dirty="0">
                <a:solidFill>
                  <a:srgbClr val="000066"/>
                </a:solidFill>
                <a:latin typeface="楷体_GB2312" pitchFamily="49" charset="-122"/>
                <a:ea typeface="楷体_GB2312" pitchFamily="49" charset="-122"/>
              </a:rPr>
              <a:t>即</a:t>
            </a:r>
            <a:r>
              <a:rPr lang="en-US" altLang="zh-CN" sz="2800" b="1" dirty="0">
                <a:solidFill>
                  <a:srgbClr val="800000"/>
                </a:solidFill>
                <a:latin typeface="楷体_GB2312" pitchFamily="49" charset="-122"/>
                <a:ea typeface="楷体_GB2312" pitchFamily="49" charset="-122"/>
              </a:rPr>
              <a:t>2</a:t>
            </a:r>
            <a:r>
              <a:rPr lang="en-US" altLang="zh-CN" sz="2800" b="1" baseline="30000" dirty="0">
                <a:solidFill>
                  <a:srgbClr val="800000"/>
                </a:solidFill>
                <a:latin typeface="楷体_GB2312" pitchFamily="49" charset="-122"/>
                <a:ea typeface="楷体_GB2312" pitchFamily="49" charset="-122"/>
              </a:rPr>
              <a:t>12</a:t>
            </a:r>
            <a:r>
              <a:rPr lang="en-US" altLang="zh-CN" sz="2800" b="1" dirty="0">
                <a:solidFill>
                  <a:srgbClr val="800000"/>
                </a:solidFill>
                <a:latin typeface="楷体_GB2312" pitchFamily="49" charset="-122"/>
                <a:ea typeface="楷体_GB2312" pitchFamily="49" charset="-122"/>
              </a:rPr>
              <a:t>B</a:t>
            </a:r>
            <a:r>
              <a:rPr lang="zh-CN" altLang="en-US" sz="2800" b="1" dirty="0">
                <a:solidFill>
                  <a:srgbClr val="000066"/>
                </a:solidFill>
                <a:latin typeface="楷体_GB2312" pitchFamily="49" charset="-122"/>
                <a:ea typeface="楷体_GB2312" pitchFamily="49" charset="-122"/>
              </a:rPr>
              <a:t>，则在每个进程页表中的</a:t>
            </a:r>
            <a:r>
              <a:rPr lang="zh-CN" altLang="en-US" sz="2800" b="1" dirty="0">
                <a:solidFill>
                  <a:srgbClr val="006600"/>
                </a:solidFill>
                <a:latin typeface="楷体_GB2312" pitchFamily="49" charset="-122"/>
                <a:ea typeface="楷体_GB2312" pitchFamily="49" charset="-122"/>
              </a:rPr>
              <a:t>页表项</a:t>
            </a:r>
            <a:r>
              <a:rPr lang="zh-CN" altLang="en-US" sz="2800" b="1" dirty="0">
                <a:solidFill>
                  <a:srgbClr val="000066"/>
                </a:solidFill>
                <a:latin typeface="楷体_GB2312" pitchFamily="49" charset="-122"/>
                <a:ea typeface="楷体_GB2312" pitchFamily="49" charset="-122"/>
              </a:rPr>
              <a:t>可达</a:t>
            </a:r>
            <a:r>
              <a:rPr lang="en-US" altLang="zh-CN" sz="2800" b="1" dirty="0">
                <a:solidFill>
                  <a:srgbClr val="800000"/>
                </a:solidFill>
                <a:latin typeface="楷体_GB2312" pitchFamily="49" charset="-122"/>
                <a:ea typeface="楷体_GB2312" pitchFamily="49" charset="-122"/>
              </a:rPr>
              <a:t>2</a:t>
            </a:r>
            <a:r>
              <a:rPr lang="en-US" altLang="zh-CN" sz="2800" b="1" baseline="30000" dirty="0">
                <a:solidFill>
                  <a:srgbClr val="800000"/>
                </a:solidFill>
                <a:latin typeface="楷体_GB2312" pitchFamily="49" charset="-122"/>
                <a:ea typeface="楷体_GB2312" pitchFamily="49" charset="-122"/>
              </a:rPr>
              <a:t>20</a:t>
            </a:r>
            <a:r>
              <a:rPr lang="zh-CN" altLang="en-US" sz="2800" b="1" dirty="0">
                <a:solidFill>
                  <a:srgbClr val="800000"/>
                </a:solidFill>
                <a:latin typeface="楷体_GB2312" pitchFamily="49" charset="-122"/>
                <a:ea typeface="楷体_GB2312" pitchFamily="49" charset="-122"/>
              </a:rPr>
              <a:t>个</a:t>
            </a:r>
            <a:r>
              <a:rPr lang="zh-CN" altLang="en-US" sz="2800" b="1" dirty="0">
                <a:solidFill>
                  <a:srgbClr val="000066"/>
                </a:solidFill>
                <a:latin typeface="楷体_GB2312" pitchFamily="49" charset="-122"/>
                <a:ea typeface="楷体_GB2312" pitchFamily="49" charset="-122"/>
              </a:rPr>
              <a:t>，</a:t>
            </a:r>
            <a:r>
              <a:rPr lang="en-US" altLang="zh-CN" sz="2800" b="1" dirty="0">
                <a:solidFill>
                  <a:srgbClr val="800000"/>
                </a:solidFill>
                <a:latin typeface="楷体_GB2312" pitchFamily="49" charset="-122"/>
                <a:ea typeface="楷体_GB2312" pitchFamily="49" charset="-122"/>
              </a:rPr>
              <a:t>1M</a:t>
            </a:r>
            <a:r>
              <a:rPr lang="zh-CN" altLang="en-US" sz="2800" b="1" dirty="0">
                <a:solidFill>
                  <a:srgbClr val="800000"/>
                </a:solidFill>
                <a:latin typeface="楷体_GB2312" pitchFamily="49" charset="-122"/>
                <a:ea typeface="楷体_GB2312" pitchFamily="49" charset="-122"/>
              </a:rPr>
              <a:t>个</a:t>
            </a:r>
            <a:r>
              <a:rPr lang="zh-CN" altLang="en-US" sz="2800" b="1" dirty="0">
                <a:solidFill>
                  <a:srgbClr val="000066"/>
                </a:solidFill>
                <a:latin typeface="楷体_GB2312" pitchFamily="49" charset="-122"/>
                <a:ea typeface="楷体_GB2312" pitchFamily="49" charset="-122"/>
              </a:rPr>
              <a:t>之多。又因为</a:t>
            </a:r>
            <a:r>
              <a:rPr lang="zh-CN" altLang="en-US" sz="2800" b="1" dirty="0">
                <a:solidFill>
                  <a:srgbClr val="006600"/>
                </a:solidFill>
                <a:latin typeface="楷体_GB2312" pitchFamily="49" charset="-122"/>
                <a:ea typeface="楷体_GB2312" pitchFamily="49" charset="-122"/>
              </a:rPr>
              <a:t>每个页表项</a:t>
            </a:r>
            <a:r>
              <a:rPr lang="zh-CN" altLang="en-US" sz="2800" b="1" dirty="0">
                <a:solidFill>
                  <a:srgbClr val="000066"/>
                </a:solidFill>
                <a:latin typeface="楷体_GB2312" pitchFamily="49" charset="-122"/>
                <a:ea typeface="楷体_GB2312" pitchFamily="49" charset="-122"/>
              </a:rPr>
              <a:t>占用</a:t>
            </a:r>
            <a:r>
              <a:rPr lang="en-US" altLang="zh-CN" sz="2800" b="1" dirty="0">
                <a:solidFill>
                  <a:srgbClr val="800000"/>
                </a:solidFill>
                <a:latin typeface="楷体_GB2312" pitchFamily="49" charset="-122"/>
                <a:ea typeface="楷体_GB2312" pitchFamily="49" charset="-122"/>
              </a:rPr>
              <a:t>4</a:t>
            </a:r>
            <a:r>
              <a:rPr lang="zh-CN" altLang="en-US" sz="2800" b="1" dirty="0">
                <a:solidFill>
                  <a:srgbClr val="800000"/>
                </a:solidFill>
                <a:latin typeface="楷体_GB2312" pitchFamily="49" charset="-122"/>
                <a:ea typeface="楷体_GB2312" pitchFamily="49" charset="-122"/>
              </a:rPr>
              <a:t>个字节</a:t>
            </a:r>
            <a:r>
              <a:rPr lang="zh-CN" altLang="en-US" sz="2800" b="1" dirty="0">
                <a:solidFill>
                  <a:srgbClr val="000066"/>
                </a:solidFill>
                <a:latin typeface="楷体_GB2312" pitchFamily="49" charset="-122"/>
                <a:ea typeface="楷体_GB2312" pitchFamily="49" charset="-122"/>
              </a:rPr>
              <a:t>， 故</a:t>
            </a:r>
            <a:r>
              <a:rPr lang="zh-CN" altLang="en-US" sz="2800" b="1" dirty="0">
                <a:solidFill>
                  <a:srgbClr val="006600"/>
                </a:solidFill>
                <a:latin typeface="楷体_GB2312" pitchFamily="49" charset="-122"/>
                <a:ea typeface="楷体_GB2312" pitchFamily="49" charset="-122"/>
              </a:rPr>
              <a:t>每个进程</a:t>
            </a:r>
            <a:r>
              <a:rPr lang="zh-CN" altLang="en-US" sz="2800" b="1" dirty="0">
                <a:solidFill>
                  <a:srgbClr val="000066"/>
                </a:solidFill>
                <a:latin typeface="楷体_GB2312" pitchFamily="49" charset="-122"/>
                <a:ea typeface="楷体_GB2312" pitchFamily="49" charset="-122"/>
              </a:rPr>
              <a:t>仅仅其页表就要占用</a:t>
            </a:r>
            <a:r>
              <a:rPr lang="en-US" altLang="zh-CN" sz="2800" b="1" dirty="0">
                <a:solidFill>
                  <a:srgbClr val="800000"/>
                </a:solidFill>
                <a:latin typeface="楷体_GB2312" pitchFamily="49" charset="-122"/>
                <a:ea typeface="楷体_GB2312" pitchFamily="49" charset="-122"/>
              </a:rPr>
              <a:t>4MB</a:t>
            </a:r>
            <a:r>
              <a:rPr lang="zh-CN" altLang="en-US" sz="2800" b="1" dirty="0">
                <a:solidFill>
                  <a:srgbClr val="000066"/>
                </a:solidFill>
                <a:latin typeface="楷体_GB2312" pitchFamily="49" charset="-122"/>
                <a:ea typeface="楷体_GB2312" pitchFamily="49" charset="-122"/>
              </a:rPr>
              <a:t>的内存空间，而且还要求是连续的。</a:t>
            </a:r>
            <a:endParaRPr lang="zh-CN" altLang="en-US" sz="2800" b="1" dirty="0">
              <a:solidFill>
                <a:srgbClr val="000066"/>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8527"/>
                                        </p:tgtEl>
                                        <p:attrNameLst>
                                          <p:attrName>style.visibility</p:attrName>
                                        </p:attrNameLst>
                                      </p:cBhvr>
                                      <p:to>
                                        <p:strVal val="visible"/>
                                      </p:to>
                                    </p:set>
                                    <p:anim calcmode="lin" valueType="num">
                                      <p:cBhvr additive="base">
                                        <p:cTn id="7" dur="500" fill="hold"/>
                                        <p:tgtEl>
                                          <p:spTgt spid="488527"/>
                                        </p:tgtEl>
                                        <p:attrNameLst>
                                          <p:attrName>ppt_x</p:attrName>
                                        </p:attrNameLst>
                                      </p:cBhvr>
                                      <p:tavLst>
                                        <p:tav tm="0">
                                          <p:val>
                                            <p:strVal val="0-#ppt_w/2"/>
                                          </p:val>
                                        </p:tav>
                                        <p:tav tm="100000">
                                          <p:val>
                                            <p:strVal val="#ppt_x"/>
                                          </p:val>
                                        </p:tav>
                                      </p:tavLst>
                                    </p:anim>
                                    <p:anim calcmode="lin" valueType="num">
                                      <p:cBhvr additive="base">
                                        <p:cTn id="8" dur="500" fill="hold"/>
                                        <p:tgtEl>
                                          <p:spTgt spid="4885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488543"/>
                                        </p:tgtEl>
                                        <p:attrNameLst>
                                          <p:attrName>style.visibility</p:attrName>
                                        </p:attrNameLst>
                                      </p:cBhvr>
                                      <p:to>
                                        <p:strVal val="visible"/>
                                      </p:to>
                                    </p:set>
                                    <p:animEffect transition="in" filter="wipe(up)">
                                      <p:cBhvr>
                                        <p:cTn id="13" dur="500"/>
                                        <p:tgtEl>
                                          <p:spTgt spid="488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527" grpId="0" animBg="1"/>
      <p:bldP spid="488543"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73794" name="Text Box 2"/>
          <p:cNvSpPr txBox="1"/>
          <p:nvPr/>
        </p:nvSpPr>
        <p:spPr>
          <a:xfrm>
            <a:off x="611188" y="974725"/>
            <a:ext cx="7345362" cy="519113"/>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eaLnBrk="1" hangingPunct="1">
              <a:spcBef>
                <a:spcPct val="50000"/>
              </a:spcBef>
              <a:buClrTx/>
              <a:buSzTx/>
              <a:buFontTx/>
              <a:buNone/>
            </a:pPr>
            <a:r>
              <a:rPr lang="en-US" altLang="zh-CN" sz="2800" b="1" dirty="0">
                <a:solidFill>
                  <a:srgbClr val="006600"/>
                </a:solidFill>
                <a:latin typeface="楷体_GB2312" pitchFamily="49" charset="-122"/>
                <a:ea typeface="楷体_GB2312" pitchFamily="49" charset="-122"/>
              </a:rPr>
              <a:t> 1</a:t>
            </a:r>
            <a:r>
              <a:rPr lang="zh-CN" altLang="en-US" sz="2800" b="1" dirty="0">
                <a:solidFill>
                  <a:srgbClr val="006600"/>
                </a:solidFill>
                <a:latin typeface="楷体_GB2312" pitchFamily="49" charset="-122"/>
                <a:ea typeface="楷体_GB2312" pitchFamily="49" charset="-122"/>
              </a:rPr>
              <a:t>、两级页表结构</a:t>
            </a:r>
            <a:endParaRPr lang="zh-CN" altLang="en-US" sz="2800" b="1" dirty="0">
              <a:solidFill>
                <a:srgbClr val="006600"/>
              </a:solidFill>
              <a:latin typeface="楷体_GB2312" pitchFamily="49" charset="-122"/>
              <a:ea typeface="楷体_GB2312" pitchFamily="49" charset="-122"/>
            </a:endParaRPr>
          </a:p>
        </p:txBody>
      </p:sp>
      <p:sp>
        <p:nvSpPr>
          <p:cNvPr id="673795" name="Text Box 3"/>
          <p:cNvSpPr txBox="1"/>
          <p:nvPr/>
        </p:nvSpPr>
        <p:spPr>
          <a:xfrm>
            <a:off x="827088" y="1700213"/>
            <a:ext cx="7993062" cy="519112"/>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eaLnBrk="1" hangingPunct="1">
              <a:spcBef>
                <a:spcPct val="50000"/>
              </a:spcBef>
              <a:buClrTx/>
              <a:buSzTx/>
              <a:buFontTx/>
              <a:buNone/>
            </a:pPr>
            <a:r>
              <a:rPr lang="zh-CN" altLang="en-US" sz="2800" b="1" dirty="0">
                <a:solidFill>
                  <a:srgbClr val="000099"/>
                </a:solidFill>
                <a:latin typeface="楷体_GB2312" pitchFamily="49" charset="-122"/>
                <a:ea typeface="楷体_GB2312" pitchFamily="49" charset="-122"/>
              </a:rPr>
              <a:t>逻辑地址为</a:t>
            </a:r>
            <a:r>
              <a:rPr lang="en-US" altLang="zh-CN" sz="2800" b="1" dirty="0">
                <a:solidFill>
                  <a:srgbClr val="000099"/>
                </a:solidFill>
                <a:latin typeface="楷体_GB2312" pitchFamily="49" charset="-122"/>
                <a:ea typeface="楷体_GB2312" pitchFamily="49" charset="-122"/>
              </a:rPr>
              <a:t>32</a:t>
            </a:r>
            <a:r>
              <a:rPr lang="zh-CN" altLang="en-US" sz="2800" b="1" dirty="0">
                <a:solidFill>
                  <a:srgbClr val="000099"/>
                </a:solidFill>
                <a:latin typeface="楷体_GB2312" pitchFamily="49" charset="-122"/>
                <a:ea typeface="楷体_GB2312" pitchFamily="49" charset="-122"/>
              </a:rPr>
              <a:t>位时</a:t>
            </a:r>
            <a:r>
              <a:rPr lang="en-US" altLang="zh-CN" sz="2800" b="1" dirty="0">
                <a:solidFill>
                  <a:srgbClr val="000099"/>
                </a:solidFill>
                <a:latin typeface="楷体_GB2312" pitchFamily="49" charset="-122"/>
                <a:ea typeface="楷体_GB2312" pitchFamily="49" charset="-122"/>
              </a:rPr>
              <a:t>,</a:t>
            </a:r>
            <a:r>
              <a:rPr lang="zh-CN" altLang="en-US" sz="2800" b="1" dirty="0">
                <a:solidFill>
                  <a:srgbClr val="000099"/>
                </a:solidFill>
                <a:ea typeface="楷体_GB2312" pitchFamily="49" charset="-122"/>
              </a:rPr>
              <a:t>逻辑地址空间为</a:t>
            </a:r>
            <a:r>
              <a:rPr lang="en-US" altLang="zh-CN" sz="2800" b="1" dirty="0">
                <a:solidFill>
                  <a:srgbClr val="000099"/>
                </a:solidFill>
                <a:ea typeface="楷体_GB2312" pitchFamily="49" charset="-122"/>
              </a:rPr>
              <a:t>4GB(</a:t>
            </a:r>
            <a:r>
              <a:rPr lang="zh-CN" altLang="en-US" sz="2800" b="1" dirty="0">
                <a:solidFill>
                  <a:srgbClr val="000099"/>
                </a:solidFill>
                <a:ea typeface="楷体_GB2312" pitchFamily="49" charset="-122"/>
              </a:rPr>
              <a:t>即</a:t>
            </a:r>
            <a:r>
              <a:rPr lang="en-US" altLang="zh-CN" sz="2800" b="1" dirty="0">
                <a:solidFill>
                  <a:srgbClr val="000099"/>
                </a:solidFill>
                <a:ea typeface="楷体_GB2312" pitchFamily="49" charset="-122"/>
              </a:rPr>
              <a:t>2</a:t>
            </a:r>
            <a:r>
              <a:rPr lang="en-US" altLang="zh-CN" sz="2800" b="1" baseline="30000" dirty="0">
                <a:solidFill>
                  <a:srgbClr val="000099"/>
                </a:solidFill>
                <a:ea typeface="楷体_GB2312" pitchFamily="49" charset="-122"/>
              </a:rPr>
              <a:t>32</a:t>
            </a:r>
            <a:r>
              <a:rPr lang="en-US" altLang="zh-CN" sz="2800" b="1" dirty="0">
                <a:solidFill>
                  <a:srgbClr val="000099"/>
                </a:solidFill>
                <a:ea typeface="楷体_GB2312" pitchFamily="49" charset="-122"/>
              </a:rPr>
              <a:t>B)</a:t>
            </a:r>
            <a:endParaRPr lang="en-US" altLang="zh-CN" sz="2800" b="1" dirty="0">
              <a:solidFill>
                <a:srgbClr val="000099"/>
              </a:solidFill>
              <a:ea typeface="楷体_GB2312" pitchFamily="49" charset="-122"/>
            </a:endParaRPr>
          </a:p>
        </p:txBody>
      </p:sp>
      <p:sp>
        <p:nvSpPr>
          <p:cNvPr id="673796" name="Text Box 4"/>
          <p:cNvSpPr txBox="1"/>
          <p:nvPr/>
        </p:nvSpPr>
        <p:spPr>
          <a:xfrm>
            <a:off x="755650" y="2492375"/>
            <a:ext cx="6049963" cy="1160463"/>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eaLnBrk="1" hangingPunct="1">
              <a:spcBef>
                <a:spcPct val="50000"/>
              </a:spcBef>
              <a:buClrTx/>
              <a:buSzTx/>
              <a:buFontTx/>
              <a:buNone/>
            </a:pPr>
            <a:r>
              <a:rPr lang="zh-CN" altLang="en-US" sz="2800" b="1" dirty="0">
                <a:solidFill>
                  <a:srgbClr val="000099"/>
                </a:solidFill>
                <a:latin typeface="楷体_GB2312" pitchFamily="49" charset="-122"/>
                <a:ea typeface="楷体_GB2312" pitchFamily="49" charset="-122"/>
              </a:rPr>
              <a:t>设</a:t>
            </a:r>
            <a:r>
              <a:rPr lang="en-US" altLang="zh-CN" sz="2800" b="1" dirty="0">
                <a:solidFill>
                  <a:srgbClr val="000099"/>
                </a:solidFill>
                <a:latin typeface="楷体_GB2312" pitchFamily="49" charset="-122"/>
                <a:ea typeface="楷体_GB2312" pitchFamily="49" charset="-122"/>
              </a:rPr>
              <a:t>:</a:t>
            </a:r>
            <a:r>
              <a:rPr lang="zh-CN" altLang="en-US" sz="2800" b="1" dirty="0">
                <a:solidFill>
                  <a:srgbClr val="000099"/>
                </a:solidFill>
                <a:latin typeface="楷体_GB2312" pitchFamily="49" charset="-122"/>
                <a:ea typeface="楷体_GB2312" pitchFamily="49" charset="-122"/>
              </a:rPr>
              <a:t>页面大小为</a:t>
            </a:r>
            <a:r>
              <a:rPr lang="en-US" altLang="zh-CN" sz="2800" b="1" dirty="0">
                <a:solidFill>
                  <a:srgbClr val="000099"/>
                </a:solidFill>
                <a:latin typeface="楷体_GB2312" pitchFamily="49" charset="-122"/>
                <a:ea typeface="楷体_GB2312" pitchFamily="49" charset="-122"/>
              </a:rPr>
              <a:t>4KB(</a:t>
            </a:r>
            <a:r>
              <a:rPr lang="zh-CN" altLang="en-US" sz="2800" b="1" dirty="0">
                <a:solidFill>
                  <a:srgbClr val="000099"/>
                </a:solidFill>
                <a:latin typeface="楷体_GB2312" pitchFamily="49" charset="-122"/>
                <a:ea typeface="楷体_GB2312" pitchFamily="49" charset="-122"/>
              </a:rPr>
              <a:t>即</a:t>
            </a:r>
            <a:r>
              <a:rPr lang="en-US" altLang="zh-CN" sz="2800" b="1" dirty="0">
                <a:solidFill>
                  <a:srgbClr val="000099"/>
                </a:solidFill>
                <a:latin typeface="楷体_GB2312" pitchFamily="49" charset="-122"/>
                <a:ea typeface="楷体_GB2312" pitchFamily="49" charset="-122"/>
              </a:rPr>
              <a:t>2</a:t>
            </a:r>
            <a:r>
              <a:rPr lang="en-US" altLang="zh-CN" sz="2800" b="1" baseline="30000" dirty="0">
                <a:solidFill>
                  <a:srgbClr val="000099"/>
                </a:solidFill>
                <a:latin typeface="楷体_GB2312" pitchFamily="49" charset="-122"/>
                <a:ea typeface="楷体_GB2312" pitchFamily="49" charset="-122"/>
              </a:rPr>
              <a:t>12</a:t>
            </a:r>
            <a:r>
              <a:rPr lang="en-US" altLang="zh-CN" sz="2800" b="1" dirty="0">
                <a:solidFill>
                  <a:srgbClr val="000099"/>
                </a:solidFill>
                <a:latin typeface="楷体_GB2312" pitchFamily="49" charset="-122"/>
                <a:ea typeface="楷体_GB2312" pitchFamily="49" charset="-122"/>
              </a:rPr>
              <a:t>B)</a:t>
            </a:r>
            <a:endParaRPr lang="en-US" altLang="zh-CN" sz="2800" b="1" dirty="0">
              <a:solidFill>
                <a:srgbClr val="000099"/>
              </a:solidFill>
              <a:latin typeface="楷体_GB2312" pitchFamily="49" charset="-122"/>
              <a:ea typeface="楷体_GB2312" pitchFamily="49" charset="-122"/>
            </a:endParaRPr>
          </a:p>
          <a:p>
            <a:pPr marL="342900" lvl="0" indent="-342900" eaLnBrk="1" hangingPunct="1">
              <a:spcBef>
                <a:spcPct val="50000"/>
              </a:spcBef>
              <a:buClrTx/>
              <a:buSzTx/>
              <a:buFontTx/>
              <a:buNone/>
            </a:pPr>
            <a:r>
              <a:rPr lang="zh-CN" altLang="en-US" sz="2800" b="1" dirty="0">
                <a:solidFill>
                  <a:srgbClr val="000099"/>
                </a:solidFill>
                <a:latin typeface="楷体_GB2312" pitchFamily="49" charset="-122"/>
                <a:ea typeface="楷体_GB2312" pitchFamily="49" charset="-122"/>
              </a:rPr>
              <a:t>则</a:t>
            </a:r>
            <a:r>
              <a:rPr lang="en-US" altLang="zh-CN" sz="2800" b="1" dirty="0">
                <a:solidFill>
                  <a:srgbClr val="000099"/>
                </a:solidFill>
                <a:latin typeface="楷体_GB2312" pitchFamily="49" charset="-122"/>
                <a:ea typeface="楷体_GB2312" pitchFamily="49" charset="-122"/>
              </a:rPr>
              <a:t>:</a:t>
            </a:r>
            <a:r>
              <a:rPr lang="zh-CN" altLang="en-US" sz="2800" b="1" dirty="0">
                <a:solidFill>
                  <a:srgbClr val="000099"/>
                </a:solidFill>
                <a:latin typeface="楷体_GB2312" pitchFamily="49" charset="-122"/>
                <a:ea typeface="楷体_GB2312" pitchFamily="49" charset="-122"/>
              </a:rPr>
              <a:t>最多页面数为</a:t>
            </a:r>
            <a:r>
              <a:rPr lang="en-US" altLang="zh-CN" sz="2800" b="1" dirty="0">
                <a:solidFill>
                  <a:srgbClr val="000099"/>
                </a:solidFill>
                <a:latin typeface="楷体_GB2312" pitchFamily="49" charset="-122"/>
                <a:ea typeface="楷体_GB2312" pitchFamily="49" charset="-122"/>
              </a:rPr>
              <a:t>1MB(</a:t>
            </a:r>
            <a:r>
              <a:rPr lang="zh-CN" altLang="en-US" sz="2800" b="1" dirty="0">
                <a:solidFill>
                  <a:srgbClr val="000099"/>
                </a:solidFill>
                <a:latin typeface="楷体_GB2312" pitchFamily="49" charset="-122"/>
                <a:ea typeface="楷体_GB2312" pitchFamily="49" charset="-122"/>
              </a:rPr>
              <a:t>即</a:t>
            </a:r>
            <a:r>
              <a:rPr lang="en-US" altLang="zh-CN" sz="2800" b="1" dirty="0">
                <a:solidFill>
                  <a:srgbClr val="000099"/>
                </a:solidFill>
                <a:latin typeface="楷体_GB2312" pitchFamily="49" charset="-122"/>
                <a:ea typeface="楷体_GB2312" pitchFamily="49" charset="-122"/>
              </a:rPr>
              <a:t>2</a:t>
            </a:r>
            <a:r>
              <a:rPr lang="en-US" altLang="zh-CN" sz="2800" b="1" baseline="30000" dirty="0">
                <a:solidFill>
                  <a:srgbClr val="000099"/>
                </a:solidFill>
                <a:latin typeface="楷体_GB2312" pitchFamily="49" charset="-122"/>
                <a:ea typeface="楷体_GB2312" pitchFamily="49" charset="-122"/>
              </a:rPr>
              <a:t>20</a:t>
            </a:r>
            <a:r>
              <a:rPr lang="en-US" altLang="zh-CN" sz="2800" b="1" dirty="0">
                <a:solidFill>
                  <a:srgbClr val="000099"/>
                </a:solidFill>
                <a:latin typeface="楷体_GB2312" pitchFamily="49" charset="-122"/>
                <a:ea typeface="楷体_GB2312" pitchFamily="49" charset="-122"/>
              </a:rPr>
              <a:t>B)</a:t>
            </a:r>
            <a:endParaRPr lang="en-US" altLang="zh-CN" sz="2800" b="1" dirty="0">
              <a:solidFill>
                <a:srgbClr val="000099"/>
              </a:solidFill>
              <a:latin typeface="楷体_GB2312" pitchFamily="49" charset="-122"/>
              <a:ea typeface="楷体_GB2312" pitchFamily="49" charset="-122"/>
            </a:endParaRPr>
          </a:p>
        </p:txBody>
      </p:sp>
      <p:sp>
        <p:nvSpPr>
          <p:cNvPr id="673797" name="Text Box 5"/>
          <p:cNvSpPr txBox="1"/>
          <p:nvPr/>
        </p:nvSpPr>
        <p:spPr>
          <a:xfrm>
            <a:off x="684213" y="3860800"/>
            <a:ext cx="7993062" cy="519113"/>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eaLnBrk="1" hangingPunct="1">
              <a:spcBef>
                <a:spcPct val="50000"/>
              </a:spcBef>
              <a:buClrTx/>
              <a:buSzTx/>
              <a:buFontTx/>
              <a:buNone/>
            </a:pPr>
            <a:r>
              <a:rPr lang="zh-CN" altLang="en-US" sz="2800" b="1" dirty="0">
                <a:solidFill>
                  <a:srgbClr val="990033"/>
                </a:solidFill>
                <a:latin typeface="楷体_GB2312" pitchFamily="49" charset="-122"/>
                <a:ea typeface="楷体_GB2312" pitchFamily="49" charset="-122"/>
              </a:rPr>
              <a:t>两极页表结构的逻辑地址字</a:t>
            </a:r>
            <a:r>
              <a:rPr lang="en-US" altLang="zh-CN" sz="2800" b="1" dirty="0">
                <a:solidFill>
                  <a:srgbClr val="990033"/>
                </a:solidFill>
                <a:latin typeface="楷体_GB2312" pitchFamily="49" charset="-122"/>
                <a:ea typeface="楷体_GB2312" pitchFamily="49" charset="-122"/>
              </a:rPr>
              <a:t>:</a:t>
            </a:r>
            <a:endParaRPr lang="en-US" altLang="zh-CN" sz="2800" b="1" dirty="0">
              <a:solidFill>
                <a:srgbClr val="990033"/>
              </a:solidFill>
              <a:ea typeface="楷体_GB2312" pitchFamily="49" charset="-122"/>
            </a:endParaRPr>
          </a:p>
        </p:txBody>
      </p:sp>
      <p:grpSp>
        <p:nvGrpSpPr>
          <p:cNvPr id="673798" name="Group 6"/>
          <p:cNvGrpSpPr/>
          <p:nvPr/>
        </p:nvGrpSpPr>
        <p:grpSpPr>
          <a:xfrm>
            <a:off x="1042988" y="4652963"/>
            <a:ext cx="7058025" cy="1152525"/>
            <a:chOff x="793" y="2568"/>
            <a:chExt cx="4310" cy="709"/>
          </a:xfrm>
        </p:grpSpPr>
        <p:grpSp>
          <p:nvGrpSpPr>
            <p:cNvPr id="95240" name="Group 7"/>
            <p:cNvGrpSpPr/>
            <p:nvPr/>
          </p:nvGrpSpPr>
          <p:grpSpPr>
            <a:xfrm>
              <a:off x="1066" y="2931"/>
              <a:ext cx="3856" cy="346"/>
              <a:chOff x="975" y="2341"/>
              <a:chExt cx="3856" cy="346"/>
            </a:xfrm>
          </p:grpSpPr>
          <p:sp>
            <p:nvSpPr>
              <p:cNvPr id="95242" name="Rectangle 8"/>
              <p:cNvSpPr/>
              <p:nvPr/>
            </p:nvSpPr>
            <p:spPr>
              <a:xfrm>
                <a:off x="975" y="2341"/>
                <a:ext cx="1179" cy="346"/>
              </a:xfrm>
              <a:prstGeom prst="rect">
                <a:avLst/>
              </a:prstGeom>
              <a:noFill/>
              <a:ln w="28575" cap="flat" cmpd="sng">
                <a:solidFill>
                  <a:srgbClr val="0000FF"/>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主页号</a:t>
                </a:r>
                <a:r>
                  <a:rPr lang="en-US" altLang="zh-CN" sz="2400" b="1" dirty="0">
                    <a:solidFill>
                      <a:srgbClr val="000099"/>
                    </a:solidFill>
                    <a:latin typeface="楷体_GB2312" pitchFamily="49" charset="-122"/>
                    <a:ea typeface="楷体_GB2312" pitchFamily="49" charset="-122"/>
                  </a:rPr>
                  <a:t>P1</a:t>
                </a:r>
                <a:endParaRPr lang="en-US" altLang="zh-CN" sz="2400" b="1" dirty="0">
                  <a:solidFill>
                    <a:srgbClr val="000099"/>
                  </a:solidFill>
                  <a:latin typeface="楷体_GB2312" pitchFamily="49" charset="-122"/>
                  <a:ea typeface="楷体_GB2312" pitchFamily="49" charset="-122"/>
                </a:endParaRPr>
              </a:p>
            </p:txBody>
          </p:sp>
          <p:sp>
            <p:nvSpPr>
              <p:cNvPr id="95243" name="Rectangle 9"/>
              <p:cNvSpPr/>
              <p:nvPr/>
            </p:nvSpPr>
            <p:spPr>
              <a:xfrm>
                <a:off x="2154" y="2341"/>
                <a:ext cx="1315" cy="346"/>
              </a:xfrm>
              <a:prstGeom prst="rect">
                <a:avLst/>
              </a:prstGeom>
              <a:noFill/>
              <a:ln w="28575" cap="flat" cmpd="sng">
                <a:solidFill>
                  <a:srgbClr val="0000FF"/>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次级页号</a:t>
                </a:r>
                <a:r>
                  <a:rPr lang="en-US" altLang="zh-CN" sz="2400" b="1" dirty="0">
                    <a:solidFill>
                      <a:srgbClr val="000099"/>
                    </a:solidFill>
                    <a:latin typeface="楷体_GB2312" pitchFamily="49" charset="-122"/>
                    <a:ea typeface="楷体_GB2312" pitchFamily="49" charset="-122"/>
                  </a:rPr>
                  <a:t>P2</a:t>
                </a:r>
                <a:endParaRPr lang="en-US" altLang="zh-CN" sz="2400" b="1" dirty="0">
                  <a:solidFill>
                    <a:srgbClr val="000099"/>
                  </a:solidFill>
                  <a:latin typeface="楷体_GB2312" pitchFamily="49" charset="-122"/>
                  <a:ea typeface="楷体_GB2312" pitchFamily="49" charset="-122"/>
                </a:endParaRPr>
              </a:p>
            </p:txBody>
          </p:sp>
          <p:sp>
            <p:nvSpPr>
              <p:cNvPr id="95244" name="Rectangle 10"/>
              <p:cNvSpPr/>
              <p:nvPr/>
            </p:nvSpPr>
            <p:spPr>
              <a:xfrm>
                <a:off x="3470" y="2341"/>
                <a:ext cx="1361" cy="346"/>
              </a:xfrm>
              <a:prstGeom prst="rect">
                <a:avLst/>
              </a:prstGeom>
              <a:noFill/>
              <a:ln w="28575" cap="flat" cmpd="sng">
                <a:solidFill>
                  <a:srgbClr val="0000FF"/>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页内地址</a:t>
                </a:r>
                <a:r>
                  <a:rPr lang="en-US" altLang="zh-CN" sz="2400" b="1" dirty="0">
                    <a:solidFill>
                      <a:srgbClr val="000099"/>
                    </a:solidFill>
                    <a:latin typeface="楷体_GB2312" pitchFamily="49" charset="-122"/>
                    <a:ea typeface="楷体_GB2312" pitchFamily="49" charset="-122"/>
                  </a:rPr>
                  <a:t>d</a:t>
                </a:r>
                <a:endParaRPr lang="en-US" altLang="zh-CN" sz="2400" b="1" dirty="0">
                  <a:solidFill>
                    <a:srgbClr val="000099"/>
                  </a:solidFill>
                  <a:latin typeface="楷体_GB2312" pitchFamily="49" charset="-122"/>
                  <a:ea typeface="楷体_GB2312" pitchFamily="49" charset="-122"/>
                </a:endParaRPr>
              </a:p>
            </p:txBody>
          </p:sp>
        </p:grpSp>
        <p:sp>
          <p:nvSpPr>
            <p:cNvPr id="95241" name="Rectangle 11"/>
            <p:cNvSpPr/>
            <p:nvPr/>
          </p:nvSpPr>
          <p:spPr>
            <a:xfrm>
              <a:off x="793" y="2568"/>
              <a:ext cx="4310" cy="272"/>
            </a:xfrm>
            <a:prstGeom prst="rect">
              <a:avLst/>
            </a:prstGeom>
            <a:noFill/>
            <a:ln w="9525" cap="flat" cmpd="sng">
              <a:solidFill>
                <a:schemeClr val="bg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solidFill>
                    <a:srgbClr val="3840A2"/>
                  </a:solidFill>
                  <a:ea typeface="楷体_GB2312" pitchFamily="49" charset="-122"/>
                </a:rPr>
                <a:t>    </a:t>
              </a:r>
              <a:r>
                <a:rPr lang="en-US" altLang="zh-CN" sz="2400" b="1" dirty="0">
                  <a:solidFill>
                    <a:srgbClr val="3840A2"/>
                  </a:solidFill>
                  <a:ea typeface="楷体_GB2312" pitchFamily="49" charset="-122"/>
                </a:rPr>
                <a:t>31                22  21                 12  11                     0</a:t>
              </a:r>
              <a:endParaRPr lang="en-US" altLang="zh-CN" sz="2400" b="1" dirty="0">
                <a:solidFill>
                  <a:srgbClr val="3840A2"/>
                </a:solidFill>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73794"/>
                                        </p:tgtEl>
                                        <p:attrNameLst>
                                          <p:attrName>style.visibility</p:attrName>
                                        </p:attrNameLst>
                                      </p:cBhvr>
                                      <p:to>
                                        <p:strVal val="visible"/>
                                      </p:to>
                                    </p:set>
                                    <p:anim calcmode="lin" valueType="num">
                                      <p:cBhvr additive="base">
                                        <p:cTn id="7" dur="500" fill="hold"/>
                                        <p:tgtEl>
                                          <p:spTgt spid="673794"/>
                                        </p:tgtEl>
                                        <p:attrNameLst>
                                          <p:attrName>ppt_x</p:attrName>
                                        </p:attrNameLst>
                                      </p:cBhvr>
                                      <p:tavLst>
                                        <p:tav tm="0">
                                          <p:val>
                                            <p:strVal val="0-#ppt_w/2"/>
                                          </p:val>
                                        </p:tav>
                                        <p:tav tm="100000">
                                          <p:val>
                                            <p:strVal val="#ppt_x"/>
                                          </p:val>
                                        </p:tav>
                                      </p:tavLst>
                                    </p:anim>
                                    <p:anim calcmode="lin" valueType="num">
                                      <p:cBhvr additive="base">
                                        <p:cTn id="8" dur="500" fill="hold"/>
                                        <p:tgtEl>
                                          <p:spTgt spid="6737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73795"/>
                                        </p:tgtEl>
                                        <p:attrNameLst>
                                          <p:attrName>style.visibility</p:attrName>
                                        </p:attrNameLst>
                                      </p:cBhvr>
                                      <p:to>
                                        <p:strVal val="visible"/>
                                      </p:to>
                                    </p:set>
                                    <p:anim calcmode="lin" valueType="num">
                                      <p:cBhvr additive="base">
                                        <p:cTn id="13" dur="500" fill="hold"/>
                                        <p:tgtEl>
                                          <p:spTgt spid="673795"/>
                                        </p:tgtEl>
                                        <p:attrNameLst>
                                          <p:attrName>ppt_x</p:attrName>
                                        </p:attrNameLst>
                                      </p:cBhvr>
                                      <p:tavLst>
                                        <p:tav tm="0">
                                          <p:val>
                                            <p:strVal val="0-#ppt_w/2"/>
                                          </p:val>
                                        </p:tav>
                                        <p:tav tm="100000">
                                          <p:val>
                                            <p:strVal val="#ppt_x"/>
                                          </p:val>
                                        </p:tav>
                                      </p:tavLst>
                                    </p:anim>
                                    <p:anim calcmode="lin" valueType="num">
                                      <p:cBhvr additive="base">
                                        <p:cTn id="14" dur="500" fill="hold"/>
                                        <p:tgtEl>
                                          <p:spTgt spid="67379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73796"/>
                                        </p:tgtEl>
                                        <p:attrNameLst>
                                          <p:attrName>style.visibility</p:attrName>
                                        </p:attrNameLst>
                                      </p:cBhvr>
                                      <p:to>
                                        <p:strVal val="visible"/>
                                      </p:to>
                                    </p:set>
                                    <p:anim calcmode="lin" valueType="num">
                                      <p:cBhvr additive="base">
                                        <p:cTn id="19" dur="500" fill="hold"/>
                                        <p:tgtEl>
                                          <p:spTgt spid="673796"/>
                                        </p:tgtEl>
                                        <p:attrNameLst>
                                          <p:attrName>ppt_x</p:attrName>
                                        </p:attrNameLst>
                                      </p:cBhvr>
                                      <p:tavLst>
                                        <p:tav tm="0">
                                          <p:val>
                                            <p:strVal val="0-#ppt_w/2"/>
                                          </p:val>
                                        </p:tav>
                                        <p:tav tm="100000">
                                          <p:val>
                                            <p:strVal val="#ppt_x"/>
                                          </p:val>
                                        </p:tav>
                                      </p:tavLst>
                                    </p:anim>
                                    <p:anim calcmode="lin" valueType="num">
                                      <p:cBhvr additive="base">
                                        <p:cTn id="20" dur="500" fill="hold"/>
                                        <p:tgtEl>
                                          <p:spTgt spid="67379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73797"/>
                                        </p:tgtEl>
                                        <p:attrNameLst>
                                          <p:attrName>style.visibility</p:attrName>
                                        </p:attrNameLst>
                                      </p:cBhvr>
                                      <p:to>
                                        <p:strVal val="visible"/>
                                      </p:to>
                                    </p:set>
                                    <p:anim calcmode="lin" valueType="num">
                                      <p:cBhvr additive="base">
                                        <p:cTn id="25" dur="500" fill="hold"/>
                                        <p:tgtEl>
                                          <p:spTgt spid="673797"/>
                                        </p:tgtEl>
                                        <p:attrNameLst>
                                          <p:attrName>ppt_x</p:attrName>
                                        </p:attrNameLst>
                                      </p:cBhvr>
                                      <p:tavLst>
                                        <p:tav tm="0">
                                          <p:val>
                                            <p:strVal val="0-#ppt_w/2"/>
                                          </p:val>
                                        </p:tav>
                                        <p:tav tm="100000">
                                          <p:val>
                                            <p:strVal val="#ppt_x"/>
                                          </p:val>
                                        </p:tav>
                                      </p:tavLst>
                                    </p:anim>
                                    <p:anim calcmode="lin" valueType="num">
                                      <p:cBhvr additive="base">
                                        <p:cTn id="26" dur="500" fill="hold"/>
                                        <p:tgtEl>
                                          <p:spTgt spid="67379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673798"/>
                                        </p:tgtEl>
                                        <p:attrNameLst>
                                          <p:attrName>style.visibility</p:attrName>
                                        </p:attrNameLst>
                                      </p:cBhvr>
                                      <p:to>
                                        <p:strVal val="visible"/>
                                      </p:to>
                                    </p:set>
                                    <p:animEffect transition="in" filter="wipe(right)">
                                      <p:cBhvr>
                                        <p:cTn id="31" dur="3000"/>
                                        <p:tgtEl>
                                          <p:spTgt spid="673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4" grpId="0" animBg="1"/>
      <p:bldP spid="673795" grpId="0" animBg="1"/>
      <p:bldP spid="673796" grpId="0" animBg="1"/>
      <p:bldP spid="673797"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70722" name="Text Box 2"/>
          <p:cNvSpPr txBox="1"/>
          <p:nvPr/>
        </p:nvSpPr>
        <p:spPr>
          <a:xfrm>
            <a:off x="468313" y="238125"/>
            <a:ext cx="8675687" cy="519113"/>
          </a:xfrm>
          <a:prstGeom prst="rect">
            <a:avLst/>
          </a:prstGeom>
          <a:solidFill>
            <a:srgbClr val="FFFF99"/>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800" b="1" dirty="0">
                <a:solidFill>
                  <a:srgbClr val="006600"/>
                </a:solidFill>
                <a:ea typeface="楷体_GB2312" pitchFamily="49" charset="-122"/>
              </a:rPr>
              <a:t>   </a:t>
            </a:r>
            <a:r>
              <a:rPr lang="zh-CN" altLang="en-US" sz="2800" b="1" dirty="0">
                <a:solidFill>
                  <a:srgbClr val="006600"/>
                </a:solidFill>
                <a:ea typeface="楷体_GB2312" pitchFamily="49" charset="-122"/>
              </a:rPr>
              <a:t>两级页表结构</a:t>
            </a:r>
            <a:r>
              <a:rPr lang="zh-CN" altLang="en-US" sz="2400" dirty="0"/>
              <a:t> </a:t>
            </a:r>
            <a:endParaRPr lang="zh-CN" altLang="en-US" sz="2400" dirty="0"/>
          </a:p>
        </p:txBody>
      </p:sp>
      <p:grpSp>
        <p:nvGrpSpPr>
          <p:cNvPr id="670730" name="Group 10"/>
          <p:cNvGrpSpPr/>
          <p:nvPr/>
        </p:nvGrpSpPr>
        <p:grpSpPr>
          <a:xfrm>
            <a:off x="468313" y="315913"/>
            <a:ext cx="8675687" cy="6502400"/>
            <a:chOff x="295" y="199"/>
            <a:chExt cx="5465" cy="4096"/>
          </a:xfrm>
        </p:grpSpPr>
        <p:graphicFrame>
          <p:nvGraphicFramePr>
            <p:cNvPr id="96261" name="Object 3"/>
            <p:cNvGraphicFramePr>
              <a:graphicFrameLocks noChangeAspect="1"/>
            </p:cNvGraphicFramePr>
            <p:nvPr/>
          </p:nvGraphicFramePr>
          <p:xfrm>
            <a:off x="295" y="530"/>
            <a:ext cx="5465" cy="3765"/>
          </p:xfrm>
          <a:graphic>
            <a:graphicData uri="http://schemas.openxmlformats.org/presentationml/2006/ole">
              <mc:AlternateContent xmlns:mc="http://schemas.openxmlformats.org/markup-compatibility/2006">
                <mc:Choice xmlns:v="urn:schemas-microsoft-com:vml" Requires="v">
                  <p:oleObj spid="_x0000_s3086" name="" r:id="rId1" imgW="3505200" imgH="2438400" progId="Visio.Drawing.4">
                    <p:embed/>
                  </p:oleObj>
                </mc:Choice>
                <mc:Fallback>
                  <p:oleObj name="" r:id="rId1" imgW="3505200" imgH="2438400" progId="Visio.Drawing.4">
                    <p:embed/>
                    <p:pic>
                      <p:nvPicPr>
                        <p:cNvPr id="0" name="图片 3085"/>
                        <p:cNvPicPr/>
                        <p:nvPr/>
                      </p:nvPicPr>
                      <p:blipFill>
                        <a:blip r:embed="rId2"/>
                        <a:stretch>
                          <a:fillRect/>
                        </a:stretch>
                      </p:blipFill>
                      <p:spPr>
                        <a:xfrm>
                          <a:off x="295" y="530"/>
                          <a:ext cx="5465" cy="3765"/>
                        </a:xfrm>
                        <a:prstGeom prst="rect">
                          <a:avLst/>
                        </a:prstGeom>
                        <a:noFill/>
                        <a:ln w="38100">
                          <a:noFill/>
                          <a:miter/>
                        </a:ln>
                      </p:spPr>
                    </p:pic>
                  </p:oleObj>
                </mc:Fallback>
              </mc:AlternateContent>
            </a:graphicData>
          </a:graphic>
        </p:graphicFrame>
        <p:sp>
          <p:nvSpPr>
            <p:cNvPr id="96262" name="Rectangle 6"/>
            <p:cNvSpPr/>
            <p:nvPr/>
          </p:nvSpPr>
          <p:spPr>
            <a:xfrm>
              <a:off x="657" y="2614"/>
              <a:ext cx="771" cy="354"/>
            </a:xfrm>
            <a:prstGeom prst="rect">
              <a:avLst/>
            </a:prstGeom>
            <a:solidFill>
              <a:schemeClr val="bg1"/>
            </a:solidFill>
            <a:ln w="28575" cap="flat" cmpd="sng">
              <a:solidFill>
                <a:schemeClr val="bg1"/>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主页表</a:t>
              </a:r>
              <a:endParaRPr lang="zh-CN" altLang="en-US" sz="2400" b="1" dirty="0">
                <a:solidFill>
                  <a:srgbClr val="000099"/>
                </a:solidFill>
                <a:latin typeface="楷体_GB2312" pitchFamily="49" charset="-122"/>
                <a:ea typeface="楷体_GB2312" pitchFamily="49" charset="-122"/>
              </a:endParaRPr>
            </a:p>
          </p:txBody>
        </p:sp>
        <p:sp>
          <p:nvSpPr>
            <p:cNvPr id="96263" name="Rectangle 7"/>
            <p:cNvSpPr/>
            <p:nvPr/>
          </p:nvSpPr>
          <p:spPr>
            <a:xfrm>
              <a:off x="2472" y="199"/>
              <a:ext cx="908" cy="354"/>
            </a:xfrm>
            <a:prstGeom prst="rect">
              <a:avLst/>
            </a:prstGeom>
            <a:solidFill>
              <a:schemeClr val="bg1"/>
            </a:solidFill>
            <a:ln w="28575" cap="flat" cmpd="sng">
              <a:solidFill>
                <a:schemeClr val="bg1"/>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次级页表</a:t>
              </a:r>
              <a:endParaRPr lang="zh-CN" altLang="en-US" sz="2400" b="1" dirty="0">
                <a:solidFill>
                  <a:srgbClr val="000099"/>
                </a:solidFill>
                <a:latin typeface="楷体_GB2312" pitchFamily="49" charset="-122"/>
                <a:ea typeface="楷体_GB2312"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0722"/>
                                        </p:tgtEl>
                                        <p:attrNameLst>
                                          <p:attrName>style.visibility</p:attrName>
                                        </p:attrNameLst>
                                      </p:cBhvr>
                                      <p:to>
                                        <p:strVal val="visible"/>
                                      </p:to>
                                    </p:set>
                                    <p:animEffect transition="in" filter="wipe(left)">
                                      <p:cBhvr>
                                        <p:cTn id="7" dur="500"/>
                                        <p:tgtEl>
                                          <p:spTgt spid="6707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70730"/>
                                        </p:tgtEl>
                                        <p:attrNameLst>
                                          <p:attrName>style.visibility</p:attrName>
                                        </p:attrNameLst>
                                      </p:cBhvr>
                                      <p:to>
                                        <p:strVal val="visible"/>
                                      </p:to>
                                    </p:set>
                                    <p:animEffect transition="in" filter="wipe(left)">
                                      <p:cBhvr>
                                        <p:cTn id="12" dur="5000"/>
                                        <p:tgtEl>
                                          <p:spTgt spid="6707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0722"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pSp>
        <p:nvGrpSpPr>
          <p:cNvPr id="671755" name="Group 11"/>
          <p:cNvGrpSpPr/>
          <p:nvPr/>
        </p:nvGrpSpPr>
        <p:grpSpPr>
          <a:xfrm>
            <a:off x="647700" y="1096963"/>
            <a:ext cx="8496300" cy="4857750"/>
            <a:chOff x="408" y="691"/>
            <a:chExt cx="5352" cy="3060"/>
          </a:xfrm>
        </p:grpSpPr>
        <p:sp>
          <p:nvSpPr>
            <p:cNvPr id="97284" name="Text Box 2"/>
            <p:cNvSpPr txBox="1"/>
            <p:nvPr/>
          </p:nvSpPr>
          <p:spPr>
            <a:xfrm>
              <a:off x="1440" y="3424"/>
              <a:ext cx="3097" cy="327"/>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000066"/>
                  </a:solidFill>
                  <a:ea typeface="楷体_GB2312" pitchFamily="49" charset="-122"/>
                </a:rPr>
                <a:t>具有两级页表的地址变换机构 </a:t>
              </a:r>
              <a:endParaRPr lang="zh-CN" altLang="en-US" sz="2800" b="1" dirty="0">
                <a:solidFill>
                  <a:srgbClr val="000066"/>
                </a:solidFill>
                <a:ea typeface="楷体_GB2312" pitchFamily="49" charset="-122"/>
              </a:endParaRPr>
            </a:p>
          </p:txBody>
        </p:sp>
        <p:grpSp>
          <p:nvGrpSpPr>
            <p:cNvPr id="97285" name="Group 10"/>
            <p:cNvGrpSpPr/>
            <p:nvPr/>
          </p:nvGrpSpPr>
          <p:grpSpPr>
            <a:xfrm>
              <a:off x="408" y="691"/>
              <a:ext cx="5352" cy="2503"/>
              <a:chOff x="408" y="691"/>
              <a:chExt cx="5352" cy="2503"/>
            </a:xfrm>
          </p:grpSpPr>
          <p:graphicFrame>
            <p:nvGraphicFramePr>
              <p:cNvPr id="97286" name="Object 3"/>
              <p:cNvGraphicFramePr>
                <a:graphicFrameLocks noChangeAspect="1"/>
              </p:cNvGraphicFramePr>
              <p:nvPr/>
            </p:nvGraphicFramePr>
            <p:xfrm>
              <a:off x="408" y="761"/>
              <a:ext cx="5352" cy="2404"/>
            </p:xfrm>
            <a:graphic>
              <a:graphicData uri="http://schemas.openxmlformats.org/presentationml/2006/ole">
                <mc:AlternateContent xmlns:mc="http://schemas.openxmlformats.org/markup-compatibility/2006">
                  <mc:Choice xmlns:v="urn:schemas-microsoft-com:vml" Requires="v">
                    <p:oleObj spid="_x0000_s3087" name="" r:id="rId1" imgW="3520440" imgH="1219200" progId="Visio.Drawing.4">
                      <p:embed/>
                    </p:oleObj>
                  </mc:Choice>
                  <mc:Fallback>
                    <p:oleObj name="" r:id="rId1" imgW="3520440" imgH="1219200" progId="Visio.Drawing.4">
                      <p:embed/>
                      <p:pic>
                        <p:nvPicPr>
                          <p:cNvPr id="0" name="图片 3086"/>
                          <p:cNvPicPr/>
                          <p:nvPr/>
                        </p:nvPicPr>
                        <p:blipFill>
                          <a:blip r:embed="rId2"/>
                          <a:stretch>
                            <a:fillRect/>
                          </a:stretch>
                        </p:blipFill>
                        <p:spPr>
                          <a:xfrm>
                            <a:off x="408" y="761"/>
                            <a:ext cx="5352" cy="2404"/>
                          </a:xfrm>
                          <a:prstGeom prst="rect">
                            <a:avLst/>
                          </a:prstGeom>
                          <a:noFill/>
                          <a:ln w="38100">
                            <a:noFill/>
                            <a:miter/>
                          </a:ln>
                        </p:spPr>
                      </p:pic>
                    </p:oleObj>
                  </mc:Fallback>
                </mc:AlternateContent>
              </a:graphicData>
            </a:graphic>
          </p:graphicFrame>
          <p:sp>
            <p:nvSpPr>
              <p:cNvPr id="97287" name="Rectangle 4"/>
              <p:cNvSpPr/>
              <p:nvPr/>
            </p:nvSpPr>
            <p:spPr>
              <a:xfrm>
                <a:off x="3700" y="709"/>
                <a:ext cx="861" cy="354"/>
              </a:xfrm>
              <a:prstGeom prst="rect">
                <a:avLst/>
              </a:prstGeom>
              <a:solidFill>
                <a:schemeClr val="bg1"/>
              </a:solidFill>
              <a:ln w="28575" cap="flat" cmpd="sng">
                <a:solidFill>
                  <a:schemeClr val="bg1"/>
                </a:solidFill>
                <a:prstDash val="solid"/>
                <a:miter/>
                <a:headEnd type="none" w="med" len="med"/>
                <a:tailEnd type="none" w="med" len="med"/>
              </a:ln>
            </p:spPr>
            <p:txBody>
              <a:bodyPr lIns="0" r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页内地址</a:t>
                </a:r>
                <a:endParaRPr lang="zh-CN" altLang="en-US" sz="2400" b="1" dirty="0">
                  <a:solidFill>
                    <a:srgbClr val="000099"/>
                  </a:solidFill>
                  <a:latin typeface="楷体_GB2312" pitchFamily="49" charset="-122"/>
                  <a:ea typeface="楷体_GB2312" pitchFamily="49" charset="-122"/>
                </a:endParaRPr>
              </a:p>
            </p:txBody>
          </p:sp>
          <p:sp>
            <p:nvSpPr>
              <p:cNvPr id="97288" name="Rectangle 5"/>
              <p:cNvSpPr/>
              <p:nvPr/>
            </p:nvSpPr>
            <p:spPr>
              <a:xfrm>
                <a:off x="2405" y="2840"/>
                <a:ext cx="771" cy="354"/>
              </a:xfrm>
              <a:prstGeom prst="rect">
                <a:avLst/>
              </a:prstGeom>
              <a:solidFill>
                <a:schemeClr val="bg1"/>
              </a:solidFill>
              <a:ln w="28575" cap="flat" cmpd="sng">
                <a:solidFill>
                  <a:schemeClr val="bg1"/>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主页表</a:t>
                </a:r>
                <a:endParaRPr lang="zh-CN" altLang="en-US" sz="2400" b="1" dirty="0">
                  <a:solidFill>
                    <a:srgbClr val="000099"/>
                  </a:solidFill>
                  <a:latin typeface="楷体_GB2312" pitchFamily="49" charset="-122"/>
                  <a:ea typeface="楷体_GB2312" pitchFamily="49" charset="-122"/>
                </a:endParaRPr>
              </a:p>
            </p:txBody>
          </p:sp>
          <p:sp>
            <p:nvSpPr>
              <p:cNvPr id="97289" name="Rectangle 6"/>
              <p:cNvSpPr/>
              <p:nvPr/>
            </p:nvSpPr>
            <p:spPr>
              <a:xfrm>
                <a:off x="3651" y="2840"/>
                <a:ext cx="908" cy="354"/>
              </a:xfrm>
              <a:prstGeom prst="rect">
                <a:avLst/>
              </a:prstGeom>
              <a:solidFill>
                <a:schemeClr val="bg1"/>
              </a:solidFill>
              <a:ln w="28575" cap="flat" cmpd="sng">
                <a:solidFill>
                  <a:schemeClr val="bg1"/>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次级页表</a:t>
                </a:r>
                <a:endParaRPr lang="zh-CN" altLang="en-US" sz="2400" b="1" dirty="0">
                  <a:solidFill>
                    <a:srgbClr val="000099"/>
                  </a:solidFill>
                  <a:latin typeface="楷体_GB2312" pitchFamily="49" charset="-122"/>
                  <a:ea typeface="楷体_GB2312" pitchFamily="49" charset="-122"/>
                </a:endParaRPr>
              </a:p>
            </p:txBody>
          </p:sp>
          <p:sp>
            <p:nvSpPr>
              <p:cNvPr id="97290" name="Rectangle 7"/>
              <p:cNvSpPr/>
              <p:nvPr/>
            </p:nvSpPr>
            <p:spPr>
              <a:xfrm>
                <a:off x="1714" y="709"/>
                <a:ext cx="848" cy="354"/>
              </a:xfrm>
              <a:prstGeom prst="rect">
                <a:avLst/>
              </a:prstGeom>
              <a:solidFill>
                <a:schemeClr val="bg1"/>
              </a:solidFill>
              <a:ln w="28575" cap="flat" cmpd="sng">
                <a:solidFill>
                  <a:schemeClr val="bg1"/>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主页号</a:t>
                </a:r>
                <a:endParaRPr lang="zh-CN" altLang="en-US" sz="2400" b="1" dirty="0">
                  <a:solidFill>
                    <a:srgbClr val="000099"/>
                  </a:solidFill>
                  <a:latin typeface="楷体_GB2312" pitchFamily="49" charset="-122"/>
                  <a:ea typeface="楷体_GB2312" pitchFamily="49" charset="-122"/>
                </a:endParaRPr>
              </a:p>
            </p:txBody>
          </p:sp>
          <p:sp>
            <p:nvSpPr>
              <p:cNvPr id="97291" name="Rectangle 8"/>
              <p:cNvSpPr/>
              <p:nvPr/>
            </p:nvSpPr>
            <p:spPr>
              <a:xfrm>
                <a:off x="2734" y="691"/>
                <a:ext cx="997" cy="354"/>
              </a:xfrm>
              <a:prstGeom prst="rect">
                <a:avLst/>
              </a:prstGeom>
              <a:solidFill>
                <a:schemeClr val="bg1"/>
              </a:solidFill>
              <a:ln w="28575" cap="flat" cmpd="sng">
                <a:solidFill>
                  <a:schemeClr val="bg1"/>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次级页号</a:t>
                </a:r>
                <a:endParaRPr lang="zh-CN" altLang="en-US" sz="2400" b="1" dirty="0">
                  <a:solidFill>
                    <a:srgbClr val="000099"/>
                  </a:solidFill>
                  <a:latin typeface="楷体_GB2312" pitchFamily="49" charset="-122"/>
                  <a:ea typeface="楷体_GB2312" pitchFamily="49" charset="-122"/>
                </a:endParaRPr>
              </a:p>
            </p:txBody>
          </p:sp>
          <p:sp>
            <p:nvSpPr>
              <p:cNvPr id="97292" name="Rectangle 9"/>
              <p:cNvSpPr/>
              <p:nvPr/>
            </p:nvSpPr>
            <p:spPr>
              <a:xfrm>
                <a:off x="438" y="2108"/>
                <a:ext cx="1231" cy="272"/>
              </a:xfrm>
              <a:prstGeom prst="rect">
                <a:avLst/>
              </a:prstGeom>
              <a:solidFill>
                <a:schemeClr val="bg1"/>
              </a:solidFill>
              <a:ln w="2857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2400" b="1" dirty="0">
                    <a:solidFill>
                      <a:srgbClr val="000099"/>
                    </a:solidFill>
                    <a:latin typeface="楷体_GB2312" pitchFamily="49" charset="-122"/>
                    <a:ea typeface="楷体_GB2312" pitchFamily="49" charset="-122"/>
                  </a:rPr>
                  <a:t>主页表寄存器</a:t>
                </a:r>
                <a:endParaRPr lang="zh-CN" altLang="en-US" sz="2400" b="1" dirty="0">
                  <a:solidFill>
                    <a:srgbClr val="000099"/>
                  </a:solidFill>
                  <a:latin typeface="楷体_GB2312" pitchFamily="49" charset="-122"/>
                  <a:ea typeface="楷体_GB2312" pitchFamily="49"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1755"/>
                                        </p:tgtEl>
                                        <p:attrNameLst>
                                          <p:attrName>style.visibility</p:attrName>
                                        </p:attrNameLst>
                                      </p:cBhvr>
                                      <p:to>
                                        <p:strVal val="visible"/>
                                      </p:to>
                                    </p:set>
                                    <p:animEffect transition="in" filter="wipe(left)">
                                      <p:cBhvr>
                                        <p:cTn id="7" dur="3000"/>
                                        <p:tgtEl>
                                          <p:spTgt spid="671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96994" name="Text Box 2"/>
          <p:cNvSpPr txBox="1"/>
          <p:nvPr/>
        </p:nvSpPr>
        <p:spPr>
          <a:xfrm>
            <a:off x="684213" y="1268413"/>
            <a:ext cx="5867400" cy="519112"/>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eaLnBrk="1" hangingPunct="1">
              <a:spcBef>
                <a:spcPct val="50000"/>
              </a:spcBef>
              <a:buClrTx/>
              <a:buSzTx/>
              <a:buFontTx/>
              <a:buNone/>
            </a:pPr>
            <a:r>
              <a:rPr lang="zh-CN" altLang="en-US" sz="2800" dirty="0">
                <a:solidFill>
                  <a:srgbClr val="9900CC"/>
                </a:solidFill>
                <a:latin typeface="隶书" panose="02010509060101010101" pitchFamily="49" charset="-122"/>
                <a:ea typeface="隶书" panose="02010509060101010101" pitchFamily="49" charset="-122"/>
              </a:rPr>
              <a:t>（一）</a:t>
            </a:r>
            <a:r>
              <a:rPr lang="zh-CN" altLang="en-US" sz="2800" b="1" dirty="0">
                <a:solidFill>
                  <a:srgbClr val="9900CC"/>
                </a:solidFill>
                <a:ea typeface="隶书" panose="02010509060101010101" pitchFamily="49" charset="-122"/>
              </a:rPr>
              <a:t>分配结构：</a:t>
            </a:r>
            <a:r>
              <a:rPr lang="zh-CN" altLang="en-US" sz="2800" dirty="0">
                <a:solidFill>
                  <a:srgbClr val="9900CC"/>
                </a:solidFill>
                <a:ea typeface="隶书" panose="02010509060101010101" pitchFamily="49" charset="-122"/>
              </a:rPr>
              <a:t>位示图</a:t>
            </a:r>
            <a:endParaRPr lang="zh-CN" altLang="en-US" sz="2800" dirty="0">
              <a:solidFill>
                <a:srgbClr val="9900CC"/>
              </a:solidFill>
              <a:latin typeface="隶书" panose="02010509060101010101" pitchFamily="49" charset="-122"/>
              <a:ea typeface="隶书" panose="02010509060101010101" pitchFamily="49" charset="-122"/>
            </a:endParaRPr>
          </a:p>
        </p:txBody>
      </p:sp>
      <p:sp>
        <p:nvSpPr>
          <p:cNvPr id="597007" name="Rectangle 15"/>
          <p:cNvSpPr/>
          <p:nvPr/>
        </p:nvSpPr>
        <p:spPr>
          <a:xfrm>
            <a:off x="684213" y="620713"/>
            <a:ext cx="7200900" cy="6762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dirty="0">
                <a:solidFill>
                  <a:srgbClr val="000000"/>
                </a:solidFill>
                <a:ea typeface="隶书" panose="02010509060101010101" pitchFamily="49" charset="-122"/>
              </a:rPr>
              <a:t>三、主存空间的分配与回收</a:t>
            </a:r>
            <a:endParaRPr lang="zh-CN" altLang="en-US" dirty="0">
              <a:solidFill>
                <a:srgbClr val="000000"/>
              </a:solidFill>
              <a:ea typeface="隶书" panose="02010509060101010101" pitchFamily="49" charset="-122"/>
            </a:endParaRPr>
          </a:p>
        </p:txBody>
      </p:sp>
      <p:grpSp>
        <p:nvGrpSpPr>
          <p:cNvPr id="597331" name="Group 339"/>
          <p:cNvGrpSpPr/>
          <p:nvPr/>
        </p:nvGrpSpPr>
        <p:grpSpPr>
          <a:xfrm>
            <a:off x="1752600" y="1752600"/>
            <a:ext cx="5845175" cy="2057400"/>
            <a:chOff x="1104" y="1104"/>
            <a:chExt cx="3682" cy="1296"/>
          </a:xfrm>
        </p:grpSpPr>
        <p:grpSp>
          <p:nvGrpSpPr>
            <p:cNvPr id="98317" name="Group 338"/>
            <p:cNvGrpSpPr/>
            <p:nvPr/>
          </p:nvGrpSpPr>
          <p:grpSpPr>
            <a:xfrm>
              <a:off x="1104" y="1104"/>
              <a:ext cx="3682" cy="1283"/>
              <a:chOff x="1111" y="1117"/>
              <a:chExt cx="3682" cy="1283"/>
            </a:xfrm>
          </p:grpSpPr>
          <p:sp>
            <p:nvSpPr>
              <p:cNvPr id="98333" name="Rectangle 106"/>
              <p:cNvSpPr/>
              <p:nvPr/>
            </p:nvSpPr>
            <p:spPr>
              <a:xfrm>
                <a:off x="4477" y="2136"/>
                <a:ext cx="262"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8334" name="Rectangle 105"/>
              <p:cNvSpPr/>
              <p:nvPr/>
            </p:nvSpPr>
            <p:spPr>
              <a:xfrm>
                <a:off x="4215" y="2136"/>
                <a:ext cx="262"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8335" name="Rectangle 104"/>
              <p:cNvSpPr/>
              <p:nvPr/>
            </p:nvSpPr>
            <p:spPr>
              <a:xfrm>
                <a:off x="3952" y="2136"/>
                <a:ext cx="263"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8336" name="Rectangle 103"/>
              <p:cNvSpPr/>
              <p:nvPr/>
            </p:nvSpPr>
            <p:spPr>
              <a:xfrm>
                <a:off x="3691" y="2136"/>
                <a:ext cx="261"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8337" name="Rectangle 102"/>
              <p:cNvSpPr/>
              <p:nvPr/>
            </p:nvSpPr>
            <p:spPr>
              <a:xfrm>
                <a:off x="3429" y="2136"/>
                <a:ext cx="262"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8338" name="Rectangle 101"/>
              <p:cNvSpPr/>
              <p:nvPr/>
            </p:nvSpPr>
            <p:spPr>
              <a:xfrm>
                <a:off x="2468" y="2136"/>
                <a:ext cx="961"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8339" name="Rectangle 100"/>
              <p:cNvSpPr/>
              <p:nvPr/>
            </p:nvSpPr>
            <p:spPr>
              <a:xfrm>
                <a:off x="2206" y="2136"/>
                <a:ext cx="262"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8340" name="Rectangle 99"/>
              <p:cNvSpPr/>
              <p:nvPr/>
            </p:nvSpPr>
            <p:spPr>
              <a:xfrm>
                <a:off x="1920" y="2136"/>
                <a:ext cx="286"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8341" name="Rectangle 98"/>
              <p:cNvSpPr/>
              <p:nvPr/>
            </p:nvSpPr>
            <p:spPr>
              <a:xfrm>
                <a:off x="1683" y="2136"/>
                <a:ext cx="237"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8342" name="Rectangle 97"/>
              <p:cNvSpPr/>
              <p:nvPr/>
            </p:nvSpPr>
            <p:spPr>
              <a:xfrm>
                <a:off x="1392" y="2136"/>
                <a:ext cx="291"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8343" name="Rectangle 96"/>
              <p:cNvSpPr/>
              <p:nvPr/>
            </p:nvSpPr>
            <p:spPr>
              <a:xfrm>
                <a:off x="1156" y="2136"/>
                <a:ext cx="236"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8344" name="Rectangle 95"/>
              <p:cNvSpPr/>
              <p:nvPr/>
            </p:nvSpPr>
            <p:spPr>
              <a:xfrm>
                <a:off x="4477" y="1887"/>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45" name="Rectangle 94"/>
              <p:cNvSpPr/>
              <p:nvPr/>
            </p:nvSpPr>
            <p:spPr>
              <a:xfrm>
                <a:off x="4215" y="1887"/>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46" name="Rectangle 93"/>
              <p:cNvSpPr/>
              <p:nvPr/>
            </p:nvSpPr>
            <p:spPr>
              <a:xfrm>
                <a:off x="3952" y="1887"/>
                <a:ext cx="263"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47" name="Rectangle 92"/>
              <p:cNvSpPr/>
              <p:nvPr/>
            </p:nvSpPr>
            <p:spPr>
              <a:xfrm>
                <a:off x="3691" y="1887"/>
                <a:ext cx="26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48" name="Rectangle 91"/>
              <p:cNvSpPr/>
              <p:nvPr/>
            </p:nvSpPr>
            <p:spPr>
              <a:xfrm>
                <a:off x="3429" y="1887"/>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49" name="Rectangle 90"/>
              <p:cNvSpPr/>
              <p:nvPr/>
            </p:nvSpPr>
            <p:spPr>
              <a:xfrm>
                <a:off x="2468" y="1887"/>
                <a:ext cx="96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b="1" dirty="0">
                  <a:ea typeface="楷体_GB2312" pitchFamily="49" charset="-122"/>
                </a:endParaRPr>
              </a:p>
            </p:txBody>
          </p:sp>
          <p:sp>
            <p:nvSpPr>
              <p:cNvPr id="98350" name="Rectangle 89"/>
              <p:cNvSpPr/>
              <p:nvPr/>
            </p:nvSpPr>
            <p:spPr>
              <a:xfrm>
                <a:off x="2206" y="1887"/>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51" name="Rectangle 88"/>
              <p:cNvSpPr/>
              <p:nvPr/>
            </p:nvSpPr>
            <p:spPr>
              <a:xfrm>
                <a:off x="1920" y="1887"/>
                <a:ext cx="286"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52" name="Rectangle 87"/>
              <p:cNvSpPr/>
              <p:nvPr/>
            </p:nvSpPr>
            <p:spPr>
              <a:xfrm>
                <a:off x="1683" y="1887"/>
                <a:ext cx="237"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53" name="Rectangle 86"/>
              <p:cNvSpPr/>
              <p:nvPr/>
            </p:nvSpPr>
            <p:spPr>
              <a:xfrm>
                <a:off x="1392" y="1887"/>
                <a:ext cx="29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54" name="Rectangle 85"/>
              <p:cNvSpPr/>
              <p:nvPr/>
            </p:nvSpPr>
            <p:spPr>
              <a:xfrm>
                <a:off x="1156" y="1887"/>
                <a:ext cx="236"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55" name="Rectangle 84"/>
              <p:cNvSpPr/>
              <p:nvPr/>
            </p:nvSpPr>
            <p:spPr>
              <a:xfrm>
                <a:off x="4477" y="1638"/>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56" name="Rectangle 83"/>
              <p:cNvSpPr/>
              <p:nvPr/>
            </p:nvSpPr>
            <p:spPr>
              <a:xfrm>
                <a:off x="4215" y="1638"/>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57" name="Rectangle 82"/>
              <p:cNvSpPr/>
              <p:nvPr/>
            </p:nvSpPr>
            <p:spPr>
              <a:xfrm>
                <a:off x="3952" y="1638"/>
                <a:ext cx="263"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r>
                  <a:rPr lang="en-US" altLang="zh-CN" sz="2000" b="1" dirty="0">
                    <a:ea typeface="楷体_GB2312" pitchFamily="49" charset="-122"/>
                  </a:rPr>
                  <a:t>0</a:t>
                </a:r>
                <a:endParaRPr lang="en-US" altLang="zh-CN" sz="2000" b="1" dirty="0">
                  <a:ea typeface="楷体_GB2312" pitchFamily="49" charset="-122"/>
                </a:endParaRPr>
              </a:p>
            </p:txBody>
          </p:sp>
          <p:sp>
            <p:nvSpPr>
              <p:cNvPr id="98358" name="Rectangle 81"/>
              <p:cNvSpPr/>
              <p:nvPr/>
            </p:nvSpPr>
            <p:spPr>
              <a:xfrm>
                <a:off x="3691" y="1638"/>
                <a:ext cx="26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59" name="Rectangle 80"/>
              <p:cNvSpPr/>
              <p:nvPr/>
            </p:nvSpPr>
            <p:spPr>
              <a:xfrm>
                <a:off x="3429" y="1638"/>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60" name="Rectangle 79"/>
              <p:cNvSpPr/>
              <p:nvPr/>
            </p:nvSpPr>
            <p:spPr>
              <a:xfrm>
                <a:off x="2468" y="1638"/>
                <a:ext cx="96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b="1" dirty="0">
                  <a:ea typeface="楷体_GB2312" pitchFamily="49" charset="-122"/>
                </a:endParaRPr>
              </a:p>
            </p:txBody>
          </p:sp>
          <p:sp>
            <p:nvSpPr>
              <p:cNvPr id="98361" name="Rectangle 78"/>
              <p:cNvSpPr/>
              <p:nvPr/>
            </p:nvSpPr>
            <p:spPr>
              <a:xfrm>
                <a:off x="2206" y="1638"/>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62" name="Rectangle 77"/>
              <p:cNvSpPr/>
              <p:nvPr/>
            </p:nvSpPr>
            <p:spPr>
              <a:xfrm>
                <a:off x="1920" y="1638"/>
                <a:ext cx="286"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63" name="Rectangle 76"/>
              <p:cNvSpPr/>
              <p:nvPr/>
            </p:nvSpPr>
            <p:spPr>
              <a:xfrm>
                <a:off x="1683" y="1638"/>
                <a:ext cx="237"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64" name="Rectangle 75"/>
              <p:cNvSpPr/>
              <p:nvPr/>
            </p:nvSpPr>
            <p:spPr>
              <a:xfrm>
                <a:off x="1392" y="1638"/>
                <a:ext cx="29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65" name="Rectangle 74"/>
              <p:cNvSpPr/>
              <p:nvPr/>
            </p:nvSpPr>
            <p:spPr>
              <a:xfrm>
                <a:off x="1156" y="1638"/>
                <a:ext cx="236"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66" name="Rectangle 73"/>
              <p:cNvSpPr/>
              <p:nvPr/>
            </p:nvSpPr>
            <p:spPr>
              <a:xfrm>
                <a:off x="4477" y="1389"/>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67" name="Rectangle 72"/>
              <p:cNvSpPr/>
              <p:nvPr/>
            </p:nvSpPr>
            <p:spPr>
              <a:xfrm>
                <a:off x="4215" y="1389"/>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68" name="Rectangle 71"/>
              <p:cNvSpPr/>
              <p:nvPr/>
            </p:nvSpPr>
            <p:spPr>
              <a:xfrm>
                <a:off x="3952" y="1389"/>
                <a:ext cx="263"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8369" name="Rectangle 70"/>
              <p:cNvSpPr/>
              <p:nvPr/>
            </p:nvSpPr>
            <p:spPr>
              <a:xfrm>
                <a:off x="3691" y="1389"/>
                <a:ext cx="26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70" name="Rectangle 69"/>
              <p:cNvSpPr/>
              <p:nvPr/>
            </p:nvSpPr>
            <p:spPr>
              <a:xfrm>
                <a:off x="3429" y="1389"/>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71" name="Rectangle 68"/>
              <p:cNvSpPr/>
              <p:nvPr/>
            </p:nvSpPr>
            <p:spPr>
              <a:xfrm>
                <a:off x="2468" y="1389"/>
                <a:ext cx="96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b="1" dirty="0">
                  <a:ea typeface="楷体_GB2312" pitchFamily="49" charset="-122"/>
                </a:endParaRPr>
              </a:p>
            </p:txBody>
          </p:sp>
          <p:sp>
            <p:nvSpPr>
              <p:cNvPr id="98372" name="Rectangle 67"/>
              <p:cNvSpPr/>
              <p:nvPr/>
            </p:nvSpPr>
            <p:spPr>
              <a:xfrm>
                <a:off x="2206" y="1389"/>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73" name="Rectangle 66"/>
              <p:cNvSpPr/>
              <p:nvPr/>
            </p:nvSpPr>
            <p:spPr>
              <a:xfrm>
                <a:off x="1920" y="1389"/>
                <a:ext cx="286"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74" name="Rectangle 65"/>
              <p:cNvSpPr/>
              <p:nvPr/>
            </p:nvSpPr>
            <p:spPr>
              <a:xfrm>
                <a:off x="1683" y="1389"/>
                <a:ext cx="237"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75" name="Rectangle 64"/>
              <p:cNvSpPr/>
              <p:nvPr/>
            </p:nvSpPr>
            <p:spPr>
              <a:xfrm>
                <a:off x="1392" y="1389"/>
                <a:ext cx="29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8376" name="Rectangle 63"/>
              <p:cNvSpPr/>
              <p:nvPr/>
            </p:nvSpPr>
            <p:spPr>
              <a:xfrm>
                <a:off x="1156" y="1389"/>
                <a:ext cx="236"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grpSp>
            <p:nvGrpSpPr>
              <p:cNvPr id="98377" name="Group 337"/>
              <p:cNvGrpSpPr/>
              <p:nvPr/>
            </p:nvGrpSpPr>
            <p:grpSpPr>
              <a:xfrm>
                <a:off x="1111" y="1117"/>
                <a:ext cx="3682" cy="1283"/>
                <a:chOff x="1111" y="1117"/>
                <a:chExt cx="3682" cy="1283"/>
              </a:xfrm>
            </p:grpSpPr>
            <p:sp>
              <p:nvSpPr>
                <p:cNvPr id="98379" name="Rectangle 17"/>
                <p:cNvSpPr/>
                <p:nvPr/>
              </p:nvSpPr>
              <p:spPr>
                <a:xfrm>
                  <a:off x="1111" y="1117"/>
                  <a:ext cx="3682" cy="288"/>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Arial" panose="020B0604020202020204" pitchFamily="34" charset="0"/>
                      <a:ea typeface="楷体_GB2312" pitchFamily="49" charset="-122"/>
                    </a:rPr>
                    <a:t>15 14 13 12 11                    4   3   2   1   0</a:t>
                  </a:r>
                  <a:endParaRPr lang="en-US" altLang="zh-CN" sz="2400" b="1" dirty="0">
                    <a:latin typeface="Arial" panose="020B0604020202020204" pitchFamily="34" charset="0"/>
                    <a:ea typeface="楷体_GB2312" pitchFamily="49" charset="-122"/>
                  </a:endParaRPr>
                </a:p>
              </p:txBody>
            </p:sp>
            <p:sp>
              <p:nvSpPr>
                <p:cNvPr id="98380" name="Line 109"/>
                <p:cNvSpPr/>
                <p:nvPr/>
              </p:nvSpPr>
              <p:spPr>
                <a:xfrm>
                  <a:off x="1156" y="1389"/>
                  <a:ext cx="0" cy="1011"/>
                </a:xfrm>
                <a:prstGeom prst="line">
                  <a:avLst/>
                </a:prstGeom>
                <a:ln w="12700" cap="rnd" cmpd="sng">
                  <a:solidFill>
                    <a:srgbClr val="000000"/>
                  </a:solidFill>
                  <a:prstDash val="solid"/>
                  <a:miter/>
                  <a:headEnd type="none" w="med" len="med"/>
                  <a:tailEnd type="none" w="med" len="med"/>
                </a:ln>
              </p:spPr>
            </p:sp>
          </p:grpSp>
          <p:sp>
            <p:nvSpPr>
              <p:cNvPr id="98378" name="Line 199"/>
              <p:cNvSpPr/>
              <p:nvPr/>
            </p:nvSpPr>
            <p:spPr>
              <a:xfrm>
                <a:off x="1156" y="2136"/>
                <a:ext cx="3583" cy="0"/>
              </a:xfrm>
              <a:prstGeom prst="line">
                <a:avLst/>
              </a:prstGeom>
              <a:ln w="12700" cap="rnd" cmpd="sng">
                <a:solidFill>
                  <a:srgbClr val="000000"/>
                </a:solidFill>
                <a:prstDash val="solid"/>
                <a:miter/>
                <a:headEnd type="none" w="med" len="med"/>
                <a:tailEnd type="none" w="med" len="med"/>
              </a:ln>
            </p:spPr>
          </p:sp>
        </p:grpSp>
        <p:sp>
          <p:nvSpPr>
            <p:cNvPr id="98318" name="Line 107"/>
            <p:cNvSpPr/>
            <p:nvPr/>
          </p:nvSpPr>
          <p:spPr>
            <a:xfrm>
              <a:off x="1156" y="1389"/>
              <a:ext cx="3583" cy="0"/>
            </a:xfrm>
            <a:prstGeom prst="line">
              <a:avLst/>
            </a:prstGeom>
            <a:ln w="12700" cap="rnd" cmpd="sng">
              <a:solidFill>
                <a:srgbClr val="000000"/>
              </a:solidFill>
              <a:prstDash val="solid"/>
              <a:miter/>
              <a:headEnd type="none" w="med" len="med"/>
              <a:tailEnd type="none" w="med" len="med"/>
            </a:ln>
          </p:spPr>
        </p:sp>
        <p:sp>
          <p:nvSpPr>
            <p:cNvPr id="98319" name="Line 108"/>
            <p:cNvSpPr/>
            <p:nvPr/>
          </p:nvSpPr>
          <p:spPr>
            <a:xfrm>
              <a:off x="1156" y="2400"/>
              <a:ext cx="3583" cy="0"/>
            </a:xfrm>
            <a:prstGeom prst="line">
              <a:avLst/>
            </a:prstGeom>
            <a:ln w="12700" cap="rnd" cmpd="sng">
              <a:solidFill>
                <a:srgbClr val="000000"/>
              </a:solidFill>
              <a:prstDash val="solid"/>
              <a:miter/>
              <a:headEnd type="none" w="med" len="med"/>
              <a:tailEnd type="none" w="med" len="med"/>
            </a:ln>
          </p:spPr>
        </p:sp>
        <p:sp>
          <p:nvSpPr>
            <p:cNvPr id="98320" name="Line 110"/>
            <p:cNvSpPr/>
            <p:nvPr/>
          </p:nvSpPr>
          <p:spPr>
            <a:xfrm>
              <a:off x="4739" y="1389"/>
              <a:ext cx="0" cy="1011"/>
            </a:xfrm>
            <a:prstGeom prst="line">
              <a:avLst/>
            </a:prstGeom>
            <a:ln w="12700" cap="rnd" cmpd="sng">
              <a:solidFill>
                <a:srgbClr val="000000"/>
              </a:solidFill>
              <a:prstDash val="solid"/>
              <a:miter/>
              <a:headEnd type="none" w="med" len="med"/>
              <a:tailEnd type="none" w="med" len="med"/>
            </a:ln>
          </p:spPr>
        </p:sp>
        <p:sp>
          <p:nvSpPr>
            <p:cNvPr id="98321" name="Line 113"/>
            <p:cNvSpPr/>
            <p:nvPr/>
          </p:nvSpPr>
          <p:spPr>
            <a:xfrm>
              <a:off x="1156" y="1638"/>
              <a:ext cx="3583" cy="0"/>
            </a:xfrm>
            <a:prstGeom prst="line">
              <a:avLst/>
            </a:prstGeom>
            <a:ln w="12700" cap="rnd" cmpd="sng">
              <a:solidFill>
                <a:srgbClr val="000000"/>
              </a:solidFill>
              <a:prstDash val="solid"/>
              <a:miter/>
              <a:headEnd type="none" w="med" len="med"/>
              <a:tailEnd type="none" w="med" len="med"/>
            </a:ln>
          </p:spPr>
        </p:sp>
        <p:sp>
          <p:nvSpPr>
            <p:cNvPr id="98322" name="Line 115"/>
            <p:cNvSpPr/>
            <p:nvPr/>
          </p:nvSpPr>
          <p:spPr>
            <a:xfrm>
              <a:off x="1392" y="1389"/>
              <a:ext cx="0" cy="1011"/>
            </a:xfrm>
            <a:prstGeom prst="line">
              <a:avLst/>
            </a:prstGeom>
            <a:ln w="12700" cap="rnd" cmpd="sng">
              <a:solidFill>
                <a:srgbClr val="000000"/>
              </a:solidFill>
              <a:prstDash val="solid"/>
              <a:miter/>
              <a:headEnd type="none" w="med" len="med"/>
              <a:tailEnd type="none" w="med" len="med"/>
            </a:ln>
          </p:spPr>
        </p:sp>
        <p:sp>
          <p:nvSpPr>
            <p:cNvPr id="98323" name="Line 118"/>
            <p:cNvSpPr/>
            <p:nvPr/>
          </p:nvSpPr>
          <p:spPr>
            <a:xfrm>
              <a:off x="1683" y="1389"/>
              <a:ext cx="0" cy="1011"/>
            </a:xfrm>
            <a:prstGeom prst="line">
              <a:avLst/>
            </a:prstGeom>
            <a:ln w="12700" cap="rnd" cmpd="sng">
              <a:solidFill>
                <a:srgbClr val="000000"/>
              </a:solidFill>
              <a:prstDash val="solid"/>
              <a:miter/>
              <a:headEnd type="none" w="med" len="med"/>
              <a:tailEnd type="none" w="med" len="med"/>
            </a:ln>
          </p:spPr>
        </p:sp>
        <p:sp>
          <p:nvSpPr>
            <p:cNvPr id="98324" name="Line 121"/>
            <p:cNvSpPr/>
            <p:nvPr/>
          </p:nvSpPr>
          <p:spPr>
            <a:xfrm>
              <a:off x="1920" y="1389"/>
              <a:ext cx="0" cy="1011"/>
            </a:xfrm>
            <a:prstGeom prst="line">
              <a:avLst/>
            </a:prstGeom>
            <a:ln w="12700" cap="rnd" cmpd="sng">
              <a:solidFill>
                <a:srgbClr val="000000"/>
              </a:solidFill>
              <a:prstDash val="solid"/>
              <a:miter/>
              <a:headEnd type="none" w="med" len="med"/>
              <a:tailEnd type="none" w="med" len="med"/>
            </a:ln>
          </p:spPr>
        </p:sp>
        <p:sp>
          <p:nvSpPr>
            <p:cNvPr id="98325" name="Line 124"/>
            <p:cNvSpPr/>
            <p:nvPr/>
          </p:nvSpPr>
          <p:spPr>
            <a:xfrm>
              <a:off x="2206" y="1389"/>
              <a:ext cx="0" cy="1011"/>
            </a:xfrm>
            <a:prstGeom prst="line">
              <a:avLst/>
            </a:prstGeom>
            <a:ln w="12700" cap="rnd" cmpd="sng">
              <a:solidFill>
                <a:srgbClr val="000000"/>
              </a:solidFill>
              <a:prstDash val="solid"/>
              <a:miter/>
              <a:headEnd type="none" w="med" len="med"/>
              <a:tailEnd type="none" w="med" len="med"/>
            </a:ln>
          </p:spPr>
        </p:sp>
        <p:sp>
          <p:nvSpPr>
            <p:cNvPr id="98326" name="Line 127"/>
            <p:cNvSpPr/>
            <p:nvPr/>
          </p:nvSpPr>
          <p:spPr>
            <a:xfrm>
              <a:off x="2468" y="1389"/>
              <a:ext cx="0" cy="1011"/>
            </a:xfrm>
            <a:prstGeom prst="line">
              <a:avLst/>
            </a:prstGeom>
            <a:ln w="12700" cap="rnd" cmpd="sng">
              <a:solidFill>
                <a:srgbClr val="000000"/>
              </a:solidFill>
              <a:prstDash val="solid"/>
              <a:miter/>
              <a:headEnd type="none" w="med" len="med"/>
              <a:tailEnd type="none" w="med" len="med"/>
            </a:ln>
          </p:spPr>
        </p:sp>
        <p:sp>
          <p:nvSpPr>
            <p:cNvPr id="98327" name="Line 130"/>
            <p:cNvSpPr/>
            <p:nvPr/>
          </p:nvSpPr>
          <p:spPr>
            <a:xfrm>
              <a:off x="3429" y="1389"/>
              <a:ext cx="0" cy="1011"/>
            </a:xfrm>
            <a:prstGeom prst="line">
              <a:avLst/>
            </a:prstGeom>
            <a:ln w="12700" cap="rnd" cmpd="sng">
              <a:solidFill>
                <a:srgbClr val="000000"/>
              </a:solidFill>
              <a:prstDash val="solid"/>
              <a:miter/>
              <a:headEnd type="none" w="med" len="med"/>
              <a:tailEnd type="none" w="med" len="med"/>
            </a:ln>
          </p:spPr>
        </p:sp>
        <p:sp>
          <p:nvSpPr>
            <p:cNvPr id="98328" name="Line 133"/>
            <p:cNvSpPr/>
            <p:nvPr/>
          </p:nvSpPr>
          <p:spPr>
            <a:xfrm>
              <a:off x="3691" y="1389"/>
              <a:ext cx="0" cy="1011"/>
            </a:xfrm>
            <a:prstGeom prst="line">
              <a:avLst/>
            </a:prstGeom>
            <a:ln w="12700" cap="rnd" cmpd="sng">
              <a:solidFill>
                <a:srgbClr val="000000"/>
              </a:solidFill>
              <a:prstDash val="solid"/>
              <a:miter/>
              <a:headEnd type="none" w="med" len="med"/>
              <a:tailEnd type="none" w="med" len="med"/>
            </a:ln>
          </p:spPr>
        </p:sp>
        <p:sp>
          <p:nvSpPr>
            <p:cNvPr id="98329" name="Line 136"/>
            <p:cNvSpPr/>
            <p:nvPr/>
          </p:nvSpPr>
          <p:spPr>
            <a:xfrm>
              <a:off x="3952" y="1389"/>
              <a:ext cx="0" cy="1011"/>
            </a:xfrm>
            <a:prstGeom prst="line">
              <a:avLst/>
            </a:prstGeom>
            <a:ln w="12700" cap="rnd" cmpd="sng">
              <a:solidFill>
                <a:srgbClr val="000000"/>
              </a:solidFill>
              <a:prstDash val="solid"/>
              <a:miter/>
              <a:headEnd type="none" w="med" len="med"/>
              <a:tailEnd type="none" w="med" len="med"/>
            </a:ln>
          </p:spPr>
        </p:sp>
        <p:sp>
          <p:nvSpPr>
            <p:cNvPr id="98330" name="Line 139"/>
            <p:cNvSpPr/>
            <p:nvPr/>
          </p:nvSpPr>
          <p:spPr>
            <a:xfrm>
              <a:off x="4215" y="1389"/>
              <a:ext cx="0" cy="1011"/>
            </a:xfrm>
            <a:prstGeom prst="line">
              <a:avLst/>
            </a:prstGeom>
            <a:ln w="12700" cap="rnd" cmpd="sng">
              <a:solidFill>
                <a:srgbClr val="000000"/>
              </a:solidFill>
              <a:prstDash val="solid"/>
              <a:miter/>
              <a:headEnd type="none" w="med" len="med"/>
              <a:tailEnd type="none" w="med" len="med"/>
            </a:ln>
          </p:spPr>
        </p:sp>
        <p:sp>
          <p:nvSpPr>
            <p:cNvPr id="98331" name="Line 142"/>
            <p:cNvSpPr/>
            <p:nvPr/>
          </p:nvSpPr>
          <p:spPr>
            <a:xfrm>
              <a:off x="4477" y="1389"/>
              <a:ext cx="0" cy="1011"/>
            </a:xfrm>
            <a:prstGeom prst="line">
              <a:avLst/>
            </a:prstGeom>
            <a:ln w="12700" cap="rnd" cmpd="sng">
              <a:solidFill>
                <a:srgbClr val="000000"/>
              </a:solidFill>
              <a:prstDash val="solid"/>
              <a:miter/>
              <a:headEnd type="none" w="med" len="med"/>
              <a:tailEnd type="none" w="med" len="med"/>
            </a:ln>
          </p:spPr>
        </p:sp>
        <p:sp>
          <p:nvSpPr>
            <p:cNvPr id="98332" name="Line 146"/>
            <p:cNvSpPr/>
            <p:nvPr/>
          </p:nvSpPr>
          <p:spPr>
            <a:xfrm>
              <a:off x="1156" y="1887"/>
              <a:ext cx="3583" cy="0"/>
            </a:xfrm>
            <a:prstGeom prst="line">
              <a:avLst/>
            </a:prstGeom>
            <a:ln w="12700" cap="rnd" cmpd="sng">
              <a:solidFill>
                <a:srgbClr val="000000"/>
              </a:solidFill>
              <a:prstDash val="solid"/>
              <a:miter/>
              <a:headEnd type="none" w="med" len="med"/>
              <a:tailEnd type="none" w="med" len="med"/>
            </a:ln>
          </p:spPr>
        </p:sp>
      </p:grpSp>
      <p:sp>
        <p:nvSpPr>
          <p:cNvPr id="597309" name="Text Box 317"/>
          <p:cNvSpPr txBox="1"/>
          <p:nvPr/>
        </p:nvSpPr>
        <p:spPr>
          <a:xfrm>
            <a:off x="611188" y="3933825"/>
            <a:ext cx="5867400" cy="519113"/>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eaLnBrk="1" hangingPunct="1">
              <a:spcBef>
                <a:spcPct val="50000"/>
              </a:spcBef>
              <a:buClrTx/>
              <a:buSzTx/>
              <a:buFontTx/>
              <a:buNone/>
            </a:pPr>
            <a:r>
              <a:rPr lang="zh-CN" altLang="en-US" sz="2800" dirty="0">
                <a:solidFill>
                  <a:srgbClr val="9900CC"/>
                </a:solidFill>
                <a:latin typeface="隶书" panose="02010509060101010101" pitchFamily="49" charset="-122"/>
                <a:ea typeface="隶书" panose="02010509060101010101" pitchFamily="49" charset="-122"/>
              </a:rPr>
              <a:t>（二）页的分配与回收</a:t>
            </a:r>
            <a:endParaRPr lang="zh-CN" altLang="en-US" sz="2800" dirty="0">
              <a:solidFill>
                <a:srgbClr val="9900CC"/>
              </a:solidFill>
              <a:latin typeface="隶书" panose="02010509060101010101" pitchFamily="49" charset="-122"/>
              <a:ea typeface="隶书" panose="02010509060101010101" pitchFamily="49" charset="-122"/>
            </a:endParaRPr>
          </a:p>
        </p:txBody>
      </p:sp>
      <p:grpSp>
        <p:nvGrpSpPr>
          <p:cNvPr id="597328" name="Group 336"/>
          <p:cNvGrpSpPr/>
          <p:nvPr/>
        </p:nvGrpSpPr>
        <p:grpSpPr>
          <a:xfrm>
            <a:off x="838200" y="4495800"/>
            <a:ext cx="7959725" cy="2079625"/>
            <a:chOff x="612" y="2840"/>
            <a:chExt cx="5014" cy="1310"/>
          </a:xfrm>
        </p:grpSpPr>
        <p:sp>
          <p:nvSpPr>
            <p:cNvPr id="98312" name="Rectangle 322"/>
            <p:cNvSpPr/>
            <p:nvPr/>
          </p:nvSpPr>
          <p:spPr>
            <a:xfrm>
              <a:off x="612" y="2840"/>
              <a:ext cx="4491" cy="288"/>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714375" algn="l"/>
                </a:tabLst>
              </a:pPr>
              <a:r>
                <a:rPr lang="zh-CN" altLang="en-US" sz="2400" b="1" dirty="0">
                  <a:solidFill>
                    <a:srgbClr val="006600"/>
                  </a:solidFill>
                  <a:latin typeface="Arial" panose="020B0604020202020204" pitchFamily="34" charset="0"/>
                  <a:ea typeface="楷体_GB2312" pitchFamily="49" charset="-122"/>
                </a:rPr>
                <a:t>分配：</a:t>
              </a:r>
              <a:r>
                <a:rPr lang="zh-CN" altLang="en-US" sz="2400" b="1" dirty="0">
                  <a:solidFill>
                    <a:srgbClr val="000099"/>
                  </a:solidFill>
                  <a:latin typeface="Arial" panose="020B0604020202020204" pitchFamily="34" charset="0"/>
                  <a:ea typeface="楷体_GB2312" pitchFamily="49" charset="-122"/>
                </a:rPr>
                <a:t>                                      字号（行）</a:t>
              </a:r>
              <a:r>
                <a:rPr lang="zh-CN" altLang="en-US" sz="1200" b="1" dirty="0">
                  <a:solidFill>
                    <a:srgbClr val="0000FF"/>
                  </a:solidFill>
                  <a:latin typeface="Arial" panose="020B0604020202020204" pitchFamily="34" charset="0"/>
                </a:rPr>
                <a:t>  </a:t>
              </a:r>
              <a:endParaRPr lang="zh-CN" altLang="en-US" sz="1800" dirty="0">
                <a:latin typeface="Arial" panose="020B0604020202020204" pitchFamily="34" charset="0"/>
              </a:endParaRPr>
            </a:p>
          </p:txBody>
        </p:sp>
        <p:sp>
          <p:nvSpPr>
            <p:cNvPr id="98313" name="Rectangle 323"/>
            <p:cNvSpPr/>
            <p:nvPr/>
          </p:nvSpPr>
          <p:spPr>
            <a:xfrm>
              <a:off x="624" y="3264"/>
              <a:ext cx="5002" cy="886"/>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spcBef>
                  <a:spcPct val="0"/>
                </a:spcBef>
                <a:buClrTx/>
                <a:buSzTx/>
                <a:buFontTx/>
                <a:buNone/>
              </a:pPr>
              <a:r>
                <a:rPr lang="zh-CN" altLang="en-US" sz="2400" b="1" dirty="0">
                  <a:solidFill>
                    <a:srgbClr val="000099"/>
                  </a:solidFill>
                  <a:latin typeface="Arial" panose="020B0604020202020204" pitchFamily="34" charset="0"/>
                  <a:ea typeface="楷体_GB2312" pitchFamily="49" charset="-122"/>
                </a:rPr>
                <a:t>扫描位示图，找是</a:t>
              </a:r>
              <a:r>
                <a:rPr lang="zh-CN" altLang="en-US" sz="2400" b="1" dirty="0">
                  <a:solidFill>
                    <a:srgbClr val="000099"/>
                  </a:solidFill>
                  <a:ea typeface="楷体_GB2312" pitchFamily="49" charset="-122"/>
                </a:rPr>
                <a:t>“</a:t>
              </a:r>
              <a:r>
                <a:rPr lang="en-US" altLang="zh-CN" sz="2400" b="1" dirty="0">
                  <a:solidFill>
                    <a:srgbClr val="000099"/>
                  </a:solidFill>
                  <a:latin typeface="Arial" panose="020B0604020202020204" pitchFamily="34" charset="0"/>
                  <a:ea typeface="楷体_GB2312" pitchFamily="49" charset="-122"/>
                </a:rPr>
                <a:t>0</a:t>
              </a:r>
              <a:r>
                <a:rPr lang="en-US" altLang="zh-CN" sz="2400" b="1" dirty="0">
                  <a:solidFill>
                    <a:srgbClr val="000099"/>
                  </a:solidFill>
                  <a:ea typeface="楷体_GB2312" pitchFamily="49" charset="-122"/>
                </a:rPr>
                <a:t>”</a:t>
              </a:r>
              <a:r>
                <a:rPr lang="zh-CN" altLang="en-US" sz="2400" b="1" dirty="0">
                  <a:solidFill>
                    <a:srgbClr val="000099"/>
                  </a:solidFill>
                  <a:latin typeface="Arial" panose="020B0604020202020204" pitchFamily="34" charset="0"/>
                  <a:ea typeface="楷体_GB2312" pitchFamily="49" charset="-122"/>
                </a:rPr>
                <a:t>的位                   修改该位为：</a:t>
              </a:r>
              <a:r>
                <a:rPr lang="zh-CN" altLang="en-US" sz="2400" b="1" dirty="0">
                  <a:solidFill>
                    <a:srgbClr val="000099"/>
                  </a:solidFill>
                  <a:ea typeface="楷体_GB2312" pitchFamily="49" charset="-122"/>
                </a:rPr>
                <a:t>“</a:t>
              </a:r>
              <a:r>
                <a:rPr lang="en-US" altLang="zh-CN" sz="2400" b="1" dirty="0">
                  <a:solidFill>
                    <a:srgbClr val="000099"/>
                  </a:solidFill>
                  <a:latin typeface="Arial" panose="020B0604020202020204" pitchFamily="34" charset="0"/>
                  <a:ea typeface="楷体_GB2312" pitchFamily="49" charset="-122"/>
                </a:rPr>
                <a:t>1</a:t>
              </a:r>
              <a:r>
                <a:rPr lang="en-US" altLang="zh-CN" sz="2400" b="1" dirty="0">
                  <a:solidFill>
                    <a:srgbClr val="000099"/>
                  </a:solidFill>
                  <a:ea typeface="楷体_GB2312" pitchFamily="49" charset="-122"/>
                </a:rPr>
                <a:t>”</a:t>
              </a:r>
              <a:r>
                <a:rPr lang="zh-CN" altLang="en-US" sz="2400" b="1" dirty="0">
                  <a:solidFill>
                    <a:srgbClr val="000099"/>
                  </a:solidFill>
                  <a:latin typeface="Arial" panose="020B0604020202020204" pitchFamily="34" charset="0"/>
                  <a:ea typeface="楷体_GB2312" pitchFamily="49" charset="-122"/>
                </a:rPr>
                <a:t>，</a:t>
              </a:r>
              <a:endParaRPr lang="zh-CN" altLang="en-US" sz="2400" b="1" dirty="0">
                <a:solidFill>
                  <a:srgbClr val="000099"/>
                </a:solidFill>
                <a:latin typeface="Arial" panose="020B0604020202020204" pitchFamily="34" charset="0"/>
                <a:ea typeface="楷体_GB2312" pitchFamily="49" charset="-122"/>
              </a:endParaRPr>
            </a:p>
            <a:p>
              <a:pPr marL="0" lvl="0" indent="0">
                <a:lnSpc>
                  <a:spcPct val="120000"/>
                </a:lnSpc>
                <a:spcBef>
                  <a:spcPct val="0"/>
                </a:spcBef>
                <a:buClrTx/>
                <a:buSzTx/>
                <a:buFontTx/>
                <a:buNone/>
              </a:pPr>
              <a:r>
                <a:rPr lang="zh-CN" altLang="en-US" sz="2400" b="1" dirty="0">
                  <a:solidFill>
                    <a:srgbClr val="000099"/>
                  </a:solidFill>
                  <a:latin typeface="Arial" panose="020B0604020202020204" pitchFamily="34" charset="0"/>
                  <a:ea typeface="楷体_GB2312" pitchFamily="49" charset="-122"/>
                </a:rPr>
                <a:t>                                                 位号（列）</a:t>
              </a:r>
              <a:endParaRPr lang="zh-CN" altLang="en-US" sz="2400" b="1" dirty="0">
                <a:solidFill>
                  <a:srgbClr val="000099"/>
                </a:solidFill>
                <a:latin typeface="宋体" panose="02010600030101010101" pitchFamily="2" charset="-122"/>
                <a:ea typeface="楷体_GB2312" pitchFamily="49" charset="-122"/>
              </a:endParaRPr>
            </a:p>
            <a:p>
              <a:pPr marL="0" lvl="0" indent="0">
                <a:lnSpc>
                  <a:spcPct val="120000"/>
                </a:lnSpc>
                <a:spcBef>
                  <a:spcPct val="0"/>
                </a:spcBef>
                <a:buClrTx/>
                <a:buSzTx/>
                <a:buFontTx/>
                <a:buNone/>
              </a:pPr>
              <a:r>
                <a:rPr lang="zh-CN" altLang="en-US" sz="2400" b="1" dirty="0">
                  <a:solidFill>
                    <a:srgbClr val="000099"/>
                  </a:solidFill>
                  <a:latin typeface="宋体" panose="02010600030101010101" pitchFamily="2" charset="-122"/>
                  <a:ea typeface="楷体_GB2312" pitchFamily="49" charset="-122"/>
                </a:rPr>
                <a:t>    块号 </a:t>
              </a:r>
              <a:r>
                <a:rPr lang="en-US" altLang="zh-CN" sz="2400" b="1" dirty="0">
                  <a:solidFill>
                    <a:srgbClr val="000099"/>
                  </a:solidFill>
                  <a:latin typeface="宋体" panose="02010600030101010101" pitchFamily="2" charset="-122"/>
                  <a:ea typeface="楷体_GB2312" pitchFamily="49" charset="-122"/>
                </a:rPr>
                <a:t>= </a:t>
              </a:r>
              <a:r>
                <a:rPr lang="zh-CN" altLang="en-US" sz="2400" b="1" dirty="0">
                  <a:solidFill>
                    <a:srgbClr val="000099"/>
                  </a:solidFill>
                  <a:latin typeface="宋体" panose="02010600030101010101" pitchFamily="2" charset="-122"/>
                  <a:ea typeface="楷体_GB2312" pitchFamily="49" charset="-122"/>
                </a:rPr>
                <a:t>字号 </a:t>
              </a:r>
              <a:r>
                <a:rPr lang="en-US" altLang="zh-CN" sz="2400" b="1" dirty="0">
                  <a:solidFill>
                    <a:srgbClr val="000099"/>
                  </a:solidFill>
                  <a:latin typeface="宋体" panose="02010600030101010101" pitchFamily="2" charset="-122"/>
                  <a:ea typeface="楷体_GB2312" pitchFamily="49" charset="-122"/>
                </a:rPr>
                <a:t>× </a:t>
              </a:r>
              <a:r>
                <a:rPr lang="zh-CN" altLang="en-US" sz="2400" b="1" dirty="0">
                  <a:solidFill>
                    <a:srgbClr val="000099"/>
                  </a:solidFill>
                  <a:latin typeface="宋体" panose="02010600030101010101" pitchFamily="2" charset="-122"/>
                  <a:ea typeface="楷体_GB2312" pitchFamily="49" charset="-122"/>
                </a:rPr>
                <a:t>字长 </a:t>
              </a:r>
              <a:r>
                <a:rPr lang="en-US" altLang="zh-CN" sz="2400" b="1" dirty="0">
                  <a:solidFill>
                    <a:srgbClr val="000099"/>
                  </a:solidFill>
                  <a:latin typeface="宋体" panose="02010600030101010101" pitchFamily="2" charset="-122"/>
                  <a:ea typeface="楷体_GB2312" pitchFamily="49" charset="-122"/>
                </a:rPr>
                <a:t>+ </a:t>
              </a:r>
              <a:r>
                <a:rPr lang="zh-CN" altLang="en-US" sz="2400" b="1" dirty="0">
                  <a:solidFill>
                    <a:srgbClr val="000099"/>
                  </a:solidFill>
                  <a:latin typeface="宋体" panose="02010600030101010101" pitchFamily="2" charset="-122"/>
                  <a:ea typeface="楷体_GB2312" pitchFamily="49" charset="-122"/>
                </a:rPr>
                <a:t>位号 ，返回块号。</a:t>
              </a:r>
              <a:r>
                <a:rPr lang="zh-CN" altLang="en-US" sz="1100" dirty="0">
                  <a:ea typeface="楷体_GB2312" pitchFamily="49" charset="-122"/>
                </a:rPr>
                <a:t> </a:t>
              </a:r>
              <a:endParaRPr lang="zh-CN" altLang="en-US" sz="1800" dirty="0">
                <a:latin typeface="Arial" panose="020B0604020202020204" pitchFamily="34" charset="0"/>
              </a:endParaRPr>
            </a:p>
          </p:txBody>
        </p:sp>
        <p:grpSp>
          <p:nvGrpSpPr>
            <p:cNvPr id="98314" name="Group 324"/>
            <p:cNvGrpSpPr/>
            <p:nvPr/>
          </p:nvGrpSpPr>
          <p:grpSpPr>
            <a:xfrm>
              <a:off x="2971" y="3082"/>
              <a:ext cx="227" cy="681"/>
              <a:chOff x="4808" y="6751"/>
              <a:chExt cx="526" cy="997"/>
            </a:xfrm>
          </p:grpSpPr>
          <p:sp>
            <p:nvSpPr>
              <p:cNvPr id="98315" name="Line 325"/>
              <p:cNvSpPr/>
              <p:nvPr/>
            </p:nvSpPr>
            <p:spPr>
              <a:xfrm rot="240000" flipH="1">
                <a:off x="4808" y="6751"/>
                <a:ext cx="526" cy="501"/>
              </a:xfrm>
              <a:prstGeom prst="line">
                <a:avLst/>
              </a:prstGeom>
              <a:ln w="38100" cap="flat" cmpd="sng">
                <a:solidFill>
                  <a:srgbClr val="0000FF"/>
                </a:solidFill>
                <a:prstDash val="solid"/>
                <a:headEnd type="none" w="med" len="med"/>
                <a:tailEnd type="none" w="med" len="med"/>
              </a:ln>
            </p:spPr>
          </p:sp>
          <p:sp>
            <p:nvSpPr>
              <p:cNvPr id="98316" name="Line 326"/>
              <p:cNvSpPr/>
              <p:nvPr/>
            </p:nvSpPr>
            <p:spPr>
              <a:xfrm>
                <a:off x="4809" y="7248"/>
                <a:ext cx="420" cy="500"/>
              </a:xfrm>
              <a:prstGeom prst="line">
                <a:avLst/>
              </a:prstGeom>
              <a:ln w="38100" cap="flat" cmpd="sng">
                <a:solidFill>
                  <a:srgbClr val="0000FF"/>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97007"/>
                                        </p:tgtEl>
                                        <p:attrNameLst>
                                          <p:attrName>style.visibility</p:attrName>
                                        </p:attrNameLst>
                                      </p:cBhvr>
                                      <p:to>
                                        <p:strVal val="visible"/>
                                      </p:to>
                                    </p:set>
                                    <p:anim calcmode="lin" valueType="num">
                                      <p:cBhvr additive="base">
                                        <p:cTn id="7" dur="500" fill="hold"/>
                                        <p:tgtEl>
                                          <p:spTgt spid="597007"/>
                                        </p:tgtEl>
                                        <p:attrNameLst>
                                          <p:attrName>ppt_x</p:attrName>
                                        </p:attrNameLst>
                                      </p:cBhvr>
                                      <p:tavLst>
                                        <p:tav tm="0">
                                          <p:val>
                                            <p:strVal val="0-#ppt_w/2"/>
                                          </p:val>
                                        </p:tav>
                                        <p:tav tm="100000">
                                          <p:val>
                                            <p:strVal val="#ppt_x"/>
                                          </p:val>
                                        </p:tav>
                                      </p:tavLst>
                                    </p:anim>
                                    <p:anim calcmode="lin" valueType="num">
                                      <p:cBhvr additive="base">
                                        <p:cTn id="8" dur="500" fill="hold"/>
                                        <p:tgtEl>
                                          <p:spTgt spid="59700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96994"/>
                                        </p:tgtEl>
                                        <p:attrNameLst>
                                          <p:attrName>style.visibility</p:attrName>
                                        </p:attrNameLst>
                                      </p:cBhvr>
                                      <p:to>
                                        <p:strVal val="visible"/>
                                      </p:to>
                                    </p:set>
                                    <p:anim calcmode="lin" valueType="num">
                                      <p:cBhvr additive="base">
                                        <p:cTn id="13" dur="500" fill="hold"/>
                                        <p:tgtEl>
                                          <p:spTgt spid="596994"/>
                                        </p:tgtEl>
                                        <p:attrNameLst>
                                          <p:attrName>ppt_x</p:attrName>
                                        </p:attrNameLst>
                                      </p:cBhvr>
                                      <p:tavLst>
                                        <p:tav tm="0">
                                          <p:val>
                                            <p:strVal val="0-#ppt_w/2"/>
                                          </p:val>
                                        </p:tav>
                                        <p:tav tm="100000">
                                          <p:val>
                                            <p:strVal val="#ppt_x"/>
                                          </p:val>
                                        </p:tav>
                                      </p:tavLst>
                                    </p:anim>
                                    <p:anim calcmode="lin" valueType="num">
                                      <p:cBhvr additive="base">
                                        <p:cTn id="14" dur="500" fill="hold"/>
                                        <p:tgtEl>
                                          <p:spTgt spid="59699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597331"/>
                                        </p:tgtEl>
                                        <p:attrNameLst>
                                          <p:attrName>style.visibility</p:attrName>
                                        </p:attrNameLst>
                                      </p:cBhvr>
                                      <p:to>
                                        <p:strVal val="visible"/>
                                      </p:to>
                                    </p:set>
                                    <p:animEffect transition="in" filter="wipe(up)">
                                      <p:cBhvr>
                                        <p:cTn id="19" dur="500"/>
                                        <p:tgtEl>
                                          <p:spTgt spid="597331"/>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597309"/>
                                        </p:tgtEl>
                                        <p:attrNameLst>
                                          <p:attrName>style.visibility</p:attrName>
                                        </p:attrNameLst>
                                      </p:cBhvr>
                                      <p:to>
                                        <p:strVal val="visible"/>
                                      </p:to>
                                    </p:set>
                                    <p:anim calcmode="lin" valueType="num">
                                      <p:cBhvr additive="base">
                                        <p:cTn id="24" dur="500" fill="hold"/>
                                        <p:tgtEl>
                                          <p:spTgt spid="597309"/>
                                        </p:tgtEl>
                                        <p:attrNameLst>
                                          <p:attrName>ppt_x</p:attrName>
                                        </p:attrNameLst>
                                      </p:cBhvr>
                                      <p:tavLst>
                                        <p:tav tm="0">
                                          <p:val>
                                            <p:strVal val="0-#ppt_w/2"/>
                                          </p:val>
                                        </p:tav>
                                        <p:tav tm="100000">
                                          <p:val>
                                            <p:strVal val="#ppt_x"/>
                                          </p:val>
                                        </p:tav>
                                      </p:tavLst>
                                    </p:anim>
                                    <p:anim calcmode="lin" valueType="num">
                                      <p:cBhvr additive="base">
                                        <p:cTn id="25" dur="500" fill="hold"/>
                                        <p:tgtEl>
                                          <p:spTgt spid="59730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97328"/>
                                        </p:tgtEl>
                                        <p:attrNameLst>
                                          <p:attrName>style.visibility</p:attrName>
                                        </p:attrNameLst>
                                      </p:cBhvr>
                                      <p:to>
                                        <p:strVal val="visible"/>
                                      </p:to>
                                    </p:set>
                                    <p:animEffect transition="in" filter="wipe(left)">
                                      <p:cBhvr>
                                        <p:cTn id="30" dur="500"/>
                                        <p:tgtEl>
                                          <p:spTgt spid="597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994" grpId="0" animBg="1"/>
      <p:bldP spid="597007" grpId="0"/>
      <p:bldP spid="597309"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pSp>
        <p:nvGrpSpPr>
          <p:cNvPr id="598287" name="Group 271"/>
          <p:cNvGrpSpPr/>
          <p:nvPr/>
        </p:nvGrpSpPr>
        <p:grpSpPr>
          <a:xfrm>
            <a:off x="611188" y="3789363"/>
            <a:ext cx="8280400" cy="2465387"/>
            <a:chOff x="385" y="436"/>
            <a:chExt cx="5216" cy="1553"/>
          </a:xfrm>
        </p:grpSpPr>
        <p:sp>
          <p:nvSpPr>
            <p:cNvPr id="99398" name="Rectangle 82"/>
            <p:cNvSpPr/>
            <p:nvPr/>
          </p:nvSpPr>
          <p:spPr>
            <a:xfrm>
              <a:off x="385" y="436"/>
              <a:ext cx="5216" cy="1553"/>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333375" defTabSz="914400" eaLnBrk="1" hangingPunct="1">
                <a:lnSpc>
                  <a:spcPct val="130000"/>
                </a:lnSpc>
                <a:spcBef>
                  <a:spcPct val="0"/>
                </a:spcBef>
                <a:buClrTx/>
                <a:buSzTx/>
                <a:buFontTx/>
                <a:buNone/>
                <a:tabLst>
                  <a:tab pos="714375" algn="l"/>
                </a:tabLst>
              </a:pPr>
              <a:r>
                <a:rPr lang="zh-CN" altLang="en-US" sz="2400" b="1" dirty="0">
                  <a:solidFill>
                    <a:srgbClr val="006600"/>
                  </a:solidFill>
                  <a:latin typeface="Arial" panose="020B0604020202020204" pitchFamily="34" charset="0"/>
                  <a:ea typeface="楷体_GB2312" pitchFamily="49" charset="-122"/>
                </a:rPr>
                <a:t>回收</a:t>
              </a:r>
              <a:r>
                <a:rPr lang="en-US" altLang="zh-CN" sz="2400" b="1" dirty="0">
                  <a:solidFill>
                    <a:srgbClr val="006600"/>
                  </a:solidFill>
                  <a:latin typeface="Arial" panose="020B0604020202020204" pitchFamily="34" charset="0"/>
                  <a:ea typeface="楷体_GB2312" pitchFamily="49" charset="-122"/>
                </a:rPr>
                <a:t>:</a:t>
              </a:r>
              <a:r>
                <a:rPr lang="en-US" altLang="zh-CN" sz="2400" b="1" dirty="0">
                  <a:solidFill>
                    <a:srgbClr val="000099"/>
                  </a:solidFill>
                  <a:latin typeface="Arial" panose="020B0604020202020204" pitchFamily="34" charset="0"/>
                  <a:ea typeface="楷体_GB2312" pitchFamily="49" charset="-122"/>
                </a:rPr>
                <a:t>                    </a:t>
              </a:r>
              <a:r>
                <a:rPr lang="zh-CN" altLang="en-US" sz="2400" b="1" dirty="0">
                  <a:solidFill>
                    <a:srgbClr val="000099"/>
                  </a:solidFill>
                  <a:latin typeface="Arial" panose="020B0604020202020204" pitchFamily="34" charset="0"/>
                  <a:ea typeface="楷体_GB2312" pitchFamily="49" charset="-122"/>
                </a:rPr>
                <a:t>字号 </a:t>
              </a:r>
              <a:r>
                <a:rPr lang="en-US" altLang="zh-CN" sz="2400" b="1" dirty="0">
                  <a:solidFill>
                    <a:srgbClr val="000099"/>
                  </a:solidFill>
                  <a:latin typeface="Arial" panose="020B0604020202020204" pitchFamily="34" charset="0"/>
                  <a:ea typeface="楷体_GB2312" pitchFamily="49" charset="-122"/>
                </a:rPr>
                <a:t>= [ </a:t>
              </a:r>
              <a:r>
                <a:rPr lang="zh-CN" altLang="en-US" sz="2400" b="1" dirty="0">
                  <a:solidFill>
                    <a:srgbClr val="000099"/>
                  </a:solidFill>
                  <a:latin typeface="Arial" panose="020B0604020202020204" pitchFamily="34" charset="0"/>
                  <a:ea typeface="楷体_GB2312" pitchFamily="49" charset="-122"/>
                </a:rPr>
                <a:t>块号 </a:t>
              </a:r>
              <a:r>
                <a:rPr lang="en-US" altLang="zh-CN" sz="2400" b="1" dirty="0">
                  <a:solidFill>
                    <a:srgbClr val="000099"/>
                  </a:solidFill>
                  <a:latin typeface="Arial" panose="020B0604020202020204" pitchFamily="34" charset="0"/>
                  <a:ea typeface="楷体_GB2312" pitchFamily="49" charset="-122"/>
                </a:rPr>
                <a:t>/ </a:t>
              </a:r>
              <a:r>
                <a:rPr lang="zh-CN" altLang="en-US" sz="2400" b="1" dirty="0">
                  <a:solidFill>
                    <a:srgbClr val="000099"/>
                  </a:solidFill>
                  <a:latin typeface="Arial" panose="020B0604020202020204" pitchFamily="34" charset="0"/>
                  <a:ea typeface="楷体_GB2312" pitchFamily="49" charset="-122"/>
                </a:rPr>
                <a:t>字长 </a:t>
              </a:r>
              <a:r>
                <a:rPr lang="en-US" altLang="zh-CN" sz="2400" b="1" dirty="0">
                  <a:solidFill>
                    <a:srgbClr val="000099"/>
                  </a:solidFill>
                  <a:latin typeface="Arial" panose="020B0604020202020204" pitchFamily="34" charset="0"/>
                  <a:ea typeface="楷体_GB2312" pitchFamily="49" charset="-122"/>
                </a:rPr>
                <a:t>]</a:t>
              </a:r>
              <a:r>
                <a:rPr lang="zh-CN" altLang="en-US" sz="2400" b="1" baseline="-30000" dirty="0">
                  <a:solidFill>
                    <a:srgbClr val="000099"/>
                  </a:solidFill>
                  <a:latin typeface="Arial" panose="020B0604020202020204" pitchFamily="34" charset="0"/>
                  <a:ea typeface="楷体_GB2312" pitchFamily="49" charset="-122"/>
                </a:rPr>
                <a:t>取整</a:t>
              </a:r>
              <a:r>
                <a:rPr lang="zh-CN" altLang="en-US" sz="2400" b="1" dirty="0">
                  <a:solidFill>
                    <a:srgbClr val="000099"/>
                  </a:solidFill>
                  <a:latin typeface="Arial" panose="020B0604020202020204" pitchFamily="34" charset="0"/>
                  <a:ea typeface="楷体_GB2312" pitchFamily="49" charset="-122"/>
                </a:rPr>
                <a:t>          </a:t>
              </a:r>
              <a:endParaRPr lang="zh-CN" altLang="en-US" sz="2400" b="1" dirty="0">
                <a:solidFill>
                  <a:srgbClr val="000099"/>
                </a:solidFill>
                <a:latin typeface="Arial" panose="020B0604020202020204" pitchFamily="34" charset="0"/>
                <a:ea typeface="楷体_GB2312" pitchFamily="49" charset="-122"/>
              </a:endParaRPr>
            </a:p>
            <a:p>
              <a:pPr marL="0" lvl="0" indent="333375" defTabSz="914400">
                <a:lnSpc>
                  <a:spcPct val="130000"/>
                </a:lnSpc>
                <a:spcBef>
                  <a:spcPct val="0"/>
                </a:spcBef>
                <a:buClrTx/>
                <a:buSzTx/>
                <a:buFontTx/>
                <a:buNone/>
                <a:tabLst>
                  <a:tab pos="714375" algn="l"/>
                </a:tabLst>
              </a:pPr>
              <a:r>
                <a:rPr lang="zh-CN" altLang="en-US" sz="2400" b="1" dirty="0">
                  <a:solidFill>
                    <a:srgbClr val="000099"/>
                  </a:solidFill>
                  <a:latin typeface="Arial" panose="020B0604020202020204" pitchFamily="34" charset="0"/>
                  <a:ea typeface="楷体_GB2312" pitchFamily="49" charset="-122"/>
                </a:rPr>
                <a:t>       根据块号</a:t>
              </a:r>
              <a:endParaRPr lang="zh-CN" altLang="en-US" sz="2400" b="1" dirty="0">
                <a:solidFill>
                  <a:srgbClr val="000099"/>
                </a:solidFill>
                <a:latin typeface="Arial" panose="020B0604020202020204" pitchFamily="34" charset="0"/>
                <a:ea typeface="楷体_GB2312" pitchFamily="49" charset="-122"/>
              </a:endParaRPr>
            </a:p>
            <a:p>
              <a:pPr marL="0" lvl="0" indent="333375" defTabSz="914400">
                <a:lnSpc>
                  <a:spcPct val="130000"/>
                </a:lnSpc>
                <a:spcBef>
                  <a:spcPct val="0"/>
                </a:spcBef>
                <a:buClrTx/>
                <a:buSzTx/>
                <a:buFontTx/>
                <a:buNone/>
                <a:tabLst>
                  <a:tab pos="714375" algn="l"/>
                </a:tabLst>
              </a:pPr>
              <a:r>
                <a:rPr lang="zh-CN" altLang="en-US" sz="2400" b="1" dirty="0">
                  <a:solidFill>
                    <a:srgbClr val="000099"/>
                  </a:solidFill>
                  <a:latin typeface="Arial" panose="020B0604020202020204" pitchFamily="34" charset="0"/>
                  <a:ea typeface="楷体_GB2312" pitchFamily="49" charset="-122"/>
                </a:rPr>
                <a:t>                            位号 </a:t>
              </a:r>
              <a:r>
                <a:rPr lang="en-US" altLang="zh-CN" sz="2400" b="1" dirty="0">
                  <a:solidFill>
                    <a:srgbClr val="000099"/>
                  </a:solidFill>
                  <a:latin typeface="Arial" panose="020B0604020202020204" pitchFamily="34" charset="0"/>
                  <a:ea typeface="楷体_GB2312" pitchFamily="49" charset="-122"/>
                </a:rPr>
                <a:t>= { </a:t>
              </a:r>
              <a:r>
                <a:rPr lang="zh-CN" altLang="en-US" sz="2400" b="1" dirty="0">
                  <a:solidFill>
                    <a:srgbClr val="000099"/>
                  </a:solidFill>
                  <a:latin typeface="Arial" panose="020B0604020202020204" pitchFamily="34" charset="0"/>
                  <a:ea typeface="楷体_GB2312" pitchFamily="49" charset="-122"/>
                </a:rPr>
                <a:t>块号 </a:t>
              </a:r>
              <a:r>
                <a:rPr lang="en-US" altLang="zh-CN" sz="2400" b="1" dirty="0">
                  <a:solidFill>
                    <a:srgbClr val="000099"/>
                  </a:solidFill>
                  <a:latin typeface="Arial" panose="020B0604020202020204" pitchFamily="34" charset="0"/>
                  <a:ea typeface="楷体_GB2312" pitchFamily="49" charset="-122"/>
                </a:rPr>
                <a:t>/ </a:t>
              </a:r>
              <a:r>
                <a:rPr lang="zh-CN" altLang="en-US" sz="2400" b="1" dirty="0">
                  <a:solidFill>
                    <a:srgbClr val="000099"/>
                  </a:solidFill>
                  <a:latin typeface="Arial" panose="020B0604020202020204" pitchFamily="34" charset="0"/>
                  <a:ea typeface="楷体_GB2312" pitchFamily="49" charset="-122"/>
                </a:rPr>
                <a:t>字长 </a:t>
              </a:r>
              <a:r>
                <a:rPr lang="en-US" altLang="zh-CN" sz="2400" b="1" dirty="0">
                  <a:solidFill>
                    <a:srgbClr val="000099"/>
                  </a:solidFill>
                  <a:latin typeface="Arial" panose="020B0604020202020204" pitchFamily="34" charset="0"/>
                  <a:ea typeface="楷体_GB2312" pitchFamily="49" charset="-122"/>
                </a:rPr>
                <a:t>}</a:t>
              </a:r>
              <a:r>
                <a:rPr lang="zh-CN" altLang="en-US" sz="2400" b="1" baseline="-30000" dirty="0">
                  <a:solidFill>
                    <a:srgbClr val="000099"/>
                  </a:solidFill>
                  <a:latin typeface="Arial" panose="020B0604020202020204" pitchFamily="34" charset="0"/>
                  <a:ea typeface="楷体_GB2312" pitchFamily="49" charset="-122"/>
                </a:rPr>
                <a:t>求余</a:t>
              </a:r>
              <a:endParaRPr lang="zh-CN" altLang="en-US" sz="2400" b="1" dirty="0">
                <a:solidFill>
                  <a:srgbClr val="000099"/>
                </a:solidFill>
                <a:latin typeface="Arial" panose="020B0604020202020204" pitchFamily="34" charset="0"/>
                <a:ea typeface="楷体_GB2312" pitchFamily="49" charset="-122"/>
              </a:endParaRPr>
            </a:p>
            <a:p>
              <a:pPr marL="0" lvl="0" indent="333375" defTabSz="914400">
                <a:lnSpc>
                  <a:spcPct val="130000"/>
                </a:lnSpc>
                <a:spcBef>
                  <a:spcPct val="0"/>
                </a:spcBef>
                <a:buClrTx/>
                <a:buSzTx/>
                <a:buFontTx/>
                <a:buNone/>
                <a:tabLst>
                  <a:tab pos="714375" algn="l"/>
                </a:tabLst>
              </a:pPr>
              <a:r>
                <a:rPr lang="zh-CN" altLang="en-US" sz="2400" b="1" dirty="0">
                  <a:solidFill>
                    <a:srgbClr val="000099"/>
                  </a:solidFill>
                  <a:latin typeface="Arial" panose="020B0604020202020204" pitchFamily="34" charset="0"/>
                  <a:ea typeface="楷体_GB2312" pitchFamily="49" charset="-122"/>
                </a:rPr>
                <a:t>    扫描位示图，根据（字号，位号）找对应的位，将该位修改为“</a:t>
              </a:r>
              <a:r>
                <a:rPr lang="en-US" altLang="zh-CN" sz="2400" b="1" dirty="0">
                  <a:solidFill>
                    <a:srgbClr val="000099"/>
                  </a:solidFill>
                  <a:latin typeface="Arial" panose="020B0604020202020204" pitchFamily="34" charset="0"/>
                  <a:ea typeface="楷体_GB2312" pitchFamily="49" charset="-122"/>
                </a:rPr>
                <a:t>0”</a:t>
              </a:r>
              <a:r>
                <a:rPr lang="zh-CN" altLang="en-US" sz="2400" b="1" dirty="0">
                  <a:solidFill>
                    <a:srgbClr val="000099"/>
                  </a:solidFill>
                  <a:latin typeface="Arial" panose="020B0604020202020204" pitchFamily="34" charset="0"/>
                  <a:ea typeface="楷体_GB2312" pitchFamily="49" charset="-122"/>
                </a:rPr>
                <a:t>。</a:t>
              </a:r>
              <a:endParaRPr lang="zh-CN" altLang="en-US" sz="2400" b="1" dirty="0">
                <a:solidFill>
                  <a:srgbClr val="000099"/>
                </a:solidFill>
                <a:latin typeface="Arial" panose="020B0604020202020204" pitchFamily="34" charset="0"/>
                <a:ea typeface="楷体_GB2312" pitchFamily="49" charset="-122"/>
              </a:endParaRPr>
            </a:p>
          </p:txBody>
        </p:sp>
        <p:grpSp>
          <p:nvGrpSpPr>
            <p:cNvPr id="99399" name="Group 71"/>
            <p:cNvGrpSpPr/>
            <p:nvPr/>
          </p:nvGrpSpPr>
          <p:grpSpPr>
            <a:xfrm>
              <a:off x="1837" y="618"/>
              <a:ext cx="227" cy="681"/>
              <a:chOff x="4808" y="6751"/>
              <a:chExt cx="526" cy="997"/>
            </a:xfrm>
          </p:grpSpPr>
          <p:sp>
            <p:nvSpPr>
              <p:cNvPr id="99400" name="Line 72"/>
              <p:cNvSpPr/>
              <p:nvPr/>
            </p:nvSpPr>
            <p:spPr>
              <a:xfrm rot="240000" flipH="1">
                <a:off x="4808" y="6751"/>
                <a:ext cx="526" cy="501"/>
              </a:xfrm>
              <a:prstGeom prst="line">
                <a:avLst/>
              </a:prstGeom>
              <a:ln w="38100" cap="flat" cmpd="sng">
                <a:solidFill>
                  <a:srgbClr val="0000FF"/>
                </a:solidFill>
                <a:prstDash val="solid"/>
                <a:headEnd type="none" w="med" len="med"/>
                <a:tailEnd type="none" w="med" len="med"/>
              </a:ln>
            </p:spPr>
          </p:sp>
          <p:sp>
            <p:nvSpPr>
              <p:cNvPr id="99401" name="Line 73"/>
              <p:cNvSpPr/>
              <p:nvPr/>
            </p:nvSpPr>
            <p:spPr>
              <a:xfrm>
                <a:off x="4809" y="7248"/>
                <a:ext cx="420" cy="500"/>
              </a:xfrm>
              <a:prstGeom prst="line">
                <a:avLst/>
              </a:prstGeom>
              <a:ln w="38100" cap="flat" cmpd="sng">
                <a:solidFill>
                  <a:srgbClr val="0000FF"/>
                </a:solidFill>
                <a:prstDash val="solid"/>
                <a:headEnd type="none" w="med" len="med"/>
                <a:tailEnd type="none" w="med" len="med"/>
              </a:ln>
            </p:spPr>
          </p:sp>
        </p:grpSp>
      </p:grpSp>
      <p:grpSp>
        <p:nvGrpSpPr>
          <p:cNvPr id="598288" name="Group 272"/>
          <p:cNvGrpSpPr/>
          <p:nvPr/>
        </p:nvGrpSpPr>
        <p:grpSpPr>
          <a:xfrm>
            <a:off x="971550" y="1484313"/>
            <a:ext cx="5845175" cy="2057400"/>
            <a:chOff x="1104" y="1104"/>
            <a:chExt cx="3682" cy="1296"/>
          </a:xfrm>
        </p:grpSpPr>
        <p:grpSp>
          <p:nvGrpSpPr>
            <p:cNvPr id="99334" name="Group 273"/>
            <p:cNvGrpSpPr/>
            <p:nvPr/>
          </p:nvGrpSpPr>
          <p:grpSpPr>
            <a:xfrm>
              <a:off x="1104" y="1104"/>
              <a:ext cx="3682" cy="1283"/>
              <a:chOff x="1111" y="1117"/>
              <a:chExt cx="3682" cy="1283"/>
            </a:xfrm>
          </p:grpSpPr>
          <p:sp>
            <p:nvSpPr>
              <p:cNvPr id="99350" name="Rectangle 274"/>
              <p:cNvSpPr/>
              <p:nvPr/>
            </p:nvSpPr>
            <p:spPr>
              <a:xfrm>
                <a:off x="4477" y="2136"/>
                <a:ext cx="262"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9351" name="Rectangle 275"/>
              <p:cNvSpPr/>
              <p:nvPr/>
            </p:nvSpPr>
            <p:spPr>
              <a:xfrm>
                <a:off x="4215" y="2136"/>
                <a:ext cx="262"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9352" name="Rectangle 276"/>
              <p:cNvSpPr/>
              <p:nvPr/>
            </p:nvSpPr>
            <p:spPr>
              <a:xfrm>
                <a:off x="3952" y="2136"/>
                <a:ext cx="263"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9353" name="Rectangle 277"/>
              <p:cNvSpPr/>
              <p:nvPr/>
            </p:nvSpPr>
            <p:spPr>
              <a:xfrm>
                <a:off x="3691" y="2136"/>
                <a:ext cx="261"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9354" name="Rectangle 278"/>
              <p:cNvSpPr/>
              <p:nvPr/>
            </p:nvSpPr>
            <p:spPr>
              <a:xfrm>
                <a:off x="3429" y="2136"/>
                <a:ext cx="262"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9355" name="Rectangle 279"/>
              <p:cNvSpPr/>
              <p:nvPr/>
            </p:nvSpPr>
            <p:spPr>
              <a:xfrm>
                <a:off x="2468" y="2136"/>
                <a:ext cx="961"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9356" name="Rectangle 280"/>
              <p:cNvSpPr/>
              <p:nvPr/>
            </p:nvSpPr>
            <p:spPr>
              <a:xfrm>
                <a:off x="2206" y="2136"/>
                <a:ext cx="262"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9357" name="Rectangle 281"/>
              <p:cNvSpPr/>
              <p:nvPr/>
            </p:nvSpPr>
            <p:spPr>
              <a:xfrm>
                <a:off x="1920" y="2136"/>
                <a:ext cx="286"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9358" name="Rectangle 282"/>
              <p:cNvSpPr/>
              <p:nvPr/>
            </p:nvSpPr>
            <p:spPr>
              <a:xfrm>
                <a:off x="1683" y="2136"/>
                <a:ext cx="237"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9359" name="Rectangle 283"/>
              <p:cNvSpPr/>
              <p:nvPr/>
            </p:nvSpPr>
            <p:spPr>
              <a:xfrm>
                <a:off x="1392" y="2136"/>
                <a:ext cx="291"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9360" name="Rectangle 284"/>
              <p:cNvSpPr/>
              <p:nvPr/>
            </p:nvSpPr>
            <p:spPr>
              <a:xfrm>
                <a:off x="1156" y="2136"/>
                <a:ext cx="236" cy="264"/>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dirty="0"/>
              </a:p>
            </p:txBody>
          </p:sp>
          <p:sp>
            <p:nvSpPr>
              <p:cNvPr id="99361" name="Rectangle 285"/>
              <p:cNvSpPr/>
              <p:nvPr/>
            </p:nvSpPr>
            <p:spPr>
              <a:xfrm>
                <a:off x="4477" y="1887"/>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62" name="Rectangle 286"/>
              <p:cNvSpPr/>
              <p:nvPr/>
            </p:nvSpPr>
            <p:spPr>
              <a:xfrm>
                <a:off x="4215" y="1887"/>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63" name="Rectangle 287"/>
              <p:cNvSpPr/>
              <p:nvPr/>
            </p:nvSpPr>
            <p:spPr>
              <a:xfrm>
                <a:off x="3952" y="1887"/>
                <a:ext cx="263"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64" name="Rectangle 288"/>
              <p:cNvSpPr/>
              <p:nvPr/>
            </p:nvSpPr>
            <p:spPr>
              <a:xfrm>
                <a:off x="3691" y="1887"/>
                <a:ext cx="26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65" name="Rectangle 289"/>
              <p:cNvSpPr/>
              <p:nvPr/>
            </p:nvSpPr>
            <p:spPr>
              <a:xfrm>
                <a:off x="3429" y="1887"/>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66" name="Rectangle 290"/>
              <p:cNvSpPr/>
              <p:nvPr/>
            </p:nvSpPr>
            <p:spPr>
              <a:xfrm>
                <a:off x="2468" y="1887"/>
                <a:ext cx="96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b="1" dirty="0">
                  <a:ea typeface="楷体_GB2312" pitchFamily="49" charset="-122"/>
                </a:endParaRPr>
              </a:p>
            </p:txBody>
          </p:sp>
          <p:sp>
            <p:nvSpPr>
              <p:cNvPr id="99367" name="Rectangle 291"/>
              <p:cNvSpPr/>
              <p:nvPr/>
            </p:nvSpPr>
            <p:spPr>
              <a:xfrm>
                <a:off x="2206" y="1887"/>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68" name="Rectangle 292"/>
              <p:cNvSpPr/>
              <p:nvPr/>
            </p:nvSpPr>
            <p:spPr>
              <a:xfrm>
                <a:off x="1920" y="1887"/>
                <a:ext cx="286"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69" name="Rectangle 293"/>
              <p:cNvSpPr/>
              <p:nvPr/>
            </p:nvSpPr>
            <p:spPr>
              <a:xfrm>
                <a:off x="1683" y="1887"/>
                <a:ext cx="237"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70" name="Rectangle 294"/>
              <p:cNvSpPr/>
              <p:nvPr/>
            </p:nvSpPr>
            <p:spPr>
              <a:xfrm>
                <a:off x="1392" y="1887"/>
                <a:ext cx="29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71" name="Rectangle 295"/>
              <p:cNvSpPr/>
              <p:nvPr/>
            </p:nvSpPr>
            <p:spPr>
              <a:xfrm>
                <a:off x="1156" y="1887"/>
                <a:ext cx="236"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72" name="Rectangle 296"/>
              <p:cNvSpPr/>
              <p:nvPr/>
            </p:nvSpPr>
            <p:spPr>
              <a:xfrm>
                <a:off x="4477" y="1638"/>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73" name="Rectangle 297"/>
              <p:cNvSpPr/>
              <p:nvPr/>
            </p:nvSpPr>
            <p:spPr>
              <a:xfrm>
                <a:off x="4215" y="1638"/>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74" name="Rectangle 298"/>
              <p:cNvSpPr/>
              <p:nvPr/>
            </p:nvSpPr>
            <p:spPr>
              <a:xfrm>
                <a:off x="3952" y="1638"/>
                <a:ext cx="263"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r>
                  <a:rPr lang="en-US" altLang="zh-CN" sz="2000" b="1" dirty="0">
                    <a:ea typeface="楷体_GB2312" pitchFamily="49" charset="-122"/>
                  </a:rPr>
                  <a:t>0</a:t>
                </a:r>
                <a:endParaRPr lang="en-US" altLang="zh-CN" sz="2000" b="1" dirty="0">
                  <a:ea typeface="楷体_GB2312" pitchFamily="49" charset="-122"/>
                </a:endParaRPr>
              </a:p>
            </p:txBody>
          </p:sp>
          <p:sp>
            <p:nvSpPr>
              <p:cNvPr id="99375" name="Rectangle 299"/>
              <p:cNvSpPr/>
              <p:nvPr/>
            </p:nvSpPr>
            <p:spPr>
              <a:xfrm>
                <a:off x="3691" y="1638"/>
                <a:ext cx="26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76" name="Rectangle 300"/>
              <p:cNvSpPr/>
              <p:nvPr/>
            </p:nvSpPr>
            <p:spPr>
              <a:xfrm>
                <a:off x="3429" y="1638"/>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77" name="Rectangle 301"/>
              <p:cNvSpPr/>
              <p:nvPr/>
            </p:nvSpPr>
            <p:spPr>
              <a:xfrm>
                <a:off x="2468" y="1638"/>
                <a:ext cx="96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b="1" dirty="0">
                  <a:ea typeface="楷体_GB2312" pitchFamily="49" charset="-122"/>
                </a:endParaRPr>
              </a:p>
            </p:txBody>
          </p:sp>
          <p:sp>
            <p:nvSpPr>
              <p:cNvPr id="99378" name="Rectangle 302"/>
              <p:cNvSpPr/>
              <p:nvPr/>
            </p:nvSpPr>
            <p:spPr>
              <a:xfrm>
                <a:off x="2206" y="1638"/>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79" name="Rectangle 303"/>
              <p:cNvSpPr/>
              <p:nvPr/>
            </p:nvSpPr>
            <p:spPr>
              <a:xfrm>
                <a:off x="1920" y="1638"/>
                <a:ext cx="286"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80" name="Rectangle 304"/>
              <p:cNvSpPr/>
              <p:nvPr/>
            </p:nvSpPr>
            <p:spPr>
              <a:xfrm>
                <a:off x="1683" y="1638"/>
                <a:ext cx="237"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81" name="Rectangle 305"/>
              <p:cNvSpPr/>
              <p:nvPr/>
            </p:nvSpPr>
            <p:spPr>
              <a:xfrm>
                <a:off x="1392" y="1638"/>
                <a:ext cx="29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82" name="Rectangle 306"/>
              <p:cNvSpPr/>
              <p:nvPr/>
            </p:nvSpPr>
            <p:spPr>
              <a:xfrm>
                <a:off x="1156" y="1638"/>
                <a:ext cx="236"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83" name="Rectangle 307"/>
              <p:cNvSpPr/>
              <p:nvPr/>
            </p:nvSpPr>
            <p:spPr>
              <a:xfrm>
                <a:off x="4477" y="1389"/>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84" name="Rectangle 308"/>
              <p:cNvSpPr/>
              <p:nvPr/>
            </p:nvSpPr>
            <p:spPr>
              <a:xfrm>
                <a:off x="4215" y="1389"/>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85" name="Rectangle 309"/>
              <p:cNvSpPr/>
              <p:nvPr/>
            </p:nvSpPr>
            <p:spPr>
              <a:xfrm>
                <a:off x="3952" y="1389"/>
                <a:ext cx="263"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sp>
            <p:nvSpPr>
              <p:cNvPr id="99386" name="Rectangle 310"/>
              <p:cNvSpPr/>
              <p:nvPr/>
            </p:nvSpPr>
            <p:spPr>
              <a:xfrm>
                <a:off x="3691" y="1389"/>
                <a:ext cx="26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87" name="Rectangle 311"/>
              <p:cNvSpPr/>
              <p:nvPr/>
            </p:nvSpPr>
            <p:spPr>
              <a:xfrm>
                <a:off x="3429" y="1389"/>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88" name="Rectangle 312"/>
              <p:cNvSpPr/>
              <p:nvPr/>
            </p:nvSpPr>
            <p:spPr>
              <a:xfrm>
                <a:off x="2468" y="1389"/>
                <a:ext cx="96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000" b="1" dirty="0">
                  <a:ea typeface="楷体_GB2312" pitchFamily="49" charset="-122"/>
                </a:endParaRPr>
              </a:p>
            </p:txBody>
          </p:sp>
          <p:sp>
            <p:nvSpPr>
              <p:cNvPr id="99389" name="Rectangle 313"/>
              <p:cNvSpPr/>
              <p:nvPr/>
            </p:nvSpPr>
            <p:spPr>
              <a:xfrm>
                <a:off x="2206" y="1389"/>
                <a:ext cx="262"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90" name="Rectangle 314"/>
              <p:cNvSpPr/>
              <p:nvPr/>
            </p:nvSpPr>
            <p:spPr>
              <a:xfrm>
                <a:off x="1920" y="1389"/>
                <a:ext cx="286"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91" name="Rectangle 315"/>
              <p:cNvSpPr/>
              <p:nvPr/>
            </p:nvSpPr>
            <p:spPr>
              <a:xfrm>
                <a:off x="1683" y="1389"/>
                <a:ext cx="237"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92" name="Rectangle 316"/>
              <p:cNvSpPr/>
              <p:nvPr/>
            </p:nvSpPr>
            <p:spPr>
              <a:xfrm>
                <a:off x="1392" y="1389"/>
                <a:ext cx="291"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1</a:t>
                </a:r>
                <a:endParaRPr lang="en-US" altLang="zh-CN" sz="2000" b="1" dirty="0">
                  <a:latin typeface="Arial" panose="020B0604020202020204" pitchFamily="34" charset="0"/>
                  <a:ea typeface="楷体_GB2312" pitchFamily="49" charset="-122"/>
                </a:endParaRPr>
              </a:p>
            </p:txBody>
          </p:sp>
          <p:sp>
            <p:nvSpPr>
              <p:cNvPr id="99393" name="Rectangle 317"/>
              <p:cNvSpPr/>
              <p:nvPr/>
            </p:nvSpPr>
            <p:spPr>
              <a:xfrm>
                <a:off x="1156" y="1389"/>
                <a:ext cx="236" cy="249"/>
              </a:xfrm>
              <a:prstGeom prst="rect">
                <a:avLst/>
              </a:prstGeom>
              <a:noFill/>
              <a:ln w="9525">
                <a:noFill/>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ea typeface="楷体_GB2312" pitchFamily="49" charset="-122"/>
                  </a:rPr>
                  <a:t>0</a:t>
                </a:r>
                <a:endParaRPr lang="en-US" altLang="zh-CN" sz="2000" b="1" dirty="0">
                  <a:latin typeface="Arial" panose="020B0604020202020204" pitchFamily="34" charset="0"/>
                  <a:ea typeface="楷体_GB2312" pitchFamily="49" charset="-122"/>
                </a:endParaRPr>
              </a:p>
            </p:txBody>
          </p:sp>
          <p:grpSp>
            <p:nvGrpSpPr>
              <p:cNvPr id="99394" name="Group 318"/>
              <p:cNvGrpSpPr/>
              <p:nvPr/>
            </p:nvGrpSpPr>
            <p:grpSpPr>
              <a:xfrm>
                <a:off x="1111" y="1117"/>
                <a:ext cx="3682" cy="1283"/>
                <a:chOff x="1111" y="1117"/>
                <a:chExt cx="3682" cy="1283"/>
              </a:xfrm>
            </p:grpSpPr>
            <p:sp>
              <p:nvSpPr>
                <p:cNvPr id="99396" name="Rectangle 319"/>
                <p:cNvSpPr/>
                <p:nvPr/>
              </p:nvSpPr>
              <p:spPr>
                <a:xfrm>
                  <a:off x="1111" y="1117"/>
                  <a:ext cx="3682" cy="288"/>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Arial" panose="020B0604020202020204" pitchFamily="34" charset="0"/>
                      <a:ea typeface="楷体_GB2312" pitchFamily="49" charset="-122"/>
                    </a:rPr>
                    <a:t>15 14 13 12 11                    4   3   2   1   0</a:t>
                  </a:r>
                  <a:endParaRPr lang="en-US" altLang="zh-CN" sz="2400" b="1" dirty="0">
                    <a:latin typeface="Arial" panose="020B0604020202020204" pitchFamily="34" charset="0"/>
                    <a:ea typeface="楷体_GB2312" pitchFamily="49" charset="-122"/>
                  </a:endParaRPr>
                </a:p>
              </p:txBody>
            </p:sp>
            <p:sp>
              <p:nvSpPr>
                <p:cNvPr id="99397" name="Line 320"/>
                <p:cNvSpPr/>
                <p:nvPr/>
              </p:nvSpPr>
              <p:spPr>
                <a:xfrm>
                  <a:off x="1156" y="1389"/>
                  <a:ext cx="0" cy="1011"/>
                </a:xfrm>
                <a:prstGeom prst="line">
                  <a:avLst/>
                </a:prstGeom>
                <a:ln w="12700" cap="rnd" cmpd="sng">
                  <a:solidFill>
                    <a:srgbClr val="000000"/>
                  </a:solidFill>
                  <a:prstDash val="solid"/>
                  <a:miter/>
                  <a:headEnd type="none" w="med" len="med"/>
                  <a:tailEnd type="none" w="med" len="med"/>
                </a:ln>
              </p:spPr>
            </p:sp>
          </p:grpSp>
          <p:sp>
            <p:nvSpPr>
              <p:cNvPr id="99395" name="Line 321"/>
              <p:cNvSpPr/>
              <p:nvPr/>
            </p:nvSpPr>
            <p:spPr>
              <a:xfrm>
                <a:off x="1156" y="2136"/>
                <a:ext cx="3583" cy="0"/>
              </a:xfrm>
              <a:prstGeom prst="line">
                <a:avLst/>
              </a:prstGeom>
              <a:ln w="12700" cap="rnd" cmpd="sng">
                <a:solidFill>
                  <a:srgbClr val="000000"/>
                </a:solidFill>
                <a:prstDash val="solid"/>
                <a:miter/>
                <a:headEnd type="none" w="med" len="med"/>
                <a:tailEnd type="none" w="med" len="med"/>
              </a:ln>
            </p:spPr>
          </p:sp>
        </p:grpSp>
        <p:sp>
          <p:nvSpPr>
            <p:cNvPr id="99335" name="Line 322"/>
            <p:cNvSpPr/>
            <p:nvPr/>
          </p:nvSpPr>
          <p:spPr>
            <a:xfrm>
              <a:off x="1156" y="1389"/>
              <a:ext cx="3583" cy="0"/>
            </a:xfrm>
            <a:prstGeom prst="line">
              <a:avLst/>
            </a:prstGeom>
            <a:ln w="12700" cap="rnd" cmpd="sng">
              <a:solidFill>
                <a:srgbClr val="000000"/>
              </a:solidFill>
              <a:prstDash val="solid"/>
              <a:miter/>
              <a:headEnd type="none" w="med" len="med"/>
              <a:tailEnd type="none" w="med" len="med"/>
            </a:ln>
          </p:spPr>
        </p:sp>
        <p:sp>
          <p:nvSpPr>
            <p:cNvPr id="99336" name="Line 323"/>
            <p:cNvSpPr/>
            <p:nvPr/>
          </p:nvSpPr>
          <p:spPr>
            <a:xfrm>
              <a:off x="1156" y="2400"/>
              <a:ext cx="3583" cy="0"/>
            </a:xfrm>
            <a:prstGeom prst="line">
              <a:avLst/>
            </a:prstGeom>
            <a:ln w="12700" cap="rnd" cmpd="sng">
              <a:solidFill>
                <a:srgbClr val="000000"/>
              </a:solidFill>
              <a:prstDash val="solid"/>
              <a:miter/>
              <a:headEnd type="none" w="med" len="med"/>
              <a:tailEnd type="none" w="med" len="med"/>
            </a:ln>
          </p:spPr>
        </p:sp>
        <p:sp>
          <p:nvSpPr>
            <p:cNvPr id="99337" name="Line 324"/>
            <p:cNvSpPr/>
            <p:nvPr/>
          </p:nvSpPr>
          <p:spPr>
            <a:xfrm>
              <a:off x="4739" y="1389"/>
              <a:ext cx="0" cy="1011"/>
            </a:xfrm>
            <a:prstGeom prst="line">
              <a:avLst/>
            </a:prstGeom>
            <a:ln w="12700" cap="rnd" cmpd="sng">
              <a:solidFill>
                <a:srgbClr val="000000"/>
              </a:solidFill>
              <a:prstDash val="solid"/>
              <a:miter/>
              <a:headEnd type="none" w="med" len="med"/>
              <a:tailEnd type="none" w="med" len="med"/>
            </a:ln>
          </p:spPr>
        </p:sp>
        <p:sp>
          <p:nvSpPr>
            <p:cNvPr id="99338" name="Line 325"/>
            <p:cNvSpPr/>
            <p:nvPr/>
          </p:nvSpPr>
          <p:spPr>
            <a:xfrm>
              <a:off x="1156" y="1638"/>
              <a:ext cx="3583" cy="0"/>
            </a:xfrm>
            <a:prstGeom prst="line">
              <a:avLst/>
            </a:prstGeom>
            <a:ln w="12700" cap="rnd" cmpd="sng">
              <a:solidFill>
                <a:srgbClr val="000000"/>
              </a:solidFill>
              <a:prstDash val="solid"/>
              <a:miter/>
              <a:headEnd type="none" w="med" len="med"/>
              <a:tailEnd type="none" w="med" len="med"/>
            </a:ln>
          </p:spPr>
        </p:sp>
        <p:sp>
          <p:nvSpPr>
            <p:cNvPr id="99339" name="Line 326"/>
            <p:cNvSpPr/>
            <p:nvPr/>
          </p:nvSpPr>
          <p:spPr>
            <a:xfrm>
              <a:off x="1392" y="1389"/>
              <a:ext cx="0" cy="1011"/>
            </a:xfrm>
            <a:prstGeom prst="line">
              <a:avLst/>
            </a:prstGeom>
            <a:ln w="12700" cap="rnd" cmpd="sng">
              <a:solidFill>
                <a:srgbClr val="000000"/>
              </a:solidFill>
              <a:prstDash val="solid"/>
              <a:miter/>
              <a:headEnd type="none" w="med" len="med"/>
              <a:tailEnd type="none" w="med" len="med"/>
            </a:ln>
          </p:spPr>
        </p:sp>
        <p:sp>
          <p:nvSpPr>
            <p:cNvPr id="99340" name="Line 327"/>
            <p:cNvSpPr/>
            <p:nvPr/>
          </p:nvSpPr>
          <p:spPr>
            <a:xfrm>
              <a:off x="1683" y="1389"/>
              <a:ext cx="0" cy="1011"/>
            </a:xfrm>
            <a:prstGeom prst="line">
              <a:avLst/>
            </a:prstGeom>
            <a:ln w="12700" cap="rnd" cmpd="sng">
              <a:solidFill>
                <a:srgbClr val="000000"/>
              </a:solidFill>
              <a:prstDash val="solid"/>
              <a:miter/>
              <a:headEnd type="none" w="med" len="med"/>
              <a:tailEnd type="none" w="med" len="med"/>
            </a:ln>
          </p:spPr>
        </p:sp>
        <p:sp>
          <p:nvSpPr>
            <p:cNvPr id="99341" name="Line 328"/>
            <p:cNvSpPr/>
            <p:nvPr/>
          </p:nvSpPr>
          <p:spPr>
            <a:xfrm>
              <a:off x="1920" y="1389"/>
              <a:ext cx="0" cy="1011"/>
            </a:xfrm>
            <a:prstGeom prst="line">
              <a:avLst/>
            </a:prstGeom>
            <a:ln w="12700" cap="rnd" cmpd="sng">
              <a:solidFill>
                <a:srgbClr val="000000"/>
              </a:solidFill>
              <a:prstDash val="solid"/>
              <a:miter/>
              <a:headEnd type="none" w="med" len="med"/>
              <a:tailEnd type="none" w="med" len="med"/>
            </a:ln>
          </p:spPr>
        </p:sp>
        <p:sp>
          <p:nvSpPr>
            <p:cNvPr id="99342" name="Line 329"/>
            <p:cNvSpPr/>
            <p:nvPr/>
          </p:nvSpPr>
          <p:spPr>
            <a:xfrm>
              <a:off x="2206" y="1389"/>
              <a:ext cx="0" cy="1011"/>
            </a:xfrm>
            <a:prstGeom prst="line">
              <a:avLst/>
            </a:prstGeom>
            <a:ln w="12700" cap="rnd" cmpd="sng">
              <a:solidFill>
                <a:srgbClr val="000000"/>
              </a:solidFill>
              <a:prstDash val="solid"/>
              <a:miter/>
              <a:headEnd type="none" w="med" len="med"/>
              <a:tailEnd type="none" w="med" len="med"/>
            </a:ln>
          </p:spPr>
        </p:sp>
        <p:sp>
          <p:nvSpPr>
            <p:cNvPr id="99343" name="Line 330"/>
            <p:cNvSpPr/>
            <p:nvPr/>
          </p:nvSpPr>
          <p:spPr>
            <a:xfrm>
              <a:off x="2468" y="1389"/>
              <a:ext cx="0" cy="1011"/>
            </a:xfrm>
            <a:prstGeom prst="line">
              <a:avLst/>
            </a:prstGeom>
            <a:ln w="12700" cap="rnd" cmpd="sng">
              <a:solidFill>
                <a:srgbClr val="000000"/>
              </a:solidFill>
              <a:prstDash val="solid"/>
              <a:miter/>
              <a:headEnd type="none" w="med" len="med"/>
              <a:tailEnd type="none" w="med" len="med"/>
            </a:ln>
          </p:spPr>
        </p:sp>
        <p:sp>
          <p:nvSpPr>
            <p:cNvPr id="99344" name="Line 331"/>
            <p:cNvSpPr/>
            <p:nvPr/>
          </p:nvSpPr>
          <p:spPr>
            <a:xfrm>
              <a:off x="3429" y="1389"/>
              <a:ext cx="0" cy="1011"/>
            </a:xfrm>
            <a:prstGeom prst="line">
              <a:avLst/>
            </a:prstGeom>
            <a:ln w="12700" cap="rnd" cmpd="sng">
              <a:solidFill>
                <a:srgbClr val="000000"/>
              </a:solidFill>
              <a:prstDash val="solid"/>
              <a:miter/>
              <a:headEnd type="none" w="med" len="med"/>
              <a:tailEnd type="none" w="med" len="med"/>
            </a:ln>
          </p:spPr>
        </p:sp>
        <p:sp>
          <p:nvSpPr>
            <p:cNvPr id="99345" name="Line 332"/>
            <p:cNvSpPr/>
            <p:nvPr/>
          </p:nvSpPr>
          <p:spPr>
            <a:xfrm>
              <a:off x="3691" y="1389"/>
              <a:ext cx="0" cy="1011"/>
            </a:xfrm>
            <a:prstGeom prst="line">
              <a:avLst/>
            </a:prstGeom>
            <a:ln w="12700" cap="rnd" cmpd="sng">
              <a:solidFill>
                <a:srgbClr val="000000"/>
              </a:solidFill>
              <a:prstDash val="solid"/>
              <a:miter/>
              <a:headEnd type="none" w="med" len="med"/>
              <a:tailEnd type="none" w="med" len="med"/>
            </a:ln>
          </p:spPr>
        </p:sp>
        <p:sp>
          <p:nvSpPr>
            <p:cNvPr id="99346" name="Line 333"/>
            <p:cNvSpPr/>
            <p:nvPr/>
          </p:nvSpPr>
          <p:spPr>
            <a:xfrm>
              <a:off x="3952" y="1389"/>
              <a:ext cx="0" cy="1011"/>
            </a:xfrm>
            <a:prstGeom prst="line">
              <a:avLst/>
            </a:prstGeom>
            <a:ln w="12700" cap="rnd" cmpd="sng">
              <a:solidFill>
                <a:srgbClr val="000000"/>
              </a:solidFill>
              <a:prstDash val="solid"/>
              <a:miter/>
              <a:headEnd type="none" w="med" len="med"/>
              <a:tailEnd type="none" w="med" len="med"/>
            </a:ln>
          </p:spPr>
        </p:sp>
        <p:sp>
          <p:nvSpPr>
            <p:cNvPr id="99347" name="Line 334"/>
            <p:cNvSpPr/>
            <p:nvPr/>
          </p:nvSpPr>
          <p:spPr>
            <a:xfrm>
              <a:off x="4215" y="1389"/>
              <a:ext cx="0" cy="1011"/>
            </a:xfrm>
            <a:prstGeom prst="line">
              <a:avLst/>
            </a:prstGeom>
            <a:ln w="12700" cap="rnd" cmpd="sng">
              <a:solidFill>
                <a:srgbClr val="000000"/>
              </a:solidFill>
              <a:prstDash val="solid"/>
              <a:miter/>
              <a:headEnd type="none" w="med" len="med"/>
              <a:tailEnd type="none" w="med" len="med"/>
            </a:ln>
          </p:spPr>
        </p:sp>
        <p:sp>
          <p:nvSpPr>
            <p:cNvPr id="99348" name="Line 335"/>
            <p:cNvSpPr/>
            <p:nvPr/>
          </p:nvSpPr>
          <p:spPr>
            <a:xfrm>
              <a:off x="4477" y="1389"/>
              <a:ext cx="0" cy="1011"/>
            </a:xfrm>
            <a:prstGeom prst="line">
              <a:avLst/>
            </a:prstGeom>
            <a:ln w="12700" cap="rnd" cmpd="sng">
              <a:solidFill>
                <a:srgbClr val="000000"/>
              </a:solidFill>
              <a:prstDash val="solid"/>
              <a:miter/>
              <a:headEnd type="none" w="med" len="med"/>
              <a:tailEnd type="none" w="med" len="med"/>
            </a:ln>
          </p:spPr>
        </p:sp>
        <p:sp>
          <p:nvSpPr>
            <p:cNvPr id="99349" name="Line 336"/>
            <p:cNvSpPr/>
            <p:nvPr/>
          </p:nvSpPr>
          <p:spPr>
            <a:xfrm>
              <a:off x="1156" y="1887"/>
              <a:ext cx="3583" cy="0"/>
            </a:xfrm>
            <a:prstGeom prst="line">
              <a:avLst/>
            </a:prstGeom>
            <a:ln w="12700" cap="rnd" cmpd="sng">
              <a:solidFill>
                <a:srgbClr val="000000"/>
              </a:solidFill>
              <a:prstDash val="solid"/>
              <a:miter/>
              <a:headEnd type="none" w="med" len="med"/>
              <a:tailEnd type="none" w="med" len="med"/>
            </a:ln>
          </p:spPr>
        </p:sp>
      </p:grpSp>
      <p:sp>
        <p:nvSpPr>
          <p:cNvPr id="598353" name="Text Box 337"/>
          <p:cNvSpPr txBox="1"/>
          <p:nvPr/>
        </p:nvSpPr>
        <p:spPr>
          <a:xfrm>
            <a:off x="1042988" y="836613"/>
            <a:ext cx="5867400" cy="519112"/>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eaLnBrk="1" hangingPunct="1">
              <a:spcBef>
                <a:spcPct val="50000"/>
              </a:spcBef>
              <a:buClrTx/>
              <a:buSzTx/>
              <a:buFontTx/>
              <a:buNone/>
            </a:pPr>
            <a:r>
              <a:rPr lang="zh-CN" altLang="en-US" sz="2800" b="1" dirty="0">
                <a:solidFill>
                  <a:srgbClr val="9900CC"/>
                </a:solidFill>
                <a:ea typeface="隶书" panose="02010509060101010101" pitchFamily="49" charset="-122"/>
              </a:rPr>
              <a:t>分配结构：</a:t>
            </a:r>
            <a:r>
              <a:rPr lang="zh-CN" altLang="en-US" sz="2800" dirty="0">
                <a:solidFill>
                  <a:srgbClr val="9900CC"/>
                </a:solidFill>
                <a:ea typeface="隶书" panose="02010509060101010101" pitchFamily="49" charset="-122"/>
              </a:rPr>
              <a:t>位示图</a:t>
            </a:r>
            <a:endParaRPr lang="zh-CN" altLang="en-US" sz="2800" dirty="0">
              <a:solidFill>
                <a:srgbClr val="9900CC"/>
              </a:solidFill>
              <a:latin typeface="隶书" panose="02010509060101010101" pitchFamily="49" charset="-122"/>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98353"/>
                                        </p:tgtEl>
                                        <p:attrNameLst>
                                          <p:attrName>style.visibility</p:attrName>
                                        </p:attrNameLst>
                                      </p:cBhvr>
                                      <p:to>
                                        <p:strVal val="visible"/>
                                      </p:to>
                                    </p:set>
                                    <p:anim calcmode="lin" valueType="num">
                                      <p:cBhvr additive="base">
                                        <p:cTn id="7" dur="500" fill="hold"/>
                                        <p:tgtEl>
                                          <p:spTgt spid="598353"/>
                                        </p:tgtEl>
                                        <p:attrNameLst>
                                          <p:attrName>ppt_x</p:attrName>
                                        </p:attrNameLst>
                                      </p:cBhvr>
                                      <p:tavLst>
                                        <p:tav tm="0">
                                          <p:val>
                                            <p:strVal val="0-#ppt_w/2"/>
                                          </p:val>
                                        </p:tav>
                                        <p:tav tm="100000">
                                          <p:val>
                                            <p:strVal val="#ppt_x"/>
                                          </p:val>
                                        </p:tav>
                                      </p:tavLst>
                                    </p:anim>
                                    <p:anim calcmode="lin" valueType="num">
                                      <p:cBhvr additive="base">
                                        <p:cTn id="8" dur="500" fill="hold"/>
                                        <p:tgtEl>
                                          <p:spTgt spid="59835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598288"/>
                                        </p:tgtEl>
                                        <p:attrNameLst>
                                          <p:attrName>style.visibility</p:attrName>
                                        </p:attrNameLst>
                                      </p:cBhvr>
                                      <p:to>
                                        <p:strVal val="visible"/>
                                      </p:to>
                                    </p:set>
                                    <p:animEffect transition="in" filter="wipe(up)">
                                      <p:cBhvr>
                                        <p:cTn id="13" dur="500"/>
                                        <p:tgtEl>
                                          <p:spTgt spid="59828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98287"/>
                                        </p:tgtEl>
                                        <p:attrNameLst>
                                          <p:attrName>style.visibility</p:attrName>
                                        </p:attrNameLst>
                                      </p:cBhvr>
                                      <p:to>
                                        <p:strVal val="visible"/>
                                      </p:to>
                                    </p:set>
                                    <p:animEffect transition="in" filter="wipe(left)">
                                      <p:cBhvr>
                                        <p:cTn id="18" dur="500"/>
                                        <p:tgtEl>
                                          <p:spTgt spid="598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353"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90183" name="Rectangle 7"/>
          <p:cNvSpPr/>
          <p:nvPr/>
        </p:nvSpPr>
        <p:spPr>
          <a:xfrm>
            <a:off x="611188" y="692150"/>
            <a:ext cx="7200900" cy="6762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457200" lvl="0" indent="-457200" eaLnBrk="1" hangingPunct="1">
              <a:lnSpc>
                <a:spcPct val="120000"/>
              </a:lnSpc>
              <a:buClrTx/>
              <a:buSzTx/>
              <a:buFontTx/>
              <a:buNone/>
            </a:pPr>
            <a:r>
              <a:rPr lang="zh-CN" altLang="en-US" dirty="0">
                <a:solidFill>
                  <a:srgbClr val="000000"/>
                </a:solidFill>
                <a:ea typeface="隶书" panose="02010509060101010101" pitchFamily="49" charset="-122"/>
              </a:rPr>
              <a:t>四、页的共享与保护</a:t>
            </a:r>
            <a:endParaRPr lang="zh-CN" altLang="en-US" dirty="0">
              <a:solidFill>
                <a:srgbClr val="000000"/>
              </a:solidFill>
              <a:ea typeface="隶书" panose="02010509060101010101" pitchFamily="49" charset="-122"/>
            </a:endParaRPr>
          </a:p>
        </p:txBody>
      </p:sp>
      <p:sp>
        <p:nvSpPr>
          <p:cNvPr id="690184" name="Rectangle 8"/>
          <p:cNvSpPr/>
          <p:nvPr/>
        </p:nvSpPr>
        <p:spPr>
          <a:xfrm>
            <a:off x="1187450" y="1362075"/>
            <a:ext cx="2012950" cy="45720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作业</a:t>
            </a:r>
            <a:r>
              <a:rPr lang="en-US" altLang="zh-CN" sz="2400" b="1" dirty="0">
                <a:solidFill>
                  <a:srgbClr val="000099"/>
                </a:solidFill>
                <a:ea typeface="楷体_GB2312" pitchFamily="49" charset="-122"/>
              </a:rPr>
              <a:t>1</a:t>
            </a:r>
            <a:r>
              <a:rPr lang="zh-CN" altLang="en-US" sz="2400" b="1" dirty="0">
                <a:solidFill>
                  <a:srgbClr val="000099"/>
                </a:solidFill>
                <a:ea typeface="楷体_GB2312" pitchFamily="49" charset="-122"/>
              </a:rPr>
              <a:t>的页表</a:t>
            </a:r>
            <a:r>
              <a:rPr lang="zh-CN" altLang="en-US" sz="1000" dirty="0"/>
              <a:t>                        </a:t>
            </a:r>
            <a:endParaRPr lang="zh-CN" altLang="en-US" sz="1800" dirty="0">
              <a:latin typeface="Arial" panose="020B0604020202020204" pitchFamily="34" charset="0"/>
            </a:endParaRPr>
          </a:p>
        </p:txBody>
      </p:sp>
      <p:graphicFrame>
        <p:nvGraphicFramePr>
          <p:cNvPr id="690185" name="Group 9"/>
          <p:cNvGraphicFramePr>
            <a:graphicFrameLocks noGrp="1"/>
          </p:cNvGraphicFramePr>
          <p:nvPr/>
        </p:nvGraphicFramePr>
        <p:xfrm>
          <a:off x="1258888" y="1852613"/>
          <a:ext cx="1944688" cy="1828800"/>
        </p:xfrm>
        <a:graphic>
          <a:graphicData uri="http://schemas.openxmlformats.org/drawingml/2006/table">
            <a:tbl>
              <a:tblPr/>
              <a:tblGrid>
                <a:gridCol w="647700"/>
                <a:gridCol w="649287"/>
                <a:gridCol w="647700"/>
              </a:tblGrid>
              <a:tr h="287338">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页号</a:t>
                      </a:r>
                      <a:endParaRPr kumimoji="0" lang="zh-CN" altLang="en-US"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标志</a:t>
                      </a:r>
                      <a:endParaRPr kumimoji="0" lang="zh-CN" altLang="en-US"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块号</a:t>
                      </a:r>
                      <a:endParaRPr kumimoji="0" lang="zh-CN" altLang="en-US"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69875">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0</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E</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12</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69875">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1  </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E</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13</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68288">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2</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W</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14</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69875">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9900CC"/>
                          </a:solidFill>
                          <a:effectLst/>
                          <a:latin typeface="Times New Roman" panose="02020603050405020304" pitchFamily="18" charset="0"/>
                          <a:ea typeface="楷体_GB2312" pitchFamily="49" charset="-122"/>
                          <a:cs typeface="Times New Roman" panose="02020603050405020304" pitchFamily="18" charset="0"/>
                        </a:rPr>
                        <a:t>  3</a:t>
                      </a:r>
                      <a:endParaRPr kumimoji="0" lang="en-US" altLang="zh-CN" sz="1800" b="1" i="0" u="none" strike="noStrike" cap="none" normalizeH="0" baseline="0">
                        <a:ln>
                          <a:noFill/>
                        </a:ln>
                        <a:solidFill>
                          <a:srgbClr val="9900CC"/>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9900CC"/>
                          </a:solidFill>
                          <a:effectLst/>
                          <a:latin typeface="Times New Roman" panose="02020603050405020304" pitchFamily="18" charset="0"/>
                          <a:ea typeface="楷体_GB2312" pitchFamily="49" charset="-122"/>
                          <a:cs typeface="Times New Roman" panose="02020603050405020304" pitchFamily="18" charset="0"/>
                        </a:rPr>
                        <a:t>  R</a:t>
                      </a:r>
                      <a:endParaRPr kumimoji="0" lang="en-US" altLang="zh-CN" sz="1800" b="1" i="0" u="none" strike="noStrike" cap="none" normalizeH="0" baseline="0">
                        <a:ln>
                          <a:noFill/>
                        </a:ln>
                        <a:solidFill>
                          <a:srgbClr val="9900CC"/>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9900CC"/>
                          </a:solidFill>
                          <a:effectLst/>
                          <a:latin typeface="Times New Roman" panose="02020603050405020304" pitchFamily="18" charset="0"/>
                          <a:ea typeface="楷体_GB2312" pitchFamily="49" charset="-122"/>
                          <a:cs typeface="Times New Roman" panose="02020603050405020304" pitchFamily="18" charset="0"/>
                        </a:rPr>
                        <a:t> 8</a:t>
                      </a:r>
                      <a:endParaRPr kumimoji="0" lang="en-US" altLang="zh-CN" sz="1800" b="1" i="0" u="none" strike="noStrike" cap="none" normalizeH="0" baseline="0">
                        <a:ln>
                          <a:noFill/>
                        </a:ln>
                        <a:solidFill>
                          <a:srgbClr val="9900CC"/>
                        </a:solidFill>
                        <a:effectLst/>
                        <a:latin typeface="Arial" panose="020B0604020202020204" pitchFamily="34" charset="0"/>
                        <a:ea typeface="楷体_GB2312" pitchFamily="49" charset="-122"/>
                        <a:cs typeface="Times New Roman" panose="02020603050405020304" pitchFamily="18" charset="0"/>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graphicFrame>
        <p:nvGraphicFramePr>
          <p:cNvPr id="690211" name="Group 35"/>
          <p:cNvGraphicFramePr>
            <a:graphicFrameLocks noGrp="1"/>
          </p:cNvGraphicFramePr>
          <p:nvPr/>
        </p:nvGraphicFramePr>
        <p:xfrm>
          <a:off x="5508625" y="1916113"/>
          <a:ext cx="1943100" cy="1463675"/>
        </p:xfrm>
        <a:graphic>
          <a:graphicData uri="http://schemas.openxmlformats.org/drawingml/2006/table">
            <a:tbl>
              <a:tblPr/>
              <a:tblGrid>
                <a:gridCol w="647700"/>
                <a:gridCol w="647700"/>
                <a:gridCol w="647700"/>
              </a:tblGrid>
              <a:tr h="365919">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页号</a:t>
                      </a:r>
                      <a:endParaRPr kumimoji="0" lang="zh-CN" altLang="en-US"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marT="45740" marB="45740"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标志</a:t>
                      </a:r>
                      <a:endParaRPr kumimoji="0" lang="zh-CN" altLang="en-US"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marT="45740" marB="45740"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块号</a:t>
                      </a:r>
                      <a:endParaRPr kumimoji="0" lang="zh-CN" altLang="en-US"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marT="45740" marB="45740"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5919">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0</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marT="45740" marB="45740"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E</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marT="45740" marB="45740"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2</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marT="45740" marB="45740"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5919">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1</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marT="45740" marB="45740"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W</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marT="45740" marB="45740"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99"/>
                          </a:solidFill>
                          <a:effectLst/>
                          <a:latin typeface="Times New Roman" panose="02020603050405020304" pitchFamily="18" charset="0"/>
                          <a:ea typeface="楷体_GB2312" pitchFamily="49" charset="-122"/>
                          <a:cs typeface="Times New Roman" panose="02020603050405020304" pitchFamily="18" charset="0"/>
                        </a:rPr>
                        <a:t>  3</a:t>
                      </a:r>
                      <a:endParaRPr kumimoji="0" lang="en-US" altLang="zh-CN" sz="1800" b="1" i="0" u="none" strike="noStrike" cap="none" normalizeH="0" baseline="0">
                        <a:ln>
                          <a:noFill/>
                        </a:ln>
                        <a:solidFill>
                          <a:srgbClr val="000099"/>
                        </a:solidFill>
                        <a:effectLst/>
                        <a:latin typeface="Arial" panose="020B0604020202020204" pitchFamily="34" charset="0"/>
                        <a:ea typeface="楷体_GB2312" pitchFamily="49" charset="-122"/>
                        <a:cs typeface="Times New Roman" panose="02020603050405020304" pitchFamily="18" charset="0"/>
                      </a:endParaRPr>
                    </a:p>
                  </a:txBody>
                  <a:tcPr marT="45740" marB="45740"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5919">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9900CC"/>
                          </a:solidFill>
                          <a:effectLst/>
                          <a:latin typeface="Times New Roman" panose="02020603050405020304" pitchFamily="18" charset="0"/>
                          <a:ea typeface="楷体_GB2312" pitchFamily="49" charset="-122"/>
                          <a:cs typeface="Times New Roman" panose="02020603050405020304" pitchFamily="18" charset="0"/>
                        </a:rPr>
                        <a:t>  2</a:t>
                      </a:r>
                      <a:endParaRPr kumimoji="0" lang="en-US" altLang="zh-CN" sz="1800" b="1" i="0" u="none" strike="noStrike" cap="none" normalizeH="0" baseline="0">
                        <a:ln>
                          <a:noFill/>
                        </a:ln>
                        <a:solidFill>
                          <a:srgbClr val="9900CC"/>
                        </a:solidFill>
                        <a:effectLst/>
                        <a:latin typeface="Arial" panose="020B0604020202020204" pitchFamily="34" charset="0"/>
                        <a:ea typeface="楷体_GB2312" pitchFamily="49" charset="-122"/>
                        <a:cs typeface="Times New Roman" panose="02020603050405020304" pitchFamily="18" charset="0"/>
                      </a:endParaRPr>
                    </a:p>
                  </a:txBody>
                  <a:tcPr marT="45740" marB="45740"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9900CC"/>
                          </a:solidFill>
                          <a:effectLst/>
                          <a:latin typeface="Times New Roman" panose="02020603050405020304" pitchFamily="18" charset="0"/>
                          <a:ea typeface="楷体_GB2312" pitchFamily="49" charset="-122"/>
                          <a:cs typeface="Times New Roman" panose="02020603050405020304" pitchFamily="18" charset="0"/>
                        </a:rPr>
                        <a:t>  R</a:t>
                      </a:r>
                      <a:endParaRPr kumimoji="0" lang="en-US" altLang="zh-CN" sz="1800" b="1" i="0" u="none" strike="noStrike" cap="none" normalizeH="0" baseline="0">
                        <a:ln>
                          <a:noFill/>
                        </a:ln>
                        <a:solidFill>
                          <a:srgbClr val="9900CC"/>
                        </a:solidFill>
                        <a:effectLst/>
                        <a:latin typeface="Arial" panose="020B0604020202020204" pitchFamily="34" charset="0"/>
                        <a:ea typeface="楷体_GB2312" pitchFamily="49" charset="-122"/>
                        <a:cs typeface="Times New Roman" panose="02020603050405020304" pitchFamily="18" charset="0"/>
                      </a:endParaRPr>
                    </a:p>
                  </a:txBody>
                  <a:tcPr marT="45740" marB="45740"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9900CC"/>
                          </a:solidFill>
                          <a:effectLst/>
                          <a:latin typeface="Times New Roman" panose="02020603050405020304" pitchFamily="18" charset="0"/>
                          <a:ea typeface="楷体_GB2312" pitchFamily="49" charset="-122"/>
                          <a:cs typeface="Times New Roman" panose="02020603050405020304" pitchFamily="18" charset="0"/>
                        </a:rPr>
                        <a:t>  8</a:t>
                      </a:r>
                      <a:endParaRPr kumimoji="0" lang="en-US" altLang="zh-CN" sz="1800" b="1" i="0" u="none" strike="noStrike" cap="none" normalizeH="0" baseline="0">
                        <a:ln>
                          <a:noFill/>
                        </a:ln>
                        <a:solidFill>
                          <a:srgbClr val="9900CC"/>
                        </a:solidFill>
                        <a:effectLst/>
                        <a:latin typeface="Arial" panose="020B0604020202020204" pitchFamily="34" charset="0"/>
                        <a:ea typeface="楷体_GB2312" pitchFamily="49" charset="-122"/>
                        <a:cs typeface="Times New Roman" panose="02020603050405020304" pitchFamily="18" charset="0"/>
                      </a:endParaRPr>
                    </a:p>
                  </a:txBody>
                  <a:tcPr marT="45740" marB="45740"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690233" name="Rectangle 57"/>
          <p:cNvSpPr/>
          <p:nvPr/>
        </p:nvSpPr>
        <p:spPr>
          <a:xfrm>
            <a:off x="5508625" y="1412875"/>
            <a:ext cx="2070100" cy="45720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作业</a:t>
            </a:r>
            <a:r>
              <a:rPr lang="en-US" altLang="zh-CN" sz="2400" b="1" dirty="0">
                <a:solidFill>
                  <a:srgbClr val="000099"/>
                </a:solidFill>
                <a:ea typeface="楷体_GB2312" pitchFamily="49" charset="-122"/>
              </a:rPr>
              <a:t>2</a:t>
            </a:r>
            <a:r>
              <a:rPr lang="zh-CN" altLang="en-US" sz="2400" b="1" dirty="0">
                <a:solidFill>
                  <a:srgbClr val="000099"/>
                </a:solidFill>
                <a:ea typeface="楷体_GB2312" pitchFamily="49" charset="-122"/>
              </a:rPr>
              <a:t>的页表</a:t>
            </a:r>
            <a:r>
              <a:rPr lang="zh-CN" altLang="en-US" sz="1000" dirty="0"/>
              <a:t>                        </a:t>
            </a:r>
            <a:endParaRPr lang="zh-CN" altLang="en-US" sz="1800" dirty="0">
              <a:latin typeface="Arial" panose="020B0604020202020204" pitchFamily="34" charset="0"/>
            </a:endParaRPr>
          </a:p>
        </p:txBody>
      </p:sp>
      <p:sp>
        <p:nvSpPr>
          <p:cNvPr id="690234" name="Rectangle 58"/>
          <p:cNvSpPr/>
          <p:nvPr/>
        </p:nvSpPr>
        <p:spPr>
          <a:xfrm>
            <a:off x="900113" y="4005263"/>
            <a:ext cx="7775575" cy="1844675"/>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333375" defTabSz="914400" eaLnBrk="1" hangingPunct="1">
              <a:lnSpc>
                <a:spcPct val="120000"/>
              </a:lnSpc>
              <a:spcBef>
                <a:spcPct val="0"/>
              </a:spcBef>
              <a:buClrTx/>
              <a:buSzTx/>
              <a:buFontTx/>
              <a:buNone/>
              <a:tabLst>
                <a:tab pos="600075" algn="l"/>
              </a:tabLst>
            </a:pPr>
            <a:r>
              <a:rPr lang="zh-CN" altLang="en-US" sz="2400" b="1" dirty="0">
                <a:solidFill>
                  <a:srgbClr val="9900CC"/>
                </a:solidFill>
                <a:ea typeface="楷体_GB2312" pitchFamily="49" charset="-122"/>
              </a:rPr>
              <a:t>页的共享：</a:t>
            </a:r>
            <a:r>
              <a:rPr lang="zh-CN" altLang="en-US" sz="2400" b="1" dirty="0">
                <a:solidFill>
                  <a:srgbClr val="000099"/>
                </a:solidFill>
                <a:ea typeface="楷体_GB2312" pitchFamily="49" charset="-122"/>
              </a:rPr>
              <a:t>对作业中涉及共享信息的页，使其在页表中的有关表目指向共享信息所在的主存块。</a:t>
            </a:r>
            <a:endParaRPr lang="zh-CN" altLang="en-US" sz="2400" b="1" dirty="0">
              <a:solidFill>
                <a:srgbClr val="000099"/>
              </a:solidFill>
              <a:ea typeface="楷体_GB2312" pitchFamily="49" charset="-122"/>
            </a:endParaRPr>
          </a:p>
          <a:p>
            <a:pPr marL="0" lvl="0" indent="333375" defTabSz="914400" eaLnBrk="1" hangingPunct="1">
              <a:lnSpc>
                <a:spcPct val="120000"/>
              </a:lnSpc>
              <a:spcBef>
                <a:spcPct val="0"/>
              </a:spcBef>
              <a:buClrTx/>
              <a:buSzTx/>
              <a:buFontTx/>
              <a:buNone/>
              <a:tabLst>
                <a:tab pos="600075" algn="l"/>
              </a:tabLst>
            </a:pPr>
            <a:r>
              <a:rPr lang="zh-CN" altLang="en-US" sz="2400" b="1" dirty="0">
                <a:solidFill>
                  <a:srgbClr val="9900CC"/>
                </a:solidFill>
                <a:ea typeface="楷体_GB2312" pitchFamily="49" charset="-122"/>
              </a:rPr>
              <a:t>页的保护：</a:t>
            </a:r>
            <a:r>
              <a:rPr lang="zh-CN" altLang="en-US" sz="2400" b="1" dirty="0">
                <a:solidFill>
                  <a:srgbClr val="000099"/>
                </a:solidFill>
                <a:ea typeface="楷体_GB2312" pitchFamily="49" charset="-122"/>
              </a:rPr>
              <a:t>在页表中增加一些标志位指出对该页信息可执行的操作。</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90183"/>
                                        </p:tgtEl>
                                        <p:attrNameLst>
                                          <p:attrName>style.visibility</p:attrName>
                                        </p:attrNameLst>
                                      </p:cBhvr>
                                      <p:to>
                                        <p:strVal val="visible"/>
                                      </p:to>
                                    </p:set>
                                    <p:anim calcmode="lin" valueType="num">
                                      <p:cBhvr additive="base">
                                        <p:cTn id="7" dur="500" fill="hold"/>
                                        <p:tgtEl>
                                          <p:spTgt spid="690183"/>
                                        </p:tgtEl>
                                        <p:attrNameLst>
                                          <p:attrName>ppt_x</p:attrName>
                                        </p:attrNameLst>
                                      </p:cBhvr>
                                      <p:tavLst>
                                        <p:tav tm="0">
                                          <p:val>
                                            <p:strVal val="0-#ppt_w/2"/>
                                          </p:val>
                                        </p:tav>
                                        <p:tav tm="100000">
                                          <p:val>
                                            <p:strVal val="#ppt_x"/>
                                          </p:val>
                                        </p:tav>
                                      </p:tavLst>
                                    </p:anim>
                                    <p:anim calcmode="lin" valueType="num">
                                      <p:cBhvr additive="base">
                                        <p:cTn id="8" dur="500" fill="hold"/>
                                        <p:tgtEl>
                                          <p:spTgt spid="6901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690184"/>
                                        </p:tgtEl>
                                        <p:attrNameLst>
                                          <p:attrName>style.visibility</p:attrName>
                                        </p:attrNameLst>
                                      </p:cBhvr>
                                      <p:to>
                                        <p:strVal val="visible"/>
                                      </p:to>
                                    </p:set>
                                    <p:animEffect transition="in" filter="wipe(left)">
                                      <p:cBhvr>
                                        <p:cTn id="13" dur="500"/>
                                        <p:tgtEl>
                                          <p:spTgt spid="69018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690185"/>
                                        </p:tgtEl>
                                        <p:attrNameLst>
                                          <p:attrName>style.visibility</p:attrName>
                                        </p:attrNameLst>
                                      </p:cBhvr>
                                      <p:to>
                                        <p:strVal val="visible"/>
                                      </p:to>
                                    </p:set>
                                    <p:animEffect transition="in" filter="wipe(up)">
                                      <p:cBhvr>
                                        <p:cTn id="18" dur="500"/>
                                        <p:tgtEl>
                                          <p:spTgt spid="69018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90233"/>
                                        </p:tgtEl>
                                        <p:attrNameLst>
                                          <p:attrName>style.visibility</p:attrName>
                                        </p:attrNameLst>
                                      </p:cBhvr>
                                      <p:to>
                                        <p:strVal val="visible"/>
                                      </p:to>
                                    </p:set>
                                    <p:animEffect transition="in" filter="wipe(left)">
                                      <p:cBhvr>
                                        <p:cTn id="23" dur="500"/>
                                        <p:tgtEl>
                                          <p:spTgt spid="69023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690211"/>
                                        </p:tgtEl>
                                        <p:attrNameLst>
                                          <p:attrName>style.visibility</p:attrName>
                                        </p:attrNameLst>
                                      </p:cBhvr>
                                      <p:to>
                                        <p:strVal val="visible"/>
                                      </p:to>
                                    </p:set>
                                    <p:animEffect transition="in" filter="wipe(up)">
                                      <p:cBhvr>
                                        <p:cTn id="28" dur="500"/>
                                        <p:tgtEl>
                                          <p:spTgt spid="690211"/>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690234"/>
                                        </p:tgtEl>
                                        <p:attrNameLst>
                                          <p:attrName>style.visibility</p:attrName>
                                        </p:attrNameLst>
                                      </p:cBhvr>
                                      <p:to>
                                        <p:strVal val="visible"/>
                                      </p:to>
                                    </p:set>
                                    <p:anim calcmode="lin" valueType="num">
                                      <p:cBhvr additive="base">
                                        <p:cTn id="33" dur="500" fill="hold"/>
                                        <p:tgtEl>
                                          <p:spTgt spid="690234"/>
                                        </p:tgtEl>
                                        <p:attrNameLst>
                                          <p:attrName>ppt_x</p:attrName>
                                        </p:attrNameLst>
                                      </p:cBhvr>
                                      <p:tavLst>
                                        <p:tav tm="0">
                                          <p:val>
                                            <p:strVal val="0-#ppt_w/2"/>
                                          </p:val>
                                        </p:tav>
                                        <p:tav tm="100000">
                                          <p:val>
                                            <p:strVal val="#ppt_x"/>
                                          </p:val>
                                        </p:tav>
                                      </p:tavLst>
                                    </p:anim>
                                    <p:anim calcmode="lin" valueType="num">
                                      <p:cBhvr additive="base">
                                        <p:cTn id="34" dur="500" fill="hold"/>
                                        <p:tgtEl>
                                          <p:spTgt spid="6902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183" grpId="0"/>
      <p:bldP spid="690184" grpId="0"/>
      <p:bldP spid="690233" grpId="0"/>
      <p:bldP spid="690234"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99100" name="Rectangle 60"/>
          <p:cNvSpPr/>
          <p:nvPr/>
        </p:nvSpPr>
        <p:spPr>
          <a:xfrm>
            <a:off x="539750" y="765175"/>
            <a:ext cx="7200900" cy="6762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457200" lvl="0" indent="-457200" eaLnBrk="1" hangingPunct="1">
              <a:lnSpc>
                <a:spcPct val="120000"/>
              </a:lnSpc>
              <a:buClrTx/>
              <a:buSzTx/>
              <a:buFontTx/>
              <a:buNone/>
            </a:pPr>
            <a:r>
              <a:rPr lang="zh-CN" altLang="en-US" dirty="0">
                <a:solidFill>
                  <a:srgbClr val="000000"/>
                </a:solidFill>
                <a:ea typeface="隶书" panose="02010509060101010101" pitchFamily="49" charset="-122"/>
              </a:rPr>
              <a:t>五、分页式存储管理特点</a:t>
            </a:r>
            <a:endParaRPr lang="zh-CN" altLang="en-US" dirty="0">
              <a:solidFill>
                <a:srgbClr val="000000"/>
              </a:solidFill>
              <a:ea typeface="隶书" panose="02010509060101010101" pitchFamily="49" charset="-122"/>
            </a:endParaRPr>
          </a:p>
        </p:txBody>
      </p:sp>
      <p:sp>
        <p:nvSpPr>
          <p:cNvPr id="599101" name="Rectangle 61"/>
          <p:cNvSpPr/>
          <p:nvPr/>
        </p:nvSpPr>
        <p:spPr>
          <a:xfrm>
            <a:off x="900113" y="1557338"/>
            <a:ext cx="6692900" cy="968375"/>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lnSpc>
                <a:spcPct val="120000"/>
              </a:lnSpc>
              <a:spcBef>
                <a:spcPct val="0"/>
              </a:spcBef>
              <a:buClrTx/>
              <a:buSzTx/>
              <a:buFontTx/>
              <a:buNone/>
              <a:tabLst>
                <a:tab pos="561975" algn="l"/>
              </a:tabLst>
            </a:pPr>
            <a:r>
              <a:rPr lang="en-US" altLang="zh-CN" sz="2400" b="1" dirty="0">
                <a:solidFill>
                  <a:srgbClr val="000099"/>
                </a:solidFill>
                <a:ea typeface="楷体_GB2312" pitchFamily="49" charset="-122"/>
              </a:rPr>
              <a:t>1.  </a:t>
            </a:r>
            <a:r>
              <a:rPr lang="zh-CN" altLang="en-US" sz="2400" b="1" dirty="0">
                <a:solidFill>
                  <a:srgbClr val="000099"/>
                </a:solidFill>
                <a:ea typeface="楷体_GB2312" pitchFamily="49" charset="-122"/>
              </a:rPr>
              <a:t>解决了碎片问题，提高了存储空间的利用率。</a:t>
            </a:r>
            <a:endParaRPr lang="zh-CN" altLang="en-US" sz="2400" b="1" dirty="0">
              <a:solidFill>
                <a:srgbClr val="000099"/>
              </a:solidFill>
              <a:ea typeface="楷体_GB2312" pitchFamily="49" charset="-122"/>
            </a:endParaRPr>
          </a:p>
          <a:p>
            <a:pPr marL="0" lvl="0" indent="0" defTabSz="914400" eaLnBrk="1" hangingPunct="1">
              <a:lnSpc>
                <a:spcPct val="120000"/>
              </a:lnSpc>
              <a:spcBef>
                <a:spcPct val="0"/>
              </a:spcBef>
              <a:buClrTx/>
              <a:buSzTx/>
              <a:buFontTx/>
              <a:buNone/>
              <a:tabLst>
                <a:tab pos="561975" algn="l"/>
              </a:tabLst>
            </a:pPr>
            <a:r>
              <a:rPr lang="en-US" altLang="zh-CN" sz="2400" b="1" dirty="0">
                <a:solidFill>
                  <a:srgbClr val="000099"/>
                </a:solidFill>
                <a:ea typeface="楷体_GB2312" pitchFamily="49" charset="-122"/>
              </a:rPr>
              <a:t>2.  </a:t>
            </a:r>
            <a:r>
              <a:rPr lang="zh-CN" altLang="en-US" sz="2400" b="1" dirty="0">
                <a:solidFill>
                  <a:srgbClr val="000099"/>
                </a:solidFill>
                <a:ea typeface="楷体_GB2312" pitchFamily="49" charset="-122"/>
              </a:rPr>
              <a:t>但作业大小仍受内存可用页面数的限制。</a:t>
            </a:r>
            <a:endParaRPr lang="zh-CN" altLang="en-US" sz="2400" b="1" dirty="0">
              <a:solidFill>
                <a:srgbClr val="000099"/>
              </a:solidFill>
              <a:ea typeface="楷体_GB2312" pitchFamily="49" charset="-122"/>
            </a:endParaRPr>
          </a:p>
        </p:txBody>
      </p:sp>
      <p:sp>
        <p:nvSpPr>
          <p:cNvPr id="599102" name="Rectangle 62"/>
          <p:cNvSpPr/>
          <p:nvPr/>
        </p:nvSpPr>
        <p:spPr>
          <a:xfrm>
            <a:off x="755650" y="2636838"/>
            <a:ext cx="7991475" cy="19907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eaLnBrk="1" hangingPunct="1">
              <a:lnSpc>
                <a:spcPct val="130000"/>
              </a:lnSpc>
              <a:buClrTx/>
              <a:buSzTx/>
              <a:buFontTx/>
              <a:buNone/>
              <a:tabLst>
                <a:tab pos="561975" algn="l"/>
              </a:tabLst>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由于分页存储分配有效地解决了存储器的零头问题，因而能同时为更多的作业提供存储空间，能在更高的程度上进行多道程序设计，从而相应地提高了存储器和处理机的利用率。</a:t>
            </a:r>
            <a:endParaRPr lang="zh-CN" altLang="en-US" sz="2400" b="1" dirty="0">
              <a:solidFill>
                <a:srgbClr val="000099"/>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99100"/>
                                        </p:tgtEl>
                                        <p:attrNameLst>
                                          <p:attrName>style.visibility</p:attrName>
                                        </p:attrNameLst>
                                      </p:cBhvr>
                                      <p:to>
                                        <p:strVal val="visible"/>
                                      </p:to>
                                    </p:set>
                                    <p:anim calcmode="lin" valueType="num">
                                      <p:cBhvr additive="base">
                                        <p:cTn id="7" dur="500" fill="hold"/>
                                        <p:tgtEl>
                                          <p:spTgt spid="599100"/>
                                        </p:tgtEl>
                                        <p:attrNameLst>
                                          <p:attrName>ppt_x</p:attrName>
                                        </p:attrNameLst>
                                      </p:cBhvr>
                                      <p:tavLst>
                                        <p:tav tm="0">
                                          <p:val>
                                            <p:strVal val="0-#ppt_w/2"/>
                                          </p:val>
                                        </p:tav>
                                        <p:tav tm="100000">
                                          <p:val>
                                            <p:strVal val="#ppt_x"/>
                                          </p:val>
                                        </p:tav>
                                      </p:tavLst>
                                    </p:anim>
                                    <p:anim calcmode="lin" valueType="num">
                                      <p:cBhvr additive="base">
                                        <p:cTn id="8" dur="500" fill="hold"/>
                                        <p:tgtEl>
                                          <p:spTgt spid="59910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99101"/>
                                        </p:tgtEl>
                                        <p:attrNameLst>
                                          <p:attrName>style.visibility</p:attrName>
                                        </p:attrNameLst>
                                      </p:cBhvr>
                                      <p:to>
                                        <p:strVal val="visible"/>
                                      </p:to>
                                    </p:set>
                                    <p:anim calcmode="lin" valueType="num">
                                      <p:cBhvr additive="base">
                                        <p:cTn id="13" dur="500" fill="hold"/>
                                        <p:tgtEl>
                                          <p:spTgt spid="599101"/>
                                        </p:tgtEl>
                                        <p:attrNameLst>
                                          <p:attrName>ppt_x</p:attrName>
                                        </p:attrNameLst>
                                      </p:cBhvr>
                                      <p:tavLst>
                                        <p:tav tm="0">
                                          <p:val>
                                            <p:strVal val="0-#ppt_w/2"/>
                                          </p:val>
                                        </p:tav>
                                        <p:tav tm="100000">
                                          <p:val>
                                            <p:strVal val="#ppt_x"/>
                                          </p:val>
                                        </p:tav>
                                      </p:tavLst>
                                    </p:anim>
                                    <p:anim calcmode="lin" valueType="num">
                                      <p:cBhvr additive="base">
                                        <p:cTn id="14" dur="500" fill="hold"/>
                                        <p:tgtEl>
                                          <p:spTgt spid="59910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99102"/>
                                        </p:tgtEl>
                                        <p:attrNameLst>
                                          <p:attrName>style.visibility</p:attrName>
                                        </p:attrNameLst>
                                      </p:cBhvr>
                                      <p:to>
                                        <p:strVal val="visible"/>
                                      </p:to>
                                    </p:set>
                                    <p:anim calcmode="lin" valueType="num">
                                      <p:cBhvr additive="base">
                                        <p:cTn id="19" dur="500" fill="hold"/>
                                        <p:tgtEl>
                                          <p:spTgt spid="599102"/>
                                        </p:tgtEl>
                                        <p:attrNameLst>
                                          <p:attrName>ppt_x</p:attrName>
                                        </p:attrNameLst>
                                      </p:cBhvr>
                                      <p:tavLst>
                                        <p:tav tm="0">
                                          <p:val>
                                            <p:strVal val="0-#ppt_w/2"/>
                                          </p:val>
                                        </p:tav>
                                        <p:tav tm="100000">
                                          <p:val>
                                            <p:strVal val="#ppt_x"/>
                                          </p:val>
                                        </p:tav>
                                      </p:tavLst>
                                    </p:anim>
                                    <p:anim calcmode="lin" valueType="num">
                                      <p:cBhvr additive="base">
                                        <p:cTn id="20" dur="500" fill="hold"/>
                                        <p:tgtEl>
                                          <p:spTgt spid="5991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9100" grpId="0"/>
      <p:bldP spid="599101" grpId="0"/>
      <p:bldP spid="599102"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10978" name="Rectangle 2"/>
          <p:cNvSpPr/>
          <p:nvPr/>
        </p:nvSpPr>
        <p:spPr>
          <a:xfrm>
            <a:off x="2700338" y="188913"/>
            <a:ext cx="4624387" cy="755650"/>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3600" dirty="0">
                <a:solidFill>
                  <a:srgbClr val="000099"/>
                </a:solidFill>
                <a:latin typeface="隶书" panose="02010509060101010101" pitchFamily="49" charset="-122"/>
                <a:ea typeface="隶书" panose="02010509060101010101" pitchFamily="49" charset="-122"/>
              </a:rPr>
              <a:t>5.7 </a:t>
            </a:r>
            <a:r>
              <a:rPr lang="zh-CN" altLang="en-US" sz="3600" dirty="0">
                <a:solidFill>
                  <a:srgbClr val="000099"/>
                </a:solidFill>
                <a:latin typeface="隶书" panose="02010509060101010101" pitchFamily="49" charset="-122"/>
                <a:ea typeface="隶书" panose="02010509060101010101" pitchFamily="49" charset="-122"/>
              </a:rPr>
              <a:t>分段式存储管理</a:t>
            </a:r>
            <a:endParaRPr lang="zh-CN" altLang="en-US" sz="3600" dirty="0">
              <a:solidFill>
                <a:srgbClr val="000099"/>
              </a:solidFill>
              <a:latin typeface="隶书" panose="02010509060101010101" pitchFamily="49" charset="-122"/>
              <a:ea typeface="隶书" panose="02010509060101010101" pitchFamily="49" charset="-122"/>
            </a:endParaRPr>
          </a:p>
        </p:txBody>
      </p:sp>
      <p:sp>
        <p:nvSpPr>
          <p:cNvPr id="510979" name="Rectangle 3"/>
          <p:cNvSpPr/>
          <p:nvPr/>
        </p:nvSpPr>
        <p:spPr>
          <a:xfrm>
            <a:off x="685800" y="1447800"/>
            <a:ext cx="8229600" cy="199231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eaLnBrk="1" hangingPunct="1">
              <a:lnSpc>
                <a:spcPct val="120000"/>
              </a:lnSpc>
              <a:buClrTx/>
              <a:buSzTx/>
              <a:buFontTx/>
              <a:buNone/>
              <a:tabLst>
                <a:tab pos="561975" algn="l"/>
              </a:tabLst>
            </a:pPr>
            <a:r>
              <a:rPr lang="zh-CN" altLang="en-US" sz="2800" dirty="0">
                <a:solidFill>
                  <a:srgbClr val="990033"/>
                </a:solidFill>
                <a:latin typeface="隶书" panose="02010509060101010101" pitchFamily="49" charset="-122"/>
                <a:ea typeface="隶书" panose="02010509060101010101" pitchFamily="49" charset="-122"/>
              </a:rPr>
              <a:t>问题：</a:t>
            </a:r>
            <a:endParaRPr lang="zh-CN" altLang="en-US" sz="2800" dirty="0">
              <a:solidFill>
                <a:srgbClr val="990033"/>
              </a:solidFill>
              <a:latin typeface="隶书" panose="02010509060101010101" pitchFamily="49" charset="-122"/>
              <a:ea typeface="隶书" panose="02010509060101010101" pitchFamily="49" charset="-122"/>
            </a:endParaRPr>
          </a:p>
          <a:p>
            <a:pPr marL="0" lvl="0" indent="0" algn="just" defTabSz="914400" eaLnBrk="1" hangingPunct="1">
              <a:lnSpc>
                <a:spcPct val="120000"/>
              </a:lnSpc>
              <a:buClrTx/>
              <a:buSzTx/>
              <a:buFontTx/>
              <a:buNone/>
              <a:tabLst>
                <a:tab pos="561975" algn="l"/>
              </a:tabLst>
            </a:pPr>
            <a:r>
              <a:rPr lang="zh-CN" altLang="en-US" sz="2400" b="1" dirty="0">
                <a:solidFill>
                  <a:srgbClr val="000099"/>
                </a:solidFill>
                <a:latin typeface="楷体_GB2312" pitchFamily="49" charset="-122"/>
                <a:ea typeface="楷体_GB2312" pitchFamily="49" charset="-122"/>
              </a:rPr>
              <a:t>    </a:t>
            </a:r>
            <a:r>
              <a:rPr lang="en-US" altLang="zh-CN" sz="2400" b="1" dirty="0">
                <a:solidFill>
                  <a:srgbClr val="000099"/>
                </a:solidFill>
                <a:latin typeface="楷体_GB2312" pitchFamily="49" charset="-122"/>
                <a:ea typeface="楷体_GB2312" pitchFamily="49" charset="-122"/>
              </a:rPr>
              <a:t>1</a:t>
            </a:r>
            <a:r>
              <a:rPr lang="zh-CN" altLang="en-US" sz="2400" b="1" dirty="0">
                <a:solidFill>
                  <a:srgbClr val="000099"/>
                </a:solidFill>
                <a:latin typeface="楷体_GB2312" pitchFamily="49" charset="-122"/>
                <a:ea typeface="楷体_GB2312" pitchFamily="49" charset="-122"/>
              </a:rPr>
              <a:t>）前面介绍的各种存储管理方案，如分区分配，分页等，它们的主要差别在于对内存的利用方法不同，目的都在于如何有效地利用内存。</a:t>
            </a:r>
            <a:endParaRPr lang="zh-CN" altLang="en-US" sz="2400" b="1" dirty="0">
              <a:solidFill>
                <a:srgbClr val="000099"/>
              </a:solidFill>
              <a:latin typeface="楷体_GB2312" pitchFamily="49" charset="-122"/>
              <a:ea typeface="楷体_GB2312" pitchFamily="49" charset="-122"/>
            </a:endParaRPr>
          </a:p>
        </p:txBody>
      </p:sp>
      <p:sp>
        <p:nvSpPr>
          <p:cNvPr id="510980" name="Rectangle 4"/>
          <p:cNvSpPr/>
          <p:nvPr/>
        </p:nvSpPr>
        <p:spPr>
          <a:xfrm>
            <a:off x="685800" y="5638800"/>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eaLnBrk="1" hangingPunct="1">
              <a:lnSpc>
                <a:spcPct val="120000"/>
              </a:lnSpc>
              <a:buClrTx/>
              <a:buSzTx/>
              <a:buFontTx/>
              <a:buNone/>
              <a:tabLst>
                <a:tab pos="561975" algn="l"/>
              </a:tabLst>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为了更有效地利用存储器同时又便于程序员使用，引进了分段存贮管理。</a:t>
            </a:r>
            <a:endParaRPr lang="zh-CN" altLang="en-US" sz="2400" b="1" dirty="0">
              <a:solidFill>
                <a:srgbClr val="000099"/>
              </a:solidFill>
              <a:latin typeface="楷体_GB2312" pitchFamily="49" charset="-122"/>
              <a:ea typeface="楷体_GB2312" pitchFamily="49" charset="-122"/>
            </a:endParaRPr>
          </a:p>
        </p:txBody>
      </p:sp>
      <p:sp>
        <p:nvSpPr>
          <p:cNvPr id="510981" name="Rectangle 5"/>
          <p:cNvSpPr/>
          <p:nvPr/>
        </p:nvSpPr>
        <p:spPr>
          <a:xfrm>
            <a:off x="685800" y="3429000"/>
            <a:ext cx="8229600" cy="22828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eaLnBrk="1" hangingPunct="1">
              <a:lnSpc>
                <a:spcPct val="120000"/>
              </a:lnSpc>
              <a:buClrTx/>
              <a:buSzTx/>
              <a:buFontTx/>
              <a:buNone/>
              <a:tabLst>
                <a:tab pos="561975" algn="l"/>
              </a:tabLst>
            </a:pPr>
            <a:r>
              <a:rPr lang="en-US" altLang="zh-CN" sz="2400" b="1" dirty="0">
                <a:solidFill>
                  <a:srgbClr val="000099"/>
                </a:solidFill>
                <a:latin typeface="楷体_GB2312" pitchFamily="49" charset="-122"/>
                <a:ea typeface="楷体_GB2312" pitchFamily="49" charset="-122"/>
              </a:rPr>
              <a:t>    2</a:t>
            </a:r>
            <a:r>
              <a:rPr lang="zh-CN" altLang="en-US" sz="2400" b="1" dirty="0">
                <a:solidFill>
                  <a:srgbClr val="000099"/>
                </a:solidFill>
                <a:latin typeface="楷体_GB2312" pitchFamily="49" charset="-122"/>
                <a:ea typeface="楷体_GB2312" pitchFamily="49" charset="-122"/>
              </a:rPr>
              <a:t>）实际用户处理问题，往往出现模块化程序，且有主程序、子程序、分程序、过程等结构，它们基本上是以段</a:t>
            </a:r>
            <a:r>
              <a:rPr lang="en-US" altLang="zh-CN" sz="2400" b="1" dirty="0">
                <a:solidFill>
                  <a:srgbClr val="000099"/>
                </a:solidFill>
                <a:latin typeface="楷体_GB2312" pitchFamily="49" charset="-122"/>
                <a:ea typeface="楷体_GB2312" pitchFamily="49" charset="-122"/>
              </a:rPr>
              <a:t>(</a:t>
            </a:r>
            <a:r>
              <a:rPr lang="zh-CN" altLang="en-US" sz="2400" b="1" dirty="0">
                <a:solidFill>
                  <a:srgbClr val="000099"/>
                </a:solidFill>
                <a:latin typeface="楷体_GB2312" pitchFamily="49" charset="-122"/>
                <a:ea typeface="楷体_GB2312" pitchFamily="49" charset="-122"/>
              </a:rPr>
              <a:t>模块</a:t>
            </a:r>
            <a:r>
              <a:rPr lang="en-US" altLang="zh-CN" sz="2400" b="1" dirty="0">
                <a:solidFill>
                  <a:srgbClr val="000099"/>
                </a:solidFill>
                <a:latin typeface="楷体_GB2312" pitchFamily="49" charset="-122"/>
                <a:ea typeface="楷体_GB2312" pitchFamily="49" charset="-122"/>
              </a:rPr>
              <a:t>)</a:t>
            </a:r>
            <a:r>
              <a:rPr lang="zh-CN" altLang="en-US" sz="2400" b="1" dirty="0">
                <a:solidFill>
                  <a:srgbClr val="000099"/>
                </a:solidFill>
                <a:latin typeface="楷体_GB2312" pitchFamily="49" charset="-122"/>
                <a:ea typeface="楷体_GB2312" pitchFamily="49" charset="-122"/>
              </a:rPr>
              <a:t>出现的。程序员都希望把信息按其内容或函数关系分成段，每段有自己的名字，且可以根据名字来访问相应的程序或数据段。</a:t>
            </a:r>
            <a:endParaRPr lang="zh-CN" altLang="en-US" sz="2400" b="1" dirty="0">
              <a:solidFill>
                <a:srgbClr val="000099"/>
              </a:solidFill>
              <a:latin typeface="楷体_GB2312" pitchFamily="49" charset="-122"/>
              <a:ea typeface="楷体_GB2312" pitchFamily="49" charset="-122"/>
            </a:endParaRPr>
          </a:p>
        </p:txBody>
      </p:sp>
      <p:sp>
        <p:nvSpPr>
          <p:cNvPr id="510982" name="Rectangle 6"/>
          <p:cNvSpPr/>
          <p:nvPr/>
        </p:nvSpPr>
        <p:spPr>
          <a:xfrm>
            <a:off x="685800" y="914400"/>
            <a:ext cx="4114800" cy="6762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dirty="0">
                <a:solidFill>
                  <a:srgbClr val="000000"/>
                </a:solidFill>
                <a:ea typeface="隶书" panose="02010509060101010101" pitchFamily="49" charset="-122"/>
              </a:rPr>
              <a:t>一、段式系统的特点</a:t>
            </a:r>
            <a:endParaRPr lang="zh-CN" altLang="en-US" dirty="0">
              <a:solidFill>
                <a:srgbClr val="000000"/>
              </a:solidFill>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0978"/>
                                        </p:tgtEl>
                                        <p:attrNameLst>
                                          <p:attrName>style.visibility</p:attrName>
                                        </p:attrNameLst>
                                      </p:cBhvr>
                                      <p:to>
                                        <p:strVal val="visible"/>
                                      </p:to>
                                    </p:set>
                                    <p:anim calcmode="lin" valueType="num">
                                      <p:cBhvr additive="base">
                                        <p:cTn id="7" dur="500" fill="hold"/>
                                        <p:tgtEl>
                                          <p:spTgt spid="510978"/>
                                        </p:tgtEl>
                                        <p:attrNameLst>
                                          <p:attrName>ppt_x</p:attrName>
                                        </p:attrNameLst>
                                      </p:cBhvr>
                                      <p:tavLst>
                                        <p:tav tm="0">
                                          <p:val>
                                            <p:strVal val="0-#ppt_w/2"/>
                                          </p:val>
                                        </p:tav>
                                        <p:tav tm="100000">
                                          <p:val>
                                            <p:strVal val="#ppt_x"/>
                                          </p:val>
                                        </p:tav>
                                      </p:tavLst>
                                    </p:anim>
                                    <p:anim calcmode="lin" valueType="num">
                                      <p:cBhvr additive="base">
                                        <p:cTn id="8" dur="500" fill="hold"/>
                                        <p:tgtEl>
                                          <p:spTgt spid="5109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10982"/>
                                        </p:tgtEl>
                                        <p:attrNameLst>
                                          <p:attrName>style.visibility</p:attrName>
                                        </p:attrNameLst>
                                      </p:cBhvr>
                                      <p:to>
                                        <p:strVal val="visible"/>
                                      </p:to>
                                    </p:set>
                                    <p:anim calcmode="lin" valueType="num">
                                      <p:cBhvr additive="base">
                                        <p:cTn id="13" dur="500" fill="hold"/>
                                        <p:tgtEl>
                                          <p:spTgt spid="510982"/>
                                        </p:tgtEl>
                                        <p:attrNameLst>
                                          <p:attrName>ppt_x</p:attrName>
                                        </p:attrNameLst>
                                      </p:cBhvr>
                                      <p:tavLst>
                                        <p:tav tm="0">
                                          <p:val>
                                            <p:strVal val="0-#ppt_w/2"/>
                                          </p:val>
                                        </p:tav>
                                        <p:tav tm="100000">
                                          <p:val>
                                            <p:strVal val="#ppt_x"/>
                                          </p:val>
                                        </p:tav>
                                      </p:tavLst>
                                    </p:anim>
                                    <p:anim calcmode="lin" valueType="num">
                                      <p:cBhvr additive="base">
                                        <p:cTn id="14" dur="500" fill="hold"/>
                                        <p:tgtEl>
                                          <p:spTgt spid="51098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10979"/>
                                        </p:tgtEl>
                                        <p:attrNameLst>
                                          <p:attrName>style.visibility</p:attrName>
                                        </p:attrNameLst>
                                      </p:cBhvr>
                                      <p:to>
                                        <p:strVal val="visible"/>
                                      </p:to>
                                    </p:set>
                                    <p:anim calcmode="lin" valueType="num">
                                      <p:cBhvr additive="base">
                                        <p:cTn id="19" dur="500" fill="hold"/>
                                        <p:tgtEl>
                                          <p:spTgt spid="510979"/>
                                        </p:tgtEl>
                                        <p:attrNameLst>
                                          <p:attrName>ppt_x</p:attrName>
                                        </p:attrNameLst>
                                      </p:cBhvr>
                                      <p:tavLst>
                                        <p:tav tm="0">
                                          <p:val>
                                            <p:strVal val="0-#ppt_w/2"/>
                                          </p:val>
                                        </p:tav>
                                        <p:tav tm="100000">
                                          <p:val>
                                            <p:strVal val="#ppt_x"/>
                                          </p:val>
                                        </p:tav>
                                      </p:tavLst>
                                    </p:anim>
                                    <p:anim calcmode="lin" valueType="num">
                                      <p:cBhvr additive="base">
                                        <p:cTn id="20" dur="500" fill="hold"/>
                                        <p:tgtEl>
                                          <p:spTgt spid="51097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10981"/>
                                        </p:tgtEl>
                                        <p:attrNameLst>
                                          <p:attrName>style.visibility</p:attrName>
                                        </p:attrNameLst>
                                      </p:cBhvr>
                                      <p:to>
                                        <p:strVal val="visible"/>
                                      </p:to>
                                    </p:set>
                                    <p:anim calcmode="lin" valueType="num">
                                      <p:cBhvr additive="base">
                                        <p:cTn id="25" dur="500" fill="hold"/>
                                        <p:tgtEl>
                                          <p:spTgt spid="510981"/>
                                        </p:tgtEl>
                                        <p:attrNameLst>
                                          <p:attrName>ppt_x</p:attrName>
                                        </p:attrNameLst>
                                      </p:cBhvr>
                                      <p:tavLst>
                                        <p:tav tm="0">
                                          <p:val>
                                            <p:strVal val="0-#ppt_w/2"/>
                                          </p:val>
                                        </p:tav>
                                        <p:tav tm="100000">
                                          <p:val>
                                            <p:strVal val="#ppt_x"/>
                                          </p:val>
                                        </p:tav>
                                      </p:tavLst>
                                    </p:anim>
                                    <p:anim calcmode="lin" valueType="num">
                                      <p:cBhvr additive="base">
                                        <p:cTn id="26" dur="500" fill="hold"/>
                                        <p:tgtEl>
                                          <p:spTgt spid="51098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10980"/>
                                        </p:tgtEl>
                                        <p:attrNameLst>
                                          <p:attrName>style.visibility</p:attrName>
                                        </p:attrNameLst>
                                      </p:cBhvr>
                                      <p:to>
                                        <p:strVal val="visible"/>
                                      </p:to>
                                    </p:set>
                                    <p:anim calcmode="lin" valueType="num">
                                      <p:cBhvr additive="base">
                                        <p:cTn id="31" dur="500" fill="hold"/>
                                        <p:tgtEl>
                                          <p:spTgt spid="510980"/>
                                        </p:tgtEl>
                                        <p:attrNameLst>
                                          <p:attrName>ppt_x</p:attrName>
                                        </p:attrNameLst>
                                      </p:cBhvr>
                                      <p:tavLst>
                                        <p:tav tm="0">
                                          <p:val>
                                            <p:strVal val="0-#ppt_w/2"/>
                                          </p:val>
                                        </p:tav>
                                        <p:tav tm="100000">
                                          <p:val>
                                            <p:strVal val="#ppt_x"/>
                                          </p:val>
                                        </p:tav>
                                      </p:tavLst>
                                    </p:anim>
                                    <p:anim calcmode="lin" valueType="num">
                                      <p:cBhvr additive="base">
                                        <p:cTn id="32" dur="500" fill="hold"/>
                                        <p:tgtEl>
                                          <p:spTgt spid="5109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78" grpId="0" animBg="1"/>
      <p:bldP spid="510979" grpId="0"/>
      <p:bldP spid="510980" grpId="0"/>
      <p:bldP spid="510981" grpId="0"/>
      <p:bldP spid="51098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12002" name="Rectangle 2"/>
          <p:cNvSpPr/>
          <p:nvPr/>
        </p:nvSpPr>
        <p:spPr>
          <a:xfrm>
            <a:off x="609600" y="228600"/>
            <a:ext cx="8305800" cy="1917700"/>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eaLnBrk="1" hangingPunct="1">
              <a:lnSpc>
                <a:spcPct val="115000"/>
              </a:lnSpc>
              <a:buClrTx/>
              <a:buSzTx/>
              <a:buFontTx/>
              <a:buNone/>
              <a:tabLst>
                <a:tab pos="600075" algn="l"/>
              </a:tabLst>
            </a:pPr>
            <a:r>
              <a:rPr lang="zh-CN" altLang="en-US" sz="2800" dirty="0">
                <a:solidFill>
                  <a:srgbClr val="990033"/>
                </a:solidFill>
                <a:latin typeface="隶书" panose="02010509060101010101" pitchFamily="49" charset="-122"/>
                <a:ea typeface="隶书" panose="02010509060101010101" pitchFamily="49" charset="-122"/>
              </a:rPr>
              <a:t>分段式存储管理基本原理</a:t>
            </a:r>
            <a:endParaRPr lang="zh-CN" altLang="en-US" sz="2800" dirty="0">
              <a:solidFill>
                <a:srgbClr val="990033"/>
              </a:solidFill>
              <a:latin typeface="隶书" panose="02010509060101010101" pitchFamily="49" charset="-122"/>
              <a:ea typeface="隶书" panose="02010509060101010101" pitchFamily="49" charset="-122"/>
            </a:endParaRPr>
          </a:p>
          <a:p>
            <a:pPr marL="0" lvl="0" indent="0" algn="just" defTabSz="914400">
              <a:lnSpc>
                <a:spcPct val="115000"/>
              </a:lnSpc>
              <a:buClrTx/>
              <a:buSzTx/>
              <a:buFontTx/>
              <a:buNone/>
              <a:tabLst>
                <a:tab pos="600075" algn="l"/>
              </a:tabLst>
            </a:pPr>
            <a:r>
              <a:rPr lang="zh-CN" altLang="en-US" sz="2400" b="1" dirty="0">
                <a:solidFill>
                  <a:srgbClr val="000099"/>
                </a:solidFill>
                <a:latin typeface="楷体_GB2312" pitchFamily="49" charset="-122"/>
                <a:ea typeface="楷体_GB2312" pitchFamily="49" charset="-122"/>
              </a:rPr>
              <a:t>    </a:t>
            </a:r>
            <a:r>
              <a:rPr lang="en-US" altLang="zh-CN" sz="2400" b="1" dirty="0">
                <a:solidFill>
                  <a:srgbClr val="000099"/>
                </a:solidFill>
                <a:latin typeface="楷体_GB2312" pitchFamily="49" charset="-122"/>
                <a:ea typeface="楷体_GB2312" pitchFamily="49" charset="-122"/>
              </a:rPr>
              <a:t>1</a:t>
            </a:r>
            <a:r>
              <a:rPr lang="zh-CN" altLang="en-US" sz="2400" b="1" dirty="0">
                <a:solidFill>
                  <a:srgbClr val="000099"/>
                </a:solidFill>
                <a:latin typeface="楷体_GB2312" pitchFamily="49" charset="-122"/>
                <a:ea typeface="楷体_GB2312" pitchFamily="49" charset="-122"/>
              </a:rPr>
              <a:t>）一个用户程序通常由一个主程序、若干个子程序和数据区组成，</a:t>
            </a:r>
            <a:r>
              <a:rPr lang="zh-CN" altLang="en-US" sz="2400" b="1" dirty="0">
                <a:solidFill>
                  <a:srgbClr val="006600"/>
                </a:solidFill>
                <a:latin typeface="楷体_GB2312" pitchFamily="49" charset="-122"/>
                <a:ea typeface="楷体_GB2312" pitchFamily="49" charset="-122"/>
              </a:rPr>
              <a:t>按信息的逻辑关系分为段</a:t>
            </a:r>
            <a:r>
              <a:rPr lang="zh-CN" altLang="en-US" sz="2400" b="1" dirty="0">
                <a:solidFill>
                  <a:srgbClr val="000099"/>
                </a:solidFill>
                <a:latin typeface="楷体_GB2312" pitchFamily="49" charset="-122"/>
                <a:ea typeface="楷体_GB2312" pitchFamily="49" charset="-122"/>
              </a:rPr>
              <a:t>，每一段从</a:t>
            </a:r>
            <a:r>
              <a:rPr lang="zh-CN" altLang="en-US" sz="2400" b="1" dirty="0">
                <a:solidFill>
                  <a:srgbClr val="000099"/>
                </a:solidFill>
                <a:ea typeface="楷体_GB2312" pitchFamily="49" charset="-122"/>
              </a:rPr>
              <a:t>“</a:t>
            </a:r>
            <a:r>
              <a:rPr lang="en-US" altLang="zh-CN" sz="2400" b="1" dirty="0">
                <a:solidFill>
                  <a:srgbClr val="000099"/>
                </a:solidFill>
                <a:latin typeface="楷体_GB2312" pitchFamily="49" charset="-122"/>
                <a:ea typeface="楷体_GB2312" pitchFamily="49" charset="-122"/>
              </a:rPr>
              <a:t>0</a:t>
            </a:r>
            <a:r>
              <a:rPr lang="en-US" altLang="zh-CN" sz="2400" b="1" dirty="0">
                <a:solidFill>
                  <a:srgbClr val="000099"/>
                </a:solidFill>
                <a:ea typeface="楷体_GB2312" pitchFamily="49" charset="-122"/>
              </a:rPr>
              <a:t>”</a:t>
            </a:r>
            <a:r>
              <a:rPr lang="zh-CN" altLang="en-US" sz="2400" b="1" dirty="0">
                <a:solidFill>
                  <a:srgbClr val="000099"/>
                </a:solidFill>
                <a:latin typeface="楷体_GB2312" pitchFamily="49" charset="-122"/>
                <a:ea typeface="楷体_GB2312" pitchFamily="49" charset="-122"/>
              </a:rPr>
              <a:t>开始给以顺序的编号（</a:t>
            </a:r>
            <a:r>
              <a:rPr lang="zh-CN" altLang="en-US" sz="2400" b="1" dirty="0">
                <a:solidFill>
                  <a:srgbClr val="9900CC"/>
                </a:solidFill>
                <a:latin typeface="楷体_GB2312" pitchFamily="49" charset="-122"/>
                <a:ea typeface="楷体_GB2312" pitchFamily="49" charset="-122"/>
              </a:rPr>
              <a:t>段号</a:t>
            </a:r>
            <a:r>
              <a:rPr lang="zh-CN" altLang="en-US" sz="2400" b="1" dirty="0">
                <a:solidFill>
                  <a:srgbClr val="000099"/>
                </a:solidFill>
                <a:latin typeface="楷体_GB2312" pitchFamily="49" charset="-122"/>
                <a:ea typeface="楷体_GB2312" pitchFamily="49" charset="-122"/>
              </a:rPr>
              <a:t>）。</a:t>
            </a:r>
            <a:endParaRPr lang="zh-CN" altLang="en-US" sz="2400" b="1" dirty="0">
              <a:solidFill>
                <a:srgbClr val="000099"/>
              </a:solidFill>
              <a:latin typeface="楷体_GB2312" pitchFamily="49" charset="-122"/>
              <a:ea typeface="楷体_GB2312" pitchFamily="49" charset="-122"/>
            </a:endParaRPr>
          </a:p>
        </p:txBody>
      </p:sp>
      <p:sp>
        <p:nvSpPr>
          <p:cNvPr id="512003" name="Rectangle 3"/>
          <p:cNvSpPr/>
          <p:nvPr/>
        </p:nvSpPr>
        <p:spPr>
          <a:xfrm>
            <a:off x="611188" y="2138363"/>
            <a:ext cx="8305800" cy="1354137"/>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333375" algn="just" defTabSz="914400" eaLnBrk="1" hangingPunct="1">
              <a:lnSpc>
                <a:spcPct val="115000"/>
              </a:lnSpc>
              <a:buClrTx/>
              <a:buSzTx/>
              <a:buFontTx/>
              <a:buNone/>
              <a:tabLst>
                <a:tab pos="600075" algn="l"/>
              </a:tabLst>
            </a:pPr>
            <a:r>
              <a:rPr lang="en-US" altLang="zh-CN" sz="2400" b="1" dirty="0">
                <a:solidFill>
                  <a:srgbClr val="000099"/>
                </a:solidFill>
                <a:latin typeface="楷体_GB2312" pitchFamily="49" charset="-122"/>
                <a:ea typeface="楷体_GB2312" pitchFamily="49" charset="-122"/>
              </a:rPr>
              <a:t>  2</a:t>
            </a:r>
            <a:r>
              <a:rPr lang="zh-CN" altLang="en-US" sz="2400" b="1" dirty="0">
                <a:solidFill>
                  <a:srgbClr val="000099"/>
                </a:solidFill>
                <a:latin typeface="楷体_GB2312" pitchFamily="49" charset="-122"/>
                <a:ea typeface="楷体_GB2312" pitchFamily="49" charset="-122"/>
              </a:rPr>
              <a:t>）</a:t>
            </a:r>
            <a:r>
              <a:rPr lang="zh-CN" altLang="en-US" sz="2400" b="1" dirty="0">
                <a:solidFill>
                  <a:srgbClr val="006600"/>
                </a:solidFill>
                <a:latin typeface="楷体_GB2312" pitchFamily="49" charset="-122"/>
                <a:ea typeface="楷体_GB2312" pitchFamily="49" charset="-122"/>
              </a:rPr>
              <a:t>程序的地址空间按段组织</a:t>
            </a:r>
            <a:r>
              <a:rPr lang="zh-CN" altLang="en-US" sz="2400" b="1" dirty="0">
                <a:solidFill>
                  <a:srgbClr val="000099"/>
                </a:solidFill>
                <a:latin typeface="楷体_GB2312" pitchFamily="49" charset="-122"/>
                <a:ea typeface="楷体_GB2312" pitchFamily="49" charset="-122"/>
              </a:rPr>
              <a:t>。（把整个作业的逻辑地址空间分为若干段，每一段的段内从</a:t>
            </a:r>
            <a:r>
              <a:rPr lang="zh-CN" altLang="en-US" sz="2400" b="1" dirty="0">
                <a:solidFill>
                  <a:srgbClr val="000099"/>
                </a:solidFill>
                <a:ea typeface="楷体_GB2312" pitchFamily="49" charset="-122"/>
              </a:rPr>
              <a:t>“</a:t>
            </a:r>
            <a:r>
              <a:rPr lang="en-US" altLang="zh-CN" sz="2400" b="1" dirty="0">
                <a:solidFill>
                  <a:srgbClr val="000099"/>
                </a:solidFill>
                <a:latin typeface="楷体_GB2312" pitchFamily="49" charset="-122"/>
                <a:ea typeface="楷体_GB2312" pitchFamily="49" charset="-122"/>
              </a:rPr>
              <a:t>0</a:t>
            </a:r>
            <a:r>
              <a:rPr lang="en-US" altLang="zh-CN" sz="2400" b="1" dirty="0">
                <a:solidFill>
                  <a:srgbClr val="000099"/>
                </a:solidFill>
                <a:ea typeface="楷体_GB2312" pitchFamily="49" charset="-122"/>
              </a:rPr>
              <a:t>”</a:t>
            </a:r>
            <a:r>
              <a:rPr lang="zh-CN" altLang="en-US" sz="2400" b="1" dirty="0">
                <a:solidFill>
                  <a:srgbClr val="000099"/>
                </a:solidFill>
                <a:latin typeface="楷体_GB2312" pitchFamily="49" charset="-122"/>
                <a:ea typeface="楷体_GB2312" pitchFamily="49" charset="-122"/>
              </a:rPr>
              <a:t>开始顺序形成逻辑地址）。</a:t>
            </a:r>
            <a:endParaRPr lang="zh-CN" altLang="en-US" sz="2400" b="1" dirty="0">
              <a:solidFill>
                <a:srgbClr val="000099"/>
              </a:solidFill>
              <a:latin typeface="楷体_GB2312" pitchFamily="49" charset="-122"/>
              <a:ea typeface="楷体_GB2312" pitchFamily="49" charset="-122"/>
            </a:endParaRPr>
          </a:p>
        </p:txBody>
      </p:sp>
      <p:sp>
        <p:nvSpPr>
          <p:cNvPr id="512004" name="Rectangle 4"/>
          <p:cNvSpPr/>
          <p:nvPr/>
        </p:nvSpPr>
        <p:spPr>
          <a:xfrm>
            <a:off x="611188" y="3484563"/>
            <a:ext cx="83058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333375" algn="just" defTabSz="914400" eaLnBrk="1" hangingPunct="1">
              <a:lnSpc>
                <a:spcPct val="120000"/>
              </a:lnSpc>
              <a:buClrTx/>
              <a:buSzTx/>
              <a:buFontTx/>
              <a:buNone/>
              <a:tabLst>
                <a:tab pos="600075" algn="l"/>
              </a:tabLst>
            </a:pPr>
            <a:r>
              <a:rPr lang="en-US" altLang="zh-CN" sz="2400" b="1" dirty="0">
                <a:solidFill>
                  <a:srgbClr val="000099"/>
                </a:solidFill>
                <a:latin typeface="楷体_GB2312" pitchFamily="49" charset="-122"/>
                <a:ea typeface="楷体_GB2312" pitchFamily="49" charset="-122"/>
              </a:rPr>
              <a:t>  3</a:t>
            </a:r>
            <a:r>
              <a:rPr lang="zh-CN" altLang="en-US" sz="2400" b="1" dirty="0">
                <a:solidFill>
                  <a:srgbClr val="000099"/>
                </a:solidFill>
                <a:latin typeface="楷体_GB2312" pitchFamily="49" charset="-122"/>
                <a:ea typeface="楷体_GB2312" pitchFamily="49" charset="-122"/>
              </a:rPr>
              <a:t>）存储分配时，</a:t>
            </a:r>
            <a:r>
              <a:rPr lang="zh-CN" altLang="en-US" sz="2400" b="1" dirty="0">
                <a:solidFill>
                  <a:srgbClr val="006600"/>
                </a:solidFill>
                <a:latin typeface="楷体_GB2312" pitchFamily="49" charset="-122"/>
                <a:ea typeface="楷体_GB2312" pitchFamily="49" charset="-122"/>
              </a:rPr>
              <a:t>以段为单位分配</a:t>
            </a:r>
            <a:r>
              <a:rPr lang="zh-CN" altLang="en-US" sz="2400" b="1" dirty="0">
                <a:solidFill>
                  <a:srgbClr val="000099"/>
                </a:solidFill>
                <a:latin typeface="楷体_GB2312" pitchFamily="49" charset="-122"/>
                <a:ea typeface="楷体_GB2312" pitchFamily="49" charset="-122"/>
              </a:rPr>
              <a:t>一片连续的存储空间。</a:t>
            </a:r>
            <a:endParaRPr lang="zh-CN" altLang="en-US" sz="2400" b="1" dirty="0">
              <a:solidFill>
                <a:srgbClr val="000099"/>
              </a:solidFill>
              <a:latin typeface="楷体_GB2312" pitchFamily="49" charset="-122"/>
              <a:ea typeface="楷体_GB2312" pitchFamily="49" charset="-122"/>
            </a:endParaRPr>
          </a:p>
        </p:txBody>
      </p:sp>
      <p:sp>
        <p:nvSpPr>
          <p:cNvPr id="512005" name="Rectangle 5"/>
          <p:cNvSpPr/>
          <p:nvPr/>
        </p:nvSpPr>
        <p:spPr>
          <a:xfrm>
            <a:off x="611188" y="4035425"/>
            <a:ext cx="8305800" cy="1554163"/>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eaLnBrk="1" hangingPunct="1">
              <a:lnSpc>
                <a:spcPct val="120000"/>
              </a:lnSpc>
              <a:buClrTx/>
              <a:buSzTx/>
              <a:buFontTx/>
              <a:buNone/>
              <a:tabLst>
                <a:tab pos="600075" algn="l"/>
              </a:tabLst>
            </a:pPr>
            <a:r>
              <a:rPr lang="zh-CN" altLang="en-US" sz="2800" dirty="0">
                <a:solidFill>
                  <a:srgbClr val="006600"/>
                </a:solidFill>
                <a:latin typeface="隶书" panose="02010509060101010101" pitchFamily="49" charset="-122"/>
                <a:ea typeface="隶书" panose="02010509060101010101" pitchFamily="49" charset="-122"/>
              </a:rPr>
              <a:t>注意：</a:t>
            </a:r>
            <a:endParaRPr lang="zh-CN" altLang="en-US" sz="2800" dirty="0">
              <a:solidFill>
                <a:srgbClr val="006600"/>
              </a:solidFill>
              <a:latin typeface="隶书" panose="02010509060101010101" pitchFamily="49" charset="-122"/>
              <a:ea typeface="隶书" panose="02010509060101010101" pitchFamily="49" charset="-122"/>
            </a:endParaRPr>
          </a:p>
          <a:p>
            <a:pPr marL="0" lvl="0" indent="0" algn="just" defTabSz="914400" eaLnBrk="1" hangingPunct="1">
              <a:lnSpc>
                <a:spcPct val="120000"/>
              </a:lnSpc>
              <a:buClrTx/>
              <a:buSzTx/>
              <a:buFontTx/>
              <a:buNone/>
              <a:tabLst>
                <a:tab pos="600075" algn="l"/>
              </a:tabLst>
            </a:pPr>
            <a:r>
              <a:rPr lang="zh-CN" altLang="en-US" sz="2400" b="1" dirty="0">
                <a:solidFill>
                  <a:srgbClr val="000099"/>
                </a:solidFill>
                <a:latin typeface="楷体_GB2312" pitchFamily="49" charset="-122"/>
                <a:ea typeface="楷体_GB2312" pitchFamily="49" charset="-122"/>
              </a:rPr>
              <a:t>   </a:t>
            </a:r>
            <a:r>
              <a:rPr lang="zh-CN" altLang="en-US" sz="2400" b="1" dirty="0">
                <a:solidFill>
                  <a:srgbClr val="000099"/>
                </a:solidFill>
                <a:ea typeface="楷体_GB2312" pitchFamily="49" charset="-122"/>
              </a:rPr>
              <a:t>“</a:t>
            </a:r>
            <a:r>
              <a:rPr lang="zh-CN" altLang="en-US" sz="2400" b="1" dirty="0">
                <a:solidFill>
                  <a:srgbClr val="990033"/>
                </a:solidFill>
                <a:latin typeface="楷体_GB2312" pitchFamily="49" charset="-122"/>
                <a:ea typeface="楷体_GB2312" pitchFamily="49" charset="-122"/>
              </a:rPr>
              <a:t>段</a:t>
            </a:r>
            <a:r>
              <a:rPr lang="zh-CN" altLang="en-US" sz="2400" b="1" dirty="0">
                <a:solidFill>
                  <a:srgbClr val="000099"/>
                </a:solidFill>
                <a:ea typeface="楷体_GB2312" pitchFamily="49" charset="-122"/>
              </a:rPr>
              <a:t>”</a:t>
            </a:r>
            <a:r>
              <a:rPr lang="zh-CN" altLang="en-US" sz="2400" b="1" dirty="0">
                <a:solidFill>
                  <a:srgbClr val="000099"/>
                </a:solidFill>
                <a:latin typeface="楷体_GB2312" pitchFamily="49" charset="-122"/>
                <a:ea typeface="楷体_GB2312" pitchFamily="49" charset="-122"/>
              </a:rPr>
              <a:t>是信息的逻辑单位，是由程序设计人员决定的，其长度随程序的不同而变化； </a:t>
            </a:r>
            <a:endParaRPr lang="zh-CN" altLang="en-US" sz="2400" b="1" dirty="0">
              <a:solidFill>
                <a:srgbClr val="000099"/>
              </a:solidFill>
              <a:latin typeface="楷体_GB2312" pitchFamily="49" charset="-122"/>
              <a:ea typeface="楷体_GB2312" pitchFamily="49" charset="-122"/>
            </a:endParaRPr>
          </a:p>
        </p:txBody>
      </p:sp>
      <p:sp>
        <p:nvSpPr>
          <p:cNvPr id="512006" name="Rectangle 6"/>
          <p:cNvSpPr/>
          <p:nvPr/>
        </p:nvSpPr>
        <p:spPr>
          <a:xfrm>
            <a:off x="609600" y="5562600"/>
            <a:ext cx="83058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333375" algn="just" defTabSz="914400" eaLnBrk="1" hangingPunct="1">
              <a:lnSpc>
                <a:spcPct val="120000"/>
              </a:lnSpc>
              <a:buClrTx/>
              <a:buSzTx/>
              <a:buFontTx/>
              <a:buNone/>
              <a:tabLst>
                <a:tab pos="600075" algn="l"/>
              </a:tabLst>
            </a:pPr>
            <a:r>
              <a:rPr lang="en-US" altLang="zh-CN" sz="2400" b="1" dirty="0">
                <a:solidFill>
                  <a:srgbClr val="000099"/>
                </a:solidFill>
                <a:latin typeface="宋体" panose="02010600030101010101" pitchFamily="2" charset="-122"/>
                <a:ea typeface="楷体_GB2312" pitchFamily="49" charset="-122"/>
              </a:rPr>
              <a:t> </a:t>
            </a:r>
            <a:r>
              <a:rPr lang="en-US" altLang="zh-CN" sz="2400" b="1" dirty="0">
                <a:solidFill>
                  <a:srgbClr val="000099"/>
                </a:solidFill>
                <a:ea typeface="楷体_GB2312" pitchFamily="49" charset="-122"/>
              </a:rPr>
              <a:t>“</a:t>
            </a:r>
            <a:r>
              <a:rPr lang="zh-CN" altLang="en-US" sz="2400" b="1" dirty="0">
                <a:solidFill>
                  <a:srgbClr val="990033"/>
                </a:solidFill>
                <a:latin typeface="宋体" panose="02010600030101010101" pitchFamily="2" charset="-122"/>
                <a:ea typeface="楷体_GB2312" pitchFamily="49" charset="-122"/>
              </a:rPr>
              <a:t>页</a:t>
            </a:r>
            <a:r>
              <a:rPr lang="zh-CN" altLang="en-US" sz="2400" b="1" dirty="0">
                <a:solidFill>
                  <a:srgbClr val="000099"/>
                </a:solidFill>
                <a:ea typeface="楷体_GB2312" pitchFamily="49" charset="-122"/>
              </a:rPr>
              <a:t>”</a:t>
            </a:r>
            <a:r>
              <a:rPr lang="zh-CN" altLang="en-US" sz="2400" b="1" dirty="0">
                <a:solidFill>
                  <a:srgbClr val="000099"/>
                </a:solidFill>
                <a:latin typeface="宋体" panose="02010600030101010101" pitchFamily="2" charset="-122"/>
                <a:ea typeface="楷体_GB2312" pitchFamily="49" charset="-122"/>
              </a:rPr>
              <a:t>是由操作系统规定的，确定页长、进行分页等，都是由操作系统和硬件相互配合完成。</a:t>
            </a:r>
            <a:endParaRPr lang="zh-CN" altLang="en-US" sz="2400"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2002"/>
                                        </p:tgtEl>
                                        <p:attrNameLst>
                                          <p:attrName>style.visibility</p:attrName>
                                        </p:attrNameLst>
                                      </p:cBhvr>
                                      <p:to>
                                        <p:strVal val="visible"/>
                                      </p:to>
                                    </p:set>
                                    <p:anim calcmode="lin" valueType="num">
                                      <p:cBhvr additive="base">
                                        <p:cTn id="7" dur="500" fill="hold"/>
                                        <p:tgtEl>
                                          <p:spTgt spid="512002"/>
                                        </p:tgtEl>
                                        <p:attrNameLst>
                                          <p:attrName>ppt_x</p:attrName>
                                        </p:attrNameLst>
                                      </p:cBhvr>
                                      <p:tavLst>
                                        <p:tav tm="0">
                                          <p:val>
                                            <p:strVal val="0-#ppt_w/2"/>
                                          </p:val>
                                        </p:tav>
                                        <p:tav tm="100000">
                                          <p:val>
                                            <p:strVal val="#ppt_x"/>
                                          </p:val>
                                        </p:tav>
                                      </p:tavLst>
                                    </p:anim>
                                    <p:anim calcmode="lin" valueType="num">
                                      <p:cBhvr additive="base">
                                        <p:cTn id="8" dur="500" fill="hold"/>
                                        <p:tgtEl>
                                          <p:spTgt spid="51200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12003"/>
                                        </p:tgtEl>
                                        <p:attrNameLst>
                                          <p:attrName>style.visibility</p:attrName>
                                        </p:attrNameLst>
                                      </p:cBhvr>
                                      <p:to>
                                        <p:strVal val="visible"/>
                                      </p:to>
                                    </p:set>
                                    <p:anim calcmode="lin" valueType="num">
                                      <p:cBhvr additive="base">
                                        <p:cTn id="13" dur="500" fill="hold"/>
                                        <p:tgtEl>
                                          <p:spTgt spid="512003"/>
                                        </p:tgtEl>
                                        <p:attrNameLst>
                                          <p:attrName>ppt_x</p:attrName>
                                        </p:attrNameLst>
                                      </p:cBhvr>
                                      <p:tavLst>
                                        <p:tav tm="0">
                                          <p:val>
                                            <p:strVal val="0-#ppt_w/2"/>
                                          </p:val>
                                        </p:tav>
                                        <p:tav tm="100000">
                                          <p:val>
                                            <p:strVal val="#ppt_x"/>
                                          </p:val>
                                        </p:tav>
                                      </p:tavLst>
                                    </p:anim>
                                    <p:anim calcmode="lin" valueType="num">
                                      <p:cBhvr additive="base">
                                        <p:cTn id="14" dur="500" fill="hold"/>
                                        <p:tgtEl>
                                          <p:spTgt spid="51200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12004"/>
                                        </p:tgtEl>
                                        <p:attrNameLst>
                                          <p:attrName>style.visibility</p:attrName>
                                        </p:attrNameLst>
                                      </p:cBhvr>
                                      <p:to>
                                        <p:strVal val="visible"/>
                                      </p:to>
                                    </p:set>
                                    <p:anim calcmode="lin" valueType="num">
                                      <p:cBhvr additive="base">
                                        <p:cTn id="19" dur="500" fill="hold"/>
                                        <p:tgtEl>
                                          <p:spTgt spid="512004"/>
                                        </p:tgtEl>
                                        <p:attrNameLst>
                                          <p:attrName>ppt_x</p:attrName>
                                        </p:attrNameLst>
                                      </p:cBhvr>
                                      <p:tavLst>
                                        <p:tav tm="0">
                                          <p:val>
                                            <p:strVal val="0-#ppt_w/2"/>
                                          </p:val>
                                        </p:tav>
                                        <p:tav tm="100000">
                                          <p:val>
                                            <p:strVal val="#ppt_x"/>
                                          </p:val>
                                        </p:tav>
                                      </p:tavLst>
                                    </p:anim>
                                    <p:anim calcmode="lin" valueType="num">
                                      <p:cBhvr additive="base">
                                        <p:cTn id="20" dur="500" fill="hold"/>
                                        <p:tgtEl>
                                          <p:spTgt spid="51200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12005"/>
                                        </p:tgtEl>
                                        <p:attrNameLst>
                                          <p:attrName>style.visibility</p:attrName>
                                        </p:attrNameLst>
                                      </p:cBhvr>
                                      <p:to>
                                        <p:strVal val="visible"/>
                                      </p:to>
                                    </p:set>
                                    <p:anim calcmode="lin" valueType="num">
                                      <p:cBhvr additive="base">
                                        <p:cTn id="25" dur="500" fill="hold"/>
                                        <p:tgtEl>
                                          <p:spTgt spid="512005"/>
                                        </p:tgtEl>
                                        <p:attrNameLst>
                                          <p:attrName>ppt_x</p:attrName>
                                        </p:attrNameLst>
                                      </p:cBhvr>
                                      <p:tavLst>
                                        <p:tav tm="0">
                                          <p:val>
                                            <p:strVal val="0-#ppt_w/2"/>
                                          </p:val>
                                        </p:tav>
                                        <p:tav tm="100000">
                                          <p:val>
                                            <p:strVal val="#ppt_x"/>
                                          </p:val>
                                        </p:tav>
                                      </p:tavLst>
                                    </p:anim>
                                    <p:anim calcmode="lin" valueType="num">
                                      <p:cBhvr additive="base">
                                        <p:cTn id="26" dur="500" fill="hold"/>
                                        <p:tgtEl>
                                          <p:spTgt spid="51200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12006"/>
                                        </p:tgtEl>
                                        <p:attrNameLst>
                                          <p:attrName>style.visibility</p:attrName>
                                        </p:attrNameLst>
                                      </p:cBhvr>
                                      <p:to>
                                        <p:strVal val="visible"/>
                                      </p:to>
                                    </p:set>
                                    <p:anim calcmode="lin" valueType="num">
                                      <p:cBhvr additive="base">
                                        <p:cTn id="31" dur="500" fill="hold"/>
                                        <p:tgtEl>
                                          <p:spTgt spid="512006"/>
                                        </p:tgtEl>
                                        <p:attrNameLst>
                                          <p:attrName>ppt_x</p:attrName>
                                        </p:attrNameLst>
                                      </p:cBhvr>
                                      <p:tavLst>
                                        <p:tav tm="0">
                                          <p:val>
                                            <p:strVal val="0-#ppt_w/2"/>
                                          </p:val>
                                        </p:tav>
                                        <p:tav tm="100000">
                                          <p:val>
                                            <p:strVal val="#ppt_x"/>
                                          </p:val>
                                        </p:tav>
                                      </p:tavLst>
                                    </p:anim>
                                    <p:anim calcmode="lin" valueType="num">
                                      <p:cBhvr additive="base">
                                        <p:cTn id="32" dur="500" fill="hold"/>
                                        <p:tgtEl>
                                          <p:spTgt spid="5120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02" grpId="0" animBg="1"/>
      <p:bldP spid="512003" grpId="0"/>
      <p:bldP spid="512004" grpId="0"/>
      <p:bldP spid="512005" grpId="0"/>
      <p:bldP spid="512006"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13026" name="Rectangle 3074"/>
          <p:cNvSpPr/>
          <p:nvPr/>
        </p:nvSpPr>
        <p:spPr>
          <a:xfrm>
            <a:off x="609600" y="1371600"/>
            <a:ext cx="8229600" cy="18446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一个段是一组逻辑信息，如子程序，数组或数据区，工作区等。每个作业的地址空间由一些分段构成的，每段都有自己的名字，且都是一段连续的地址空间。每个段从</a:t>
            </a:r>
            <a:r>
              <a:rPr lang="en-US" altLang="zh-CN" sz="2400" b="1" dirty="0">
                <a:solidFill>
                  <a:srgbClr val="000099"/>
                </a:solidFill>
                <a:latin typeface="楷体_GB2312" pitchFamily="49" charset="-122"/>
                <a:ea typeface="楷体_GB2312" pitchFamily="49" charset="-122"/>
              </a:rPr>
              <a:t>0</a:t>
            </a:r>
            <a:r>
              <a:rPr lang="zh-CN" altLang="en-US" sz="2400" b="1" dirty="0">
                <a:solidFill>
                  <a:srgbClr val="000099"/>
                </a:solidFill>
                <a:latin typeface="楷体_GB2312" pitchFamily="49" charset="-122"/>
                <a:ea typeface="楷体_GB2312" pitchFamily="49" charset="-122"/>
              </a:rPr>
              <a:t>开始编址，整个作业的地址空间是二维的。</a:t>
            </a:r>
            <a:endParaRPr lang="zh-CN" altLang="en-US" sz="2400" b="1" dirty="0">
              <a:solidFill>
                <a:srgbClr val="000099"/>
              </a:solidFill>
              <a:latin typeface="楷体_GB2312" pitchFamily="49" charset="-122"/>
              <a:ea typeface="楷体_GB2312" pitchFamily="49" charset="-122"/>
            </a:endParaRPr>
          </a:p>
        </p:txBody>
      </p:sp>
      <p:sp>
        <p:nvSpPr>
          <p:cNvPr id="513027" name="Rectangle 3075"/>
          <p:cNvSpPr/>
          <p:nvPr/>
        </p:nvSpPr>
        <p:spPr>
          <a:xfrm>
            <a:off x="609600" y="685800"/>
            <a:ext cx="8229600" cy="6762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dirty="0">
                <a:solidFill>
                  <a:srgbClr val="000000"/>
                </a:solidFill>
                <a:ea typeface="隶书" panose="02010509060101010101" pitchFamily="49" charset="-122"/>
              </a:rPr>
              <a:t>二、段式地址变换</a:t>
            </a:r>
            <a:endParaRPr lang="zh-CN" altLang="en-US" dirty="0">
              <a:solidFill>
                <a:srgbClr val="000000"/>
              </a:solidFill>
              <a:ea typeface="隶书" panose="02010509060101010101" pitchFamily="49" charset="-122"/>
            </a:endParaRPr>
          </a:p>
        </p:txBody>
      </p:sp>
      <p:grpSp>
        <p:nvGrpSpPr>
          <p:cNvPr id="513035" name="Group 3083"/>
          <p:cNvGrpSpPr/>
          <p:nvPr/>
        </p:nvGrpSpPr>
        <p:grpSpPr>
          <a:xfrm>
            <a:off x="762000" y="3276600"/>
            <a:ext cx="7620000" cy="3395663"/>
            <a:chOff x="624" y="2181"/>
            <a:chExt cx="4560" cy="2139"/>
          </a:xfrm>
        </p:grpSpPr>
        <p:graphicFrame>
          <p:nvGraphicFramePr>
            <p:cNvPr id="104454" name="Object 3077"/>
            <p:cNvGraphicFramePr>
              <a:graphicFrameLocks noChangeAspect="1"/>
            </p:cNvGraphicFramePr>
            <p:nvPr/>
          </p:nvGraphicFramePr>
          <p:xfrm>
            <a:off x="624" y="2181"/>
            <a:ext cx="4560" cy="2139"/>
          </p:xfrm>
          <a:graphic>
            <a:graphicData uri="http://schemas.openxmlformats.org/presentationml/2006/ole">
              <mc:AlternateContent xmlns:mc="http://schemas.openxmlformats.org/markup-compatibility/2006">
                <mc:Choice xmlns:v="urn:schemas-microsoft-com:vml" Requires="v">
                  <p:oleObj spid="_x0000_s3089" name="" r:id="rId1" imgW="6477000" imgH="3038475" progId="Paint.Picture">
                    <p:embed/>
                  </p:oleObj>
                </mc:Choice>
                <mc:Fallback>
                  <p:oleObj name="" r:id="rId1" imgW="6477000" imgH="3038475" progId="Paint.Picture">
                    <p:embed/>
                    <p:pic>
                      <p:nvPicPr>
                        <p:cNvPr id="0" name="图片 3088"/>
                        <p:cNvPicPr/>
                        <p:nvPr/>
                      </p:nvPicPr>
                      <p:blipFill>
                        <a:blip r:embed="rId2"/>
                        <a:stretch>
                          <a:fillRect/>
                        </a:stretch>
                      </p:blipFill>
                      <p:spPr>
                        <a:xfrm>
                          <a:off x="624" y="2181"/>
                          <a:ext cx="4560" cy="2139"/>
                        </a:xfrm>
                        <a:prstGeom prst="rect">
                          <a:avLst/>
                        </a:prstGeom>
                        <a:noFill/>
                        <a:ln w="38100">
                          <a:noFill/>
                          <a:miter/>
                        </a:ln>
                      </p:spPr>
                    </p:pic>
                  </p:oleObj>
                </mc:Fallback>
              </mc:AlternateContent>
            </a:graphicData>
          </a:graphic>
        </p:graphicFrame>
        <p:sp>
          <p:nvSpPr>
            <p:cNvPr id="104455" name="Text Box 3079"/>
            <p:cNvSpPr txBox="1"/>
            <p:nvPr/>
          </p:nvSpPr>
          <p:spPr>
            <a:xfrm>
              <a:off x="912" y="3968"/>
              <a:ext cx="816" cy="276"/>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80000"/>
                </a:lnSpc>
                <a:spcBef>
                  <a:spcPct val="0"/>
                </a:spcBef>
                <a:buClrTx/>
                <a:buSzTx/>
                <a:buFontTx/>
                <a:buNone/>
              </a:pPr>
              <a:r>
                <a:rPr lang="zh-CN" altLang="en-US" sz="1800" b="1" dirty="0">
                  <a:solidFill>
                    <a:srgbClr val="000000"/>
                  </a:solidFill>
                  <a:ea typeface="楷体_GB2312" pitchFamily="49" charset="-122"/>
                </a:rPr>
                <a:t>分段</a:t>
              </a:r>
              <a:r>
                <a:rPr lang="en-US" altLang="zh-CN" sz="1800" b="1" dirty="0">
                  <a:solidFill>
                    <a:srgbClr val="000000"/>
                  </a:solidFill>
                  <a:ea typeface="楷体_GB2312" pitchFamily="49" charset="-122"/>
                </a:rPr>
                <a:t>MAIN</a:t>
              </a:r>
              <a:endParaRPr lang="en-US" altLang="zh-CN" sz="1800" b="1" dirty="0">
                <a:solidFill>
                  <a:srgbClr val="000000"/>
                </a:solidFill>
                <a:ea typeface="楷体_GB2312" pitchFamily="49" charset="-122"/>
              </a:endParaRPr>
            </a:p>
            <a:p>
              <a:pPr marL="0" lvl="0" indent="0" eaLnBrk="1" hangingPunct="1">
                <a:lnSpc>
                  <a:spcPct val="80000"/>
                </a:lnSpc>
                <a:spcBef>
                  <a:spcPct val="0"/>
                </a:spcBef>
                <a:buClrTx/>
                <a:buSzTx/>
                <a:buFontTx/>
                <a:buNone/>
              </a:pPr>
              <a:r>
                <a:rPr lang="zh-CN" altLang="en-US" sz="1800" b="1" dirty="0">
                  <a:solidFill>
                    <a:srgbClr val="000000"/>
                  </a:solidFill>
                  <a:ea typeface="楷体_GB2312" pitchFamily="49" charset="-122"/>
                </a:rPr>
                <a:t>（主程序）</a:t>
              </a:r>
              <a:endParaRPr lang="zh-CN" altLang="en-US" sz="1800" b="1" dirty="0">
                <a:solidFill>
                  <a:srgbClr val="000000"/>
                </a:solidFill>
                <a:ea typeface="楷体_GB2312" pitchFamily="49" charset="-122"/>
              </a:endParaRPr>
            </a:p>
          </p:txBody>
        </p:sp>
        <p:sp>
          <p:nvSpPr>
            <p:cNvPr id="104456" name="Text Box 3080"/>
            <p:cNvSpPr txBox="1"/>
            <p:nvPr/>
          </p:nvSpPr>
          <p:spPr>
            <a:xfrm>
              <a:off x="2160" y="3600"/>
              <a:ext cx="816" cy="276"/>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80000"/>
                </a:lnSpc>
                <a:spcBef>
                  <a:spcPct val="0"/>
                </a:spcBef>
                <a:buClrTx/>
                <a:buSzTx/>
                <a:buFontTx/>
                <a:buNone/>
              </a:pPr>
              <a:r>
                <a:rPr lang="en-US" altLang="zh-CN" sz="1800" b="1" dirty="0">
                  <a:solidFill>
                    <a:srgbClr val="000000"/>
                  </a:solidFill>
                  <a:ea typeface="楷体_GB2312" pitchFamily="49" charset="-122"/>
                </a:rPr>
                <a:t>   </a:t>
              </a:r>
              <a:r>
                <a:rPr lang="zh-CN" altLang="en-US" sz="1800" b="1" dirty="0">
                  <a:solidFill>
                    <a:srgbClr val="000000"/>
                  </a:solidFill>
                  <a:ea typeface="楷体_GB2312" pitchFamily="49" charset="-122"/>
                </a:rPr>
                <a:t>分段</a:t>
              </a:r>
              <a:r>
                <a:rPr lang="en-US" altLang="zh-CN" sz="1800" b="1" dirty="0">
                  <a:solidFill>
                    <a:srgbClr val="000000"/>
                  </a:solidFill>
                  <a:ea typeface="楷体_GB2312" pitchFamily="49" charset="-122"/>
                </a:rPr>
                <a:t>X</a:t>
              </a:r>
              <a:endParaRPr lang="en-US" altLang="zh-CN" sz="1800" b="1" dirty="0">
                <a:solidFill>
                  <a:srgbClr val="000000"/>
                </a:solidFill>
                <a:ea typeface="楷体_GB2312" pitchFamily="49" charset="-122"/>
              </a:endParaRPr>
            </a:p>
            <a:p>
              <a:pPr marL="0" lvl="0" indent="0" eaLnBrk="1" hangingPunct="1">
                <a:lnSpc>
                  <a:spcPct val="80000"/>
                </a:lnSpc>
                <a:spcBef>
                  <a:spcPct val="0"/>
                </a:spcBef>
                <a:buClrTx/>
                <a:buSzTx/>
                <a:buFontTx/>
                <a:buNone/>
              </a:pPr>
              <a:r>
                <a:rPr lang="zh-CN" altLang="en-US" sz="1800" b="1" dirty="0">
                  <a:solidFill>
                    <a:srgbClr val="000000"/>
                  </a:solidFill>
                  <a:ea typeface="楷体_GB2312" pitchFamily="49" charset="-122"/>
                </a:rPr>
                <a:t>（子程序）</a:t>
              </a:r>
              <a:endParaRPr lang="zh-CN" altLang="en-US" sz="1800" b="1" dirty="0">
                <a:solidFill>
                  <a:srgbClr val="000000"/>
                </a:solidFill>
                <a:ea typeface="楷体_GB2312" pitchFamily="49" charset="-122"/>
              </a:endParaRPr>
            </a:p>
          </p:txBody>
        </p:sp>
        <p:sp>
          <p:nvSpPr>
            <p:cNvPr id="104457" name="Text Box 3081"/>
            <p:cNvSpPr txBox="1"/>
            <p:nvPr/>
          </p:nvSpPr>
          <p:spPr>
            <a:xfrm>
              <a:off x="3264" y="3312"/>
              <a:ext cx="624" cy="276"/>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80000"/>
                </a:lnSpc>
                <a:spcBef>
                  <a:spcPct val="0"/>
                </a:spcBef>
                <a:buClrTx/>
                <a:buSzTx/>
                <a:buFontTx/>
                <a:buNone/>
              </a:pPr>
              <a:r>
                <a:rPr lang="en-US" altLang="zh-CN" sz="1800" b="1" dirty="0">
                  <a:solidFill>
                    <a:srgbClr val="000000"/>
                  </a:solidFill>
                  <a:ea typeface="楷体_GB2312" pitchFamily="49" charset="-122"/>
                </a:rPr>
                <a:t>   </a:t>
              </a:r>
              <a:r>
                <a:rPr lang="zh-CN" altLang="en-US" sz="1800" b="1" dirty="0">
                  <a:solidFill>
                    <a:srgbClr val="000000"/>
                  </a:solidFill>
                  <a:ea typeface="楷体_GB2312" pitchFamily="49" charset="-122"/>
                </a:rPr>
                <a:t>分段</a:t>
              </a:r>
              <a:r>
                <a:rPr lang="en-US" altLang="zh-CN" sz="1800" b="1" dirty="0">
                  <a:solidFill>
                    <a:srgbClr val="000000"/>
                  </a:solidFill>
                  <a:ea typeface="楷体_GB2312" pitchFamily="49" charset="-122"/>
                </a:rPr>
                <a:t>A</a:t>
              </a:r>
              <a:endParaRPr lang="en-US" altLang="zh-CN" sz="1800" b="1" dirty="0">
                <a:solidFill>
                  <a:srgbClr val="000000"/>
                </a:solidFill>
                <a:ea typeface="楷体_GB2312" pitchFamily="49" charset="-122"/>
              </a:endParaRPr>
            </a:p>
            <a:p>
              <a:pPr marL="0" lvl="0" indent="0" eaLnBrk="1" hangingPunct="1">
                <a:lnSpc>
                  <a:spcPct val="80000"/>
                </a:lnSpc>
                <a:spcBef>
                  <a:spcPct val="0"/>
                </a:spcBef>
                <a:buClrTx/>
                <a:buSzTx/>
                <a:buFontTx/>
                <a:buNone/>
              </a:pPr>
              <a:r>
                <a:rPr lang="zh-CN" altLang="en-US" sz="1800" b="1" dirty="0">
                  <a:solidFill>
                    <a:srgbClr val="000000"/>
                  </a:solidFill>
                  <a:ea typeface="楷体_GB2312" pitchFamily="49" charset="-122"/>
                </a:rPr>
                <a:t>（数组）</a:t>
              </a:r>
              <a:endParaRPr lang="zh-CN" altLang="en-US" sz="1800" b="1" dirty="0">
                <a:solidFill>
                  <a:srgbClr val="000000"/>
                </a:solidFill>
                <a:ea typeface="楷体_GB2312" pitchFamily="49" charset="-122"/>
              </a:endParaRPr>
            </a:p>
          </p:txBody>
        </p:sp>
        <p:sp>
          <p:nvSpPr>
            <p:cNvPr id="104458" name="Text Box 3082"/>
            <p:cNvSpPr txBox="1"/>
            <p:nvPr/>
          </p:nvSpPr>
          <p:spPr>
            <a:xfrm>
              <a:off x="4320" y="3016"/>
              <a:ext cx="816" cy="276"/>
            </a:xfrm>
            <a:prstGeom prst="rect">
              <a:avLst/>
            </a:prstGeom>
            <a:solidFill>
              <a:schemeClr val="bg1"/>
            </a:solid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80000"/>
                </a:lnSpc>
                <a:spcBef>
                  <a:spcPct val="0"/>
                </a:spcBef>
                <a:buClrTx/>
                <a:buSzTx/>
                <a:buFontTx/>
                <a:buNone/>
              </a:pPr>
              <a:r>
                <a:rPr lang="en-US" altLang="zh-CN" sz="1800" b="1" dirty="0">
                  <a:solidFill>
                    <a:srgbClr val="000000"/>
                  </a:solidFill>
                  <a:ea typeface="楷体_GB2312" pitchFamily="49" charset="-122"/>
                </a:rPr>
                <a:t>    </a:t>
              </a:r>
              <a:r>
                <a:rPr lang="zh-CN" altLang="en-US" sz="1800" b="1" dirty="0">
                  <a:solidFill>
                    <a:srgbClr val="000000"/>
                  </a:solidFill>
                  <a:ea typeface="楷体_GB2312" pitchFamily="49" charset="-122"/>
                </a:rPr>
                <a:t>分段</a:t>
              </a:r>
              <a:r>
                <a:rPr lang="en-US" altLang="zh-CN" sz="1800" b="1" dirty="0">
                  <a:solidFill>
                    <a:srgbClr val="000000"/>
                  </a:solidFill>
                  <a:ea typeface="楷体_GB2312" pitchFamily="49" charset="-122"/>
                </a:rPr>
                <a:t>B</a:t>
              </a:r>
              <a:endParaRPr lang="en-US" altLang="zh-CN" sz="1800" b="1" dirty="0">
                <a:solidFill>
                  <a:srgbClr val="000000"/>
                </a:solidFill>
                <a:ea typeface="楷体_GB2312" pitchFamily="49" charset="-122"/>
              </a:endParaRPr>
            </a:p>
            <a:p>
              <a:pPr marL="0" lvl="0" indent="0" eaLnBrk="1" hangingPunct="1">
                <a:lnSpc>
                  <a:spcPct val="80000"/>
                </a:lnSpc>
                <a:spcBef>
                  <a:spcPct val="0"/>
                </a:spcBef>
                <a:buClrTx/>
                <a:buSzTx/>
                <a:buFontTx/>
                <a:buNone/>
              </a:pPr>
              <a:r>
                <a:rPr lang="zh-CN" altLang="en-US" sz="1800" b="1" dirty="0">
                  <a:solidFill>
                    <a:srgbClr val="000000"/>
                  </a:solidFill>
                  <a:ea typeface="楷体_GB2312" pitchFamily="49" charset="-122"/>
                </a:rPr>
                <a:t>（工作区）</a:t>
              </a:r>
              <a:endParaRPr lang="zh-CN" altLang="en-US" sz="1800" b="1" dirty="0">
                <a:solidFill>
                  <a:srgbClr val="000000"/>
                </a:solidFill>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3027"/>
                                        </p:tgtEl>
                                        <p:attrNameLst>
                                          <p:attrName>style.visibility</p:attrName>
                                        </p:attrNameLst>
                                      </p:cBhvr>
                                      <p:to>
                                        <p:strVal val="visible"/>
                                      </p:to>
                                    </p:set>
                                    <p:anim calcmode="lin" valueType="num">
                                      <p:cBhvr additive="base">
                                        <p:cTn id="7" dur="500" fill="hold"/>
                                        <p:tgtEl>
                                          <p:spTgt spid="513027"/>
                                        </p:tgtEl>
                                        <p:attrNameLst>
                                          <p:attrName>ppt_x</p:attrName>
                                        </p:attrNameLst>
                                      </p:cBhvr>
                                      <p:tavLst>
                                        <p:tav tm="0">
                                          <p:val>
                                            <p:strVal val="0-#ppt_w/2"/>
                                          </p:val>
                                        </p:tav>
                                        <p:tav tm="100000">
                                          <p:val>
                                            <p:strVal val="#ppt_x"/>
                                          </p:val>
                                        </p:tav>
                                      </p:tavLst>
                                    </p:anim>
                                    <p:anim calcmode="lin" valueType="num">
                                      <p:cBhvr additive="base">
                                        <p:cTn id="8" dur="500" fill="hold"/>
                                        <p:tgtEl>
                                          <p:spTgt spid="5130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13026"/>
                                        </p:tgtEl>
                                        <p:attrNameLst>
                                          <p:attrName>style.visibility</p:attrName>
                                        </p:attrNameLst>
                                      </p:cBhvr>
                                      <p:to>
                                        <p:strVal val="visible"/>
                                      </p:to>
                                    </p:set>
                                    <p:anim calcmode="lin" valueType="num">
                                      <p:cBhvr additive="base">
                                        <p:cTn id="13" dur="500" fill="hold"/>
                                        <p:tgtEl>
                                          <p:spTgt spid="513026"/>
                                        </p:tgtEl>
                                        <p:attrNameLst>
                                          <p:attrName>ppt_x</p:attrName>
                                        </p:attrNameLst>
                                      </p:cBhvr>
                                      <p:tavLst>
                                        <p:tav tm="0">
                                          <p:val>
                                            <p:strVal val="0-#ppt_w/2"/>
                                          </p:val>
                                        </p:tav>
                                        <p:tav tm="100000">
                                          <p:val>
                                            <p:strVal val="#ppt_x"/>
                                          </p:val>
                                        </p:tav>
                                      </p:tavLst>
                                    </p:anim>
                                    <p:anim calcmode="lin" valueType="num">
                                      <p:cBhvr additive="base">
                                        <p:cTn id="14" dur="500" fill="hold"/>
                                        <p:tgtEl>
                                          <p:spTgt spid="51302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13035"/>
                                        </p:tgtEl>
                                        <p:attrNameLst>
                                          <p:attrName>style.visibility</p:attrName>
                                        </p:attrNameLst>
                                      </p:cBhvr>
                                      <p:to>
                                        <p:strVal val="visible"/>
                                      </p:to>
                                    </p:set>
                                    <p:animEffect transition="in" filter="wipe(left)">
                                      <p:cBhvr>
                                        <p:cTn id="19" dur="500"/>
                                        <p:tgtEl>
                                          <p:spTgt spid="513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6" grpId="0"/>
      <p:bldP spid="513027"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14053" name="Rectangle 5"/>
          <p:cNvSpPr/>
          <p:nvPr/>
        </p:nvSpPr>
        <p:spPr>
          <a:xfrm>
            <a:off x="609600" y="4648200"/>
            <a:ext cx="8229600" cy="19177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一旦段号字段和位移量字段的长度确定后，一个作业地址空间中允许的</a:t>
            </a:r>
            <a:r>
              <a:rPr lang="zh-CN" altLang="en-US" sz="2400" b="1" dirty="0">
                <a:solidFill>
                  <a:srgbClr val="9900CC"/>
                </a:solidFill>
                <a:latin typeface="楷体_GB2312" pitchFamily="49" charset="-122"/>
                <a:ea typeface="楷体_GB2312" pitchFamily="49" charset="-122"/>
              </a:rPr>
              <a:t>最多段数</a:t>
            </a:r>
            <a:r>
              <a:rPr lang="zh-CN" altLang="en-US" sz="2400" b="1" dirty="0">
                <a:solidFill>
                  <a:srgbClr val="000099"/>
                </a:solidFill>
                <a:latin typeface="楷体_GB2312" pitchFamily="49" charset="-122"/>
                <a:ea typeface="楷体_GB2312" pitchFamily="49" charset="-122"/>
              </a:rPr>
              <a:t>及</a:t>
            </a:r>
            <a:r>
              <a:rPr lang="zh-CN" altLang="en-US" sz="2400" b="1" dirty="0">
                <a:solidFill>
                  <a:srgbClr val="9900CC"/>
                </a:solidFill>
                <a:latin typeface="楷体_GB2312" pitchFamily="49" charset="-122"/>
                <a:ea typeface="楷体_GB2312" pitchFamily="49" charset="-122"/>
              </a:rPr>
              <a:t>段的最大长度</a:t>
            </a:r>
            <a:r>
              <a:rPr lang="zh-CN" altLang="en-US" sz="2400" b="1" dirty="0">
                <a:solidFill>
                  <a:srgbClr val="000099"/>
                </a:solidFill>
                <a:latin typeface="楷体_GB2312" pitchFamily="49" charset="-122"/>
                <a:ea typeface="楷体_GB2312" pitchFamily="49" charset="-122"/>
              </a:rPr>
              <a:t>也就限定了。</a:t>
            </a:r>
            <a:endParaRPr lang="zh-CN" altLang="en-US" sz="2400" b="1" dirty="0">
              <a:solidFill>
                <a:srgbClr val="000099"/>
              </a:solidFill>
              <a:latin typeface="楷体_GB2312" pitchFamily="49" charset="-122"/>
              <a:ea typeface="楷体_GB2312" pitchFamily="49" charset="-122"/>
            </a:endParaRPr>
          </a:p>
          <a:p>
            <a:pPr marL="0" lvl="0" indent="0" eaLnBrk="1" hangingPunct="1">
              <a:lnSpc>
                <a:spcPct val="120000"/>
              </a:lnSpc>
              <a:buClrTx/>
              <a:buSzTx/>
              <a:buFontTx/>
              <a:buNone/>
            </a:pPr>
            <a:r>
              <a:rPr lang="zh-CN" altLang="en-US" sz="2400" b="1" dirty="0">
                <a:solidFill>
                  <a:srgbClr val="000099"/>
                </a:solidFill>
                <a:latin typeface="楷体_GB2312" pitchFamily="49" charset="-122"/>
                <a:ea typeface="楷体_GB2312" pitchFamily="49" charset="-122"/>
              </a:rPr>
              <a:t>    上述地址结构表明，该系统可允许一个作业有</a:t>
            </a:r>
            <a:r>
              <a:rPr lang="en-US" altLang="zh-CN" sz="2400" b="1" dirty="0">
                <a:solidFill>
                  <a:srgbClr val="000099"/>
                </a:solidFill>
                <a:latin typeface="楷体_GB2312" pitchFamily="49" charset="-122"/>
                <a:ea typeface="楷体_GB2312" pitchFamily="49" charset="-122"/>
              </a:rPr>
              <a:t>256</a:t>
            </a:r>
            <a:r>
              <a:rPr lang="zh-CN" altLang="en-US" sz="2400" b="1" dirty="0">
                <a:solidFill>
                  <a:srgbClr val="000099"/>
                </a:solidFill>
                <a:latin typeface="楷体_GB2312" pitchFamily="49" charset="-122"/>
                <a:ea typeface="楷体_GB2312" pitchFamily="49" charset="-122"/>
              </a:rPr>
              <a:t>段，最大段长为</a:t>
            </a:r>
            <a:r>
              <a:rPr lang="en-US" altLang="zh-CN" sz="2400" b="1" dirty="0">
                <a:solidFill>
                  <a:srgbClr val="000099"/>
                </a:solidFill>
                <a:latin typeface="楷体_GB2312" pitchFamily="49" charset="-122"/>
                <a:ea typeface="楷体_GB2312" pitchFamily="49" charset="-122"/>
              </a:rPr>
              <a:t>64K</a:t>
            </a:r>
            <a:r>
              <a:rPr lang="zh-CN" altLang="en-US" sz="2400" b="1" dirty="0">
                <a:solidFill>
                  <a:srgbClr val="000099"/>
                </a:solidFill>
                <a:latin typeface="楷体_GB2312" pitchFamily="49" charset="-122"/>
                <a:ea typeface="楷体_GB2312" pitchFamily="49" charset="-122"/>
              </a:rPr>
              <a:t>字节。</a:t>
            </a:r>
            <a:endParaRPr lang="zh-CN" altLang="en-US" sz="2400" b="1" dirty="0">
              <a:solidFill>
                <a:srgbClr val="000099"/>
              </a:solidFill>
              <a:latin typeface="楷体_GB2312" pitchFamily="49" charset="-122"/>
              <a:ea typeface="楷体_GB2312" pitchFamily="49" charset="-122"/>
            </a:endParaRPr>
          </a:p>
        </p:txBody>
      </p:sp>
      <p:sp>
        <p:nvSpPr>
          <p:cNvPr id="514056" name="Rectangle 8"/>
          <p:cNvSpPr/>
          <p:nvPr/>
        </p:nvSpPr>
        <p:spPr>
          <a:xfrm>
            <a:off x="547688" y="812800"/>
            <a:ext cx="8532812" cy="18446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程序的地址空间按段组织，每段有个标识符，称为段名，由程序员给出。程序经过编译连接后，段名转换成段号。各段的长度一般情况下不相等，但段内编址是一维的。因此程序的逻辑地址由段号和段内地址组成，即二维地址。</a:t>
            </a:r>
            <a:endParaRPr lang="zh-CN" altLang="en-US" sz="2400" b="1" dirty="0">
              <a:solidFill>
                <a:srgbClr val="000099"/>
              </a:solidFill>
              <a:latin typeface="楷体_GB2312" pitchFamily="49" charset="-122"/>
              <a:ea typeface="楷体_GB2312" pitchFamily="49" charset="-122"/>
            </a:endParaRPr>
          </a:p>
        </p:txBody>
      </p:sp>
      <p:grpSp>
        <p:nvGrpSpPr>
          <p:cNvPr id="517148" name="Group 28"/>
          <p:cNvGrpSpPr/>
          <p:nvPr/>
        </p:nvGrpSpPr>
        <p:grpSpPr>
          <a:xfrm>
            <a:off x="990600" y="2819400"/>
            <a:ext cx="6985000" cy="1828800"/>
            <a:chOff x="624" y="1680"/>
            <a:chExt cx="4400" cy="1316"/>
          </a:xfrm>
        </p:grpSpPr>
        <p:grpSp>
          <p:nvGrpSpPr>
            <p:cNvPr id="105478" name="Group 14"/>
            <p:cNvGrpSpPr/>
            <p:nvPr/>
          </p:nvGrpSpPr>
          <p:grpSpPr>
            <a:xfrm>
              <a:off x="624" y="1920"/>
              <a:ext cx="4400" cy="1076"/>
              <a:chOff x="1056" y="1632"/>
              <a:chExt cx="3792" cy="1076"/>
            </a:xfrm>
          </p:grpSpPr>
          <p:grpSp>
            <p:nvGrpSpPr>
              <p:cNvPr id="105480" name="Group 7"/>
              <p:cNvGrpSpPr/>
              <p:nvPr/>
            </p:nvGrpSpPr>
            <p:grpSpPr>
              <a:xfrm>
                <a:off x="1056" y="1632"/>
                <a:ext cx="3792" cy="1076"/>
                <a:chOff x="1056" y="1056"/>
                <a:chExt cx="3792" cy="1076"/>
              </a:xfrm>
            </p:grpSpPr>
            <p:graphicFrame>
              <p:nvGraphicFramePr>
                <p:cNvPr id="105486" name="Object 4"/>
                <p:cNvGraphicFramePr>
                  <a:graphicFrameLocks noChangeAspect="1"/>
                </p:cNvGraphicFramePr>
                <p:nvPr/>
              </p:nvGraphicFramePr>
              <p:xfrm>
                <a:off x="1056" y="1056"/>
                <a:ext cx="3792" cy="1076"/>
              </p:xfrm>
              <a:graphic>
                <a:graphicData uri="http://schemas.openxmlformats.org/presentationml/2006/ole">
                  <mc:AlternateContent xmlns:mc="http://schemas.openxmlformats.org/markup-compatibility/2006">
                    <mc:Choice xmlns:v="urn:schemas-microsoft-com:vml" Requires="v">
                      <p:oleObj spid="_x0000_s3088" name="" r:id="rId1" imgW="3962400" imgH="1123950" progId="Paint.Picture">
                        <p:embed/>
                      </p:oleObj>
                    </mc:Choice>
                    <mc:Fallback>
                      <p:oleObj name="" r:id="rId1" imgW="3962400" imgH="1123950" progId="Paint.Picture">
                        <p:embed/>
                        <p:pic>
                          <p:nvPicPr>
                            <p:cNvPr id="0" name="图片 3087"/>
                            <p:cNvPicPr/>
                            <p:nvPr/>
                          </p:nvPicPr>
                          <p:blipFill>
                            <a:blip r:embed="rId2"/>
                            <a:stretch>
                              <a:fillRect/>
                            </a:stretch>
                          </p:blipFill>
                          <p:spPr>
                            <a:xfrm>
                              <a:off x="1056" y="1056"/>
                              <a:ext cx="3792" cy="1076"/>
                            </a:xfrm>
                            <a:prstGeom prst="rect">
                              <a:avLst/>
                            </a:prstGeom>
                            <a:noFill/>
                            <a:ln w="38100">
                              <a:noFill/>
                              <a:miter/>
                            </a:ln>
                          </p:spPr>
                        </p:pic>
                      </p:oleObj>
                    </mc:Fallback>
                  </mc:AlternateContent>
                </a:graphicData>
              </a:graphic>
            </p:graphicFrame>
            <p:sp>
              <p:nvSpPr>
                <p:cNvPr id="105487" name="Text Box 6"/>
                <p:cNvSpPr txBox="1"/>
                <p:nvPr/>
              </p:nvSpPr>
              <p:spPr>
                <a:xfrm>
                  <a:off x="2400" y="1632"/>
                  <a:ext cx="144" cy="329"/>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zh-CN" sz="2400" b="1" dirty="0">
                    <a:ea typeface="楷体_GB2312" pitchFamily="49" charset="-122"/>
                  </a:endParaRPr>
                </a:p>
              </p:txBody>
            </p:sp>
          </p:grpSp>
          <p:sp>
            <p:nvSpPr>
              <p:cNvPr id="105481" name="Text Box 9"/>
              <p:cNvSpPr txBox="1"/>
              <p:nvPr/>
            </p:nvSpPr>
            <p:spPr>
              <a:xfrm>
                <a:off x="1632" y="1824"/>
                <a:ext cx="528" cy="285"/>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段号</a:t>
                </a:r>
                <a:r>
                  <a:rPr lang="en-US" altLang="zh-CN" sz="2000" b="1" dirty="0">
                    <a:solidFill>
                      <a:srgbClr val="000000"/>
                    </a:solidFill>
                    <a:ea typeface="楷体_GB2312" pitchFamily="49" charset="-122"/>
                  </a:rPr>
                  <a:t>S</a:t>
                </a:r>
                <a:endParaRPr lang="en-US" altLang="zh-CN" sz="2000" b="1" dirty="0">
                  <a:solidFill>
                    <a:srgbClr val="000000"/>
                  </a:solidFill>
                  <a:ea typeface="楷体_GB2312" pitchFamily="49" charset="-122"/>
                </a:endParaRPr>
              </a:p>
            </p:txBody>
          </p:sp>
          <p:sp>
            <p:nvSpPr>
              <p:cNvPr id="105482" name="Text Box 10"/>
              <p:cNvSpPr txBox="1"/>
              <p:nvPr/>
            </p:nvSpPr>
            <p:spPr>
              <a:xfrm>
                <a:off x="3168" y="1824"/>
                <a:ext cx="816" cy="285"/>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00"/>
                    </a:solidFill>
                    <a:ea typeface="楷体_GB2312" pitchFamily="49" charset="-122"/>
                  </a:rPr>
                  <a:t>位移量</a:t>
                </a:r>
                <a:r>
                  <a:rPr lang="en-US" altLang="zh-CN" sz="2000" b="1" dirty="0">
                    <a:solidFill>
                      <a:srgbClr val="000000"/>
                    </a:solidFill>
                    <a:ea typeface="楷体_GB2312" pitchFamily="49" charset="-122"/>
                  </a:rPr>
                  <a:t>W</a:t>
                </a:r>
                <a:endParaRPr lang="en-US" altLang="zh-CN" sz="2000" b="1" dirty="0">
                  <a:solidFill>
                    <a:srgbClr val="000000"/>
                  </a:solidFill>
                  <a:ea typeface="楷体_GB2312" pitchFamily="49" charset="-122"/>
                </a:endParaRPr>
              </a:p>
            </p:txBody>
          </p:sp>
          <p:sp>
            <p:nvSpPr>
              <p:cNvPr id="105483" name="Text Box 11"/>
              <p:cNvSpPr txBox="1"/>
              <p:nvPr/>
            </p:nvSpPr>
            <p:spPr>
              <a:xfrm>
                <a:off x="1152" y="2208"/>
                <a:ext cx="240" cy="285"/>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00"/>
                    </a:solidFill>
                    <a:ea typeface="楷体_GB2312" pitchFamily="49" charset="-122"/>
                  </a:rPr>
                  <a:t>23</a:t>
                </a:r>
                <a:endParaRPr lang="en-US" altLang="zh-CN" sz="2000" b="1" dirty="0">
                  <a:solidFill>
                    <a:srgbClr val="000000"/>
                  </a:solidFill>
                  <a:ea typeface="楷体_GB2312" pitchFamily="49" charset="-122"/>
                </a:endParaRPr>
              </a:p>
            </p:txBody>
          </p:sp>
          <p:sp>
            <p:nvSpPr>
              <p:cNvPr id="105484" name="Text Box 12"/>
              <p:cNvSpPr txBox="1"/>
              <p:nvPr/>
            </p:nvSpPr>
            <p:spPr>
              <a:xfrm>
                <a:off x="2448" y="2208"/>
                <a:ext cx="240" cy="285"/>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00"/>
                    </a:solidFill>
                    <a:ea typeface="楷体_GB2312" pitchFamily="49" charset="-122"/>
                  </a:rPr>
                  <a:t>15</a:t>
                </a:r>
                <a:endParaRPr lang="en-US" altLang="zh-CN" sz="2000" b="1" dirty="0">
                  <a:solidFill>
                    <a:srgbClr val="000000"/>
                  </a:solidFill>
                  <a:ea typeface="楷体_GB2312" pitchFamily="49" charset="-122"/>
                </a:endParaRPr>
              </a:p>
            </p:txBody>
          </p:sp>
          <p:sp>
            <p:nvSpPr>
              <p:cNvPr id="105485" name="Text Box 13"/>
              <p:cNvSpPr txBox="1"/>
              <p:nvPr/>
            </p:nvSpPr>
            <p:spPr>
              <a:xfrm>
                <a:off x="4368" y="2208"/>
                <a:ext cx="336" cy="285"/>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00"/>
                    </a:solidFill>
                    <a:ea typeface="楷体_GB2312" pitchFamily="49" charset="-122"/>
                  </a:rPr>
                  <a:t>0</a:t>
                </a:r>
                <a:endParaRPr lang="en-US" altLang="zh-CN" sz="2000" b="1" dirty="0">
                  <a:solidFill>
                    <a:srgbClr val="000000"/>
                  </a:solidFill>
                  <a:ea typeface="楷体_GB2312" pitchFamily="49" charset="-122"/>
                </a:endParaRPr>
              </a:p>
            </p:txBody>
          </p:sp>
        </p:grpSp>
        <p:sp>
          <p:nvSpPr>
            <p:cNvPr id="105479" name="Rectangle 27"/>
            <p:cNvSpPr/>
            <p:nvPr/>
          </p:nvSpPr>
          <p:spPr>
            <a:xfrm>
              <a:off x="720" y="1680"/>
              <a:ext cx="1145" cy="329"/>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6600"/>
                  </a:solidFill>
                  <a:ea typeface="楷体_GB2312" pitchFamily="49" charset="-122"/>
                </a:rPr>
                <a:t>逻辑地址字</a:t>
              </a:r>
              <a:r>
                <a:rPr lang="en-US" altLang="zh-CN" sz="2400" b="1" dirty="0">
                  <a:solidFill>
                    <a:srgbClr val="006600"/>
                  </a:solidFill>
                  <a:ea typeface="楷体_GB2312" pitchFamily="49" charset="-122"/>
                </a:rPr>
                <a:t>:</a:t>
              </a:r>
              <a:endParaRPr lang="en-US" altLang="zh-CN" sz="2400" b="1" dirty="0">
                <a:solidFill>
                  <a:srgbClr val="006600"/>
                </a:solidFill>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4056"/>
                                        </p:tgtEl>
                                        <p:attrNameLst>
                                          <p:attrName>style.visibility</p:attrName>
                                        </p:attrNameLst>
                                      </p:cBhvr>
                                      <p:to>
                                        <p:strVal val="visible"/>
                                      </p:to>
                                    </p:set>
                                    <p:anim calcmode="lin" valueType="num">
                                      <p:cBhvr additive="base">
                                        <p:cTn id="7" dur="500" fill="hold"/>
                                        <p:tgtEl>
                                          <p:spTgt spid="514056"/>
                                        </p:tgtEl>
                                        <p:attrNameLst>
                                          <p:attrName>ppt_x</p:attrName>
                                        </p:attrNameLst>
                                      </p:cBhvr>
                                      <p:tavLst>
                                        <p:tav tm="0">
                                          <p:val>
                                            <p:strVal val="0-#ppt_w/2"/>
                                          </p:val>
                                        </p:tav>
                                        <p:tav tm="100000">
                                          <p:val>
                                            <p:strVal val="#ppt_x"/>
                                          </p:val>
                                        </p:tav>
                                      </p:tavLst>
                                    </p:anim>
                                    <p:anim calcmode="lin" valueType="num">
                                      <p:cBhvr additive="base">
                                        <p:cTn id="8" dur="500" fill="hold"/>
                                        <p:tgtEl>
                                          <p:spTgt spid="5140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17148"/>
                                        </p:tgtEl>
                                        <p:attrNameLst>
                                          <p:attrName>style.visibility</p:attrName>
                                        </p:attrNameLst>
                                      </p:cBhvr>
                                      <p:to>
                                        <p:strVal val="visible"/>
                                      </p:to>
                                    </p:set>
                                    <p:animEffect transition="in" filter="wipe(left)">
                                      <p:cBhvr>
                                        <p:cTn id="13" dur="500"/>
                                        <p:tgtEl>
                                          <p:spTgt spid="51714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514053"/>
                                        </p:tgtEl>
                                        <p:attrNameLst>
                                          <p:attrName>style.visibility</p:attrName>
                                        </p:attrNameLst>
                                      </p:cBhvr>
                                      <p:to>
                                        <p:strVal val="visible"/>
                                      </p:to>
                                    </p:set>
                                    <p:anim calcmode="lin" valueType="num">
                                      <p:cBhvr additive="base">
                                        <p:cTn id="18" dur="500" fill="hold"/>
                                        <p:tgtEl>
                                          <p:spTgt spid="514053"/>
                                        </p:tgtEl>
                                        <p:attrNameLst>
                                          <p:attrName>ppt_x</p:attrName>
                                        </p:attrNameLst>
                                      </p:cBhvr>
                                      <p:tavLst>
                                        <p:tav tm="0">
                                          <p:val>
                                            <p:strVal val="0-#ppt_w/2"/>
                                          </p:val>
                                        </p:tav>
                                        <p:tav tm="100000">
                                          <p:val>
                                            <p:strVal val="#ppt_x"/>
                                          </p:val>
                                        </p:tav>
                                      </p:tavLst>
                                    </p:anim>
                                    <p:anim calcmode="lin" valueType="num">
                                      <p:cBhvr additive="base">
                                        <p:cTn id="19" dur="500" fill="hold"/>
                                        <p:tgtEl>
                                          <p:spTgt spid="5140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3" grpId="0"/>
      <p:bldP spid="51405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17122" name="Rectangle 2"/>
          <p:cNvSpPr/>
          <p:nvPr/>
        </p:nvSpPr>
        <p:spPr>
          <a:xfrm>
            <a:off x="609600" y="838200"/>
            <a:ext cx="8353425" cy="18446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latin typeface="楷体_GB2312" pitchFamily="49" charset="-122"/>
                <a:ea typeface="楷体_GB2312" pitchFamily="49" charset="-122"/>
              </a:rPr>
              <a:t>    </a:t>
            </a:r>
            <a:r>
              <a:rPr lang="zh-CN" altLang="en-US" sz="2400" b="1" dirty="0">
                <a:solidFill>
                  <a:srgbClr val="000099"/>
                </a:solidFill>
                <a:latin typeface="楷体_GB2312" pitchFamily="49" charset="-122"/>
                <a:ea typeface="楷体_GB2312" pitchFamily="49" charset="-122"/>
              </a:rPr>
              <a:t>段地址映射的数据结构有段表、段表首址指针和段表的长度。段表首址指针一般存放在所在进程的</a:t>
            </a:r>
            <a:r>
              <a:rPr lang="en-US" altLang="zh-CN" sz="2400" b="1" dirty="0">
                <a:solidFill>
                  <a:srgbClr val="000099"/>
                </a:solidFill>
                <a:latin typeface="楷体_GB2312" pitchFamily="49" charset="-122"/>
                <a:ea typeface="楷体_GB2312" pitchFamily="49" charset="-122"/>
              </a:rPr>
              <a:t>PCB</a:t>
            </a:r>
            <a:r>
              <a:rPr lang="zh-CN" altLang="en-US" sz="2400" b="1" dirty="0">
                <a:solidFill>
                  <a:srgbClr val="000099"/>
                </a:solidFill>
                <a:latin typeface="楷体_GB2312" pitchFamily="49" charset="-122"/>
                <a:ea typeface="楷体_GB2312" pitchFamily="49" charset="-122"/>
              </a:rPr>
              <a:t>中。段表存放程序各段的长度、位置和存取状态等信息。每个进程有一个段表，每个程序段的有关信息占用一个表目。</a:t>
            </a:r>
            <a:endParaRPr lang="zh-CN" altLang="en-US" sz="2400" b="1" dirty="0">
              <a:solidFill>
                <a:srgbClr val="000099"/>
              </a:solidFill>
              <a:latin typeface="楷体_GB2312" pitchFamily="49" charset="-122"/>
              <a:ea typeface="楷体_GB2312" pitchFamily="49" charset="-122"/>
            </a:endParaRPr>
          </a:p>
        </p:txBody>
      </p:sp>
      <p:graphicFrame>
        <p:nvGraphicFramePr>
          <p:cNvPr id="517146" name="Object 26"/>
          <p:cNvGraphicFramePr>
            <a:graphicFrameLocks noChangeAspect="1"/>
          </p:cNvGraphicFramePr>
          <p:nvPr/>
        </p:nvGraphicFramePr>
        <p:xfrm>
          <a:off x="685800" y="2781300"/>
          <a:ext cx="8077200" cy="4076700"/>
        </p:xfrm>
        <a:graphic>
          <a:graphicData uri="http://schemas.openxmlformats.org/presentationml/2006/ole">
            <mc:AlternateContent xmlns:mc="http://schemas.openxmlformats.org/markup-compatibility/2006">
              <mc:Choice xmlns:v="urn:schemas-microsoft-com:vml" Requires="v">
                <p:oleObj spid="_x0000_s3090" name="" r:id="rId1" imgW="5715000" imgH="3629025" progId="Paint.Picture">
                  <p:embed/>
                </p:oleObj>
              </mc:Choice>
              <mc:Fallback>
                <p:oleObj name="" r:id="rId1" imgW="5715000" imgH="3629025" progId="Paint.Picture">
                  <p:embed/>
                  <p:pic>
                    <p:nvPicPr>
                      <p:cNvPr id="0" name="图片 3089"/>
                      <p:cNvPicPr/>
                      <p:nvPr/>
                    </p:nvPicPr>
                    <p:blipFill>
                      <a:blip r:embed="rId2"/>
                      <a:stretch>
                        <a:fillRect/>
                      </a:stretch>
                    </p:blipFill>
                    <p:spPr>
                      <a:xfrm>
                        <a:off x="685800" y="2781300"/>
                        <a:ext cx="8077200" cy="40767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7122"/>
                                        </p:tgtEl>
                                        <p:attrNameLst>
                                          <p:attrName>style.visibility</p:attrName>
                                        </p:attrNameLst>
                                      </p:cBhvr>
                                      <p:to>
                                        <p:strVal val="visible"/>
                                      </p:to>
                                    </p:set>
                                    <p:anim calcmode="lin" valueType="num">
                                      <p:cBhvr additive="base">
                                        <p:cTn id="7" dur="500" fill="hold"/>
                                        <p:tgtEl>
                                          <p:spTgt spid="517122"/>
                                        </p:tgtEl>
                                        <p:attrNameLst>
                                          <p:attrName>ppt_x</p:attrName>
                                        </p:attrNameLst>
                                      </p:cBhvr>
                                      <p:tavLst>
                                        <p:tav tm="0">
                                          <p:val>
                                            <p:strVal val="0-#ppt_w/2"/>
                                          </p:val>
                                        </p:tav>
                                        <p:tav tm="100000">
                                          <p:val>
                                            <p:strVal val="#ppt_x"/>
                                          </p:val>
                                        </p:tav>
                                      </p:tavLst>
                                    </p:anim>
                                    <p:anim calcmode="lin" valueType="num">
                                      <p:cBhvr additive="base">
                                        <p:cTn id="8" dur="500" fill="hold"/>
                                        <p:tgtEl>
                                          <p:spTgt spid="5171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17146"/>
                                        </p:tgtEl>
                                        <p:attrNameLst>
                                          <p:attrName>style.visibility</p:attrName>
                                        </p:attrNameLst>
                                      </p:cBhvr>
                                      <p:to>
                                        <p:strVal val="visible"/>
                                      </p:to>
                                    </p:set>
                                    <p:animEffect transition="in" filter="wipe(left)">
                                      <p:cBhvr>
                                        <p:cTn id="13" dur="500"/>
                                        <p:tgtEl>
                                          <p:spTgt spid="517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18146" name="Rectangle 2"/>
          <p:cNvSpPr/>
          <p:nvPr/>
        </p:nvSpPr>
        <p:spPr>
          <a:xfrm>
            <a:off x="609600" y="838200"/>
            <a:ext cx="82296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990033"/>
                </a:solidFill>
                <a:ea typeface="楷体_GB2312" pitchFamily="49" charset="-122"/>
              </a:rPr>
              <a:t>段地址转换通常由硬件的地址转换机构完成：</a:t>
            </a:r>
            <a:endParaRPr lang="zh-CN" altLang="en-US" sz="2400" b="1" dirty="0">
              <a:solidFill>
                <a:srgbClr val="990033"/>
              </a:solidFill>
              <a:ea typeface="楷体_GB2312" pitchFamily="49" charset="-122"/>
            </a:endParaRPr>
          </a:p>
        </p:txBody>
      </p:sp>
      <p:sp>
        <p:nvSpPr>
          <p:cNvPr id="518147" name="Rectangle 3"/>
          <p:cNvSpPr/>
          <p:nvPr/>
        </p:nvSpPr>
        <p:spPr>
          <a:xfrm>
            <a:off x="685800" y="1371600"/>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1</a:t>
            </a:r>
            <a:r>
              <a:rPr lang="zh-CN" altLang="en-US" sz="2400" b="1" dirty="0">
                <a:solidFill>
                  <a:srgbClr val="000099"/>
                </a:solidFill>
                <a:ea typeface="楷体_GB2312" pitchFamily="49" charset="-122"/>
              </a:rPr>
              <a:t>）程序地址字送入虚地址寄存器</a:t>
            </a:r>
            <a:r>
              <a:rPr lang="en-US" altLang="zh-CN" sz="2400" b="1" dirty="0">
                <a:solidFill>
                  <a:srgbClr val="000099"/>
                </a:solidFill>
                <a:ea typeface="楷体_GB2312" pitchFamily="49" charset="-122"/>
              </a:rPr>
              <a:t>VR</a:t>
            </a:r>
            <a:r>
              <a:rPr lang="zh-CN" altLang="en-US" sz="2400" b="1" dirty="0">
                <a:solidFill>
                  <a:srgbClr val="000099"/>
                </a:solidFill>
                <a:ea typeface="楷体_GB2312" pitchFamily="49" charset="-122"/>
              </a:rPr>
              <a:t>，取出段号</a:t>
            </a:r>
            <a:r>
              <a:rPr lang="en-US" altLang="zh-CN" sz="2400" b="1" dirty="0">
                <a:solidFill>
                  <a:srgbClr val="000099"/>
                </a:solidFill>
                <a:ea typeface="楷体_GB2312" pitchFamily="49" charset="-122"/>
              </a:rPr>
              <a:t>S</a:t>
            </a:r>
            <a:r>
              <a:rPr lang="zh-CN" altLang="en-US" sz="2400" b="1" dirty="0">
                <a:solidFill>
                  <a:srgbClr val="000099"/>
                </a:solidFill>
                <a:ea typeface="楷体_GB2312" pitchFamily="49" charset="-122"/>
              </a:rPr>
              <a:t>和段内位移</a:t>
            </a:r>
            <a:r>
              <a:rPr lang="en-US" altLang="zh-CN" sz="2400" b="1" dirty="0">
                <a:solidFill>
                  <a:srgbClr val="000099"/>
                </a:solidFill>
                <a:ea typeface="楷体_GB2312" pitchFamily="49" charset="-122"/>
              </a:rPr>
              <a:t>W</a:t>
            </a:r>
            <a:r>
              <a:rPr lang="zh-CN" altLang="en-US" sz="2400" b="1" dirty="0">
                <a:solidFill>
                  <a:srgbClr val="000099"/>
                </a:solidFill>
                <a:ea typeface="楷体_GB2312" pitchFamily="49" charset="-122"/>
              </a:rPr>
              <a:t>。</a:t>
            </a:r>
            <a:r>
              <a:rPr lang="en-US" altLang="zh-CN" sz="2400" b="1" dirty="0">
                <a:solidFill>
                  <a:srgbClr val="006600"/>
                </a:solidFill>
                <a:ea typeface="楷体_GB2312" pitchFamily="49" charset="-122"/>
              </a:rPr>
              <a:t>(</a:t>
            </a:r>
            <a:r>
              <a:rPr lang="zh-CN" altLang="en-US" sz="2400" b="1" dirty="0">
                <a:solidFill>
                  <a:srgbClr val="006600"/>
                </a:solidFill>
                <a:ea typeface="楷体_GB2312" pitchFamily="49" charset="-122"/>
              </a:rPr>
              <a:t>分解</a:t>
            </a:r>
            <a:r>
              <a:rPr lang="en-US" altLang="zh-CN" sz="2400" b="1" dirty="0">
                <a:solidFill>
                  <a:srgbClr val="006600"/>
                </a:solidFill>
                <a:ea typeface="楷体_GB2312" pitchFamily="49" charset="-122"/>
              </a:rPr>
              <a:t>)</a:t>
            </a:r>
            <a:endParaRPr lang="en-US" altLang="zh-CN" sz="2400" b="1" dirty="0">
              <a:solidFill>
                <a:srgbClr val="000099"/>
              </a:solidFill>
              <a:ea typeface="楷体_GB2312" pitchFamily="49" charset="-122"/>
            </a:endParaRPr>
          </a:p>
        </p:txBody>
      </p:sp>
      <p:sp>
        <p:nvSpPr>
          <p:cNvPr id="518148" name="Rectangle 4"/>
          <p:cNvSpPr/>
          <p:nvPr/>
        </p:nvSpPr>
        <p:spPr>
          <a:xfrm>
            <a:off x="711200" y="2362200"/>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2</a:t>
            </a:r>
            <a:r>
              <a:rPr lang="zh-CN" altLang="en-US" sz="2400" b="1" dirty="0">
                <a:solidFill>
                  <a:srgbClr val="000099"/>
                </a:solidFill>
                <a:ea typeface="楷体_GB2312" pitchFamily="49" charset="-122"/>
              </a:rPr>
              <a:t>）根据段表首址指针找到段表，查找段号为</a:t>
            </a:r>
            <a:r>
              <a:rPr lang="en-US" altLang="zh-CN" sz="2400" b="1" dirty="0">
                <a:solidFill>
                  <a:srgbClr val="000099"/>
                </a:solidFill>
                <a:ea typeface="楷体_GB2312" pitchFamily="49" charset="-122"/>
              </a:rPr>
              <a:t>S</a:t>
            </a:r>
            <a:r>
              <a:rPr lang="zh-CN" altLang="en-US" sz="2400" b="1" dirty="0">
                <a:solidFill>
                  <a:srgbClr val="000099"/>
                </a:solidFill>
                <a:ea typeface="楷体_GB2312" pitchFamily="49" charset="-122"/>
              </a:rPr>
              <a:t>的表目，得到该段的首地址</a:t>
            </a:r>
            <a:r>
              <a:rPr lang="en-US" altLang="zh-CN" sz="2400" b="1" dirty="0">
                <a:solidFill>
                  <a:srgbClr val="000099"/>
                </a:solidFill>
                <a:ea typeface="楷体_GB2312" pitchFamily="49" charset="-122"/>
              </a:rPr>
              <a:t>b</a:t>
            </a:r>
            <a:r>
              <a:rPr lang="zh-CN" altLang="en-US" sz="2400" b="1" dirty="0">
                <a:solidFill>
                  <a:srgbClr val="000099"/>
                </a:solidFill>
                <a:ea typeface="楷体_GB2312" pitchFamily="49" charset="-122"/>
              </a:rPr>
              <a:t>。 </a:t>
            </a:r>
            <a:r>
              <a:rPr lang="en-US" altLang="zh-CN" sz="2400" b="1" dirty="0">
                <a:solidFill>
                  <a:srgbClr val="006600"/>
                </a:solidFill>
                <a:ea typeface="楷体_GB2312" pitchFamily="49" charset="-122"/>
              </a:rPr>
              <a:t>(</a:t>
            </a:r>
            <a:r>
              <a:rPr lang="zh-CN" altLang="en-US" sz="2400" b="1" dirty="0">
                <a:solidFill>
                  <a:srgbClr val="006600"/>
                </a:solidFill>
                <a:ea typeface="楷体_GB2312" pitchFamily="49" charset="-122"/>
              </a:rPr>
              <a:t>查段表</a:t>
            </a:r>
            <a:r>
              <a:rPr lang="en-US" altLang="zh-CN" sz="2400" b="1" dirty="0">
                <a:solidFill>
                  <a:srgbClr val="006600"/>
                </a:solidFill>
                <a:ea typeface="楷体_GB2312" pitchFamily="49" charset="-122"/>
              </a:rPr>
              <a:t>)</a:t>
            </a:r>
            <a:endParaRPr lang="en-US" altLang="zh-CN" sz="2400" b="1" dirty="0">
              <a:solidFill>
                <a:srgbClr val="006600"/>
              </a:solidFill>
              <a:ea typeface="楷体_GB2312" pitchFamily="49" charset="-122"/>
            </a:endParaRPr>
          </a:p>
        </p:txBody>
      </p:sp>
      <p:sp>
        <p:nvSpPr>
          <p:cNvPr id="518149" name="Rectangle 5"/>
          <p:cNvSpPr/>
          <p:nvPr/>
        </p:nvSpPr>
        <p:spPr>
          <a:xfrm>
            <a:off x="736600" y="3352800"/>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3</a:t>
            </a:r>
            <a:r>
              <a:rPr lang="zh-CN" altLang="en-US" sz="2400" b="1" dirty="0">
                <a:solidFill>
                  <a:srgbClr val="000099"/>
                </a:solidFill>
                <a:ea typeface="楷体_GB2312" pitchFamily="49" charset="-122"/>
              </a:rPr>
              <a:t>）把</a:t>
            </a:r>
            <a:r>
              <a:rPr lang="zh-CN" altLang="en-US" sz="2400" b="1" dirty="0">
                <a:solidFill>
                  <a:srgbClr val="006600"/>
                </a:solidFill>
                <a:ea typeface="楷体_GB2312" pitchFamily="49" charset="-122"/>
              </a:rPr>
              <a:t>段首地址与段内地址</a:t>
            </a:r>
            <a:r>
              <a:rPr lang="zh-CN" altLang="en-US" sz="2400" b="1" dirty="0">
                <a:solidFill>
                  <a:srgbClr val="990033"/>
                </a:solidFill>
                <a:ea typeface="楷体_GB2312" pitchFamily="49" charset="-122"/>
              </a:rPr>
              <a:t>相加</a:t>
            </a:r>
            <a:r>
              <a:rPr lang="zh-CN" altLang="en-US" sz="2400" b="1" dirty="0">
                <a:solidFill>
                  <a:srgbClr val="000099"/>
                </a:solidFill>
                <a:ea typeface="楷体_GB2312" pitchFamily="49" charset="-122"/>
              </a:rPr>
              <a:t>，形成物理地址，并以此地址存访内存。 </a:t>
            </a:r>
            <a:r>
              <a:rPr lang="en-US" altLang="zh-CN" sz="2400" b="1" dirty="0">
                <a:solidFill>
                  <a:srgbClr val="006600"/>
                </a:solidFill>
                <a:ea typeface="楷体_GB2312" pitchFamily="49" charset="-122"/>
              </a:rPr>
              <a:t>(</a:t>
            </a:r>
            <a:r>
              <a:rPr lang="zh-CN" altLang="en-US" sz="2400" b="1" dirty="0">
                <a:solidFill>
                  <a:srgbClr val="990033"/>
                </a:solidFill>
                <a:ea typeface="楷体_GB2312" pitchFamily="49" charset="-122"/>
              </a:rPr>
              <a:t>相加</a:t>
            </a:r>
            <a:r>
              <a:rPr lang="en-US" altLang="zh-CN" sz="2400" b="1" dirty="0">
                <a:solidFill>
                  <a:srgbClr val="006600"/>
                </a:solidFill>
                <a:ea typeface="楷体_GB2312" pitchFamily="49" charset="-122"/>
              </a:rPr>
              <a:t>)</a:t>
            </a:r>
            <a:endParaRPr lang="en-US" altLang="zh-CN" sz="2400" b="1" dirty="0">
              <a:solidFill>
                <a:srgbClr val="006600"/>
              </a:solidFill>
              <a:ea typeface="楷体_GB2312" pitchFamily="49" charset="-122"/>
            </a:endParaRPr>
          </a:p>
        </p:txBody>
      </p:sp>
      <p:sp>
        <p:nvSpPr>
          <p:cNvPr id="518151" name="Rectangle 7"/>
          <p:cNvSpPr/>
          <p:nvPr/>
        </p:nvSpPr>
        <p:spPr>
          <a:xfrm>
            <a:off x="673100" y="4343400"/>
            <a:ext cx="8353425"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在段地址变换的过程中，与页地址变换一样，也有两次访问内存的问题。为加快访问内存的速度也可采用联想存储器组成快表。</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8146"/>
                                        </p:tgtEl>
                                        <p:attrNameLst>
                                          <p:attrName>style.visibility</p:attrName>
                                        </p:attrNameLst>
                                      </p:cBhvr>
                                      <p:to>
                                        <p:strVal val="visible"/>
                                      </p:to>
                                    </p:set>
                                    <p:anim calcmode="lin" valueType="num">
                                      <p:cBhvr additive="base">
                                        <p:cTn id="7" dur="500" fill="hold"/>
                                        <p:tgtEl>
                                          <p:spTgt spid="518146"/>
                                        </p:tgtEl>
                                        <p:attrNameLst>
                                          <p:attrName>ppt_x</p:attrName>
                                        </p:attrNameLst>
                                      </p:cBhvr>
                                      <p:tavLst>
                                        <p:tav tm="0">
                                          <p:val>
                                            <p:strVal val="0-#ppt_w/2"/>
                                          </p:val>
                                        </p:tav>
                                        <p:tav tm="100000">
                                          <p:val>
                                            <p:strVal val="#ppt_x"/>
                                          </p:val>
                                        </p:tav>
                                      </p:tavLst>
                                    </p:anim>
                                    <p:anim calcmode="lin" valueType="num">
                                      <p:cBhvr additive="base">
                                        <p:cTn id="8" dur="500" fill="hold"/>
                                        <p:tgtEl>
                                          <p:spTgt spid="5181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18147"/>
                                        </p:tgtEl>
                                        <p:attrNameLst>
                                          <p:attrName>style.visibility</p:attrName>
                                        </p:attrNameLst>
                                      </p:cBhvr>
                                      <p:to>
                                        <p:strVal val="visible"/>
                                      </p:to>
                                    </p:set>
                                    <p:anim calcmode="lin" valueType="num">
                                      <p:cBhvr additive="base">
                                        <p:cTn id="13" dur="500" fill="hold"/>
                                        <p:tgtEl>
                                          <p:spTgt spid="518147"/>
                                        </p:tgtEl>
                                        <p:attrNameLst>
                                          <p:attrName>ppt_x</p:attrName>
                                        </p:attrNameLst>
                                      </p:cBhvr>
                                      <p:tavLst>
                                        <p:tav tm="0">
                                          <p:val>
                                            <p:strVal val="0-#ppt_w/2"/>
                                          </p:val>
                                        </p:tav>
                                        <p:tav tm="100000">
                                          <p:val>
                                            <p:strVal val="#ppt_x"/>
                                          </p:val>
                                        </p:tav>
                                      </p:tavLst>
                                    </p:anim>
                                    <p:anim calcmode="lin" valueType="num">
                                      <p:cBhvr additive="base">
                                        <p:cTn id="14" dur="500" fill="hold"/>
                                        <p:tgtEl>
                                          <p:spTgt spid="5181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18148"/>
                                        </p:tgtEl>
                                        <p:attrNameLst>
                                          <p:attrName>style.visibility</p:attrName>
                                        </p:attrNameLst>
                                      </p:cBhvr>
                                      <p:to>
                                        <p:strVal val="visible"/>
                                      </p:to>
                                    </p:set>
                                    <p:anim calcmode="lin" valueType="num">
                                      <p:cBhvr additive="base">
                                        <p:cTn id="19" dur="500" fill="hold"/>
                                        <p:tgtEl>
                                          <p:spTgt spid="518148"/>
                                        </p:tgtEl>
                                        <p:attrNameLst>
                                          <p:attrName>ppt_x</p:attrName>
                                        </p:attrNameLst>
                                      </p:cBhvr>
                                      <p:tavLst>
                                        <p:tav tm="0">
                                          <p:val>
                                            <p:strVal val="0-#ppt_w/2"/>
                                          </p:val>
                                        </p:tav>
                                        <p:tav tm="100000">
                                          <p:val>
                                            <p:strVal val="#ppt_x"/>
                                          </p:val>
                                        </p:tav>
                                      </p:tavLst>
                                    </p:anim>
                                    <p:anim calcmode="lin" valueType="num">
                                      <p:cBhvr additive="base">
                                        <p:cTn id="20" dur="500" fill="hold"/>
                                        <p:tgtEl>
                                          <p:spTgt spid="51814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18149"/>
                                        </p:tgtEl>
                                        <p:attrNameLst>
                                          <p:attrName>style.visibility</p:attrName>
                                        </p:attrNameLst>
                                      </p:cBhvr>
                                      <p:to>
                                        <p:strVal val="visible"/>
                                      </p:to>
                                    </p:set>
                                    <p:anim calcmode="lin" valueType="num">
                                      <p:cBhvr additive="base">
                                        <p:cTn id="25" dur="500" fill="hold"/>
                                        <p:tgtEl>
                                          <p:spTgt spid="518149"/>
                                        </p:tgtEl>
                                        <p:attrNameLst>
                                          <p:attrName>ppt_x</p:attrName>
                                        </p:attrNameLst>
                                      </p:cBhvr>
                                      <p:tavLst>
                                        <p:tav tm="0">
                                          <p:val>
                                            <p:strVal val="0-#ppt_w/2"/>
                                          </p:val>
                                        </p:tav>
                                        <p:tav tm="100000">
                                          <p:val>
                                            <p:strVal val="#ppt_x"/>
                                          </p:val>
                                        </p:tav>
                                      </p:tavLst>
                                    </p:anim>
                                    <p:anim calcmode="lin" valueType="num">
                                      <p:cBhvr additive="base">
                                        <p:cTn id="26" dur="500" fill="hold"/>
                                        <p:tgtEl>
                                          <p:spTgt spid="51814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18151"/>
                                        </p:tgtEl>
                                        <p:attrNameLst>
                                          <p:attrName>style.visibility</p:attrName>
                                        </p:attrNameLst>
                                      </p:cBhvr>
                                      <p:to>
                                        <p:strVal val="visible"/>
                                      </p:to>
                                    </p:set>
                                    <p:anim calcmode="lin" valueType="num">
                                      <p:cBhvr additive="base">
                                        <p:cTn id="31" dur="500" fill="hold"/>
                                        <p:tgtEl>
                                          <p:spTgt spid="518151"/>
                                        </p:tgtEl>
                                        <p:attrNameLst>
                                          <p:attrName>ppt_x</p:attrName>
                                        </p:attrNameLst>
                                      </p:cBhvr>
                                      <p:tavLst>
                                        <p:tav tm="0">
                                          <p:val>
                                            <p:strVal val="0-#ppt_w/2"/>
                                          </p:val>
                                        </p:tav>
                                        <p:tav tm="100000">
                                          <p:val>
                                            <p:strVal val="#ppt_x"/>
                                          </p:val>
                                        </p:tav>
                                      </p:tavLst>
                                    </p:anim>
                                    <p:anim calcmode="lin" valueType="num">
                                      <p:cBhvr additive="base">
                                        <p:cTn id="32" dur="500" fill="hold"/>
                                        <p:tgtEl>
                                          <p:spTgt spid="5181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46" grpId="0"/>
      <p:bldP spid="518147" grpId="0"/>
      <p:bldP spid="518148" grpId="0"/>
      <p:bldP spid="518149" grpId="0"/>
      <p:bldP spid="518151"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62178" name="Rectangle 2"/>
          <p:cNvSpPr/>
          <p:nvPr/>
        </p:nvSpPr>
        <p:spPr>
          <a:xfrm>
            <a:off x="755650" y="908050"/>
            <a:ext cx="2597150" cy="45720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561975" algn="l"/>
              </a:tabLst>
            </a:pPr>
            <a:r>
              <a:rPr lang="zh-CN" altLang="en-US" sz="2400" b="1" dirty="0">
                <a:solidFill>
                  <a:srgbClr val="9900CC"/>
                </a:solidFill>
                <a:ea typeface="楷体_GB2312" pitchFamily="49" charset="-122"/>
              </a:rPr>
              <a:t>段地址转换过程</a:t>
            </a:r>
            <a:endParaRPr lang="zh-CN" altLang="en-US" sz="2400" b="1" dirty="0">
              <a:solidFill>
                <a:srgbClr val="9900CC"/>
              </a:solidFill>
              <a:ea typeface="楷体_GB2312" pitchFamily="49" charset="-122"/>
            </a:endParaRPr>
          </a:p>
        </p:txBody>
      </p:sp>
      <p:grpSp>
        <p:nvGrpSpPr>
          <p:cNvPr id="562230" name="Group 54"/>
          <p:cNvGrpSpPr/>
          <p:nvPr/>
        </p:nvGrpSpPr>
        <p:grpSpPr>
          <a:xfrm>
            <a:off x="2438400" y="1687513"/>
            <a:ext cx="1836738" cy="890587"/>
            <a:chOff x="1689" y="1132"/>
            <a:chExt cx="1004" cy="492"/>
          </a:xfrm>
        </p:grpSpPr>
        <p:sp>
          <p:nvSpPr>
            <p:cNvPr id="108600" name="Rectangle 44"/>
            <p:cNvSpPr/>
            <p:nvPr/>
          </p:nvSpPr>
          <p:spPr>
            <a:xfrm>
              <a:off x="1728" y="1132"/>
              <a:ext cx="864" cy="219"/>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133350" algn="l"/>
                </a:tabLst>
              </a:pPr>
              <a:r>
                <a:rPr lang="zh-CN" altLang="en-US" sz="2000" b="1" dirty="0">
                  <a:solidFill>
                    <a:srgbClr val="000099"/>
                  </a:solidFill>
                  <a:ea typeface="楷体_GB2312" pitchFamily="49" charset="-122"/>
                </a:rPr>
                <a:t>控制寄存器</a:t>
              </a:r>
              <a:endParaRPr lang="zh-CN" altLang="en-US" sz="2000" b="1" dirty="0">
                <a:solidFill>
                  <a:srgbClr val="000099"/>
                </a:solidFill>
                <a:ea typeface="楷体_GB2312" pitchFamily="49" charset="-122"/>
              </a:endParaRPr>
            </a:p>
          </p:txBody>
        </p:sp>
        <p:sp>
          <p:nvSpPr>
            <p:cNvPr id="108601" name="Rectangle 6"/>
            <p:cNvSpPr/>
            <p:nvPr/>
          </p:nvSpPr>
          <p:spPr>
            <a:xfrm>
              <a:off x="2191" y="1345"/>
              <a:ext cx="502" cy="279"/>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600" b="1" dirty="0">
                  <a:solidFill>
                    <a:srgbClr val="990033"/>
                  </a:solidFill>
                  <a:ea typeface="楷体_GB2312" pitchFamily="49" charset="-122"/>
                </a:rPr>
                <a:t>段表始址</a:t>
              </a:r>
              <a:endParaRPr lang="zh-CN" altLang="en-US" sz="1600" b="1" dirty="0">
                <a:solidFill>
                  <a:srgbClr val="990033"/>
                </a:solidFill>
                <a:ea typeface="楷体_GB2312" pitchFamily="49" charset="-122"/>
              </a:endParaRPr>
            </a:p>
          </p:txBody>
        </p:sp>
        <p:sp>
          <p:nvSpPr>
            <p:cNvPr id="108602" name="Rectangle 7"/>
            <p:cNvSpPr/>
            <p:nvPr/>
          </p:nvSpPr>
          <p:spPr>
            <a:xfrm>
              <a:off x="1689" y="1345"/>
              <a:ext cx="502" cy="279"/>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zh-CN" altLang="en-US" sz="1600" b="1" dirty="0">
                  <a:solidFill>
                    <a:srgbClr val="990033"/>
                  </a:solidFill>
                  <a:ea typeface="楷体_GB2312" pitchFamily="49" charset="-122"/>
                </a:rPr>
                <a:t>段表长度</a:t>
              </a:r>
              <a:r>
                <a:rPr lang="zh-CN" altLang="en-US" sz="900" dirty="0"/>
                <a:t> </a:t>
              </a:r>
              <a:endParaRPr lang="zh-CN" altLang="en-US" sz="2400" dirty="0">
                <a:ea typeface="楷体_GB2312" pitchFamily="49" charset="-122"/>
              </a:endParaRPr>
            </a:p>
          </p:txBody>
        </p:sp>
      </p:grpSp>
      <p:grpSp>
        <p:nvGrpSpPr>
          <p:cNvPr id="562233" name="Group 57"/>
          <p:cNvGrpSpPr/>
          <p:nvPr/>
        </p:nvGrpSpPr>
        <p:grpSpPr>
          <a:xfrm>
            <a:off x="914400" y="2717800"/>
            <a:ext cx="2563813" cy="2535238"/>
            <a:chOff x="748" y="1857"/>
            <a:chExt cx="1443" cy="1425"/>
          </a:xfrm>
        </p:grpSpPr>
        <p:sp>
          <p:nvSpPr>
            <p:cNvPr id="108587" name="Rectangle 11"/>
            <p:cNvSpPr/>
            <p:nvPr/>
          </p:nvSpPr>
          <p:spPr>
            <a:xfrm>
              <a:off x="1627" y="2447"/>
              <a:ext cx="564" cy="279"/>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900" dirty="0"/>
                <a:t> </a:t>
              </a:r>
              <a:r>
                <a:rPr lang="en-US" altLang="zh-CN" sz="1800" b="1" dirty="0">
                  <a:solidFill>
                    <a:srgbClr val="990033"/>
                  </a:solidFill>
                  <a:ea typeface="楷体_GB2312" pitchFamily="49" charset="-122"/>
                </a:rPr>
                <a:t>  6000</a:t>
              </a:r>
              <a:endParaRPr lang="en-US" altLang="zh-CN" sz="1800" b="1" dirty="0">
                <a:solidFill>
                  <a:srgbClr val="990033"/>
                </a:solidFill>
                <a:ea typeface="楷体_GB2312" pitchFamily="49" charset="-122"/>
              </a:endParaRPr>
            </a:p>
          </p:txBody>
        </p:sp>
        <p:sp>
          <p:nvSpPr>
            <p:cNvPr id="108588" name="Rectangle 45"/>
            <p:cNvSpPr/>
            <p:nvPr/>
          </p:nvSpPr>
          <p:spPr>
            <a:xfrm>
              <a:off x="1020" y="1857"/>
              <a:ext cx="771" cy="257"/>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99"/>
                  </a:solidFill>
                  <a:ea typeface="楷体_GB2312" pitchFamily="49" charset="-122"/>
                </a:rPr>
                <a:t>段       表</a:t>
              </a:r>
              <a:r>
                <a:rPr lang="zh-CN" altLang="en-US" sz="2400" dirty="0">
                  <a:ea typeface="楷体_GB2312" pitchFamily="49" charset="-122"/>
                </a:rPr>
                <a:t> </a:t>
              </a:r>
              <a:endParaRPr lang="zh-CN" altLang="en-US" sz="2400" dirty="0">
                <a:ea typeface="楷体_GB2312" pitchFamily="49" charset="-122"/>
              </a:endParaRPr>
            </a:p>
          </p:txBody>
        </p:sp>
        <p:sp>
          <p:nvSpPr>
            <p:cNvPr id="108589" name="Rectangle 8"/>
            <p:cNvSpPr/>
            <p:nvPr/>
          </p:nvSpPr>
          <p:spPr>
            <a:xfrm>
              <a:off x="1627" y="2169"/>
              <a:ext cx="564" cy="278"/>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900" dirty="0"/>
                <a:t>  </a:t>
              </a:r>
              <a:r>
                <a:rPr lang="zh-CN" altLang="en-US" sz="1600" b="1" dirty="0">
                  <a:solidFill>
                    <a:srgbClr val="990033"/>
                  </a:solidFill>
                  <a:ea typeface="楷体_GB2312" pitchFamily="49" charset="-122"/>
                </a:rPr>
                <a:t>段始址</a:t>
              </a:r>
              <a:endParaRPr lang="zh-CN" altLang="en-US" sz="1600" b="1" dirty="0">
                <a:solidFill>
                  <a:srgbClr val="990033"/>
                </a:solidFill>
                <a:ea typeface="楷体_GB2312" pitchFamily="49" charset="-122"/>
              </a:endParaRPr>
            </a:p>
          </p:txBody>
        </p:sp>
        <p:sp>
          <p:nvSpPr>
            <p:cNvPr id="108590" name="Rectangle 9"/>
            <p:cNvSpPr/>
            <p:nvPr/>
          </p:nvSpPr>
          <p:spPr>
            <a:xfrm>
              <a:off x="1125" y="2169"/>
              <a:ext cx="502" cy="278"/>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900" dirty="0"/>
                <a:t> </a:t>
              </a:r>
              <a:r>
                <a:rPr lang="zh-CN" altLang="en-US" sz="1600" b="1" dirty="0">
                  <a:solidFill>
                    <a:srgbClr val="990033"/>
                  </a:solidFill>
                  <a:ea typeface="楷体_GB2312" pitchFamily="49" charset="-122"/>
                </a:rPr>
                <a:t>段大小</a:t>
              </a:r>
              <a:endParaRPr lang="zh-CN" altLang="en-US" sz="1600" b="1" dirty="0">
                <a:solidFill>
                  <a:srgbClr val="990033"/>
                </a:solidFill>
                <a:ea typeface="楷体_GB2312" pitchFamily="49" charset="-122"/>
              </a:endParaRPr>
            </a:p>
          </p:txBody>
        </p:sp>
        <p:sp>
          <p:nvSpPr>
            <p:cNvPr id="108591" name="Rectangle 10"/>
            <p:cNvSpPr/>
            <p:nvPr/>
          </p:nvSpPr>
          <p:spPr>
            <a:xfrm>
              <a:off x="1125" y="2447"/>
              <a:ext cx="502" cy="279"/>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900" dirty="0"/>
                <a:t>     </a:t>
              </a:r>
              <a:r>
                <a:rPr lang="en-US" altLang="zh-CN" sz="1800" b="1" dirty="0">
                  <a:solidFill>
                    <a:srgbClr val="990033"/>
                  </a:solidFill>
                  <a:ea typeface="楷体_GB2312" pitchFamily="49" charset="-122"/>
                </a:rPr>
                <a:t>300</a:t>
              </a:r>
              <a:endParaRPr lang="en-US" altLang="zh-CN" sz="1800" b="1" dirty="0">
                <a:solidFill>
                  <a:srgbClr val="990033"/>
                </a:solidFill>
                <a:ea typeface="楷体_GB2312" pitchFamily="49" charset="-122"/>
              </a:endParaRPr>
            </a:p>
          </p:txBody>
        </p:sp>
        <p:sp>
          <p:nvSpPr>
            <p:cNvPr id="108592" name="Rectangle 12"/>
            <p:cNvSpPr/>
            <p:nvPr/>
          </p:nvSpPr>
          <p:spPr>
            <a:xfrm>
              <a:off x="1125" y="2726"/>
              <a:ext cx="502" cy="285"/>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900" dirty="0"/>
                <a:t>     </a:t>
              </a:r>
              <a:r>
                <a:rPr lang="en-US" altLang="zh-CN" sz="1800" b="1" dirty="0">
                  <a:solidFill>
                    <a:srgbClr val="990033"/>
                  </a:solidFill>
                  <a:ea typeface="楷体_GB2312" pitchFamily="49" charset="-122"/>
                </a:rPr>
                <a:t>500</a:t>
              </a:r>
              <a:endParaRPr lang="en-US" altLang="zh-CN" sz="1800" b="1" dirty="0">
                <a:solidFill>
                  <a:srgbClr val="990033"/>
                </a:solidFill>
                <a:ea typeface="楷体_GB2312" pitchFamily="49" charset="-122"/>
              </a:endParaRPr>
            </a:p>
          </p:txBody>
        </p:sp>
        <p:sp>
          <p:nvSpPr>
            <p:cNvPr id="108593" name="Rectangle 13"/>
            <p:cNvSpPr/>
            <p:nvPr/>
          </p:nvSpPr>
          <p:spPr>
            <a:xfrm>
              <a:off x="1627" y="2726"/>
              <a:ext cx="564" cy="285"/>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900" dirty="0"/>
                <a:t>    </a:t>
              </a:r>
              <a:r>
                <a:rPr lang="en-US" altLang="zh-CN" sz="1800" b="1" dirty="0">
                  <a:solidFill>
                    <a:srgbClr val="990033"/>
                  </a:solidFill>
                  <a:ea typeface="楷体_GB2312" pitchFamily="49" charset="-122"/>
                </a:rPr>
                <a:t>4000</a:t>
              </a:r>
              <a:endParaRPr lang="en-US" altLang="zh-CN" sz="1800" b="1" dirty="0">
                <a:solidFill>
                  <a:srgbClr val="990033"/>
                </a:solidFill>
                <a:ea typeface="楷体_GB2312" pitchFamily="49" charset="-122"/>
              </a:endParaRPr>
            </a:p>
          </p:txBody>
        </p:sp>
        <p:sp>
          <p:nvSpPr>
            <p:cNvPr id="108594" name="Rectangle 14"/>
            <p:cNvSpPr/>
            <p:nvPr/>
          </p:nvSpPr>
          <p:spPr>
            <a:xfrm>
              <a:off x="1125" y="3004"/>
              <a:ext cx="502" cy="278"/>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900" dirty="0"/>
                <a:t> </a:t>
              </a:r>
              <a:r>
                <a:rPr lang="en-US" altLang="zh-CN" sz="1800" b="1" dirty="0">
                  <a:solidFill>
                    <a:srgbClr val="990033"/>
                  </a:solidFill>
                  <a:ea typeface="楷体_GB2312" pitchFamily="49" charset="-122"/>
                </a:rPr>
                <a:t>  300    </a:t>
              </a:r>
              <a:r>
                <a:rPr lang="en-US" altLang="zh-CN" sz="900" dirty="0"/>
                <a:t>                                                     </a:t>
              </a:r>
              <a:endParaRPr lang="en-US" altLang="zh-CN" sz="2400" dirty="0">
                <a:ea typeface="楷体_GB2312" pitchFamily="49" charset="-122"/>
              </a:endParaRPr>
            </a:p>
          </p:txBody>
        </p:sp>
        <p:sp>
          <p:nvSpPr>
            <p:cNvPr id="108595" name="Rectangle 15"/>
            <p:cNvSpPr/>
            <p:nvPr/>
          </p:nvSpPr>
          <p:spPr>
            <a:xfrm>
              <a:off x="1627" y="3004"/>
              <a:ext cx="564" cy="278"/>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900" dirty="0"/>
                <a:t>    </a:t>
              </a:r>
              <a:r>
                <a:rPr lang="en-US" altLang="zh-CN" sz="1800" b="1" dirty="0">
                  <a:solidFill>
                    <a:srgbClr val="990033"/>
                  </a:solidFill>
                  <a:ea typeface="楷体_GB2312" pitchFamily="49" charset="-122"/>
                </a:rPr>
                <a:t>8000</a:t>
              </a:r>
              <a:endParaRPr lang="en-US" altLang="zh-CN" sz="1800" b="1" dirty="0">
                <a:solidFill>
                  <a:srgbClr val="990033"/>
                </a:solidFill>
                <a:ea typeface="楷体_GB2312" pitchFamily="49" charset="-122"/>
              </a:endParaRPr>
            </a:p>
          </p:txBody>
        </p:sp>
        <p:sp>
          <p:nvSpPr>
            <p:cNvPr id="108596" name="Rectangle 31"/>
            <p:cNvSpPr/>
            <p:nvPr/>
          </p:nvSpPr>
          <p:spPr>
            <a:xfrm>
              <a:off x="748" y="2169"/>
              <a:ext cx="377" cy="278"/>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900" dirty="0"/>
                <a:t> </a:t>
              </a:r>
              <a:r>
                <a:rPr lang="zh-CN" altLang="en-US" sz="1600" b="1" dirty="0">
                  <a:solidFill>
                    <a:srgbClr val="990033"/>
                  </a:solidFill>
                  <a:ea typeface="楷体_GB2312" pitchFamily="49" charset="-122"/>
                </a:rPr>
                <a:t>段号</a:t>
              </a:r>
              <a:endParaRPr lang="zh-CN" altLang="en-US" sz="1600" b="1" dirty="0">
                <a:solidFill>
                  <a:srgbClr val="990033"/>
                </a:solidFill>
                <a:ea typeface="楷体_GB2312" pitchFamily="49" charset="-122"/>
              </a:endParaRPr>
            </a:p>
          </p:txBody>
        </p:sp>
        <p:sp>
          <p:nvSpPr>
            <p:cNvPr id="108597" name="Rectangle 32"/>
            <p:cNvSpPr/>
            <p:nvPr/>
          </p:nvSpPr>
          <p:spPr>
            <a:xfrm>
              <a:off x="748" y="2447"/>
              <a:ext cx="377" cy="279"/>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900" dirty="0"/>
                <a:t> </a:t>
              </a:r>
              <a:r>
                <a:rPr lang="en-US" altLang="zh-CN" sz="1400" b="1" dirty="0">
                  <a:solidFill>
                    <a:srgbClr val="990033"/>
                  </a:solidFill>
                  <a:ea typeface="楷体_GB2312" pitchFamily="49" charset="-122"/>
                </a:rPr>
                <a:t>   </a:t>
              </a:r>
              <a:r>
                <a:rPr lang="en-US" altLang="zh-CN" sz="1800" b="1" dirty="0">
                  <a:solidFill>
                    <a:srgbClr val="990033"/>
                  </a:solidFill>
                  <a:ea typeface="楷体_GB2312" pitchFamily="49" charset="-122"/>
                </a:rPr>
                <a:t>0</a:t>
              </a:r>
              <a:endParaRPr lang="en-US" altLang="zh-CN" sz="1800" b="1" dirty="0">
                <a:solidFill>
                  <a:srgbClr val="990033"/>
                </a:solidFill>
                <a:ea typeface="楷体_GB2312" pitchFamily="49" charset="-122"/>
              </a:endParaRPr>
            </a:p>
          </p:txBody>
        </p:sp>
        <p:sp>
          <p:nvSpPr>
            <p:cNvPr id="108598" name="Rectangle 33"/>
            <p:cNvSpPr/>
            <p:nvPr/>
          </p:nvSpPr>
          <p:spPr>
            <a:xfrm>
              <a:off x="748" y="2726"/>
              <a:ext cx="377" cy="278"/>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800" b="1" dirty="0">
                  <a:solidFill>
                    <a:srgbClr val="990033"/>
                  </a:solidFill>
                  <a:ea typeface="楷体_GB2312" pitchFamily="49" charset="-122"/>
                </a:rPr>
                <a:t>   1</a:t>
              </a:r>
              <a:endParaRPr lang="en-US" altLang="zh-CN" sz="1800" b="1" dirty="0">
                <a:solidFill>
                  <a:srgbClr val="990033"/>
                </a:solidFill>
                <a:ea typeface="楷体_GB2312" pitchFamily="49" charset="-122"/>
              </a:endParaRPr>
            </a:p>
          </p:txBody>
        </p:sp>
        <p:sp>
          <p:nvSpPr>
            <p:cNvPr id="108599" name="Rectangle 34"/>
            <p:cNvSpPr/>
            <p:nvPr/>
          </p:nvSpPr>
          <p:spPr>
            <a:xfrm>
              <a:off x="748" y="3004"/>
              <a:ext cx="377" cy="278"/>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900" dirty="0"/>
                <a:t>      </a:t>
              </a:r>
              <a:r>
                <a:rPr lang="en-US" altLang="zh-CN" sz="1800" b="1" dirty="0">
                  <a:solidFill>
                    <a:srgbClr val="990033"/>
                  </a:solidFill>
                  <a:ea typeface="楷体_GB2312" pitchFamily="49" charset="-122"/>
                </a:rPr>
                <a:t>2</a:t>
              </a:r>
              <a:endParaRPr lang="en-US" altLang="zh-CN" sz="1800" b="1" dirty="0">
                <a:solidFill>
                  <a:srgbClr val="990033"/>
                </a:solidFill>
                <a:ea typeface="楷体_GB2312" pitchFamily="49" charset="-122"/>
              </a:endParaRPr>
            </a:p>
          </p:txBody>
        </p:sp>
      </p:grpSp>
      <p:grpSp>
        <p:nvGrpSpPr>
          <p:cNvPr id="562237" name="Group 61"/>
          <p:cNvGrpSpPr/>
          <p:nvPr/>
        </p:nvGrpSpPr>
        <p:grpSpPr>
          <a:xfrm>
            <a:off x="3454400" y="2565400"/>
            <a:ext cx="1622425" cy="2222500"/>
            <a:chOff x="2176" y="1616"/>
            <a:chExt cx="1022" cy="1400"/>
          </a:xfrm>
        </p:grpSpPr>
        <p:sp>
          <p:nvSpPr>
            <p:cNvPr id="108580" name="Line 16"/>
            <p:cNvSpPr/>
            <p:nvPr/>
          </p:nvSpPr>
          <p:spPr>
            <a:xfrm>
              <a:off x="2442" y="1624"/>
              <a:ext cx="0" cy="417"/>
            </a:xfrm>
            <a:prstGeom prst="line">
              <a:avLst/>
            </a:prstGeom>
            <a:ln w="28575" cap="flat" cmpd="sng">
              <a:solidFill>
                <a:srgbClr val="0000FF"/>
              </a:solidFill>
              <a:prstDash val="solid"/>
              <a:headEnd type="none" w="med" len="med"/>
              <a:tailEnd type="stealth" w="med" len="lg"/>
            </a:ln>
          </p:spPr>
        </p:sp>
        <p:sp>
          <p:nvSpPr>
            <p:cNvPr id="108581" name="Line 17"/>
            <p:cNvSpPr/>
            <p:nvPr/>
          </p:nvSpPr>
          <p:spPr>
            <a:xfrm>
              <a:off x="2517" y="2115"/>
              <a:ext cx="681" cy="0"/>
            </a:xfrm>
            <a:prstGeom prst="line">
              <a:avLst/>
            </a:prstGeom>
            <a:ln w="28575" cap="flat" cmpd="sng">
              <a:solidFill>
                <a:srgbClr val="0000FF"/>
              </a:solidFill>
              <a:prstDash val="solid"/>
              <a:headEnd type="stealth" w="med" len="lg"/>
              <a:tailEnd type="none" w="med" len="med"/>
            </a:ln>
          </p:spPr>
        </p:sp>
        <p:sp>
          <p:nvSpPr>
            <p:cNvPr id="108582" name="Line 18"/>
            <p:cNvSpPr/>
            <p:nvPr/>
          </p:nvSpPr>
          <p:spPr>
            <a:xfrm>
              <a:off x="2191" y="3016"/>
              <a:ext cx="251" cy="0"/>
            </a:xfrm>
            <a:prstGeom prst="line">
              <a:avLst/>
            </a:prstGeom>
            <a:ln w="28575" cap="flat" cmpd="sng">
              <a:solidFill>
                <a:srgbClr val="0000FF"/>
              </a:solidFill>
              <a:prstDash val="solid"/>
              <a:headEnd type="stealth" w="med" len="lg"/>
              <a:tailEnd type="none" w="med" len="med"/>
            </a:ln>
          </p:spPr>
        </p:sp>
        <p:sp>
          <p:nvSpPr>
            <p:cNvPr id="108583" name="Line 19"/>
            <p:cNvSpPr/>
            <p:nvPr/>
          </p:nvSpPr>
          <p:spPr>
            <a:xfrm>
              <a:off x="2442" y="2181"/>
              <a:ext cx="0" cy="835"/>
            </a:xfrm>
            <a:prstGeom prst="line">
              <a:avLst/>
            </a:prstGeom>
            <a:ln w="28575" cap="flat" cmpd="sng">
              <a:solidFill>
                <a:srgbClr val="0000FF"/>
              </a:solidFill>
              <a:prstDash val="solid"/>
              <a:headEnd type="none" w="med" len="med"/>
              <a:tailEnd type="none" w="med" len="med"/>
            </a:ln>
          </p:spPr>
        </p:sp>
        <p:sp>
          <p:nvSpPr>
            <p:cNvPr id="108584" name="Oval 40"/>
            <p:cNvSpPr/>
            <p:nvPr/>
          </p:nvSpPr>
          <p:spPr>
            <a:xfrm>
              <a:off x="2354" y="2033"/>
              <a:ext cx="181" cy="181"/>
            </a:xfrm>
            <a:prstGeom prst="ellipse">
              <a:avLst/>
            </a:prstGeom>
            <a:solidFill>
              <a:schemeClr val="accent1"/>
            </a:solidFill>
            <a:ln w="28575" cap="flat" cmpd="sng">
              <a:solidFill>
                <a:srgbClr val="0000FF"/>
              </a:solidFill>
              <a:prstDash val="solid"/>
              <a:miter/>
              <a:headEnd type="none" w="med" len="med"/>
              <a:tailEnd type="none" w="med" len="med"/>
            </a:ln>
          </p:spPr>
          <p:txBody>
            <a:bodyPr wrap="none" tIns="7200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dirty="0">
                  <a:solidFill>
                    <a:srgbClr val="2C25B9"/>
                  </a:solidFill>
                  <a:latin typeface="楷体_GB2312" pitchFamily="49" charset="-122"/>
                  <a:ea typeface="楷体_GB2312" pitchFamily="49" charset="-122"/>
                </a:rPr>
                <a:t>+</a:t>
              </a:r>
              <a:endParaRPr lang="en-US" altLang="zh-CN" sz="2400" dirty="0">
                <a:solidFill>
                  <a:srgbClr val="2C25B9"/>
                </a:solidFill>
                <a:latin typeface="楷体_GB2312" pitchFamily="49" charset="-122"/>
                <a:ea typeface="楷体_GB2312" pitchFamily="49" charset="-122"/>
              </a:endParaRPr>
            </a:p>
          </p:txBody>
        </p:sp>
        <p:sp>
          <p:nvSpPr>
            <p:cNvPr id="108585" name="Line 42"/>
            <p:cNvSpPr/>
            <p:nvPr/>
          </p:nvSpPr>
          <p:spPr>
            <a:xfrm>
              <a:off x="3198" y="1616"/>
              <a:ext cx="0" cy="499"/>
            </a:xfrm>
            <a:prstGeom prst="line">
              <a:avLst/>
            </a:prstGeom>
            <a:ln w="28575" cap="flat" cmpd="sng">
              <a:solidFill>
                <a:srgbClr val="0000FF"/>
              </a:solidFill>
              <a:prstDash val="solid"/>
              <a:miter/>
              <a:headEnd type="none" w="med" len="med"/>
              <a:tailEnd type="none" w="med" len="med"/>
            </a:ln>
          </p:spPr>
        </p:sp>
        <p:sp>
          <p:nvSpPr>
            <p:cNvPr id="108586" name="Rectangle 50"/>
            <p:cNvSpPr/>
            <p:nvPr/>
          </p:nvSpPr>
          <p:spPr>
            <a:xfrm>
              <a:off x="2176" y="2688"/>
              <a:ext cx="288" cy="230"/>
            </a:xfrm>
            <a:prstGeom prst="rect">
              <a:avLst/>
            </a:prstGeom>
            <a:noFill/>
            <a:ln w="9525">
              <a:noFill/>
            </a:ln>
          </p:spPr>
          <p:txBody>
            <a:bodyPr lIns="0" tIns="0" rIns="0" bIns="0"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ea typeface="楷体_GB2312" pitchFamily="49" charset="-122"/>
                </a:rPr>
                <a:t> </a:t>
              </a:r>
              <a:r>
                <a:rPr lang="en-US" altLang="zh-CN" sz="2400" b="1" dirty="0">
                  <a:solidFill>
                    <a:srgbClr val="9900CC"/>
                  </a:solidFill>
                  <a:ea typeface="楷体_GB2312" pitchFamily="49" charset="-122"/>
                </a:rPr>
                <a:t>② </a:t>
              </a:r>
              <a:endParaRPr lang="en-US" altLang="zh-CN" sz="2400" dirty="0">
                <a:ea typeface="楷体_GB2312" pitchFamily="49" charset="-122"/>
              </a:endParaRPr>
            </a:p>
          </p:txBody>
        </p:sp>
      </p:grpSp>
      <p:grpSp>
        <p:nvGrpSpPr>
          <p:cNvPr id="562236" name="Group 60"/>
          <p:cNvGrpSpPr/>
          <p:nvPr/>
        </p:nvGrpSpPr>
        <p:grpSpPr>
          <a:xfrm>
            <a:off x="4716463" y="1701800"/>
            <a:ext cx="3906837" cy="1346200"/>
            <a:chOff x="2976" y="1072"/>
            <a:chExt cx="2456" cy="848"/>
          </a:xfrm>
        </p:grpSpPr>
        <p:grpSp>
          <p:nvGrpSpPr>
            <p:cNvPr id="108571" name="Group 59"/>
            <p:cNvGrpSpPr/>
            <p:nvPr/>
          </p:nvGrpSpPr>
          <p:grpSpPr>
            <a:xfrm>
              <a:off x="3007" y="1072"/>
              <a:ext cx="2425" cy="848"/>
              <a:chOff x="3007" y="1072"/>
              <a:chExt cx="2425" cy="848"/>
            </a:xfrm>
          </p:grpSpPr>
          <p:sp>
            <p:nvSpPr>
              <p:cNvPr id="108573" name="Rectangle 4"/>
              <p:cNvSpPr/>
              <p:nvPr/>
            </p:nvSpPr>
            <p:spPr>
              <a:xfrm>
                <a:off x="3384" y="1345"/>
                <a:ext cx="564" cy="279"/>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600" b="1" dirty="0">
                    <a:solidFill>
                      <a:srgbClr val="990033"/>
                    </a:solidFill>
                    <a:ea typeface="楷体_GB2312" pitchFamily="49" charset="-122"/>
                  </a:rPr>
                  <a:t>W (292)</a:t>
                </a:r>
                <a:endParaRPr lang="en-US" altLang="zh-CN" sz="1600" b="1" dirty="0">
                  <a:solidFill>
                    <a:srgbClr val="990033"/>
                  </a:solidFill>
                  <a:ea typeface="楷体_GB2312" pitchFamily="49" charset="-122"/>
                </a:endParaRPr>
              </a:p>
            </p:txBody>
          </p:sp>
          <p:sp>
            <p:nvSpPr>
              <p:cNvPr id="108574" name="Rectangle 5"/>
              <p:cNvSpPr/>
              <p:nvPr/>
            </p:nvSpPr>
            <p:spPr>
              <a:xfrm>
                <a:off x="3007" y="1345"/>
                <a:ext cx="377" cy="279"/>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108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600" b="1" dirty="0">
                    <a:solidFill>
                      <a:srgbClr val="990033"/>
                    </a:solidFill>
                    <a:ea typeface="楷体_GB2312" pitchFamily="49" charset="-122"/>
                  </a:rPr>
                  <a:t>S(2</a:t>
                </a:r>
                <a:r>
                  <a:rPr lang="zh-CN" altLang="en-US" sz="1600" b="1" dirty="0">
                    <a:solidFill>
                      <a:srgbClr val="990033"/>
                    </a:solidFill>
                    <a:ea typeface="楷体_GB2312" pitchFamily="49" charset="-122"/>
                  </a:rPr>
                  <a:t>）</a:t>
                </a:r>
                <a:endParaRPr lang="zh-CN" altLang="en-US" sz="1600" b="1" dirty="0">
                  <a:solidFill>
                    <a:srgbClr val="990033"/>
                  </a:solidFill>
                  <a:ea typeface="楷体_GB2312" pitchFamily="49" charset="-122"/>
                </a:endParaRPr>
              </a:p>
            </p:txBody>
          </p:sp>
          <p:sp>
            <p:nvSpPr>
              <p:cNvPr id="108575" name="Line 27"/>
              <p:cNvSpPr/>
              <p:nvPr/>
            </p:nvSpPr>
            <p:spPr>
              <a:xfrm>
                <a:off x="5283" y="1902"/>
                <a:ext cx="126" cy="0"/>
              </a:xfrm>
              <a:prstGeom prst="line">
                <a:avLst/>
              </a:prstGeom>
              <a:ln w="28575" cap="flat" cmpd="sng">
                <a:solidFill>
                  <a:srgbClr val="0000FF"/>
                </a:solidFill>
                <a:prstDash val="solid"/>
                <a:headEnd type="none" w="med" len="med"/>
                <a:tailEnd type="none" w="med" len="med"/>
              </a:ln>
            </p:spPr>
          </p:sp>
          <p:sp>
            <p:nvSpPr>
              <p:cNvPr id="108576" name="Line 28"/>
              <p:cNvSpPr/>
              <p:nvPr/>
            </p:nvSpPr>
            <p:spPr>
              <a:xfrm>
                <a:off x="3384" y="1087"/>
                <a:ext cx="0" cy="279"/>
              </a:xfrm>
              <a:prstGeom prst="line">
                <a:avLst/>
              </a:prstGeom>
              <a:ln w="28575" cap="flat" cmpd="sng">
                <a:solidFill>
                  <a:srgbClr val="0000FF"/>
                </a:solidFill>
                <a:prstDash val="solid"/>
                <a:headEnd type="none" w="med" len="med"/>
                <a:tailEnd type="stealth" w="med" len="lg"/>
              </a:ln>
            </p:spPr>
          </p:sp>
          <p:sp>
            <p:nvSpPr>
              <p:cNvPr id="108577" name="Line 29"/>
              <p:cNvSpPr/>
              <p:nvPr/>
            </p:nvSpPr>
            <p:spPr>
              <a:xfrm>
                <a:off x="3368" y="1072"/>
                <a:ext cx="2064" cy="0"/>
              </a:xfrm>
              <a:prstGeom prst="line">
                <a:avLst/>
              </a:prstGeom>
              <a:ln w="28575" cap="flat" cmpd="sng">
                <a:solidFill>
                  <a:srgbClr val="0000FF"/>
                </a:solidFill>
                <a:prstDash val="solid"/>
                <a:headEnd type="none" w="med" len="med"/>
                <a:tailEnd type="none" w="med" len="med"/>
              </a:ln>
            </p:spPr>
          </p:sp>
          <p:sp>
            <p:nvSpPr>
              <p:cNvPr id="108578" name="Line 30"/>
              <p:cNvSpPr/>
              <p:nvPr/>
            </p:nvSpPr>
            <p:spPr>
              <a:xfrm flipV="1">
                <a:off x="5417" y="1079"/>
                <a:ext cx="0" cy="835"/>
              </a:xfrm>
              <a:prstGeom prst="line">
                <a:avLst/>
              </a:prstGeom>
              <a:ln w="28575" cap="flat" cmpd="sng">
                <a:solidFill>
                  <a:srgbClr val="0000FF"/>
                </a:solidFill>
                <a:prstDash val="solid"/>
                <a:headEnd type="none" w="med" len="med"/>
                <a:tailEnd type="none" w="med" len="med"/>
              </a:ln>
            </p:spPr>
          </p:sp>
          <p:sp>
            <p:nvSpPr>
              <p:cNvPr id="108579" name="Rectangle 49"/>
              <p:cNvSpPr/>
              <p:nvPr/>
            </p:nvSpPr>
            <p:spPr>
              <a:xfrm>
                <a:off x="3278" y="1690"/>
                <a:ext cx="258" cy="230"/>
              </a:xfrm>
              <a:prstGeom prst="rect">
                <a:avLst/>
              </a:prstGeom>
              <a:noFill/>
              <a:ln w="9525">
                <a:noFill/>
              </a:ln>
            </p:spPr>
            <p:txBody>
              <a:bodyPr lIns="0" tIns="0" rIns="0" bIns="0"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ea typeface="楷体_GB2312" pitchFamily="49" charset="-122"/>
                  </a:rPr>
                  <a:t>①</a:t>
                </a:r>
                <a:r>
                  <a:rPr lang="en-US" altLang="zh-CN" sz="2400" b="1" dirty="0">
                    <a:solidFill>
                      <a:srgbClr val="000099"/>
                    </a:solidFill>
                    <a:ea typeface="楷体_GB2312" pitchFamily="49" charset="-122"/>
                  </a:rPr>
                  <a:t> </a:t>
                </a:r>
                <a:r>
                  <a:rPr lang="en-US" altLang="zh-CN" sz="1800" dirty="0">
                    <a:ea typeface="楷体_GB2312" pitchFamily="49" charset="-122"/>
                  </a:rPr>
                  <a:t> </a:t>
                </a:r>
                <a:endParaRPr lang="en-US" altLang="zh-CN" sz="1800" dirty="0">
                  <a:ea typeface="楷体_GB2312" pitchFamily="49" charset="-122"/>
                </a:endParaRPr>
              </a:p>
            </p:txBody>
          </p:sp>
        </p:grpSp>
        <p:sp>
          <p:nvSpPr>
            <p:cNvPr id="108572" name="Rectangle 53"/>
            <p:cNvSpPr/>
            <p:nvPr/>
          </p:nvSpPr>
          <p:spPr>
            <a:xfrm>
              <a:off x="2976" y="1144"/>
              <a:ext cx="768" cy="192"/>
            </a:xfrm>
            <a:prstGeom prst="rect">
              <a:avLst/>
            </a:prstGeom>
            <a:noFill/>
            <a:ln w="9525">
              <a:noFill/>
            </a:ln>
          </p:spPr>
          <p:txBody>
            <a:bodyPr lIns="0" tIns="0" rIns="0" bIns="0"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133350" algn="l"/>
                </a:tabLst>
              </a:pPr>
              <a:r>
                <a:rPr lang="en-US" altLang="zh-CN" sz="1800" b="1" dirty="0">
                  <a:solidFill>
                    <a:srgbClr val="000099"/>
                  </a:solidFill>
                  <a:ea typeface="楷体_GB2312" pitchFamily="49" charset="-122"/>
                </a:rPr>
                <a:t> </a:t>
              </a:r>
              <a:r>
                <a:rPr lang="zh-CN" altLang="en-US" sz="2000" b="1" dirty="0">
                  <a:solidFill>
                    <a:srgbClr val="000099"/>
                  </a:solidFill>
                  <a:ea typeface="楷体_GB2312" pitchFamily="49" charset="-122"/>
                </a:rPr>
                <a:t>逻辑  地址</a:t>
              </a:r>
              <a:endParaRPr lang="zh-CN" altLang="en-US" sz="2000" b="1" dirty="0">
                <a:solidFill>
                  <a:srgbClr val="000099"/>
                </a:solidFill>
                <a:ea typeface="楷体_GB2312" pitchFamily="49" charset="-122"/>
              </a:endParaRPr>
            </a:p>
          </p:txBody>
        </p:sp>
      </p:grpSp>
      <p:grpSp>
        <p:nvGrpSpPr>
          <p:cNvPr id="562232" name="Group 56"/>
          <p:cNvGrpSpPr/>
          <p:nvPr/>
        </p:nvGrpSpPr>
        <p:grpSpPr>
          <a:xfrm>
            <a:off x="6032500" y="2382838"/>
            <a:ext cx="2362200" cy="3298825"/>
            <a:chOff x="3840" y="1485"/>
            <a:chExt cx="1363" cy="2096"/>
          </a:xfrm>
        </p:grpSpPr>
        <p:sp>
          <p:nvSpPr>
            <p:cNvPr id="108564" name="Rectangle 20"/>
            <p:cNvSpPr/>
            <p:nvPr/>
          </p:nvSpPr>
          <p:spPr>
            <a:xfrm>
              <a:off x="4262" y="1485"/>
              <a:ext cx="941" cy="278"/>
            </a:xfrm>
            <a:prstGeom prst="rect">
              <a:avLst/>
            </a:prstGeom>
            <a:solidFill>
              <a:srgbClr val="FFFFFF"/>
            </a:solidFill>
            <a:ln w="28575" cap="flat" cmpd="sng">
              <a:solidFill>
                <a:srgbClr val="0000FF"/>
              </a:solidFill>
              <a:prstDash val="solid"/>
              <a:miter/>
              <a:headEnd type="none" w="med" len="med"/>
              <a:tailEnd type="none" w="med" len="med"/>
            </a:ln>
          </p:spPr>
          <p:txBody>
            <a:bodyPr tIns="720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08565" name="Rectangle 21"/>
            <p:cNvSpPr/>
            <p:nvPr/>
          </p:nvSpPr>
          <p:spPr>
            <a:xfrm>
              <a:off x="4262" y="1763"/>
              <a:ext cx="941" cy="278"/>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400" b="1" dirty="0">
                  <a:solidFill>
                    <a:srgbClr val="990033"/>
                  </a:solidFill>
                  <a:ea typeface="楷体_GB2312" pitchFamily="49" charset="-122"/>
                </a:rPr>
                <a:t>  </a:t>
              </a:r>
              <a:r>
                <a:rPr lang="en-US" altLang="zh-CN" sz="1600" b="1" dirty="0">
                  <a:solidFill>
                    <a:srgbClr val="990033"/>
                  </a:solidFill>
                  <a:ea typeface="楷体_GB2312" pitchFamily="49" charset="-122"/>
                </a:rPr>
                <a:t>LOAD 1</a:t>
              </a:r>
              <a:r>
                <a:rPr lang="zh-CN" altLang="en-US" sz="1600" b="1" dirty="0">
                  <a:solidFill>
                    <a:srgbClr val="990033"/>
                  </a:solidFill>
                  <a:ea typeface="楷体_GB2312" pitchFamily="49" charset="-122"/>
                </a:rPr>
                <a:t>，</a:t>
              </a:r>
              <a:r>
                <a:rPr lang="en-US" altLang="zh-CN" sz="1600" b="1" dirty="0">
                  <a:solidFill>
                    <a:srgbClr val="990033"/>
                  </a:solidFill>
                  <a:ea typeface="楷体_GB2312" pitchFamily="49" charset="-122"/>
                </a:rPr>
                <a:t>2|292</a:t>
              </a:r>
              <a:endParaRPr lang="en-US" altLang="zh-CN" sz="1600" b="1" dirty="0">
                <a:solidFill>
                  <a:srgbClr val="990033"/>
                </a:solidFill>
                <a:ea typeface="楷体_GB2312" pitchFamily="49" charset="-122"/>
              </a:endParaRPr>
            </a:p>
          </p:txBody>
        </p:sp>
        <p:sp>
          <p:nvSpPr>
            <p:cNvPr id="108566" name="Rectangle 22"/>
            <p:cNvSpPr/>
            <p:nvPr/>
          </p:nvSpPr>
          <p:spPr>
            <a:xfrm>
              <a:off x="4262" y="2041"/>
              <a:ext cx="941" cy="511"/>
            </a:xfrm>
            <a:prstGeom prst="rect">
              <a:avLst/>
            </a:prstGeom>
            <a:solidFill>
              <a:srgbClr val="FFFFFF"/>
            </a:solidFill>
            <a:ln w="28575" cap="flat" cmpd="sng">
              <a:solidFill>
                <a:srgbClr val="0000FF"/>
              </a:solidFill>
              <a:prstDash val="solid"/>
              <a:miter/>
              <a:headEnd type="none" w="med" len="med"/>
              <a:tailEnd type="none" w="med" len="med"/>
            </a:ln>
          </p:spPr>
          <p:txBody>
            <a:bodyPr tIns="720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1000" dirty="0"/>
            </a:p>
            <a:p>
              <a:pPr marL="0" lvl="0" indent="0" algn="just" eaLnBrk="1" hangingPunct="1">
                <a:spcBef>
                  <a:spcPct val="0"/>
                </a:spcBef>
                <a:buClrTx/>
                <a:buSzTx/>
                <a:buFontTx/>
                <a:buNone/>
              </a:pPr>
              <a:r>
                <a:rPr lang="en-US" altLang="zh-CN" sz="1000" dirty="0"/>
                <a:t>                </a:t>
              </a:r>
              <a:r>
                <a:rPr lang="en-US" altLang="zh-CN" sz="1800" b="1" dirty="0">
                  <a:solidFill>
                    <a:srgbClr val="990033"/>
                  </a:solidFill>
                  <a:latin typeface="楷体_GB2312" pitchFamily="49" charset="-122"/>
                  <a:ea typeface="楷体_GB2312" pitchFamily="49" charset="-122"/>
                </a:rPr>
                <a:t>┇</a:t>
              </a:r>
              <a:endParaRPr lang="en-US" altLang="zh-CN" sz="1800" b="1" dirty="0">
                <a:solidFill>
                  <a:srgbClr val="990033"/>
                </a:solidFill>
                <a:latin typeface="楷体_GB2312" pitchFamily="49" charset="-122"/>
                <a:ea typeface="楷体_GB2312" pitchFamily="49" charset="-122"/>
              </a:endParaRPr>
            </a:p>
          </p:txBody>
        </p:sp>
        <p:sp>
          <p:nvSpPr>
            <p:cNvPr id="108567" name="Rectangle 23"/>
            <p:cNvSpPr/>
            <p:nvPr/>
          </p:nvSpPr>
          <p:spPr>
            <a:xfrm>
              <a:off x="4262" y="2552"/>
              <a:ext cx="941" cy="279"/>
            </a:xfrm>
            <a:prstGeom prst="rect">
              <a:avLst/>
            </a:prstGeom>
            <a:solidFill>
              <a:srgbClr val="FFFFFF"/>
            </a:solidFill>
            <a:ln w="28575" cap="flat" cmpd="sng">
              <a:solidFill>
                <a:srgbClr val="0000FF"/>
              </a:solidFill>
              <a:prstDash val="solid"/>
              <a:miter/>
              <a:headEnd type="none" w="med" len="med"/>
              <a:tailEnd type="none" w="med" len="med"/>
            </a:ln>
          </p:spPr>
          <p:txBody>
            <a:bodyPr lIns="18000" tIns="72000" rIns="1800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1600" b="1" dirty="0">
                  <a:solidFill>
                    <a:srgbClr val="990033"/>
                  </a:solidFill>
                  <a:ea typeface="楷体_GB2312" pitchFamily="49" charset="-122"/>
                </a:rPr>
                <a:t>Data</a:t>
              </a:r>
              <a:endParaRPr lang="en-US" altLang="zh-CN" sz="1600" b="1" dirty="0">
                <a:solidFill>
                  <a:srgbClr val="990033"/>
                </a:solidFill>
                <a:ea typeface="楷体_GB2312" pitchFamily="49" charset="-122"/>
              </a:endParaRPr>
            </a:p>
          </p:txBody>
        </p:sp>
        <p:sp>
          <p:nvSpPr>
            <p:cNvPr id="108568" name="Rectangle 24"/>
            <p:cNvSpPr/>
            <p:nvPr/>
          </p:nvSpPr>
          <p:spPr>
            <a:xfrm>
              <a:off x="4262" y="2831"/>
              <a:ext cx="941" cy="463"/>
            </a:xfrm>
            <a:prstGeom prst="rect">
              <a:avLst/>
            </a:prstGeom>
            <a:solidFill>
              <a:srgbClr val="FFFFFF"/>
            </a:solidFill>
            <a:ln w="28575" cap="flat" cmpd="sng">
              <a:solidFill>
                <a:srgbClr val="0000FF"/>
              </a:solidFill>
              <a:prstDash val="solid"/>
              <a:miter/>
              <a:headEnd type="none" w="med" len="med"/>
              <a:tailEnd type="none" w="med" len="med"/>
            </a:ln>
          </p:spPr>
          <p:txBody>
            <a:bodyPr tIns="7200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08569" name="Rectangle 52"/>
            <p:cNvSpPr/>
            <p:nvPr/>
          </p:nvSpPr>
          <p:spPr>
            <a:xfrm>
              <a:off x="4422" y="3329"/>
              <a:ext cx="511" cy="252"/>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99"/>
                  </a:solidFill>
                  <a:ea typeface="楷体_GB2312" pitchFamily="49" charset="-122"/>
                </a:rPr>
                <a:t>主   存</a:t>
              </a:r>
              <a:endParaRPr lang="zh-CN" altLang="en-US" sz="2000" b="1" dirty="0">
                <a:solidFill>
                  <a:srgbClr val="000099"/>
                </a:solidFill>
                <a:ea typeface="楷体_GB2312" pitchFamily="49" charset="-122"/>
              </a:endParaRPr>
            </a:p>
          </p:txBody>
        </p:sp>
        <p:sp>
          <p:nvSpPr>
            <p:cNvPr id="108570" name="Rectangle 55"/>
            <p:cNvSpPr/>
            <p:nvPr/>
          </p:nvSpPr>
          <p:spPr>
            <a:xfrm>
              <a:off x="3840" y="1776"/>
              <a:ext cx="432" cy="231"/>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000099"/>
                  </a:solidFill>
                  <a:ea typeface="楷体_GB2312" pitchFamily="49" charset="-122"/>
                </a:rPr>
                <a:t>4128</a:t>
              </a:r>
              <a:r>
                <a:rPr lang="en-US" altLang="zh-CN" sz="1800" dirty="0">
                  <a:ea typeface="楷体_GB2312" pitchFamily="49" charset="-122"/>
                </a:rPr>
                <a:t> </a:t>
              </a:r>
              <a:endParaRPr lang="en-US" altLang="zh-CN" sz="1800" dirty="0">
                <a:ea typeface="楷体_GB2312" pitchFamily="49" charset="-122"/>
              </a:endParaRPr>
            </a:p>
          </p:txBody>
        </p:sp>
      </p:grpSp>
      <p:grpSp>
        <p:nvGrpSpPr>
          <p:cNvPr id="562239" name="Group 63"/>
          <p:cNvGrpSpPr/>
          <p:nvPr/>
        </p:nvGrpSpPr>
        <p:grpSpPr>
          <a:xfrm>
            <a:off x="3478213" y="2587625"/>
            <a:ext cx="3287712" cy="2447925"/>
            <a:chOff x="2191" y="1630"/>
            <a:chExt cx="2071" cy="1542"/>
          </a:xfrm>
        </p:grpSpPr>
        <p:sp>
          <p:nvSpPr>
            <p:cNvPr id="108554" name="Rectangle 51"/>
            <p:cNvSpPr/>
            <p:nvPr/>
          </p:nvSpPr>
          <p:spPr>
            <a:xfrm>
              <a:off x="3264" y="2544"/>
              <a:ext cx="988" cy="230"/>
            </a:xfrm>
            <a:prstGeom prst="rect">
              <a:avLst/>
            </a:prstGeom>
            <a:noFill/>
            <a:ln w="9525">
              <a:noFill/>
            </a:ln>
          </p:spPr>
          <p:txBody>
            <a:bodyPr lIns="0" tIns="0" rIns="0" bIns="0"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b="1" dirty="0">
                  <a:solidFill>
                    <a:srgbClr val="000099"/>
                  </a:solidFill>
                  <a:ea typeface="楷体_GB2312" pitchFamily="49" charset="-122"/>
                </a:rPr>
                <a:t>物理地址  </a:t>
              </a:r>
              <a:r>
                <a:rPr lang="en-US" altLang="zh-CN" sz="1800" b="1" dirty="0">
                  <a:solidFill>
                    <a:srgbClr val="000099"/>
                  </a:solidFill>
                  <a:ea typeface="楷体_GB2312" pitchFamily="49" charset="-122"/>
                </a:rPr>
                <a:t>8292</a:t>
              </a:r>
              <a:r>
                <a:rPr lang="en-US" altLang="zh-CN" sz="2400" dirty="0">
                  <a:ea typeface="楷体_GB2312" pitchFamily="49" charset="-122"/>
                </a:rPr>
                <a:t> </a:t>
              </a:r>
              <a:endParaRPr lang="en-US" altLang="zh-CN" sz="2400" dirty="0">
                <a:ea typeface="楷体_GB2312" pitchFamily="49" charset="-122"/>
              </a:endParaRPr>
            </a:p>
          </p:txBody>
        </p:sp>
        <p:grpSp>
          <p:nvGrpSpPr>
            <p:cNvPr id="108555" name="Group 62"/>
            <p:cNvGrpSpPr/>
            <p:nvPr/>
          </p:nvGrpSpPr>
          <p:grpSpPr>
            <a:xfrm>
              <a:off x="2191" y="1630"/>
              <a:ext cx="2071" cy="1542"/>
              <a:chOff x="2191" y="1630"/>
              <a:chExt cx="2071" cy="1542"/>
            </a:xfrm>
          </p:grpSpPr>
          <p:sp>
            <p:nvSpPr>
              <p:cNvPr id="108556" name="Line 25"/>
              <p:cNvSpPr/>
              <p:nvPr/>
            </p:nvSpPr>
            <p:spPr>
              <a:xfrm>
                <a:off x="2191" y="3169"/>
                <a:ext cx="565" cy="0"/>
              </a:xfrm>
              <a:prstGeom prst="line">
                <a:avLst/>
              </a:prstGeom>
              <a:ln w="28575" cap="flat" cmpd="sng">
                <a:solidFill>
                  <a:srgbClr val="0000FF"/>
                </a:solidFill>
                <a:prstDash val="solid"/>
                <a:headEnd type="none" w="med" len="med"/>
                <a:tailEnd type="none" w="med" len="med"/>
              </a:ln>
            </p:spPr>
          </p:sp>
          <p:sp>
            <p:nvSpPr>
              <p:cNvPr id="108557" name="Line 26"/>
              <p:cNvSpPr/>
              <p:nvPr/>
            </p:nvSpPr>
            <p:spPr>
              <a:xfrm>
                <a:off x="2758" y="2367"/>
                <a:ext cx="0" cy="805"/>
              </a:xfrm>
              <a:prstGeom prst="line">
                <a:avLst/>
              </a:prstGeom>
              <a:ln w="28575" cap="flat" cmpd="sng">
                <a:solidFill>
                  <a:srgbClr val="0000FF"/>
                </a:solidFill>
                <a:prstDash val="solid"/>
                <a:headEnd type="none" w="med" len="med"/>
                <a:tailEnd type="none" w="med" len="med"/>
              </a:ln>
            </p:spPr>
          </p:sp>
          <p:sp>
            <p:nvSpPr>
              <p:cNvPr id="108558" name="Line 35"/>
              <p:cNvSpPr/>
              <p:nvPr/>
            </p:nvSpPr>
            <p:spPr>
              <a:xfrm>
                <a:off x="2758" y="2367"/>
                <a:ext cx="694" cy="0"/>
              </a:xfrm>
              <a:prstGeom prst="line">
                <a:avLst/>
              </a:prstGeom>
              <a:ln w="28575" cap="flat" cmpd="sng">
                <a:solidFill>
                  <a:srgbClr val="0000FF"/>
                </a:solidFill>
                <a:prstDash val="solid"/>
                <a:headEnd type="none" w="sm" len="lg"/>
                <a:tailEnd type="stealth" w="med" len="lg"/>
              </a:ln>
            </p:spPr>
          </p:sp>
          <p:sp>
            <p:nvSpPr>
              <p:cNvPr id="108559" name="Line 36"/>
              <p:cNvSpPr/>
              <p:nvPr/>
            </p:nvSpPr>
            <p:spPr>
              <a:xfrm>
                <a:off x="3572" y="2552"/>
                <a:ext cx="690" cy="0"/>
              </a:xfrm>
              <a:prstGeom prst="line">
                <a:avLst/>
              </a:prstGeom>
              <a:ln w="28575" cap="flat" cmpd="sng">
                <a:solidFill>
                  <a:srgbClr val="0000FF"/>
                </a:solidFill>
                <a:prstDash val="solid"/>
                <a:headEnd type="none" w="med" len="med"/>
                <a:tailEnd type="stealth" w="med" len="lg"/>
              </a:ln>
            </p:spPr>
          </p:sp>
          <p:sp>
            <p:nvSpPr>
              <p:cNvPr id="108560" name="Line 37"/>
              <p:cNvSpPr/>
              <p:nvPr/>
            </p:nvSpPr>
            <p:spPr>
              <a:xfrm>
                <a:off x="3572" y="2447"/>
                <a:ext cx="0" cy="108"/>
              </a:xfrm>
              <a:prstGeom prst="line">
                <a:avLst/>
              </a:prstGeom>
              <a:ln w="28575" cap="flat" cmpd="sng">
                <a:solidFill>
                  <a:srgbClr val="0000FF"/>
                </a:solidFill>
                <a:prstDash val="solid"/>
                <a:headEnd type="none" w="med" len="med"/>
                <a:tailEnd type="none" w="med" len="med"/>
              </a:ln>
            </p:spPr>
          </p:sp>
          <p:sp>
            <p:nvSpPr>
              <p:cNvPr id="108561" name="Oval 38"/>
              <p:cNvSpPr/>
              <p:nvPr/>
            </p:nvSpPr>
            <p:spPr>
              <a:xfrm>
                <a:off x="3461" y="2237"/>
                <a:ext cx="227" cy="227"/>
              </a:xfrm>
              <a:prstGeom prst="ellipse">
                <a:avLst/>
              </a:prstGeom>
              <a:solidFill>
                <a:schemeClr val="accent1"/>
              </a:solidFill>
              <a:ln w="28575" cap="flat" cmpd="sng">
                <a:solidFill>
                  <a:srgbClr val="0000FF"/>
                </a:solidFill>
                <a:prstDash val="solid"/>
                <a:miter/>
                <a:headEnd type="none" w="med" len="med"/>
                <a:tailEnd type="none" w="med" len="med"/>
              </a:ln>
            </p:spPr>
            <p:txBody>
              <a:bodyPr wrap="none" tIns="7200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2C25B9"/>
                    </a:solidFill>
                    <a:ea typeface="楷体_GB2312" pitchFamily="49" charset="-122"/>
                  </a:rPr>
                  <a:t>+</a:t>
                </a:r>
                <a:endParaRPr lang="en-US" altLang="zh-CN" sz="2400" b="1" dirty="0">
                  <a:solidFill>
                    <a:srgbClr val="2C25B9"/>
                  </a:solidFill>
                  <a:ea typeface="楷体_GB2312" pitchFamily="49" charset="-122"/>
                </a:endParaRPr>
              </a:p>
            </p:txBody>
          </p:sp>
          <p:sp>
            <p:nvSpPr>
              <p:cNvPr id="108562" name="Line 47"/>
              <p:cNvSpPr/>
              <p:nvPr/>
            </p:nvSpPr>
            <p:spPr>
              <a:xfrm>
                <a:off x="3587" y="1630"/>
                <a:ext cx="0" cy="635"/>
              </a:xfrm>
              <a:prstGeom prst="line">
                <a:avLst/>
              </a:prstGeom>
              <a:ln w="28575" cap="flat" cmpd="sng">
                <a:solidFill>
                  <a:srgbClr val="0000FF"/>
                </a:solidFill>
                <a:prstDash val="solid"/>
                <a:headEnd type="none" w="med" len="med"/>
                <a:tailEnd type="stealth" w="med" len="lg"/>
              </a:ln>
            </p:spPr>
          </p:sp>
          <p:sp>
            <p:nvSpPr>
              <p:cNvPr id="108563" name="Rectangle 58"/>
              <p:cNvSpPr/>
              <p:nvPr/>
            </p:nvSpPr>
            <p:spPr>
              <a:xfrm>
                <a:off x="3840" y="2304"/>
                <a:ext cx="241" cy="230"/>
              </a:xfrm>
              <a:prstGeom prst="rect">
                <a:avLst/>
              </a:prstGeom>
              <a:noFill/>
              <a:ln w="9525">
                <a:noFill/>
              </a:ln>
            </p:spPr>
            <p:txBody>
              <a:bodyPr wrap="none" lIns="0" tIns="0" rIns="0" bIns="0"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ea typeface="楷体_GB2312" pitchFamily="49" charset="-122"/>
                  </a:rPr>
                  <a:t>③</a:t>
                </a:r>
                <a:r>
                  <a:rPr lang="en-US" altLang="zh-CN" sz="2400" dirty="0">
                    <a:ea typeface="楷体_GB2312" pitchFamily="49" charset="-122"/>
                  </a:rPr>
                  <a:t> </a:t>
                </a:r>
                <a:endParaRPr lang="en-US" altLang="zh-CN" sz="2400" dirty="0">
                  <a:ea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62178"/>
                                        </p:tgtEl>
                                        <p:attrNameLst>
                                          <p:attrName>style.visibility</p:attrName>
                                        </p:attrNameLst>
                                      </p:cBhvr>
                                      <p:to>
                                        <p:strVal val="visible"/>
                                      </p:to>
                                    </p:set>
                                    <p:animEffect transition="in" filter="wipe(left)">
                                      <p:cBhvr>
                                        <p:cTn id="7" dur="500"/>
                                        <p:tgtEl>
                                          <p:spTgt spid="5621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62232"/>
                                        </p:tgtEl>
                                        <p:attrNameLst>
                                          <p:attrName>style.visibility</p:attrName>
                                        </p:attrNameLst>
                                      </p:cBhvr>
                                      <p:to>
                                        <p:strVal val="visible"/>
                                      </p:to>
                                    </p:set>
                                    <p:animEffect transition="in" filter="wipe(up)">
                                      <p:cBhvr>
                                        <p:cTn id="12" dur="500"/>
                                        <p:tgtEl>
                                          <p:spTgt spid="5622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62233"/>
                                        </p:tgtEl>
                                        <p:attrNameLst>
                                          <p:attrName>style.visibility</p:attrName>
                                        </p:attrNameLst>
                                      </p:cBhvr>
                                      <p:to>
                                        <p:strVal val="visible"/>
                                      </p:to>
                                    </p:set>
                                    <p:animEffect transition="in" filter="wipe(up)">
                                      <p:cBhvr>
                                        <p:cTn id="17" dur="500"/>
                                        <p:tgtEl>
                                          <p:spTgt spid="562233"/>
                                        </p:tgtEl>
                                      </p:cBhvr>
                                    </p:animEffect>
                                  </p:childTnLst>
                                </p:cTn>
                              </p:par>
                            </p:childTnLst>
                          </p:cTn>
                        </p:par>
                      </p:childTnLst>
                    </p:cTn>
                  </p:par>
                  <p:par>
                    <p:cTn id="18" fill="hold">
                      <p:stCondLst>
                        <p:cond delay="indefinite"/>
                      </p:stCondLst>
                      <p:childTnLst>
                        <p:par>
                          <p:cTn id="19" fill="hold">
                            <p:stCondLst>
                              <p:cond delay="0"/>
                            </p:stCondLst>
                            <p:childTnLst>
                              <p:par>
                                <p:cTn id="20" presetID="19" presetClass="entr" presetSubtype="10" fill="hold" nodeType="clickEffect">
                                  <p:stCondLst>
                                    <p:cond delay="0"/>
                                  </p:stCondLst>
                                  <p:childTnLst>
                                    <p:set>
                                      <p:cBhvr>
                                        <p:cTn id="21" dur="1" fill="hold">
                                          <p:stCondLst>
                                            <p:cond delay="0"/>
                                          </p:stCondLst>
                                        </p:cTn>
                                        <p:tgtEl>
                                          <p:spTgt spid="562230"/>
                                        </p:tgtEl>
                                        <p:attrNameLst>
                                          <p:attrName>style.visibility</p:attrName>
                                        </p:attrNameLst>
                                      </p:cBhvr>
                                      <p:to>
                                        <p:strVal val="visible"/>
                                      </p:to>
                                    </p:set>
                                    <p:anim calcmode="lin" valueType="num">
                                      <p:cBhvr>
                                        <p:cTn id="22" dur="5000" fill="hold"/>
                                        <p:tgtEl>
                                          <p:spTgt spid="562230"/>
                                        </p:tgtEl>
                                        <p:attrNameLst>
                                          <p:attrName>ppt_w</p:attrName>
                                        </p:attrNameLst>
                                      </p:cBhvr>
                                      <p:tavLst>
                                        <p:tav tm="0" fmla="#ppt_w*sin(2.5*pi*$)">
                                          <p:val>
                                            <p:fltVal val="0.000000"/>
                                          </p:val>
                                        </p:tav>
                                        <p:tav tm="100000">
                                          <p:val>
                                            <p:fltVal val="1.000000"/>
                                          </p:val>
                                        </p:tav>
                                      </p:tavLst>
                                    </p:anim>
                                    <p:anim calcmode="lin" valueType="num">
                                      <p:cBhvr>
                                        <p:cTn id="23" dur="5000" fill="hold"/>
                                        <p:tgtEl>
                                          <p:spTgt spid="562230"/>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8" presetClass="entr" presetSubtype="9" fill="hold" nodeType="clickEffect">
                                  <p:stCondLst>
                                    <p:cond delay="0"/>
                                  </p:stCondLst>
                                  <p:childTnLst>
                                    <p:set>
                                      <p:cBhvr>
                                        <p:cTn id="27" dur="1" fill="hold">
                                          <p:stCondLst>
                                            <p:cond delay="0"/>
                                          </p:stCondLst>
                                        </p:cTn>
                                        <p:tgtEl>
                                          <p:spTgt spid="562236"/>
                                        </p:tgtEl>
                                        <p:attrNameLst>
                                          <p:attrName>style.visibility</p:attrName>
                                        </p:attrNameLst>
                                      </p:cBhvr>
                                      <p:to>
                                        <p:strVal val="visible"/>
                                      </p:to>
                                    </p:set>
                                    <p:animEffect transition="in" filter="strips(upLeft)">
                                      <p:cBhvr>
                                        <p:cTn id="28" dur="500"/>
                                        <p:tgtEl>
                                          <p:spTgt spid="562236"/>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12" fill="hold" nodeType="clickEffect">
                                  <p:stCondLst>
                                    <p:cond delay="0"/>
                                  </p:stCondLst>
                                  <p:childTnLst>
                                    <p:set>
                                      <p:cBhvr>
                                        <p:cTn id="32" dur="1" fill="hold">
                                          <p:stCondLst>
                                            <p:cond delay="0"/>
                                          </p:stCondLst>
                                        </p:cTn>
                                        <p:tgtEl>
                                          <p:spTgt spid="562237"/>
                                        </p:tgtEl>
                                        <p:attrNameLst>
                                          <p:attrName>style.visibility</p:attrName>
                                        </p:attrNameLst>
                                      </p:cBhvr>
                                      <p:to>
                                        <p:strVal val="visible"/>
                                      </p:to>
                                    </p:set>
                                    <p:animEffect transition="in" filter="strips(downLeft)">
                                      <p:cBhvr>
                                        <p:cTn id="33" dur="500"/>
                                        <p:tgtEl>
                                          <p:spTgt spid="562237"/>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6" fill="hold" nodeType="clickEffect">
                                  <p:stCondLst>
                                    <p:cond delay="0"/>
                                  </p:stCondLst>
                                  <p:childTnLst>
                                    <p:set>
                                      <p:cBhvr>
                                        <p:cTn id="37" dur="1" fill="hold">
                                          <p:stCondLst>
                                            <p:cond delay="0"/>
                                          </p:stCondLst>
                                        </p:cTn>
                                        <p:tgtEl>
                                          <p:spTgt spid="562239"/>
                                        </p:tgtEl>
                                        <p:attrNameLst>
                                          <p:attrName>style.visibility</p:attrName>
                                        </p:attrNameLst>
                                      </p:cBhvr>
                                      <p:to>
                                        <p:strVal val="visible"/>
                                      </p:to>
                                    </p:set>
                                    <p:animEffect transition="in" filter="barn(inHorizontal)">
                                      <p:cBhvr>
                                        <p:cTn id="38" dur="500"/>
                                        <p:tgtEl>
                                          <p:spTgt spid="562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8" grpId="0"/>
    </p:bldLst>
  </p:timing>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957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20194" name="Rectangle 1026"/>
          <p:cNvSpPr/>
          <p:nvPr/>
        </p:nvSpPr>
        <p:spPr>
          <a:xfrm>
            <a:off x="571500" y="88900"/>
            <a:ext cx="3657600" cy="676275"/>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dirty="0">
                <a:solidFill>
                  <a:srgbClr val="000000"/>
                </a:solidFill>
                <a:ea typeface="隶书" panose="02010509060101010101" pitchFamily="49" charset="-122"/>
              </a:rPr>
              <a:t>三、段的动态连接</a:t>
            </a:r>
            <a:r>
              <a:rPr lang="zh-CN" altLang="en-US" sz="2400" dirty="0">
                <a:ea typeface="楷体_GB2312" pitchFamily="49" charset="-122"/>
              </a:rPr>
              <a:t> </a:t>
            </a:r>
            <a:endParaRPr lang="zh-CN" altLang="en-US" sz="2400" dirty="0">
              <a:ea typeface="楷体_GB2312" pitchFamily="49" charset="-122"/>
            </a:endParaRPr>
          </a:p>
        </p:txBody>
      </p:sp>
      <p:sp>
        <p:nvSpPr>
          <p:cNvPr id="520195" name="Rectangle 1027"/>
          <p:cNvSpPr/>
          <p:nvPr/>
        </p:nvSpPr>
        <p:spPr>
          <a:xfrm>
            <a:off x="609600" y="762000"/>
            <a:ext cx="7772400" cy="22828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1905000" lvl="0" indent="-1905000" eaLnBrk="1" hangingPunct="1">
              <a:lnSpc>
                <a:spcPct val="120000"/>
              </a:lnSpc>
              <a:spcBef>
                <a:spcPct val="0"/>
              </a:spcBef>
              <a:buClrTx/>
              <a:buSzTx/>
              <a:buFontTx/>
              <a:buNone/>
            </a:pPr>
            <a:r>
              <a:rPr lang="en-US" altLang="zh-CN" sz="2400" b="1" dirty="0">
                <a:solidFill>
                  <a:srgbClr val="000099"/>
                </a:solidFill>
                <a:ea typeface="楷体_GB2312" pitchFamily="49" charset="-122"/>
              </a:rPr>
              <a:t> </a:t>
            </a:r>
            <a:r>
              <a:rPr lang="en-US" altLang="zh-CN" sz="2400" b="1" dirty="0">
                <a:solidFill>
                  <a:srgbClr val="9900CC"/>
                </a:solidFill>
                <a:ea typeface="楷体_GB2312" pitchFamily="49" charset="-122"/>
              </a:rPr>
              <a:t>1. </a:t>
            </a:r>
            <a:r>
              <a:rPr lang="zh-CN" altLang="en-US" sz="2400" b="1" dirty="0">
                <a:solidFill>
                  <a:srgbClr val="9900CC"/>
                </a:solidFill>
                <a:ea typeface="楷体_GB2312" pitchFamily="49" charset="-122"/>
              </a:rPr>
              <a:t>连接装配方式</a:t>
            </a:r>
            <a:endParaRPr lang="zh-CN" altLang="en-US" sz="2400" b="1" dirty="0">
              <a:solidFill>
                <a:srgbClr val="9900CC"/>
              </a:solidFill>
              <a:ea typeface="楷体_GB2312" pitchFamily="49" charset="-122"/>
            </a:endParaRPr>
          </a:p>
          <a:p>
            <a:pPr marL="1905000" lvl="0" indent="-1905000" eaLnBrk="1" hangingPunct="1">
              <a:lnSpc>
                <a:spcPct val="120000"/>
              </a:lnSpc>
              <a:spcBef>
                <a:spcPct val="0"/>
              </a:spcBef>
              <a:buClrTx/>
              <a:buSzTx/>
              <a:buFontTx/>
              <a:buNone/>
            </a:pPr>
            <a:r>
              <a:rPr lang="en-US" altLang="zh-CN" sz="2400" b="1" dirty="0">
                <a:solidFill>
                  <a:srgbClr val="006600"/>
                </a:solidFill>
                <a:ea typeface="楷体_GB2312" pitchFamily="49" charset="-122"/>
              </a:rPr>
              <a:t>(1)</a:t>
            </a:r>
            <a:r>
              <a:rPr lang="zh-CN" altLang="en-US" sz="2400" b="1" dirty="0">
                <a:solidFill>
                  <a:srgbClr val="006600"/>
                </a:solidFill>
                <a:ea typeface="楷体_GB2312" pitchFamily="49" charset="-122"/>
              </a:rPr>
              <a:t>静态连接</a:t>
            </a:r>
            <a:r>
              <a:rPr lang="zh-CN" altLang="en-US" sz="2400" b="1" dirty="0">
                <a:solidFill>
                  <a:srgbClr val="000099"/>
                </a:solidFill>
                <a:ea typeface="楷体_GB2312" pitchFamily="49" charset="-122"/>
              </a:rPr>
              <a:t>（要求有统一编址的相对地址空间时采用。  如：分页存储管理）</a:t>
            </a:r>
            <a:endParaRPr lang="zh-CN" altLang="en-US" sz="2400" b="1" dirty="0">
              <a:solidFill>
                <a:srgbClr val="000099"/>
              </a:solidFill>
              <a:ea typeface="楷体_GB2312" pitchFamily="49" charset="-122"/>
            </a:endParaRPr>
          </a:p>
          <a:p>
            <a:pPr marL="1905000" lvl="0" indent="-1905000" eaLnBrk="1" hangingPunct="1">
              <a:lnSpc>
                <a:spcPct val="120000"/>
              </a:lnSpc>
              <a:spcBef>
                <a:spcPct val="0"/>
              </a:spcBef>
              <a:buClrTx/>
              <a:buSzTx/>
              <a:buFontTx/>
              <a:buNone/>
            </a:pPr>
            <a:r>
              <a:rPr lang="en-US" altLang="zh-CN" sz="2400" b="1" dirty="0">
                <a:solidFill>
                  <a:srgbClr val="006600"/>
                </a:solidFill>
                <a:ea typeface="楷体_GB2312" pitchFamily="49" charset="-122"/>
              </a:rPr>
              <a:t>(2)</a:t>
            </a:r>
            <a:r>
              <a:rPr lang="zh-CN" altLang="en-US" sz="2400" b="1" dirty="0">
                <a:solidFill>
                  <a:srgbClr val="006600"/>
                </a:solidFill>
                <a:ea typeface="楷体_GB2312" pitchFamily="49" charset="-122"/>
              </a:rPr>
              <a:t>动态连接</a:t>
            </a:r>
            <a:r>
              <a:rPr lang="zh-CN" altLang="en-US" sz="2400" b="1" dirty="0">
                <a:solidFill>
                  <a:srgbClr val="000099"/>
                </a:solidFill>
                <a:ea typeface="楷体_GB2312" pitchFamily="49" charset="-122"/>
              </a:rPr>
              <a:t>（不要求有统一编址的相对地址空间时采用。如：分段存储管理）</a:t>
            </a:r>
            <a:endParaRPr lang="zh-CN" altLang="en-US" sz="2400" b="1" dirty="0">
              <a:solidFill>
                <a:srgbClr val="000099"/>
              </a:solidFill>
              <a:ea typeface="楷体_GB2312" pitchFamily="49" charset="-122"/>
            </a:endParaRPr>
          </a:p>
        </p:txBody>
      </p:sp>
      <p:sp>
        <p:nvSpPr>
          <p:cNvPr id="520219" name="Rectangle 1051"/>
          <p:cNvSpPr/>
          <p:nvPr/>
        </p:nvSpPr>
        <p:spPr>
          <a:xfrm>
            <a:off x="609600" y="3048000"/>
            <a:ext cx="38100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eaLnBrk="1" hangingPunct="1">
              <a:lnSpc>
                <a:spcPct val="120000"/>
              </a:lnSpc>
              <a:spcBef>
                <a:spcPct val="0"/>
              </a:spcBef>
              <a:buClrTx/>
              <a:buSzTx/>
              <a:buFontTx/>
              <a:buNone/>
            </a:pPr>
            <a:r>
              <a:rPr lang="en-US" altLang="zh-CN" sz="2400" b="1" dirty="0">
                <a:solidFill>
                  <a:srgbClr val="9900CC"/>
                </a:solidFill>
                <a:ea typeface="楷体_GB2312" pitchFamily="49" charset="-122"/>
              </a:rPr>
              <a:t> 2. </a:t>
            </a:r>
            <a:r>
              <a:rPr lang="zh-CN" altLang="en-US" sz="2400" b="1" dirty="0">
                <a:solidFill>
                  <a:srgbClr val="9900CC"/>
                </a:solidFill>
                <a:ea typeface="楷体_GB2312" pitchFamily="49" charset="-122"/>
              </a:rPr>
              <a:t>连接间接字</a:t>
            </a:r>
            <a:endParaRPr lang="zh-CN" altLang="en-US" sz="2400" b="1" dirty="0">
              <a:solidFill>
                <a:srgbClr val="9900CC"/>
              </a:solidFill>
              <a:ea typeface="楷体_GB2312" pitchFamily="49" charset="-122"/>
            </a:endParaRPr>
          </a:p>
          <a:p>
            <a:pPr marL="342900" lvl="0" indent="-342900" eaLnBrk="1" hangingPunct="1">
              <a:lnSpc>
                <a:spcPct val="120000"/>
              </a:lnSpc>
              <a:spcBef>
                <a:spcPct val="0"/>
              </a:spcBef>
              <a:buClrTx/>
              <a:buSzTx/>
              <a:buFontTx/>
              <a:buNone/>
            </a:pPr>
            <a:r>
              <a:rPr lang="zh-CN" altLang="en-US" sz="2400" b="1" dirty="0">
                <a:solidFill>
                  <a:srgbClr val="660033"/>
                </a:solidFill>
                <a:ea typeface="楷体_GB2312" pitchFamily="49" charset="-122"/>
              </a:rPr>
              <a:t>机器指令的寻址方式</a:t>
            </a:r>
            <a:r>
              <a:rPr lang="zh-CN" altLang="en-US" sz="2400" b="1" dirty="0">
                <a:solidFill>
                  <a:srgbClr val="000099"/>
                </a:solidFill>
                <a:ea typeface="楷体_GB2312" pitchFamily="49" charset="-122"/>
              </a:rPr>
              <a:t>    </a:t>
            </a:r>
            <a:endParaRPr lang="zh-CN" altLang="en-US" sz="2400" b="1" dirty="0">
              <a:solidFill>
                <a:srgbClr val="000099"/>
              </a:solidFill>
              <a:ea typeface="楷体_GB2312" pitchFamily="49" charset="-122"/>
            </a:endParaRPr>
          </a:p>
          <a:p>
            <a:pPr marL="342900" lvl="0" indent="-342900" eaLnBrk="1" hangingPunct="1">
              <a:lnSpc>
                <a:spcPct val="120000"/>
              </a:lnSpc>
              <a:spcBef>
                <a:spcPct val="0"/>
              </a:spcBef>
              <a:buClrTx/>
              <a:buSzTx/>
              <a:buFontTx/>
              <a:buNone/>
            </a:pPr>
            <a:r>
              <a:rPr lang="en-US" altLang="zh-CN" sz="2400" b="1" dirty="0">
                <a:solidFill>
                  <a:srgbClr val="006600"/>
                </a:solidFill>
                <a:ea typeface="楷体_GB2312" pitchFamily="49" charset="-122"/>
              </a:rPr>
              <a:t>(1)</a:t>
            </a:r>
            <a:r>
              <a:rPr lang="zh-CN" altLang="en-US" sz="2400" b="1" dirty="0">
                <a:solidFill>
                  <a:srgbClr val="006600"/>
                </a:solidFill>
                <a:ea typeface="楷体_GB2312" pitchFamily="49" charset="-122"/>
              </a:rPr>
              <a:t>直接寻址        </a:t>
            </a:r>
            <a:r>
              <a:rPr lang="en-US" altLang="zh-CN" sz="2400" b="1" dirty="0">
                <a:solidFill>
                  <a:srgbClr val="000099"/>
                </a:solidFill>
                <a:ea typeface="楷体_GB2312" pitchFamily="49" charset="-122"/>
              </a:rPr>
              <a:t>ADD  400                               </a:t>
            </a:r>
            <a:endParaRPr lang="en-US" altLang="zh-CN" sz="2400" b="1" dirty="0">
              <a:solidFill>
                <a:srgbClr val="000099"/>
              </a:solidFill>
              <a:ea typeface="楷体_GB2312" pitchFamily="49" charset="-122"/>
            </a:endParaRPr>
          </a:p>
        </p:txBody>
      </p:sp>
      <p:grpSp>
        <p:nvGrpSpPr>
          <p:cNvPr id="521223" name="Group 2055"/>
          <p:cNvGrpSpPr/>
          <p:nvPr/>
        </p:nvGrpSpPr>
        <p:grpSpPr>
          <a:xfrm>
            <a:off x="5943600" y="3886200"/>
            <a:ext cx="1409700" cy="533400"/>
            <a:chOff x="3432" y="3552"/>
            <a:chExt cx="888" cy="336"/>
          </a:xfrm>
        </p:grpSpPr>
        <p:sp>
          <p:nvSpPr>
            <p:cNvPr id="109588" name="Rectangle 2053"/>
            <p:cNvSpPr/>
            <p:nvPr/>
          </p:nvSpPr>
          <p:spPr>
            <a:xfrm>
              <a:off x="3792" y="3552"/>
              <a:ext cx="528" cy="336"/>
            </a:xfrm>
            <a:prstGeom prst="rect">
              <a:avLst/>
            </a:prstGeom>
            <a:solidFill>
              <a:schemeClr val="bg1"/>
            </a:solidFill>
            <a:ln w="25400" cap="flat" cmpd="sng">
              <a:solidFill>
                <a:srgbClr val="0000FF"/>
              </a:solidFill>
              <a:prstDash val="solid"/>
              <a:miter/>
              <a:headEnd type="none" w="med" len="med"/>
              <a:tailEnd type="none" w="med" len="med"/>
            </a:ln>
          </p:spPr>
          <p:txBody>
            <a:bodyPr wrap="none" lIns="0" tIns="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ea typeface="楷体_GB2312" pitchFamily="49" charset="-122"/>
                </a:rPr>
                <a:t>1320</a:t>
              </a:r>
              <a:endParaRPr lang="en-US" altLang="zh-CN" sz="2400" b="1" dirty="0">
                <a:solidFill>
                  <a:srgbClr val="000099"/>
                </a:solidFill>
                <a:ea typeface="楷体_GB2312" pitchFamily="49" charset="-122"/>
              </a:endParaRPr>
            </a:p>
          </p:txBody>
        </p:sp>
        <p:sp>
          <p:nvSpPr>
            <p:cNvPr id="109589" name="Rectangle 2054"/>
            <p:cNvSpPr/>
            <p:nvPr/>
          </p:nvSpPr>
          <p:spPr>
            <a:xfrm>
              <a:off x="3432" y="3600"/>
              <a:ext cx="336" cy="240"/>
            </a:xfrm>
            <a:prstGeom prst="rect">
              <a:avLst/>
            </a:prstGeom>
            <a:solidFill>
              <a:schemeClr val="bg1"/>
            </a:solidFill>
            <a:ln w="25400" cap="flat" cmpd="sng">
              <a:solidFill>
                <a:schemeClr val="bg1"/>
              </a:solidFill>
              <a:prstDash val="solid"/>
              <a:miter/>
              <a:headEnd type="none" w="med" len="med"/>
              <a:tailEnd type="none" w="med" len="med"/>
            </a:ln>
          </p:spPr>
          <p:txBody>
            <a:bodyPr wrap="none" lIns="0" tIns="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ea typeface="楷体_GB2312" pitchFamily="49" charset="-122"/>
                </a:rPr>
                <a:t>400</a:t>
              </a:r>
              <a:endParaRPr lang="en-US" altLang="zh-CN" sz="2400" b="1" dirty="0">
                <a:solidFill>
                  <a:srgbClr val="000099"/>
                </a:solidFill>
                <a:ea typeface="楷体_GB2312" pitchFamily="49" charset="-122"/>
              </a:endParaRPr>
            </a:p>
          </p:txBody>
        </p:sp>
      </p:grpSp>
      <p:sp>
        <p:nvSpPr>
          <p:cNvPr id="521224" name="Rectangle 2056"/>
          <p:cNvSpPr/>
          <p:nvPr/>
        </p:nvSpPr>
        <p:spPr>
          <a:xfrm>
            <a:off x="533400" y="4876800"/>
            <a:ext cx="64770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eaLnBrk="1" hangingPunct="1">
              <a:lnSpc>
                <a:spcPct val="120000"/>
              </a:lnSpc>
              <a:spcBef>
                <a:spcPct val="0"/>
              </a:spcBef>
              <a:buClrTx/>
              <a:buSzTx/>
              <a:buFontTx/>
              <a:buNone/>
            </a:pPr>
            <a:r>
              <a:rPr lang="en-US" altLang="zh-CN" sz="2400" b="1" dirty="0">
                <a:solidFill>
                  <a:srgbClr val="9900CC"/>
                </a:solidFill>
                <a:ea typeface="楷体_GB2312" pitchFamily="49" charset="-122"/>
              </a:rPr>
              <a:t> </a:t>
            </a:r>
            <a:r>
              <a:rPr lang="en-US" altLang="zh-CN" sz="2400" b="1" dirty="0">
                <a:solidFill>
                  <a:srgbClr val="006600"/>
                </a:solidFill>
                <a:ea typeface="楷体_GB2312" pitchFamily="49" charset="-122"/>
              </a:rPr>
              <a:t>(2)</a:t>
            </a:r>
            <a:r>
              <a:rPr lang="zh-CN" altLang="en-US" sz="2400" b="1" dirty="0">
                <a:solidFill>
                  <a:srgbClr val="006600"/>
                </a:solidFill>
                <a:ea typeface="楷体_GB2312" pitchFamily="49" charset="-122"/>
              </a:rPr>
              <a:t>间接寻址</a:t>
            </a:r>
            <a:r>
              <a:rPr lang="zh-CN" altLang="en-US" sz="2400" b="1" dirty="0">
                <a:solidFill>
                  <a:srgbClr val="000099"/>
                </a:solidFill>
                <a:ea typeface="楷体_GB2312" pitchFamily="49" charset="-122"/>
              </a:rPr>
              <a:t>（包含直接地址的字</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间接字）</a:t>
            </a:r>
            <a:endParaRPr lang="zh-CN" altLang="en-US" sz="2400" b="1" dirty="0">
              <a:solidFill>
                <a:srgbClr val="000099"/>
              </a:solidFill>
              <a:ea typeface="楷体_GB2312" pitchFamily="49" charset="-122"/>
            </a:endParaRPr>
          </a:p>
        </p:txBody>
      </p:sp>
      <p:sp>
        <p:nvSpPr>
          <p:cNvPr id="521226" name="Rectangle 2058"/>
          <p:cNvSpPr/>
          <p:nvPr/>
        </p:nvSpPr>
        <p:spPr>
          <a:xfrm>
            <a:off x="762000" y="5410200"/>
            <a:ext cx="22098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spcBef>
                <a:spcPct val="0"/>
              </a:spcBef>
              <a:buClrTx/>
              <a:buSzTx/>
              <a:buFontTx/>
              <a:buNone/>
            </a:pPr>
            <a:r>
              <a:rPr lang="en-US" altLang="zh-CN" sz="2400" b="1" dirty="0">
                <a:solidFill>
                  <a:srgbClr val="000099"/>
                </a:solidFill>
                <a:ea typeface="楷体_GB2312" pitchFamily="49" charset="-122"/>
              </a:rPr>
              <a:t>    ADD *400                                              </a:t>
            </a:r>
            <a:endParaRPr lang="en-US" altLang="zh-CN" sz="2400" b="1" dirty="0">
              <a:solidFill>
                <a:srgbClr val="000099"/>
              </a:solidFill>
              <a:ea typeface="楷体_GB2312" pitchFamily="49" charset="-122"/>
            </a:endParaRPr>
          </a:p>
        </p:txBody>
      </p:sp>
      <p:grpSp>
        <p:nvGrpSpPr>
          <p:cNvPr id="521232" name="Group 2064"/>
          <p:cNvGrpSpPr/>
          <p:nvPr/>
        </p:nvGrpSpPr>
        <p:grpSpPr>
          <a:xfrm>
            <a:off x="6248400" y="5486400"/>
            <a:ext cx="1422400" cy="533400"/>
            <a:chOff x="3904" y="3504"/>
            <a:chExt cx="896" cy="336"/>
          </a:xfrm>
        </p:grpSpPr>
        <p:sp>
          <p:nvSpPr>
            <p:cNvPr id="109586" name="Rectangle 2059"/>
            <p:cNvSpPr/>
            <p:nvPr/>
          </p:nvSpPr>
          <p:spPr>
            <a:xfrm>
              <a:off x="4317" y="3504"/>
              <a:ext cx="483" cy="336"/>
            </a:xfrm>
            <a:prstGeom prst="rect">
              <a:avLst/>
            </a:prstGeom>
            <a:solidFill>
              <a:schemeClr val="bg1"/>
            </a:solidFill>
            <a:ln w="25400" cap="flat" cmpd="sng">
              <a:solidFill>
                <a:srgbClr val="0000FF"/>
              </a:solidFill>
              <a:prstDash val="solid"/>
              <a:miter/>
              <a:headEnd type="none" w="med" len="med"/>
              <a:tailEnd type="none" w="med" len="med"/>
            </a:ln>
          </p:spPr>
          <p:txBody>
            <a:bodyPr wrap="none" lIns="0" tIns="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ea typeface="楷体_GB2312" pitchFamily="49" charset="-122"/>
                </a:rPr>
                <a:t>1400</a:t>
              </a:r>
              <a:endParaRPr lang="en-US" altLang="zh-CN" sz="2400" b="1" dirty="0">
                <a:solidFill>
                  <a:srgbClr val="000099"/>
                </a:solidFill>
                <a:ea typeface="楷体_GB2312" pitchFamily="49" charset="-122"/>
              </a:endParaRPr>
            </a:p>
          </p:txBody>
        </p:sp>
        <p:sp>
          <p:nvSpPr>
            <p:cNvPr id="109587" name="Rectangle 2060"/>
            <p:cNvSpPr/>
            <p:nvPr/>
          </p:nvSpPr>
          <p:spPr>
            <a:xfrm>
              <a:off x="3904" y="3600"/>
              <a:ext cx="384" cy="144"/>
            </a:xfrm>
            <a:prstGeom prst="rect">
              <a:avLst/>
            </a:prstGeom>
            <a:solidFill>
              <a:schemeClr val="bg1"/>
            </a:solidFill>
            <a:ln w="25400" cap="flat" cmpd="sng">
              <a:solidFill>
                <a:schemeClr val="bg1"/>
              </a:solidFill>
              <a:prstDash val="solid"/>
              <a:miter/>
              <a:headEnd type="none" w="med" len="med"/>
              <a:tailEnd type="none" w="med" len="med"/>
            </a:ln>
          </p:spPr>
          <p:txBody>
            <a:bodyPr wrap="none" lIns="0" tIns="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ea typeface="楷体_GB2312" pitchFamily="49" charset="-122"/>
                </a:rPr>
                <a:t>1320 </a:t>
              </a:r>
              <a:endParaRPr lang="en-US" altLang="zh-CN" sz="2400" b="1" dirty="0">
                <a:solidFill>
                  <a:srgbClr val="000099"/>
                </a:solidFill>
                <a:ea typeface="楷体_GB2312" pitchFamily="49" charset="-122"/>
              </a:endParaRPr>
            </a:p>
          </p:txBody>
        </p:sp>
      </p:grpSp>
      <p:grpSp>
        <p:nvGrpSpPr>
          <p:cNvPr id="521229" name="Group 2061"/>
          <p:cNvGrpSpPr/>
          <p:nvPr/>
        </p:nvGrpSpPr>
        <p:grpSpPr>
          <a:xfrm>
            <a:off x="3886200" y="5486400"/>
            <a:ext cx="1409700" cy="533400"/>
            <a:chOff x="3432" y="3552"/>
            <a:chExt cx="888" cy="336"/>
          </a:xfrm>
        </p:grpSpPr>
        <p:sp>
          <p:nvSpPr>
            <p:cNvPr id="109584" name="Rectangle 2062"/>
            <p:cNvSpPr/>
            <p:nvPr/>
          </p:nvSpPr>
          <p:spPr>
            <a:xfrm>
              <a:off x="3792" y="3552"/>
              <a:ext cx="528" cy="336"/>
            </a:xfrm>
            <a:prstGeom prst="rect">
              <a:avLst/>
            </a:prstGeom>
            <a:solidFill>
              <a:schemeClr val="bg1"/>
            </a:solidFill>
            <a:ln w="25400" cap="flat" cmpd="sng">
              <a:solidFill>
                <a:srgbClr val="0000FF"/>
              </a:solidFill>
              <a:prstDash val="solid"/>
              <a:miter/>
              <a:headEnd type="none" w="med" len="med"/>
              <a:tailEnd type="none" w="med" len="med"/>
            </a:ln>
          </p:spPr>
          <p:txBody>
            <a:bodyPr wrap="none" lIns="0" tIns="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ea typeface="楷体_GB2312" pitchFamily="49" charset="-122"/>
                </a:rPr>
                <a:t>1320</a:t>
              </a:r>
              <a:endParaRPr lang="en-US" altLang="zh-CN" sz="2400" b="1" dirty="0">
                <a:solidFill>
                  <a:srgbClr val="000099"/>
                </a:solidFill>
                <a:ea typeface="楷体_GB2312" pitchFamily="49" charset="-122"/>
              </a:endParaRPr>
            </a:p>
          </p:txBody>
        </p:sp>
        <p:sp>
          <p:nvSpPr>
            <p:cNvPr id="109585" name="Rectangle 2063"/>
            <p:cNvSpPr/>
            <p:nvPr/>
          </p:nvSpPr>
          <p:spPr>
            <a:xfrm>
              <a:off x="3432" y="3600"/>
              <a:ext cx="336" cy="240"/>
            </a:xfrm>
            <a:prstGeom prst="rect">
              <a:avLst/>
            </a:prstGeom>
            <a:solidFill>
              <a:schemeClr val="bg1"/>
            </a:solidFill>
            <a:ln w="25400" cap="flat" cmpd="sng">
              <a:solidFill>
                <a:schemeClr val="bg1"/>
              </a:solidFill>
              <a:prstDash val="solid"/>
              <a:miter/>
              <a:headEnd type="none" w="med" len="med"/>
              <a:tailEnd type="none" w="med" len="med"/>
            </a:ln>
          </p:spPr>
          <p:txBody>
            <a:bodyPr wrap="none" lIns="0" tIns="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000099"/>
                  </a:solidFill>
                  <a:ea typeface="楷体_GB2312" pitchFamily="49" charset="-122"/>
                </a:rPr>
                <a:t>400</a:t>
              </a:r>
              <a:endParaRPr lang="en-US" altLang="zh-CN" sz="2400" b="1" dirty="0">
                <a:solidFill>
                  <a:srgbClr val="000099"/>
                </a:solidFill>
                <a:ea typeface="楷体_GB2312" pitchFamily="49" charset="-122"/>
              </a:endParaRPr>
            </a:p>
          </p:txBody>
        </p:sp>
      </p:grpSp>
      <p:sp>
        <p:nvSpPr>
          <p:cNvPr id="521233" name="Rectangle 2065"/>
          <p:cNvSpPr/>
          <p:nvPr/>
        </p:nvSpPr>
        <p:spPr>
          <a:xfrm>
            <a:off x="3276600" y="4419600"/>
            <a:ext cx="1447800" cy="457200"/>
          </a:xfrm>
          <a:prstGeom prst="rect">
            <a:avLst/>
          </a:prstGeom>
          <a:solidFill>
            <a:schemeClr val="bg1"/>
          </a:solidFill>
          <a:ln w="25400" cap="flat" cmpd="sng">
            <a:solidFill>
              <a:schemeClr val="bg1"/>
            </a:solidFill>
            <a:prstDash val="solid"/>
            <a:miter/>
            <a:headEnd type="none" w="med" len="med"/>
            <a:tailEnd type="none" w="med" len="med"/>
          </a:ln>
        </p:spPr>
        <p:txBody>
          <a:bodyPr wrap="none" lIns="0" tIns="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ea typeface="楷体_GB2312" pitchFamily="49" charset="-122"/>
              </a:rPr>
              <a:t>（直接地址）</a:t>
            </a:r>
            <a:endParaRPr lang="zh-CN" altLang="en-US" sz="2400" b="1" dirty="0">
              <a:solidFill>
                <a:srgbClr val="000099"/>
              </a:solidFill>
              <a:ea typeface="楷体_GB2312" pitchFamily="49" charset="-122"/>
            </a:endParaRPr>
          </a:p>
        </p:txBody>
      </p:sp>
      <p:sp>
        <p:nvSpPr>
          <p:cNvPr id="521234" name="Rectangle 2066"/>
          <p:cNvSpPr/>
          <p:nvPr/>
        </p:nvSpPr>
        <p:spPr>
          <a:xfrm>
            <a:off x="5486400" y="4470400"/>
            <a:ext cx="1371600" cy="304800"/>
          </a:xfrm>
          <a:prstGeom prst="rect">
            <a:avLst/>
          </a:prstGeom>
          <a:solidFill>
            <a:schemeClr val="bg1"/>
          </a:solidFill>
          <a:ln w="25400" cap="flat" cmpd="sng">
            <a:solidFill>
              <a:schemeClr val="bg1"/>
            </a:solidFill>
            <a:prstDash val="solid"/>
            <a:miter/>
            <a:headEnd type="none" w="med" len="med"/>
            <a:tailEnd type="none" w="med" len="med"/>
          </a:ln>
        </p:spPr>
        <p:txBody>
          <a:bodyPr wrap="none" lIns="0" tIns="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ea typeface="楷体_GB2312" pitchFamily="49" charset="-122"/>
              </a:rPr>
              <a:t>（直接地址）</a:t>
            </a:r>
            <a:endParaRPr lang="zh-CN" altLang="en-US" sz="2400" b="1" dirty="0">
              <a:solidFill>
                <a:srgbClr val="000099"/>
              </a:solidFill>
              <a:ea typeface="楷体_GB2312" pitchFamily="49" charset="-122"/>
            </a:endParaRPr>
          </a:p>
        </p:txBody>
      </p:sp>
      <p:sp>
        <p:nvSpPr>
          <p:cNvPr id="521235" name="Rectangle 2067"/>
          <p:cNvSpPr/>
          <p:nvPr/>
        </p:nvSpPr>
        <p:spPr>
          <a:xfrm>
            <a:off x="4038600" y="6096000"/>
            <a:ext cx="1447800" cy="457200"/>
          </a:xfrm>
          <a:prstGeom prst="rect">
            <a:avLst/>
          </a:prstGeom>
          <a:solidFill>
            <a:schemeClr val="bg1"/>
          </a:solidFill>
          <a:ln w="25400" cap="flat" cmpd="sng">
            <a:solidFill>
              <a:schemeClr val="bg1"/>
            </a:solidFill>
            <a:prstDash val="solid"/>
            <a:miter/>
            <a:headEnd type="none" w="med" len="med"/>
            <a:tailEnd type="none" w="med" len="med"/>
          </a:ln>
        </p:spPr>
        <p:txBody>
          <a:bodyPr wrap="none" lIns="0" tIns="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ea typeface="楷体_GB2312" pitchFamily="49" charset="-122"/>
              </a:rPr>
              <a:t>（间接字）</a:t>
            </a:r>
            <a:endParaRPr lang="zh-CN" altLang="en-US" sz="2400" b="1" dirty="0">
              <a:solidFill>
                <a:srgbClr val="000099"/>
              </a:solidFill>
              <a:ea typeface="楷体_GB2312" pitchFamily="49" charset="-122"/>
            </a:endParaRPr>
          </a:p>
        </p:txBody>
      </p:sp>
      <p:sp>
        <p:nvSpPr>
          <p:cNvPr id="521236" name="Rectangle 2068"/>
          <p:cNvSpPr/>
          <p:nvPr/>
        </p:nvSpPr>
        <p:spPr>
          <a:xfrm>
            <a:off x="1524000" y="5943600"/>
            <a:ext cx="1447800" cy="457200"/>
          </a:xfrm>
          <a:prstGeom prst="rect">
            <a:avLst/>
          </a:prstGeom>
          <a:solidFill>
            <a:schemeClr val="bg1"/>
          </a:solidFill>
          <a:ln w="25400" cap="flat" cmpd="sng">
            <a:solidFill>
              <a:schemeClr val="bg1"/>
            </a:solidFill>
            <a:prstDash val="solid"/>
            <a:miter/>
            <a:headEnd type="none" w="med" len="med"/>
            <a:tailEnd type="none" w="med" len="med"/>
          </a:ln>
        </p:spPr>
        <p:txBody>
          <a:bodyPr wrap="none" lIns="0" tIns="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ea typeface="楷体_GB2312" pitchFamily="49" charset="-122"/>
              </a:rPr>
              <a:t>（间接地址）</a:t>
            </a:r>
            <a:endParaRPr lang="zh-CN" altLang="en-US" sz="2400" b="1" dirty="0">
              <a:solidFill>
                <a:srgbClr val="000099"/>
              </a:solidFill>
              <a:ea typeface="楷体_GB2312" pitchFamily="49" charset="-122"/>
            </a:endParaRPr>
          </a:p>
        </p:txBody>
      </p:sp>
      <p:sp>
        <p:nvSpPr>
          <p:cNvPr id="521237" name="Rectangle 2069"/>
          <p:cNvSpPr/>
          <p:nvPr/>
        </p:nvSpPr>
        <p:spPr>
          <a:xfrm>
            <a:off x="5791200" y="6057900"/>
            <a:ext cx="1447800" cy="457200"/>
          </a:xfrm>
          <a:prstGeom prst="rect">
            <a:avLst/>
          </a:prstGeom>
          <a:solidFill>
            <a:schemeClr val="bg1"/>
          </a:solidFill>
          <a:ln w="25400" cap="flat" cmpd="sng">
            <a:solidFill>
              <a:schemeClr val="bg1"/>
            </a:solidFill>
            <a:prstDash val="solid"/>
            <a:miter/>
            <a:headEnd type="none" w="med" len="med"/>
            <a:tailEnd type="none" w="med" len="med"/>
          </a:ln>
        </p:spPr>
        <p:txBody>
          <a:bodyPr wrap="none" lIns="0" tIns="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000099"/>
                </a:solidFill>
                <a:ea typeface="楷体_GB2312" pitchFamily="49" charset="-122"/>
              </a:rPr>
              <a:t>（直接地址）</a:t>
            </a:r>
            <a:endParaRPr lang="zh-CN" altLang="en-US" sz="2400" b="1" dirty="0">
              <a:solidFill>
                <a:srgbClr val="000099"/>
              </a:solidFill>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0194"/>
                                        </p:tgtEl>
                                        <p:attrNameLst>
                                          <p:attrName>style.visibility</p:attrName>
                                        </p:attrNameLst>
                                      </p:cBhvr>
                                      <p:to>
                                        <p:strVal val="visible"/>
                                      </p:to>
                                    </p:set>
                                    <p:anim calcmode="lin" valueType="num">
                                      <p:cBhvr additive="base">
                                        <p:cTn id="7" dur="500" fill="hold"/>
                                        <p:tgtEl>
                                          <p:spTgt spid="520194"/>
                                        </p:tgtEl>
                                        <p:attrNameLst>
                                          <p:attrName>ppt_x</p:attrName>
                                        </p:attrNameLst>
                                      </p:cBhvr>
                                      <p:tavLst>
                                        <p:tav tm="0">
                                          <p:val>
                                            <p:strVal val="0-#ppt_w/2"/>
                                          </p:val>
                                        </p:tav>
                                        <p:tav tm="100000">
                                          <p:val>
                                            <p:strVal val="#ppt_x"/>
                                          </p:val>
                                        </p:tav>
                                      </p:tavLst>
                                    </p:anim>
                                    <p:anim calcmode="lin" valueType="num">
                                      <p:cBhvr additive="base">
                                        <p:cTn id="8" dur="500" fill="hold"/>
                                        <p:tgtEl>
                                          <p:spTgt spid="5201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20195"/>
                                        </p:tgtEl>
                                        <p:attrNameLst>
                                          <p:attrName>style.visibility</p:attrName>
                                        </p:attrNameLst>
                                      </p:cBhvr>
                                      <p:to>
                                        <p:strVal val="visible"/>
                                      </p:to>
                                    </p:set>
                                    <p:animEffect transition="in" filter="wipe(left)">
                                      <p:cBhvr>
                                        <p:cTn id="13" dur="500"/>
                                        <p:tgtEl>
                                          <p:spTgt spid="52019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20219"/>
                                        </p:tgtEl>
                                        <p:attrNameLst>
                                          <p:attrName>style.visibility</p:attrName>
                                        </p:attrNameLst>
                                      </p:cBhvr>
                                      <p:to>
                                        <p:strVal val="visible"/>
                                      </p:to>
                                    </p:set>
                                    <p:animEffect transition="in" filter="wipe(left)">
                                      <p:cBhvr>
                                        <p:cTn id="18" dur="500"/>
                                        <p:tgtEl>
                                          <p:spTgt spid="52021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21223"/>
                                        </p:tgtEl>
                                        <p:attrNameLst>
                                          <p:attrName>style.visibility</p:attrName>
                                        </p:attrNameLst>
                                      </p:cBhvr>
                                      <p:to>
                                        <p:strVal val="visible"/>
                                      </p:to>
                                    </p:set>
                                    <p:animEffect transition="in" filter="wipe(left)">
                                      <p:cBhvr>
                                        <p:cTn id="23" dur="500"/>
                                        <p:tgtEl>
                                          <p:spTgt spid="521223"/>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nodeType="clickEffect">
                                  <p:stCondLst>
                                    <p:cond delay="0"/>
                                  </p:stCondLst>
                                  <p:childTnLst>
                                    <p:set>
                                      <p:cBhvr>
                                        <p:cTn id="27" dur="1" fill="hold">
                                          <p:stCondLst>
                                            <p:cond delay="0"/>
                                          </p:stCondLst>
                                        </p:cTn>
                                        <p:tgtEl>
                                          <p:spTgt spid="521233"/>
                                        </p:tgtEl>
                                        <p:attrNameLst>
                                          <p:attrName>style.visibility</p:attrName>
                                        </p:attrNameLst>
                                      </p:cBhvr>
                                      <p:to>
                                        <p:strVal val="visible"/>
                                      </p:to>
                                    </p:set>
                                    <p:animEffect transition="in" filter="barn(outVertical)">
                                      <p:cBhvr>
                                        <p:cTn id="28" dur="500"/>
                                        <p:tgtEl>
                                          <p:spTgt spid="521233"/>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37" fill="hold" nodeType="clickEffect">
                                  <p:stCondLst>
                                    <p:cond delay="0"/>
                                  </p:stCondLst>
                                  <p:childTnLst>
                                    <p:set>
                                      <p:cBhvr>
                                        <p:cTn id="32" dur="1" fill="hold">
                                          <p:stCondLst>
                                            <p:cond delay="0"/>
                                          </p:stCondLst>
                                        </p:cTn>
                                        <p:tgtEl>
                                          <p:spTgt spid="521234"/>
                                        </p:tgtEl>
                                        <p:attrNameLst>
                                          <p:attrName>style.visibility</p:attrName>
                                        </p:attrNameLst>
                                      </p:cBhvr>
                                      <p:to>
                                        <p:strVal val="visible"/>
                                      </p:to>
                                    </p:set>
                                    <p:animEffect transition="in" filter="barn(outVertical)">
                                      <p:cBhvr>
                                        <p:cTn id="33" dur="500"/>
                                        <p:tgtEl>
                                          <p:spTgt spid="52123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521224"/>
                                        </p:tgtEl>
                                        <p:attrNameLst>
                                          <p:attrName>style.visibility</p:attrName>
                                        </p:attrNameLst>
                                      </p:cBhvr>
                                      <p:to>
                                        <p:strVal val="visible"/>
                                      </p:to>
                                    </p:set>
                                    <p:animEffect transition="in" filter="wipe(left)">
                                      <p:cBhvr>
                                        <p:cTn id="38" dur="500"/>
                                        <p:tgtEl>
                                          <p:spTgt spid="52122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521226"/>
                                        </p:tgtEl>
                                        <p:attrNameLst>
                                          <p:attrName>style.visibility</p:attrName>
                                        </p:attrNameLst>
                                      </p:cBhvr>
                                      <p:to>
                                        <p:strVal val="visible"/>
                                      </p:to>
                                    </p:set>
                                    <p:animEffect transition="in" filter="wipe(left)">
                                      <p:cBhvr>
                                        <p:cTn id="43" dur="500"/>
                                        <p:tgtEl>
                                          <p:spTgt spid="52122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521229"/>
                                        </p:tgtEl>
                                        <p:attrNameLst>
                                          <p:attrName>style.visibility</p:attrName>
                                        </p:attrNameLst>
                                      </p:cBhvr>
                                      <p:to>
                                        <p:strVal val="visible"/>
                                      </p:to>
                                    </p:set>
                                    <p:animEffect transition="in" filter="wipe(left)">
                                      <p:cBhvr>
                                        <p:cTn id="48" dur="500"/>
                                        <p:tgtEl>
                                          <p:spTgt spid="52122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521232"/>
                                        </p:tgtEl>
                                        <p:attrNameLst>
                                          <p:attrName>style.visibility</p:attrName>
                                        </p:attrNameLst>
                                      </p:cBhvr>
                                      <p:to>
                                        <p:strVal val="visible"/>
                                      </p:to>
                                    </p:set>
                                    <p:animEffect transition="in" filter="wipe(left)">
                                      <p:cBhvr>
                                        <p:cTn id="53" dur="500"/>
                                        <p:tgtEl>
                                          <p:spTgt spid="521232"/>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37" fill="hold" nodeType="clickEffect">
                                  <p:stCondLst>
                                    <p:cond delay="0"/>
                                  </p:stCondLst>
                                  <p:childTnLst>
                                    <p:set>
                                      <p:cBhvr>
                                        <p:cTn id="57" dur="1" fill="hold">
                                          <p:stCondLst>
                                            <p:cond delay="0"/>
                                          </p:stCondLst>
                                        </p:cTn>
                                        <p:tgtEl>
                                          <p:spTgt spid="521236"/>
                                        </p:tgtEl>
                                        <p:attrNameLst>
                                          <p:attrName>style.visibility</p:attrName>
                                        </p:attrNameLst>
                                      </p:cBhvr>
                                      <p:to>
                                        <p:strVal val="visible"/>
                                      </p:to>
                                    </p:set>
                                    <p:animEffect transition="in" filter="barn(outVertical)">
                                      <p:cBhvr>
                                        <p:cTn id="58" dur="500"/>
                                        <p:tgtEl>
                                          <p:spTgt spid="521236"/>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37" fill="hold" nodeType="clickEffect">
                                  <p:stCondLst>
                                    <p:cond delay="0"/>
                                  </p:stCondLst>
                                  <p:childTnLst>
                                    <p:set>
                                      <p:cBhvr>
                                        <p:cTn id="62" dur="1" fill="hold">
                                          <p:stCondLst>
                                            <p:cond delay="0"/>
                                          </p:stCondLst>
                                        </p:cTn>
                                        <p:tgtEl>
                                          <p:spTgt spid="521235"/>
                                        </p:tgtEl>
                                        <p:attrNameLst>
                                          <p:attrName>style.visibility</p:attrName>
                                        </p:attrNameLst>
                                      </p:cBhvr>
                                      <p:to>
                                        <p:strVal val="visible"/>
                                      </p:to>
                                    </p:set>
                                    <p:animEffect transition="in" filter="barn(outVertical)">
                                      <p:cBhvr>
                                        <p:cTn id="63" dur="500"/>
                                        <p:tgtEl>
                                          <p:spTgt spid="521235"/>
                                        </p:tgtEl>
                                      </p:cBhvr>
                                    </p:animEffect>
                                  </p:childTnLst>
                                </p:cTn>
                              </p:par>
                            </p:childTnLst>
                          </p:cTn>
                        </p:par>
                      </p:childTnLst>
                    </p:cTn>
                  </p:par>
                  <p:par>
                    <p:cTn id="64" fill="hold">
                      <p:stCondLst>
                        <p:cond delay="indefinite"/>
                      </p:stCondLst>
                      <p:childTnLst>
                        <p:par>
                          <p:cTn id="65" fill="hold">
                            <p:stCondLst>
                              <p:cond delay="0"/>
                            </p:stCondLst>
                            <p:childTnLst>
                              <p:par>
                                <p:cTn id="66" presetID="16" presetClass="entr" presetSubtype="37" fill="hold" nodeType="clickEffect">
                                  <p:stCondLst>
                                    <p:cond delay="0"/>
                                  </p:stCondLst>
                                  <p:childTnLst>
                                    <p:set>
                                      <p:cBhvr>
                                        <p:cTn id="67" dur="1" fill="hold">
                                          <p:stCondLst>
                                            <p:cond delay="0"/>
                                          </p:stCondLst>
                                        </p:cTn>
                                        <p:tgtEl>
                                          <p:spTgt spid="521237"/>
                                        </p:tgtEl>
                                        <p:attrNameLst>
                                          <p:attrName>style.visibility</p:attrName>
                                        </p:attrNameLst>
                                      </p:cBhvr>
                                      <p:to>
                                        <p:strVal val="visible"/>
                                      </p:to>
                                    </p:set>
                                    <p:animEffect transition="in" filter="barn(outVertical)">
                                      <p:cBhvr>
                                        <p:cTn id="68" dur="500"/>
                                        <p:tgtEl>
                                          <p:spTgt spid="521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194" grpId="0"/>
      <p:bldP spid="520195" grpId="0"/>
      <p:bldP spid="520219" grpId="0"/>
      <p:bldP spid="521224" grpId="0"/>
      <p:bldP spid="521226" grpId="0"/>
      <p:bldP spid="521233" grpId="0" animBg="1"/>
      <p:bldP spid="521234" grpId="0" animBg="1"/>
      <p:bldP spid="521235" grpId="0" animBg="1"/>
      <p:bldP spid="521236" grpId="0" animBg="1"/>
      <p:bldP spid="521237" grpId="0" animBg="1"/>
    </p:bldLst>
  </p:timing>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1059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22620" name="Rectangle 28"/>
          <p:cNvSpPr/>
          <p:nvPr/>
        </p:nvSpPr>
        <p:spPr>
          <a:xfrm>
            <a:off x="609600" y="4191000"/>
            <a:ext cx="7416800" cy="45720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561975" algn="l"/>
              </a:tabLst>
            </a:pPr>
            <a:r>
              <a:rPr lang="en-US" altLang="zh-CN" sz="2400" b="1" dirty="0">
                <a:solidFill>
                  <a:srgbClr val="9900CC"/>
                </a:solidFill>
                <a:latin typeface="楷体_GB2312" pitchFamily="49" charset="-122"/>
                <a:ea typeface="楷体_GB2312" pitchFamily="49" charset="-122"/>
              </a:rPr>
              <a:t>3.</a:t>
            </a:r>
            <a:r>
              <a:rPr lang="zh-CN" altLang="en-US" sz="2400" b="1" dirty="0">
                <a:solidFill>
                  <a:srgbClr val="9900CC"/>
                </a:solidFill>
                <a:latin typeface="楷体_GB2312" pitchFamily="49" charset="-122"/>
                <a:ea typeface="楷体_GB2312" pitchFamily="49" charset="-122"/>
              </a:rPr>
              <a:t>编译程序的连接准备工作</a:t>
            </a:r>
            <a:r>
              <a:rPr lang="zh-CN" altLang="en-US" sz="2400" b="1" dirty="0">
                <a:solidFill>
                  <a:srgbClr val="990033"/>
                </a:solidFill>
                <a:ea typeface="楷体_GB2312" pitchFamily="49" charset="-122"/>
              </a:rPr>
              <a:t>（程序段的编译原则）</a:t>
            </a:r>
            <a:endParaRPr lang="zh-CN" altLang="en-US" sz="2400" b="1" dirty="0">
              <a:solidFill>
                <a:srgbClr val="990033"/>
              </a:solidFill>
              <a:ea typeface="楷体_GB2312" pitchFamily="49" charset="-122"/>
            </a:endParaRPr>
          </a:p>
        </p:txBody>
      </p:sp>
      <p:sp>
        <p:nvSpPr>
          <p:cNvPr id="622621" name="Rectangle 29"/>
          <p:cNvSpPr/>
          <p:nvPr/>
        </p:nvSpPr>
        <p:spPr>
          <a:xfrm>
            <a:off x="609600" y="4724400"/>
            <a:ext cx="8120063" cy="1406525"/>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spcBef>
                <a:spcPct val="0"/>
              </a:spcBef>
              <a:buClrTx/>
              <a:buSzTx/>
              <a:buFontTx/>
              <a:buNone/>
            </a:pPr>
            <a:r>
              <a:rPr lang="en-US" altLang="zh-CN" sz="1200" b="1" dirty="0">
                <a:solidFill>
                  <a:srgbClr val="0000FF"/>
                </a:solidFill>
                <a:latin typeface="Arial" panose="020B0604020202020204" pitchFamily="34" charset="0"/>
              </a:rPr>
              <a:t>                </a:t>
            </a:r>
            <a:r>
              <a:rPr lang="zh-CN" altLang="en-US" sz="2400" b="1" dirty="0">
                <a:solidFill>
                  <a:srgbClr val="000099"/>
                </a:solidFill>
                <a:ea typeface="楷体_GB2312" pitchFamily="49" charset="-122"/>
              </a:rPr>
              <a:t>访问本段程序 </a:t>
            </a: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直接寻址 </a:t>
            </a:r>
            <a:endParaRPr lang="zh-CN" altLang="en-US" sz="2400" b="1" dirty="0">
              <a:solidFill>
                <a:srgbClr val="000099"/>
              </a:solidFill>
              <a:latin typeface="Arial" panose="020B0604020202020204" pitchFamily="34" charset="0"/>
              <a:ea typeface="楷体_GB2312" pitchFamily="49" charset="-122"/>
            </a:endParaRPr>
          </a:p>
          <a:p>
            <a:pPr marL="0" lvl="0" indent="0">
              <a:lnSpc>
                <a:spcPct val="120000"/>
              </a:lnSpc>
              <a:spcBef>
                <a:spcPct val="0"/>
              </a:spcBef>
              <a:buClrTx/>
              <a:buSzTx/>
              <a:buFontTx/>
              <a:buNone/>
            </a:pPr>
            <a:r>
              <a:rPr lang="zh-CN" altLang="en-US" sz="2400" b="1" dirty="0">
                <a:solidFill>
                  <a:srgbClr val="000099"/>
                </a:solidFill>
                <a:latin typeface="Arial" panose="020B0604020202020204" pitchFamily="34" charset="0"/>
                <a:ea typeface="楷体_GB2312" pitchFamily="49" charset="-122"/>
              </a:rPr>
              <a:t>        </a:t>
            </a:r>
            <a:r>
              <a:rPr lang="zh-CN" altLang="en-US" sz="2400" b="1" dirty="0">
                <a:solidFill>
                  <a:srgbClr val="000099"/>
                </a:solidFill>
                <a:ea typeface="楷体_GB2312" pitchFamily="49" charset="-122"/>
              </a:rPr>
              <a:t>访问外段程序 </a:t>
            </a: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间接寻址（设置连接间接字，地址指向本段的一个用来存放段名的存储单元） 。</a:t>
            </a:r>
            <a:endParaRPr lang="zh-CN" altLang="en-US" sz="2400" b="1" dirty="0">
              <a:solidFill>
                <a:srgbClr val="000099"/>
              </a:solidFill>
              <a:ea typeface="楷体_GB2312" pitchFamily="49" charset="-122"/>
            </a:endParaRPr>
          </a:p>
        </p:txBody>
      </p:sp>
      <p:grpSp>
        <p:nvGrpSpPr>
          <p:cNvPr id="622706" name="Group 114"/>
          <p:cNvGrpSpPr/>
          <p:nvPr/>
        </p:nvGrpSpPr>
        <p:grpSpPr>
          <a:xfrm>
            <a:off x="609600" y="838200"/>
            <a:ext cx="8229600" cy="3159125"/>
            <a:chOff x="384" y="528"/>
            <a:chExt cx="5184" cy="1990"/>
          </a:xfrm>
        </p:grpSpPr>
        <p:sp>
          <p:nvSpPr>
            <p:cNvPr id="110598" name="Rectangle 33"/>
            <p:cNvSpPr/>
            <p:nvPr/>
          </p:nvSpPr>
          <p:spPr>
            <a:xfrm>
              <a:off x="384" y="528"/>
              <a:ext cx="5184" cy="1990"/>
            </a:xfrm>
            <a:prstGeom prst="rect">
              <a:avLst/>
            </a:prstGeom>
            <a:noFill/>
            <a:ln w="0">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spcBef>
                  <a:spcPct val="0"/>
                </a:spcBef>
                <a:buClrTx/>
                <a:buSzTx/>
                <a:buFontTx/>
                <a:buNone/>
              </a:pPr>
              <a:r>
                <a:rPr lang="en-US" altLang="zh-CN" sz="2400" b="1" dirty="0">
                  <a:solidFill>
                    <a:srgbClr val="006600"/>
                  </a:solidFill>
                  <a:ea typeface="楷体_GB2312" pitchFamily="49" charset="-122"/>
                </a:rPr>
                <a:t>(3)</a:t>
              </a:r>
              <a:r>
                <a:rPr lang="zh-CN" altLang="en-US" sz="2400" b="1" dirty="0">
                  <a:solidFill>
                    <a:srgbClr val="006600"/>
                  </a:solidFill>
                  <a:ea typeface="楷体_GB2312" pitchFamily="49" charset="-122"/>
                </a:rPr>
                <a:t>连接间接字：</a:t>
              </a:r>
              <a:endParaRPr lang="zh-CN" altLang="en-US" sz="2400" b="1" dirty="0">
                <a:solidFill>
                  <a:srgbClr val="006600"/>
                </a:solidFill>
                <a:ea typeface="楷体_GB2312" pitchFamily="49" charset="-122"/>
              </a:endParaRPr>
            </a:p>
            <a:p>
              <a:pPr marL="0" lvl="0" indent="0" eaLnBrk="1" hangingPunct="1">
                <a:lnSpc>
                  <a:spcPct val="120000"/>
                </a:lnSpc>
                <a:spcBef>
                  <a:spcPct val="0"/>
                </a:spcBef>
                <a:buClrTx/>
                <a:buSzTx/>
                <a:buFontTx/>
                <a:buNone/>
              </a:pPr>
              <a:r>
                <a:rPr lang="zh-CN" altLang="en-US" sz="2400" b="1" dirty="0">
                  <a:solidFill>
                    <a:srgbClr val="000099"/>
                  </a:solidFill>
                  <a:ea typeface="楷体_GB2312" pitchFamily="49" charset="-122"/>
                </a:rPr>
                <a:t>             </a:t>
              </a:r>
              <a:endParaRPr lang="zh-CN" altLang="en-US" sz="2400" b="1" dirty="0">
                <a:solidFill>
                  <a:srgbClr val="000099"/>
                </a:solidFill>
                <a:ea typeface="楷体_GB2312" pitchFamily="49" charset="-122"/>
              </a:endParaRPr>
            </a:p>
            <a:p>
              <a:pPr marL="0" lvl="0" indent="0" eaLnBrk="1" hangingPunct="1">
                <a:lnSpc>
                  <a:spcPct val="120000"/>
                </a:lnSpc>
                <a:spcBef>
                  <a:spcPct val="0"/>
                </a:spcBef>
                <a:buClrTx/>
                <a:buSzTx/>
                <a:buFontTx/>
                <a:buNone/>
              </a:pPr>
              <a:r>
                <a:rPr lang="zh-CN" altLang="en-US" sz="2400" b="1" dirty="0">
                  <a:solidFill>
                    <a:srgbClr val="000099"/>
                  </a:solidFill>
                  <a:ea typeface="楷体_GB2312" pitchFamily="49" charset="-122"/>
                </a:rPr>
                <a:t> </a:t>
              </a:r>
              <a:endParaRPr lang="zh-CN" altLang="en-US" sz="2400" b="1" dirty="0">
                <a:solidFill>
                  <a:srgbClr val="000099"/>
                </a:solidFill>
                <a:ea typeface="楷体_GB2312" pitchFamily="49" charset="-122"/>
              </a:endParaRPr>
            </a:p>
            <a:p>
              <a:pPr marL="0" lvl="0" indent="0" eaLnBrk="1" hangingPunct="1">
                <a:lnSpc>
                  <a:spcPct val="120000"/>
                </a:lnSpc>
                <a:spcBef>
                  <a:spcPct val="0"/>
                </a:spcBef>
                <a:buClrTx/>
                <a:buSzTx/>
                <a:buFontTx/>
                <a:buNone/>
              </a:pPr>
              <a:r>
                <a:rPr lang="zh-CN" altLang="en-US" sz="2400" b="1" dirty="0">
                  <a:solidFill>
                    <a:srgbClr val="000099"/>
                  </a:solidFill>
                  <a:ea typeface="楷体_GB2312" pitchFamily="49" charset="-122"/>
                </a:rPr>
                <a:t> 连接标志位 </a:t>
              </a:r>
              <a:r>
                <a:rPr lang="en-US" altLang="zh-CN" sz="2400" b="1" dirty="0">
                  <a:solidFill>
                    <a:srgbClr val="000099"/>
                  </a:solidFill>
                  <a:ea typeface="楷体_GB2312" pitchFamily="49" charset="-122"/>
                </a:rPr>
                <a:t>L</a:t>
              </a:r>
              <a:endParaRPr lang="en-US" altLang="zh-CN" sz="2400" b="1" dirty="0">
                <a:solidFill>
                  <a:srgbClr val="000099"/>
                </a:solidFill>
                <a:ea typeface="楷体_GB2312" pitchFamily="49" charset="-122"/>
              </a:endParaRPr>
            </a:p>
            <a:p>
              <a:pPr marL="0" lvl="0" indent="0" eaLnBrk="1" hangingPunct="1">
                <a:lnSpc>
                  <a:spcPct val="120000"/>
                </a:lnSpc>
                <a:spcBef>
                  <a:spcPct val="0"/>
                </a:spcBef>
                <a:buClrTx/>
                <a:buSzTx/>
                <a:buFontTx/>
                <a:buNone/>
              </a:pPr>
              <a:r>
                <a:rPr lang="en-US" altLang="zh-CN" sz="2400" b="1" dirty="0">
                  <a:solidFill>
                    <a:srgbClr val="000099"/>
                  </a:solidFill>
                  <a:ea typeface="楷体_GB2312" pitchFamily="49" charset="-122"/>
                </a:rPr>
                <a:t>         1 ——&gt; </a:t>
              </a:r>
              <a:r>
                <a:rPr lang="zh-CN" altLang="en-US" sz="2400" b="1" dirty="0">
                  <a:solidFill>
                    <a:srgbClr val="000099"/>
                  </a:solidFill>
                  <a:ea typeface="楷体_GB2312" pitchFamily="49" charset="-122"/>
                </a:rPr>
                <a:t>未连接 </a:t>
              </a:r>
              <a:r>
                <a:rPr lang="en-US" altLang="zh-CN" sz="2400" b="1" dirty="0">
                  <a:solidFill>
                    <a:srgbClr val="000099"/>
                  </a:solidFill>
                  <a:ea typeface="楷体_GB2312" pitchFamily="49" charset="-122"/>
                </a:rPr>
                <a:t>——&gt; </a:t>
              </a:r>
              <a:r>
                <a:rPr lang="zh-CN" altLang="en-US" sz="2400" b="1" dirty="0">
                  <a:solidFill>
                    <a:srgbClr val="000099"/>
                  </a:solidFill>
                  <a:ea typeface="楷体_GB2312" pitchFamily="49" charset="-122"/>
                </a:rPr>
                <a:t>硬件自动判断</a:t>
              </a:r>
              <a:r>
                <a:rPr lang="en-US" altLang="zh-CN" sz="2400" b="1" dirty="0">
                  <a:solidFill>
                    <a:srgbClr val="000099"/>
                  </a:solidFill>
                  <a:ea typeface="楷体_GB2312" pitchFamily="49" charset="-122"/>
                </a:rPr>
                <a:t>L</a:t>
              </a:r>
              <a:r>
                <a:rPr lang="zh-CN" altLang="en-US" sz="2400" b="1" dirty="0">
                  <a:solidFill>
                    <a:srgbClr val="000099"/>
                  </a:solidFill>
                  <a:ea typeface="楷体_GB2312" pitchFamily="49" charset="-122"/>
                </a:rPr>
                <a:t>位，触发连接中断信号。</a:t>
              </a:r>
              <a:endParaRPr lang="zh-CN" altLang="en-US" sz="2400" b="1" dirty="0">
                <a:solidFill>
                  <a:srgbClr val="000099"/>
                </a:solidFill>
                <a:ea typeface="楷体_GB2312" pitchFamily="49" charset="-122"/>
              </a:endParaRPr>
            </a:p>
            <a:p>
              <a:pPr marL="0" lvl="0" indent="0" eaLnBrk="1" hangingPunct="1">
                <a:lnSpc>
                  <a:spcPct val="12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0 ——&gt; </a:t>
              </a:r>
              <a:r>
                <a:rPr lang="zh-CN" altLang="en-US" sz="2400" b="1" dirty="0">
                  <a:solidFill>
                    <a:srgbClr val="000099"/>
                  </a:solidFill>
                  <a:ea typeface="楷体_GB2312" pitchFamily="49" charset="-122"/>
                </a:rPr>
                <a:t>已连接 </a:t>
              </a:r>
              <a:r>
                <a:rPr lang="en-US" altLang="zh-CN" sz="2400" b="1" dirty="0">
                  <a:solidFill>
                    <a:srgbClr val="000099"/>
                  </a:solidFill>
                  <a:ea typeface="楷体_GB2312" pitchFamily="49" charset="-122"/>
                </a:rPr>
                <a:t>——&gt; </a:t>
              </a:r>
              <a:r>
                <a:rPr lang="zh-CN" altLang="en-US" sz="2400" b="1" dirty="0">
                  <a:solidFill>
                    <a:srgbClr val="000099"/>
                  </a:solidFill>
                  <a:ea typeface="楷体_GB2312" pitchFamily="49" charset="-122"/>
                </a:rPr>
                <a:t>继续执行。</a:t>
              </a:r>
              <a:endParaRPr lang="zh-CN" altLang="en-US" sz="2400" b="1" dirty="0">
                <a:solidFill>
                  <a:srgbClr val="000099"/>
                </a:solidFill>
                <a:ea typeface="楷体_GB2312" pitchFamily="49" charset="-122"/>
              </a:endParaRPr>
            </a:p>
          </p:txBody>
        </p:sp>
        <p:grpSp>
          <p:nvGrpSpPr>
            <p:cNvPr id="110599" name="Group 112"/>
            <p:cNvGrpSpPr/>
            <p:nvPr/>
          </p:nvGrpSpPr>
          <p:grpSpPr>
            <a:xfrm>
              <a:off x="816" y="960"/>
              <a:ext cx="2832" cy="336"/>
              <a:chOff x="1392" y="2688"/>
              <a:chExt cx="2832" cy="336"/>
            </a:xfrm>
          </p:grpSpPr>
          <p:sp>
            <p:nvSpPr>
              <p:cNvPr id="110600" name="Rectangle 92"/>
              <p:cNvSpPr/>
              <p:nvPr/>
            </p:nvSpPr>
            <p:spPr>
              <a:xfrm>
                <a:off x="3312" y="2688"/>
                <a:ext cx="912" cy="336"/>
              </a:xfrm>
              <a:prstGeom prst="rect">
                <a:avLst/>
              </a:prstGeom>
              <a:solidFill>
                <a:schemeClr val="bg1"/>
              </a:solidFill>
              <a:ln w="25400" cap="flat" cmpd="sng">
                <a:solidFill>
                  <a:srgbClr val="0000FF"/>
                </a:solidFill>
                <a:prstDash val="solid"/>
                <a:miter/>
                <a:headEnd type="none" w="med" len="med"/>
                <a:tailEnd type="none" w="med" len="med"/>
              </a:ln>
            </p:spPr>
            <p:txBody>
              <a:bodyPr lIns="0" tIns="7200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直接地址</a:t>
                </a:r>
                <a:endParaRPr lang="zh-CN" altLang="en-US" sz="2400" b="1" dirty="0">
                  <a:solidFill>
                    <a:srgbClr val="000099"/>
                  </a:solidFill>
                  <a:ea typeface="楷体_GB2312" pitchFamily="49" charset="-122"/>
                </a:endParaRPr>
              </a:p>
            </p:txBody>
          </p:sp>
          <p:sp>
            <p:nvSpPr>
              <p:cNvPr id="110601" name="Rectangle 93"/>
              <p:cNvSpPr/>
              <p:nvPr/>
            </p:nvSpPr>
            <p:spPr>
              <a:xfrm>
                <a:off x="1704" y="2688"/>
                <a:ext cx="1611" cy="336"/>
              </a:xfrm>
              <a:prstGeom prst="rect">
                <a:avLst/>
              </a:prstGeom>
              <a:noFill/>
              <a:ln w="25400" cap="flat" cmpd="sng">
                <a:solidFill>
                  <a:srgbClr val="0000FF"/>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endParaRPr lang="zh-CN" altLang="zh-CN" sz="2800" dirty="0"/>
              </a:p>
            </p:txBody>
          </p:sp>
          <p:sp>
            <p:nvSpPr>
              <p:cNvPr id="110602" name="Rectangle 94"/>
              <p:cNvSpPr/>
              <p:nvPr/>
            </p:nvSpPr>
            <p:spPr>
              <a:xfrm>
                <a:off x="1392" y="2688"/>
                <a:ext cx="309" cy="336"/>
              </a:xfrm>
              <a:prstGeom prst="rect">
                <a:avLst/>
              </a:prstGeom>
              <a:noFill/>
              <a:ln w="25400" cap="flat" cmpd="sng">
                <a:solidFill>
                  <a:srgbClr val="0000FF"/>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None/>
                </a:pPr>
                <a:r>
                  <a:rPr lang="en-US" altLang="zh-CN" sz="2400" b="1" dirty="0">
                    <a:solidFill>
                      <a:srgbClr val="000099"/>
                    </a:solidFill>
                    <a:ea typeface="楷体_GB2312" pitchFamily="49" charset="-122"/>
                  </a:rPr>
                  <a:t> L</a:t>
                </a:r>
                <a:endParaRPr lang="en-US" altLang="zh-CN" sz="2400" b="1" dirty="0">
                  <a:solidFill>
                    <a:srgbClr val="000099"/>
                  </a:solidFill>
                  <a:ea typeface="楷体_GB2312" pitchFamily="49" charset="-122"/>
                </a:endParaRPr>
              </a:p>
            </p:txBody>
          </p:sp>
        </p:gr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22706"/>
                                        </p:tgtEl>
                                        <p:attrNameLst>
                                          <p:attrName>style.visibility</p:attrName>
                                        </p:attrNameLst>
                                      </p:cBhvr>
                                      <p:to>
                                        <p:strVal val="visible"/>
                                      </p:to>
                                    </p:set>
                                    <p:animEffect transition="in" filter="wipe(left)">
                                      <p:cBhvr>
                                        <p:cTn id="7" dur="500"/>
                                        <p:tgtEl>
                                          <p:spTgt spid="62270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22620"/>
                                        </p:tgtEl>
                                        <p:attrNameLst>
                                          <p:attrName>style.visibility</p:attrName>
                                        </p:attrNameLst>
                                      </p:cBhvr>
                                      <p:to>
                                        <p:strVal val="visible"/>
                                      </p:to>
                                    </p:set>
                                    <p:anim calcmode="lin" valueType="num">
                                      <p:cBhvr additive="base">
                                        <p:cTn id="12" dur="500" fill="hold"/>
                                        <p:tgtEl>
                                          <p:spTgt spid="622620"/>
                                        </p:tgtEl>
                                        <p:attrNameLst>
                                          <p:attrName>ppt_x</p:attrName>
                                        </p:attrNameLst>
                                      </p:cBhvr>
                                      <p:tavLst>
                                        <p:tav tm="0">
                                          <p:val>
                                            <p:strVal val="0-#ppt_w/2"/>
                                          </p:val>
                                        </p:tav>
                                        <p:tav tm="100000">
                                          <p:val>
                                            <p:strVal val="#ppt_x"/>
                                          </p:val>
                                        </p:tav>
                                      </p:tavLst>
                                    </p:anim>
                                    <p:anim calcmode="lin" valueType="num">
                                      <p:cBhvr additive="base">
                                        <p:cTn id="13" dur="500" fill="hold"/>
                                        <p:tgtEl>
                                          <p:spTgt spid="62262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622621"/>
                                        </p:tgtEl>
                                        <p:attrNameLst>
                                          <p:attrName>style.visibility</p:attrName>
                                        </p:attrNameLst>
                                      </p:cBhvr>
                                      <p:to>
                                        <p:strVal val="visible"/>
                                      </p:to>
                                    </p:set>
                                    <p:anim calcmode="lin" valueType="num">
                                      <p:cBhvr additive="base">
                                        <p:cTn id="18" dur="500" fill="hold"/>
                                        <p:tgtEl>
                                          <p:spTgt spid="622621"/>
                                        </p:tgtEl>
                                        <p:attrNameLst>
                                          <p:attrName>ppt_x</p:attrName>
                                        </p:attrNameLst>
                                      </p:cBhvr>
                                      <p:tavLst>
                                        <p:tav tm="0">
                                          <p:val>
                                            <p:strVal val="0-#ppt_w/2"/>
                                          </p:val>
                                        </p:tav>
                                        <p:tav tm="100000">
                                          <p:val>
                                            <p:strVal val="#ppt_x"/>
                                          </p:val>
                                        </p:tav>
                                      </p:tavLst>
                                    </p:anim>
                                    <p:anim calcmode="lin" valueType="num">
                                      <p:cBhvr additive="base">
                                        <p:cTn id="19" dur="500" fill="hold"/>
                                        <p:tgtEl>
                                          <p:spTgt spid="6226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2620" grpId="0"/>
      <p:bldP spid="622621" grpId="0"/>
    </p:bldLst>
  </p:timing>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1161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24642" name="Rectangle 2"/>
          <p:cNvSpPr/>
          <p:nvPr/>
        </p:nvSpPr>
        <p:spPr>
          <a:xfrm>
            <a:off x="609600" y="1143000"/>
            <a:ext cx="8229600" cy="392588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342900" lvl="0" indent="-342900" eaLnBrk="1" hangingPunct="1">
              <a:lnSpc>
                <a:spcPct val="150000"/>
              </a:lnSpc>
              <a:spcBef>
                <a:spcPct val="0"/>
              </a:spcBef>
              <a:buClrTx/>
              <a:buSzTx/>
              <a:buFontTx/>
              <a:buNone/>
            </a:pPr>
            <a:r>
              <a:rPr lang="en-US" altLang="zh-CN" sz="2400" b="1" dirty="0">
                <a:solidFill>
                  <a:srgbClr val="9900CC"/>
                </a:solidFill>
                <a:ea typeface="楷体_GB2312" pitchFamily="49" charset="-122"/>
              </a:rPr>
              <a:t>4. </a:t>
            </a:r>
            <a:r>
              <a:rPr lang="zh-CN" altLang="en-US" sz="2400" b="1" dirty="0">
                <a:solidFill>
                  <a:srgbClr val="9900CC"/>
                </a:solidFill>
                <a:ea typeface="楷体_GB2312" pitchFamily="49" charset="-122"/>
              </a:rPr>
              <a:t>连接中断处理</a:t>
            </a:r>
            <a:endParaRPr lang="zh-CN" altLang="en-US" sz="2400" b="1" dirty="0">
              <a:solidFill>
                <a:srgbClr val="9900CC"/>
              </a:solidFill>
              <a:ea typeface="楷体_GB2312" pitchFamily="49" charset="-122"/>
            </a:endParaRPr>
          </a:p>
          <a:p>
            <a:pPr marL="342900" lvl="0" indent="-342900" eaLnBrk="1" hangingPunct="1">
              <a:lnSpc>
                <a:spcPct val="15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根据连接间接字找出“段名”；</a:t>
            </a:r>
            <a:endParaRPr lang="zh-CN" altLang="en-US" sz="2400" b="1" dirty="0">
              <a:solidFill>
                <a:srgbClr val="000099"/>
              </a:solidFill>
              <a:ea typeface="楷体_GB2312" pitchFamily="49" charset="-122"/>
            </a:endParaRPr>
          </a:p>
          <a:p>
            <a:pPr marL="342900" lvl="0" indent="-342900" eaLnBrk="1" hangingPunct="1">
              <a:lnSpc>
                <a:spcPct val="15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判断该段是否在主存；</a:t>
            </a:r>
            <a:endParaRPr lang="zh-CN" altLang="en-US" sz="2400" b="1" dirty="0">
              <a:solidFill>
                <a:srgbClr val="000099"/>
              </a:solidFill>
              <a:ea typeface="楷体_GB2312" pitchFamily="49" charset="-122"/>
            </a:endParaRPr>
          </a:p>
          <a:p>
            <a:pPr marL="342900" lvl="0" indent="-342900" eaLnBrk="1" hangingPunct="1">
              <a:lnSpc>
                <a:spcPct val="15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在主存，找出段号并修改连接间接字中的地址场和连接标志，返回断点处继续执行。</a:t>
            </a:r>
            <a:endParaRPr lang="zh-CN" altLang="en-US" sz="2400" b="1" dirty="0">
              <a:solidFill>
                <a:srgbClr val="000099"/>
              </a:solidFill>
              <a:ea typeface="楷体_GB2312" pitchFamily="49" charset="-122"/>
            </a:endParaRPr>
          </a:p>
          <a:p>
            <a:pPr marL="342900" lvl="0" indent="-342900" eaLnBrk="1" hangingPunct="1">
              <a:lnSpc>
                <a:spcPct val="150000"/>
              </a:lnSpc>
              <a:spcBef>
                <a:spcPct val="0"/>
              </a:spcBef>
              <a:buClrTx/>
              <a:buSzTx/>
              <a:buFontTx/>
              <a:buNone/>
            </a:pPr>
            <a:r>
              <a:rPr lang="zh-CN" altLang="en-US" sz="2400" b="1" dirty="0">
                <a:solidFill>
                  <a:srgbClr val="000099"/>
                </a:solidFill>
                <a:ea typeface="楷体_GB2312" pitchFamily="49" charset="-122"/>
              </a:rPr>
              <a:t>  </a:t>
            </a: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不在主存，分配主存，调入主存，分配段号，重复上一步骤。</a:t>
            </a:r>
            <a:endParaRPr lang="zh-CN" altLang="en-US" sz="2400" b="1" dirty="0">
              <a:solidFill>
                <a:srgbClr val="000099"/>
              </a:solidFill>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624642"/>
                                        </p:tgtEl>
                                        <p:attrNameLst>
                                          <p:attrName>style.visibility</p:attrName>
                                        </p:attrNameLst>
                                      </p:cBhvr>
                                      <p:to>
                                        <p:strVal val="visible"/>
                                      </p:to>
                                    </p:set>
                                    <p:animEffect transition="in" filter="strips(downRight)">
                                      <p:cBhvr>
                                        <p:cTn id="7" dur="500"/>
                                        <p:tgtEl>
                                          <p:spTgt spid="624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2" grpId="0"/>
    </p:bldLst>
  </p:timing>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1264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625677" name="Rectangle 13"/>
          <p:cNvSpPr/>
          <p:nvPr/>
        </p:nvSpPr>
        <p:spPr>
          <a:xfrm>
            <a:off x="611188" y="620713"/>
            <a:ext cx="1658937" cy="45720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例如：</a:t>
            </a:r>
            <a:endParaRPr lang="zh-CN" altLang="en-US" sz="2400" b="1" dirty="0">
              <a:solidFill>
                <a:srgbClr val="000099"/>
              </a:solidFill>
              <a:latin typeface="Arial" panose="020B0604020202020204" pitchFamily="34" charset="0"/>
              <a:ea typeface="楷体_GB2312" pitchFamily="49" charset="-122"/>
            </a:endParaRPr>
          </a:p>
        </p:txBody>
      </p:sp>
      <p:sp>
        <p:nvSpPr>
          <p:cNvPr id="625685" name="Rectangle 21"/>
          <p:cNvSpPr/>
          <p:nvPr/>
        </p:nvSpPr>
        <p:spPr>
          <a:xfrm>
            <a:off x="2895600" y="838200"/>
            <a:ext cx="2613025" cy="45720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编译后：</a:t>
            </a:r>
            <a:r>
              <a:rPr lang="zh-CN" altLang="en-US" sz="2400" b="1" dirty="0">
                <a:solidFill>
                  <a:srgbClr val="000099"/>
                </a:solidFill>
                <a:latin typeface="Arial" panose="020B0604020202020204" pitchFamily="34" charset="0"/>
                <a:ea typeface="楷体_GB2312" pitchFamily="49" charset="-122"/>
              </a:rPr>
              <a:t>                                </a:t>
            </a:r>
            <a:endParaRPr lang="zh-CN" altLang="en-US" sz="2400" b="1" dirty="0">
              <a:solidFill>
                <a:srgbClr val="000099"/>
              </a:solidFill>
              <a:latin typeface="Arial" panose="020B0604020202020204" pitchFamily="34" charset="0"/>
              <a:ea typeface="楷体_GB2312" pitchFamily="49" charset="-122"/>
            </a:endParaRPr>
          </a:p>
        </p:txBody>
      </p:sp>
      <p:sp useBgFill="1">
        <p:nvSpPr>
          <p:cNvPr id="625686" name="Rectangle 22"/>
          <p:cNvSpPr/>
          <p:nvPr/>
        </p:nvSpPr>
        <p:spPr>
          <a:xfrm>
            <a:off x="6096000" y="228600"/>
            <a:ext cx="2362200" cy="457200"/>
          </a:xfrm>
          <a:prstGeom prst="rect">
            <a:avLst/>
          </a:prstGeom>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连接后：</a:t>
            </a:r>
            <a:endParaRPr lang="zh-CN" altLang="en-US" sz="2400" b="1" dirty="0">
              <a:solidFill>
                <a:srgbClr val="000099"/>
              </a:solidFill>
              <a:latin typeface="Arial" panose="020B0604020202020204" pitchFamily="34" charset="0"/>
              <a:ea typeface="楷体_GB2312" pitchFamily="49" charset="-122"/>
            </a:endParaRPr>
          </a:p>
        </p:txBody>
      </p:sp>
      <p:grpSp>
        <p:nvGrpSpPr>
          <p:cNvPr id="625691" name="Group 27"/>
          <p:cNvGrpSpPr/>
          <p:nvPr/>
        </p:nvGrpSpPr>
        <p:grpSpPr>
          <a:xfrm>
            <a:off x="533400" y="1416050"/>
            <a:ext cx="2209800" cy="2173288"/>
            <a:chOff x="1728" y="2812"/>
            <a:chExt cx="1392" cy="1369"/>
          </a:xfrm>
        </p:grpSpPr>
        <p:sp>
          <p:nvSpPr>
            <p:cNvPr id="112668" name="Rectangle 24"/>
            <p:cNvSpPr/>
            <p:nvPr/>
          </p:nvSpPr>
          <p:spPr>
            <a:xfrm>
              <a:off x="1728" y="2812"/>
              <a:ext cx="480" cy="230"/>
            </a:xfrm>
            <a:prstGeom prst="rect">
              <a:avLst/>
            </a:prstGeom>
            <a:noFill/>
            <a:ln w="9525">
              <a:noFill/>
            </a:ln>
          </p:spPr>
          <p:txBody>
            <a:bodyPr lIns="0" tIns="0" rIns="0" bIns="0"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ea typeface="楷体_GB2312" pitchFamily="49" charset="-122"/>
                </a:rPr>
                <a:t>A</a:t>
              </a:r>
              <a:r>
                <a:rPr lang="zh-CN" altLang="en-US" sz="2000" b="1" dirty="0">
                  <a:solidFill>
                    <a:srgbClr val="000099"/>
                  </a:solidFill>
                  <a:ea typeface="楷体_GB2312" pitchFamily="49" charset="-122"/>
                </a:rPr>
                <a:t>段：</a:t>
              </a:r>
              <a:r>
                <a:rPr lang="zh-CN" altLang="en-US" sz="2400" b="1" dirty="0">
                  <a:solidFill>
                    <a:srgbClr val="000099"/>
                  </a:solidFill>
                  <a:ea typeface="楷体_GB2312" pitchFamily="49" charset="-122"/>
                </a:rPr>
                <a:t> </a:t>
              </a:r>
              <a:endParaRPr lang="zh-CN" altLang="en-US" sz="2400" b="1" dirty="0">
                <a:solidFill>
                  <a:srgbClr val="000099"/>
                </a:solidFill>
                <a:latin typeface="Arial" panose="020B0604020202020204" pitchFamily="34" charset="0"/>
                <a:ea typeface="楷体_GB2312" pitchFamily="49" charset="-122"/>
              </a:endParaRPr>
            </a:p>
          </p:txBody>
        </p:sp>
        <p:sp>
          <p:nvSpPr>
            <p:cNvPr id="112669" name="Rectangle 25"/>
            <p:cNvSpPr/>
            <p:nvPr/>
          </p:nvSpPr>
          <p:spPr>
            <a:xfrm>
              <a:off x="1728" y="3072"/>
              <a:ext cx="1392" cy="1109"/>
            </a:xfrm>
            <a:prstGeom prst="rect">
              <a:avLst/>
            </a:prstGeom>
            <a:noFill/>
            <a:ln w="25400" cap="flat" cmpd="sng">
              <a:solidFill>
                <a:srgbClr val="0000FF"/>
              </a:solidFill>
              <a:prstDash val="solid"/>
              <a:miter/>
              <a:headEnd type="none" w="med" len="med"/>
              <a:tailEnd type="none" w="med" len="med"/>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50000"/>
                </a:lnSpc>
                <a:spcBef>
                  <a:spcPct val="0"/>
                </a:spcBef>
                <a:buClrTx/>
                <a:buSzTx/>
                <a:buFontTx/>
                <a:buNone/>
              </a:pPr>
              <a:r>
                <a:rPr lang="en-US" altLang="zh-CN" sz="2400" b="1" dirty="0">
                  <a:solidFill>
                    <a:srgbClr val="000099"/>
                  </a:solidFill>
                  <a:ea typeface="楷体_GB2312" pitchFamily="49" charset="-122"/>
                </a:rPr>
                <a:t>        </a:t>
              </a:r>
              <a:r>
                <a:rPr lang="en-US" altLang="zh-CN" sz="2400" b="1" dirty="0">
                  <a:solidFill>
                    <a:srgbClr val="000099"/>
                  </a:solidFill>
                  <a:latin typeface="Arial" panose="020B0604020202020204" pitchFamily="34" charset="0"/>
                  <a:ea typeface="楷体_GB2312" pitchFamily="49" charset="-122"/>
                </a:rPr>
                <a:t>┇                 </a:t>
              </a: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r>
                <a:rPr lang="en-US" altLang="zh-CN" sz="2400" b="1" dirty="0">
                  <a:solidFill>
                    <a:srgbClr val="000099"/>
                  </a:solidFill>
                  <a:latin typeface="Arial" panose="020B0604020202020204" pitchFamily="34" charset="0"/>
                  <a:ea typeface="楷体_GB2312" pitchFamily="49" charset="-122"/>
                </a:rPr>
                <a:t>CALL  X │ Y      </a:t>
              </a: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r>
                <a:rPr lang="en-US" altLang="zh-CN" sz="2400" b="1" dirty="0">
                  <a:solidFill>
                    <a:srgbClr val="000099"/>
                  </a:solidFill>
                  <a:latin typeface="Arial" panose="020B0604020202020204" pitchFamily="34" charset="0"/>
                  <a:ea typeface="楷体_GB2312" pitchFamily="49" charset="-122"/>
                </a:rPr>
                <a:t>        ┇               </a:t>
              </a:r>
              <a:endParaRPr lang="en-US" altLang="zh-CN" sz="2400" b="1" dirty="0">
                <a:solidFill>
                  <a:srgbClr val="000099"/>
                </a:solidFill>
                <a:latin typeface="Arial" panose="020B0604020202020204" pitchFamily="34" charset="0"/>
                <a:ea typeface="楷体_GB2312" pitchFamily="49" charset="-122"/>
              </a:endParaRPr>
            </a:p>
          </p:txBody>
        </p:sp>
      </p:grpSp>
      <p:grpSp>
        <p:nvGrpSpPr>
          <p:cNvPr id="625693" name="Group 29"/>
          <p:cNvGrpSpPr/>
          <p:nvPr/>
        </p:nvGrpSpPr>
        <p:grpSpPr>
          <a:xfrm>
            <a:off x="609600" y="3886200"/>
            <a:ext cx="2133600" cy="1931988"/>
            <a:chOff x="1728" y="2928"/>
            <a:chExt cx="1104" cy="1217"/>
          </a:xfrm>
        </p:grpSpPr>
        <p:sp>
          <p:nvSpPr>
            <p:cNvPr id="112666" name="Rectangle 19"/>
            <p:cNvSpPr/>
            <p:nvPr/>
          </p:nvSpPr>
          <p:spPr>
            <a:xfrm>
              <a:off x="1728" y="2928"/>
              <a:ext cx="576" cy="345"/>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2533650" algn="l"/>
                </a:tabLst>
              </a:pPr>
              <a:r>
                <a:rPr lang="en-US" altLang="zh-CN" sz="1200" dirty="0">
                  <a:latin typeface="Arial" panose="020B0604020202020204" pitchFamily="34" charset="0"/>
                </a:rPr>
                <a:t>     </a:t>
              </a:r>
              <a:endParaRPr lang="en-US" altLang="zh-CN" sz="2400" b="1" dirty="0">
                <a:solidFill>
                  <a:srgbClr val="000099"/>
                </a:solidFill>
                <a:latin typeface="Arial" panose="020B0604020202020204" pitchFamily="34" charset="0"/>
                <a:ea typeface="楷体_GB2312" pitchFamily="49" charset="-122"/>
              </a:endParaRPr>
            </a:p>
            <a:p>
              <a:pPr marL="0" lvl="0" indent="0" defTabSz="914400">
                <a:spcBef>
                  <a:spcPct val="0"/>
                </a:spcBef>
                <a:buClrTx/>
                <a:buSzTx/>
                <a:buFontTx/>
                <a:buNone/>
                <a:tabLst>
                  <a:tab pos="2533650" algn="l"/>
                </a:tabLst>
              </a:pPr>
              <a:r>
                <a:rPr lang="en-US" altLang="zh-CN" sz="2400" b="1" dirty="0">
                  <a:solidFill>
                    <a:srgbClr val="000099"/>
                  </a:solidFill>
                  <a:latin typeface="Arial" panose="020B0604020202020204" pitchFamily="34" charset="0"/>
                  <a:ea typeface="楷体_GB2312" pitchFamily="49" charset="-122"/>
                </a:rPr>
                <a:t> X</a:t>
              </a:r>
              <a:r>
                <a:rPr lang="zh-CN" altLang="en-US" sz="2400" b="1" dirty="0">
                  <a:solidFill>
                    <a:srgbClr val="000099"/>
                  </a:solidFill>
                  <a:latin typeface="Arial" panose="020B0604020202020204" pitchFamily="34" charset="0"/>
                  <a:ea typeface="楷体_GB2312" pitchFamily="49" charset="-122"/>
                </a:rPr>
                <a:t>段：</a:t>
              </a:r>
              <a:endParaRPr lang="zh-CN" altLang="en-US" sz="2400" b="1" dirty="0">
                <a:solidFill>
                  <a:srgbClr val="000099"/>
                </a:solidFill>
                <a:latin typeface="Arial" panose="020B0604020202020204" pitchFamily="34" charset="0"/>
                <a:ea typeface="楷体_GB2312" pitchFamily="49" charset="-122"/>
              </a:endParaRPr>
            </a:p>
          </p:txBody>
        </p:sp>
        <p:sp>
          <p:nvSpPr>
            <p:cNvPr id="112667" name="Rectangle 28"/>
            <p:cNvSpPr/>
            <p:nvPr/>
          </p:nvSpPr>
          <p:spPr>
            <a:xfrm>
              <a:off x="1728" y="3266"/>
              <a:ext cx="1104" cy="879"/>
            </a:xfrm>
            <a:prstGeom prst="rect">
              <a:avLst/>
            </a:prstGeom>
            <a:noFill/>
            <a:ln w="25400" cap="flat" cmpd="sng">
              <a:solidFill>
                <a:srgbClr val="0000FF"/>
              </a:solidFill>
              <a:prstDash val="solid"/>
              <a:miter/>
              <a:headEnd type="none" w="med" len="med"/>
              <a:tailEnd type="none" w="med" len="med"/>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2533650" algn="l"/>
                </a:tabLst>
              </a:pPr>
              <a:r>
                <a:rPr lang="en-US" altLang="zh-CN" sz="1200" dirty="0">
                  <a:latin typeface="Arial" panose="020B0604020202020204" pitchFamily="34" charset="0"/>
                </a:rPr>
                <a:t>     </a:t>
              </a:r>
              <a:endParaRPr lang="en-US" altLang="zh-CN" sz="2400" b="1" dirty="0">
                <a:solidFill>
                  <a:srgbClr val="000099"/>
                </a:solidFill>
                <a:latin typeface="Arial" panose="020B0604020202020204" pitchFamily="34" charset="0"/>
                <a:ea typeface="楷体_GB2312" pitchFamily="49" charset="-122"/>
              </a:endParaRPr>
            </a:p>
            <a:p>
              <a:pPr marL="0" lvl="0" indent="0" defTabSz="914400">
                <a:spcBef>
                  <a:spcPct val="0"/>
                </a:spcBef>
                <a:buClrTx/>
                <a:buSzTx/>
                <a:buFontTx/>
                <a:buNone/>
                <a:tabLst>
                  <a:tab pos="2533650" algn="l"/>
                </a:tabLst>
              </a:pPr>
              <a:r>
                <a:rPr lang="en-US" altLang="zh-CN" sz="2400" b="1" dirty="0">
                  <a:solidFill>
                    <a:srgbClr val="000099"/>
                  </a:solidFill>
                  <a:latin typeface="Arial" panose="020B0604020202020204" pitchFamily="34" charset="0"/>
                  <a:ea typeface="楷体_GB2312" pitchFamily="49" charset="-122"/>
                </a:rPr>
                <a:t>        ┇       </a:t>
              </a:r>
              <a:endParaRPr lang="en-US" altLang="zh-CN" sz="2400" b="1" dirty="0">
                <a:solidFill>
                  <a:srgbClr val="000099"/>
                </a:solidFill>
                <a:latin typeface="Arial" panose="020B0604020202020204" pitchFamily="34" charset="0"/>
                <a:ea typeface="楷体_GB2312" pitchFamily="49" charset="-122"/>
              </a:endParaRPr>
            </a:p>
            <a:p>
              <a:pPr marL="0" lvl="0" indent="0" defTabSz="914400">
                <a:spcBef>
                  <a:spcPct val="0"/>
                </a:spcBef>
                <a:buClrTx/>
                <a:buSzTx/>
                <a:buFontTx/>
                <a:buNone/>
                <a:tabLst>
                  <a:tab pos="2533650" algn="l"/>
                </a:tabLst>
              </a:pPr>
              <a:r>
                <a:rPr lang="en-US" altLang="zh-CN" sz="2400" b="1" dirty="0">
                  <a:solidFill>
                    <a:srgbClr val="000099"/>
                  </a:solidFill>
                  <a:latin typeface="Arial" panose="020B0604020202020204" pitchFamily="34" charset="0"/>
                  <a:ea typeface="楷体_GB2312" pitchFamily="49" charset="-122"/>
                </a:rPr>
                <a:t>    X │ Y </a:t>
              </a:r>
              <a:endParaRPr lang="en-US" altLang="zh-CN" sz="2400" b="1" dirty="0">
                <a:solidFill>
                  <a:srgbClr val="000099"/>
                </a:solidFill>
                <a:latin typeface="Arial" panose="020B0604020202020204" pitchFamily="34" charset="0"/>
                <a:ea typeface="楷体_GB2312" pitchFamily="49" charset="-122"/>
              </a:endParaRPr>
            </a:p>
            <a:p>
              <a:pPr marL="0" lvl="0" indent="0" defTabSz="914400">
                <a:spcBef>
                  <a:spcPct val="0"/>
                </a:spcBef>
                <a:buClrTx/>
                <a:buSzTx/>
                <a:buFontTx/>
                <a:buNone/>
                <a:tabLst>
                  <a:tab pos="2533650" algn="l"/>
                </a:tabLst>
              </a:pPr>
              <a:r>
                <a:rPr lang="en-US" altLang="zh-CN" sz="2400" b="1" dirty="0">
                  <a:solidFill>
                    <a:srgbClr val="000099"/>
                  </a:solidFill>
                  <a:latin typeface="Arial" panose="020B0604020202020204" pitchFamily="34" charset="0"/>
                  <a:ea typeface="楷体_GB2312" pitchFamily="49" charset="-122"/>
                </a:rPr>
                <a:t>        ┇</a:t>
              </a:r>
              <a:endParaRPr lang="en-US" altLang="zh-CN" sz="2400" b="1" dirty="0">
                <a:solidFill>
                  <a:srgbClr val="000099"/>
                </a:solidFill>
                <a:latin typeface="Arial" panose="020B0604020202020204" pitchFamily="34" charset="0"/>
                <a:ea typeface="楷体_GB2312" pitchFamily="49" charset="-122"/>
              </a:endParaRPr>
            </a:p>
          </p:txBody>
        </p:sp>
      </p:grpSp>
      <p:grpSp>
        <p:nvGrpSpPr>
          <p:cNvPr id="625697" name="Group 33"/>
          <p:cNvGrpSpPr/>
          <p:nvPr/>
        </p:nvGrpSpPr>
        <p:grpSpPr>
          <a:xfrm>
            <a:off x="2916238" y="1412875"/>
            <a:ext cx="2967037" cy="4408488"/>
            <a:chOff x="1824" y="816"/>
            <a:chExt cx="1824" cy="2777"/>
          </a:xfrm>
        </p:grpSpPr>
        <p:sp>
          <p:nvSpPr>
            <p:cNvPr id="112659" name="Rectangle 32"/>
            <p:cNvSpPr/>
            <p:nvPr/>
          </p:nvSpPr>
          <p:spPr>
            <a:xfrm>
              <a:off x="1824" y="1104"/>
              <a:ext cx="1824" cy="2489"/>
            </a:xfrm>
            <a:prstGeom prst="rect">
              <a:avLst/>
            </a:prstGeom>
            <a:noFill/>
            <a:ln w="25400" cap="flat" cmpd="sng">
              <a:solidFill>
                <a:srgbClr val="0000FF"/>
              </a:solidFill>
              <a:prstDash val="solid"/>
              <a:miter/>
              <a:headEnd type="none" w="med" len="med"/>
              <a:tailEnd type="none" w="med" len="med"/>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50000"/>
                </a:lnSpc>
                <a:spcBef>
                  <a:spcPct val="0"/>
                </a:spcBef>
                <a:buClrTx/>
                <a:buSzTx/>
                <a:buFontTx/>
                <a:buNone/>
              </a:pPr>
              <a:r>
                <a:rPr lang="en-US" altLang="zh-CN" sz="2400" b="1" dirty="0">
                  <a:solidFill>
                    <a:srgbClr val="000099"/>
                  </a:solidFill>
                  <a:ea typeface="楷体_GB2312" pitchFamily="49" charset="-122"/>
                </a:rPr>
                <a:t>             </a:t>
              </a:r>
              <a:r>
                <a:rPr lang="en-US" altLang="zh-CN" sz="2400" b="1" dirty="0">
                  <a:solidFill>
                    <a:srgbClr val="000099"/>
                  </a:solidFill>
                  <a:latin typeface="Arial" panose="020B0604020202020204" pitchFamily="34" charset="0"/>
                  <a:ea typeface="楷体_GB2312" pitchFamily="49" charset="-122"/>
                </a:rPr>
                <a:t>┇                 </a:t>
              </a: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r>
                <a:rPr lang="en-US" altLang="zh-CN" sz="2400" b="1" dirty="0">
                  <a:solidFill>
                    <a:srgbClr val="000099"/>
                  </a:solidFill>
                  <a:latin typeface="Arial" panose="020B0604020202020204" pitchFamily="34" charset="0"/>
                  <a:ea typeface="楷体_GB2312" pitchFamily="49" charset="-122"/>
                </a:rPr>
                <a:t>CALL *1 | 2000 </a:t>
              </a: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r>
                <a:rPr lang="en-US" altLang="zh-CN" sz="2400" b="1" dirty="0">
                  <a:solidFill>
                    <a:srgbClr val="000099"/>
                  </a:solidFill>
                  <a:latin typeface="Arial" panose="020B0604020202020204" pitchFamily="34" charset="0"/>
                  <a:ea typeface="楷体_GB2312" pitchFamily="49" charset="-122"/>
                </a:rPr>
                <a:t>            ┇  </a:t>
              </a: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r>
                <a:rPr lang="en-US" altLang="zh-CN" sz="2400" b="1" dirty="0">
                  <a:solidFill>
                    <a:srgbClr val="000099"/>
                  </a:solidFill>
                  <a:latin typeface="Arial" panose="020B0604020202020204" pitchFamily="34" charset="0"/>
                  <a:ea typeface="楷体_GB2312" pitchFamily="49" charset="-122"/>
                </a:rPr>
                <a:t>            ┇</a:t>
              </a: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r>
                <a:rPr lang="en-US" altLang="zh-CN" sz="2400" b="1" dirty="0">
                  <a:solidFill>
                    <a:srgbClr val="000099"/>
                  </a:solidFill>
                  <a:latin typeface="Arial" panose="020B0604020202020204" pitchFamily="34" charset="0"/>
                  <a:ea typeface="楷体_GB2312" pitchFamily="49" charset="-122"/>
                </a:rPr>
                <a:t>            ┇</a:t>
              </a:r>
              <a:endParaRPr lang="en-US" altLang="zh-CN" sz="2400" b="1" dirty="0">
                <a:solidFill>
                  <a:srgbClr val="000099"/>
                </a:solidFill>
                <a:latin typeface="Arial" panose="020B0604020202020204" pitchFamily="34" charset="0"/>
                <a:ea typeface="楷体_GB2312" pitchFamily="49" charset="-122"/>
              </a:endParaRPr>
            </a:p>
          </p:txBody>
        </p:sp>
        <p:grpSp>
          <p:nvGrpSpPr>
            <p:cNvPr id="112660" name="Group 9"/>
            <p:cNvGrpSpPr/>
            <p:nvPr/>
          </p:nvGrpSpPr>
          <p:grpSpPr>
            <a:xfrm>
              <a:off x="1920" y="2160"/>
              <a:ext cx="1632" cy="288"/>
              <a:chOff x="6804" y="5418"/>
              <a:chExt cx="2310" cy="500"/>
            </a:xfrm>
          </p:grpSpPr>
          <p:sp>
            <p:nvSpPr>
              <p:cNvPr id="112663" name="Rectangle 12"/>
              <p:cNvSpPr/>
              <p:nvPr/>
            </p:nvSpPr>
            <p:spPr>
              <a:xfrm>
                <a:off x="6804" y="5418"/>
                <a:ext cx="420" cy="500"/>
              </a:xfrm>
              <a:prstGeom prst="rect">
                <a:avLst/>
              </a:prstGeom>
              <a:solidFill>
                <a:srgbClr val="FFFFFF"/>
              </a:solidFill>
              <a:ln w="25400" cap="flat" cmpd="sng">
                <a:solidFill>
                  <a:srgbClr val="00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latin typeface="Arial" panose="020B0604020202020204" pitchFamily="34" charset="0"/>
                    <a:ea typeface="楷体_GB2312" pitchFamily="49" charset="-122"/>
                  </a:rPr>
                  <a:t>  </a:t>
                </a:r>
                <a:r>
                  <a:rPr lang="en-US" altLang="zh-CN" sz="2400" b="1" dirty="0">
                    <a:solidFill>
                      <a:srgbClr val="000099"/>
                    </a:solidFill>
                    <a:latin typeface="Arial" panose="020B0604020202020204" pitchFamily="34" charset="0"/>
                    <a:ea typeface="楷体_GB2312" pitchFamily="49" charset="-122"/>
                  </a:rPr>
                  <a:t>1 </a:t>
                </a:r>
                <a:endParaRPr lang="en-US" altLang="zh-CN" sz="2400" b="1" dirty="0">
                  <a:solidFill>
                    <a:srgbClr val="000099"/>
                  </a:solidFill>
                  <a:latin typeface="Arial" panose="020B0604020202020204" pitchFamily="34" charset="0"/>
                  <a:ea typeface="楷体_GB2312" pitchFamily="49" charset="-122"/>
                </a:endParaRPr>
              </a:p>
            </p:txBody>
          </p:sp>
          <p:sp>
            <p:nvSpPr>
              <p:cNvPr id="112664" name="Rectangle 11"/>
              <p:cNvSpPr/>
              <p:nvPr/>
            </p:nvSpPr>
            <p:spPr>
              <a:xfrm>
                <a:off x="7224" y="5418"/>
                <a:ext cx="735" cy="500"/>
              </a:xfrm>
              <a:prstGeom prst="rect">
                <a:avLst/>
              </a:prstGeom>
              <a:solidFill>
                <a:srgbClr val="FFFFFF"/>
              </a:solidFill>
              <a:ln w="25400" cap="flat" cmpd="sng">
                <a:solidFill>
                  <a:srgbClr val="0000FF"/>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12665" name="Rectangle 10"/>
              <p:cNvSpPr/>
              <p:nvPr/>
            </p:nvSpPr>
            <p:spPr>
              <a:xfrm>
                <a:off x="7959" y="5418"/>
                <a:ext cx="1155" cy="500"/>
              </a:xfrm>
              <a:prstGeom prst="rect">
                <a:avLst/>
              </a:prstGeom>
              <a:solidFill>
                <a:srgbClr val="FFFFFF"/>
              </a:solidFill>
              <a:ln w="25400" cap="flat" cmpd="sng">
                <a:solidFill>
                  <a:srgbClr val="00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000" dirty="0">
                    <a:latin typeface="Arial" panose="020B0604020202020204" pitchFamily="34" charset="0"/>
                  </a:rPr>
                  <a:t>    </a:t>
                </a:r>
                <a:r>
                  <a:rPr lang="en-US" altLang="zh-CN" sz="2400" b="1" dirty="0">
                    <a:solidFill>
                      <a:srgbClr val="000099"/>
                    </a:solidFill>
                    <a:latin typeface="Arial" panose="020B0604020202020204" pitchFamily="34" charset="0"/>
                    <a:ea typeface="楷体_GB2312" pitchFamily="49" charset="-122"/>
                  </a:rPr>
                  <a:t>1 | 2400</a:t>
                </a:r>
                <a:endParaRPr lang="en-US" altLang="zh-CN" sz="2400" b="1" dirty="0">
                  <a:solidFill>
                    <a:srgbClr val="000099"/>
                  </a:solidFill>
                  <a:latin typeface="Arial" panose="020B0604020202020204" pitchFamily="34" charset="0"/>
                  <a:ea typeface="楷体_GB2312" pitchFamily="49" charset="-122"/>
                </a:endParaRPr>
              </a:p>
            </p:txBody>
          </p:sp>
        </p:grpSp>
        <p:sp>
          <p:nvSpPr>
            <p:cNvPr id="112661" name="Rectangle 4"/>
            <p:cNvSpPr/>
            <p:nvPr/>
          </p:nvSpPr>
          <p:spPr>
            <a:xfrm>
              <a:off x="1920" y="2928"/>
              <a:ext cx="1632" cy="288"/>
            </a:xfrm>
            <a:prstGeom prst="rect">
              <a:avLst/>
            </a:prstGeom>
            <a:solidFill>
              <a:srgbClr val="FFFFFF"/>
            </a:solidFill>
            <a:ln w="25400" cap="flat" cmpd="sng">
              <a:solidFill>
                <a:srgbClr val="0000FF"/>
              </a:solidFill>
              <a:prstDash val="solid"/>
              <a:miter/>
              <a:headEnd type="none" w="med" len="med"/>
              <a:tailEnd type="none" w="med" len="med"/>
            </a:ln>
          </p:spPr>
          <p:txBody>
            <a:bodyPr lIns="0" tIns="7200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200" dirty="0">
                  <a:latin typeface="Arial" panose="020B0604020202020204" pitchFamily="34" charset="0"/>
                </a:rPr>
                <a:t>                  </a:t>
              </a:r>
              <a:r>
                <a:rPr lang="en-US" altLang="zh-CN" sz="2400" b="1" dirty="0">
                  <a:solidFill>
                    <a:srgbClr val="000099"/>
                  </a:solidFill>
                  <a:latin typeface="楷体_GB2312" pitchFamily="49" charset="-122"/>
                  <a:ea typeface="楷体_GB2312" pitchFamily="49" charset="-122"/>
                </a:rPr>
                <a:t>X │ Y</a:t>
              </a:r>
              <a:endParaRPr lang="en-US" altLang="zh-CN" sz="2400" b="1" dirty="0">
                <a:solidFill>
                  <a:srgbClr val="000099"/>
                </a:solidFill>
                <a:latin typeface="楷体_GB2312" pitchFamily="49" charset="-122"/>
                <a:ea typeface="楷体_GB2312" pitchFamily="49" charset="-122"/>
              </a:endParaRPr>
            </a:p>
          </p:txBody>
        </p:sp>
        <p:sp>
          <p:nvSpPr>
            <p:cNvPr id="112662" name="Rectangle 31"/>
            <p:cNvSpPr/>
            <p:nvPr/>
          </p:nvSpPr>
          <p:spPr>
            <a:xfrm>
              <a:off x="1824" y="816"/>
              <a:ext cx="720" cy="288"/>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99"/>
                  </a:solidFill>
                  <a:ea typeface="楷体_GB2312" pitchFamily="49" charset="-122"/>
                </a:rPr>
                <a:t>1</a:t>
              </a:r>
              <a:r>
                <a:rPr lang="en-US" altLang="zh-CN" sz="2400" b="1" baseline="30000" dirty="0">
                  <a:solidFill>
                    <a:srgbClr val="000099"/>
                  </a:solidFill>
                  <a:ea typeface="楷体_GB2312" pitchFamily="49" charset="-122"/>
                </a:rPr>
                <a:t>#</a:t>
              </a: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段： </a:t>
              </a:r>
              <a:endParaRPr lang="zh-CN" altLang="en-US" sz="2400" b="1" dirty="0">
                <a:solidFill>
                  <a:srgbClr val="000099"/>
                </a:solidFill>
                <a:ea typeface="楷体_GB2312" pitchFamily="49" charset="-122"/>
              </a:endParaRPr>
            </a:p>
          </p:txBody>
        </p:sp>
      </p:grpSp>
      <p:grpSp>
        <p:nvGrpSpPr>
          <p:cNvPr id="625710" name="Group 46"/>
          <p:cNvGrpSpPr/>
          <p:nvPr/>
        </p:nvGrpSpPr>
        <p:grpSpPr>
          <a:xfrm>
            <a:off x="6096000" y="685800"/>
            <a:ext cx="2895600" cy="4248150"/>
            <a:chOff x="3744" y="381"/>
            <a:chExt cx="1824" cy="2676"/>
          </a:xfrm>
        </p:grpSpPr>
        <p:sp useBgFill="1">
          <p:nvSpPr>
            <p:cNvPr id="112653" name="Rectangle 36"/>
            <p:cNvSpPr/>
            <p:nvPr/>
          </p:nvSpPr>
          <p:spPr>
            <a:xfrm>
              <a:off x="3744" y="626"/>
              <a:ext cx="1824" cy="2431"/>
            </a:xfrm>
            <a:prstGeom prst="rect">
              <a:avLst/>
            </a:prstGeom>
            <a:ln w="25400" cap="flat" cmpd="sng">
              <a:solidFill>
                <a:srgbClr val="0000FF"/>
              </a:solidFill>
              <a:prstDash val="solid"/>
              <a:miter/>
              <a:headEnd type="none" w="med" len="med"/>
              <a:tailEnd type="none" w="med" len="med"/>
            </a:ln>
          </p:spPr>
          <p:txBody>
            <a:bodyPr lIns="0" tIns="0" rIns="0" bIns="0"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50000"/>
                </a:lnSpc>
                <a:spcBef>
                  <a:spcPct val="0"/>
                </a:spcBef>
                <a:buClrTx/>
                <a:buSzTx/>
                <a:buFontTx/>
                <a:buNone/>
              </a:pPr>
              <a:r>
                <a:rPr lang="en-US" altLang="zh-CN" sz="2400" b="1" dirty="0">
                  <a:solidFill>
                    <a:srgbClr val="000099"/>
                  </a:solidFill>
                  <a:ea typeface="楷体_GB2312" pitchFamily="49" charset="-122"/>
                </a:rPr>
                <a:t>             </a:t>
              </a:r>
              <a:r>
                <a:rPr lang="en-US" altLang="zh-CN" sz="2400" b="1" dirty="0">
                  <a:solidFill>
                    <a:srgbClr val="000099"/>
                  </a:solidFill>
                  <a:latin typeface="Arial" panose="020B0604020202020204" pitchFamily="34" charset="0"/>
                  <a:ea typeface="楷体_GB2312" pitchFamily="49" charset="-122"/>
                </a:rPr>
                <a:t>┇                 </a:t>
              </a: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r>
                <a:rPr lang="en-US" altLang="zh-CN" sz="2400" b="1" dirty="0">
                  <a:solidFill>
                    <a:srgbClr val="000099"/>
                  </a:solidFill>
                  <a:latin typeface="Arial" panose="020B0604020202020204" pitchFamily="34" charset="0"/>
                  <a:ea typeface="楷体_GB2312" pitchFamily="49" charset="-122"/>
                </a:rPr>
                <a:t>CALL *1 | 2000 </a:t>
              </a: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r>
                <a:rPr lang="en-US" altLang="zh-CN" sz="2400" b="1" dirty="0">
                  <a:solidFill>
                    <a:srgbClr val="000099"/>
                  </a:solidFill>
                  <a:latin typeface="Arial" panose="020B0604020202020204" pitchFamily="34" charset="0"/>
                  <a:ea typeface="楷体_GB2312" pitchFamily="49" charset="-122"/>
                </a:rPr>
                <a:t>            ┇  </a:t>
              </a: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r>
                <a:rPr lang="en-US" altLang="zh-CN" sz="2400" b="1" dirty="0">
                  <a:solidFill>
                    <a:srgbClr val="000099"/>
                  </a:solidFill>
                  <a:latin typeface="Arial" panose="020B0604020202020204" pitchFamily="34" charset="0"/>
                  <a:ea typeface="楷体_GB2312" pitchFamily="49" charset="-122"/>
                </a:rPr>
                <a:t>            ┇</a:t>
              </a: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endParaRPr lang="en-US" altLang="zh-CN" sz="2400" b="1" dirty="0">
                <a:solidFill>
                  <a:srgbClr val="000099"/>
                </a:solidFill>
                <a:latin typeface="Arial" panose="020B0604020202020204" pitchFamily="34" charset="0"/>
                <a:ea typeface="楷体_GB2312" pitchFamily="49" charset="-122"/>
              </a:endParaRPr>
            </a:p>
            <a:p>
              <a:pPr marL="0" lvl="0" indent="0">
                <a:lnSpc>
                  <a:spcPct val="150000"/>
                </a:lnSpc>
                <a:spcBef>
                  <a:spcPct val="0"/>
                </a:spcBef>
                <a:buClrTx/>
                <a:buSzTx/>
                <a:buFontTx/>
                <a:buNone/>
              </a:pPr>
              <a:r>
                <a:rPr lang="en-US" altLang="zh-CN" sz="2400" b="1" dirty="0">
                  <a:solidFill>
                    <a:srgbClr val="000099"/>
                  </a:solidFill>
                  <a:latin typeface="Arial" panose="020B0604020202020204" pitchFamily="34" charset="0"/>
                  <a:ea typeface="楷体_GB2312" pitchFamily="49" charset="-122"/>
                </a:rPr>
                <a:t>            ┇</a:t>
              </a:r>
              <a:endParaRPr lang="en-US" altLang="zh-CN" sz="2400" b="1" dirty="0">
                <a:solidFill>
                  <a:srgbClr val="000099"/>
                </a:solidFill>
                <a:latin typeface="Arial" panose="020B0604020202020204" pitchFamily="34" charset="0"/>
                <a:ea typeface="楷体_GB2312" pitchFamily="49" charset="-122"/>
              </a:endParaRPr>
            </a:p>
          </p:txBody>
        </p:sp>
        <p:sp useBgFill="1">
          <p:nvSpPr>
            <p:cNvPr id="112654" name="Rectangle 38"/>
            <p:cNvSpPr/>
            <p:nvPr/>
          </p:nvSpPr>
          <p:spPr>
            <a:xfrm>
              <a:off x="3840" y="1732"/>
              <a:ext cx="297" cy="262"/>
            </a:xfrm>
            <a:prstGeom prst="rect">
              <a:avLst/>
            </a:prstGeom>
            <a:ln w="25400" cap="flat" cmpd="sng">
              <a:solidFill>
                <a:srgbClr val="00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latin typeface="Arial" panose="020B0604020202020204" pitchFamily="34" charset="0"/>
                  <a:ea typeface="楷体_GB2312" pitchFamily="49" charset="-122"/>
                </a:rPr>
                <a:t>  </a:t>
              </a:r>
              <a:r>
                <a:rPr lang="en-US" altLang="zh-CN" sz="2400" b="1" dirty="0">
                  <a:solidFill>
                    <a:srgbClr val="000099"/>
                  </a:solidFill>
                  <a:latin typeface="Arial" panose="020B0604020202020204" pitchFamily="34" charset="0"/>
                  <a:ea typeface="楷体_GB2312" pitchFamily="49" charset="-122"/>
                </a:rPr>
                <a:t>0 </a:t>
              </a:r>
              <a:endParaRPr lang="en-US" altLang="zh-CN" sz="2400" b="1" dirty="0">
                <a:solidFill>
                  <a:srgbClr val="000099"/>
                </a:solidFill>
                <a:latin typeface="Arial" panose="020B0604020202020204" pitchFamily="34" charset="0"/>
                <a:ea typeface="楷体_GB2312" pitchFamily="49" charset="-122"/>
              </a:endParaRPr>
            </a:p>
          </p:txBody>
        </p:sp>
        <p:sp useBgFill="1">
          <p:nvSpPr>
            <p:cNvPr id="112655" name="Rectangle 39"/>
            <p:cNvSpPr/>
            <p:nvPr/>
          </p:nvSpPr>
          <p:spPr>
            <a:xfrm>
              <a:off x="4137" y="1732"/>
              <a:ext cx="519" cy="262"/>
            </a:xfrm>
            <a:prstGeom prst="rect">
              <a:avLst/>
            </a:prstGeom>
            <a:ln w="25400" cap="flat" cmpd="sng">
              <a:solidFill>
                <a:srgbClr val="0000FF"/>
              </a:solidFill>
              <a:prstDash val="solid"/>
              <a:miter/>
              <a:headEnd type="none" w="med" len="med"/>
              <a:tailEnd type="none" w="med" len="med"/>
            </a:ln>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useBgFill="1">
          <p:nvSpPr>
            <p:cNvPr id="112656" name="Rectangle 40"/>
            <p:cNvSpPr/>
            <p:nvPr/>
          </p:nvSpPr>
          <p:spPr>
            <a:xfrm>
              <a:off x="4656" y="1732"/>
              <a:ext cx="816" cy="262"/>
            </a:xfrm>
            <a:prstGeom prst="rect">
              <a:avLst/>
            </a:prstGeom>
            <a:ln w="25400" cap="flat" cmpd="sng">
              <a:solidFill>
                <a:srgbClr val="0000FF"/>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000" dirty="0">
                  <a:latin typeface="Arial" panose="020B0604020202020204" pitchFamily="34" charset="0"/>
                </a:rPr>
                <a:t>   </a:t>
              </a:r>
              <a:r>
                <a:rPr lang="en-US" altLang="zh-CN" sz="2400" b="1" dirty="0">
                  <a:solidFill>
                    <a:srgbClr val="0000FF"/>
                  </a:solidFill>
                  <a:latin typeface="Arial" panose="020B0604020202020204" pitchFamily="34" charset="0"/>
                  <a:ea typeface="楷体_GB2312" pitchFamily="49" charset="-122"/>
                </a:rPr>
                <a:t> </a:t>
              </a:r>
              <a:r>
                <a:rPr lang="en-US" altLang="zh-CN" sz="2400" b="1" dirty="0">
                  <a:solidFill>
                    <a:srgbClr val="000099"/>
                  </a:solidFill>
                  <a:latin typeface="Arial" panose="020B0604020202020204" pitchFamily="34" charset="0"/>
                  <a:ea typeface="楷体_GB2312" pitchFamily="49" charset="-122"/>
                </a:rPr>
                <a:t>4|100</a:t>
              </a:r>
              <a:endParaRPr lang="en-US" altLang="zh-CN" sz="2400" b="1" dirty="0">
                <a:solidFill>
                  <a:srgbClr val="000099"/>
                </a:solidFill>
                <a:latin typeface="Arial" panose="020B0604020202020204" pitchFamily="34" charset="0"/>
                <a:ea typeface="楷体_GB2312" pitchFamily="49" charset="-122"/>
              </a:endParaRPr>
            </a:p>
          </p:txBody>
        </p:sp>
        <p:sp useBgFill="1">
          <p:nvSpPr>
            <p:cNvPr id="112657" name="Rectangle 41"/>
            <p:cNvSpPr/>
            <p:nvPr/>
          </p:nvSpPr>
          <p:spPr>
            <a:xfrm>
              <a:off x="3840" y="2439"/>
              <a:ext cx="1632" cy="262"/>
            </a:xfrm>
            <a:prstGeom prst="rect">
              <a:avLst/>
            </a:prstGeom>
            <a:ln w="25400" cap="flat" cmpd="sng">
              <a:solidFill>
                <a:srgbClr val="0000FF"/>
              </a:solidFill>
              <a:prstDash val="solid"/>
              <a:miter/>
              <a:headEnd type="none" w="med" len="med"/>
              <a:tailEnd type="none" w="med" len="med"/>
            </a:ln>
          </p:spPr>
          <p:txBody>
            <a:bodyPr lIns="0" tIns="72000" rIns="0" bIns="0"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200" dirty="0">
                  <a:latin typeface="Arial" panose="020B0604020202020204" pitchFamily="34" charset="0"/>
                </a:rPr>
                <a:t>                  </a:t>
              </a:r>
              <a:r>
                <a:rPr lang="en-US" altLang="zh-CN" sz="2400" b="1" dirty="0">
                  <a:solidFill>
                    <a:srgbClr val="000099"/>
                  </a:solidFill>
                  <a:latin typeface="楷体_GB2312" pitchFamily="49" charset="-122"/>
                  <a:ea typeface="楷体_GB2312" pitchFamily="49" charset="-122"/>
                </a:rPr>
                <a:t>X │ Y</a:t>
              </a:r>
              <a:endParaRPr lang="en-US" altLang="zh-CN" sz="2400" b="1" dirty="0">
                <a:solidFill>
                  <a:srgbClr val="000099"/>
                </a:solidFill>
                <a:latin typeface="楷体_GB2312" pitchFamily="49" charset="-122"/>
                <a:ea typeface="楷体_GB2312" pitchFamily="49" charset="-122"/>
              </a:endParaRPr>
            </a:p>
          </p:txBody>
        </p:sp>
        <p:sp useBgFill="1">
          <p:nvSpPr>
            <p:cNvPr id="112658" name="Rectangle 42"/>
            <p:cNvSpPr/>
            <p:nvPr/>
          </p:nvSpPr>
          <p:spPr>
            <a:xfrm>
              <a:off x="3744" y="381"/>
              <a:ext cx="720" cy="230"/>
            </a:xfrm>
            <a:prstGeom prst="rect">
              <a:avLst/>
            </a:prstGeom>
            <a:ln w="9525">
              <a:noFill/>
            </a:ln>
          </p:spPr>
          <p:txBody>
            <a:bodyPr lIns="0" tIns="0" rIns="0" bIns="0"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99"/>
                  </a:solidFill>
                  <a:ea typeface="楷体_GB2312" pitchFamily="49" charset="-122"/>
                </a:rPr>
                <a:t>1</a:t>
              </a:r>
              <a:r>
                <a:rPr lang="en-US" altLang="zh-CN" sz="2400" b="1" baseline="30000" dirty="0">
                  <a:solidFill>
                    <a:srgbClr val="000099"/>
                  </a:solidFill>
                  <a:ea typeface="楷体_GB2312" pitchFamily="49" charset="-122"/>
                </a:rPr>
                <a:t># </a:t>
              </a: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段： </a:t>
              </a:r>
              <a:endParaRPr lang="zh-CN" altLang="en-US" sz="2400" b="1" dirty="0">
                <a:solidFill>
                  <a:srgbClr val="000099"/>
                </a:solidFill>
                <a:ea typeface="楷体_GB2312" pitchFamily="49" charset="-122"/>
              </a:endParaRPr>
            </a:p>
          </p:txBody>
        </p:sp>
      </p:grpSp>
      <p:grpSp>
        <p:nvGrpSpPr>
          <p:cNvPr id="625707" name="Group 43"/>
          <p:cNvGrpSpPr/>
          <p:nvPr/>
        </p:nvGrpSpPr>
        <p:grpSpPr>
          <a:xfrm>
            <a:off x="6096000" y="4724400"/>
            <a:ext cx="2514600" cy="1931988"/>
            <a:chOff x="1728" y="2928"/>
            <a:chExt cx="1104" cy="1217"/>
          </a:xfrm>
        </p:grpSpPr>
        <p:sp>
          <p:nvSpPr>
            <p:cNvPr id="112651" name="Rectangle 44"/>
            <p:cNvSpPr/>
            <p:nvPr/>
          </p:nvSpPr>
          <p:spPr>
            <a:xfrm>
              <a:off x="1728" y="2928"/>
              <a:ext cx="576" cy="345"/>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2533650" algn="l"/>
                </a:tabLst>
              </a:pPr>
              <a:r>
                <a:rPr lang="en-US" altLang="zh-CN" sz="1200" dirty="0">
                  <a:latin typeface="Arial" panose="020B0604020202020204" pitchFamily="34" charset="0"/>
                </a:rPr>
                <a:t>     </a:t>
              </a:r>
              <a:endParaRPr lang="en-US" altLang="zh-CN" sz="2400" b="1" dirty="0">
                <a:solidFill>
                  <a:srgbClr val="000099"/>
                </a:solidFill>
                <a:latin typeface="Arial" panose="020B0604020202020204" pitchFamily="34" charset="0"/>
                <a:ea typeface="楷体_GB2312" pitchFamily="49" charset="-122"/>
              </a:endParaRPr>
            </a:p>
            <a:p>
              <a:pPr marL="0" lvl="0" indent="0" defTabSz="914400">
                <a:spcBef>
                  <a:spcPct val="0"/>
                </a:spcBef>
                <a:buClrTx/>
                <a:buSzTx/>
                <a:buFontTx/>
                <a:buNone/>
                <a:tabLst>
                  <a:tab pos="2533650" algn="l"/>
                </a:tabLst>
              </a:pPr>
              <a:r>
                <a:rPr lang="en-US" altLang="zh-CN" sz="2400" b="1" dirty="0">
                  <a:solidFill>
                    <a:srgbClr val="000099"/>
                  </a:solidFill>
                  <a:latin typeface="Arial" panose="020B0604020202020204" pitchFamily="34" charset="0"/>
                  <a:ea typeface="楷体_GB2312" pitchFamily="49" charset="-122"/>
                </a:rPr>
                <a:t>4#</a:t>
              </a:r>
              <a:r>
                <a:rPr lang="zh-CN" altLang="en-US" sz="2400" b="1" dirty="0">
                  <a:solidFill>
                    <a:srgbClr val="000099"/>
                  </a:solidFill>
                  <a:latin typeface="Arial" panose="020B0604020202020204" pitchFamily="34" charset="0"/>
                  <a:ea typeface="楷体_GB2312" pitchFamily="49" charset="-122"/>
                </a:rPr>
                <a:t>段：</a:t>
              </a:r>
              <a:endParaRPr lang="zh-CN" altLang="en-US" sz="2400" b="1" dirty="0">
                <a:solidFill>
                  <a:srgbClr val="000099"/>
                </a:solidFill>
                <a:latin typeface="Arial" panose="020B0604020202020204" pitchFamily="34" charset="0"/>
                <a:ea typeface="楷体_GB2312" pitchFamily="49" charset="-122"/>
              </a:endParaRPr>
            </a:p>
          </p:txBody>
        </p:sp>
        <p:sp>
          <p:nvSpPr>
            <p:cNvPr id="112652" name="Rectangle 45"/>
            <p:cNvSpPr/>
            <p:nvPr/>
          </p:nvSpPr>
          <p:spPr>
            <a:xfrm>
              <a:off x="1728" y="3266"/>
              <a:ext cx="1104" cy="879"/>
            </a:xfrm>
            <a:prstGeom prst="rect">
              <a:avLst/>
            </a:prstGeom>
            <a:noFill/>
            <a:ln w="25400" cap="flat" cmpd="sng">
              <a:solidFill>
                <a:srgbClr val="0000FF"/>
              </a:solidFill>
              <a:prstDash val="solid"/>
              <a:miter/>
              <a:headEnd type="none" w="med" len="med"/>
              <a:tailEnd type="none" w="med" len="med"/>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defTabSz="914400" eaLnBrk="1" hangingPunct="1">
                <a:spcBef>
                  <a:spcPct val="0"/>
                </a:spcBef>
                <a:buClrTx/>
                <a:buSzTx/>
                <a:buFontTx/>
                <a:buNone/>
                <a:tabLst>
                  <a:tab pos="2533650" algn="l"/>
                </a:tabLst>
              </a:pPr>
              <a:r>
                <a:rPr lang="en-US" altLang="zh-CN" sz="1200" dirty="0">
                  <a:latin typeface="Arial" panose="020B0604020202020204" pitchFamily="34" charset="0"/>
                </a:rPr>
                <a:t>     </a:t>
              </a:r>
              <a:endParaRPr lang="en-US" altLang="zh-CN" sz="2400" b="1" dirty="0">
                <a:solidFill>
                  <a:srgbClr val="000099"/>
                </a:solidFill>
                <a:latin typeface="Arial" panose="020B0604020202020204" pitchFamily="34" charset="0"/>
                <a:ea typeface="楷体_GB2312" pitchFamily="49" charset="-122"/>
              </a:endParaRPr>
            </a:p>
            <a:p>
              <a:pPr marL="0" lvl="0" indent="0" defTabSz="914400">
                <a:spcBef>
                  <a:spcPct val="0"/>
                </a:spcBef>
                <a:buClrTx/>
                <a:buSzTx/>
                <a:buFontTx/>
                <a:buNone/>
                <a:tabLst>
                  <a:tab pos="2533650" algn="l"/>
                </a:tabLst>
              </a:pPr>
              <a:r>
                <a:rPr lang="en-US" altLang="zh-CN" sz="2400" b="1" dirty="0">
                  <a:solidFill>
                    <a:srgbClr val="000099"/>
                  </a:solidFill>
                  <a:latin typeface="Arial" panose="020B0604020202020204" pitchFamily="34" charset="0"/>
                  <a:ea typeface="楷体_GB2312" pitchFamily="49" charset="-122"/>
                </a:rPr>
                <a:t>        ┇       </a:t>
              </a:r>
              <a:endParaRPr lang="en-US" altLang="zh-CN" sz="2400" b="1" dirty="0">
                <a:solidFill>
                  <a:srgbClr val="000099"/>
                </a:solidFill>
                <a:latin typeface="Arial" panose="020B0604020202020204" pitchFamily="34" charset="0"/>
                <a:ea typeface="楷体_GB2312" pitchFamily="49" charset="-122"/>
              </a:endParaRPr>
            </a:p>
            <a:p>
              <a:pPr marL="0" lvl="0" indent="0" defTabSz="914400">
                <a:spcBef>
                  <a:spcPct val="0"/>
                </a:spcBef>
                <a:buClrTx/>
                <a:buSzTx/>
                <a:buFontTx/>
                <a:buNone/>
                <a:tabLst>
                  <a:tab pos="2533650" algn="l"/>
                </a:tabLst>
              </a:pPr>
              <a:r>
                <a:rPr lang="en-US" altLang="zh-CN" sz="2400" b="1" dirty="0">
                  <a:solidFill>
                    <a:srgbClr val="000099"/>
                  </a:solidFill>
                  <a:latin typeface="Arial" panose="020B0604020202020204" pitchFamily="34" charset="0"/>
                  <a:ea typeface="楷体_GB2312" pitchFamily="49" charset="-122"/>
                </a:rPr>
                <a:t>      4|100</a:t>
              </a:r>
              <a:endParaRPr lang="en-US" altLang="zh-CN" sz="2400" b="1" dirty="0">
                <a:solidFill>
                  <a:srgbClr val="000099"/>
                </a:solidFill>
                <a:latin typeface="Arial" panose="020B0604020202020204" pitchFamily="34" charset="0"/>
                <a:ea typeface="楷体_GB2312" pitchFamily="49" charset="-122"/>
              </a:endParaRPr>
            </a:p>
            <a:p>
              <a:pPr marL="0" lvl="0" indent="0" defTabSz="914400">
                <a:spcBef>
                  <a:spcPct val="0"/>
                </a:spcBef>
                <a:buClrTx/>
                <a:buSzTx/>
                <a:buFontTx/>
                <a:buNone/>
                <a:tabLst>
                  <a:tab pos="2533650" algn="l"/>
                </a:tabLst>
              </a:pPr>
              <a:r>
                <a:rPr lang="en-US" altLang="zh-CN" sz="2400" b="1" dirty="0">
                  <a:solidFill>
                    <a:srgbClr val="000099"/>
                  </a:solidFill>
                  <a:latin typeface="Arial" panose="020B0604020202020204" pitchFamily="34" charset="0"/>
                  <a:ea typeface="楷体_GB2312" pitchFamily="49" charset="-122"/>
                </a:rPr>
                <a:t>        ┇</a:t>
              </a:r>
              <a:endParaRPr lang="en-US" altLang="zh-CN" sz="2400" b="1" dirty="0">
                <a:solidFill>
                  <a:srgbClr val="000099"/>
                </a:solidFill>
                <a:latin typeface="Arial" panose="020B0604020202020204" pitchFamily="34" charset="0"/>
                <a:ea typeface="楷体_GB2312" pitchFamily="49" charset="-122"/>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25677"/>
                                        </p:tgtEl>
                                        <p:attrNameLst>
                                          <p:attrName>style.visibility</p:attrName>
                                        </p:attrNameLst>
                                      </p:cBhvr>
                                      <p:to>
                                        <p:strVal val="visible"/>
                                      </p:to>
                                    </p:set>
                                    <p:animEffect transition="in" filter="wipe(left)">
                                      <p:cBhvr>
                                        <p:cTn id="7" dur="500"/>
                                        <p:tgtEl>
                                          <p:spTgt spid="6256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25691"/>
                                        </p:tgtEl>
                                        <p:attrNameLst>
                                          <p:attrName>style.visibility</p:attrName>
                                        </p:attrNameLst>
                                      </p:cBhvr>
                                      <p:to>
                                        <p:strVal val="visible"/>
                                      </p:to>
                                    </p:set>
                                    <p:animEffect transition="in" filter="wipe(up)">
                                      <p:cBhvr>
                                        <p:cTn id="12" dur="500"/>
                                        <p:tgtEl>
                                          <p:spTgt spid="6256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25693"/>
                                        </p:tgtEl>
                                        <p:attrNameLst>
                                          <p:attrName>style.visibility</p:attrName>
                                        </p:attrNameLst>
                                      </p:cBhvr>
                                      <p:to>
                                        <p:strVal val="visible"/>
                                      </p:to>
                                    </p:set>
                                    <p:animEffect transition="in" filter="wipe(up)">
                                      <p:cBhvr>
                                        <p:cTn id="17" dur="500"/>
                                        <p:tgtEl>
                                          <p:spTgt spid="62569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25685"/>
                                        </p:tgtEl>
                                        <p:attrNameLst>
                                          <p:attrName>style.visibility</p:attrName>
                                        </p:attrNameLst>
                                      </p:cBhvr>
                                      <p:to>
                                        <p:strVal val="visible"/>
                                      </p:to>
                                    </p:set>
                                    <p:animEffect transition="in" filter="wipe(left)">
                                      <p:cBhvr>
                                        <p:cTn id="22" dur="500"/>
                                        <p:tgtEl>
                                          <p:spTgt spid="62568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25697"/>
                                        </p:tgtEl>
                                        <p:attrNameLst>
                                          <p:attrName>style.visibility</p:attrName>
                                        </p:attrNameLst>
                                      </p:cBhvr>
                                      <p:to>
                                        <p:strVal val="visible"/>
                                      </p:to>
                                    </p:set>
                                    <p:animEffect transition="in" filter="wipe(up)">
                                      <p:cBhvr>
                                        <p:cTn id="27" dur="500"/>
                                        <p:tgtEl>
                                          <p:spTgt spid="62569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25686"/>
                                        </p:tgtEl>
                                        <p:attrNameLst>
                                          <p:attrName>style.visibility</p:attrName>
                                        </p:attrNameLst>
                                      </p:cBhvr>
                                      <p:to>
                                        <p:strVal val="visible"/>
                                      </p:to>
                                    </p:set>
                                    <p:animEffect transition="in" filter="wipe(left)">
                                      <p:cBhvr>
                                        <p:cTn id="32" dur="500"/>
                                        <p:tgtEl>
                                          <p:spTgt spid="62568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625710"/>
                                        </p:tgtEl>
                                        <p:attrNameLst>
                                          <p:attrName>style.visibility</p:attrName>
                                        </p:attrNameLst>
                                      </p:cBhvr>
                                      <p:to>
                                        <p:strVal val="visible"/>
                                      </p:to>
                                    </p:set>
                                    <p:animEffect transition="in" filter="wipe(up)">
                                      <p:cBhvr>
                                        <p:cTn id="37" dur="500"/>
                                        <p:tgtEl>
                                          <p:spTgt spid="6257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625707"/>
                                        </p:tgtEl>
                                        <p:attrNameLst>
                                          <p:attrName>style.visibility</p:attrName>
                                        </p:attrNameLst>
                                      </p:cBhvr>
                                      <p:to>
                                        <p:strVal val="visible"/>
                                      </p:to>
                                    </p:set>
                                    <p:animEffect transition="in" filter="wipe(up)">
                                      <p:cBhvr>
                                        <p:cTn id="42" dur="500"/>
                                        <p:tgtEl>
                                          <p:spTgt spid="625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77" grpId="0"/>
      <p:bldP spid="625685" grpId="0"/>
      <p:bldP spid="625686"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21218" name="Rectangle 2"/>
          <p:cNvSpPr/>
          <p:nvPr/>
        </p:nvSpPr>
        <p:spPr>
          <a:xfrm>
            <a:off x="684213" y="908050"/>
            <a:ext cx="3240087" cy="57943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dirty="0">
                <a:solidFill>
                  <a:srgbClr val="000000"/>
                </a:solidFill>
                <a:ea typeface="隶书" panose="02010509060101010101" pitchFamily="49" charset="-122"/>
              </a:rPr>
              <a:t>四、分段的共享</a:t>
            </a:r>
            <a:endParaRPr lang="zh-CN" altLang="en-US" dirty="0">
              <a:solidFill>
                <a:srgbClr val="000000"/>
              </a:solidFill>
              <a:ea typeface="隶书" panose="02010509060101010101" pitchFamily="49" charset="-122"/>
            </a:endParaRPr>
          </a:p>
        </p:txBody>
      </p:sp>
      <p:sp>
        <p:nvSpPr>
          <p:cNvPr id="521219" name="Rectangle 3"/>
          <p:cNvSpPr/>
          <p:nvPr/>
        </p:nvSpPr>
        <p:spPr>
          <a:xfrm>
            <a:off x="611188" y="1557338"/>
            <a:ext cx="8137525" cy="10414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spcBef>
                <a:spcPct val="30000"/>
              </a:spcBef>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采用分段管理并配合动态链接方法，可以避免在每个作业的地址空间中均需保留共享子程序的一个副本。</a:t>
            </a:r>
            <a:endParaRPr lang="zh-CN" altLang="en-US" sz="2400" b="1" dirty="0">
              <a:solidFill>
                <a:srgbClr val="000099"/>
              </a:solidFill>
              <a:ea typeface="楷体_GB2312" pitchFamily="49" charset="-122"/>
            </a:endParaRPr>
          </a:p>
        </p:txBody>
      </p:sp>
      <p:sp>
        <p:nvSpPr>
          <p:cNvPr id="521220" name="Rectangle 4"/>
          <p:cNvSpPr/>
          <p:nvPr/>
        </p:nvSpPr>
        <p:spPr>
          <a:xfrm>
            <a:off x="539750" y="2781300"/>
            <a:ext cx="8280400" cy="10414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30000"/>
              </a:lnSpc>
              <a:spcBef>
                <a:spcPct val="30000"/>
              </a:spcBef>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若两个作业共享一子程序分段，只要在作业段表的相应表目的段首址一项中填入相同的主存地址。</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1218"/>
                                        </p:tgtEl>
                                        <p:attrNameLst>
                                          <p:attrName>style.visibility</p:attrName>
                                        </p:attrNameLst>
                                      </p:cBhvr>
                                      <p:to>
                                        <p:strVal val="visible"/>
                                      </p:to>
                                    </p:set>
                                    <p:anim calcmode="lin" valueType="num">
                                      <p:cBhvr additive="base">
                                        <p:cTn id="7" dur="500" fill="hold"/>
                                        <p:tgtEl>
                                          <p:spTgt spid="521218"/>
                                        </p:tgtEl>
                                        <p:attrNameLst>
                                          <p:attrName>ppt_x</p:attrName>
                                        </p:attrNameLst>
                                      </p:cBhvr>
                                      <p:tavLst>
                                        <p:tav tm="0">
                                          <p:val>
                                            <p:strVal val="0-#ppt_w/2"/>
                                          </p:val>
                                        </p:tav>
                                        <p:tav tm="100000">
                                          <p:val>
                                            <p:strVal val="#ppt_x"/>
                                          </p:val>
                                        </p:tav>
                                      </p:tavLst>
                                    </p:anim>
                                    <p:anim calcmode="lin" valueType="num">
                                      <p:cBhvr additive="base">
                                        <p:cTn id="8" dur="500" fill="hold"/>
                                        <p:tgtEl>
                                          <p:spTgt spid="5212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21219"/>
                                        </p:tgtEl>
                                        <p:attrNameLst>
                                          <p:attrName>style.visibility</p:attrName>
                                        </p:attrNameLst>
                                      </p:cBhvr>
                                      <p:to>
                                        <p:strVal val="visible"/>
                                      </p:to>
                                    </p:set>
                                    <p:anim calcmode="lin" valueType="num">
                                      <p:cBhvr additive="base">
                                        <p:cTn id="13" dur="500" fill="hold"/>
                                        <p:tgtEl>
                                          <p:spTgt spid="521219"/>
                                        </p:tgtEl>
                                        <p:attrNameLst>
                                          <p:attrName>ppt_x</p:attrName>
                                        </p:attrNameLst>
                                      </p:cBhvr>
                                      <p:tavLst>
                                        <p:tav tm="0">
                                          <p:val>
                                            <p:strVal val="0-#ppt_w/2"/>
                                          </p:val>
                                        </p:tav>
                                        <p:tav tm="100000">
                                          <p:val>
                                            <p:strVal val="#ppt_x"/>
                                          </p:val>
                                        </p:tav>
                                      </p:tavLst>
                                    </p:anim>
                                    <p:anim calcmode="lin" valueType="num">
                                      <p:cBhvr additive="base">
                                        <p:cTn id="14" dur="500" fill="hold"/>
                                        <p:tgtEl>
                                          <p:spTgt spid="5212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21220"/>
                                        </p:tgtEl>
                                        <p:attrNameLst>
                                          <p:attrName>style.visibility</p:attrName>
                                        </p:attrNameLst>
                                      </p:cBhvr>
                                      <p:to>
                                        <p:strVal val="visible"/>
                                      </p:to>
                                    </p:set>
                                    <p:anim calcmode="lin" valueType="num">
                                      <p:cBhvr additive="base">
                                        <p:cTn id="19" dur="500" fill="hold"/>
                                        <p:tgtEl>
                                          <p:spTgt spid="521220"/>
                                        </p:tgtEl>
                                        <p:attrNameLst>
                                          <p:attrName>ppt_x</p:attrName>
                                        </p:attrNameLst>
                                      </p:cBhvr>
                                      <p:tavLst>
                                        <p:tav tm="0">
                                          <p:val>
                                            <p:strVal val="0-#ppt_w/2"/>
                                          </p:val>
                                        </p:tav>
                                        <p:tav tm="100000">
                                          <p:val>
                                            <p:strVal val="#ppt_x"/>
                                          </p:val>
                                        </p:tav>
                                      </p:tavLst>
                                    </p:anim>
                                    <p:anim calcmode="lin" valueType="num">
                                      <p:cBhvr additive="base">
                                        <p:cTn id="20" dur="500" fill="hold"/>
                                        <p:tgtEl>
                                          <p:spTgt spid="5212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18" grpId="0"/>
      <p:bldP spid="521219" grpId="0"/>
      <p:bldP spid="521220"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aphicFrame>
        <p:nvGraphicFramePr>
          <p:cNvPr id="522244" name="Object 1028"/>
          <p:cNvGraphicFramePr>
            <a:graphicFrameLocks noChangeAspect="1"/>
          </p:cNvGraphicFramePr>
          <p:nvPr/>
        </p:nvGraphicFramePr>
        <p:xfrm>
          <a:off x="762000" y="160338"/>
          <a:ext cx="8153400" cy="6726237"/>
        </p:xfrm>
        <a:graphic>
          <a:graphicData uri="http://schemas.openxmlformats.org/presentationml/2006/ole">
            <mc:AlternateContent xmlns:mc="http://schemas.openxmlformats.org/markup-compatibility/2006">
              <mc:Choice xmlns:v="urn:schemas-microsoft-com:vml" Requires="v">
                <p:oleObj spid="_x0000_s3091" name="" r:id="rId1" imgW="6905625" imgH="5695950" progId="Paint.Picture">
                  <p:embed/>
                </p:oleObj>
              </mc:Choice>
              <mc:Fallback>
                <p:oleObj name="" r:id="rId1" imgW="6905625" imgH="5695950" progId="Paint.Picture">
                  <p:embed/>
                  <p:pic>
                    <p:nvPicPr>
                      <p:cNvPr id="0" name="图片 3090"/>
                      <p:cNvPicPr/>
                      <p:nvPr/>
                    </p:nvPicPr>
                    <p:blipFill>
                      <a:blip r:embed="rId2"/>
                      <a:stretch>
                        <a:fillRect/>
                      </a:stretch>
                    </p:blipFill>
                    <p:spPr>
                      <a:xfrm>
                        <a:off x="762000" y="160338"/>
                        <a:ext cx="8153400" cy="67262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22244"/>
                                        </p:tgtEl>
                                        <p:attrNameLst>
                                          <p:attrName>style.visibility</p:attrName>
                                        </p:attrNameLst>
                                      </p:cBhvr>
                                      <p:to>
                                        <p:strVal val="visible"/>
                                      </p:to>
                                    </p:set>
                                    <p:animEffect transition="in" filter="strips(downRight)">
                                      <p:cBhvr>
                                        <p:cTn id="7" dur="500"/>
                                        <p:tgtEl>
                                          <p:spTgt spid="522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pic>
        <p:nvPicPr>
          <p:cNvPr id="115715" name="Picture 4" descr="4-21"/>
          <p:cNvPicPr>
            <a:picLocks noChangeAspect="1"/>
          </p:cNvPicPr>
          <p:nvPr/>
        </p:nvPicPr>
        <p:blipFill>
          <a:blip r:embed="rId1"/>
          <a:stretch>
            <a:fillRect/>
          </a:stretch>
        </p:blipFill>
        <p:spPr>
          <a:xfrm>
            <a:off x="1908175" y="1052513"/>
            <a:ext cx="5251450" cy="4475162"/>
          </a:xfrm>
          <a:prstGeom prst="rect">
            <a:avLst/>
          </a:prstGeom>
          <a:noFill/>
          <a:ln w="9525">
            <a:noFill/>
          </a:ln>
        </p:spPr>
      </p:pic>
      <p:sp>
        <p:nvSpPr>
          <p:cNvPr id="115716" name="矩形 3"/>
          <p:cNvSpPr/>
          <p:nvPr/>
        </p:nvSpPr>
        <p:spPr>
          <a:xfrm>
            <a:off x="2195513" y="5805488"/>
            <a:ext cx="4373562" cy="461962"/>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99"/>
                </a:solidFill>
                <a:ea typeface="楷体_GB2312" pitchFamily="49" charset="-122"/>
              </a:rPr>
              <a:t>分页系统中共享</a:t>
            </a:r>
            <a:r>
              <a:rPr lang="en-US" altLang="zh-CN" sz="2400" b="1" dirty="0">
                <a:solidFill>
                  <a:srgbClr val="000099"/>
                </a:solidFill>
                <a:ea typeface="楷体_GB2312" pitchFamily="49" charset="-122"/>
              </a:rPr>
              <a:t>editor</a:t>
            </a:r>
            <a:r>
              <a:rPr lang="zh-CN" altLang="en-US" sz="2400" b="1" dirty="0">
                <a:solidFill>
                  <a:srgbClr val="000099"/>
                </a:solidFill>
                <a:ea typeface="楷体_GB2312" pitchFamily="49" charset="-122"/>
              </a:rPr>
              <a:t>的示意图</a:t>
            </a:r>
            <a:endParaRPr lang="zh-CN" altLang="en-US" sz="2400" b="1" dirty="0">
              <a:solidFill>
                <a:srgbClr val="000099"/>
              </a:solidFill>
              <a:ea typeface="楷体_GB2312" pitchFamily="49"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灯片编号占位符 1"/>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3" name="Rectangle 3"/>
          <p:cNvSpPr txBox="1">
            <a:spLocks noChangeArrowheads="1"/>
          </p:cNvSpPr>
          <p:nvPr/>
        </p:nvSpPr>
        <p:spPr>
          <a:xfrm>
            <a:off x="0" y="5229225"/>
            <a:ext cx="9144000" cy="476250"/>
          </a:xfrm>
          <a:prstGeom prst="rect">
            <a:avLst/>
          </a:prstGeom>
        </p:spPr>
        <p:txBody>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9pPr>
          </a:lstStyle>
          <a:p>
            <a:pPr marL="457200" marR="0" lvl="0" indent="-45720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rPr>
              <a:t>分段系统中共享</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editor</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的示意图</a:t>
            </a:r>
            <a:endParaRPr kumimoji="1" lang="zh-CN" altLang="en-US" sz="2400" b="0" i="0" u="none" strike="noStrike" kern="0" cap="none" spc="0" normalizeH="0" baseline="0" noProof="0" dirty="0">
              <a:ln>
                <a:noFill/>
              </a:ln>
              <a:solidFill>
                <a:schemeClr val="tx1"/>
              </a:solidFill>
              <a:effectLst/>
              <a:uLnTx/>
              <a:uFillTx/>
              <a:latin typeface="+mn-lt"/>
              <a:ea typeface="+mn-ea"/>
              <a:cs typeface="+mn-cs"/>
            </a:endParaRPr>
          </a:p>
        </p:txBody>
      </p:sp>
      <p:pic>
        <p:nvPicPr>
          <p:cNvPr id="116740" name="Picture 4" descr="4-22"/>
          <p:cNvPicPr>
            <a:picLocks noChangeAspect="1"/>
          </p:cNvPicPr>
          <p:nvPr/>
        </p:nvPicPr>
        <p:blipFill>
          <a:blip r:embed="rId1"/>
          <a:stretch>
            <a:fillRect/>
          </a:stretch>
        </p:blipFill>
        <p:spPr>
          <a:xfrm>
            <a:off x="1258888" y="1974850"/>
            <a:ext cx="6769100" cy="2516188"/>
          </a:xfrm>
          <a:prstGeom prst="rect">
            <a:avLst/>
          </a:prstGeom>
          <a:noFill/>
          <a:ln w="9525">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23266" name="Rectangle 2"/>
          <p:cNvSpPr/>
          <p:nvPr/>
        </p:nvSpPr>
        <p:spPr>
          <a:xfrm>
            <a:off x="685800" y="533400"/>
            <a:ext cx="8229600" cy="2501900"/>
          </a:xfrm>
          <a:prstGeom prst="rect">
            <a:avLst/>
          </a:prstGeom>
          <a:solidFill>
            <a:schemeClr val="bg1"/>
          </a:solid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800" dirty="0">
                <a:solidFill>
                  <a:srgbClr val="000000"/>
                </a:solidFill>
                <a:latin typeface="隶书" panose="02010509060101010101" pitchFamily="49" charset="-122"/>
                <a:ea typeface="隶书" panose="02010509060101010101" pitchFamily="49" charset="-122"/>
              </a:rPr>
              <a:t> </a:t>
            </a:r>
            <a:r>
              <a:rPr lang="zh-CN" altLang="en-US" dirty="0">
                <a:solidFill>
                  <a:srgbClr val="000000"/>
                </a:solidFill>
                <a:latin typeface="隶书" panose="02010509060101010101" pitchFamily="49" charset="-122"/>
                <a:ea typeface="隶书" panose="02010509060101010101" pitchFamily="49" charset="-122"/>
              </a:rPr>
              <a:t>五</a:t>
            </a:r>
            <a:r>
              <a:rPr lang="zh-CN" altLang="en-US" dirty="0">
                <a:solidFill>
                  <a:srgbClr val="000000"/>
                </a:solidFill>
                <a:ea typeface="隶书" panose="02010509060101010101" pitchFamily="49" charset="-122"/>
              </a:rPr>
              <a:t>、</a:t>
            </a:r>
            <a:r>
              <a:rPr lang="zh-CN" altLang="en-US" dirty="0">
                <a:solidFill>
                  <a:srgbClr val="000000"/>
                </a:solidFill>
                <a:latin typeface="隶书" panose="02010509060101010101" pitchFamily="49" charset="-122"/>
                <a:ea typeface="隶书" panose="02010509060101010101" pitchFamily="49" charset="-122"/>
              </a:rPr>
              <a:t>分段管理主要优点：</a:t>
            </a:r>
            <a:endParaRPr lang="zh-CN" altLang="en-US" dirty="0">
              <a:solidFill>
                <a:srgbClr val="000000"/>
              </a:solidFill>
              <a:latin typeface="隶书" panose="02010509060101010101" pitchFamily="49" charset="-122"/>
              <a:ea typeface="隶书" panose="02010509060101010101" pitchFamily="49" charset="-122"/>
            </a:endParaRPr>
          </a:p>
          <a:p>
            <a:pPr marL="0" lvl="0" indent="0" eaLnBrk="1" hangingPunct="1">
              <a:lnSpc>
                <a:spcPct val="120000"/>
              </a:lnSpc>
              <a:buClrTx/>
              <a:buSzTx/>
              <a:buFontTx/>
              <a:buNone/>
            </a:pPr>
            <a:r>
              <a:rPr lang="en-US" altLang="zh-CN" sz="2400" b="1" dirty="0">
                <a:solidFill>
                  <a:srgbClr val="9900CC"/>
                </a:solidFill>
                <a:ea typeface="楷体_GB2312" pitchFamily="49" charset="-122"/>
              </a:rPr>
              <a:t>1</a:t>
            </a:r>
            <a:r>
              <a:rPr lang="zh-CN" altLang="en-US" sz="2400" b="1" dirty="0">
                <a:solidFill>
                  <a:srgbClr val="9900CC"/>
                </a:solidFill>
                <a:ea typeface="楷体_GB2312" pitchFamily="49" charset="-122"/>
              </a:rPr>
              <a:t>）便于程序模块化处理。</a:t>
            </a:r>
            <a:r>
              <a:rPr lang="zh-CN" altLang="en-US" sz="2400" b="1" dirty="0">
                <a:solidFill>
                  <a:srgbClr val="000099"/>
                </a:solidFill>
                <a:ea typeface="楷体_GB2312" pitchFamily="49" charset="-122"/>
              </a:rPr>
              <a:t>在分段系统中，我们把每个程序模块构成各自独立的分段，赋与不同的名字</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或段号</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，并可采用段的保护措施。所以，一个程序模块不会受到其它模块的影响和干扰，因而对模块化程序的处理也比较好解决。</a:t>
            </a:r>
            <a:endParaRPr lang="zh-CN" altLang="en-US" sz="2400" b="1" dirty="0">
              <a:solidFill>
                <a:srgbClr val="000099"/>
              </a:solidFill>
              <a:ea typeface="楷体_GB2312" pitchFamily="49" charset="-122"/>
            </a:endParaRPr>
          </a:p>
        </p:txBody>
      </p:sp>
      <p:sp>
        <p:nvSpPr>
          <p:cNvPr id="523267" name="Rectangle 3"/>
          <p:cNvSpPr/>
          <p:nvPr/>
        </p:nvSpPr>
        <p:spPr>
          <a:xfrm>
            <a:off x="685800" y="3124200"/>
            <a:ext cx="8153400" cy="31591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en-US" altLang="zh-CN" sz="2400" b="1" dirty="0">
                <a:solidFill>
                  <a:srgbClr val="9900CC"/>
                </a:solidFill>
                <a:ea typeface="楷体_GB2312" pitchFamily="49" charset="-122"/>
              </a:rPr>
              <a:t>2</a:t>
            </a:r>
            <a:r>
              <a:rPr lang="zh-CN" altLang="en-US" sz="2400" b="1" dirty="0">
                <a:solidFill>
                  <a:srgbClr val="9900CC"/>
                </a:solidFill>
                <a:ea typeface="楷体_GB2312" pitchFamily="49" charset="-122"/>
              </a:rPr>
              <a:t>）便于处理动态的数据结构。</a:t>
            </a:r>
            <a:r>
              <a:rPr lang="zh-CN" altLang="en-US" sz="2400" b="1" dirty="0">
                <a:solidFill>
                  <a:srgbClr val="000099"/>
                </a:solidFill>
                <a:ea typeface="楷体_GB2312" pitchFamily="49" charset="-122"/>
              </a:rPr>
              <a:t>在实际应用中，有些表格或数据段的长度随输入数据多少而变。在这种情况下，要求能动态扩大一个分段。 为了节省主存空间，对于这种变化的数据段，开始确定的长度刚好满足当前的需要。当程序员企图往该段中添加新的数据时，便产生一个越界中断，操作系统得到控制权后，判别该段是否允许增补，如可以增补，则增加段的长度。这可通过拼接或移去相邻的一个分段来实现。</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3266"/>
                                        </p:tgtEl>
                                        <p:attrNameLst>
                                          <p:attrName>style.visibility</p:attrName>
                                        </p:attrNameLst>
                                      </p:cBhvr>
                                      <p:to>
                                        <p:strVal val="visible"/>
                                      </p:to>
                                    </p:set>
                                    <p:anim calcmode="lin" valueType="num">
                                      <p:cBhvr additive="base">
                                        <p:cTn id="7" dur="500" fill="hold"/>
                                        <p:tgtEl>
                                          <p:spTgt spid="523266"/>
                                        </p:tgtEl>
                                        <p:attrNameLst>
                                          <p:attrName>ppt_x</p:attrName>
                                        </p:attrNameLst>
                                      </p:cBhvr>
                                      <p:tavLst>
                                        <p:tav tm="0">
                                          <p:val>
                                            <p:strVal val="0-#ppt_w/2"/>
                                          </p:val>
                                        </p:tav>
                                        <p:tav tm="100000">
                                          <p:val>
                                            <p:strVal val="#ppt_x"/>
                                          </p:val>
                                        </p:tav>
                                      </p:tavLst>
                                    </p:anim>
                                    <p:anim calcmode="lin" valueType="num">
                                      <p:cBhvr additive="base">
                                        <p:cTn id="8" dur="500" fill="hold"/>
                                        <p:tgtEl>
                                          <p:spTgt spid="5232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23267"/>
                                        </p:tgtEl>
                                        <p:attrNameLst>
                                          <p:attrName>style.visibility</p:attrName>
                                        </p:attrNameLst>
                                      </p:cBhvr>
                                      <p:to>
                                        <p:strVal val="visible"/>
                                      </p:to>
                                    </p:set>
                                    <p:anim calcmode="lin" valueType="num">
                                      <p:cBhvr additive="base">
                                        <p:cTn id="13" dur="500" fill="hold"/>
                                        <p:tgtEl>
                                          <p:spTgt spid="523267"/>
                                        </p:tgtEl>
                                        <p:attrNameLst>
                                          <p:attrName>ppt_x</p:attrName>
                                        </p:attrNameLst>
                                      </p:cBhvr>
                                      <p:tavLst>
                                        <p:tav tm="0">
                                          <p:val>
                                            <p:strVal val="0-#ppt_w/2"/>
                                          </p:val>
                                        </p:tav>
                                        <p:tav tm="100000">
                                          <p:val>
                                            <p:strVal val="#ppt_x"/>
                                          </p:val>
                                        </p:tav>
                                      </p:tavLst>
                                    </p:anim>
                                    <p:anim calcmode="lin" valueType="num">
                                      <p:cBhvr additive="base">
                                        <p:cTn id="14" dur="500" fill="hold"/>
                                        <p:tgtEl>
                                          <p:spTgt spid="5232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66" grpId="0" animBg="1"/>
      <p:bldP spid="523267"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24290" name="Rectangle 2"/>
          <p:cNvSpPr/>
          <p:nvPr/>
        </p:nvSpPr>
        <p:spPr>
          <a:xfrm>
            <a:off x="685800" y="1219200"/>
            <a:ext cx="8153400" cy="18446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9900CC"/>
                </a:solidFill>
                <a:ea typeface="楷体_GB2312" pitchFamily="49" charset="-122"/>
              </a:rPr>
              <a:t>3</a:t>
            </a:r>
            <a:r>
              <a:rPr lang="zh-CN" altLang="en-US" sz="2400" b="1" dirty="0">
                <a:solidFill>
                  <a:srgbClr val="9900CC"/>
                </a:solidFill>
                <a:ea typeface="楷体_GB2312" pitchFamily="49" charset="-122"/>
              </a:rPr>
              <a:t>）便于动态链接。</a:t>
            </a:r>
            <a:r>
              <a:rPr lang="zh-CN" altLang="en-US" sz="2400" b="1" dirty="0">
                <a:solidFill>
                  <a:srgbClr val="000099"/>
                </a:solidFill>
                <a:ea typeface="楷体_GB2312" pitchFamily="49" charset="-122"/>
              </a:rPr>
              <a:t>由于分段地址空间是二维的，且每一分段是一组有意义的信息或具有独立功能的程序段。因而，可以在作业运行过程中调用到一程序段或数据段时，再进行动态链接。</a:t>
            </a:r>
            <a:endParaRPr lang="zh-CN" altLang="en-US" sz="2400" b="1" dirty="0">
              <a:solidFill>
                <a:srgbClr val="000099"/>
              </a:solidFill>
              <a:ea typeface="楷体_GB2312" pitchFamily="49" charset="-122"/>
            </a:endParaRPr>
          </a:p>
        </p:txBody>
      </p:sp>
      <p:sp>
        <p:nvSpPr>
          <p:cNvPr id="524291" name="Rectangle 3"/>
          <p:cNvSpPr/>
          <p:nvPr/>
        </p:nvSpPr>
        <p:spPr>
          <a:xfrm>
            <a:off x="609600" y="3200400"/>
            <a:ext cx="82296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9900CC"/>
                </a:solidFill>
                <a:ea typeface="楷体_GB2312" pitchFamily="49" charset="-122"/>
              </a:rPr>
              <a:t>4</a:t>
            </a:r>
            <a:r>
              <a:rPr lang="zh-CN" altLang="en-US" sz="2400" b="1" dirty="0">
                <a:solidFill>
                  <a:srgbClr val="9900CC"/>
                </a:solidFill>
                <a:ea typeface="楷体_GB2312" pitchFamily="49" charset="-122"/>
              </a:rPr>
              <a:t>）便于共享分段。</a:t>
            </a:r>
            <a:r>
              <a:rPr lang="zh-CN" altLang="en-US" sz="2400" b="1" dirty="0">
                <a:solidFill>
                  <a:srgbClr val="000099"/>
                </a:solidFill>
                <a:ea typeface="楷体_GB2312" pitchFamily="49" charset="-122"/>
              </a:rPr>
              <a:t>和分页不同，分段是一组有一定意义的信息集合，且由于能实现分段的动态链接，一个分段在共享它的作业之间可以有不同的段号。</a:t>
            </a:r>
            <a:endParaRPr lang="zh-CN" altLang="en-US" sz="2400" b="1" dirty="0">
              <a:solidFill>
                <a:srgbClr val="000099"/>
              </a:solidFill>
              <a:ea typeface="楷体_GB2312" pitchFamily="49" charset="-122"/>
            </a:endParaRPr>
          </a:p>
        </p:txBody>
      </p:sp>
      <p:sp>
        <p:nvSpPr>
          <p:cNvPr id="524292" name="Rectangle 4"/>
          <p:cNvSpPr/>
          <p:nvPr/>
        </p:nvSpPr>
        <p:spPr>
          <a:xfrm>
            <a:off x="609600" y="4724400"/>
            <a:ext cx="82296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9900CC"/>
                </a:solidFill>
                <a:ea typeface="楷体_GB2312" pitchFamily="49" charset="-122"/>
              </a:rPr>
              <a:t>5</a:t>
            </a:r>
            <a:r>
              <a:rPr lang="zh-CN" altLang="en-US" sz="2400" b="1" dirty="0">
                <a:solidFill>
                  <a:srgbClr val="9900CC"/>
                </a:solidFill>
                <a:ea typeface="楷体_GB2312" pitchFamily="49" charset="-122"/>
              </a:rPr>
              <a:t>）可以实现多段式虚拟存储器，“扩充”主存容量</a:t>
            </a:r>
            <a:r>
              <a:rPr lang="zh-CN" altLang="en-US" sz="2400" b="1" dirty="0">
                <a:solidFill>
                  <a:srgbClr val="000099"/>
                </a:solidFill>
                <a:ea typeface="楷体_GB2312" pitchFamily="49" charset="-122"/>
              </a:rPr>
              <a:t>。或者说作业的地址空间不受主存容量的限制，只要一段的长度不超过主存的大小。</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4290"/>
                                        </p:tgtEl>
                                        <p:attrNameLst>
                                          <p:attrName>style.visibility</p:attrName>
                                        </p:attrNameLst>
                                      </p:cBhvr>
                                      <p:to>
                                        <p:strVal val="visible"/>
                                      </p:to>
                                    </p:set>
                                    <p:anim calcmode="lin" valueType="num">
                                      <p:cBhvr additive="base">
                                        <p:cTn id="7" dur="500" fill="hold"/>
                                        <p:tgtEl>
                                          <p:spTgt spid="524290"/>
                                        </p:tgtEl>
                                        <p:attrNameLst>
                                          <p:attrName>ppt_x</p:attrName>
                                        </p:attrNameLst>
                                      </p:cBhvr>
                                      <p:tavLst>
                                        <p:tav tm="0">
                                          <p:val>
                                            <p:strVal val="0-#ppt_w/2"/>
                                          </p:val>
                                        </p:tav>
                                        <p:tav tm="100000">
                                          <p:val>
                                            <p:strVal val="#ppt_x"/>
                                          </p:val>
                                        </p:tav>
                                      </p:tavLst>
                                    </p:anim>
                                    <p:anim calcmode="lin" valueType="num">
                                      <p:cBhvr additive="base">
                                        <p:cTn id="8" dur="500" fill="hold"/>
                                        <p:tgtEl>
                                          <p:spTgt spid="5242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24291"/>
                                        </p:tgtEl>
                                        <p:attrNameLst>
                                          <p:attrName>style.visibility</p:attrName>
                                        </p:attrNameLst>
                                      </p:cBhvr>
                                      <p:to>
                                        <p:strVal val="visible"/>
                                      </p:to>
                                    </p:set>
                                    <p:anim calcmode="lin" valueType="num">
                                      <p:cBhvr additive="base">
                                        <p:cTn id="13" dur="500" fill="hold"/>
                                        <p:tgtEl>
                                          <p:spTgt spid="524291"/>
                                        </p:tgtEl>
                                        <p:attrNameLst>
                                          <p:attrName>ppt_x</p:attrName>
                                        </p:attrNameLst>
                                      </p:cBhvr>
                                      <p:tavLst>
                                        <p:tav tm="0">
                                          <p:val>
                                            <p:strVal val="0-#ppt_w/2"/>
                                          </p:val>
                                        </p:tav>
                                        <p:tav tm="100000">
                                          <p:val>
                                            <p:strVal val="#ppt_x"/>
                                          </p:val>
                                        </p:tav>
                                      </p:tavLst>
                                    </p:anim>
                                    <p:anim calcmode="lin" valueType="num">
                                      <p:cBhvr additive="base">
                                        <p:cTn id="14" dur="500" fill="hold"/>
                                        <p:tgtEl>
                                          <p:spTgt spid="52429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24292"/>
                                        </p:tgtEl>
                                        <p:attrNameLst>
                                          <p:attrName>style.visibility</p:attrName>
                                        </p:attrNameLst>
                                      </p:cBhvr>
                                      <p:to>
                                        <p:strVal val="visible"/>
                                      </p:to>
                                    </p:set>
                                    <p:anim calcmode="lin" valueType="num">
                                      <p:cBhvr additive="base">
                                        <p:cTn id="19" dur="500" fill="hold"/>
                                        <p:tgtEl>
                                          <p:spTgt spid="524292"/>
                                        </p:tgtEl>
                                        <p:attrNameLst>
                                          <p:attrName>ppt_x</p:attrName>
                                        </p:attrNameLst>
                                      </p:cBhvr>
                                      <p:tavLst>
                                        <p:tav tm="0">
                                          <p:val>
                                            <p:strVal val="0-#ppt_w/2"/>
                                          </p:val>
                                        </p:tav>
                                        <p:tav tm="100000">
                                          <p:val>
                                            <p:strVal val="#ppt_x"/>
                                          </p:val>
                                        </p:tav>
                                      </p:tavLst>
                                    </p:anim>
                                    <p:anim calcmode="lin" valueType="num">
                                      <p:cBhvr additive="base">
                                        <p:cTn id="20" dur="500" fill="hold"/>
                                        <p:tgtEl>
                                          <p:spTgt spid="5242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290" grpId="0"/>
      <p:bldP spid="524291" grpId="0"/>
      <p:bldP spid="524292"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25314" name="Rectangle 2"/>
          <p:cNvSpPr/>
          <p:nvPr/>
        </p:nvSpPr>
        <p:spPr>
          <a:xfrm>
            <a:off x="611188" y="1052513"/>
            <a:ext cx="7924800" cy="16256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dirty="0">
                <a:solidFill>
                  <a:srgbClr val="000000"/>
                </a:solidFill>
                <a:ea typeface="隶书" panose="02010509060101010101" pitchFamily="49" charset="-122"/>
              </a:rPr>
              <a:t>分段管理的缺点：</a:t>
            </a:r>
            <a:endParaRPr lang="zh-CN" altLang="en-US" dirty="0">
              <a:solidFill>
                <a:srgbClr val="000000"/>
              </a:solidFill>
              <a:ea typeface="隶书" panose="02010509060101010101" pitchFamily="49" charset="-122"/>
            </a:endParaRPr>
          </a:p>
          <a:p>
            <a:pPr marL="0" lvl="0" indent="0" eaLnBrk="1" hangingPunct="1">
              <a:lnSpc>
                <a:spcPct val="120000"/>
              </a:lnSpc>
              <a:buClrTx/>
              <a:buSzTx/>
              <a:buFontTx/>
              <a:buNone/>
            </a:pPr>
            <a:r>
              <a:rPr lang="en-US" altLang="zh-CN" sz="2400" b="1" dirty="0">
                <a:solidFill>
                  <a:srgbClr val="000099"/>
                </a:solidFill>
                <a:ea typeface="楷体_GB2312" pitchFamily="49" charset="-122"/>
              </a:rPr>
              <a:t>1</a:t>
            </a:r>
            <a:r>
              <a:rPr lang="zh-CN" altLang="en-US" sz="2400" b="1" dirty="0">
                <a:solidFill>
                  <a:srgbClr val="000099"/>
                </a:solidFill>
                <a:ea typeface="楷体_GB2312" pitchFamily="49" charset="-122"/>
              </a:rPr>
              <a:t>）和分页管理一样，处理机要为地址变换花费时间，要为表格提供附加的存储空间，这使操作系统复杂化。</a:t>
            </a:r>
            <a:endParaRPr lang="zh-CN" altLang="en-US" sz="2400" b="1" dirty="0">
              <a:solidFill>
                <a:srgbClr val="000099"/>
              </a:solidFill>
              <a:ea typeface="楷体_GB2312" pitchFamily="49" charset="-122"/>
            </a:endParaRPr>
          </a:p>
        </p:txBody>
      </p:sp>
      <p:sp>
        <p:nvSpPr>
          <p:cNvPr id="525315" name="Rectangle 3"/>
          <p:cNvSpPr/>
          <p:nvPr/>
        </p:nvSpPr>
        <p:spPr>
          <a:xfrm>
            <a:off x="609600" y="2743200"/>
            <a:ext cx="80772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2</a:t>
            </a:r>
            <a:r>
              <a:rPr lang="zh-CN" altLang="en-US" sz="2400" b="1" dirty="0">
                <a:solidFill>
                  <a:srgbClr val="000099"/>
                </a:solidFill>
                <a:ea typeface="楷体_GB2312" pitchFamily="49" charset="-122"/>
              </a:rPr>
              <a:t>）为满足分段的动态增长和减少外零头，要采用拼接手段。</a:t>
            </a:r>
            <a:endParaRPr lang="zh-CN" altLang="en-US" sz="2400" b="1" dirty="0">
              <a:solidFill>
                <a:srgbClr val="000099"/>
              </a:solidFill>
              <a:ea typeface="楷体_GB2312" pitchFamily="49" charset="-122"/>
            </a:endParaRPr>
          </a:p>
        </p:txBody>
      </p:sp>
      <p:sp>
        <p:nvSpPr>
          <p:cNvPr id="525316" name="Rectangle 4"/>
          <p:cNvSpPr/>
          <p:nvPr/>
        </p:nvSpPr>
        <p:spPr>
          <a:xfrm>
            <a:off x="685800" y="3352800"/>
            <a:ext cx="79248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3</a:t>
            </a:r>
            <a:r>
              <a:rPr lang="zh-CN" altLang="en-US" sz="2400" b="1" dirty="0">
                <a:solidFill>
                  <a:srgbClr val="000099"/>
                </a:solidFill>
                <a:ea typeface="楷体_GB2312" pitchFamily="49" charset="-122"/>
              </a:rPr>
              <a:t>）在辅存中管理不定长度的分段困难较多。例如，存储位置不易确定，存储空间利用率不易提高。</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5314"/>
                                        </p:tgtEl>
                                        <p:attrNameLst>
                                          <p:attrName>style.visibility</p:attrName>
                                        </p:attrNameLst>
                                      </p:cBhvr>
                                      <p:to>
                                        <p:strVal val="visible"/>
                                      </p:to>
                                    </p:set>
                                    <p:anim calcmode="lin" valueType="num">
                                      <p:cBhvr additive="base">
                                        <p:cTn id="7" dur="500" fill="hold"/>
                                        <p:tgtEl>
                                          <p:spTgt spid="525314"/>
                                        </p:tgtEl>
                                        <p:attrNameLst>
                                          <p:attrName>ppt_x</p:attrName>
                                        </p:attrNameLst>
                                      </p:cBhvr>
                                      <p:tavLst>
                                        <p:tav tm="0">
                                          <p:val>
                                            <p:strVal val="0-#ppt_w/2"/>
                                          </p:val>
                                        </p:tav>
                                        <p:tav tm="100000">
                                          <p:val>
                                            <p:strVal val="#ppt_x"/>
                                          </p:val>
                                        </p:tav>
                                      </p:tavLst>
                                    </p:anim>
                                    <p:anim calcmode="lin" valueType="num">
                                      <p:cBhvr additive="base">
                                        <p:cTn id="8" dur="500" fill="hold"/>
                                        <p:tgtEl>
                                          <p:spTgt spid="5253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25315"/>
                                        </p:tgtEl>
                                        <p:attrNameLst>
                                          <p:attrName>style.visibility</p:attrName>
                                        </p:attrNameLst>
                                      </p:cBhvr>
                                      <p:to>
                                        <p:strVal val="visible"/>
                                      </p:to>
                                    </p:set>
                                    <p:anim calcmode="lin" valueType="num">
                                      <p:cBhvr additive="base">
                                        <p:cTn id="13" dur="500" fill="hold"/>
                                        <p:tgtEl>
                                          <p:spTgt spid="525315"/>
                                        </p:tgtEl>
                                        <p:attrNameLst>
                                          <p:attrName>ppt_x</p:attrName>
                                        </p:attrNameLst>
                                      </p:cBhvr>
                                      <p:tavLst>
                                        <p:tav tm="0">
                                          <p:val>
                                            <p:strVal val="0-#ppt_w/2"/>
                                          </p:val>
                                        </p:tav>
                                        <p:tav tm="100000">
                                          <p:val>
                                            <p:strVal val="#ppt_x"/>
                                          </p:val>
                                        </p:tav>
                                      </p:tavLst>
                                    </p:anim>
                                    <p:anim calcmode="lin" valueType="num">
                                      <p:cBhvr additive="base">
                                        <p:cTn id="14" dur="500" fill="hold"/>
                                        <p:tgtEl>
                                          <p:spTgt spid="52531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25316"/>
                                        </p:tgtEl>
                                        <p:attrNameLst>
                                          <p:attrName>style.visibility</p:attrName>
                                        </p:attrNameLst>
                                      </p:cBhvr>
                                      <p:to>
                                        <p:strVal val="visible"/>
                                      </p:to>
                                    </p:set>
                                    <p:anim calcmode="lin" valueType="num">
                                      <p:cBhvr additive="base">
                                        <p:cTn id="19" dur="500" fill="hold"/>
                                        <p:tgtEl>
                                          <p:spTgt spid="525316"/>
                                        </p:tgtEl>
                                        <p:attrNameLst>
                                          <p:attrName>ppt_x</p:attrName>
                                        </p:attrNameLst>
                                      </p:cBhvr>
                                      <p:tavLst>
                                        <p:tav tm="0">
                                          <p:val>
                                            <p:strVal val="0-#ppt_w/2"/>
                                          </p:val>
                                        </p:tav>
                                        <p:tav tm="100000">
                                          <p:val>
                                            <p:strVal val="#ppt_x"/>
                                          </p:val>
                                        </p:tav>
                                      </p:tavLst>
                                    </p:anim>
                                    <p:anim calcmode="lin" valueType="num">
                                      <p:cBhvr additive="base">
                                        <p:cTn id="20" dur="500" fill="hold"/>
                                        <p:tgtEl>
                                          <p:spTgt spid="5253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4" grpId="0"/>
      <p:bldP spid="525315" grpId="0"/>
      <p:bldP spid="525316"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26339" name="Rectangle 3"/>
          <p:cNvSpPr/>
          <p:nvPr/>
        </p:nvSpPr>
        <p:spPr>
          <a:xfrm>
            <a:off x="611188" y="3573463"/>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2</a:t>
            </a:r>
            <a:r>
              <a:rPr lang="zh-CN" altLang="en-US" sz="2400" b="1" dirty="0">
                <a:solidFill>
                  <a:srgbClr val="000099"/>
                </a:solidFill>
                <a:ea typeface="楷体_GB2312" pitchFamily="49" charset="-122"/>
              </a:rPr>
              <a:t>）</a:t>
            </a:r>
            <a:r>
              <a:rPr lang="zh-CN" altLang="en-US" sz="2400" b="1" dirty="0">
                <a:solidFill>
                  <a:srgbClr val="9900CC"/>
                </a:solidFill>
                <a:ea typeface="楷体_GB2312" pitchFamily="49" charset="-122"/>
              </a:rPr>
              <a:t>页的大小固定不变，由系统决定。</a:t>
            </a:r>
            <a:r>
              <a:rPr lang="zh-CN" altLang="en-US" sz="2400" b="1" dirty="0">
                <a:solidFill>
                  <a:srgbClr val="000099"/>
                </a:solidFill>
                <a:ea typeface="楷体_GB2312" pitchFamily="49" charset="-122"/>
              </a:rPr>
              <a:t>段的大小是不固定的，它由其完成的功能决定。</a:t>
            </a:r>
            <a:endParaRPr lang="zh-CN" altLang="en-US" sz="2400" b="1" dirty="0">
              <a:solidFill>
                <a:srgbClr val="000099"/>
              </a:solidFill>
              <a:ea typeface="楷体_GB2312" pitchFamily="49" charset="-122"/>
            </a:endParaRPr>
          </a:p>
        </p:txBody>
      </p:sp>
      <p:sp>
        <p:nvSpPr>
          <p:cNvPr id="526341" name="Rectangle 5"/>
          <p:cNvSpPr/>
          <p:nvPr/>
        </p:nvSpPr>
        <p:spPr>
          <a:xfrm>
            <a:off x="639763" y="4652963"/>
            <a:ext cx="83820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3</a:t>
            </a:r>
            <a:r>
              <a:rPr lang="zh-CN" altLang="en-US" sz="2400" b="1" dirty="0">
                <a:solidFill>
                  <a:srgbClr val="000099"/>
                </a:solidFill>
                <a:ea typeface="楷体_GB2312" pitchFamily="49" charset="-122"/>
              </a:rPr>
              <a:t>）由于段是信息的逻辑单位，因此便于存贮保护和信息的共享，</a:t>
            </a:r>
            <a:r>
              <a:rPr lang="zh-CN" altLang="en-US" sz="2400" b="1" dirty="0">
                <a:solidFill>
                  <a:srgbClr val="9900CC"/>
                </a:solidFill>
                <a:ea typeface="楷体_GB2312" pitchFamily="49" charset="-122"/>
              </a:rPr>
              <a:t>页的保护和共享受到限制。</a:t>
            </a:r>
            <a:endParaRPr lang="zh-CN" altLang="en-US" sz="2400" b="1" dirty="0">
              <a:solidFill>
                <a:srgbClr val="9900CC"/>
              </a:solidFill>
              <a:ea typeface="楷体_GB2312" pitchFamily="49" charset="-122"/>
            </a:endParaRPr>
          </a:p>
        </p:txBody>
      </p:sp>
      <p:sp>
        <p:nvSpPr>
          <p:cNvPr id="526342" name="Rectangle 6"/>
          <p:cNvSpPr/>
          <p:nvPr/>
        </p:nvSpPr>
        <p:spPr>
          <a:xfrm>
            <a:off x="611188" y="5661025"/>
            <a:ext cx="83820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4</a:t>
            </a:r>
            <a:r>
              <a:rPr lang="zh-CN" altLang="en-US" sz="2400" b="1" dirty="0">
                <a:solidFill>
                  <a:srgbClr val="000099"/>
                </a:solidFill>
                <a:ea typeface="楷体_GB2312" pitchFamily="49" charset="-122"/>
              </a:rPr>
              <a:t>）段式管理与分区管理一样可能产生主存碎片，</a:t>
            </a:r>
            <a:r>
              <a:rPr lang="zh-CN" altLang="en-US" sz="2400" b="1" dirty="0">
                <a:solidFill>
                  <a:srgbClr val="9900CC"/>
                </a:solidFill>
                <a:ea typeface="楷体_GB2312" pitchFamily="49" charset="-122"/>
              </a:rPr>
              <a:t>而页式管理则很好的消除了碎片。</a:t>
            </a:r>
            <a:endParaRPr lang="zh-CN" altLang="en-US" sz="2400" b="1" dirty="0">
              <a:solidFill>
                <a:srgbClr val="9900CC"/>
              </a:solidFill>
              <a:ea typeface="楷体_GB2312" pitchFamily="49" charset="-122"/>
            </a:endParaRPr>
          </a:p>
        </p:txBody>
      </p:sp>
      <p:sp>
        <p:nvSpPr>
          <p:cNvPr id="526346" name="Rectangle 10"/>
          <p:cNvSpPr/>
          <p:nvPr/>
        </p:nvSpPr>
        <p:spPr>
          <a:xfrm>
            <a:off x="684213" y="908050"/>
            <a:ext cx="5467350" cy="579438"/>
          </a:xfrm>
          <a:prstGeom prst="rect">
            <a:avLst/>
          </a:prstGeom>
          <a:solidFill>
            <a:schemeClr val="bg1"/>
          </a:solid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dirty="0">
                <a:solidFill>
                  <a:srgbClr val="CC0000"/>
                </a:solidFill>
                <a:ea typeface="隶书" panose="02010509060101010101" pitchFamily="49" charset="-122"/>
              </a:rPr>
              <a:t>六、段式与页式管理的比较：</a:t>
            </a:r>
            <a:endParaRPr lang="zh-CN" altLang="en-US" dirty="0">
              <a:solidFill>
                <a:srgbClr val="CC0000"/>
              </a:solidFill>
              <a:ea typeface="隶书" panose="02010509060101010101" pitchFamily="49" charset="-122"/>
            </a:endParaRPr>
          </a:p>
        </p:txBody>
      </p:sp>
      <p:sp>
        <p:nvSpPr>
          <p:cNvPr id="526347" name="Rectangle 11"/>
          <p:cNvSpPr/>
          <p:nvPr/>
        </p:nvSpPr>
        <p:spPr>
          <a:xfrm>
            <a:off x="539750" y="1557338"/>
            <a:ext cx="81534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虽然段式管理与页式管理的地址变换机构非常相似，但两者有着概念上的根本差别。</a:t>
            </a:r>
            <a:endParaRPr lang="zh-CN" altLang="en-US" sz="2400" b="1" dirty="0">
              <a:solidFill>
                <a:srgbClr val="000099"/>
              </a:solidFill>
              <a:ea typeface="楷体_GB2312" pitchFamily="49" charset="-122"/>
            </a:endParaRPr>
          </a:p>
        </p:txBody>
      </p:sp>
      <p:sp>
        <p:nvSpPr>
          <p:cNvPr id="526348" name="Rectangle 12"/>
          <p:cNvSpPr/>
          <p:nvPr/>
        </p:nvSpPr>
        <p:spPr>
          <a:xfrm>
            <a:off x="611188" y="2565400"/>
            <a:ext cx="83820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1</a:t>
            </a:r>
            <a:r>
              <a:rPr lang="zh-CN" altLang="en-US" sz="2400" b="1" dirty="0">
                <a:solidFill>
                  <a:srgbClr val="000099"/>
                </a:solidFill>
                <a:ea typeface="楷体_GB2312" pitchFamily="49" charset="-122"/>
              </a:rPr>
              <a:t>）段是信息的逻辑单位，它是根据用户的需要划分的；</a:t>
            </a:r>
            <a:r>
              <a:rPr lang="zh-CN" altLang="en-US" sz="2400" b="1" dirty="0">
                <a:solidFill>
                  <a:srgbClr val="9900CC"/>
                </a:solidFill>
                <a:ea typeface="楷体_GB2312" pitchFamily="49" charset="-122"/>
              </a:rPr>
              <a:t>页是信息的物理单位，是为了管理主存的方便而划分的。</a:t>
            </a:r>
            <a:endParaRPr lang="zh-CN" altLang="en-US" sz="2400" b="1" dirty="0">
              <a:solidFill>
                <a:srgbClr val="9900CC"/>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6346"/>
                                        </p:tgtEl>
                                        <p:attrNameLst>
                                          <p:attrName>style.visibility</p:attrName>
                                        </p:attrNameLst>
                                      </p:cBhvr>
                                      <p:to>
                                        <p:strVal val="visible"/>
                                      </p:to>
                                    </p:set>
                                    <p:anim calcmode="lin" valueType="num">
                                      <p:cBhvr additive="base">
                                        <p:cTn id="7" dur="500" fill="hold"/>
                                        <p:tgtEl>
                                          <p:spTgt spid="526346"/>
                                        </p:tgtEl>
                                        <p:attrNameLst>
                                          <p:attrName>ppt_x</p:attrName>
                                        </p:attrNameLst>
                                      </p:cBhvr>
                                      <p:tavLst>
                                        <p:tav tm="0">
                                          <p:val>
                                            <p:strVal val="0-#ppt_w/2"/>
                                          </p:val>
                                        </p:tav>
                                        <p:tav tm="100000">
                                          <p:val>
                                            <p:strVal val="#ppt_x"/>
                                          </p:val>
                                        </p:tav>
                                      </p:tavLst>
                                    </p:anim>
                                    <p:anim calcmode="lin" valueType="num">
                                      <p:cBhvr additive="base">
                                        <p:cTn id="8" dur="500" fill="hold"/>
                                        <p:tgtEl>
                                          <p:spTgt spid="5263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26347"/>
                                        </p:tgtEl>
                                        <p:attrNameLst>
                                          <p:attrName>style.visibility</p:attrName>
                                        </p:attrNameLst>
                                      </p:cBhvr>
                                      <p:to>
                                        <p:strVal val="visible"/>
                                      </p:to>
                                    </p:set>
                                    <p:anim calcmode="lin" valueType="num">
                                      <p:cBhvr additive="base">
                                        <p:cTn id="13" dur="500" fill="hold"/>
                                        <p:tgtEl>
                                          <p:spTgt spid="526347"/>
                                        </p:tgtEl>
                                        <p:attrNameLst>
                                          <p:attrName>ppt_x</p:attrName>
                                        </p:attrNameLst>
                                      </p:cBhvr>
                                      <p:tavLst>
                                        <p:tav tm="0">
                                          <p:val>
                                            <p:strVal val="0-#ppt_w/2"/>
                                          </p:val>
                                        </p:tav>
                                        <p:tav tm="100000">
                                          <p:val>
                                            <p:strVal val="#ppt_x"/>
                                          </p:val>
                                        </p:tav>
                                      </p:tavLst>
                                    </p:anim>
                                    <p:anim calcmode="lin" valueType="num">
                                      <p:cBhvr additive="base">
                                        <p:cTn id="14" dur="500" fill="hold"/>
                                        <p:tgtEl>
                                          <p:spTgt spid="5263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26348"/>
                                        </p:tgtEl>
                                        <p:attrNameLst>
                                          <p:attrName>style.visibility</p:attrName>
                                        </p:attrNameLst>
                                      </p:cBhvr>
                                      <p:to>
                                        <p:strVal val="visible"/>
                                      </p:to>
                                    </p:set>
                                    <p:anim calcmode="lin" valueType="num">
                                      <p:cBhvr additive="base">
                                        <p:cTn id="19" dur="500" fill="hold"/>
                                        <p:tgtEl>
                                          <p:spTgt spid="526348"/>
                                        </p:tgtEl>
                                        <p:attrNameLst>
                                          <p:attrName>ppt_x</p:attrName>
                                        </p:attrNameLst>
                                      </p:cBhvr>
                                      <p:tavLst>
                                        <p:tav tm="0">
                                          <p:val>
                                            <p:strVal val="0-#ppt_w/2"/>
                                          </p:val>
                                        </p:tav>
                                        <p:tav tm="100000">
                                          <p:val>
                                            <p:strVal val="#ppt_x"/>
                                          </p:val>
                                        </p:tav>
                                      </p:tavLst>
                                    </p:anim>
                                    <p:anim calcmode="lin" valueType="num">
                                      <p:cBhvr additive="base">
                                        <p:cTn id="20" dur="500" fill="hold"/>
                                        <p:tgtEl>
                                          <p:spTgt spid="52634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26339"/>
                                        </p:tgtEl>
                                        <p:attrNameLst>
                                          <p:attrName>style.visibility</p:attrName>
                                        </p:attrNameLst>
                                      </p:cBhvr>
                                      <p:to>
                                        <p:strVal val="visible"/>
                                      </p:to>
                                    </p:set>
                                    <p:anim calcmode="lin" valueType="num">
                                      <p:cBhvr additive="base">
                                        <p:cTn id="25" dur="500" fill="hold"/>
                                        <p:tgtEl>
                                          <p:spTgt spid="526339"/>
                                        </p:tgtEl>
                                        <p:attrNameLst>
                                          <p:attrName>ppt_x</p:attrName>
                                        </p:attrNameLst>
                                      </p:cBhvr>
                                      <p:tavLst>
                                        <p:tav tm="0">
                                          <p:val>
                                            <p:strVal val="0-#ppt_w/2"/>
                                          </p:val>
                                        </p:tav>
                                        <p:tav tm="100000">
                                          <p:val>
                                            <p:strVal val="#ppt_x"/>
                                          </p:val>
                                        </p:tav>
                                      </p:tavLst>
                                    </p:anim>
                                    <p:anim calcmode="lin" valueType="num">
                                      <p:cBhvr additive="base">
                                        <p:cTn id="26" dur="500" fill="hold"/>
                                        <p:tgtEl>
                                          <p:spTgt spid="52633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26341"/>
                                        </p:tgtEl>
                                        <p:attrNameLst>
                                          <p:attrName>style.visibility</p:attrName>
                                        </p:attrNameLst>
                                      </p:cBhvr>
                                      <p:to>
                                        <p:strVal val="visible"/>
                                      </p:to>
                                    </p:set>
                                    <p:anim calcmode="lin" valueType="num">
                                      <p:cBhvr additive="base">
                                        <p:cTn id="31" dur="500" fill="hold"/>
                                        <p:tgtEl>
                                          <p:spTgt spid="526341"/>
                                        </p:tgtEl>
                                        <p:attrNameLst>
                                          <p:attrName>ppt_x</p:attrName>
                                        </p:attrNameLst>
                                      </p:cBhvr>
                                      <p:tavLst>
                                        <p:tav tm="0">
                                          <p:val>
                                            <p:strVal val="0-#ppt_w/2"/>
                                          </p:val>
                                        </p:tav>
                                        <p:tav tm="100000">
                                          <p:val>
                                            <p:strVal val="#ppt_x"/>
                                          </p:val>
                                        </p:tav>
                                      </p:tavLst>
                                    </p:anim>
                                    <p:anim calcmode="lin" valueType="num">
                                      <p:cBhvr additive="base">
                                        <p:cTn id="32" dur="500" fill="hold"/>
                                        <p:tgtEl>
                                          <p:spTgt spid="52634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526342"/>
                                        </p:tgtEl>
                                        <p:attrNameLst>
                                          <p:attrName>style.visibility</p:attrName>
                                        </p:attrNameLst>
                                      </p:cBhvr>
                                      <p:to>
                                        <p:strVal val="visible"/>
                                      </p:to>
                                    </p:set>
                                    <p:anim calcmode="lin" valueType="num">
                                      <p:cBhvr additive="base">
                                        <p:cTn id="37" dur="500" fill="hold"/>
                                        <p:tgtEl>
                                          <p:spTgt spid="526342"/>
                                        </p:tgtEl>
                                        <p:attrNameLst>
                                          <p:attrName>ppt_x</p:attrName>
                                        </p:attrNameLst>
                                      </p:cBhvr>
                                      <p:tavLst>
                                        <p:tav tm="0">
                                          <p:val>
                                            <p:strVal val="0-#ppt_w/2"/>
                                          </p:val>
                                        </p:tav>
                                        <p:tav tm="100000">
                                          <p:val>
                                            <p:strVal val="#ppt_x"/>
                                          </p:val>
                                        </p:tav>
                                      </p:tavLst>
                                    </p:anim>
                                    <p:anim calcmode="lin" valueType="num">
                                      <p:cBhvr additive="base">
                                        <p:cTn id="38" dur="500" fill="hold"/>
                                        <p:tgtEl>
                                          <p:spTgt spid="5263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9" grpId="0"/>
      <p:bldP spid="526341" grpId="0"/>
      <p:bldP spid="526342" grpId="0"/>
      <p:bldP spid="526346" grpId="0" animBg="1"/>
      <p:bldP spid="526347" grpId="0"/>
      <p:bldP spid="526348"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27362" name="Rectangle 2"/>
          <p:cNvSpPr/>
          <p:nvPr/>
        </p:nvSpPr>
        <p:spPr>
          <a:xfrm>
            <a:off x="2484438" y="908050"/>
            <a:ext cx="4297680" cy="645160"/>
          </a:xfrm>
          <a:prstGeom prst="rect">
            <a:avLst/>
          </a:prstGeom>
          <a:solidFill>
            <a:schemeClr val="bg1"/>
          </a:solid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3600" dirty="0">
                <a:solidFill>
                  <a:srgbClr val="000099"/>
                </a:solidFill>
                <a:latin typeface="隶书" panose="02010509060101010101" pitchFamily="49" charset="-122"/>
                <a:ea typeface="隶书" panose="02010509060101010101" pitchFamily="49" charset="-122"/>
              </a:rPr>
              <a:t>5.8 </a:t>
            </a:r>
            <a:r>
              <a:rPr lang="zh-CN" altLang="en-US" sz="3600" dirty="0">
                <a:solidFill>
                  <a:srgbClr val="000099"/>
                </a:solidFill>
                <a:latin typeface="隶书" panose="02010509060101010101" pitchFamily="49" charset="-122"/>
                <a:ea typeface="隶书" panose="02010509060101010101" pitchFamily="49" charset="-122"/>
              </a:rPr>
              <a:t>段页式存储管理</a:t>
            </a:r>
            <a:endParaRPr lang="zh-CN" altLang="en-US" sz="3600" dirty="0">
              <a:solidFill>
                <a:srgbClr val="000099"/>
              </a:solidFill>
              <a:latin typeface="隶书" panose="02010509060101010101" pitchFamily="49" charset="-122"/>
              <a:ea typeface="隶书" panose="02010509060101010101" pitchFamily="49" charset="-122"/>
            </a:endParaRPr>
          </a:p>
        </p:txBody>
      </p:sp>
      <p:sp>
        <p:nvSpPr>
          <p:cNvPr id="527363" name="Rectangle 3"/>
          <p:cNvSpPr/>
          <p:nvPr/>
        </p:nvSpPr>
        <p:spPr>
          <a:xfrm>
            <a:off x="684213" y="1628775"/>
            <a:ext cx="8229600" cy="206375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eaLnBrk="1" hangingPunct="1">
              <a:lnSpc>
                <a:spcPct val="120000"/>
              </a:lnSpc>
              <a:buClrTx/>
              <a:buSzTx/>
              <a:buFontTx/>
              <a:buNone/>
              <a:tabLst>
                <a:tab pos="533400" algn="l"/>
              </a:tabLst>
            </a:pPr>
            <a:r>
              <a:rPr lang="zh-CN" altLang="en-US" dirty="0">
                <a:solidFill>
                  <a:srgbClr val="990033"/>
                </a:solidFill>
                <a:latin typeface="隶书" panose="02010509060101010101" pitchFamily="49" charset="-122"/>
                <a:ea typeface="隶书" panose="02010509060101010101" pitchFamily="49" charset="-122"/>
              </a:rPr>
              <a:t>一</a:t>
            </a:r>
            <a:r>
              <a:rPr lang="zh-CN" altLang="en-US" dirty="0">
                <a:solidFill>
                  <a:srgbClr val="990033"/>
                </a:solidFill>
                <a:ea typeface="隶书" panose="02010509060101010101" pitchFamily="49" charset="-122"/>
              </a:rPr>
              <a:t>、</a:t>
            </a:r>
            <a:r>
              <a:rPr lang="zh-CN" altLang="en-US" dirty="0">
                <a:solidFill>
                  <a:srgbClr val="990033"/>
                </a:solidFill>
                <a:latin typeface="隶书" panose="02010509060101010101" pitchFamily="49" charset="-122"/>
                <a:ea typeface="隶书" panose="02010509060101010101" pitchFamily="49" charset="-122"/>
              </a:rPr>
              <a:t>基本原理：</a:t>
            </a:r>
            <a:endParaRPr lang="zh-CN" altLang="en-US" dirty="0">
              <a:solidFill>
                <a:srgbClr val="990033"/>
              </a:solidFill>
              <a:latin typeface="隶书" panose="02010509060101010101" pitchFamily="49" charset="-122"/>
              <a:ea typeface="隶书" panose="02010509060101010101" pitchFamily="49" charset="-122"/>
            </a:endParaRPr>
          </a:p>
          <a:p>
            <a:pPr marL="0" lvl="0" indent="0" algn="just" defTabSz="914400">
              <a:lnSpc>
                <a:spcPct val="120000"/>
              </a:lnSpc>
              <a:buClrTx/>
              <a:buSzTx/>
              <a:buFontTx/>
              <a:buNone/>
              <a:tabLst>
                <a:tab pos="533400" algn="l"/>
              </a:tabLst>
            </a:pPr>
            <a:r>
              <a:rPr lang="zh-CN" altLang="en-US" sz="2400" b="1" dirty="0">
                <a:solidFill>
                  <a:srgbClr val="000099"/>
                </a:solidFill>
                <a:latin typeface="楷体_GB2312" pitchFamily="49" charset="-122"/>
                <a:ea typeface="楷体_GB2312" pitchFamily="49" charset="-122"/>
              </a:rPr>
              <a:t>    作业的地址空间采用分段方式，而作业的每一段又采用分页方式。整个主存分成大小相等的块，主存以块为单位分配给每个作业。</a:t>
            </a:r>
            <a:endParaRPr lang="zh-CN" altLang="en-US" sz="2400" b="1" dirty="0">
              <a:solidFill>
                <a:srgbClr val="000099"/>
              </a:solidFill>
              <a:latin typeface="楷体_GB2312" pitchFamily="49" charset="-122"/>
              <a:ea typeface="楷体_GB2312" pitchFamily="49" charset="-122"/>
            </a:endParaRPr>
          </a:p>
        </p:txBody>
      </p:sp>
      <p:grpSp>
        <p:nvGrpSpPr>
          <p:cNvPr id="527403" name="Group 43"/>
          <p:cNvGrpSpPr/>
          <p:nvPr/>
        </p:nvGrpSpPr>
        <p:grpSpPr>
          <a:xfrm>
            <a:off x="1258888" y="3789363"/>
            <a:ext cx="6551612" cy="2743200"/>
            <a:chOff x="576" y="2064"/>
            <a:chExt cx="3936" cy="1728"/>
          </a:xfrm>
        </p:grpSpPr>
        <p:sp>
          <p:nvSpPr>
            <p:cNvPr id="121862" name="Rectangle 6"/>
            <p:cNvSpPr/>
            <p:nvPr/>
          </p:nvSpPr>
          <p:spPr>
            <a:xfrm>
              <a:off x="912" y="2304"/>
              <a:ext cx="768" cy="124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1863" name="Line 7"/>
            <p:cNvSpPr/>
            <p:nvPr/>
          </p:nvSpPr>
          <p:spPr>
            <a:xfrm>
              <a:off x="912" y="2928"/>
              <a:ext cx="768" cy="0"/>
            </a:xfrm>
            <a:prstGeom prst="line">
              <a:avLst/>
            </a:prstGeom>
            <a:ln w="9525" cap="flat" cmpd="sng">
              <a:solidFill>
                <a:schemeClr val="tx1"/>
              </a:solidFill>
              <a:prstDash val="solid"/>
              <a:miter/>
              <a:headEnd type="none" w="med" len="med"/>
              <a:tailEnd type="none" w="med" len="med"/>
            </a:ln>
          </p:spPr>
        </p:sp>
        <p:sp>
          <p:nvSpPr>
            <p:cNvPr id="121864" name="Line 8"/>
            <p:cNvSpPr/>
            <p:nvPr/>
          </p:nvSpPr>
          <p:spPr>
            <a:xfrm>
              <a:off x="912" y="2640"/>
              <a:ext cx="768" cy="0"/>
            </a:xfrm>
            <a:prstGeom prst="line">
              <a:avLst/>
            </a:prstGeom>
            <a:ln w="9525" cap="flat" cmpd="sng">
              <a:solidFill>
                <a:schemeClr val="tx1"/>
              </a:solidFill>
              <a:prstDash val="solid"/>
              <a:miter/>
              <a:headEnd type="none" w="med" len="med"/>
              <a:tailEnd type="none" w="med" len="med"/>
            </a:ln>
          </p:spPr>
        </p:sp>
        <p:sp>
          <p:nvSpPr>
            <p:cNvPr id="121865" name="Line 9"/>
            <p:cNvSpPr/>
            <p:nvPr/>
          </p:nvSpPr>
          <p:spPr>
            <a:xfrm>
              <a:off x="912" y="3264"/>
              <a:ext cx="768" cy="0"/>
            </a:xfrm>
            <a:prstGeom prst="line">
              <a:avLst/>
            </a:prstGeom>
            <a:ln w="9525" cap="flat" cmpd="sng">
              <a:solidFill>
                <a:schemeClr val="tx1"/>
              </a:solidFill>
              <a:prstDash val="solid"/>
              <a:miter/>
              <a:headEnd type="none" w="med" len="med"/>
              <a:tailEnd type="none" w="med" len="med"/>
            </a:ln>
          </p:spPr>
        </p:sp>
        <p:sp>
          <p:nvSpPr>
            <p:cNvPr id="121866" name="Line 10"/>
            <p:cNvSpPr/>
            <p:nvPr/>
          </p:nvSpPr>
          <p:spPr>
            <a:xfrm>
              <a:off x="912" y="3456"/>
              <a:ext cx="768" cy="0"/>
            </a:xfrm>
            <a:prstGeom prst="line">
              <a:avLst/>
            </a:prstGeom>
            <a:ln w="9525" cap="flat" cmpd="sng">
              <a:solidFill>
                <a:schemeClr val="tx1"/>
              </a:solidFill>
              <a:prstDash val="dash"/>
              <a:miter/>
              <a:headEnd type="none" w="med" len="med"/>
              <a:tailEnd type="none" w="med" len="med"/>
            </a:ln>
          </p:spPr>
        </p:sp>
        <p:sp>
          <p:nvSpPr>
            <p:cNvPr id="121867" name="Rectangle 11"/>
            <p:cNvSpPr/>
            <p:nvPr/>
          </p:nvSpPr>
          <p:spPr>
            <a:xfrm>
              <a:off x="2304" y="2304"/>
              <a:ext cx="768" cy="62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1868" name="Line 12"/>
            <p:cNvSpPr/>
            <p:nvPr/>
          </p:nvSpPr>
          <p:spPr>
            <a:xfrm>
              <a:off x="2304" y="2640"/>
              <a:ext cx="768" cy="0"/>
            </a:xfrm>
            <a:prstGeom prst="line">
              <a:avLst/>
            </a:prstGeom>
            <a:ln w="9525" cap="flat" cmpd="sng">
              <a:solidFill>
                <a:schemeClr val="tx1"/>
              </a:solidFill>
              <a:prstDash val="solid"/>
              <a:miter/>
              <a:headEnd type="none" w="med" len="med"/>
              <a:tailEnd type="none" w="med" len="med"/>
            </a:ln>
          </p:spPr>
        </p:sp>
        <p:sp>
          <p:nvSpPr>
            <p:cNvPr id="121869" name="Rectangle 13"/>
            <p:cNvSpPr/>
            <p:nvPr/>
          </p:nvSpPr>
          <p:spPr>
            <a:xfrm>
              <a:off x="3744" y="2304"/>
              <a:ext cx="768" cy="96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1870" name="Line 14"/>
            <p:cNvSpPr/>
            <p:nvPr/>
          </p:nvSpPr>
          <p:spPr>
            <a:xfrm>
              <a:off x="3744" y="2640"/>
              <a:ext cx="768" cy="0"/>
            </a:xfrm>
            <a:prstGeom prst="line">
              <a:avLst/>
            </a:prstGeom>
            <a:ln w="9525" cap="flat" cmpd="sng">
              <a:solidFill>
                <a:schemeClr val="tx1"/>
              </a:solidFill>
              <a:prstDash val="solid"/>
              <a:miter/>
              <a:headEnd type="none" w="med" len="med"/>
              <a:tailEnd type="none" w="med" len="med"/>
            </a:ln>
          </p:spPr>
        </p:sp>
        <p:sp>
          <p:nvSpPr>
            <p:cNvPr id="121871" name="Line 15"/>
            <p:cNvSpPr/>
            <p:nvPr/>
          </p:nvSpPr>
          <p:spPr>
            <a:xfrm>
              <a:off x="3744" y="2928"/>
              <a:ext cx="768" cy="0"/>
            </a:xfrm>
            <a:prstGeom prst="line">
              <a:avLst/>
            </a:prstGeom>
            <a:ln w="9525" cap="flat" cmpd="sng">
              <a:solidFill>
                <a:schemeClr val="tx1"/>
              </a:solidFill>
              <a:prstDash val="solid"/>
              <a:miter/>
              <a:headEnd type="none" w="med" len="med"/>
              <a:tailEnd type="none" w="med" len="med"/>
            </a:ln>
          </p:spPr>
        </p:sp>
        <p:sp>
          <p:nvSpPr>
            <p:cNvPr id="121872" name="Line 16"/>
            <p:cNvSpPr/>
            <p:nvPr/>
          </p:nvSpPr>
          <p:spPr>
            <a:xfrm>
              <a:off x="3744" y="3120"/>
              <a:ext cx="768" cy="0"/>
            </a:xfrm>
            <a:prstGeom prst="line">
              <a:avLst/>
            </a:prstGeom>
            <a:ln w="9525" cap="flat" cmpd="sng">
              <a:solidFill>
                <a:schemeClr val="tx1"/>
              </a:solidFill>
              <a:prstDash val="dash"/>
              <a:miter/>
              <a:headEnd type="none" w="med" len="med"/>
              <a:tailEnd type="none" w="med" len="med"/>
            </a:ln>
          </p:spPr>
        </p:sp>
        <p:sp>
          <p:nvSpPr>
            <p:cNvPr id="121873" name="Text Box 17"/>
            <p:cNvSpPr txBox="1"/>
            <p:nvPr/>
          </p:nvSpPr>
          <p:spPr>
            <a:xfrm>
              <a:off x="1104" y="2064"/>
              <a:ext cx="38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ea typeface="楷体_GB2312" pitchFamily="49" charset="-122"/>
                </a:rPr>
                <a:t>一段</a:t>
              </a:r>
              <a:endParaRPr lang="zh-CN" altLang="en-US" sz="2000" b="1" dirty="0">
                <a:solidFill>
                  <a:srgbClr val="000099"/>
                </a:solidFill>
                <a:ea typeface="楷体_GB2312" pitchFamily="49" charset="-122"/>
              </a:endParaRPr>
            </a:p>
          </p:txBody>
        </p:sp>
        <p:sp>
          <p:nvSpPr>
            <p:cNvPr id="121874" name="Text Box 18"/>
            <p:cNvSpPr txBox="1"/>
            <p:nvPr/>
          </p:nvSpPr>
          <p:spPr>
            <a:xfrm>
              <a:off x="2496" y="2064"/>
              <a:ext cx="38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ea typeface="楷体_GB2312" pitchFamily="49" charset="-122"/>
                </a:rPr>
                <a:t>二段</a:t>
              </a:r>
              <a:endParaRPr lang="zh-CN" altLang="en-US" sz="2000" b="1" dirty="0">
                <a:solidFill>
                  <a:srgbClr val="000099"/>
                </a:solidFill>
                <a:ea typeface="楷体_GB2312" pitchFamily="49" charset="-122"/>
              </a:endParaRPr>
            </a:p>
          </p:txBody>
        </p:sp>
        <p:sp>
          <p:nvSpPr>
            <p:cNvPr id="121875" name="Text Box 19"/>
            <p:cNvSpPr txBox="1"/>
            <p:nvPr/>
          </p:nvSpPr>
          <p:spPr>
            <a:xfrm>
              <a:off x="3984" y="2064"/>
              <a:ext cx="38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99"/>
                  </a:solidFill>
                  <a:ea typeface="楷体_GB2312" pitchFamily="49" charset="-122"/>
                </a:rPr>
                <a:t>三段</a:t>
              </a:r>
              <a:endParaRPr lang="zh-CN" altLang="en-US" sz="2000" b="1" dirty="0">
                <a:solidFill>
                  <a:srgbClr val="000099"/>
                </a:solidFill>
                <a:ea typeface="楷体_GB2312" pitchFamily="49" charset="-122"/>
              </a:endParaRPr>
            </a:p>
          </p:txBody>
        </p:sp>
        <p:sp>
          <p:nvSpPr>
            <p:cNvPr id="121876" name="Text Box 20"/>
            <p:cNvSpPr txBox="1"/>
            <p:nvPr/>
          </p:nvSpPr>
          <p:spPr>
            <a:xfrm>
              <a:off x="1200" y="2400"/>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0</a:t>
              </a:r>
              <a:r>
                <a:rPr lang="zh-CN" altLang="en-US" sz="2000" b="1" dirty="0">
                  <a:solidFill>
                    <a:srgbClr val="000099"/>
                  </a:solidFill>
                  <a:ea typeface="楷体_GB2312" pitchFamily="49" charset="-122"/>
                </a:rPr>
                <a:t>页</a:t>
              </a:r>
              <a:endParaRPr lang="zh-CN" altLang="en-US" sz="2000" b="1" dirty="0">
                <a:solidFill>
                  <a:srgbClr val="000099"/>
                </a:solidFill>
                <a:ea typeface="楷体_GB2312" pitchFamily="49" charset="-122"/>
              </a:endParaRPr>
            </a:p>
          </p:txBody>
        </p:sp>
        <p:sp>
          <p:nvSpPr>
            <p:cNvPr id="121877" name="Text Box 21"/>
            <p:cNvSpPr txBox="1"/>
            <p:nvPr/>
          </p:nvSpPr>
          <p:spPr>
            <a:xfrm>
              <a:off x="2544" y="2400"/>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0</a:t>
              </a:r>
              <a:r>
                <a:rPr lang="zh-CN" altLang="en-US" sz="2000" b="1" dirty="0">
                  <a:solidFill>
                    <a:srgbClr val="000099"/>
                  </a:solidFill>
                  <a:ea typeface="楷体_GB2312" pitchFamily="49" charset="-122"/>
                </a:rPr>
                <a:t>页</a:t>
              </a:r>
              <a:endParaRPr lang="zh-CN" altLang="en-US" sz="2000" b="1" dirty="0">
                <a:solidFill>
                  <a:srgbClr val="000099"/>
                </a:solidFill>
                <a:ea typeface="楷体_GB2312" pitchFamily="49" charset="-122"/>
              </a:endParaRPr>
            </a:p>
          </p:txBody>
        </p:sp>
        <p:sp>
          <p:nvSpPr>
            <p:cNvPr id="121878" name="Text Box 22"/>
            <p:cNvSpPr txBox="1"/>
            <p:nvPr/>
          </p:nvSpPr>
          <p:spPr>
            <a:xfrm>
              <a:off x="3984" y="2400"/>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0</a:t>
              </a:r>
              <a:r>
                <a:rPr lang="zh-CN" altLang="en-US" sz="2000" b="1" dirty="0">
                  <a:solidFill>
                    <a:srgbClr val="000099"/>
                  </a:solidFill>
                  <a:ea typeface="楷体_GB2312" pitchFamily="49" charset="-122"/>
                </a:rPr>
                <a:t>页</a:t>
              </a:r>
              <a:endParaRPr lang="zh-CN" altLang="en-US" sz="2000" b="1" dirty="0">
                <a:solidFill>
                  <a:srgbClr val="000099"/>
                </a:solidFill>
                <a:ea typeface="楷体_GB2312" pitchFamily="49" charset="-122"/>
              </a:endParaRPr>
            </a:p>
          </p:txBody>
        </p:sp>
        <p:sp>
          <p:nvSpPr>
            <p:cNvPr id="121879" name="Text Box 24"/>
            <p:cNvSpPr txBox="1"/>
            <p:nvPr/>
          </p:nvSpPr>
          <p:spPr>
            <a:xfrm>
              <a:off x="1200" y="2688"/>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1</a:t>
              </a:r>
              <a:r>
                <a:rPr lang="zh-CN" altLang="en-US" sz="2000" b="1" dirty="0">
                  <a:solidFill>
                    <a:srgbClr val="000099"/>
                  </a:solidFill>
                  <a:ea typeface="楷体_GB2312" pitchFamily="49" charset="-122"/>
                </a:rPr>
                <a:t>页</a:t>
              </a:r>
              <a:endParaRPr lang="zh-CN" altLang="en-US" sz="2000" b="1" dirty="0">
                <a:solidFill>
                  <a:srgbClr val="000099"/>
                </a:solidFill>
                <a:ea typeface="楷体_GB2312" pitchFamily="49" charset="-122"/>
              </a:endParaRPr>
            </a:p>
          </p:txBody>
        </p:sp>
        <p:sp>
          <p:nvSpPr>
            <p:cNvPr id="121880" name="Text Box 25"/>
            <p:cNvSpPr txBox="1"/>
            <p:nvPr/>
          </p:nvSpPr>
          <p:spPr>
            <a:xfrm>
              <a:off x="1200" y="3024"/>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2</a:t>
              </a:r>
              <a:r>
                <a:rPr lang="zh-CN" altLang="en-US" sz="2000" b="1" dirty="0">
                  <a:solidFill>
                    <a:srgbClr val="000099"/>
                  </a:solidFill>
                  <a:ea typeface="楷体_GB2312" pitchFamily="49" charset="-122"/>
                </a:rPr>
                <a:t>页</a:t>
              </a:r>
              <a:endParaRPr lang="zh-CN" altLang="en-US" sz="2000" b="1" dirty="0">
                <a:solidFill>
                  <a:srgbClr val="000099"/>
                </a:solidFill>
                <a:ea typeface="楷体_GB2312" pitchFamily="49" charset="-122"/>
              </a:endParaRPr>
            </a:p>
          </p:txBody>
        </p:sp>
        <p:sp>
          <p:nvSpPr>
            <p:cNvPr id="121881" name="Text Box 26"/>
            <p:cNvSpPr txBox="1"/>
            <p:nvPr/>
          </p:nvSpPr>
          <p:spPr>
            <a:xfrm>
              <a:off x="1200" y="3264"/>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3</a:t>
              </a:r>
              <a:r>
                <a:rPr lang="zh-CN" altLang="en-US" sz="2000" b="1" dirty="0">
                  <a:solidFill>
                    <a:srgbClr val="000099"/>
                  </a:solidFill>
                  <a:ea typeface="楷体_GB2312" pitchFamily="49" charset="-122"/>
                </a:rPr>
                <a:t>页</a:t>
              </a:r>
              <a:endParaRPr lang="zh-CN" altLang="en-US" sz="2000" b="1" dirty="0">
                <a:solidFill>
                  <a:srgbClr val="000099"/>
                </a:solidFill>
                <a:ea typeface="楷体_GB2312" pitchFamily="49" charset="-122"/>
              </a:endParaRPr>
            </a:p>
          </p:txBody>
        </p:sp>
        <p:sp>
          <p:nvSpPr>
            <p:cNvPr id="121882" name="Text Box 27"/>
            <p:cNvSpPr txBox="1"/>
            <p:nvPr/>
          </p:nvSpPr>
          <p:spPr>
            <a:xfrm>
              <a:off x="2544" y="2688"/>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1</a:t>
              </a:r>
              <a:r>
                <a:rPr lang="zh-CN" altLang="en-US" sz="2000" b="1" dirty="0">
                  <a:solidFill>
                    <a:srgbClr val="000099"/>
                  </a:solidFill>
                  <a:ea typeface="楷体_GB2312" pitchFamily="49" charset="-122"/>
                </a:rPr>
                <a:t>页</a:t>
              </a:r>
              <a:endParaRPr lang="zh-CN" altLang="en-US" sz="2000" b="1" dirty="0">
                <a:solidFill>
                  <a:srgbClr val="000099"/>
                </a:solidFill>
                <a:ea typeface="楷体_GB2312" pitchFamily="49" charset="-122"/>
              </a:endParaRPr>
            </a:p>
          </p:txBody>
        </p:sp>
        <p:sp>
          <p:nvSpPr>
            <p:cNvPr id="121883" name="Text Box 28"/>
            <p:cNvSpPr txBox="1"/>
            <p:nvPr/>
          </p:nvSpPr>
          <p:spPr>
            <a:xfrm>
              <a:off x="3984" y="2688"/>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1</a:t>
              </a:r>
              <a:r>
                <a:rPr lang="zh-CN" altLang="en-US" sz="2000" b="1" dirty="0">
                  <a:solidFill>
                    <a:srgbClr val="000099"/>
                  </a:solidFill>
                  <a:ea typeface="楷体_GB2312" pitchFamily="49" charset="-122"/>
                </a:rPr>
                <a:t>页</a:t>
              </a:r>
              <a:endParaRPr lang="zh-CN" altLang="en-US" sz="2000" b="1" dirty="0">
                <a:solidFill>
                  <a:srgbClr val="000099"/>
                </a:solidFill>
                <a:ea typeface="楷体_GB2312" pitchFamily="49" charset="-122"/>
              </a:endParaRPr>
            </a:p>
          </p:txBody>
        </p:sp>
        <p:sp>
          <p:nvSpPr>
            <p:cNvPr id="121884" name="Text Box 29"/>
            <p:cNvSpPr txBox="1"/>
            <p:nvPr/>
          </p:nvSpPr>
          <p:spPr>
            <a:xfrm>
              <a:off x="3984" y="2928"/>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2</a:t>
              </a:r>
              <a:r>
                <a:rPr lang="zh-CN" altLang="en-US" sz="2000" b="1" dirty="0">
                  <a:solidFill>
                    <a:srgbClr val="000099"/>
                  </a:solidFill>
                  <a:ea typeface="楷体_GB2312" pitchFamily="49" charset="-122"/>
                </a:rPr>
                <a:t>页</a:t>
              </a:r>
              <a:endParaRPr lang="zh-CN" altLang="en-US" sz="2000" b="1" dirty="0">
                <a:solidFill>
                  <a:srgbClr val="000099"/>
                </a:solidFill>
                <a:ea typeface="楷体_GB2312" pitchFamily="49" charset="-122"/>
              </a:endParaRPr>
            </a:p>
          </p:txBody>
        </p:sp>
        <p:sp>
          <p:nvSpPr>
            <p:cNvPr id="121885" name="Text Box 30"/>
            <p:cNvSpPr txBox="1"/>
            <p:nvPr/>
          </p:nvSpPr>
          <p:spPr>
            <a:xfrm>
              <a:off x="1776" y="3600"/>
              <a:ext cx="240"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4K</a:t>
              </a:r>
              <a:endParaRPr lang="en-US" altLang="zh-CN" sz="2000" b="1" dirty="0">
                <a:solidFill>
                  <a:srgbClr val="000099"/>
                </a:solidFill>
                <a:ea typeface="楷体_GB2312" pitchFamily="49" charset="-122"/>
              </a:endParaRPr>
            </a:p>
          </p:txBody>
        </p:sp>
        <p:sp>
          <p:nvSpPr>
            <p:cNvPr id="121886" name="Text Box 31"/>
            <p:cNvSpPr txBox="1"/>
            <p:nvPr/>
          </p:nvSpPr>
          <p:spPr>
            <a:xfrm>
              <a:off x="720" y="2208"/>
              <a:ext cx="14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0</a:t>
              </a:r>
              <a:endParaRPr lang="en-US" altLang="zh-CN" sz="2000" b="1" dirty="0">
                <a:solidFill>
                  <a:srgbClr val="000099"/>
                </a:solidFill>
                <a:ea typeface="楷体_GB2312" pitchFamily="49" charset="-122"/>
              </a:endParaRPr>
            </a:p>
          </p:txBody>
        </p:sp>
        <p:sp>
          <p:nvSpPr>
            <p:cNvPr id="121887" name="Text Box 32"/>
            <p:cNvSpPr txBox="1"/>
            <p:nvPr/>
          </p:nvSpPr>
          <p:spPr>
            <a:xfrm>
              <a:off x="2112" y="2208"/>
              <a:ext cx="14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0</a:t>
              </a:r>
              <a:endParaRPr lang="en-US" altLang="zh-CN" sz="2000" b="1" dirty="0">
                <a:solidFill>
                  <a:srgbClr val="000099"/>
                </a:solidFill>
                <a:ea typeface="楷体_GB2312" pitchFamily="49" charset="-122"/>
              </a:endParaRPr>
            </a:p>
          </p:txBody>
        </p:sp>
        <p:sp>
          <p:nvSpPr>
            <p:cNvPr id="121888" name="Text Box 33"/>
            <p:cNvSpPr txBox="1"/>
            <p:nvPr/>
          </p:nvSpPr>
          <p:spPr>
            <a:xfrm>
              <a:off x="3552" y="2256"/>
              <a:ext cx="144"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0</a:t>
              </a:r>
              <a:endParaRPr lang="en-US" altLang="zh-CN" sz="2000" b="1" dirty="0">
                <a:solidFill>
                  <a:srgbClr val="000099"/>
                </a:solidFill>
                <a:ea typeface="楷体_GB2312" pitchFamily="49" charset="-122"/>
              </a:endParaRPr>
            </a:p>
          </p:txBody>
        </p:sp>
        <p:sp>
          <p:nvSpPr>
            <p:cNvPr id="121889" name="Text Box 34"/>
            <p:cNvSpPr txBox="1"/>
            <p:nvPr/>
          </p:nvSpPr>
          <p:spPr>
            <a:xfrm>
              <a:off x="624" y="2544"/>
              <a:ext cx="240"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4K</a:t>
              </a:r>
              <a:endParaRPr lang="en-US" altLang="zh-CN" sz="2000" b="1" dirty="0">
                <a:solidFill>
                  <a:srgbClr val="000099"/>
                </a:solidFill>
                <a:ea typeface="楷体_GB2312" pitchFamily="49" charset="-122"/>
              </a:endParaRPr>
            </a:p>
          </p:txBody>
        </p:sp>
        <p:sp>
          <p:nvSpPr>
            <p:cNvPr id="121890" name="Text Box 35"/>
            <p:cNvSpPr txBox="1"/>
            <p:nvPr/>
          </p:nvSpPr>
          <p:spPr>
            <a:xfrm>
              <a:off x="2016" y="2544"/>
              <a:ext cx="240"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4K</a:t>
              </a:r>
              <a:endParaRPr lang="en-US" altLang="zh-CN" sz="2000" b="1" dirty="0">
                <a:solidFill>
                  <a:srgbClr val="000099"/>
                </a:solidFill>
                <a:ea typeface="楷体_GB2312" pitchFamily="49" charset="-122"/>
              </a:endParaRPr>
            </a:p>
          </p:txBody>
        </p:sp>
        <p:sp>
          <p:nvSpPr>
            <p:cNvPr id="121891" name="Text Box 36"/>
            <p:cNvSpPr txBox="1"/>
            <p:nvPr/>
          </p:nvSpPr>
          <p:spPr>
            <a:xfrm>
              <a:off x="3456" y="2544"/>
              <a:ext cx="240"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4K</a:t>
              </a:r>
              <a:endParaRPr lang="en-US" altLang="zh-CN" sz="2000" b="1" dirty="0">
                <a:solidFill>
                  <a:srgbClr val="000099"/>
                </a:solidFill>
                <a:ea typeface="楷体_GB2312" pitchFamily="49" charset="-122"/>
              </a:endParaRPr>
            </a:p>
          </p:txBody>
        </p:sp>
        <p:sp>
          <p:nvSpPr>
            <p:cNvPr id="121892" name="Text Box 37"/>
            <p:cNvSpPr txBox="1"/>
            <p:nvPr/>
          </p:nvSpPr>
          <p:spPr>
            <a:xfrm>
              <a:off x="624" y="2832"/>
              <a:ext cx="240"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8K</a:t>
              </a:r>
              <a:endParaRPr lang="en-US" altLang="zh-CN" sz="2000" b="1" dirty="0">
                <a:solidFill>
                  <a:srgbClr val="000099"/>
                </a:solidFill>
                <a:ea typeface="楷体_GB2312" pitchFamily="49" charset="-122"/>
              </a:endParaRPr>
            </a:p>
          </p:txBody>
        </p:sp>
        <p:sp>
          <p:nvSpPr>
            <p:cNvPr id="121893" name="Text Box 38"/>
            <p:cNvSpPr txBox="1"/>
            <p:nvPr/>
          </p:nvSpPr>
          <p:spPr>
            <a:xfrm>
              <a:off x="576" y="3168"/>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12K</a:t>
              </a:r>
              <a:endParaRPr lang="en-US" altLang="zh-CN" sz="2000" b="1" dirty="0">
                <a:solidFill>
                  <a:srgbClr val="000099"/>
                </a:solidFill>
                <a:ea typeface="楷体_GB2312" pitchFamily="49" charset="-122"/>
              </a:endParaRPr>
            </a:p>
          </p:txBody>
        </p:sp>
        <p:sp>
          <p:nvSpPr>
            <p:cNvPr id="121894" name="Text Box 39"/>
            <p:cNvSpPr txBox="1"/>
            <p:nvPr/>
          </p:nvSpPr>
          <p:spPr>
            <a:xfrm>
              <a:off x="2016" y="2832"/>
              <a:ext cx="240"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8K</a:t>
              </a:r>
              <a:endParaRPr lang="en-US" altLang="zh-CN" sz="2000" b="1" dirty="0">
                <a:solidFill>
                  <a:srgbClr val="000099"/>
                </a:solidFill>
                <a:ea typeface="楷体_GB2312" pitchFamily="49" charset="-122"/>
              </a:endParaRPr>
            </a:p>
          </p:txBody>
        </p:sp>
        <p:sp>
          <p:nvSpPr>
            <p:cNvPr id="121895" name="Text Box 40"/>
            <p:cNvSpPr txBox="1"/>
            <p:nvPr/>
          </p:nvSpPr>
          <p:spPr>
            <a:xfrm>
              <a:off x="3456" y="2832"/>
              <a:ext cx="240"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8K</a:t>
              </a:r>
              <a:endParaRPr lang="en-US" altLang="zh-CN" sz="2000" b="1" dirty="0">
                <a:solidFill>
                  <a:srgbClr val="000099"/>
                </a:solidFill>
                <a:ea typeface="楷体_GB2312" pitchFamily="49" charset="-122"/>
              </a:endParaRPr>
            </a:p>
          </p:txBody>
        </p:sp>
        <p:sp>
          <p:nvSpPr>
            <p:cNvPr id="121896" name="Text Box 41"/>
            <p:cNvSpPr txBox="1"/>
            <p:nvPr/>
          </p:nvSpPr>
          <p:spPr>
            <a:xfrm>
              <a:off x="576" y="3456"/>
              <a:ext cx="288"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16K</a:t>
              </a:r>
              <a:endParaRPr lang="en-US" altLang="zh-CN" sz="2000" b="1" dirty="0">
                <a:solidFill>
                  <a:srgbClr val="000099"/>
                </a:solidFill>
                <a:ea typeface="楷体_GB2312" pitchFamily="49" charset="-122"/>
              </a:endParaRPr>
            </a:p>
          </p:txBody>
        </p:sp>
        <p:sp>
          <p:nvSpPr>
            <p:cNvPr id="121897" name="Text Box 42"/>
            <p:cNvSpPr txBox="1"/>
            <p:nvPr/>
          </p:nvSpPr>
          <p:spPr>
            <a:xfrm>
              <a:off x="3360" y="3168"/>
              <a:ext cx="336" cy="192"/>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99"/>
                  </a:solidFill>
                  <a:ea typeface="楷体_GB2312" pitchFamily="49" charset="-122"/>
                </a:rPr>
                <a:t>12K</a:t>
              </a:r>
              <a:endParaRPr lang="en-US" altLang="zh-CN" sz="2000" b="1" dirty="0">
                <a:solidFill>
                  <a:srgbClr val="000099"/>
                </a:solidFill>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7362"/>
                                        </p:tgtEl>
                                        <p:attrNameLst>
                                          <p:attrName>style.visibility</p:attrName>
                                        </p:attrNameLst>
                                      </p:cBhvr>
                                      <p:to>
                                        <p:strVal val="visible"/>
                                      </p:to>
                                    </p:set>
                                    <p:anim calcmode="lin" valueType="num">
                                      <p:cBhvr additive="base">
                                        <p:cTn id="7" dur="500" fill="hold"/>
                                        <p:tgtEl>
                                          <p:spTgt spid="527362"/>
                                        </p:tgtEl>
                                        <p:attrNameLst>
                                          <p:attrName>ppt_x</p:attrName>
                                        </p:attrNameLst>
                                      </p:cBhvr>
                                      <p:tavLst>
                                        <p:tav tm="0">
                                          <p:val>
                                            <p:strVal val="0-#ppt_w/2"/>
                                          </p:val>
                                        </p:tav>
                                        <p:tav tm="100000">
                                          <p:val>
                                            <p:strVal val="#ppt_x"/>
                                          </p:val>
                                        </p:tav>
                                      </p:tavLst>
                                    </p:anim>
                                    <p:anim calcmode="lin" valueType="num">
                                      <p:cBhvr additive="base">
                                        <p:cTn id="8" dur="500" fill="hold"/>
                                        <p:tgtEl>
                                          <p:spTgt spid="5273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27363"/>
                                        </p:tgtEl>
                                        <p:attrNameLst>
                                          <p:attrName>style.visibility</p:attrName>
                                        </p:attrNameLst>
                                      </p:cBhvr>
                                      <p:to>
                                        <p:strVal val="visible"/>
                                      </p:to>
                                    </p:set>
                                    <p:anim calcmode="lin" valueType="num">
                                      <p:cBhvr additive="base">
                                        <p:cTn id="13" dur="500" fill="hold"/>
                                        <p:tgtEl>
                                          <p:spTgt spid="527363"/>
                                        </p:tgtEl>
                                        <p:attrNameLst>
                                          <p:attrName>ppt_x</p:attrName>
                                        </p:attrNameLst>
                                      </p:cBhvr>
                                      <p:tavLst>
                                        <p:tav tm="0">
                                          <p:val>
                                            <p:strVal val="0-#ppt_w/2"/>
                                          </p:val>
                                        </p:tav>
                                        <p:tav tm="100000">
                                          <p:val>
                                            <p:strVal val="#ppt_x"/>
                                          </p:val>
                                        </p:tav>
                                      </p:tavLst>
                                    </p:anim>
                                    <p:anim calcmode="lin" valueType="num">
                                      <p:cBhvr additive="base">
                                        <p:cTn id="14" dur="500" fill="hold"/>
                                        <p:tgtEl>
                                          <p:spTgt spid="52736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nodeType="clickEffect">
                                  <p:stCondLst>
                                    <p:cond delay="0"/>
                                  </p:stCondLst>
                                  <p:childTnLst>
                                    <p:set>
                                      <p:cBhvr>
                                        <p:cTn id="18" dur="1" fill="hold">
                                          <p:stCondLst>
                                            <p:cond delay="0"/>
                                          </p:stCondLst>
                                        </p:cTn>
                                        <p:tgtEl>
                                          <p:spTgt spid="527403"/>
                                        </p:tgtEl>
                                        <p:attrNameLst>
                                          <p:attrName>style.visibility</p:attrName>
                                        </p:attrNameLst>
                                      </p:cBhvr>
                                      <p:to>
                                        <p:strVal val="visible"/>
                                      </p:to>
                                    </p:set>
                                    <p:animEffect transition="in" filter="strips(downRight)">
                                      <p:cBhvr>
                                        <p:cTn id="19" dur="500"/>
                                        <p:tgtEl>
                                          <p:spTgt spid="527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62" grpId="0" animBg="1"/>
      <p:bldP spid="52736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pSp>
        <p:nvGrpSpPr>
          <p:cNvPr id="627827" name="Group 115"/>
          <p:cNvGrpSpPr/>
          <p:nvPr/>
        </p:nvGrpSpPr>
        <p:grpSpPr>
          <a:xfrm>
            <a:off x="1403350" y="1196975"/>
            <a:ext cx="7491413" cy="4284663"/>
            <a:chOff x="884" y="754"/>
            <a:chExt cx="4719" cy="2699"/>
          </a:xfrm>
        </p:grpSpPr>
        <p:grpSp>
          <p:nvGrpSpPr>
            <p:cNvPr id="122884" name="Group 114"/>
            <p:cNvGrpSpPr/>
            <p:nvPr/>
          </p:nvGrpSpPr>
          <p:grpSpPr>
            <a:xfrm>
              <a:off x="884" y="754"/>
              <a:ext cx="4719" cy="2699"/>
              <a:chOff x="884" y="754"/>
              <a:chExt cx="4719" cy="2699"/>
            </a:xfrm>
          </p:grpSpPr>
          <p:grpSp>
            <p:nvGrpSpPr>
              <p:cNvPr id="122892" name="Group 113"/>
              <p:cNvGrpSpPr/>
              <p:nvPr/>
            </p:nvGrpSpPr>
            <p:grpSpPr>
              <a:xfrm>
                <a:off x="884" y="754"/>
                <a:ext cx="4719" cy="2699"/>
                <a:chOff x="884" y="754"/>
                <a:chExt cx="4719" cy="2699"/>
              </a:xfrm>
            </p:grpSpPr>
            <p:grpSp>
              <p:nvGrpSpPr>
                <p:cNvPr id="122894" name="Group 83"/>
                <p:cNvGrpSpPr/>
                <p:nvPr/>
              </p:nvGrpSpPr>
              <p:grpSpPr>
                <a:xfrm>
                  <a:off x="884" y="1117"/>
                  <a:ext cx="3856" cy="2268"/>
                  <a:chOff x="884" y="1117"/>
                  <a:chExt cx="3856" cy="2268"/>
                </a:xfrm>
              </p:grpSpPr>
              <p:sp>
                <p:nvSpPr>
                  <p:cNvPr id="122898" name="Line 84"/>
                  <p:cNvSpPr/>
                  <p:nvPr/>
                </p:nvSpPr>
                <p:spPr>
                  <a:xfrm>
                    <a:off x="2853" y="1933"/>
                    <a:ext cx="0" cy="146"/>
                  </a:xfrm>
                  <a:prstGeom prst="line">
                    <a:avLst/>
                  </a:prstGeom>
                  <a:ln w="9525" cap="flat" cmpd="sng">
                    <a:solidFill>
                      <a:srgbClr val="000000"/>
                    </a:solidFill>
                    <a:prstDash val="solid"/>
                    <a:headEnd type="none" w="med" len="med"/>
                    <a:tailEnd type="none" w="med" len="med"/>
                  </a:ln>
                </p:spPr>
              </p:sp>
              <p:grpSp>
                <p:nvGrpSpPr>
                  <p:cNvPr id="122899" name="Group 85"/>
                  <p:cNvGrpSpPr/>
                  <p:nvPr/>
                </p:nvGrpSpPr>
                <p:grpSpPr>
                  <a:xfrm>
                    <a:off x="884" y="1117"/>
                    <a:ext cx="3856" cy="2268"/>
                    <a:chOff x="622" y="1267"/>
                    <a:chExt cx="2478" cy="1402"/>
                  </a:xfrm>
                </p:grpSpPr>
                <p:grpSp>
                  <p:nvGrpSpPr>
                    <p:cNvPr id="122900" name="Group 86"/>
                    <p:cNvGrpSpPr/>
                    <p:nvPr/>
                  </p:nvGrpSpPr>
                  <p:grpSpPr>
                    <a:xfrm>
                      <a:off x="622" y="1267"/>
                      <a:ext cx="2478" cy="1402"/>
                      <a:chOff x="1554" y="2168"/>
                      <a:chExt cx="6195" cy="3505"/>
                    </a:xfrm>
                  </p:grpSpPr>
                  <p:grpSp>
                    <p:nvGrpSpPr>
                      <p:cNvPr id="122902" name="Group 87"/>
                      <p:cNvGrpSpPr/>
                      <p:nvPr/>
                    </p:nvGrpSpPr>
                    <p:grpSpPr>
                      <a:xfrm>
                        <a:off x="3969" y="3668"/>
                        <a:ext cx="1470" cy="1500"/>
                        <a:chOff x="3969" y="3668"/>
                        <a:chExt cx="1470" cy="1500"/>
                      </a:xfrm>
                    </p:grpSpPr>
                    <p:sp>
                      <p:nvSpPr>
                        <p:cNvPr id="122923" name="Rectangle 88"/>
                        <p:cNvSpPr/>
                        <p:nvPr/>
                      </p:nvSpPr>
                      <p:spPr>
                        <a:xfrm>
                          <a:off x="3969" y="4668"/>
                          <a:ext cx="1470" cy="500"/>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2400" dirty="0">
                            <a:ea typeface="楷体_GB2312" pitchFamily="49" charset="-122"/>
                          </a:endParaRPr>
                        </a:p>
                      </p:txBody>
                    </p:sp>
                    <p:sp>
                      <p:nvSpPr>
                        <p:cNvPr id="122924" name="Rectangle 89"/>
                        <p:cNvSpPr/>
                        <p:nvPr/>
                      </p:nvSpPr>
                      <p:spPr>
                        <a:xfrm>
                          <a:off x="3969" y="3668"/>
                          <a:ext cx="1470" cy="500"/>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2400" dirty="0">
                            <a:ea typeface="楷体_GB2312" pitchFamily="49" charset="-122"/>
                          </a:endParaRPr>
                        </a:p>
                      </p:txBody>
                    </p:sp>
                    <p:sp>
                      <p:nvSpPr>
                        <p:cNvPr id="122925" name="Rectangle 90"/>
                        <p:cNvSpPr/>
                        <p:nvPr/>
                      </p:nvSpPr>
                      <p:spPr>
                        <a:xfrm>
                          <a:off x="3969" y="4168"/>
                          <a:ext cx="1470" cy="500"/>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2400" dirty="0">
                            <a:ea typeface="楷体_GB2312" pitchFamily="49" charset="-122"/>
                          </a:endParaRPr>
                        </a:p>
                      </p:txBody>
                    </p:sp>
                  </p:grpSp>
                  <p:sp>
                    <p:nvSpPr>
                      <p:cNvPr id="122903" name="Rectangle 91"/>
                      <p:cNvSpPr/>
                      <p:nvPr/>
                    </p:nvSpPr>
                    <p:spPr>
                      <a:xfrm>
                        <a:off x="6279" y="2168"/>
                        <a:ext cx="1470" cy="25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dirty="0">
                          <a:ea typeface="楷体_GB2312" pitchFamily="49" charset="-122"/>
                        </a:endParaRPr>
                      </a:p>
                    </p:txBody>
                  </p:sp>
                  <p:sp>
                    <p:nvSpPr>
                      <p:cNvPr id="122904" name="Rectangle 92"/>
                      <p:cNvSpPr/>
                      <p:nvPr/>
                    </p:nvSpPr>
                    <p:spPr>
                      <a:xfrm>
                        <a:off x="6279" y="2668"/>
                        <a:ext cx="1470" cy="250"/>
                      </a:xfrm>
                      <a:prstGeom prst="rect">
                        <a:avLst/>
                      </a:prstGeom>
                      <a:solidFill>
                        <a:srgbClr val="FFFFFF">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dirty="0">
                          <a:ea typeface="楷体_GB2312" pitchFamily="49" charset="-122"/>
                        </a:endParaRPr>
                      </a:p>
                    </p:txBody>
                  </p:sp>
                  <p:sp>
                    <p:nvSpPr>
                      <p:cNvPr id="122905" name="Rectangle 93"/>
                      <p:cNvSpPr/>
                      <p:nvPr/>
                    </p:nvSpPr>
                    <p:spPr>
                      <a:xfrm>
                        <a:off x="6279" y="5418"/>
                        <a:ext cx="1470" cy="25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dirty="0">
                          <a:ea typeface="楷体_GB2312" pitchFamily="49" charset="-122"/>
                        </a:endParaRPr>
                      </a:p>
                    </p:txBody>
                  </p:sp>
                  <p:sp>
                    <p:nvSpPr>
                      <p:cNvPr id="122906" name="Rectangle 94"/>
                      <p:cNvSpPr/>
                      <p:nvPr/>
                    </p:nvSpPr>
                    <p:spPr>
                      <a:xfrm>
                        <a:off x="6279" y="2918"/>
                        <a:ext cx="1470" cy="250"/>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dirty="0">
                          <a:ea typeface="楷体_GB2312" pitchFamily="49" charset="-122"/>
                        </a:endParaRPr>
                      </a:p>
                    </p:txBody>
                  </p:sp>
                  <p:sp>
                    <p:nvSpPr>
                      <p:cNvPr id="122907" name="Rectangle 95"/>
                      <p:cNvSpPr/>
                      <p:nvPr/>
                    </p:nvSpPr>
                    <p:spPr>
                      <a:xfrm>
                        <a:off x="6279" y="4918"/>
                        <a:ext cx="1470" cy="25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dirty="0">
                          <a:ea typeface="楷体_GB2312" pitchFamily="49" charset="-122"/>
                        </a:endParaRPr>
                      </a:p>
                    </p:txBody>
                  </p:sp>
                  <p:sp>
                    <p:nvSpPr>
                      <p:cNvPr id="122908" name="Rectangle 96"/>
                      <p:cNvSpPr/>
                      <p:nvPr/>
                    </p:nvSpPr>
                    <p:spPr>
                      <a:xfrm>
                        <a:off x="6279" y="5168"/>
                        <a:ext cx="1470" cy="25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dirty="0">
                          <a:ea typeface="楷体_GB2312" pitchFamily="49" charset="-122"/>
                        </a:endParaRPr>
                      </a:p>
                    </p:txBody>
                  </p:sp>
                  <p:sp>
                    <p:nvSpPr>
                      <p:cNvPr id="122909" name="Rectangle 97"/>
                      <p:cNvSpPr/>
                      <p:nvPr/>
                    </p:nvSpPr>
                    <p:spPr>
                      <a:xfrm>
                        <a:off x="6279" y="3168"/>
                        <a:ext cx="1470" cy="175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latin typeface="宋体" panose="02010600030101010101" pitchFamily="2" charset="-122"/>
                          </a:rPr>
                          <a:t>         </a:t>
                        </a:r>
                        <a:r>
                          <a:rPr lang="en-US" altLang="zh-CN" sz="2400" b="1" dirty="0">
                            <a:solidFill>
                              <a:srgbClr val="000099"/>
                            </a:solidFill>
                            <a:latin typeface="楷体_GB2312" pitchFamily="49" charset="-122"/>
                            <a:ea typeface="楷体_GB2312" pitchFamily="49" charset="-122"/>
                          </a:rPr>
                          <a:t>┆ </a:t>
                        </a:r>
                        <a:r>
                          <a:rPr lang="en-US" altLang="zh-CN" sz="1000" dirty="0">
                            <a:latin typeface="宋体" panose="02010600030101010101" pitchFamily="2" charset="-122"/>
                          </a:rPr>
                          <a:t>     </a:t>
                        </a:r>
                        <a:endParaRPr lang="en-US" altLang="zh-CN" sz="1000" dirty="0"/>
                      </a:p>
                      <a:p>
                        <a:pPr marL="0" lvl="0" indent="0" algn="just" eaLnBrk="1" hangingPunct="1">
                          <a:spcBef>
                            <a:spcPct val="0"/>
                          </a:spcBef>
                          <a:buClrTx/>
                          <a:buSzTx/>
                          <a:buFontTx/>
                          <a:buNone/>
                        </a:pPr>
                        <a:r>
                          <a:rPr lang="en-US" altLang="zh-CN" sz="1000" dirty="0"/>
                          <a:t>              </a:t>
                        </a:r>
                        <a:endParaRPr lang="en-US" altLang="zh-CN" sz="1000" dirty="0"/>
                      </a:p>
                      <a:p>
                        <a:pPr marL="0" lvl="0" indent="0" algn="just" eaLnBrk="1" hangingPunct="1">
                          <a:spcBef>
                            <a:spcPct val="0"/>
                          </a:spcBef>
                          <a:buClrTx/>
                          <a:buSzTx/>
                          <a:buFontTx/>
                          <a:buNone/>
                        </a:pPr>
                        <a:r>
                          <a:rPr lang="en-US" altLang="zh-CN" sz="1000" dirty="0"/>
                          <a:t>     </a:t>
                        </a:r>
                        <a:r>
                          <a:rPr lang="en-US" altLang="zh-CN" sz="1000" dirty="0">
                            <a:latin typeface="宋体" panose="02010600030101010101" pitchFamily="2" charset="-122"/>
                          </a:rPr>
                          <a:t>      </a:t>
                        </a:r>
                        <a:endParaRPr lang="en-US" altLang="zh-CN" sz="2400" dirty="0">
                          <a:ea typeface="楷体_GB2312" pitchFamily="49" charset="-122"/>
                        </a:endParaRPr>
                      </a:p>
                    </p:txBody>
                  </p:sp>
                  <p:sp>
                    <p:nvSpPr>
                      <p:cNvPr id="122910" name="Rectangle 98"/>
                      <p:cNvSpPr/>
                      <p:nvPr/>
                    </p:nvSpPr>
                    <p:spPr>
                      <a:xfrm>
                        <a:off x="6279" y="3668"/>
                        <a:ext cx="1470" cy="250"/>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dirty="0">
                          <a:ea typeface="楷体_GB2312" pitchFamily="49" charset="-122"/>
                        </a:endParaRPr>
                      </a:p>
                    </p:txBody>
                  </p:sp>
                  <p:sp>
                    <p:nvSpPr>
                      <p:cNvPr id="122911" name="Rectangle 99"/>
                      <p:cNvSpPr/>
                      <p:nvPr/>
                    </p:nvSpPr>
                    <p:spPr>
                      <a:xfrm>
                        <a:off x="1554" y="5168"/>
                        <a:ext cx="1470" cy="500"/>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2400" dirty="0">
                          <a:ea typeface="楷体_GB2312" pitchFamily="49" charset="-122"/>
                        </a:endParaRPr>
                      </a:p>
                    </p:txBody>
                  </p:sp>
                  <p:sp>
                    <p:nvSpPr>
                      <p:cNvPr id="122912" name="Rectangle 100"/>
                      <p:cNvSpPr/>
                      <p:nvPr/>
                    </p:nvSpPr>
                    <p:spPr>
                      <a:xfrm>
                        <a:off x="1554" y="4668"/>
                        <a:ext cx="1470" cy="500"/>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2400" dirty="0">
                          <a:ea typeface="楷体_GB2312" pitchFamily="49" charset="-122"/>
                        </a:endParaRPr>
                      </a:p>
                    </p:txBody>
                  </p:sp>
                  <p:sp>
                    <p:nvSpPr>
                      <p:cNvPr id="122913" name="Rectangle 101"/>
                      <p:cNvSpPr/>
                      <p:nvPr/>
                    </p:nvSpPr>
                    <p:spPr>
                      <a:xfrm>
                        <a:off x="1554" y="5503"/>
                        <a:ext cx="1470" cy="170"/>
                      </a:xfrm>
                      <a:prstGeom prst="rect">
                        <a:avLst/>
                      </a:prstGeom>
                      <a:solidFill>
                        <a:srgbClr val="FF99CC">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dirty="0">
                          <a:ea typeface="楷体_GB2312" pitchFamily="49" charset="-122"/>
                        </a:endParaRPr>
                      </a:p>
                    </p:txBody>
                  </p:sp>
                  <p:sp>
                    <p:nvSpPr>
                      <p:cNvPr id="122914" name="Rectangle 102"/>
                      <p:cNvSpPr/>
                      <p:nvPr/>
                    </p:nvSpPr>
                    <p:spPr>
                      <a:xfrm>
                        <a:off x="1554" y="4168"/>
                        <a:ext cx="1470" cy="500"/>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2400" dirty="0">
                          <a:ea typeface="楷体_GB2312" pitchFamily="49" charset="-122"/>
                        </a:endParaRPr>
                      </a:p>
                    </p:txBody>
                  </p:sp>
                  <p:sp>
                    <p:nvSpPr>
                      <p:cNvPr id="122915" name="Rectangle 103"/>
                      <p:cNvSpPr/>
                      <p:nvPr/>
                    </p:nvSpPr>
                    <p:spPr>
                      <a:xfrm>
                        <a:off x="1554" y="3668"/>
                        <a:ext cx="1470" cy="500"/>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endParaRPr lang="en-US" altLang="zh-CN" sz="2400" dirty="0">
                          <a:ea typeface="楷体_GB2312" pitchFamily="49" charset="-122"/>
                        </a:endParaRPr>
                      </a:p>
                    </p:txBody>
                  </p:sp>
                  <p:sp>
                    <p:nvSpPr>
                      <p:cNvPr id="122916" name="Rectangle 104"/>
                      <p:cNvSpPr/>
                      <p:nvPr/>
                    </p:nvSpPr>
                    <p:spPr>
                      <a:xfrm>
                        <a:off x="2814" y="2668"/>
                        <a:ext cx="1470" cy="500"/>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400" b="1" dirty="0">
                            <a:solidFill>
                              <a:srgbClr val="000099"/>
                            </a:solidFill>
                            <a:ea typeface="楷体_GB2312" pitchFamily="49" charset="-122"/>
                          </a:rPr>
                          <a:t>1#</a:t>
                        </a:r>
                        <a:endParaRPr lang="en-US" altLang="zh-CN" sz="2400" b="1" dirty="0">
                          <a:solidFill>
                            <a:srgbClr val="000099"/>
                          </a:solidFill>
                          <a:ea typeface="楷体_GB2312" pitchFamily="49" charset="-122"/>
                        </a:endParaRPr>
                      </a:p>
                    </p:txBody>
                  </p:sp>
                  <p:sp>
                    <p:nvSpPr>
                      <p:cNvPr id="122917" name="Rectangle 105"/>
                      <p:cNvSpPr/>
                      <p:nvPr/>
                    </p:nvSpPr>
                    <p:spPr>
                      <a:xfrm>
                        <a:off x="2814" y="2168"/>
                        <a:ext cx="1470" cy="500"/>
                      </a:xfrm>
                      <a:prstGeom prst="rect">
                        <a:avLst/>
                      </a:prstGeom>
                      <a:solidFill>
                        <a:srgbClr val="FFFF99">
                          <a:alpha val="50195"/>
                        </a:srgbClr>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spcBef>
                            <a:spcPct val="0"/>
                          </a:spcBef>
                          <a:buClrTx/>
                          <a:buSzTx/>
                          <a:buFontTx/>
                          <a:buNone/>
                        </a:pPr>
                        <a:r>
                          <a:rPr lang="en-US" altLang="zh-CN" sz="1000" dirty="0"/>
                          <a:t>                  </a:t>
                        </a:r>
                        <a:r>
                          <a:rPr lang="en-US" altLang="zh-CN" sz="2400" b="1" dirty="0">
                            <a:solidFill>
                              <a:srgbClr val="000099"/>
                            </a:solidFill>
                            <a:ea typeface="楷体_GB2312" pitchFamily="49" charset="-122"/>
                          </a:rPr>
                          <a:t>0#</a:t>
                        </a:r>
                        <a:endParaRPr lang="en-US" altLang="zh-CN" sz="2400" b="1" dirty="0">
                          <a:solidFill>
                            <a:srgbClr val="000099"/>
                          </a:solidFill>
                          <a:ea typeface="楷体_GB2312" pitchFamily="49" charset="-122"/>
                        </a:endParaRPr>
                      </a:p>
                    </p:txBody>
                  </p:sp>
                  <p:sp>
                    <p:nvSpPr>
                      <p:cNvPr id="122918" name="Line 106"/>
                      <p:cNvSpPr/>
                      <p:nvPr/>
                    </p:nvSpPr>
                    <p:spPr>
                      <a:xfrm>
                        <a:off x="3549" y="3168"/>
                        <a:ext cx="0" cy="250"/>
                      </a:xfrm>
                      <a:prstGeom prst="line">
                        <a:avLst/>
                      </a:prstGeom>
                      <a:ln w="9525" cap="flat" cmpd="sng">
                        <a:solidFill>
                          <a:srgbClr val="000000"/>
                        </a:solidFill>
                        <a:prstDash val="solid"/>
                        <a:headEnd type="none" w="med" len="med"/>
                        <a:tailEnd type="none" w="med" len="med"/>
                      </a:ln>
                    </p:spPr>
                  </p:sp>
                  <p:sp>
                    <p:nvSpPr>
                      <p:cNvPr id="122919" name="Line 107"/>
                      <p:cNvSpPr/>
                      <p:nvPr/>
                    </p:nvSpPr>
                    <p:spPr>
                      <a:xfrm>
                        <a:off x="2289" y="3418"/>
                        <a:ext cx="2415" cy="0"/>
                      </a:xfrm>
                      <a:prstGeom prst="line">
                        <a:avLst/>
                      </a:prstGeom>
                      <a:ln w="9525" cap="flat" cmpd="sng">
                        <a:solidFill>
                          <a:srgbClr val="000000"/>
                        </a:solidFill>
                        <a:prstDash val="solid"/>
                        <a:headEnd type="none" w="med" len="med"/>
                        <a:tailEnd type="none" w="med" len="med"/>
                      </a:ln>
                    </p:spPr>
                  </p:sp>
                  <p:sp>
                    <p:nvSpPr>
                      <p:cNvPr id="122920" name="Line 108"/>
                      <p:cNvSpPr/>
                      <p:nvPr/>
                    </p:nvSpPr>
                    <p:spPr>
                      <a:xfrm>
                        <a:off x="2289" y="3418"/>
                        <a:ext cx="0" cy="250"/>
                      </a:xfrm>
                      <a:prstGeom prst="line">
                        <a:avLst/>
                      </a:prstGeom>
                      <a:ln w="9525" cap="flat" cmpd="sng">
                        <a:solidFill>
                          <a:srgbClr val="000000"/>
                        </a:solidFill>
                        <a:prstDash val="solid"/>
                        <a:headEnd type="none" w="med" len="med"/>
                        <a:tailEnd type="none" w="med" len="med"/>
                      </a:ln>
                    </p:spPr>
                  </p:sp>
                  <p:sp>
                    <p:nvSpPr>
                      <p:cNvPr id="122921" name="Line 109"/>
                      <p:cNvSpPr/>
                      <p:nvPr/>
                    </p:nvSpPr>
                    <p:spPr>
                      <a:xfrm>
                        <a:off x="4287" y="2418"/>
                        <a:ext cx="2100" cy="500"/>
                      </a:xfrm>
                      <a:prstGeom prst="line">
                        <a:avLst/>
                      </a:prstGeom>
                      <a:ln w="9525" cap="flat" cmpd="sng">
                        <a:solidFill>
                          <a:srgbClr val="000000"/>
                        </a:solidFill>
                        <a:prstDash val="solid"/>
                        <a:headEnd type="none" w="med" len="med"/>
                        <a:tailEnd type="stealth" w="sm" len="lg"/>
                      </a:ln>
                    </p:spPr>
                  </p:sp>
                  <p:sp>
                    <p:nvSpPr>
                      <p:cNvPr id="122922" name="Line 110"/>
                      <p:cNvSpPr/>
                      <p:nvPr/>
                    </p:nvSpPr>
                    <p:spPr>
                      <a:xfrm>
                        <a:off x="4287" y="2918"/>
                        <a:ext cx="1995" cy="750"/>
                      </a:xfrm>
                      <a:prstGeom prst="line">
                        <a:avLst/>
                      </a:prstGeom>
                      <a:ln w="9525" cap="flat" cmpd="sng">
                        <a:solidFill>
                          <a:srgbClr val="000000"/>
                        </a:solidFill>
                        <a:prstDash val="solid"/>
                        <a:headEnd type="none" w="med" len="med"/>
                        <a:tailEnd type="stealth" w="sm" len="lg"/>
                      </a:ln>
                    </p:spPr>
                  </p:sp>
                </p:grpSp>
                <p:sp>
                  <p:nvSpPr>
                    <p:cNvPr id="122901" name="Rectangle 111"/>
                    <p:cNvSpPr/>
                    <p:nvPr/>
                  </p:nvSpPr>
                  <p:spPr>
                    <a:xfrm>
                      <a:off x="2512" y="1367"/>
                      <a:ext cx="588" cy="10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endParaRPr lang="zh-CN" altLang="zh-CN" sz="2400" dirty="0">
                        <a:ea typeface="楷体_GB2312" pitchFamily="49" charset="-122"/>
                      </a:endParaRPr>
                    </a:p>
                  </p:txBody>
                </p:sp>
              </p:grpSp>
            </p:grpSp>
            <p:sp>
              <p:nvSpPr>
                <p:cNvPr id="122895" name="Rectangle 70"/>
                <p:cNvSpPr/>
                <p:nvPr/>
              </p:nvSpPr>
              <p:spPr>
                <a:xfrm>
                  <a:off x="1610" y="754"/>
                  <a:ext cx="3175" cy="288"/>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ea typeface="楷体_GB2312" pitchFamily="49" charset="-122"/>
                    </a:rPr>
                    <a:t> </a:t>
                  </a:r>
                  <a:r>
                    <a:rPr lang="zh-CN" altLang="en-US" sz="2400" b="1" dirty="0">
                      <a:solidFill>
                        <a:srgbClr val="000099"/>
                      </a:solidFill>
                      <a:ea typeface="楷体_GB2312" pitchFamily="49" charset="-122"/>
                    </a:rPr>
                    <a:t>地址空间                            主存空间</a:t>
                  </a:r>
                  <a:r>
                    <a:rPr lang="zh-CN" altLang="en-US" sz="2400" dirty="0">
                      <a:ea typeface="楷体_GB2312" pitchFamily="49" charset="-122"/>
                    </a:rPr>
                    <a:t>  </a:t>
                  </a:r>
                  <a:endParaRPr lang="zh-CN" altLang="en-US" sz="2400" dirty="0">
                    <a:ea typeface="楷体_GB2312" pitchFamily="49" charset="-122"/>
                  </a:endParaRPr>
                </a:p>
              </p:txBody>
            </p:sp>
            <p:sp>
              <p:nvSpPr>
                <p:cNvPr id="122896" name="Rectangle 71"/>
                <p:cNvSpPr/>
                <p:nvPr/>
              </p:nvSpPr>
              <p:spPr>
                <a:xfrm>
                  <a:off x="975" y="1026"/>
                  <a:ext cx="4627" cy="288"/>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ea typeface="楷体_GB2312" pitchFamily="49" charset="-122"/>
                    </a:rPr>
                    <a:t>main---0                                                                                00000H</a:t>
                  </a:r>
                  <a:r>
                    <a:rPr lang="en-US" altLang="zh-CN" sz="2400" dirty="0">
                      <a:ea typeface="楷体_GB2312" pitchFamily="49" charset="-122"/>
                    </a:rPr>
                    <a:t> </a:t>
                  </a:r>
                  <a:endParaRPr lang="en-US" altLang="zh-CN" sz="2400" dirty="0">
                    <a:ea typeface="楷体_GB2312" pitchFamily="49" charset="-122"/>
                  </a:endParaRPr>
                </a:p>
              </p:txBody>
            </p:sp>
            <p:sp>
              <p:nvSpPr>
                <p:cNvPr id="122897" name="Rectangle 75"/>
                <p:cNvSpPr/>
                <p:nvPr/>
              </p:nvSpPr>
              <p:spPr>
                <a:xfrm>
                  <a:off x="4740" y="3203"/>
                  <a:ext cx="863" cy="25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99"/>
                      </a:solidFill>
                      <a:ea typeface="楷体_GB2312" pitchFamily="49" charset="-122"/>
                    </a:rPr>
                    <a:t>FFFFF-1H</a:t>
                  </a:r>
                  <a:endParaRPr lang="en-US" altLang="zh-CN" sz="2000" b="1" dirty="0">
                    <a:solidFill>
                      <a:srgbClr val="000099"/>
                    </a:solidFill>
                    <a:ea typeface="楷体_GB2312" pitchFamily="49" charset="-122"/>
                  </a:endParaRPr>
                </a:p>
              </p:txBody>
            </p:sp>
          </p:grpSp>
          <p:sp>
            <p:nvSpPr>
              <p:cNvPr id="122893" name="Rectangle 76"/>
              <p:cNvSpPr/>
              <p:nvPr/>
            </p:nvSpPr>
            <p:spPr>
              <a:xfrm>
                <a:off x="4149" y="2387"/>
                <a:ext cx="356" cy="28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99"/>
                    </a:solidFill>
                    <a:ea typeface="楷体_GB2312" pitchFamily="49" charset="-122"/>
                  </a:rPr>
                  <a:t>┆</a:t>
                </a:r>
                <a:endParaRPr lang="en-US" altLang="zh-CN" sz="2400" b="1" dirty="0">
                  <a:solidFill>
                    <a:srgbClr val="000099"/>
                  </a:solidFill>
                  <a:ea typeface="楷体_GB2312" pitchFamily="49" charset="-122"/>
                </a:endParaRPr>
              </a:p>
            </p:txBody>
          </p:sp>
        </p:grpSp>
        <p:sp>
          <p:nvSpPr>
            <p:cNvPr id="122885" name="Rectangle 77"/>
            <p:cNvSpPr/>
            <p:nvPr/>
          </p:nvSpPr>
          <p:spPr>
            <a:xfrm>
              <a:off x="1156" y="2115"/>
              <a:ext cx="308" cy="288"/>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99"/>
                  </a:solidFill>
                  <a:ea typeface="楷体_GB2312" pitchFamily="49" charset="-122"/>
                </a:rPr>
                <a:t>0#</a:t>
              </a:r>
              <a:endParaRPr lang="en-US" altLang="zh-CN" sz="2400" b="1" dirty="0">
                <a:solidFill>
                  <a:srgbClr val="000099"/>
                </a:solidFill>
                <a:ea typeface="楷体_GB2312" pitchFamily="49" charset="-122"/>
              </a:endParaRPr>
            </a:p>
          </p:txBody>
        </p:sp>
        <p:sp>
          <p:nvSpPr>
            <p:cNvPr id="122886" name="Rectangle 78"/>
            <p:cNvSpPr/>
            <p:nvPr/>
          </p:nvSpPr>
          <p:spPr>
            <a:xfrm>
              <a:off x="1156" y="2432"/>
              <a:ext cx="308" cy="288"/>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99"/>
                  </a:solidFill>
                  <a:ea typeface="楷体_GB2312" pitchFamily="49" charset="-122"/>
                </a:rPr>
                <a:t>1#</a:t>
              </a:r>
              <a:endParaRPr lang="en-US" altLang="zh-CN" sz="2400" b="1" dirty="0">
                <a:solidFill>
                  <a:srgbClr val="000099"/>
                </a:solidFill>
                <a:ea typeface="楷体_GB2312" pitchFamily="49" charset="-122"/>
              </a:endParaRPr>
            </a:p>
          </p:txBody>
        </p:sp>
        <p:sp>
          <p:nvSpPr>
            <p:cNvPr id="122887" name="Rectangle 79"/>
            <p:cNvSpPr/>
            <p:nvPr/>
          </p:nvSpPr>
          <p:spPr>
            <a:xfrm>
              <a:off x="1156" y="2750"/>
              <a:ext cx="308" cy="288"/>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99"/>
                  </a:solidFill>
                  <a:ea typeface="楷体_GB2312" pitchFamily="49" charset="-122"/>
                </a:rPr>
                <a:t>2#</a:t>
              </a:r>
              <a:endParaRPr lang="en-US" altLang="zh-CN" sz="2400" b="1" dirty="0">
                <a:solidFill>
                  <a:srgbClr val="000099"/>
                </a:solidFill>
                <a:ea typeface="楷体_GB2312" pitchFamily="49" charset="-122"/>
              </a:endParaRPr>
            </a:p>
          </p:txBody>
        </p:sp>
        <p:sp>
          <p:nvSpPr>
            <p:cNvPr id="122888" name="Rectangle 80"/>
            <p:cNvSpPr/>
            <p:nvPr/>
          </p:nvSpPr>
          <p:spPr>
            <a:xfrm>
              <a:off x="2699" y="2432"/>
              <a:ext cx="308" cy="28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99"/>
                  </a:solidFill>
                  <a:ea typeface="楷体_GB2312" pitchFamily="49" charset="-122"/>
                </a:rPr>
                <a:t>1#</a:t>
              </a:r>
              <a:endParaRPr lang="en-US" altLang="zh-CN" sz="2400" b="1" dirty="0">
                <a:solidFill>
                  <a:srgbClr val="000099"/>
                </a:solidFill>
                <a:ea typeface="楷体_GB2312" pitchFamily="49" charset="-122"/>
              </a:endParaRPr>
            </a:p>
          </p:txBody>
        </p:sp>
        <p:sp>
          <p:nvSpPr>
            <p:cNvPr id="122889" name="Rectangle 81"/>
            <p:cNvSpPr/>
            <p:nvPr/>
          </p:nvSpPr>
          <p:spPr>
            <a:xfrm>
              <a:off x="1166" y="3058"/>
              <a:ext cx="308" cy="288"/>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99"/>
                  </a:solidFill>
                  <a:ea typeface="楷体_GB2312" pitchFamily="49" charset="-122"/>
                </a:rPr>
                <a:t>3#</a:t>
              </a:r>
              <a:endParaRPr lang="en-US" altLang="zh-CN" sz="2400" b="1" dirty="0">
                <a:solidFill>
                  <a:srgbClr val="000099"/>
                </a:solidFill>
                <a:ea typeface="楷体_GB2312" pitchFamily="49" charset="-122"/>
              </a:endParaRPr>
            </a:p>
          </p:txBody>
        </p:sp>
        <p:sp>
          <p:nvSpPr>
            <p:cNvPr id="122890" name="Rectangle 82"/>
            <p:cNvSpPr/>
            <p:nvPr/>
          </p:nvSpPr>
          <p:spPr>
            <a:xfrm>
              <a:off x="2699" y="2115"/>
              <a:ext cx="308" cy="288"/>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99"/>
                  </a:solidFill>
                  <a:ea typeface="楷体_GB2312" pitchFamily="49" charset="-122"/>
                </a:rPr>
                <a:t>0#</a:t>
              </a:r>
              <a:endParaRPr lang="en-US" altLang="zh-CN" sz="2400" b="1" dirty="0">
                <a:solidFill>
                  <a:srgbClr val="000099"/>
                </a:solidFill>
                <a:ea typeface="楷体_GB2312" pitchFamily="49" charset="-122"/>
              </a:endParaRPr>
            </a:p>
          </p:txBody>
        </p:sp>
        <p:sp>
          <p:nvSpPr>
            <p:cNvPr id="122891" name="Rectangle 112"/>
            <p:cNvSpPr/>
            <p:nvPr/>
          </p:nvSpPr>
          <p:spPr>
            <a:xfrm>
              <a:off x="2699" y="2750"/>
              <a:ext cx="308" cy="288"/>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99"/>
                  </a:solidFill>
                  <a:ea typeface="楷体_GB2312" pitchFamily="49" charset="-122"/>
                </a:rPr>
                <a:t>2#</a:t>
              </a:r>
              <a:endParaRPr lang="en-US" altLang="zh-CN" sz="2400" b="1" dirty="0">
                <a:solidFill>
                  <a:srgbClr val="000099"/>
                </a:solidFill>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627827"/>
                                        </p:tgtEl>
                                        <p:attrNameLst>
                                          <p:attrName>style.visibility</p:attrName>
                                        </p:attrNameLst>
                                      </p:cBhvr>
                                      <p:to>
                                        <p:strVal val="visible"/>
                                      </p:to>
                                    </p:set>
                                    <p:animEffect transition="in" filter="strips(downRight)">
                                      <p:cBhvr>
                                        <p:cTn id="7" dur="500"/>
                                        <p:tgtEl>
                                          <p:spTgt spid="627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28387" name="Rectangle 3"/>
          <p:cNvSpPr/>
          <p:nvPr/>
        </p:nvSpPr>
        <p:spPr>
          <a:xfrm>
            <a:off x="609600" y="2971800"/>
            <a:ext cx="82296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这个具体的地址结构，确定了一个作业最多能有多少段，每段多少页，以及页面的大小。这里假定：可允许有</a:t>
            </a:r>
            <a:r>
              <a:rPr lang="en-US" altLang="zh-CN" sz="2400" b="1" dirty="0">
                <a:solidFill>
                  <a:srgbClr val="000099"/>
                </a:solidFill>
                <a:ea typeface="楷体_GB2312" pitchFamily="49" charset="-122"/>
              </a:rPr>
              <a:t>256</a:t>
            </a:r>
            <a:r>
              <a:rPr lang="zh-CN" altLang="en-US" sz="2400" b="1" dirty="0">
                <a:solidFill>
                  <a:srgbClr val="000099"/>
                </a:solidFill>
                <a:ea typeface="楷体_GB2312" pitchFamily="49" charset="-122"/>
              </a:rPr>
              <a:t>段，每段</a:t>
            </a:r>
            <a:r>
              <a:rPr lang="en-US" altLang="zh-CN" sz="2400" b="1" dirty="0">
                <a:solidFill>
                  <a:srgbClr val="000099"/>
                </a:solidFill>
                <a:ea typeface="楷体_GB2312" pitchFamily="49" charset="-122"/>
              </a:rPr>
              <a:t>16</a:t>
            </a:r>
            <a:r>
              <a:rPr lang="zh-CN" altLang="en-US" sz="2400" b="1" dirty="0">
                <a:solidFill>
                  <a:srgbClr val="000099"/>
                </a:solidFill>
                <a:ea typeface="楷体_GB2312" pitchFamily="49" charset="-122"/>
              </a:rPr>
              <a:t>页、页面的大小为</a:t>
            </a:r>
            <a:r>
              <a:rPr lang="en-US" altLang="zh-CN" sz="2400" b="1" dirty="0">
                <a:solidFill>
                  <a:srgbClr val="000099"/>
                </a:solidFill>
                <a:ea typeface="楷体_GB2312" pitchFamily="49" charset="-122"/>
              </a:rPr>
              <a:t>4K</a:t>
            </a:r>
            <a:r>
              <a:rPr lang="zh-CN" altLang="en-US" sz="2400" b="1" dirty="0">
                <a:solidFill>
                  <a:srgbClr val="000099"/>
                </a:solidFill>
                <a:ea typeface="楷体_GB2312" pitchFamily="49" charset="-122"/>
              </a:rPr>
              <a:t>字节。</a:t>
            </a:r>
            <a:endParaRPr lang="zh-CN" altLang="en-US" sz="2400" b="1" dirty="0">
              <a:solidFill>
                <a:srgbClr val="000099"/>
              </a:solidFill>
              <a:ea typeface="楷体_GB2312" pitchFamily="49" charset="-122"/>
            </a:endParaRPr>
          </a:p>
        </p:txBody>
      </p:sp>
      <p:sp>
        <p:nvSpPr>
          <p:cNvPr id="529416" name="Rectangle 8"/>
          <p:cNvSpPr/>
          <p:nvPr/>
        </p:nvSpPr>
        <p:spPr>
          <a:xfrm>
            <a:off x="684213" y="692150"/>
            <a:ext cx="8229600" cy="6762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eaLnBrk="1" hangingPunct="1">
              <a:lnSpc>
                <a:spcPct val="120000"/>
              </a:lnSpc>
              <a:buClrTx/>
              <a:buSzTx/>
              <a:buFontTx/>
              <a:buNone/>
              <a:tabLst>
                <a:tab pos="533400" algn="l"/>
              </a:tabLst>
            </a:pPr>
            <a:r>
              <a:rPr lang="zh-CN" altLang="en-US" dirty="0">
                <a:solidFill>
                  <a:srgbClr val="990033"/>
                </a:solidFill>
                <a:latin typeface="隶书" panose="02010509060101010101" pitchFamily="49" charset="-122"/>
                <a:ea typeface="隶书" panose="02010509060101010101" pitchFamily="49" charset="-122"/>
              </a:rPr>
              <a:t>二</a:t>
            </a:r>
            <a:r>
              <a:rPr lang="zh-CN" altLang="en-US" dirty="0">
                <a:solidFill>
                  <a:srgbClr val="990033"/>
                </a:solidFill>
                <a:ea typeface="隶书" panose="02010509060101010101" pitchFamily="49" charset="-122"/>
              </a:rPr>
              <a:t>、地址重定位</a:t>
            </a:r>
            <a:endParaRPr lang="zh-CN" altLang="en-US" sz="2400" b="1" dirty="0">
              <a:solidFill>
                <a:srgbClr val="000099"/>
              </a:solidFill>
              <a:latin typeface="楷体_GB2312" pitchFamily="49" charset="-122"/>
              <a:ea typeface="楷体_GB2312" pitchFamily="49" charset="-122"/>
            </a:endParaRPr>
          </a:p>
        </p:txBody>
      </p:sp>
      <p:graphicFrame>
        <p:nvGraphicFramePr>
          <p:cNvPr id="529491" name="Group 83"/>
          <p:cNvGraphicFramePr>
            <a:graphicFrameLocks noGrp="1"/>
          </p:cNvGraphicFramePr>
          <p:nvPr/>
        </p:nvGraphicFramePr>
        <p:xfrm>
          <a:off x="1908175" y="1989138"/>
          <a:ext cx="5184775" cy="457200"/>
        </p:xfrm>
        <a:graphic>
          <a:graphicData uri="http://schemas.openxmlformats.org/drawingml/2006/table">
            <a:tbl>
              <a:tblPr/>
              <a:tblGrid>
                <a:gridCol w="1687513"/>
                <a:gridCol w="1689100"/>
                <a:gridCol w="1808162"/>
              </a:tblGrid>
              <a:tr h="449263">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660033"/>
                          </a:solidFill>
                          <a:effectLst/>
                          <a:latin typeface="Arial" panose="020B0604020202020204" pitchFamily="34" charset="0"/>
                          <a:ea typeface="楷体_GB2312" pitchFamily="49" charset="-122"/>
                        </a:rPr>
                        <a:t>   </a:t>
                      </a:r>
                      <a:r>
                        <a:rPr kumimoji="0" lang="zh-CN" altLang="en-US" sz="2400" b="1" i="0" u="none" strike="noStrike" cap="none" normalizeH="0" baseline="0">
                          <a:ln>
                            <a:noFill/>
                          </a:ln>
                          <a:solidFill>
                            <a:srgbClr val="660033"/>
                          </a:solidFill>
                          <a:effectLst/>
                          <a:latin typeface="Arial" panose="020B0604020202020204" pitchFamily="34" charset="0"/>
                          <a:ea typeface="楷体_GB2312" pitchFamily="49" charset="-122"/>
                        </a:rPr>
                        <a:t>段号</a:t>
                      </a:r>
                      <a:r>
                        <a:rPr kumimoji="0" lang="en-US" altLang="zh-CN" sz="2400" b="1" i="0" u="none" strike="noStrike" cap="none" normalizeH="0" baseline="0">
                          <a:ln>
                            <a:noFill/>
                          </a:ln>
                          <a:solidFill>
                            <a:srgbClr val="660033"/>
                          </a:solidFill>
                          <a:effectLst/>
                          <a:latin typeface="Arial" panose="020B0604020202020204" pitchFamily="34" charset="0"/>
                          <a:ea typeface="楷体_GB2312" pitchFamily="49" charset="-122"/>
                        </a:rPr>
                        <a:t>S</a:t>
                      </a:r>
                      <a:endParaRPr kumimoji="0" lang="en-US" altLang="zh-CN" sz="2400" b="1" i="0" u="none" strike="noStrike" cap="none" normalizeH="0" baseline="0">
                        <a:ln>
                          <a:noFill/>
                        </a:ln>
                        <a:solidFill>
                          <a:srgbClr val="660033"/>
                        </a:solidFill>
                        <a:effectLst/>
                        <a:latin typeface="Arial" panose="020B0604020202020204" pitchFamily="34" charset="0"/>
                        <a:ea typeface="楷体_GB2312" pitchFamily="49"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660033"/>
                          </a:solidFill>
                          <a:effectLst/>
                          <a:latin typeface="Arial" panose="020B0604020202020204" pitchFamily="34" charset="0"/>
                          <a:ea typeface="楷体_GB2312" pitchFamily="49" charset="-122"/>
                        </a:rPr>
                        <a:t>  </a:t>
                      </a:r>
                      <a:r>
                        <a:rPr kumimoji="0" lang="zh-CN" altLang="en-US" sz="2400" b="1" i="0" u="none" strike="noStrike" cap="none" normalizeH="0" baseline="0">
                          <a:ln>
                            <a:noFill/>
                          </a:ln>
                          <a:solidFill>
                            <a:srgbClr val="660033"/>
                          </a:solidFill>
                          <a:effectLst/>
                          <a:latin typeface="Arial" panose="020B0604020202020204" pitchFamily="34" charset="0"/>
                          <a:ea typeface="楷体_GB2312" pitchFamily="49" charset="-122"/>
                        </a:rPr>
                        <a:t>页号</a:t>
                      </a:r>
                      <a:r>
                        <a:rPr kumimoji="0" lang="en-US" altLang="zh-CN" sz="2400" b="1" i="0" u="none" strike="noStrike" cap="none" normalizeH="0" baseline="0">
                          <a:ln>
                            <a:noFill/>
                          </a:ln>
                          <a:solidFill>
                            <a:srgbClr val="660033"/>
                          </a:solidFill>
                          <a:effectLst/>
                          <a:latin typeface="Arial" panose="020B0604020202020204" pitchFamily="34" charset="0"/>
                          <a:ea typeface="楷体_GB2312" pitchFamily="49" charset="-122"/>
                        </a:rPr>
                        <a:t>P</a:t>
                      </a:r>
                      <a:endParaRPr kumimoji="0" lang="en-US" altLang="zh-CN" sz="2400" b="1" i="0" u="none" strike="noStrike" cap="none" normalizeH="0" baseline="0">
                        <a:ln>
                          <a:noFill/>
                        </a:ln>
                        <a:solidFill>
                          <a:srgbClr val="660033"/>
                        </a:solidFill>
                        <a:effectLst/>
                        <a:latin typeface="Arial" panose="020B0604020202020204" pitchFamily="34" charset="0"/>
                        <a:ea typeface="楷体_GB2312" pitchFamily="49"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660033"/>
                          </a:solidFill>
                          <a:effectLst/>
                          <a:latin typeface="Arial" panose="020B0604020202020204" pitchFamily="34" charset="0"/>
                          <a:ea typeface="楷体_GB2312" pitchFamily="49" charset="-122"/>
                        </a:rPr>
                        <a:t> </a:t>
                      </a:r>
                      <a:r>
                        <a:rPr kumimoji="0" lang="zh-CN" altLang="en-US" sz="2400" b="1" i="0" u="none" strike="noStrike" cap="none" normalizeH="0" baseline="0">
                          <a:ln>
                            <a:noFill/>
                          </a:ln>
                          <a:solidFill>
                            <a:srgbClr val="660033"/>
                          </a:solidFill>
                          <a:effectLst/>
                          <a:latin typeface="Arial" panose="020B0604020202020204" pitchFamily="34" charset="0"/>
                          <a:ea typeface="楷体_GB2312" pitchFamily="49" charset="-122"/>
                        </a:rPr>
                        <a:t>页内地址</a:t>
                      </a:r>
                      <a:r>
                        <a:rPr kumimoji="0" lang="en-US" altLang="zh-CN" sz="2400" b="1" i="0" u="none" strike="noStrike" cap="none" normalizeH="0" baseline="0">
                          <a:ln>
                            <a:noFill/>
                          </a:ln>
                          <a:solidFill>
                            <a:srgbClr val="660033"/>
                          </a:solidFill>
                          <a:effectLst/>
                          <a:latin typeface="Arial" panose="020B0604020202020204" pitchFamily="34" charset="0"/>
                          <a:ea typeface="楷体_GB2312" pitchFamily="49" charset="-122"/>
                        </a:rPr>
                        <a:t>d</a:t>
                      </a:r>
                      <a:endParaRPr kumimoji="0" lang="en-US" altLang="zh-CN" sz="2400" b="1" i="0" u="none" strike="noStrike" cap="none" normalizeH="0" baseline="0">
                        <a:ln>
                          <a:noFill/>
                        </a:ln>
                        <a:solidFill>
                          <a:srgbClr val="660033"/>
                        </a:solidFill>
                        <a:effectLst/>
                        <a:latin typeface="Arial" panose="020B0604020202020204" pitchFamily="34" charset="0"/>
                        <a:ea typeface="楷体_GB2312" pitchFamily="49"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529441" name="Rectangle 33"/>
          <p:cNvSpPr/>
          <p:nvPr/>
        </p:nvSpPr>
        <p:spPr>
          <a:xfrm>
            <a:off x="685800" y="4495800"/>
            <a:ext cx="7094538" cy="457200"/>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latin typeface="Arial" panose="020B0604020202020204" pitchFamily="34" charset="0"/>
                <a:ea typeface="楷体_GB2312" pitchFamily="49" charset="-122"/>
              </a:rPr>
              <a:t>2</a:t>
            </a:r>
            <a:r>
              <a:rPr lang="zh-CN" altLang="en-US" sz="2400" b="1" dirty="0">
                <a:solidFill>
                  <a:srgbClr val="9900CC"/>
                </a:solidFill>
                <a:latin typeface="Arial" panose="020B0604020202020204" pitchFamily="34" charset="0"/>
                <a:ea typeface="楷体_GB2312" pitchFamily="49" charset="-122"/>
              </a:rPr>
              <a:t>、段表：</a:t>
            </a:r>
            <a:r>
              <a:rPr lang="zh-CN" altLang="en-US" sz="2400" b="1" dirty="0">
                <a:solidFill>
                  <a:srgbClr val="000099"/>
                </a:solidFill>
                <a:latin typeface="Arial" panose="020B0604020202020204" pitchFamily="34" charset="0"/>
                <a:ea typeface="楷体_GB2312" pitchFamily="49" charset="-122"/>
              </a:rPr>
              <a:t>（以作业为单位，即每个作业一张段表）</a:t>
            </a:r>
            <a:endParaRPr lang="zh-CN" altLang="en-US" sz="2400" b="1" dirty="0">
              <a:solidFill>
                <a:srgbClr val="000099"/>
              </a:solidFill>
              <a:latin typeface="Arial" panose="020B0604020202020204" pitchFamily="34" charset="0"/>
              <a:ea typeface="楷体_GB2312" pitchFamily="49" charset="-122"/>
            </a:endParaRPr>
          </a:p>
        </p:txBody>
      </p:sp>
      <p:graphicFrame>
        <p:nvGraphicFramePr>
          <p:cNvPr id="529496" name="Group 88"/>
          <p:cNvGraphicFramePr>
            <a:graphicFrameLocks noGrp="1"/>
          </p:cNvGraphicFramePr>
          <p:nvPr/>
        </p:nvGraphicFramePr>
        <p:xfrm>
          <a:off x="1828800" y="5029200"/>
          <a:ext cx="5976938" cy="457200"/>
        </p:xfrm>
        <a:graphic>
          <a:graphicData uri="http://schemas.openxmlformats.org/drawingml/2006/table">
            <a:tbl>
              <a:tblPr/>
              <a:tblGrid>
                <a:gridCol w="1223963"/>
                <a:gridCol w="2663825"/>
                <a:gridCol w="2089150"/>
              </a:tblGrid>
              <a:tr h="377825">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660033"/>
                          </a:solidFill>
                          <a:effectLst/>
                          <a:latin typeface="Times New Roman" panose="02020603050405020304" pitchFamily="18" charset="0"/>
                          <a:ea typeface="楷体_GB2312" pitchFamily="49" charset="-122"/>
                        </a:rPr>
                        <a:t>段    号</a:t>
                      </a:r>
                      <a:endParaRPr kumimoji="0" lang="zh-CN" altLang="en-US" sz="2400" b="1" i="0" u="none" strike="noStrike" cap="none" normalizeH="0" baseline="0">
                        <a:ln>
                          <a:noFill/>
                        </a:ln>
                        <a:solidFill>
                          <a:srgbClr val="660033"/>
                        </a:solidFill>
                        <a:effectLst/>
                        <a:latin typeface="Arial" panose="020B0604020202020204" pitchFamily="34" charset="0"/>
                        <a:ea typeface="楷体_GB2312" pitchFamily="49"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660033"/>
                          </a:solidFill>
                          <a:effectLst/>
                          <a:latin typeface="Times New Roman" panose="02020603050405020304" pitchFamily="18" charset="0"/>
                          <a:ea typeface="楷体_GB2312" pitchFamily="49" charset="-122"/>
                        </a:rPr>
                        <a:t>页表大小（长度）</a:t>
                      </a:r>
                      <a:endParaRPr kumimoji="0" lang="zh-CN" altLang="en-US" sz="2400" b="1" i="0" u="none" strike="noStrike" cap="none" normalizeH="0" baseline="0">
                        <a:ln>
                          <a:noFill/>
                        </a:ln>
                        <a:solidFill>
                          <a:srgbClr val="660033"/>
                        </a:solidFill>
                        <a:effectLst/>
                        <a:latin typeface="Arial" panose="020B0604020202020204" pitchFamily="34" charset="0"/>
                        <a:ea typeface="楷体_GB2312" pitchFamily="49"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660033"/>
                          </a:solidFill>
                          <a:effectLst/>
                          <a:latin typeface="Times New Roman" panose="02020603050405020304" pitchFamily="18" charset="0"/>
                          <a:ea typeface="楷体_GB2312" pitchFamily="49" charset="-122"/>
                        </a:rPr>
                        <a:t>页表起始地址</a:t>
                      </a:r>
                      <a:endParaRPr kumimoji="0" lang="zh-CN" altLang="en-US" sz="2400" b="1" i="0" u="none" strike="noStrike" cap="none" normalizeH="0" baseline="0">
                        <a:ln>
                          <a:noFill/>
                        </a:ln>
                        <a:solidFill>
                          <a:srgbClr val="660033"/>
                        </a:solidFill>
                        <a:effectLst/>
                        <a:latin typeface="Arial" panose="020B0604020202020204" pitchFamily="34" charset="0"/>
                        <a:ea typeface="楷体_GB2312" pitchFamily="49"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529468" name="Rectangle 60"/>
          <p:cNvSpPr/>
          <p:nvPr/>
        </p:nvSpPr>
        <p:spPr>
          <a:xfrm>
            <a:off x="762000" y="5638800"/>
            <a:ext cx="6481763" cy="457200"/>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latin typeface="Arial" panose="020B0604020202020204" pitchFamily="34" charset="0"/>
                <a:ea typeface="楷体_GB2312" pitchFamily="49" charset="-122"/>
              </a:rPr>
              <a:t>3</a:t>
            </a:r>
            <a:r>
              <a:rPr lang="zh-CN" altLang="en-US" sz="2400" b="1" dirty="0">
                <a:solidFill>
                  <a:srgbClr val="9900CC"/>
                </a:solidFill>
                <a:latin typeface="Arial" panose="020B0604020202020204" pitchFamily="34" charset="0"/>
                <a:ea typeface="楷体_GB2312" pitchFamily="49" charset="-122"/>
              </a:rPr>
              <a:t>、页表：</a:t>
            </a:r>
            <a:r>
              <a:rPr lang="zh-CN" altLang="en-US" sz="2400" b="1" dirty="0">
                <a:solidFill>
                  <a:srgbClr val="000099"/>
                </a:solidFill>
                <a:latin typeface="Arial" panose="020B0604020202020204" pitchFamily="34" charset="0"/>
                <a:ea typeface="楷体_GB2312" pitchFamily="49" charset="-122"/>
              </a:rPr>
              <a:t>（以段为单位，即每个段一张页表）</a:t>
            </a:r>
            <a:endParaRPr lang="zh-CN" altLang="en-US" sz="2400" b="1" dirty="0">
              <a:solidFill>
                <a:srgbClr val="000099"/>
              </a:solidFill>
              <a:latin typeface="Arial" panose="020B0604020202020204" pitchFamily="34" charset="0"/>
              <a:ea typeface="楷体_GB2312" pitchFamily="49" charset="-122"/>
            </a:endParaRPr>
          </a:p>
        </p:txBody>
      </p:sp>
      <p:graphicFrame>
        <p:nvGraphicFramePr>
          <p:cNvPr id="529494" name="Group 86"/>
          <p:cNvGraphicFramePr>
            <a:graphicFrameLocks noGrp="1"/>
          </p:cNvGraphicFramePr>
          <p:nvPr/>
        </p:nvGraphicFramePr>
        <p:xfrm>
          <a:off x="1908175" y="6165850"/>
          <a:ext cx="2206625" cy="457200"/>
        </p:xfrm>
        <a:graphic>
          <a:graphicData uri="http://schemas.openxmlformats.org/drawingml/2006/table">
            <a:tbl>
              <a:tblPr/>
              <a:tblGrid>
                <a:gridCol w="1120775"/>
                <a:gridCol w="1085850"/>
              </a:tblGrid>
              <a:tr h="438150">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660033"/>
                          </a:solidFill>
                          <a:effectLst/>
                          <a:latin typeface="Arial" panose="020B0604020202020204" pitchFamily="34" charset="0"/>
                          <a:ea typeface="楷体_GB2312" pitchFamily="49" charset="-122"/>
                        </a:rPr>
                        <a:t>页 号</a:t>
                      </a:r>
                      <a:endParaRPr kumimoji="0" lang="zh-CN" altLang="en-US" sz="2400" b="1" i="0" u="none" strike="noStrike" cap="none" normalizeH="0" baseline="0">
                        <a:ln>
                          <a:noFill/>
                        </a:ln>
                        <a:solidFill>
                          <a:srgbClr val="660033"/>
                        </a:solidFill>
                        <a:effectLst/>
                        <a:latin typeface="Arial" panose="020B0604020202020204" pitchFamily="34" charset="0"/>
                        <a:ea typeface="楷体_GB2312" pitchFamily="49"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lr>
                          <a:schemeClr val="accent2"/>
                        </a:buClr>
                        <a:buSzPct val="75000"/>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lr>
                          <a:srgbClr val="666699"/>
                        </a:buClr>
                        <a:buSzPct val="70000"/>
                        <a:buFont typeface="Wingdings" panose="05000000000000000000" pitchFamily="2" charset="2"/>
                        <a:defRPr kumimoji="1" sz="2000">
                          <a:solidFill>
                            <a:schemeClr val="tx1"/>
                          </a:solidFill>
                          <a:latin typeface="Times New Roman" panose="02020603050405020304" pitchFamily="18" charset="0"/>
                          <a:ea typeface="宋体" panose="02010600030101010101" pitchFamily="2" charset="-122"/>
                        </a:defRPr>
                      </a:lvl3pPr>
                      <a:lvl4pPr>
                        <a:spcBef>
                          <a:spcPct val="20000"/>
                        </a:spcBef>
                        <a:buSzPct val="6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spcBef>
                          <a:spcPct val="20000"/>
                        </a:spcBef>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hlink"/>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660033"/>
                          </a:solidFill>
                          <a:effectLst/>
                          <a:latin typeface="Arial" panose="020B0604020202020204" pitchFamily="34" charset="0"/>
                          <a:ea typeface="楷体_GB2312" pitchFamily="49" charset="-122"/>
                        </a:rPr>
                        <a:t> </a:t>
                      </a:r>
                      <a:r>
                        <a:rPr kumimoji="0" lang="zh-CN" altLang="en-US" sz="2400" b="1" i="0" u="none" strike="noStrike" cap="none" normalizeH="0" baseline="0">
                          <a:ln>
                            <a:noFill/>
                          </a:ln>
                          <a:solidFill>
                            <a:srgbClr val="660033"/>
                          </a:solidFill>
                          <a:effectLst/>
                          <a:latin typeface="Arial" panose="020B0604020202020204" pitchFamily="34" charset="0"/>
                          <a:ea typeface="楷体_GB2312" pitchFamily="49" charset="-122"/>
                        </a:rPr>
                        <a:t>块 号</a:t>
                      </a:r>
                      <a:endParaRPr kumimoji="0" lang="zh-CN" altLang="en-US" sz="2400" b="1" i="0" u="none" strike="noStrike" cap="none" normalizeH="0" baseline="0">
                        <a:ln>
                          <a:noFill/>
                        </a:ln>
                        <a:solidFill>
                          <a:srgbClr val="660033"/>
                        </a:solidFill>
                        <a:effectLst/>
                        <a:latin typeface="Arial" panose="020B0604020202020204" pitchFamily="34" charset="0"/>
                        <a:ea typeface="楷体_GB2312" pitchFamily="49"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529489" name="Rectangle 81"/>
          <p:cNvSpPr/>
          <p:nvPr/>
        </p:nvSpPr>
        <p:spPr>
          <a:xfrm>
            <a:off x="685800" y="1371600"/>
            <a:ext cx="27432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a:lnSpc>
                <a:spcPct val="120000"/>
              </a:lnSpc>
              <a:buClrTx/>
              <a:buSzTx/>
              <a:buFontTx/>
              <a:buNone/>
              <a:tabLst>
                <a:tab pos="533400" algn="l"/>
              </a:tabLst>
            </a:pPr>
            <a:r>
              <a:rPr lang="en-US" altLang="zh-CN" sz="2400" b="1" dirty="0">
                <a:solidFill>
                  <a:srgbClr val="9900CC"/>
                </a:solidFill>
                <a:ea typeface="楷体_GB2312" pitchFamily="49" charset="-122"/>
              </a:rPr>
              <a:t>1</a:t>
            </a:r>
            <a:r>
              <a:rPr lang="zh-CN" altLang="en-US" sz="2400" b="1" dirty="0">
                <a:solidFill>
                  <a:srgbClr val="9900CC"/>
                </a:solidFill>
                <a:ea typeface="楷体_GB2312" pitchFamily="49" charset="-122"/>
              </a:rPr>
              <a:t>、逻辑地址字</a:t>
            </a:r>
            <a:r>
              <a:rPr lang="zh-CN" altLang="en-US" sz="2400" dirty="0">
                <a:ea typeface="楷体_GB2312" pitchFamily="49" charset="-122"/>
              </a:rPr>
              <a:t> </a:t>
            </a:r>
            <a:r>
              <a:rPr lang="zh-CN" altLang="en-US" sz="2400" b="1" dirty="0">
                <a:solidFill>
                  <a:srgbClr val="000099"/>
                </a:solidFill>
                <a:latin typeface="楷体_GB2312" pitchFamily="49" charset="-122"/>
                <a:ea typeface="楷体_GB2312" pitchFamily="49" charset="-122"/>
              </a:rPr>
              <a:t>   </a:t>
            </a:r>
            <a:endParaRPr lang="zh-CN" altLang="en-US" sz="2400" b="1" dirty="0">
              <a:solidFill>
                <a:srgbClr val="000099"/>
              </a:solidFill>
              <a:latin typeface="楷体_GB2312" pitchFamily="49" charset="-122"/>
              <a:ea typeface="楷体_GB2312" pitchFamily="49" charset="-122"/>
            </a:endParaRPr>
          </a:p>
        </p:txBody>
      </p:sp>
      <p:sp>
        <p:nvSpPr>
          <p:cNvPr id="529497" name="Rectangle 89"/>
          <p:cNvSpPr/>
          <p:nvPr/>
        </p:nvSpPr>
        <p:spPr>
          <a:xfrm>
            <a:off x="1828800" y="2362200"/>
            <a:ext cx="53340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a:lnSpc>
                <a:spcPct val="120000"/>
              </a:lnSpc>
              <a:buClrTx/>
              <a:buSzTx/>
              <a:buFontTx/>
              <a:buNone/>
              <a:tabLst>
                <a:tab pos="533400" algn="l"/>
              </a:tabLst>
            </a:pPr>
            <a:r>
              <a:rPr lang="en-US" altLang="zh-CN" sz="2400" b="1" dirty="0">
                <a:solidFill>
                  <a:srgbClr val="9900CC"/>
                </a:solidFill>
                <a:ea typeface="楷体_GB2312" pitchFamily="49" charset="-122"/>
              </a:rPr>
              <a:t>23             16  15             12 11                0</a:t>
            </a:r>
            <a:r>
              <a:rPr lang="en-US" altLang="zh-CN" sz="2400" dirty="0">
                <a:ea typeface="楷体_GB2312" pitchFamily="49" charset="-122"/>
              </a:rPr>
              <a:t> </a:t>
            </a:r>
            <a:r>
              <a:rPr lang="en-US" altLang="zh-CN" sz="2400" b="1" dirty="0">
                <a:solidFill>
                  <a:srgbClr val="000099"/>
                </a:solidFill>
                <a:latin typeface="楷体_GB2312" pitchFamily="49" charset="-122"/>
                <a:ea typeface="楷体_GB2312" pitchFamily="49" charset="-122"/>
              </a:rPr>
              <a:t>   </a:t>
            </a:r>
            <a:endParaRPr lang="en-US" altLang="zh-CN" sz="2400" b="1" dirty="0">
              <a:solidFill>
                <a:srgbClr val="000099"/>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9416"/>
                                        </p:tgtEl>
                                        <p:attrNameLst>
                                          <p:attrName>style.visibility</p:attrName>
                                        </p:attrNameLst>
                                      </p:cBhvr>
                                      <p:to>
                                        <p:strVal val="visible"/>
                                      </p:to>
                                    </p:set>
                                    <p:anim calcmode="lin" valueType="num">
                                      <p:cBhvr additive="base">
                                        <p:cTn id="7" dur="500" fill="hold"/>
                                        <p:tgtEl>
                                          <p:spTgt spid="529416"/>
                                        </p:tgtEl>
                                        <p:attrNameLst>
                                          <p:attrName>ppt_x</p:attrName>
                                        </p:attrNameLst>
                                      </p:cBhvr>
                                      <p:tavLst>
                                        <p:tav tm="0">
                                          <p:val>
                                            <p:strVal val="0-#ppt_w/2"/>
                                          </p:val>
                                        </p:tav>
                                        <p:tav tm="100000">
                                          <p:val>
                                            <p:strVal val="#ppt_x"/>
                                          </p:val>
                                        </p:tav>
                                      </p:tavLst>
                                    </p:anim>
                                    <p:anim calcmode="lin" valueType="num">
                                      <p:cBhvr additive="base">
                                        <p:cTn id="8" dur="500" fill="hold"/>
                                        <p:tgtEl>
                                          <p:spTgt spid="5294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29489"/>
                                        </p:tgtEl>
                                        <p:attrNameLst>
                                          <p:attrName>style.visibility</p:attrName>
                                        </p:attrNameLst>
                                      </p:cBhvr>
                                      <p:to>
                                        <p:strVal val="visible"/>
                                      </p:to>
                                    </p:set>
                                    <p:anim calcmode="lin" valueType="num">
                                      <p:cBhvr additive="base">
                                        <p:cTn id="13" dur="500" fill="hold"/>
                                        <p:tgtEl>
                                          <p:spTgt spid="529489"/>
                                        </p:tgtEl>
                                        <p:attrNameLst>
                                          <p:attrName>ppt_x</p:attrName>
                                        </p:attrNameLst>
                                      </p:cBhvr>
                                      <p:tavLst>
                                        <p:tav tm="0">
                                          <p:val>
                                            <p:strVal val="0-#ppt_w/2"/>
                                          </p:val>
                                        </p:tav>
                                        <p:tav tm="100000">
                                          <p:val>
                                            <p:strVal val="#ppt_x"/>
                                          </p:val>
                                        </p:tav>
                                      </p:tavLst>
                                    </p:anim>
                                    <p:anim calcmode="lin" valueType="num">
                                      <p:cBhvr additive="base">
                                        <p:cTn id="14" dur="500" fill="hold"/>
                                        <p:tgtEl>
                                          <p:spTgt spid="52948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29491"/>
                                        </p:tgtEl>
                                        <p:attrNameLst>
                                          <p:attrName>style.visibility</p:attrName>
                                        </p:attrNameLst>
                                      </p:cBhvr>
                                      <p:to>
                                        <p:strVal val="visible"/>
                                      </p:to>
                                    </p:set>
                                    <p:animEffect transition="in" filter="wipe(left)">
                                      <p:cBhvr>
                                        <p:cTn id="19" dur="500"/>
                                        <p:tgtEl>
                                          <p:spTgt spid="52949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29497"/>
                                        </p:tgtEl>
                                        <p:attrNameLst>
                                          <p:attrName>style.visibility</p:attrName>
                                        </p:attrNameLst>
                                      </p:cBhvr>
                                      <p:to>
                                        <p:strVal val="visible"/>
                                      </p:to>
                                    </p:set>
                                    <p:animEffect transition="in" filter="wipe(left)">
                                      <p:cBhvr>
                                        <p:cTn id="24" dur="500"/>
                                        <p:tgtEl>
                                          <p:spTgt spid="52949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528387"/>
                                        </p:tgtEl>
                                        <p:attrNameLst>
                                          <p:attrName>style.visibility</p:attrName>
                                        </p:attrNameLst>
                                      </p:cBhvr>
                                      <p:to>
                                        <p:strVal val="visible"/>
                                      </p:to>
                                    </p:set>
                                    <p:anim calcmode="lin" valueType="num">
                                      <p:cBhvr additive="base">
                                        <p:cTn id="29" dur="500" fill="hold"/>
                                        <p:tgtEl>
                                          <p:spTgt spid="528387"/>
                                        </p:tgtEl>
                                        <p:attrNameLst>
                                          <p:attrName>ppt_x</p:attrName>
                                        </p:attrNameLst>
                                      </p:cBhvr>
                                      <p:tavLst>
                                        <p:tav tm="0">
                                          <p:val>
                                            <p:strVal val="0-#ppt_w/2"/>
                                          </p:val>
                                        </p:tav>
                                        <p:tav tm="100000">
                                          <p:val>
                                            <p:strVal val="#ppt_x"/>
                                          </p:val>
                                        </p:tav>
                                      </p:tavLst>
                                    </p:anim>
                                    <p:anim calcmode="lin" valueType="num">
                                      <p:cBhvr additive="base">
                                        <p:cTn id="30" dur="500" fill="hold"/>
                                        <p:tgtEl>
                                          <p:spTgt spid="52838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529441"/>
                                        </p:tgtEl>
                                        <p:attrNameLst>
                                          <p:attrName>style.visibility</p:attrName>
                                        </p:attrNameLst>
                                      </p:cBhvr>
                                      <p:to>
                                        <p:strVal val="visible"/>
                                      </p:to>
                                    </p:set>
                                    <p:anim calcmode="lin" valueType="num">
                                      <p:cBhvr additive="base">
                                        <p:cTn id="35" dur="500" fill="hold"/>
                                        <p:tgtEl>
                                          <p:spTgt spid="529441"/>
                                        </p:tgtEl>
                                        <p:attrNameLst>
                                          <p:attrName>ppt_x</p:attrName>
                                        </p:attrNameLst>
                                      </p:cBhvr>
                                      <p:tavLst>
                                        <p:tav tm="0">
                                          <p:val>
                                            <p:strVal val="0-#ppt_w/2"/>
                                          </p:val>
                                        </p:tav>
                                        <p:tav tm="100000">
                                          <p:val>
                                            <p:strVal val="#ppt_x"/>
                                          </p:val>
                                        </p:tav>
                                      </p:tavLst>
                                    </p:anim>
                                    <p:anim calcmode="lin" valueType="num">
                                      <p:cBhvr additive="base">
                                        <p:cTn id="36" dur="500" fill="hold"/>
                                        <p:tgtEl>
                                          <p:spTgt spid="529441"/>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29496"/>
                                        </p:tgtEl>
                                        <p:attrNameLst>
                                          <p:attrName>style.visibility</p:attrName>
                                        </p:attrNameLst>
                                      </p:cBhvr>
                                      <p:to>
                                        <p:strVal val="visible"/>
                                      </p:to>
                                    </p:set>
                                    <p:animEffect transition="in" filter="wipe(left)">
                                      <p:cBhvr>
                                        <p:cTn id="41" dur="500"/>
                                        <p:tgtEl>
                                          <p:spTgt spid="529496"/>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529468"/>
                                        </p:tgtEl>
                                        <p:attrNameLst>
                                          <p:attrName>style.visibility</p:attrName>
                                        </p:attrNameLst>
                                      </p:cBhvr>
                                      <p:to>
                                        <p:strVal val="visible"/>
                                      </p:to>
                                    </p:set>
                                    <p:anim calcmode="lin" valueType="num">
                                      <p:cBhvr additive="base">
                                        <p:cTn id="46" dur="500" fill="hold"/>
                                        <p:tgtEl>
                                          <p:spTgt spid="529468"/>
                                        </p:tgtEl>
                                        <p:attrNameLst>
                                          <p:attrName>ppt_x</p:attrName>
                                        </p:attrNameLst>
                                      </p:cBhvr>
                                      <p:tavLst>
                                        <p:tav tm="0">
                                          <p:val>
                                            <p:strVal val="0-#ppt_w/2"/>
                                          </p:val>
                                        </p:tav>
                                        <p:tav tm="100000">
                                          <p:val>
                                            <p:strVal val="#ppt_x"/>
                                          </p:val>
                                        </p:tav>
                                      </p:tavLst>
                                    </p:anim>
                                    <p:anim calcmode="lin" valueType="num">
                                      <p:cBhvr additive="base">
                                        <p:cTn id="47" dur="500" fill="hold"/>
                                        <p:tgtEl>
                                          <p:spTgt spid="529468"/>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29494"/>
                                        </p:tgtEl>
                                        <p:attrNameLst>
                                          <p:attrName>style.visibility</p:attrName>
                                        </p:attrNameLst>
                                      </p:cBhvr>
                                      <p:to>
                                        <p:strVal val="visible"/>
                                      </p:to>
                                    </p:set>
                                    <p:animEffect transition="in" filter="wipe(left)">
                                      <p:cBhvr>
                                        <p:cTn id="52" dur="500"/>
                                        <p:tgtEl>
                                          <p:spTgt spid="529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7" grpId="0"/>
      <p:bldP spid="529416" grpId="0"/>
      <p:bldP spid="529441" grpId="0"/>
      <p:bldP spid="529468" grpId="0"/>
      <p:bldP spid="529489" grpId="0"/>
      <p:bldP spid="529497"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pSp>
        <p:nvGrpSpPr>
          <p:cNvPr id="559111" name="Group 7"/>
          <p:cNvGrpSpPr/>
          <p:nvPr/>
        </p:nvGrpSpPr>
        <p:grpSpPr>
          <a:xfrm>
            <a:off x="1219200" y="685800"/>
            <a:ext cx="6477000" cy="5867400"/>
            <a:chOff x="768" y="432"/>
            <a:chExt cx="4080" cy="3696"/>
          </a:xfrm>
        </p:grpSpPr>
        <p:grpSp>
          <p:nvGrpSpPr>
            <p:cNvPr id="124932" name="Group 69"/>
            <p:cNvGrpSpPr/>
            <p:nvPr/>
          </p:nvGrpSpPr>
          <p:grpSpPr>
            <a:xfrm>
              <a:off x="768" y="432"/>
              <a:ext cx="4080" cy="3696"/>
              <a:chOff x="768" y="432"/>
              <a:chExt cx="4080" cy="3696"/>
            </a:xfrm>
          </p:grpSpPr>
          <p:sp>
            <p:nvSpPr>
              <p:cNvPr id="124938" name="Rectangle 2"/>
              <p:cNvSpPr/>
              <p:nvPr/>
            </p:nvSpPr>
            <p:spPr>
              <a:xfrm>
                <a:off x="768" y="672"/>
                <a:ext cx="1728" cy="110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4939" name="Line 3"/>
              <p:cNvSpPr/>
              <p:nvPr/>
            </p:nvSpPr>
            <p:spPr>
              <a:xfrm>
                <a:off x="768" y="864"/>
                <a:ext cx="1728" cy="0"/>
              </a:xfrm>
              <a:prstGeom prst="line">
                <a:avLst/>
              </a:prstGeom>
              <a:ln w="9525" cap="flat" cmpd="sng">
                <a:solidFill>
                  <a:schemeClr val="tx1"/>
                </a:solidFill>
                <a:prstDash val="solid"/>
                <a:miter/>
                <a:headEnd type="none" w="med" len="med"/>
                <a:tailEnd type="none" w="med" len="med"/>
              </a:ln>
            </p:spPr>
          </p:sp>
          <p:sp>
            <p:nvSpPr>
              <p:cNvPr id="124940" name="Line 4"/>
              <p:cNvSpPr/>
              <p:nvPr/>
            </p:nvSpPr>
            <p:spPr>
              <a:xfrm>
                <a:off x="768" y="1056"/>
                <a:ext cx="1728" cy="0"/>
              </a:xfrm>
              <a:prstGeom prst="line">
                <a:avLst/>
              </a:prstGeom>
              <a:ln w="9525" cap="flat" cmpd="sng">
                <a:solidFill>
                  <a:schemeClr val="tx1"/>
                </a:solidFill>
                <a:prstDash val="solid"/>
                <a:miter/>
                <a:headEnd type="none" w="med" len="med"/>
                <a:tailEnd type="none" w="med" len="med"/>
              </a:ln>
            </p:spPr>
          </p:sp>
          <p:sp>
            <p:nvSpPr>
              <p:cNvPr id="124941" name="Line 5"/>
              <p:cNvSpPr/>
              <p:nvPr/>
            </p:nvSpPr>
            <p:spPr>
              <a:xfrm>
                <a:off x="768" y="1248"/>
                <a:ext cx="1728" cy="0"/>
              </a:xfrm>
              <a:prstGeom prst="line">
                <a:avLst/>
              </a:prstGeom>
              <a:ln w="9525" cap="flat" cmpd="sng">
                <a:solidFill>
                  <a:schemeClr val="tx1"/>
                </a:solidFill>
                <a:prstDash val="solid"/>
                <a:miter/>
                <a:headEnd type="none" w="med" len="med"/>
                <a:tailEnd type="none" w="med" len="med"/>
              </a:ln>
            </p:spPr>
          </p:sp>
          <p:sp>
            <p:nvSpPr>
              <p:cNvPr id="124942" name="Line 6"/>
              <p:cNvSpPr/>
              <p:nvPr/>
            </p:nvSpPr>
            <p:spPr>
              <a:xfrm>
                <a:off x="768" y="1584"/>
                <a:ext cx="1728" cy="0"/>
              </a:xfrm>
              <a:prstGeom prst="line">
                <a:avLst/>
              </a:prstGeom>
              <a:ln w="9525" cap="flat" cmpd="sng">
                <a:solidFill>
                  <a:schemeClr val="tx1"/>
                </a:solidFill>
                <a:prstDash val="solid"/>
                <a:miter/>
                <a:headEnd type="none" w="med" len="med"/>
                <a:tailEnd type="none" w="med" len="med"/>
              </a:ln>
            </p:spPr>
          </p:sp>
          <p:sp>
            <p:nvSpPr>
              <p:cNvPr id="124943" name="Line 7"/>
              <p:cNvSpPr/>
              <p:nvPr/>
            </p:nvSpPr>
            <p:spPr>
              <a:xfrm>
                <a:off x="1152" y="672"/>
                <a:ext cx="0" cy="1104"/>
              </a:xfrm>
              <a:prstGeom prst="line">
                <a:avLst/>
              </a:prstGeom>
              <a:ln w="9525" cap="flat" cmpd="sng">
                <a:solidFill>
                  <a:schemeClr val="tx1"/>
                </a:solidFill>
                <a:prstDash val="solid"/>
                <a:miter/>
                <a:headEnd type="none" w="med" len="med"/>
                <a:tailEnd type="none" w="med" len="med"/>
              </a:ln>
            </p:spPr>
          </p:sp>
          <p:sp>
            <p:nvSpPr>
              <p:cNvPr id="124944" name="Line 8"/>
              <p:cNvSpPr/>
              <p:nvPr/>
            </p:nvSpPr>
            <p:spPr>
              <a:xfrm>
                <a:off x="1824" y="672"/>
                <a:ext cx="0" cy="1104"/>
              </a:xfrm>
              <a:prstGeom prst="line">
                <a:avLst/>
              </a:prstGeom>
              <a:ln w="9525" cap="flat" cmpd="sng">
                <a:solidFill>
                  <a:schemeClr val="tx1"/>
                </a:solidFill>
                <a:prstDash val="solid"/>
                <a:miter/>
                <a:headEnd type="none" w="med" len="med"/>
                <a:tailEnd type="none" w="med" len="med"/>
              </a:ln>
            </p:spPr>
          </p:sp>
          <p:sp>
            <p:nvSpPr>
              <p:cNvPr id="124945" name="Text Box 9"/>
              <p:cNvSpPr txBox="1"/>
              <p:nvPr/>
            </p:nvSpPr>
            <p:spPr>
              <a:xfrm>
                <a:off x="768" y="672"/>
                <a:ext cx="336"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ea typeface="楷体_GB2312" pitchFamily="49" charset="-122"/>
                  </a:rPr>
                  <a:t>段号</a:t>
                </a:r>
                <a:endParaRPr lang="zh-CN" altLang="en-US" sz="1800" b="1" dirty="0">
                  <a:solidFill>
                    <a:srgbClr val="000099"/>
                  </a:solidFill>
                  <a:ea typeface="楷体_GB2312" pitchFamily="49" charset="-122"/>
                </a:endParaRPr>
              </a:p>
            </p:txBody>
          </p:sp>
          <p:sp>
            <p:nvSpPr>
              <p:cNvPr id="124946" name="Text Box 10"/>
              <p:cNvSpPr txBox="1"/>
              <p:nvPr/>
            </p:nvSpPr>
            <p:spPr>
              <a:xfrm>
                <a:off x="1200" y="672"/>
                <a:ext cx="62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ea typeface="楷体_GB2312" pitchFamily="49" charset="-122"/>
                  </a:rPr>
                  <a:t>页表长度</a:t>
                </a:r>
                <a:endParaRPr lang="zh-CN" altLang="en-US" sz="1800" b="1" dirty="0">
                  <a:solidFill>
                    <a:srgbClr val="000099"/>
                  </a:solidFill>
                  <a:ea typeface="楷体_GB2312" pitchFamily="49" charset="-122"/>
                </a:endParaRPr>
              </a:p>
            </p:txBody>
          </p:sp>
          <p:sp>
            <p:nvSpPr>
              <p:cNvPr id="124947" name="Text Box 11"/>
              <p:cNvSpPr txBox="1"/>
              <p:nvPr/>
            </p:nvSpPr>
            <p:spPr>
              <a:xfrm>
                <a:off x="1824" y="672"/>
                <a:ext cx="62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ea typeface="楷体_GB2312" pitchFamily="49" charset="-122"/>
                  </a:rPr>
                  <a:t>页表始址</a:t>
                </a:r>
                <a:endParaRPr lang="zh-CN" altLang="en-US" sz="1800" b="1" dirty="0">
                  <a:solidFill>
                    <a:srgbClr val="000099"/>
                  </a:solidFill>
                  <a:ea typeface="楷体_GB2312" pitchFamily="49" charset="-122"/>
                </a:endParaRPr>
              </a:p>
            </p:txBody>
          </p:sp>
          <p:sp>
            <p:nvSpPr>
              <p:cNvPr id="124948" name="Text Box 12"/>
              <p:cNvSpPr txBox="1"/>
              <p:nvPr/>
            </p:nvSpPr>
            <p:spPr>
              <a:xfrm>
                <a:off x="912" y="864"/>
                <a:ext cx="14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ea typeface="楷体_GB2312" pitchFamily="49" charset="-122"/>
                  </a:rPr>
                  <a:t>0</a:t>
                </a:r>
                <a:endParaRPr lang="en-US" altLang="zh-CN" sz="1800" b="1" dirty="0">
                  <a:solidFill>
                    <a:srgbClr val="000099"/>
                  </a:solidFill>
                  <a:ea typeface="楷体_GB2312" pitchFamily="49" charset="-122"/>
                </a:endParaRPr>
              </a:p>
            </p:txBody>
          </p:sp>
          <p:sp>
            <p:nvSpPr>
              <p:cNvPr id="124949" name="Text Box 13"/>
              <p:cNvSpPr txBox="1"/>
              <p:nvPr/>
            </p:nvSpPr>
            <p:spPr>
              <a:xfrm>
                <a:off x="1440" y="864"/>
                <a:ext cx="14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ea typeface="楷体_GB2312" pitchFamily="49" charset="-122"/>
                  </a:rPr>
                  <a:t>2</a:t>
                </a:r>
                <a:endParaRPr lang="en-US" altLang="zh-CN" sz="1800" b="1" dirty="0">
                  <a:solidFill>
                    <a:srgbClr val="000099"/>
                  </a:solidFill>
                  <a:ea typeface="楷体_GB2312" pitchFamily="49" charset="-122"/>
                </a:endParaRPr>
              </a:p>
            </p:txBody>
          </p:sp>
          <p:sp>
            <p:nvSpPr>
              <p:cNvPr id="124950" name="Text Box 14"/>
              <p:cNvSpPr txBox="1"/>
              <p:nvPr/>
            </p:nvSpPr>
            <p:spPr>
              <a:xfrm>
                <a:off x="912" y="1056"/>
                <a:ext cx="14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ea typeface="楷体_GB2312" pitchFamily="49" charset="-122"/>
                  </a:rPr>
                  <a:t>1</a:t>
                </a:r>
                <a:endParaRPr lang="en-US" altLang="zh-CN" sz="1800" b="1" dirty="0">
                  <a:solidFill>
                    <a:srgbClr val="000099"/>
                  </a:solidFill>
                  <a:ea typeface="楷体_GB2312" pitchFamily="49" charset="-122"/>
                </a:endParaRPr>
              </a:p>
            </p:txBody>
          </p:sp>
          <p:sp>
            <p:nvSpPr>
              <p:cNvPr id="124951" name="Text Box 15"/>
              <p:cNvSpPr txBox="1"/>
              <p:nvPr/>
            </p:nvSpPr>
            <p:spPr>
              <a:xfrm>
                <a:off x="1440" y="1056"/>
                <a:ext cx="14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ea typeface="楷体_GB2312" pitchFamily="49" charset="-122"/>
                  </a:rPr>
                  <a:t>3</a:t>
                </a:r>
                <a:endParaRPr lang="en-US" altLang="zh-CN" sz="1800" b="1" dirty="0">
                  <a:solidFill>
                    <a:srgbClr val="000099"/>
                  </a:solidFill>
                  <a:ea typeface="楷体_GB2312" pitchFamily="49" charset="-122"/>
                </a:endParaRPr>
              </a:p>
            </p:txBody>
          </p:sp>
          <p:sp>
            <p:nvSpPr>
              <p:cNvPr id="124952" name="Text Box 16"/>
              <p:cNvSpPr txBox="1"/>
              <p:nvPr/>
            </p:nvSpPr>
            <p:spPr>
              <a:xfrm>
                <a:off x="912" y="1584"/>
                <a:ext cx="14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ea typeface="楷体_GB2312" pitchFamily="49" charset="-122"/>
                  </a:rPr>
                  <a:t>n</a:t>
                </a:r>
                <a:endParaRPr lang="en-US" altLang="zh-CN" sz="1800" b="1" dirty="0">
                  <a:solidFill>
                    <a:srgbClr val="000099"/>
                  </a:solidFill>
                  <a:ea typeface="楷体_GB2312" pitchFamily="49" charset="-122"/>
                </a:endParaRPr>
              </a:p>
            </p:txBody>
          </p:sp>
          <p:sp>
            <p:nvSpPr>
              <p:cNvPr id="124953" name="Text Box 26"/>
              <p:cNvSpPr txBox="1"/>
              <p:nvPr/>
            </p:nvSpPr>
            <p:spPr>
              <a:xfrm>
                <a:off x="1296" y="2640"/>
                <a:ext cx="14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ea typeface="楷体_GB2312" pitchFamily="49" charset="-122"/>
                  </a:rPr>
                  <a:t>0</a:t>
                </a:r>
                <a:endParaRPr lang="en-US" altLang="zh-CN" sz="1800" b="1" dirty="0">
                  <a:solidFill>
                    <a:srgbClr val="000099"/>
                  </a:solidFill>
                  <a:ea typeface="楷体_GB2312" pitchFamily="49" charset="-122"/>
                </a:endParaRPr>
              </a:p>
            </p:txBody>
          </p:sp>
          <p:sp>
            <p:nvSpPr>
              <p:cNvPr id="124954" name="Text Box 27"/>
              <p:cNvSpPr txBox="1"/>
              <p:nvPr/>
            </p:nvSpPr>
            <p:spPr>
              <a:xfrm>
                <a:off x="1296" y="2832"/>
                <a:ext cx="144"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ea typeface="楷体_GB2312" pitchFamily="49" charset="-122"/>
                  </a:rPr>
                  <a:t>1</a:t>
                </a:r>
                <a:endParaRPr lang="en-US" altLang="zh-CN" sz="1800" b="1" dirty="0">
                  <a:solidFill>
                    <a:srgbClr val="000099"/>
                  </a:solidFill>
                  <a:ea typeface="楷体_GB2312" pitchFamily="49" charset="-122"/>
                </a:endParaRPr>
              </a:p>
            </p:txBody>
          </p:sp>
          <p:grpSp>
            <p:nvGrpSpPr>
              <p:cNvPr id="124955" name="Group 29"/>
              <p:cNvGrpSpPr/>
              <p:nvPr/>
            </p:nvGrpSpPr>
            <p:grpSpPr>
              <a:xfrm>
                <a:off x="1152" y="2208"/>
                <a:ext cx="1296" cy="816"/>
                <a:chOff x="1152" y="2208"/>
                <a:chExt cx="1296" cy="816"/>
              </a:xfrm>
            </p:grpSpPr>
            <p:sp>
              <p:nvSpPr>
                <p:cNvPr id="124994" name="Rectangle 17"/>
                <p:cNvSpPr/>
                <p:nvPr/>
              </p:nvSpPr>
              <p:spPr>
                <a:xfrm>
                  <a:off x="1152" y="2448"/>
                  <a:ext cx="1296" cy="57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4995" name="Line 18"/>
                <p:cNvSpPr/>
                <p:nvPr/>
              </p:nvSpPr>
              <p:spPr>
                <a:xfrm>
                  <a:off x="1152" y="2640"/>
                  <a:ext cx="1296" cy="0"/>
                </a:xfrm>
                <a:prstGeom prst="line">
                  <a:avLst/>
                </a:prstGeom>
                <a:ln w="9525" cap="flat" cmpd="sng">
                  <a:solidFill>
                    <a:schemeClr val="tx1"/>
                  </a:solidFill>
                  <a:prstDash val="solid"/>
                  <a:miter/>
                  <a:headEnd type="none" w="med" len="med"/>
                  <a:tailEnd type="none" w="med" len="med"/>
                </a:ln>
              </p:spPr>
            </p:sp>
            <p:sp>
              <p:nvSpPr>
                <p:cNvPr id="124996" name="Line 19"/>
                <p:cNvSpPr/>
                <p:nvPr/>
              </p:nvSpPr>
              <p:spPr>
                <a:xfrm>
                  <a:off x="1152" y="2832"/>
                  <a:ext cx="1296" cy="0"/>
                </a:xfrm>
                <a:prstGeom prst="line">
                  <a:avLst/>
                </a:prstGeom>
                <a:ln w="9525" cap="flat" cmpd="sng">
                  <a:solidFill>
                    <a:schemeClr val="tx1"/>
                  </a:solidFill>
                  <a:prstDash val="solid"/>
                  <a:miter/>
                  <a:headEnd type="none" w="med" len="med"/>
                  <a:tailEnd type="none" w="med" len="med"/>
                </a:ln>
              </p:spPr>
            </p:sp>
            <p:sp>
              <p:nvSpPr>
                <p:cNvPr id="124997" name="Line 20"/>
                <p:cNvSpPr/>
                <p:nvPr/>
              </p:nvSpPr>
              <p:spPr>
                <a:xfrm>
                  <a:off x="1584" y="2448"/>
                  <a:ext cx="0" cy="576"/>
                </a:xfrm>
                <a:prstGeom prst="line">
                  <a:avLst/>
                </a:prstGeom>
                <a:ln w="9525" cap="flat" cmpd="sng">
                  <a:solidFill>
                    <a:schemeClr val="tx1"/>
                  </a:solidFill>
                  <a:prstDash val="solid"/>
                  <a:miter/>
                  <a:headEnd type="none" w="med" len="med"/>
                  <a:tailEnd type="none" w="med" len="med"/>
                </a:ln>
              </p:spPr>
            </p:sp>
            <p:sp>
              <p:nvSpPr>
                <p:cNvPr id="124998" name="Line 21"/>
                <p:cNvSpPr/>
                <p:nvPr/>
              </p:nvSpPr>
              <p:spPr>
                <a:xfrm>
                  <a:off x="2016" y="2448"/>
                  <a:ext cx="0" cy="576"/>
                </a:xfrm>
                <a:prstGeom prst="line">
                  <a:avLst/>
                </a:prstGeom>
                <a:ln w="9525" cap="flat" cmpd="sng">
                  <a:solidFill>
                    <a:schemeClr val="tx1"/>
                  </a:solidFill>
                  <a:prstDash val="solid"/>
                  <a:miter/>
                  <a:headEnd type="none" w="med" len="med"/>
                  <a:tailEnd type="none" w="med" len="med"/>
                </a:ln>
              </p:spPr>
            </p:sp>
            <p:sp>
              <p:nvSpPr>
                <p:cNvPr id="124999" name="Text Box 22"/>
                <p:cNvSpPr txBox="1"/>
                <p:nvPr/>
              </p:nvSpPr>
              <p:spPr>
                <a:xfrm>
                  <a:off x="1200" y="2448"/>
                  <a:ext cx="336"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ea typeface="楷体_GB2312" pitchFamily="49" charset="-122"/>
                    </a:rPr>
                    <a:t>页号</a:t>
                  </a:r>
                  <a:endParaRPr lang="zh-CN" altLang="en-US" sz="1800" b="1" dirty="0">
                    <a:solidFill>
                      <a:srgbClr val="000099"/>
                    </a:solidFill>
                    <a:ea typeface="楷体_GB2312" pitchFamily="49" charset="-122"/>
                  </a:endParaRPr>
                </a:p>
              </p:txBody>
            </p:sp>
            <p:sp>
              <p:nvSpPr>
                <p:cNvPr id="125000" name="Text Box 23"/>
                <p:cNvSpPr txBox="1"/>
                <p:nvPr/>
              </p:nvSpPr>
              <p:spPr>
                <a:xfrm>
                  <a:off x="1632" y="2448"/>
                  <a:ext cx="336"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ea typeface="楷体_GB2312" pitchFamily="49" charset="-122"/>
                    </a:rPr>
                    <a:t>其它</a:t>
                  </a:r>
                  <a:endParaRPr lang="zh-CN" altLang="en-US" sz="1800" b="1" dirty="0">
                    <a:solidFill>
                      <a:srgbClr val="000099"/>
                    </a:solidFill>
                    <a:ea typeface="楷体_GB2312" pitchFamily="49" charset="-122"/>
                  </a:endParaRPr>
                </a:p>
              </p:txBody>
            </p:sp>
            <p:sp>
              <p:nvSpPr>
                <p:cNvPr id="125001" name="Text Box 24"/>
                <p:cNvSpPr txBox="1"/>
                <p:nvPr/>
              </p:nvSpPr>
              <p:spPr>
                <a:xfrm>
                  <a:off x="2016" y="2448"/>
                  <a:ext cx="336"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ea typeface="楷体_GB2312" pitchFamily="49" charset="-122"/>
                    </a:rPr>
                    <a:t>块号</a:t>
                  </a:r>
                  <a:endParaRPr lang="zh-CN" altLang="en-US" sz="1800" b="1" dirty="0">
                    <a:solidFill>
                      <a:srgbClr val="000099"/>
                    </a:solidFill>
                    <a:ea typeface="楷体_GB2312" pitchFamily="49" charset="-122"/>
                  </a:endParaRPr>
                </a:p>
              </p:txBody>
            </p:sp>
            <p:sp>
              <p:nvSpPr>
                <p:cNvPr id="125002" name="Text Box 28"/>
                <p:cNvSpPr txBox="1"/>
                <p:nvPr/>
              </p:nvSpPr>
              <p:spPr>
                <a:xfrm>
                  <a:off x="1152" y="2208"/>
                  <a:ext cx="672"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ea typeface="楷体_GB2312" pitchFamily="49" charset="-122"/>
                    </a:rPr>
                    <a:t>0</a:t>
                  </a:r>
                  <a:r>
                    <a:rPr lang="zh-CN" altLang="en-US" sz="1800" b="1" dirty="0">
                      <a:solidFill>
                        <a:srgbClr val="000099"/>
                      </a:solidFill>
                      <a:ea typeface="楷体_GB2312" pitchFamily="49" charset="-122"/>
                    </a:rPr>
                    <a:t>段页表</a:t>
                  </a:r>
                  <a:endParaRPr lang="zh-CN" altLang="en-US" sz="1800" b="1" dirty="0">
                    <a:solidFill>
                      <a:srgbClr val="000099"/>
                    </a:solidFill>
                    <a:ea typeface="楷体_GB2312" pitchFamily="49" charset="-122"/>
                  </a:endParaRPr>
                </a:p>
              </p:txBody>
            </p:sp>
          </p:grpSp>
          <p:sp>
            <p:nvSpPr>
              <p:cNvPr id="124956" name="Rectangle 31"/>
              <p:cNvSpPr/>
              <p:nvPr/>
            </p:nvSpPr>
            <p:spPr>
              <a:xfrm>
                <a:off x="1152" y="3360"/>
                <a:ext cx="1296" cy="76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4957" name="Line 32"/>
              <p:cNvSpPr/>
              <p:nvPr/>
            </p:nvSpPr>
            <p:spPr>
              <a:xfrm>
                <a:off x="1152" y="3552"/>
                <a:ext cx="1296" cy="0"/>
              </a:xfrm>
              <a:prstGeom prst="line">
                <a:avLst/>
              </a:prstGeom>
              <a:ln w="9525" cap="flat" cmpd="sng">
                <a:solidFill>
                  <a:schemeClr val="tx1"/>
                </a:solidFill>
                <a:prstDash val="solid"/>
                <a:miter/>
                <a:headEnd type="none" w="med" len="med"/>
                <a:tailEnd type="none" w="med" len="med"/>
              </a:ln>
            </p:spPr>
          </p:sp>
          <p:sp>
            <p:nvSpPr>
              <p:cNvPr id="124958" name="Line 33"/>
              <p:cNvSpPr/>
              <p:nvPr/>
            </p:nvSpPr>
            <p:spPr>
              <a:xfrm>
                <a:off x="1152" y="3744"/>
                <a:ext cx="1296" cy="0"/>
              </a:xfrm>
              <a:prstGeom prst="line">
                <a:avLst/>
              </a:prstGeom>
              <a:ln w="9525" cap="flat" cmpd="sng">
                <a:solidFill>
                  <a:schemeClr val="tx1"/>
                </a:solidFill>
                <a:prstDash val="solid"/>
                <a:miter/>
                <a:headEnd type="none" w="med" len="med"/>
                <a:tailEnd type="none" w="med" len="med"/>
              </a:ln>
            </p:spPr>
          </p:sp>
          <p:sp>
            <p:nvSpPr>
              <p:cNvPr id="124959" name="Line 34"/>
              <p:cNvSpPr/>
              <p:nvPr/>
            </p:nvSpPr>
            <p:spPr>
              <a:xfrm>
                <a:off x="1584" y="3360"/>
                <a:ext cx="0" cy="768"/>
              </a:xfrm>
              <a:prstGeom prst="line">
                <a:avLst/>
              </a:prstGeom>
              <a:ln w="9525" cap="flat" cmpd="sng">
                <a:solidFill>
                  <a:schemeClr val="tx1"/>
                </a:solidFill>
                <a:prstDash val="solid"/>
                <a:miter/>
                <a:headEnd type="none" w="med" len="med"/>
                <a:tailEnd type="none" w="med" len="med"/>
              </a:ln>
            </p:spPr>
          </p:sp>
          <p:sp>
            <p:nvSpPr>
              <p:cNvPr id="124960" name="Line 35"/>
              <p:cNvSpPr/>
              <p:nvPr/>
            </p:nvSpPr>
            <p:spPr>
              <a:xfrm>
                <a:off x="2016" y="3360"/>
                <a:ext cx="0" cy="768"/>
              </a:xfrm>
              <a:prstGeom prst="line">
                <a:avLst/>
              </a:prstGeom>
              <a:ln w="9525" cap="flat" cmpd="sng">
                <a:solidFill>
                  <a:schemeClr val="tx1"/>
                </a:solidFill>
                <a:prstDash val="solid"/>
                <a:miter/>
                <a:headEnd type="none" w="med" len="med"/>
                <a:tailEnd type="none" w="med" len="med"/>
              </a:ln>
            </p:spPr>
          </p:sp>
          <p:sp>
            <p:nvSpPr>
              <p:cNvPr id="124961" name="Text Box 36"/>
              <p:cNvSpPr txBox="1"/>
              <p:nvPr/>
            </p:nvSpPr>
            <p:spPr>
              <a:xfrm>
                <a:off x="1200" y="3360"/>
                <a:ext cx="336"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ea typeface="楷体_GB2312" pitchFamily="49" charset="-122"/>
                  </a:rPr>
                  <a:t>页号</a:t>
                </a:r>
                <a:endParaRPr lang="zh-CN" altLang="en-US" sz="1800" b="1" dirty="0">
                  <a:solidFill>
                    <a:srgbClr val="000099"/>
                  </a:solidFill>
                  <a:ea typeface="楷体_GB2312" pitchFamily="49" charset="-122"/>
                </a:endParaRPr>
              </a:p>
            </p:txBody>
          </p:sp>
          <p:sp>
            <p:nvSpPr>
              <p:cNvPr id="124962" name="Text Box 37"/>
              <p:cNvSpPr txBox="1"/>
              <p:nvPr/>
            </p:nvSpPr>
            <p:spPr>
              <a:xfrm>
                <a:off x="1632" y="3360"/>
                <a:ext cx="336"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ea typeface="楷体_GB2312" pitchFamily="49" charset="-122"/>
                  </a:rPr>
                  <a:t>其它</a:t>
                </a:r>
                <a:endParaRPr lang="zh-CN" altLang="en-US" sz="1800" b="1" dirty="0">
                  <a:solidFill>
                    <a:srgbClr val="000099"/>
                  </a:solidFill>
                  <a:ea typeface="楷体_GB2312" pitchFamily="49" charset="-122"/>
                </a:endParaRPr>
              </a:p>
            </p:txBody>
          </p:sp>
          <p:sp>
            <p:nvSpPr>
              <p:cNvPr id="124963" name="Text Box 38"/>
              <p:cNvSpPr txBox="1"/>
              <p:nvPr/>
            </p:nvSpPr>
            <p:spPr>
              <a:xfrm>
                <a:off x="2064" y="3360"/>
                <a:ext cx="336"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ea typeface="楷体_GB2312" pitchFamily="49" charset="-122"/>
                  </a:rPr>
                  <a:t>块号</a:t>
                </a:r>
                <a:endParaRPr lang="zh-CN" altLang="en-US" sz="1800" b="1" dirty="0">
                  <a:solidFill>
                    <a:srgbClr val="000099"/>
                  </a:solidFill>
                  <a:ea typeface="楷体_GB2312" pitchFamily="49" charset="-122"/>
                </a:endParaRPr>
              </a:p>
            </p:txBody>
          </p:sp>
          <p:sp>
            <p:nvSpPr>
              <p:cNvPr id="124964" name="Text Box 39"/>
              <p:cNvSpPr txBox="1"/>
              <p:nvPr/>
            </p:nvSpPr>
            <p:spPr>
              <a:xfrm>
                <a:off x="1152" y="3168"/>
                <a:ext cx="672"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99"/>
                    </a:solidFill>
                    <a:ea typeface="楷体_GB2312" pitchFamily="49" charset="-122"/>
                  </a:rPr>
                  <a:t>1</a:t>
                </a:r>
                <a:r>
                  <a:rPr lang="zh-CN" altLang="en-US" sz="1800" b="1" dirty="0">
                    <a:solidFill>
                      <a:srgbClr val="000099"/>
                    </a:solidFill>
                    <a:ea typeface="楷体_GB2312" pitchFamily="49" charset="-122"/>
                  </a:rPr>
                  <a:t>段页表</a:t>
                </a:r>
                <a:endParaRPr lang="zh-CN" altLang="en-US" sz="1800" b="1" dirty="0">
                  <a:solidFill>
                    <a:srgbClr val="000099"/>
                  </a:solidFill>
                  <a:ea typeface="楷体_GB2312" pitchFamily="49" charset="-122"/>
                </a:endParaRPr>
              </a:p>
            </p:txBody>
          </p:sp>
          <p:sp>
            <p:nvSpPr>
              <p:cNvPr id="124965" name="Text Box 40"/>
              <p:cNvSpPr txBox="1"/>
              <p:nvPr/>
            </p:nvSpPr>
            <p:spPr>
              <a:xfrm>
                <a:off x="768" y="432"/>
                <a:ext cx="336" cy="173"/>
              </a:xfrm>
              <a:prstGeom prst="rect">
                <a:avLst/>
              </a:prstGeom>
              <a:noFill/>
              <a:ln w="9525">
                <a:noFill/>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99"/>
                    </a:solidFill>
                    <a:ea typeface="楷体_GB2312" pitchFamily="49" charset="-122"/>
                  </a:rPr>
                  <a:t>段表</a:t>
                </a:r>
                <a:endParaRPr lang="zh-CN" altLang="en-US" sz="1800" b="1" dirty="0">
                  <a:solidFill>
                    <a:srgbClr val="000099"/>
                  </a:solidFill>
                  <a:ea typeface="楷体_GB2312" pitchFamily="49" charset="-122"/>
                </a:endParaRPr>
              </a:p>
            </p:txBody>
          </p:sp>
          <p:sp>
            <p:nvSpPr>
              <p:cNvPr id="124966" name="Rectangle 41"/>
              <p:cNvSpPr/>
              <p:nvPr/>
            </p:nvSpPr>
            <p:spPr>
              <a:xfrm>
                <a:off x="3792" y="672"/>
                <a:ext cx="1056" cy="302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4967" name="Line 42"/>
              <p:cNvSpPr/>
              <p:nvPr/>
            </p:nvSpPr>
            <p:spPr>
              <a:xfrm>
                <a:off x="3792" y="864"/>
                <a:ext cx="1056" cy="0"/>
              </a:xfrm>
              <a:prstGeom prst="line">
                <a:avLst/>
              </a:prstGeom>
              <a:ln w="9525" cap="flat" cmpd="sng">
                <a:solidFill>
                  <a:schemeClr val="tx1"/>
                </a:solidFill>
                <a:prstDash val="solid"/>
                <a:miter/>
                <a:headEnd type="none" w="med" len="med"/>
                <a:tailEnd type="none" w="med" len="med"/>
              </a:ln>
            </p:spPr>
          </p:sp>
          <p:sp>
            <p:nvSpPr>
              <p:cNvPr id="124968" name="Line 43"/>
              <p:cNvSpPr/>
              <p:nvPr/>
            </p:nvSpPr>
            <p:spPr>
              <a:xfrm>
                <a:off x="3792" y="1056"/>
                <a:ext cx="1056" cy="0"/>
              </a:xfrm>
              <a:prstGeom prst="line">
                <a:avLst/>
              </a:prstGeom>
              <a:ln w="9525" cap="flat" cmpd="sng">
                <a:solidFill>
                  <a:schemeClr val="tx1"/>
                </a:solidFill>
                <a:prstDash val="solid"/>
                <a:miter/>
                <a:headEnd type="none" w="med" len="med"/>
                <a:tailEnd type="none" w="med" len="med"/>
              </a:ln>
            </p:spPr>
          </p:sp>
          <p:sp>
            <p:nvSpPr>
              <p:cNvPr id="124969" name="Line 44"/>
              <p:cNvSpPr/>
              <p:nvPr/>
            </p:nvSpPr>
            <p:spPr>
              <a:xfrm>
                <a:off x="3792" y="1248"/>
                <a:ext cx="1056" cy="0"/>
              </a:xfrm>
              <a:prstGeom prst="line">
                <a:avLst/>
              </a:prstGeom>
              <a:ln w="9525" cap="flat" cmpd="sng">
                <a:solidFill>
                  <a:schemeClr val="tx1"/>
                </a:solidFill>
                <a:prstDash val="solid"/>
                <a:miter/>
                <a:headEnd type="none" w="med" len="med"/>
                <a:tailEnd type="none" w="med" len="med"/>
              </a:ln>
            </p:spPr>
          </p:sp>
          <p:sp>
            <p:nvSpPr>
              <p:cNvPr id="124970" name="Line 45"/>
              <p:cNvSpPr/>
              <p:nvPr/>
            </p:nvSpPr>
            <p:spPr>
              <a:xfrm>
                <a:off x="3792" y="1440"/>
                <a:ext cx="1056" cy="0"/>
              </a:xfrm>
              <a:prstGeom prst="line">
                <a:avLst/>
              </a:prstGeom>
              <a:ln w="9525" cap="flat" cmpd="sng">
                <a:solidFill>
                  <a:schemeClr val="tx1"/>
                </a:solidFill>
                <a:prstDash val="solid"/>
                <a:miter/>
                <a:headEnd type="none" w="med" len="med"/>
                <a:tailEnd type="none" w="med" len="med"/>
              </a:ln>
            </p:spPr>
          </p:sp>
          <p:sp>
            <p:nvSpPr>
              <p:cNvPr id="124971" name="Line 46"/>
              <p:cNvSpPr/>
              <p:nvPr/>
            </p:nvSpPr>
            <p:spPr>
              <a:xfrm>
                <a:off x="3792" y="1776"/>
                <a:ext cx="1056" cy="0"/>
              </a:xfrm>
              <a:prstGeom prst="line">
                <a:avLst/>
              </a:prstGeom>
              <a:ln w="9525" cap="flat" cmpd="sng">
                <a:solidFill>
                  <a:schemeClr val="tx1"/>
                </a:solidFill>
                <a:prstDash val="solid"/>
                <a:miter/>
                <a:headEnd type="none" w="med" len="med"/>
                <a:tailEnd type="none" w="med" len="med"/>
              </a:ln>
            </p:spPr>
          </p:sp>
          <p:sp>
            <p:nvSpPr>
              <p:cNvPr id="124972" name="Line 47"/>
              <p:cNvSpPr/>
              <p:nvPr/>
            </p:nvSpPr>
            <p:spPr>
              <a:xfrm>
                <a:off x="3792" y="1968"/>
                <a:ext cx="1056" cy="0"/>
              </a:xfrm>
              <a:prstGeom prst="line">
                <a:avLst/>
              </a:prstGeom>
              <a:ln w="9525" cap="flat" cmpd="sng">
                <a:solidFill>
                  <a:schemeClr val="tx1"/>
                </a:solidFill>
                <a:prstDash val="solid"/>
                <a:miter/>
                <a:headEnd type="none" w="med" len="med"/>
                <a:tailEnd type="none" w="med" len="med"/>
              </a:ln>
            </p:spPr>
          </p:sp>
          <p:sp>
            <p:nvSpPr>
              <p:cNvPr id="124973" name="Line 48"/>
              <p:cNvSpPr/>
              <p:nvPr/>
            </p:nvSpPr>
            <p:spPr>
              <a:xfrm>
                <a:off x="3792" y="2448"/>
                <a:ext cx="1056" cy="0"/>
              </a:xfrm>
              <a:prstGeom prst="line">
                <a:avLst/>
              </a:prstGeom>
              <a:ln w="9525" cap="flat" cmpd="sng">
                <a:solidFill>
                  <a:schemeClr val="tx1"/>
                </a:solidFill>
                <a:prstDash val="solid"/>
                <a:miter/>
                <a:headEnd type="none" w="med" len="med"/>
                <a:tailEnd type="none" w="med" len="med"/>
              </a:ln>
            </p:spPr>
          </p:sp>
          <p:sp>
            <p:nvSpPr>
              <p:cNvPr id="124974" name="Line 49"/>
              <p:cNvSpPr/>
              <p:nvPr/>
            </p:nvSpPr>
            <p:spPr>
              <a:xfrm>
                <a:off x="3792" y="2640"/>
                <a:ext cx="1056" cy="0"/>
              </a:xfrm>
              <a:prstGeom prst="line">
                <a:avLst/>
              </a:prstGeom>
              <a:ln w="9525" cap="flat" cmpd="sng">
                <a:solidFill>
                  <a:schemeClr val="tx1"/>
                </a:solidFill>
                <a:prstDash val="solid"/>
                <a:miter/>
                <a:headEnd type="none" w="med" len="med"/>
                <a:tailEnd type="none" w="med" len="med"/>
              </a:ln>
            </p:spPr>
          </p:sp>
          <p:sp>
            <p:nvSpPr>
              <p:cNvPr id="124975" name="Line 50"/>
              <p:cNvSpPr/>
              <p:nvPr/>
            </p:nvSpPr>
            <p:spPr>
              <a:xfrm>
                <a:off x="3792" y="2832"/>
                <a:ext cx="1056" cy="0"/>
              </a:xfrm>
              <a:prstGeom prst="line">
                <a:avLst/>
              </a:prstGeom>
              <a:ln w="9525" cap="flat" cmpd="sng">
                <a:solidFill>
                  <a:schemeClr val="tx1"/>
                </a:solidFill>
                <a:prstDash val="solid"/>
                <a:miter/>
                <a:headEnd type="none" w="med" len="med"/>
                <a:tailEnd type="none" w="med" len="med"/>
              </a:ln>
            </p:spPr>
          </p:sp>
          <p:sp>
            <p:nvSpPr>
              <p:cNvPr id="124976" name="Line 51"/>
              <p:cNvSpPr/>
              <p:nvPr/>
            </p:nvSpPr>
            <p:spPr>
              <a:xfrm>
                <a:off x="2496" y="1152"/>
                <a:ext cx="192" cy="0"/>
              </a:xfrm>
              <a:prstGeom prst="line">
                <a:avLst/>
              </a:prstGeom>
              <a:ln w="25400" cap="flat" cmpd="sng">
                <a:solidFill>
                  <a:srgbClr val="000000"/>
                </a:solidFill>
                <a:prstDash val="solid"/>
                <a:miter/>
                <a:headEnd type="none" w="med" len="med"/>
                <a:tailEnd type="none" w="med" len="med"/>
              </a:ln>
            </p:spPr>
          </p:sp>
          <p:sp>
            <p:nvSpPr>
              <p:cNvPr id="124977" name="Line 52"/>
              <p:cNvSpPr/>
              <p:nvPr/>
            </p:nvSpPr>
            <p:spPr>
              <a:xfrm>
                <a:off x="2688" y="1152"/>
                <a:ext cx="0" cy="768"/>
              </a:xfrm>
              <a:prstGeom prst="line">
                <a:avLst/>
              </a:prstGeom>
              <a:ln w="25400" cap="flat" cmpd="sng">
                <a:solidFill>
                  <a:srgbClr val="000000"/>
                </a:solidFill>
                <a:prstDash val="solid"/>
                <a:miter/>
                <a:headEnd type="none" w="med" len="med"/>
                <a:tailEnd type="none" w="med" len="med"/>
              </a:ln>
            </p:spPr>
          </p:sp>
          <p:sp>
            <p:nvSpPr>
              <p:cNvPr id="124978" name="Line 53"/>
              <p:cNvSpPr/>
              <p:nvPr/>
            </p:nvSpPr>
            <p:spPr>
              <a:xfrm>
                <a:off x="768" y="1920"/>
                <a:ext cx="1920" cy="0"/>
              </a:xfrm>
              <a:prstGeom prst="line">
                <a:avLst/>
              </a:prstGeom>
              <a:ln w="25400" cap="flat" cmpd="sng">
                <a:solidFill>
                  <a:srgbClr val="000000"/>
                </a:solidFill>
                <a:prstDash val="solid"/>
                <a:miter/>
                <a:headEnd type="none" w="med" len="med"/>
                <a:tailEnd type="none" w="med" len="med"/>
              </a:ln>
            </p:spPr>
          </p:sp>
          <p:sp>
            <p:nvSpPr>
              <p:cNvPr id="124979" name="Line 54"/>
              <p:cNvSpPr/>
              <p:nvPr/>
            </p:nvSpPr>
            <p:spPr>
              <a:xfrm>
                <a:off x="768" y="1920"/>
                <a:ext cx="0" cy="1440"/>
              </a:xfrm>
              <a:prstGeom prst="line">
                <a:avLst/>
              </a:prstGeom>
              <a:ln w="25400" cap="flat" cmpd="sng">
                <a:solidFill>
                  <a:srgbClr val="000000"/>
                </a:solidFill>
                <a:prstDash val="solid"/>
                <a:miter/>
                <a:headEnd type="none" w="med" len="med"/>
                <a:tailEnd type="none" w="med" len="med"/>
              </a:ln>
            </p:spPr>
          </p:sp>
          <p:sp>
            <p:nvSpPr>
              <p:cNvPr id="124980" name="Line 55"/>
              <p:cNvSpPr/>
              <p:nvPr/>
            </p:nvSpPr>
            <p:spPr>
              <a:xfrm>
                <a:off x="768" y="3360"/>
                <a:ext cx="384" cy="0"/>
              </a:xfrm>
              <a:prstGeom prst="line">
                <a:avLst/>
              </a:prstGeom>
              <a:ln w="25400" cap="flat" cmpd="sng">
                <a:solidFill>
                  <a:srgbClr val="000000"/>
                </a:solidFill>
                <a:prstDash val="solid"/>
                <a:miter/>
                <a:headEnd type="none" w="med" len="med"/>
                <a:tailEnd type="stealth" w="med" len="med"/>
              </a:ln>
            </p:spPr>
          </p:sp>
          <p:sp>
            <p:nvSpPr>
              <p:cNvPr id="124981" name="Line 56"/>
              <p:cNvSpPr/>
              <p:nvPr/>
            </p:nvSpPr>
            <p:spPr>
              <a:xfrm>
                <a:off x="2496" y="960"/>
                <a:ext cx="432" cy="0"/>
              </a:xfrm>
              <a:prstGeom prst="line">
                <a:avLst/>
              </a:prstGeom>
              <a:ln w="25400" cap="flat" cmpd="sng">
                <a:solidFill>
                  <a:srgbClr val="000000"/>
                </a:solidFill>
                <a:prstDash val="solid"/>
                <a:miter/>
                <a:headEnd type="none" w="med" len="med"/>
                <a:tailEnd type="none" w="med" len="med"/>
              </a:ln>
            </p:spPr>
          </p:sp>
          <p:sp>
            <p:nvSpPr>
              <p:cNvPr id="124982" name="Line 57"/>
              <p:cNvSpPr/>
              <p:nvPr/>
            </p:nvSpPr>
            <p:spPr>
              <a:xfrm>
                <a:off x="2928" y="960"/>
                <a:ext cx="0" cy="1104"/>
              </a:xfrm>
              <a:prstGeom prst="line">
                <a:avLst/>
              </a:prstGeom>
              <a:ln w="25400" cap="flat" cmpd="sng">
                <a:solidFill>
                  <a:srgbClr val="000000"/>
                </a:solidFill>
                <a:prstDash val="solid"/>
                <a:miter/>
                <a:headEnd type="none" w="med" len="med"/>
                <a:tailEnd type="none" w="med" len="med"/>
              </a:ln>
            </p:spPr>
          </p:sp>
          <p:sp>
            <p:nvSpPr>
              <p:cNvPr id="124983" name="Line 58"/>
              <p:cNvSpPr/>
              <p:nvPr/>
            </p:nvSpPr>
            <p:spPr>
              <a:xfrm>
                <a:off x="912" y="2064"/>
                <a:ext cx="2016" cy="0"/>
              </a:xfrm>
              <a:prstGeom prst="line">
                <a:avLst/>
              </a:prstGeom>
              <a:ln w="25400" cap="flat" cmpd="sng">
                <a:solidFill>
                  <a:srgbClr val="000000"/>
                </a:solidFill>
                <a:prstDash val="solid"/>
                <a:miter/>
                <a:headEnd type="none" w="med" len="med"/>
                <a:tailEnd type="none" w="med" len="med"/>
              </a:ln>
            </p:spPr>
          </p:sp>
          <p:sp>
            <p:nvSpPr>
              <p:cNvPr id="124984" name="Line 59"/>
              <p:cNvSpPr/>
              <p:nvPr/>
            </p:nvSpPr>
            <p:spPr>
              <a:xfrm>
                <a:off x="912" y="2064"/>
                <a:ext cx="0" cy="384"/>
              </a:xfrm>
              <a:prstGeom prst="line">
                <a:avLst/>
              </a:prstGeom>
              <a:ln w="25400" cap="flat" cmpd="sng">
                <a:solidFill>
                  <a:srgbClr val="000000"/>
                </a:solidFill>
                <a:prstDash val="solid"/>
                <a:miter/>
                <a:headEnd type="none" w="med" len="med"/>
                <a:tailEnd type="none" w="med" len="med"/>
              </a:ln>
            </p:spPr>
          </p:sp>
          <p:sp>
            <p:nvSpPr>
              <p:cNvPr id="124985" name="Line 60"/>
              <p:cNvSpPr/>
              <p:nvPr/>
            </p:nvSpPr>
            <p:spPr>
              <a:xfrm>
                <a:off x="912" y="2448"/>
                <a:ext cx="240" cy="0"/>
              </a:xfrm>
              <a:prstGeom prst="line">
                <a:avLst/>
              </a:prstGeom>
              <a:ln w="25400" cap="flat" cmpd="sng">
                <a:solidFill>
                  <a:srgbClr val="000000"/>
                </a:solidFill>
                <a:prstDash val="solid"/>
                <a:miter/>
                <a:headEnd type="none" w="med" len="med"/>
                <a:tailEnd type="stealth" w="med" len="med"/>
              </a:ln>
            </p:spPr>
          </p:sp>
          <p:sp>
            <p:nvSpPr>
              <p:cNvPr id="124986" name="Line 61"/>
              <p:cNvSpPr/>
              <p:nvPr/>
            </p:nvSpPr>
            <p:spPr>
              <a:xfrm>
                <a:off x="2448" y="2736"/>
                <a:ext cx="192" cy="0"/>
              </a:xfrm>
              <a:prstGeom prst="line">
                <a:avLst/>
              </a:prstGeom>
              <a:ln w="25400" cap="flat" cmpd="sng">
                <a:solidFill>
                  <a:srgbClr val="000000"/>
                </a:solidFill>
                <a:prstDash val="solid"/>
                <a:miter/>
                <a:headEnd type="none" w="med" len="med"/>
                <a:tailEnd type="none" w="med" len="med"/>
              </a:ln>
            </p:spPr>
          </p:sp>
          <p:sp>
            <p:nvSpPr>
              <p:cNvPr id="124987" name="Line 62"/>
              <p:cNvSpPr/>
              <p:nvPr/>
            </p:nvSpPr>
            <p:spPr>
              <a:xfrm flipV="1">
                <a:off x="2640" y="912"/>
                <a:ext cx="1152" cy="1824"/>
              </a:xfrm>
              <a:prstGeom prst="line">
                <a:avLst/>
              </a:prstGeom>
              <a:ln w="25400" cap="flat" cmpd="sng">
                <a:solidFill>
                  <a:srgbClr val="000000"/>
                </a:solidFill>
                <a:prstDash val="solid"/>
                <a:miter/>
                <a:headEnd type="none" w="med" len="med"/>
                <a:tailEnd type="stealth" w="med" len="med"/>
              </a:ln>
            </p:spPr>
          </p:sp>
          <p:sp>
            <p:nvSpPr>
              <p:cNvPr id="124988" name="Line 63"/>
              <p:cNvSpPr/>
              <p:nvPr/>
            </p:nvSpPr>
            <p:spPr>
              <a:xfrm>
                <a:off x="2448" y="2928"/>
                <a:ext cx="288" cy="0"/>
              </a:xfrm>
              <a:prstGeom prst="line">
                <a:avLst/>
              </a:prstGeom>
              <a:ln w="25400" cap="flat" cmpd="sng">
                <a:solidFill>
                  <a:srgbClr val="000000"/>
                </a:solidFill>
                <a:prstDash val="solid"/>
                <a:miter/>
                <a:headEnd type="none" w="med" len="med"/>
                <a:tailEnd type="none" w="med" len="med"/>
              </a:ln>
            </p:spPr>
          </p:sp>
          <p:sp>
            <p:nvSpPr>
              <p:cNvPr id="124989" name="Line 64"/>
              <p:cNvSpPr/>
              <p:nvPr/>
            </p:nvSpPr>
            <p:spPr>
              <a:xfrm flipV="1">
                <a:off x="2736" y="1152"/>
                <a:ext cx="1056" cy="1776"/>
              </a:xfrm>
              <a:prstGeom prst="line">
                <a:avLst/>
              </a:prstGeom>
              <a:ln w="25400" cap="flat" cmpd="sng">
                <a:solidFill>
                  <a:srgbClr val="000000"/>
                </a:solidFill>
                <a:prstDash val="solid"/>
                <a:miter/>
                <a:headEnd type="none" w="med" len="med"/>
                <a:tailEnd type="stealth" w="med" len="med"/>
              </a:ln>
            </p:spPr>
          </p:sp>
          <p:sp>
            <p:nvSpPr>
              <p:cNvPr id="124990" name="Line 65"/>
              <p:cNvSpPr/>
              <p:nvPr/>
            </p:nvSpPr>
            <p:spPr>
              <a:xfrm flipV="1">
                <a:off x="2448" y="1872"/>
                <a:ext cx="1344" cy="1776"/>
              </a:xfrm>
              <a:prstGeom prst="line">
                <a:avLst/>
              </a:prstGeom>
              <a:ln w="25400" cap="flat" cmpd="sng">
                <a:solidFill>
                  <a:srgbClr val="000000"/>
                </a:solidFill>
                <a:prstDash val="solid"/>
                <a:miter/>
                <a:headEnd type="none" w="med" len="med"/>
                <a:tailEnd type="stealth" w="med" len="med"/>
              </a:ln>
            </p:spPr>
          </p:sp>
          <p:sp>
            <p:nvSpPr>
              <p:cNvPr id="124991" name="Line 66"/>
              <p:cNvSpPr/>
              <p:nvPr/>
            </p:nvSpPr>
            <p:spPr>
              <a:xfrm>
                <a:off x="1152" y="3936"/>
                <a:ext cx="1296" cy="0"/>
              </a:xfrm>
              <a:prstGeom prst="line">
                <a:avLst/>
              </a:prstGeom>
              <a:ln w="9525" cap="flat" cmpd="sng">
                <a:solidFill>
                  <a:schemeClr val="tx1"/>
                </a:solidFill>
                <a:prstDash val="solid"/>
                <a:miter/>
                <a:headEnd type="none" w="med" len="med"/>
                <a:tailEnd type="none" w="med" len="med"/>
              </a:ln>
            </p:spPr>
          </p:sp>
          <p:sp>
            <p:nvSpPr>
              <p:cNvPr id="124992" name="Line 67"/>
              <p:cNvSpPr/>
              <p:nvPr/>
            </p:nvSpPr>
            <p:spPr>
              <a:xfrm flipV="1">
                <a:off x="2448" y="2544"/>
                <a:ext cx="1344" cy="1296"/>
              </a:xfrm>
              <a:prstGeom prst="line">
                <a:avLst/>
              </a:prstGeom>
              <a:ln w="25400" cap="flat" cmpd="sng">
                <a:solidFill>
                  <a:srgbClr val="000000"/>
                </a:solidFill>
                <a:prstDash val="solid"/>
                <a:miter/>
                <a:headEnd type="none" w="med" len="med"/>
                <a:tailEnd type="stealth" w="med" len="med"/>
              </a:ln>
            </p:spPr>
          </p:sp>
          <p:sp>
            <p:nvSpPr>
              <p:cNvPr id="124993" name="Line 68"/>
              <p:cNvSpPr/>
              <p:nvPr/>
            </p:nvSpPr>
            <p:spPr>
              <a:xfrm flipV="1">
                <a:off x="2448" y="2736"/>
                <a:ext cx="1344" cy="1296"/>
              </a:xfrm>
              <a:prstGeom prst="line">
                <a:avLst/>
              </a:prstGeom>
              <a:ln w="25400" cap="flat" cmpd="sng">
                <a:solidFill>
                  <a:srgbClr val="000000"/>
                </a:solidFill>
                <a:prstDash val="solid"/>
                <a:miter/>
                <a:headEnd type="none" w="med" len="med"/>
                <a:tailEnd type="stealth" w="med" len="med"/>
              </a:ln>
            </p:spPr>
          </p:sp>
        </p:grpSp>
        <p:sp>
          <p:nvSpPr>
            <p:cNvPr id="124933" name="Rectangle 2"/>
            <p:cNvSpPr/>
            <p:nvPr/>
          </p:nvSpPr>
          <p:spPr>
            <a:xfrm>
              <a:off x="3792" y="1056"/>
              <a:ext cx="105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4934" name="Rectangle 3"/>
            <p:cNvSpPr/>
            <p:nvPr/>
          </p:nvSpPr>
          <p:spPr>
            <a:xfrm>
              <a:off x="3792" y="864"/>
              <a:ext cx="105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4935" name="Rectangle 4"/>
            <p:cNvSpPr/>
            <p:nvPr/>
          </p:nvSpPr>
          <p:spPr>
            <a:xfrm>
              <a:off x="3792" y="1776"/>
              <a:ext cx="105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4936" name="Rectangle 5"/>
            <p:cNvSpPr/>
            <p:nvPr/>
          </p:nvSpPr>
          <p:spPr>
            <a:xfrm>
              <a:off x="3792" y="2448"/>
              <a:ext cx="105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4937" name="Rectangle 6"/>
            <p:cNvSpPr/>
            <p:nvPr/>
          </p:nvSpPr>
          <p:spPr>
            <a:xfrm>
              <a:off x="3792" y="2640"/>
              <a:ext cx="1056" cy="19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59111"/>
                                        </p:tgtEl>
                                        <p:attrNameLst>
                                          <p:attrName>style.visibility</p:attrName>
                                        </p:attrNameLst>
                                      </p:cBhvr>
                                      <p:to>
                                        <p:strVal val="visible"/>
                                      </p:to>
                                    </p:set>
                                    <p:animEffect transition="in" filter="strips(downRight)">
                                      <p:cBhvr>
                                        <p:cTn id="7" dur="500"/>
                                        <p:tgtEl>
                                          <p:spTgt spid="559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grpSp>
        <p:nvGrpSpPr>
          <p:cNvPr id="629845" name="Group 85"/>
          <p:cNvGrpSpPr/>
          <p:nvPr/>
        </p:nvGrpSpPr>
        <p:grpSpPr>
          <a:xfrm>
            <a:off x="6711950" y="1887538"/>
            <a:ext cx="1628775" cy="1524000"/>
            <a:chOff x="4224" y="3216"/>
            <a:chExt cx="1026" cy="960"/>
          </a:xfrm>
        </p:grpSpPr>
        <p:sp>
          <p:nvSpPr>
            <p:cNvPr id="126013" name="Text Box 77"/>
            <p:cNvSpPr txBox="1"/>
            <p:nvPr/>
          </p:nvSpPr>
          <p:spPr>
            <a:xfrm>
              <a:off x="4320" y="3216"/>
              <a:ext cx="816" cy="222"/>
            </a:xfrm>
            <a:prstGeom prst="rect">
              <a:avLst/>
            </a:prstGeom>
            <a:noFill/>
            <a:ln w="25400" cap="flat" cmpd="sng">
              <a:solidFill>
                <a:schemeClr val="bg1"/>
              </a:solidFill>
              <a:prstDash val="solid"/>
              <a:miter/>
              <a:headEnd type="none" w="med" len="med"/>
              <a:tailEnd type="none" w="med" len="med"/>
            </a:ln>
          </p:spPr>
          <p:txBody>
            <a:bodyPr lIns="82351" tIns="41175" rIns="82351" bIns="41175">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zh-CN" altLang="en-US" sz="1600" b="1" dirty="0">
                  <a:solidFill>
                    <a:srgbClr val="660033"/>
                  </a:solidFill>
                  <a:latin typeface="Arial" panose="020B0604020202020204" pitchFamily="34" charset="0"/>
                  <a:ea typeface="楷体_GB2312" pitchFamily="49" charset="-122"/>
                </a:rPr>
                <a:t>联想存储器</a:t>
              </a:r>
              <a:endParaRPr lang="zh-CN" altLang="en-US" sz="1600" b="1" dirty="0">
                <a:solidFill>
                  <a:srgbClr val="660033"/>
                </a:solidFill>
                <a:latin typeface="Arial" panose="020B0604020202020204" pitchFamily="34" charset="0"/>
                <a:ea typeface="楷体_GB2312" pitchFamily="49" charset="-122"/>
              </a:endParaRPr>
            </a:p>
          </p:txBody>
        </p:sp>
        <p:sp>
          <p:nvSpPr>
            <p:cNvPr id="126014" name="Rectangle 71"/>
            <p:cNvSpPr/>
            <p:nvPr/>
          </p:nvSpPr>
          <p:spPr>
            <a:xfrm>
              <a:off x="4224" y="3436"/>
              <a:ext cx="1026" cy="740"/>
            </a:xfrm>
            <a:prstGeom prst="rect">
              <a:avLst/>
            </a:prstGeom>
            <a:solidFill>
              <a:schemeClr val="bg1">
                <a:alpha val="50195"/>
              </a:schemeClr>
            </a:solidFill>
            <a:ln w="25400" cap="flat" cmpd="sng">
              <a:solidFill>
                <a:srgbClr val="0000FF"/>
              </a:solidFill>
              <a:prstDash val="solid"/>
              <a:miter/>
              <a:headEnd type="none" w="med" len="med"/>
              <a:tailEnd type="none" w="med" len="med"/>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6015" name="Text Box 72"/>
            <p:cNvSpPr txBox="1"/>
            <p:nvPr/>
          </p:nvSpPr>
          <p:spPr>
            <a:xfrm>
              <a:off x="4404" y="3471"/>
              <a:ext cx="449" cy="618"/>
            </a:xfrm>
            <a:prstGeom prst="rect">
              <a:avLst/>
            </a:prstGeom>
            <a:noFill/>
            <a:ln w="25400" cap="flat" cmpd="sng">
              <a:solidFill>
                <a:schemeClr val="bg1"/>
              </a:solidFill>
              <a:prstDash val="solid"/>
              <a:miter/>
              <a:headEnd type="none" w="med" len="med"/>
              <a:tailEnd type="none" w="med" len="med"/>
            </a:ln>
          </p:spPr>
          <p:txBody>
            <a:bodyPr vert="eaVert"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endParaRPr lang="en-US" altLang="zh-CN" sz="1800" b="1" dirty="0">
                <a:solidFill>
                  <a:srgbClr val="660033"/>
                </a:solidFill>
                <a:latin typeface="Arial" panose="020B0604020202020204" pitchFamily="34" charset="0"/>
              </a:endParaRPr>
            </a:p>
            <a:p>
              <a:pPr marL="0" lvl="0" indent="0" algn="ctr" defTabSz="824230" eaLnBrk="1" hangingPunct="1">
                <a:spcBef>
                  <a:spcPct val="50000"/>
                </a:spcBef>
                <a:buClrTx/>
                <a:buSzTx/>
                <a:buFontTx/>
                <a:buNone/>
              </a:pPr>
              <a:r>
                <a:rPr lang="en-US" altLang="zh-CN" sz="1800" b="1" dirty="0">
                  <a:solidFill>
                    <a:srgbClr val="660033"/>
                  </a:solidFill>
                  <a:latin typeface="Arial" panose="020B0604020202020204" pitchFamily="34" charset="0"/>
                </a:rPr>
                <a:t>…       …</a:t>
              </a:r>
              <a:endParaRPr lang="en-US" altLang="zh-CN" sz="1800" b="1" dirty="0">
                <a:solidFill>
                  <a:srgbClr val="660033"/>
                </a:solidFill>
                <a:latin typeface="Arial" panose="020B0604020202020204" pitchFamily="34" charset="0"/>
              </a:endParaRPr>
            </a:p>
          </p:txBody>
        </p:sp>
        <p:sp>
          <p:nvSpPr>
            <p:cNvPr id="126016" name="Line 73"/>
            <p:cNvSpPr/>
            <p:nvPr/>
          </p:nvSpPr>
          <p:spPr>
            <a:xfrm>
              <a:off x="4224" y="3691"/>
              <a:ext cx="1026" cy="0"/>
            </a:xfrm>
            <a:prstGeom prst="line">
              <a:avLst/>
            </a:prstGeom>
            <a:ln w="25400" cap="flat" cmpd="sng">
              <a:solidFill>
                <a:srgbClr val="0000FF"/>
              </a:solidFill>
              <a:prstDash val="solid"/>
              <a:headEnd type="none" w="med" len="med"/>
              <a:tailEnd type="none" w="med" len="med"/>
            </a:ln>
          </p:spPr>
        </p:sp>
        <p:sp>
          <p:nvSpPr>
            <p:cNvPr id="126017" name="Line 74"/>
            <p:cNvSpPr/>
            <p:nvPr/>
          </p:nvSpPr>
          <p:spPr>
            <a:xfrm>
              <a:off x="4224" y="3938"/>
              <a:ext cx="1026" cy="0"/>
            </a:xfrm>
            <a:prstGeom prst="line">
              <a:avLst/>
            </a:prstGeom>
            <a:ln w="25400" cap="flat" cmpd="sng">
              <a:solidFill>
                <a:srgbClr val="0000FF"/>
              </a:solidFill>
              <a:prstDash val="solid"/>
              <a:headEnd type="none" w="med" len="med"/>
              <a:tailEnd type="none" w="med" len="med"/>
            </a:ln>
          </p:spPr>
        </p:sp>
        <p:sp>
          <p:nvSpPr>
            <p:cNvPr id="126018" name="Line 75"/>
            <p:cNvSpPr/>
            <p:nvPr/>
          </p:nvSpPr>
          <p:spPr>
            <a:xfrm>
              <a:off x="4560" y="3683"/>
              <a:ext cx="1" cy="248"/>
            </a:xfrm>
            <a:prstGeom prst="line">
              <a:avLst/>
            </a:prstGeom>
            <a:ln w="25400" cap="flat" cmpd="sng">
              <a:solidFill>
                <a:srgbClr val="0000FF"/>
              </a:solidFill>
              <a:prstDash val="solid"/>
              <a:headEnd type="none" w="med" len="med"/>
              <a:tailEnd type="none" w="med" len="med"/>
            </a:ln>
          </p:spPr>
        </p:sp>
        <p:sp>
          <p:nvSpPr>
            <p:cNvPr id="126019" name="Line 76"/>
            <p:cNvSpPr/>
            <p:nvPr/>
          </p:nvSpPr>
          <p:spPr>
            <a:xfrm>
              <a:off x="4896" y="3683"/>
              <a:ext cx="1" cy="248"/>
            </a:xfrm>
            <a:prstGeom prst="line">
              <a:avLst/>
            </a:prstGeom>
            <a:ln w="25400" cap="flat" cmpd="sng">
              <a:solidFill>
                <a:srgbClr val="0000FF"/>
              </a:solidFill>
              <a:prstDash val="solid"/>
              <a:headEnd type="none" w="med" len="med"/>
              <a:tailEnd type="none" w="med" len="med"/>
            </a:ln>
          </p:spPr>
        </p:sp>
        <p:sp>
          <p:nvSpPr>
            <p:cNvPr id="126020" name="Text Box 78"/>
            <p:cNvSpPr txBox="1"/>
            <p:nvPr/>
          </p:nvSpPr>
          <p:spPr>
            <a:xfrm flipH="1">
              <a:off x="4344" y="3725"/>
              <a:ext cx="96" cy="131"/>
            </a:xfrm>
            <a:prstGeom prst="rect">
              <a:avLst/>
            </a:prstGeom>
            <a:noFill/>
            <a:ln w="25400" cap="flat" cmpd="sng">
              <a:solidFill>
                <a:schemeClr val="bg1"/>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en-US" altLang="zh-CN" sz="1800" b="1" dirty="0">
                  <a:solidFill>
                    <a:srgbClr val="660033"/>
                  </a:solidFill>
                  <a:latin typeface="Arial" panose="020B0604020202020204" pitchFamily="34" charset="0"/>
                </a:rPr>
                <a:t>s</a:t>
              </a:r>
              <a:endParaRPr lang="en-US" altLang="zh-CN" sz="1800" b="1" dirty="0">
                <a:solidFill>
                  <a:srgbClr val="660033"/>
                </a:solidFill>
                <a:latin typeface="Arial" panose="020B0604020202020204" pitchFamily="34" charset="0"/>
              </a:endParaRPr>
            </a:p>
          </p:txBody>
        </p:sp>
        <p:sp>
          <p:nvSpPr>
            <p:cNvPr id="126021" name="Text Box 79"/>
            <p:cNvSpPr txBox="1"/>
            <p:nvPr/>
          </p:nvSpPr>
          <p:spPr>
            <a:xfrm flipH="1">
              <a:off x="4672" y="3718"/>
              <a:ext cx="96" cy="174"/>
            </a:xfrm>
            <a:prstGeom prst="rect">
              <a:avLst/>
            </a:prstGeom>
            <a:noFill/>
            <a:ln w="25400" cap="flat" cmpd="sng">
              <a:solidFill>
                <a:schemeClr val="bg1"/>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en-US" altLang="zh-CN" sz="1600" b="1" dirty="0">
                  <a:solidFill>
                    <a:srgbClr val="660033"/>
                  </a:solidFill>
                  <a:latin typeface="Arial" panose="020B0604020202020204" pitchFamily="34" charset="0"/>
                </a:rPr>
                <a:t>p</a:t>
              </a:r>
              <a:endParaRPr lang="en-US" altLang="zh-CN" sz="1600" b="1" dirty="0">
                <a:solidFill>
                  <a:srgbClr val="660033"/>
                </a:solidFill>
                <a:latin typeface="Arial" panose="020B0604020202020204" pitchFamily="34" charset="0"/>
              </a:endParaRPr>
            </a:p>
          </p:txBody>
        </p:sp>
        <p:sp>
          <p:nvSpPr>
            <p:cNvPr id="126022" name="Text Box 80"/>
            <p:cNvSpPr txBox="1"/>
            <p:nvPr/>
          </p:nvSpPr>
          <p:spPr>
            <a:xfrm>
              <a:off x="4992" y="3718"/>
              <a:ext cx="192" cy="174"/>
            </a:xfrm>
            <a:prstGeom prst="rect">
              <a:avLst/>
            </a:prstGeom>
            <a:noFill/>
            <a:ln w="25400" cap="flat" cmpd="sng">
              <a:solidFill>
                <a:schemeClr val="bg1"/>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en-US" altLang="zh-CN" sz="1600" b="1" dirty="0">
                  <a:solidFill>
                    <a:srgbClr val="660033"/>
                  </a:solidFill>
                  <a:latin typeface="Arial" panose="020B0604020202020204" pitchFamily="34" charset="0"/>
                </a:rPr>
                <a:t>p’</a:t>
              </a:r>
              <a:endParaRPr lang="en-US" altLang="zh-CN" sz="1600" b="1" dirty="0">
                <a:solidFill>
                  <a:srgbClr val="660033"/>
                </a:solidFill>
                <a:latin typeface="Arial" panose="020B0604020202020204" pitchFamily="34" charset="0"/>
              </a:endParaRPr>
            </a:p>
          </p:txBody>
        </p:sp>
      </p:grpSp>
      <p:sp>
        <p:nvSpPr>
          <p:cNvPr id="629765" name="Rectangle 5"/>
          <p:cNvSpPr/>
          <p:nvPr/>
        </p:nvSpPr>
        <p:spPr>
          <a:xfrm>
            <a:off x="611188" y="908050"/>
            <a:ext cx="3384550" cy="457200"/>
          </a:xfrm>
          <a:prstGeom prst="rect">
            <a:avLst/>
          </a:prstGeom>
          <a:noFill/>
          <a:ln w="9525">
            <a:noFill/>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ea typeface="楷体_GB2312" pitchFamily="49" charset="-122"/>
              </a:rPr>
              <a:t>4</a:t>
            </a:r>
            <a:r>
              <a:rPr lang="zh-CN" altLang="en-US" sz="2400" b="1" dirty="0">
                <a:solidFill>
                  <a:srgbClr val="9900CC"/>
                </a:solidFill>
                <a:ea typeface="楷体_GB2312" pitchFamily="49" charset="-122"/>
              </a:rPr>
              <a:t>、地址转换过程：</a:t>
            </a:r>
            <a:endParaRPr lang="zh-CN" altLang="en-US" sz="2400" dirty="0">
              <a:ea typeface="楷体_GB2312" pitchFamily="49" charset="-122"/>
            </a:endParaRPr>
          </a:p>
        </p:txBody>
      </p:sp>
      <p:sp>
        <p:nvSpPr>
          <p:cNvPr id="629768" name="Text Box 8"/>
          <p:cNvSpPr txBox="1"/>
          <p:nvPr/>
        </p:nvSpPr>
        <p:spPr>
          <a:xfrm>
            <a:off x="3200400" y="5791200"/>
            <a:ext cx="2647950" cy="412750"/>
          </a:xfrm>
          <a:prstGeom prst="rect">
            <a:avLst/>
          </a:prstGeom>
          <a:noFill/>
          <a:ln w="25400" cap="flat" cmpd="sng">
            <a:solidFill>
              <a:schemeClr val="bg1"/>
            </a:solidFill>
            <a:prstDash val="solid"/>
            <a:miter/>
            <a:headEnd type="none" w="med" len="med"/>
            <a:tailEnd type="none" w="med" len="med"/>
          </a:ln>
        </p:spPr>
        <p:txBody>
          <a:bodyPr lIns="82351" tIns="41175" rIns="82351" bIns="41175">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en-US" altLang="zh-CN" sz="1600" b="1" dirty="0">
                <a:solidFill>
                  <a:srgbClr val="660033"/>
                </a:solidFill>
                <a:latin typeface="Arial" panose="020B0604020202020204" pitchFamily="34" charset="0"/>
              </a:rPr>
              <a:t>  </a:t>
            </a:r>
            <a:r>
              <a:rPr lang="zh-CN" altLang="en-US" sz="2000" b="1" dirty="0">
                <a:solidFill>
                  <a:srgbClr val="660033"/>
                </a:solidFill>
                <a:latin typeface="Arial" panose="020B0604020202020204" pitchFamily="34" charset="0"/>
                <a:ea typeface="楷体_GB2312" pitchFamily="49" charset="-122"/>
              </a:rPr>
              <a:t>段页式地址变换</a:t>
            </a:r>
            <a:endParaRPr lang="zh-CN" altLang="en-US" sz="2000" b="1" dirty="0">
              <a:solidFill>
                <a:srgbClr val="660033"/>
              </a:solidFill>
              <a:latin typeface="Arial" panose="020B0604020202020204" pitchFamily="34" charset="0"/>
              <a:ea typeface="楷体_GB2312" pitchFamily="49" charset="-122"/>
            </a:endParaRPr>
          </a:p>
        </p:txBody>
      </p:sp>
      <p:grpSp>
        <p:nvGrpSpPr>
          <p:cNvPr id="629815" name="Group 55"/>
          <p:cNvGrpSpPr/>
          <p:nvPr/>
        </p:nvGrpSpPr>
        <p:grpSpPr>
          <a:xfrm>
            <a:off x="762000" y="1524000"/>
            <a:ext cx="2058988" cy="762000"/>
            <a:chOff x="720" y="960"/>
            <a:chExt cx="1297" cy="480"/>
          </a:xfrm>
        </p:grpSpPr>
        <p:grpSp>
          <p:nvGrpSpPr>
            <p:cNvPr id="126009" name="Group 54"/>
            <p:cNvGrpSpPr/>
            <p:nvPr/>
          </p:nvGrpSpPr>
          <p:grpSpPr>
            <a:xfrm>
              <a:off x="720" y="1200"/>
              <a:ext cx="1297" cy="240"/>
              <a:chOff x="788" y="1392"/>
              <a:chExt cx="1297" cy="240"/>
            </a:xfrm>
          </p:grpSpPr>
          <p:sp>
            <p:nvSpPr>
              <p:cNvPr id="126011" name="Rectangle 10"/>
              <p:cNvSpPr/>
              <p:nvPr/>
            </p:nvSpPr>
            <p:spPr>
              <a:xfrm>
                <a:off x="788" y="1401"/>
                <a:ext cx="1297" cy="222"/>
              </a:xfrm>
              <a:prstGeom prst="rect">
                <a:avLst/>
              </a:prstGeom>
              <a:noFill/>
              <a:ln w="25400" cap="flat" cmpd="sng">
                <a:solidFill>
                  <a:srgbClr val="0000FF"/>
                </a:solidFill>
                <a:prstDash val="solid"/>
                <a:miter/>
                <a:headEnd type="none" w="med" len="med"/>
                <a:tailEnd type="none" w="med" len="med"/>
              </a:ln>
            </p:spPr>
            <p:txBody>
              <a:bodyPr lIns="82351" tIns="41175" rIns="82351" bIns="41175"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zh-CN" altLang="en-US" sz="1600" b="1" dirty="0">
                    <a:solidFill>
                      <a:srgbClr val="660033"/>
                    </a:solidFill>
                    <a:latin typeface="楷体_GB2312" pitchFamily="49" charset="-122"/>
                    <a:ea typeface="楷体_GB2312" pitchFamily="49" charset="-122"/>
                  </a:rPr>
                  <a:t>起始地址  段表长度</a:t>
                </a:r>
                <a:endParaRPr lang="zh-CN" altLang="en-US" sz="1600" b="1" dirty="0">
                  <a:solidFill>
                    <a:srgbClr val="660033"/>
                  </a:solidFill>
                  <a:latin typeface="楷体_GB2312" pitchFamily="49" charset="-122"/>
                  <a:ea typeface="楷体_GB2312" pitchFamily="49" charset="-122"/>
                </a:endParaRPr>
              </a:p>
            </p:txBody>
          </p:sp>
          <p:sp>
            <p:nvSpPr>
              <p:cNvPr id="126012" name="Line 11"/>
              <p:cNvSpPr/>
              <p:nvPr/>
            </p:nvSpPr>
            <p:spPr>
              <a:xfrm>
                <a:off x="1440" y="1392"/>
                <a:ext cx="0" cy="240"/>
              </a:xfrm>
              <a:prstGeom prst="line">
                <a:avLst/>
              </a:prstGeom>
              <a:ln w="25400" cap="flat" cmpd="sng">
                <a:solidFill>
                  <a:srgbClr val="0000FF"/>
                </a:solidFill>
                <a:prstDash val="solid"/>
                <a:headEnd type="none" w="med" len="med"/>
                <a:tailEnd type="none" w="med" len="med"/>
              </a:ln>
            </p:spPr>
          </p:sp>
        </p:grpSp>
        <p:sp>
          <p:nvSpPr>
            <p:cNvPr id="126010" name="Text Box 12"/>
            <p:cNvSpPr txBox="1"/>
            <p:nvPr/>
          </p:nvSpPr>
          <p:spPr>
            <a:xfrm>
              <a:off x="816" y="960"/>
              <a:ext cx="1070" cy="222"/>
            </a:xfrm>
            <a:prstGeom prst="rect">
              <a:avLst/>
            </a:prstGeom>
            <a:noFill/>
            <a:ln w="25400" cap="flat" cmpd="sng">
              <a:solidFill>
                <a:schemeClr val="bg1"/>
              </a:solidFill>
              <a:prstDash val="solid"/>
              <a:miter/>
              <a:headEnd type="none" w="med" len="med"/>
              <a:tailEnd type="none" w="med" len="med"/>
            </a:ln>
          </p:spPr>
          <p:txBody>
            <a:bodyPr lIns="82351" tIns="41175" rIns="82351" bIns="41175">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zh-CN" altLang="en-US" sz="1600" b="1" dirty="0">
                  <a:solidFill>
                    <a:srgbClr val="660033"/>
                  </a:solidFill>
                  <a:latin typeface="Arial" panose="020B0604020202020204" pitchFamily="34" charset="0"/>
                  <a:ea typeface="楷体_GB2312" pitchFamily="49" charset="-122"/>
                </a:rPr>
                <a:t>段表地址寄存器</a:t>
              </a:r>
              <a:endParaRPr lang="zh-CN" altLang="en-US" sz="1600" b="1" dirty="0">
                <a:solidFill>
                  <a:srgbClr val="660033"/>
                </a:solidFill>
                <a:latin typeface="Arial" panose="020B0604020202020204" pitchFamily="34" charset="0"/>
                <a:ea typeface="楷体_GB2312" pitchFamily="49" charset="-122"/>
              </a:endParaRPr>
            </a:p>
          </p:txBody>
        </p:sp>
      </p:grpSp>
      <p:grpSp>
        <p:nvGrpSpPr>
          <p:cNvPr id="629844" name="Group 84"/>
          <p:cNvGrpSpPr/>
          <p:nvPr/>
        </p:nvGrpSpPr>
        <p:grpSpPr>
          <a:xfrm>
            <a:off x="1447800" y="3429000"/>
            <a:ext cx="1628775" cy="1976438"/>
            <a:chOff x="912" y="2160"/>
            <a:chExt cx="1026" cy="1245"/>
          </a:xfrm>
        </p:grpSpPr>
        <p:sp>
          <p:nvSpPr>
            <p:cNvPr id="126002" name="Rectangle 16"/>
            <p:cNvSpPr/>
            <p:nvPr/>
          </p:nvSpPr>
          <p:spPr>
            <a:xfrm>
              <a:off x="912" y="2400"/>
              <a:ext cx="1026" cy="1005"/>
            </a:xfrm>
            <a:prstGeom prst="rect">
              <a:avLst/>
            </a:prstGeom>
            <a:solidFill>
              <a:schemeClr val="bg1">
                <a:alpha val="50195"/>
              </a:schemeClr>
            </a:solidFill>
            <a:ln w="25400" cap="flat" cmpd="sng">
              <a:solidFill>
                <a:srgbClr val="0000FF"/>
              </a:solidFill>
              <a:prstDash val="solid"/>
              <a:miter/>
              <a:headEnd type="none" w="med" len="med"/>
              <a:tailEnd type="none" w="med" len="med"/>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6003" name="Text Box 21"/>
            <p:cNvSpPr txBox="1"/>
            <p:nvPr/>
          </p:nvSpPr>
          <p:spPr>
            <a:xfrm>
              <a:off x="1352" y="2448"/>
              <a:ext cx="189" cy="912"/>
            </a:xfrm>
            <a:prstGeom prst="rect">
              <a:avLst/>
            </a:prstGeom>
            <a:noFill/>
            <a:ln w="25400" cap="flat" cmpd="sng">
              <a:solidFill>
                <a:schemeClr val="bg1"/>
              </a:solidFill>
              <a:prstDash val="solid"/>
              <a:miter/>
              <a:headEnd type="none" w="med" len="med"/>
              <a:tailEnd type="none" w="med" len="med"/>
            </a:ln>
          </p:spPr>
          <p:txBody>
            <a:bodyPr vert="eaVert"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en-US" altLang="zh-CN" sz="1800" b="1" dirty="0">
                  <a:solidFill>
                    <a:srgbClr val="660033"/>
                  </a:solidFill>
                  <a:latin typeface="Arial" panose="020B0604020202020204" pitchFamily="34" charset="0"/>
                </a:rPr>
                <a:t>…             …</a:t>
              </a:r>
              <a:endParaRPr lang="en-US" altLang="zh-CN" sz="1800" b="1" dirty="0">
                <a:solidFill>
                  <a:srgbClr val="660033"/>
                </a:solidFill>
                <a:latin typeface="Arial" panose="020B0604020202020204" pitchFamily="34" charset="0"/>
              </a:endParaRPr>
            </a:p>
          </p:txBody>
        </p:sp>
        <p:sp>
          <p:nvSpPr>
            <p:cNvPr id="126004" name="Line 17"/>
            <p:cNvSpPr/>
            <p:nvPr/>
          </p:nvSpPr>
          <p:spPr>
            <a:xfrm>
              <a:off x="912" y="2746"/>
              <a:ext cx="1026" cy="1"/>
            </a:xfrm>
            <a:prstGeom prst="line">
              <a:avLst/>
            </a:prstGeom>
            <a:ln w="25400" cap="flat" cmpd="sng">
              <a:solidFill>
                <a:srgbClr val="0000FF"/>
              </a:solidFill>
              <a:prstDash val="solid"/>
              <a:headEnd type="none" w="med" len="med"/>
              <a:tailEnd type="none" w="med" len="med"/>
            </a:ln>
          </p:spPr>
        </p:sp>
        <p:sp>
          <p:nvSpPr>
            <p:cNvPr id="126005" name="Line 18"/>
            <p:cNvSpPr/>
            <p:nvPr/>
          </p:nvSpPr>
          <p:spPr>
            <a:xfrm>
              <a:off x="912" y="3081"/>
              <a:ext cx="1026" cy="1"/>
            </a:xfrm>
            <a:prstGeom prst="line">
              <a:avLst/>
            </a:prstGeom>
            <a:ln w="25400" cap="flat" cmpd="sng">
              <a:solidFill>
                <a:srgbClr val="0000FF"/>
              </a:solidFill>
              <a:prstDash val="solid"/>
              <a:headEnd type="none" w="med" len="med"/>
              <a:tailEnd type="none" w="med" len="med"/>
            </a:ln>
          </p:spPr>
        </p:sp>
        <p:sp>
          <p:nvSpPr>
            <p:cNvPr id="126006" name="Line 19"/>
            <p:cNvSpPr/>
            <p:nvPr/>
          </p:nvSpPr>
          <p:spPr>
            <a:xfrm>
              <a:off x="1248" y="2736"/>
              <a:ext cx="1" cy="335"/>
            </a:xfrm>
            <a:prstGeom prst="line">
              <a:avLst/>
            </a:prstGeom>
            <a:ln w="25400" cap="flat" cmpd="sng">
              <a:solidFill>
                <a:srgbClr val="0000FF"/>
              </a:solidFill>
              <a:prstDash val="solid"/>
              <a:headEnd type="none" w="med" len="med"/>
              <a:tailEnd type="none" w="med" len="med"/>
            </a:ln>
          </p:spPr>
        </p:sp>
        <p:sp>
          <p:nvSpPr>
            <p:cNvPr id="126007" name="Line 20"/>
            <p:cNvSpPr/>
            <p:nvPr/>
          </p:nvSpPr>
          <p:spPr>
            <a:xfrm>
              <a:off x="1584" y="2736"/>
              <a:ext cx="1" cy="335"/>
            </a:xfrm>
            <a:prstGeom prst="line">
              <a:avLst/>
            </a:prstGeom>
            <a:ln w="25400" cap="flat" cmpd="sng">
              <a:solidFill>
                <a:srgbClr val="0000FF"/>
              </a:solidFill>
              <a:prstDash val="solid"/>
              <a:headEnd type="none" w="med" len="med"/>
              <a:tailEnd type="none" w="med" len="med"/>
            </a:ln>
          </p:spPr>
        </p:sp>
        <p:sp>
          <p:nvSpPr>
            <p:cNvPr id="126008" name="Text Box 22"/>
            <p:cNvSpPr txBox="1"/>
            <p:nvPr/>
          </p:nvSpPr>
          <p:spPr>
            <a:xfrm>
              <a:off x="1152" y="2160"/>
              <a:ext cx="457" cy="222"/>
            </a:xfrm>
            <a:prstGeom prst="rect">
              <a:avLst/>
            </a:prstGeom>
            <a:noFill/>
            <a:ln w="25400" cap="flat" cmpd="sng">
              <a:solidFill>
                <a:schemeClr val="bg1"/>
              </a:solidFill>
              <a:prstDash val="solid"/>
              <a:miter/>
              <a:headEnd type="none" w="med" len="med"/>
              <a:tailEnd type="none" w="med" len="med"/>
            </a:ln>
          </p:spPr>
          <p:txBody>
            <a:bodyPr lIns="82351" tIns="41175" rIns="82351" bIns="41175">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zh-CN" altLang="en-US" sz="1600" b="1" dirty="0">
                  <a:solidFill>
                    <a:srgbClr val="660033"/>
                  </a:solidFill>
                  <a:latin typeface="Arial" panose="020B0604020202020204" pitchFamily="34" charset="0"/>
                  <a:ea typeface="楷体_GB2312" pitchFamily="49" charset="-122"/>
                </a:rPr>
                <a:t>段表</a:t>
              </a:r>
              <a:endParaRPr lang="zh-CN" altLang="en-US" sz="1600" b="1" dirty="0">
                <a:solidFill>
                  <a:srgbClr val="660033"/>
                </a:solidFill>
                <a:latin typeface="Arial" panose="020B0604020202020204" pitchFamily="34" charset="0"/>
                <a:ea typeface="楷体_GB2312" pitchFamily="49" charset="-122"/>
              </a:endParaRPr>
            </a:p>
          </p:txBody>
        </p:sp>
      </p:grpSp>
      <p:grpSp>
        <p:nvGrpSpPr>
          <p:cNvPr id="629858" name="Group 98"/>
          <p:cNvGrpSpPr/>
          <p:nvPr/>
        </p:nvGrpSpPr>
        <p:grpSpPr>
          <a:xfrm>
            <a:off x="3048000" y="3454400"/>
            <a:ext cx="2695575" cy="1955800"/>
            <a:chOff x="1920" y="2176"/>
            <a:chExt cx="1698" cy="1232"/>
          </a:xfrm>
        </p:grpSpPr>
        <p:sp>
          <p:nvSpPr>
            <p:cNvPr id="125993" name="Line 47"/>
            <p:cNvSpPr/>
            <p:nvPr/>
          </p:nvSpPr>
          <p:spPr>
            <a:xfrm>
              <a:off x="1920" y="3408"/>
              <a:ext cx="720" cy="0"/>
            </a:xfrm>
            <a:prstGeom prst="line">
              <a:avLst/>
            </a:prstGeom>
            <a:ln w="25400" cap="flat" cmpd="sng">
              <a:solidFill>
                <a:srgbClr val="0000FF"/>
              </a:solidFill>
              <a:prstDash val="solid"/>
              <a:headEnd type="none" w="med" len="med"/>
              <a:tailEnd type="none" w="med" len="med"/>
            </a:ln>
          </p:spPr>
        </p:sp>
        <p:grpSp>
          <p:nvGrpSpPr>
            <p:cNvPr id="125994" name="Group 69"/>
            <p:cNvGrpSpPr/>
            <p:nvPr/>
          </p:nvGrpSpPr>
          <p:grpSpPr>
            <a:xfrm>
              <a:off x="2592" y="2176"/>
              <a:ext cx="1026" cy="1229"/>
              <a:chOff x="2496" y="2176"/>
              <a:chExt cx="1026" cy="1229"/>
            </a:xfrm>
          </p:grpSpPr>
          <p:sp>
            <p:nvSpPr>
              <p:cNvPr id="125995" name="Rectangle 60"/>
              <p:cNvSpPr/>
              <p:nvPr/>
            </p:nvSpPr>
            <p:spPr>
              <a:xfrm>
                <a:off x="2496" y="2400"/>
                <a:ext cx="1026" cy="1005"/>
              </a:xfrm>
              <a:prstGeom prst="rect">
                <a:avLst/>
              </a:prstGeom>
              <a:solidFill>
                <a:schemeClr val="bg1">
                  <a:alpha val="50195"/>
                </a:schemeClr>
              </a:solidFill>
              <a:ln w="25400" cap="flat" cmpd="sng">
                <a:solidFill>
                  <a:srgbClr val="0000FF"/>
                </a:solidFill>
                <a:prstDash val="solid"/>
                <a:miter/>
                <a:headEnd type="none" w="med" len="med"/>
                <a:tailEnd type="none" w="med" len="med"/>
              </a:ln>
            </p:spPr>
            <p:txBody>
              <a:bodyPr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15000"/>
                  </a:lnSpc>
                  <a:spcBef>
                    <a:spcPct val="0"/>
                  </a:spcBef>
                  <a:buClrTx/>
                  <a:buSzTx/>
                  <a:buFontTx/>
                  <a:buNone/>
                </a:pPr>
                <a:endParaRPr lang="zh-CN" altLang="en-US" sz="2400" b="1" dirty="0">
                  <a:solidFill>
                    <a:srgbClr val="000099"/>
                  </a:solidFill>
                  <a:ea typeface="楷体_GB2312" pitchFamily="49" charset="-122"/>
                </a:endParaRPr>
              </a:p>
            </p:txBody>
          </p:sp>
          <p:sp>
            <p:nvSpPr>
              <p:cNvPr id="125996" name="Text Box 36"/>
              <p:cNvSpPr txBox="1"/>
              <p:nvPr/>
            </p:nvSpPr>
            <p:spPr>
              <a:xfrm>
                <a:off x="2640" y="2176"/>
                <a:ext cx="689" cy="170"/>
              </a:xfrm>
              <a:prstGeom prst="rect">
                <a:avLst/>
              </a:prstGeom>
              <a:noFill/>
              <a:ln w="25400" cap="flat" cmpd="sng">
                <a:solidFill>
                  <a:schemeClr val="bg1"/>
                </a:solidFill>
                <a:prstDash val="solid"/>
                <a:miter/>
                <a:headEnd type="none" w="med" len="med"/>
                <a:tailEnd type="none" w="med" len="med"/>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en-US" altLang="zh-CN" sz="1600" b="1" dirty="0">
                    <a:solidFill>
                      <a:srgbClr val="660033"/>
                    </a:solidFill>
                    <a:latin typeface="Arial" panose="020B0604020202020204" pitchFamily="34" charset="0"/>
                  </a:rPr>
                  <a:t>s</a:t>
                </a:r>
                <a:r>
                  <a:rPr lang="zh-CN" altLang="en-US" sz="1600" b="1" dirty="0">
                    <a:solidFill>
                      <a:srgbClr val="660033"/>
                    </a:solidFill>
                    <a:latin typeface="Arial" panose="020B0604020202020204" pitchFamily="34" charset="0"/>
                    <a:ea typeface="楷体_GB2312" pitchFamily="49" charset="-122"/>
                  </a:rPr>
                  <a:t>段的页表</a:t>
                </a:r>
                <a:endParaRPr lang="zh-CN" altLang="en-US" sz="1600" b="1" dirty="0">
                  <a:solidFill>
                    <a:srgbClr val="660033"/>
                  </a:solidFill>
                  <a:latin typeface="Arial" panose="020B0604020202020204" pitchFamily="34" charset="0"/>
                  <a:ea typeface="楷体_GB2312" pitchFamily="49" charset="-122"/>
                </a:endParaRPr>
              </a:p>
            </p:txBody>
          </p:sp>
          <p:sp>
            <p:nvSpPr>
              <p:cNvPr id="125997" name="Text Box 61"/>
              <p:cNvSpPr txBox="1"/>
              <p:nvPr/>
            </p:nvSpPr>
            <p:spPr>
              <a:xfrm>
                <a:off x="2936" y="2448"/>
                <a:ext cx="189" cy="912"/>
              </a:xfrm>
              <a:prstGeom prst="rect">
                <a:avLst/>
              </a:prstGeom>
              <a:noFill/>
              <a:ln w="25400" cap="flat" cmpd="sng">
                <a:solidFill>
                  <a:schemeClr val="bg1"/>
                </a:solidFill>
                <a:prstDash val="solid"/>
                <a:miter/>
                <a:headEnd type="none" w="med" len="med"/>
                <a:tailEnd type="none" w="med" len="med"/>
              </a:ln>
            </p:spPr>
            <p:txBody>
              <a:bodyPr vert="eaVert"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en-US" altLang="zh-CN" sz="1800" b="1" dirty="0">
                    <a:solidFill>
                      <a:srgbClr val="660033"/>
                    </a:solidFill>
                    <a:latin typeface="Arial" panose="020B0604020202020204" pitchFamily="34" charset="0"/>
                  </a:rPr>
                  <a:t>…             …</a:t>
                </a:r>
                <a:endParaRPr lang="en-US" altLang="zh-CN" sz="1800" b="1" dirty="0">
                  <a:solidFill>
                    <a:srgbClr val="660033"/>
                  </a:solidFill>
                  <a:latin typeface="Arial" panose="020B0604020202020204" pitchFamily="34" charset="0"/>
                </a:endParaRPr>
              </a:p>
            </p:txBody>
          </p:sp>
          <p:sp>
            <p:nvSpPr>
              <p:cNvPr id="125998" name="Line 62"/>
              <p:cNvSpPr/>
              <p:nvPr/>
            </p:nvSpPr>
            <p:spPr>
              <a:xfrm>
                <a:off x="2496" y="2746"/>
                <a:ext cx="1026" cy="1"/>
              </a:xfrm>
              <a:prstGeom prst="line">
                <a:avLst/>
              </a:prstGeom>
              <a:ln w="25400" cap="flat" cmpd="sng">
                <a:solidFill>
                  <a:srgbClr val="0000FF"/>
                </a:solidFill>
                <a:prstDash val="solid"/>
                <a:headEnd type="none" w="med" len="med"/>
                <a:tailEnd type="none" w="med" len="med"/>
              </a:ln>
            </p:spPr>
          </p:sp>
          <p:sp>
            <p:nvSpPr>
              <p:cNvPr id="125999" name="Line 63"/>
              <p:cNvSpPr/>
              <p:nvPr/>
            </p:nvSpPr>
            <p:spPr>
              <a:xfrm>
                <a:off x="2496" y="3081"/>
                <a:ext cx="1026" cy="1"/>
              </a:xfrm>
              <a:prstGeom prst="line">
                <a:avLst/>
              </a:prstGeom>
              <a:ln w="25400" cap="flat" cmpd="sng">
                <a:solidFill>
                  <a:srgbClr val="0000FF"/>
                </a:solidFill>
                <a:prstDash val="solid"/>
                <a:headEnd type="none" w="med" len="med"/>
                <a:tailEnd type="none" w="med" len="med"/>
              </a:ln>
            </p:spPr>
          </p:sp>
          <p:sp>
            <p:nvSpPr>
              <p:cNvPr id="126000" name="Line 64"/>
              <p:cNvSpPr/>
              <p:nvPr/>
            </p:nvSpPr>
            <p:spPr>
              <a:xfrm>
                <a:off x="2832" y="2736"/>
                <a:ext cx="1" cy="335"/>
              </a:xfrm>
              <a:prstGeom prst="line">
                <a:avLst/>
              </a:prstGeom>
              <a:ln w="25400" cap="flat" cmpd="sng">
                <a:solidFill>
                  <a:srgbClr val="0000FF"/>
                </a:solidFill>
                <a:prstDash val="solid"/>
                <a:headEnd type="none" w="med" len="med"/>
                <a:tailEnd type="none" w="med" len="med"/>
              </a:ln>
            </p:spPr>
          </p:sp>
          <p:sp>
            <p:nvSpPr>
              <p:cNvPr id="126001" name="Text Box 38"/>
              <p:cNvSpPr txBox="1"/>
              <p:nvPr/>
            </p:nvSpPr>
            <p:spPr>
              <a:xfrm>
                <a:off x="2880" y="2832"/>
                <a:ext cx="528" cy="170"/>
              </a:xfrm>
              <a:prstGeom prst="rect">
                <a:avLst/>
              </a:prstGeom>
              <a:noFill/>
              <a:ln w="25400" cap="flat" cmpd="sng">
                <a:solidFill>
                  <a:schemeClr val="bg1"/>
                </a:solidFill>
                <a:prstDash val="solid"/>
                <a:miter/>
                <a:headEnd type="none" w="med" len="med"/>
                <a:tailEnd type="none" w="med" len="med"/>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zh-CN" altLang="en-US" sz="1600" b="1" dirty="0">
                    <a:solidFill>
                      <a:srgbClr val="660033"/>
                    </a:solidFill>
                    <a:latin typeface="楷体_GB2312" pitchFamily="49" charset="-122"/>
                    <a:ea typeface="楷体_GB2312" pitchFamily="49" charset="-122"/>
                  </a:rPr>
                  <a:t>块号</a:t>
                </a:r>
                <a:r>
                  <a:rPr lang="en-US" altLang="zh-CN" sz="1600" b="1" dirty="0">
                    <a:solidFill>
                      <a:srgbClr val="660033"/>
                    </a:solidFill>
                    <a:latin typeface="Arial" panose="020B0604020202020204" pitchFamily="34" charset="0"/>
                  </a:rPr>
                  <a:t>p’</a:t>
                </a:r>
                <a:endParaRPr lang="en-US" altLang="zh-CN" sz="1600" b="1" dirty="0">
                  <a:solidFill>
                    <a:srgbClr val="660033"/>
                  </a:solidFill>
                  <a:latin typeface="Arial" panose="020B0604020202020204" pitchFamily="34" charset="0"/>
                </a:endParaRPr>
              </a:p>
            </p:txBody>
          </p:sp>
        </p:grpSp>
      </p:grpSp>
      <p:sp>
        <p:nvSpPr>
          <p:cNvPr id="629850" name="Freeform 90"/>
          <p:cNvSpPr/>
          <p:nvPr/>
        </p:nvSpPr>
        <p:spPr>
          <a:xfrm>
            <a:off x="7124700" y="2895600"/>
            <a:ext cx="1752600" cy="1600200"/>
          </a:xfrm>
          <a:custGeom>
            <a:avLst/>
            <a:gdLst/>
            <a:ahLst/>
            <a:cxnLst>
              <a:cxn ang="0">
                <a:pos x="2147483646" y="0"/>
              </a:cxn>
              <a:cxn ang="0">
                <a:pos x="2147483646" y="2147483646"/>
              </a:cxn>
              <a:cxn ang="0">
                <a:pos x="0" y="2147483646"/>
              </a:cxn>
            </a:cxnLst>
            <a:pathLst>
              <a:path w="1520" h="960">
                <a:moveTo>
                  <a:pt x="1056" y="0"/>
                </a:moveTo>
                <a:cubicBezTo>
                  <a:pt x="1288" y="16"/>
                  <a:pt x="1520" y="32"/>
                  <a:pt x="1344" y="192"/>
                </a:cubicBezTo>
                <a:cubicBezTo>
                  <a:pt x="1168" y="352"/>
                  <a:pt x="584" y="656"/>
                  <a:pt x="0" y="960"/>
                </a:cubicBezTo>
              </a:path>
            </a:pathLst>
          </a:custGeom>
          <a:noFill/>
          <a:ln w="25400" cap="flat" cmpd="sng">
            <a:solidFill>
              <a:srgbClr val="0000FF">
                <a:alpha val="100000"/>
              </a:srgbClr>
            </a:solidFill>
            <a:prstDash val="solid"/>
            <a:miter lim="800000"/>
            <a:headEnd type="none" w="med" len="med"/>
            <a:tailEnd type="triangle" w="med" len="med"/>
          </a:ln>
        </p:spPr>
        <p:txBody>
          <a:bodyPr/>
          <a:p>
            <a:endParaRPr lang="zh-CN" altLang="en-US"/>
          </a:p>
        </p:txBody>
      </p:sp>
      <p:grpSp>
        <p:nvGrpSpPr>
          <p:cNvPr id="629856" name="Group 96"/>
          <p:cNvGrpSpPr/>
          <p:nvPr/>
        </p:nvGrpSpPr>
        <p:grpSpPr>
          <a:xfrm>
            <a:off x="3111500" y="1625600"/>
            <a:ext cx="1154113" cy="1025525"/>
            <a:chOff x="1960" y="1024"/>
            <a:chExt cx="727" cy="646"/>
          </a:xfrm>
        </p:grpSpPr>
        <p:grpSp>
          <p:nvGrpSpPr>
            <p:cNvPr id="125987" name="Group 57"/>
            <p:cNvGrpSpPr/>
            <p:nvPr/>
          </p:nvGrpSpPr>
          <p:grpSpPr>
            <a:xfrm>
              <a:off x="1960" y="1024"/>
              <a:ext cx="727" cy="416"/>
              <a:chOff x="2304" y="1312"/>
              <a:chExt cx="727" cy="416"/>
            </a:xfrm>
          </p:grpSpPr>
          <p:sp>
            <p:nvSpPr>
              <p:cNvPr id="125989" name="Rectangle 26"/>
              <p:cNvSpPr/>
              <p:nvPr/>
            </p:nvSpPr>
            <p:spPr>
              <a:xfrm>
                <a:off x="2304" y="1496"/>
                <a:ext cx="727" cy="222"/>
              </a:xfrm>
              <a:prstGeom prst="rect">
                <a:avLst/>
              </a:prstGeom>
              <a:noFill/>
              <a:ln w="25400" cap="flat" cmpd="sng">
                <a:solidFill>
                  <a:srgbClr val="0000FF"/>
                </a:solidFill>
                <a:prstDash val="solid"/>
                <a:miter/>
                <a:headEnd type="none" w="med" len="med"/>
                <a:tailEnd type="none" w="med" len="med"/>
              </a:ln>
            </p:spPr>
            <p:txBody>
              <a:bodyPr lIns="82351" tIns="41175" rIns="82351" bIns="41175"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en-US" altLang="zh-CN" sz="1600" b="1" dirty="0">
                    <a:solidFill>
                      <a:srgbClr val="660033"/>
                    </a:solidFill>
                    <a:latin typeface="Arial" panose="020B0604020202020204" pitchFamily="34" charset="0"/>
                  </a:rPr>
                  <a:t>s    p    d</a:t>
                </a:r>
                <a:endParaRPr lang="en-US" altLang="zh-CN" sz="1600" b="1" dirty="0">
                  <a:solidFill>
                    <a:srgbClr val="660033"/>
                  </a:solidFill>
                  <a:latin typeface="Arial" panose="020B0604020202020204" pitchFamily="34" charset="0"/>
                </a:endParaRPr>
              </a:p>
            </p:txBody>
          </p:sp>
          <p:sp>
            <p:nvSpPr>
              <p:cNvPr id="125990" name="Line 27"/>
              <p:cNvSpPr/>
              <p:nvPr/>
            </p:nvSpPr>
            <p:spPr>
              <a:xfrm>
                <a:off x="2544" y="1488"/>
                <a:ext cx="0" cy="240"/>
              </a:xfrm>
              <a:prstGeom prst="line">
                <a:avLst/>
              </a:prstGeom>
              <a:ln w="25400" cap="flat" cmpd="sng">
                <a:solidFill>
                  <a:srgbClr val="0000FF"/>
                </a:solidFill>
                <a:prstDash val="solid"/>
                <a:headEnd type="none" w="med" len="med"/>
                <a:tailEnd type="none" w="med" len="med"/>
              </a:ln>
            </p:spPr>
          </p:sp>
          <p:sp>
            <p:nvSpPr>
              <p:cNvPr id="125991" name="Text Box 28"/>
              <p:cNvSpPr txBox="1"/>
              <p:nvPr/>
            </p:nvSpPr>
            <p:spPr>
              <a:xfrm>
                <a:off x="2368" y="1312"/>
                <a:ext cx="576" cy="170"/>
              </a:xfrm>
              <a:prstGeom prst="rect">
                <a:avLst/>
              </a:prstGeom>
              <a:noFill/>
              <a:ln w="25400" cap="flat" cmpd="sng">
                <a:solidFill>
                  <a:schemeClr val="bg1"/>
                </a:solidFill>
                <a:prstDash val="solid"/>
                <a:miter/>
                <a:headEnd type="none" w="med" len="med"/>
                <a:tailEnd type="none" w="med" len="med"/>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zh-CN" altLang="en-US" sz="1600" b="1" dirty="0">
                    <a:solidFill>
                      <a:srgbClr val="660033"/>
                    </a:solidFill>
                    <a:latin typeface="Arial" panose="020B0604020202020204" pitchFamily="34" charset="0"/>
                    <a:ea typeface="楷体_GB2312" pitchFamily="49" charset="-122"/>
                  </a:rPr>
                  <a:t>虚拟地址</a:t>
                </a:r>
                <a:endParaRPr lang="zh-CN" altLang="en-US" sz="1600" b="1" dirty="0">
                  <a:solidFill>
                    <a:srgbClr val="660033"/>
                  </a:solidFill>
                  <a:latin typeface="Arial" panose="020B0604020202020204" pitchFamily="34" charset="0"/>
                  <a:ea typeface="楷体_GB2312" pitchFamily="49" charset="-122"/>
                </a:endParaRPr>
              </a:p>
            </p:txBody>
          </p:sp>
          <p:sp>
            <p:nvSpPr>
              <p:cNvPr id="125992" name="Line 37"/>
              <p:cNvSpPr/>
              <p:nvPr/>
            </p:nvSpPr>
            <p:spPr>
              <a:xfrm flipH="1">
                <a:off x="2784" y="1488"/>
                <a:ext cx="0" cy="240"/>
              </a:xfrm>
              <a:prstGeom prst="line">
                <a:avLst/>
              </a:prstGeom>
              <a:ln w="25400" cap="flat" cmpd="sng">
                <a:solidFill>
                  <a:srgbClr val="0000FF"/>
                </a:solidFill>
                <a:prstDash val="solid"/>
                <a:headEnd type="none" w="med" len="med"/>
                <a:tailEnd type="none" w="med" len="med"/>
              </a:ln>
            </p:spPr>
          </p:sp>
        </p:grpSp>
        <p:sp>
          <p:nvSpPr>
            <p:cNvPr id="125988" name="Rectangle 91"/>
            <p:cNvSpPr/>
            <p:nvPr/>
          </p:nvSpPr>
          <p:spPr>
            <a:xfrm>
              <a:off x="2352" y="1440"/>
              <a:ext cx="193" cy="230"/>
            </a:xfrm>
            <a:prstGeom prst="rect">
              <a:avLst/>
            </a:prstGeom>
            <a:noFill/>
            <a:ln w="9525">
              <a:noFill/>
            </a:ln>
          </p:spPr>
          <p:txBody>
            <a:bodyPr wrap="none"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ea typeface="楷体_GB2312" pitchFamily="49" charset="-122"/>
                </a:rPr>
                <a:t>①</a:t>
              </a:r>
              <a:endParaRPr lang="en-US" altLang="zh-CN" sz="2400" b="1" dirty="0">
                <a:solidFill>
                  <a:srgbClr val="9900CC"/>
                </a:solidFill>
                <a:ea typeface="楷体_GB2312" pitchFamily="49" charset="-122"/>
              </a:endParaRPr>
            </a:p>
          </p:txBody>
        </p:sp>
      </p:grpSp>
      <p:grpSp>
        <p:nvGrpSpPr>
          <p:cNvPr id="629861" name="Group 101"/>
          <p:cNvGrpSpPr/>
          <p:nvPr/>
        </p:nvGrpSpPr>
        <p:grpSpPr>
          <a:xfrm>
            <a:off x="4267200" y="2120900"/>
            <a:ext cx="3162300" cy="2728913"/>
            <a:chOff x="2688" y="1336"/>
            <a:chExt cx="1992" cy="1719"/>
          </a:xfrm>
        </p:grpSpPr>
        <p:sp>
          <p:nvSpPr>
            <p:cNvPr id="125980" name="Text Box 43"/>
            <p:cNvSpPr txBox="1"/>
            <p:nvPr/>
          </p:nvSpPr>
          <p:spPr>
            <a:xfrm>
              <a:off x="3696" y="2736"/>
              <a:ext cx="140" cy="170"/>
            </a:xfrm>
            <a:prstGeom prst="rect">
              <a:avLst/>
            </a:prstGeom>
            <a:noFill/>
            <a:ln w="25400" cap="flat" cmpd="sng">
              <a:solidFill>
                <a:schemeClr val="bg1"/>
              </a:solidFill>
              <a:prstDash val="solid"/>
              <a:miter/>
              <a:headEnd type="none" w="med" len="med"/>
              <a:tailEnd type="none" w="med" len="med"/>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en-US" altLang="zh-CN" sz="1600" b="1" dirty="0">
                  <a:solidFill>
                    <a:srgbClr val="660033"/>
                  </a:solidFill>
                  <a:latin typeface="Arial" panose="020B0604020202020204" pitchFamily="34" charset="0"/>
                </a:rPr>
                <a:t>p’</a:t>
              </a:r>
              <a:endParaRPr lang="en-US" altLang="zh-CN" sz="1600" b="1" dirty="0">
                <a:solidFill>
                  <a:srgbClr val="660033"/>
                </a:solidFill>
                <a:latin typeface="Arial" panose="020B0604020202020204" pitchFamily="34" charset="0"/>
              </a:endParaRPr>
            </a:p>
          </p:txBody>
        </p:sp>
        <p:grpSp>
          <p:nvGrpSpPr>
            <p:cNvPr id="125981" name="Group 99"/>
            <p:cNvGrpSpPr/>
            <p:nvPr/>
          </p:nvGrpSpPr>
          <p:grpSpPr>
            <a:xfrm>
              <a:off x="2688" y="1336"/>
              <a:ext cx="1992" cy="1719"/>
              <a:chOff x="2688" y="1336"/>
              <a:chExt cx="1992" cy="1719"/>
            </a:xfrm>
          </p:grpSpPr>
          <p:sp>
            <p:nvSpPr>
              <p:cNvPr id="125982" name="Line 40"/>
              <p:cNvSpPr/>
              <p:nvPr/>
            </p:nvSpPr>
            <p:spPr>
              <a:xfrm>
                <a:off x="3624" y="2928"/>
                <a:ext cx="327" cy="0"/>
              </a:xfrm>
              <a:prstGeom prst="line">
                <a:avLst/>
              </a:prstGeom>
              <a:ln w="25400" cap="flat" cmpd="sng">
                <a:solidFill>
                  <a:srgbClr val="0000FF"/>
                </a:solidFill>
                <a:prstDash val="solid"/>
                <a:headEnd type="none" w="med" len="med"/>
                <a:tailEnd type="triangle" w="med" len="med"/>
              </a:ln>
            </p:spPr>
          </p:sp>
          <p:sp>
            <p:nvSpPr>
              <p:cNvPr id="125983" name="Line 41"/>
              <p:cNvSpPr/>
              <p:nvPr/>
            </p:nvSpPr>
            <p:spPr>
              <a:xfrm>
                <a:off x="4032" y="1336"/>
                <a:ext cx="0" cy="1496"/>
              </a:xfrm>
              <a:prstGeom prst="line">
                <a:avLst/>
              </a:prstGeom>
              <a:ln w="25400" cap="flat" cmpd="sng">
                <a:solidFill>
                  <a:srgbClr val="0000FF"/>
                </a:solidFill>
                <a:prstDash val="solid"/>
                <a:headEnd type="none" w="med" len="med"/>
                <a:tailEnd type="triangle" w="med" len="med"/>
              </a:ln>
            </p:spPr>
          </p:sp>
          <p:sp>
            <p:nvSpPr>
              <p:cNvPr id="125984" name="Rectangle 45"/>
              <p:cNvSpPr/>
              <p:nvPr/>
            </p:nvSpPr>
            <p:spPr>
              <a:xfrm>
                <a:off x="3936" y="2832"/>
                <a:ext cx="744" cy="223"/>
              </a:xfrm>
              <a:prstGeom prst="rect">
                <a:avLst/>
              </a:prstGeom>
              <a:noFill/>
              <a:ln w="25400" cap="flat" cmpd="sng">
                <a:solidFill>
                  <a:srgbClr val="0000FF"/>
                </a:solidFill>
                <a:prstDash val="solid"/>
                <a:miter/>
                <a:headEnd type="none" w="med" len="med"/>
                <a:tailEnd type="none" w="med" len="med"/>
              </a:ln>
            </p:spPr>
            <p:txBody>
              <a:bodyPr lIns="0" tIns="41175" rIns="0" bIns="41175"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zh-CN" altLang="en-US" sz="1600" b="1" dirty="0">
                    <a:solidFill>
                      <a:srgbClr val="660033"/>
                    </a:solidFill>
                    <a:latin typeface="Arial" panose="020B0604020202020204" pitchFamily="34" charset="0"/>
                    <a:ea typeface="楷体_GB2312" pitchFamily="49" charset="-122"/>
                  </a:rPr>
                  <a:t>物理地址</a:t>
                </a:r>
                <a:endParaRPr lang="zh-CN" altLang="en-US" sz="1600" b="1" dirty="0">
                  <a:solidFill>
                    <a:srgbClr val="660033"/>
                  </a:solidFill>
                  <a:latin typeface="Arial" panose="020B0604020202020204" pitchFamily="34" charset="0"/>
                  <a:ea typeface="楷体_GB2312" pitchFamily="49" charset="-122"/>
                </a:endParaRPr>
              </a:p>
            </p:txBody>
          </p:sp>
          <p:sp>
            <p:nvSpPr>
              <p:cNvPr id="125985" name="Line 46"/>
              <p:cNvSpPr/>
              <p:nvPr/>
            </p:nvSpPr>
            <p:spPr>
              <a:xfrm flipH="1" flipV="1">
                <a:off x="2688" y="1344"/>
                <a:ext cx="1344" cy="0"/>
              </a:xfrm>
              <a:prstGeom prst="line">
                <a:avLst/>
              </a:prstGeom>
              <a:ln w="25400" cap="flat" cmpd="sng">
                <a:solidFill>
                  <a:srgbClr val="0000FF"/>
                </a:solidFill>
                <a:prstDash val="solid"/>
                <a:headEnd type="none" w="med" len="med"/>
                <a:tailEnd type="none" w="med" len="med"/>
              </a:ln>
            </p:spPr>
          </p:sp>
          <p:sp>
            <p:nvSpPr>
              <p:cNvPr id="125986" name="Rectangle 92"/>
              <p:cNvSpPr/>
              <p:nvPr/>
            </p:nvSpPr>
            <p:spPr>
              <a:xfrm>
                <a:off x="4128" y="2544"/>
                <a:ext cx="309" cy="288"/>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ea typeface="楷体_GB2312" pitchFamily="49" charset="-122"/>
                  </a:rPr>
                  <a:t>④</a:t>
                </a:r>
                <a:endParaRPr lang="en-US" altLang="zh-CN" sz="2400" b="1" dirty="0">
                  <a:solidFill>
                    <a:srgbClr val="9900CC"/>
                  </a:solidFill>
                  <a:ea typeface="楷体_GB2312" pitchFamily="49" charset="-122"/>
                </a:endParaRPr>
              </a:p>
            </p:txBody>
          </p:sp>
        </p:grpSp>
      </p:grpSp>
      <p:grpSp>
        <p:nvGrpSpPr>
          <p:cNvPr id="629860" name="Group 100"/>
          <p:cNvGrpSpPr/>
          <p:nvPr/>
        </p:nvGrpSpPr>
        <p:grpSpPr>
          <a:xfrm>
            <a:off x="3048000" y="2260600"/>
            <a:ext cx="1066800" cy="2921000"/>
            <a:chOff x="1920" y="1424"/>
            <a:chExt cx="672" cy="1840"/>
          </a:xfrm>
        </p:grpSpPr>
        <p:sp>
          <p:nvSpPr>
            <p:cNvPr id="125974" name="Text Box 82"/>
            <p:cNvSpPr txBox="1"/>
            <p:nvPr/>
          </p:nvSpPr>
          <p:spPr>
            <a:xfrm>
              <a:off x="2128" y="2680"/>
              <a:ext cx="332" cy="400"/>
            </a:xfrm>
            <a:prstGeom prst="rect">
              <a:avLst/>
            </a:prstGeom>
            <a:noFill/>
            <a:ln w="25400" cap="flat" cmpd="sng">
              <a:solidFill>
                <a:schemeClr val="bg1"/>
              </a:solidFill>
              <a:prstDash val="solid"/>
              <a:miter/>
              <a:headEnd type="none" w="med" len="med"/>
              <a:tailEnd type="none" w="med" len="med"/>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en-US" altLang="zh-CN" sz="4000" dirty="0">
                  <a:solidFill>
                    <a:srgbClr val="0000FF"/>
                  </a:solidFill>
                  <a:latin typeface="Arial" panose="020B0604020202020204" pitchFamily="34" charset="0"/>
                  <a:ea typeface="Batang" pitchFamily="18" charset="-127"/>
                </a:rPr>
                <a:t>⊕</a:t>
              </a:r>
              <a:endParaRPr lang="en-US" altLang="zh-CN" sz="4000" dirty="0">
                <a:solidFill>
                  <a:srgbClr val="0000FF"/>
                </a:solidFill>
                <a:latin typeface="Arial" panose="020B0604020202020204" pitchFamily="34" charset="0"/>
                <a:ea typeface="Batang" pitchFamily="18" charset="-127"/>
              </a:endParaRPr>
            </a:p>
          </p:txBody>
        </p:sp>
        <p:grpSp>
          <p:nvGrpSpPr>
            <p:cNvPr id="125975" name="Group 97"/>
            <p:cNvGrpSpPr/>
            <p:nvPr/>
          </p:nvGrpSpPr>
          <p:grpSpPr>
            <a:xfrm>
              <a:off x="1920" y="1424"/>
              <a:ext cx="672" cy="1840"/>
              <a:chOff x="1920" y="1424"/>
              <a:chExt cx="672" cy="1840"/>
            </a:xfrm>
          </p:grpSpPr>
          <p:sp>
            <p:nvSpPr>
              <p:cNvPr id="125976" name="Line 30"/>
              <p:cNvSpPr/>
              <p:nvPr/>
            </p:nvSpPr>
            <p:spPr>
              <a:xfrm>
                <a:off x="2304" y="1424"/>
                <a:ext cx="0" cy="1408"/>
              </a:xfrm>
              <a:prstGeom prst="line">
                <a:avLst/>
              </a:prstGeom>
              <a:ln w="25400" cap="flat" cmpd="sng">
                <a:solidFill>
                  <a:srgbClr val="0000FF"/>
                </a:solidFill>
                <a:prstDash val="solid"/>
                <a:headEnd type="none" w="med" len="med"/>
                <a:tailEnd type="triangle" w="med" len="med"/>
              </a:ln>
            </p:spPr>
          </p:sp>
          <p:sp>
            <p:nvSpPr>
              <p:cNvPr id="125977" name="Line 48"/>
              <p:cNvSpPr/>
              <p:nvPr/>
            </p:nvSpPr>
            <p:spPr>
              <a:xfrm flipV="1">
                <a:off x="1920" y="2928"/>
                <a:ext cx="288" cy="0"/>
              </a:xfrm>
              <a:prstGeom prst="line">
                <a:avLst/>
              </a:prstGeom>
              <a:ln w="25400" cap="flat" cmpd="sng">
                <a:solidFill>
                  <a:srgbClr val="0000FF"/>
                </a:solidFill>
                <a:prstDash val="solid"/>
                <a:headEnd type="none" w="med" len="med"/>
                <a:tailEnd type="triangle" w="med" len="med"/>
              </a:ln>
            </p:spPr>
          </p:sp>
          <p:sp>
            <p:nvSpPr>
              <p:cNvPr id="125978" name="Line 68"/>
              <p:cNvSpPr/>
              <p:nvPr/>
            </p:nvSpPr>
            <p:spPr>
              <a:xfrm>
                <a:off x="2352" y="2928"/>
                <a:ext cx="240" cy="0"/>
              </a:xfrm>
              <a:prstGeom prst="line">
                <a:avLst/>
              </a:prstGeom>
              <a:ln w="25400" cap="flat" cmpd="sng">
                <a:solidFill>
                  <a:srgbClr val="0000FF"/>
                </a:solidFill>
                <a:prstDash val="solid"/>
                <a:headEnd type="none" w="med" len="med"/>
                <a:tailEnd type="triangle" w="med" len="med"/>
              </a:ln>
            </p:spPr>
          </p:sp>
          <p:sp>
            <p:nvSpPr>
              <p:cNvPr id="125979" name="Rectangle 93"/>
              <p:cNvSpPr/>
              <p:nvPr/>
            </p:nvSpPr>
            <p:spPr>
              <a:xfrm>
                <a:off x="2160" y="2976"/>
                <a:ext cx="309" cy="288"/>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ea typeface="楷体_GB2312" pitchFamily="49" charset="-122"/>
                  </a:rPr>
                  <a:t>③</a:t>
                </a:r>
                <a:endParaRPr lang="en-US" altLang="zh-CN" sz="2400" b="1" dirty="0">
                  <a:solidFill>
                    <a:srgbClr val="9900CC"/>
                  </a:solidFill>
                  <a:ea typeface="楷体_GB2312" pitchFamily="49" charset="-122"/>
                </a:endParaRPr>
              </a:p>
            </p:txBody>
          </p:sp>
        </p:grpSp>
      </p:grpSp>
      <p:grpSp>
        <p:nvGrpSpPr>
          <p:cNvPr id="629855" name="Group 95"/>
          <p:cNvGrpSpPr/>
          <p:nvPr/>
        </p:nvGrpSpPr>
        <p:grpSpPr>
          <a:xfrm>
            <a:off x="685800" y="2260600"/>
            <a:ext cx="2590800" cy="2616200"/>
            <a:chOff x="432" y="1424"/>
            <a:chExt cx="1632" cy="1648"/>
          </a:xfrm>
        </p:grpSpPr>
        <p:sp>
          <p:nvSpPr>
            <p:cNvPr id="125966" name="Text Box 25"/>
            <p:cNvSpPr txBox="1"/>
            <p:nvPr/>
          </p:nvSpPr>
          <p:spPr>
            <a:xfrm flipV="1">
              <a:off x="784" y="2856"/>
              <a:ext cx="96" cy="96"/>
            </a:xfrm>
            <a:prstGeom prst="rect">
              <a:avLst/>
            </a:prstGeom>
            <a:noFill/>
            <a:ln w="25400" cap="flat" cmpd="sng">
              <a:solidFill>
                <a:schemeClr val="bg1"/>
              </a:solidFill>
              <a:prstDash val="solid"/>
              <a:miter/>
              <a:headEnd type="none" w="med" len="med"/>
              <a:tailEnd type="none" w="med" len="med"/>
            </a:ln>
          </p:spPr>
          <p:txBody>
            <a:bodyPr lIns="0" tIns="0" rIns="0" bIns="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en-US" altLang="zh-CN" sz="1800" b="1" dirty="0">
                  <a:solidFill>
                    <a:srgbClr val="660033"/>
                  </a:solidFill>
                  <a:latin typeface="Arial" panose="020B0604020202020204" pitchFamily="34" charset="0"/>
                </a:rPr>
                <a:t>s</a:t>
              </a:r>
              <a:endParaRPr lang="en-US" altLang="zh-CN" sz="1800" b="1" dirty="0">
                <a:solidFill>
                  <a:srgbClr val="660033"/>
                </a:solidFill>
                <a:latin typeface="Arial" panose="020B0604020202020204" pitchFamily="34" charset="0"/>
              </a:endParaRPr>
            </a:p>
          </p:txBody>
        </p:sp>
        <p:sp>
          <p:nvSpPr>
            <p:cNvPr id="125967" name="Text Box 83"/>
            <p:cNvSpPr txBox="1"/>
            <p:nvPr/>
          </p:nvSpPr>
          <p:spPr>
            <a:xfrm>
              <a:off x="576" y="1680"/>
              <a:ext cx="332" cy="400"/>
            </a:xfrm>
            <a:prstGeom prst="rect">
              <a:avLst/>
            </a:prstGeom>
            <a:noFill/>
            <a:ln w="25400" cap="flat" cmpd="sng">
              <a:solidFill>
                <a:schemeClr val="bg1"/>
              </a:solidFill>
              <a:prstDash val="solid"/>
              <a:miter/>
              <a:headEnd type="none" w="med" len="med"/>
              <a:tailEnd type="none" w="med" len="med"/>
            </a:ln>
          </p:spPr>
          <p:txBody>
            <a:bodyPr lIns="0" tIns="0" rIns="0" bIns="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ctr" defTabSz="824230" eaLnBrk="1" hangingPunct="1">
                <a:spcBef>
                  <a:spcPct val="50000"/>
                </a:spcBef>
                <a:buClrTx/>
                <a:buSzTx/>
                <a:buFontTx/>
                <a:buNone/>
              </a:pPr>
              <a:r>
                <a:rPr lang="en-US" altLang="zh-CN" sz="4000" dirty="0">
                  <a:solidFill>
                    <a:srgbClr val="0000FF"/>
                  </a:solidFill>
                  <a:latin typeface="Arial" panose="020B0604020202020204" pitchFamily="34" charset="0"/>
                  <a:ea typeface="Batang" pitchFamily="18" charset="-127"/>
                </a:rPr>
                <a:t>⊕</a:t>
              </a:r>
              <a:endParaRPr lang="en-US" altLang="zh-CN" sz="4000" dirty="0">
                <a:solidFill>
                  <a:srgbClr val="0000FF"/>
                </a:solidFill>
                <a:latin typeface="Arial" panose="020B0604020202020204" pitchFamily="34" charset="0"/>
                <a:ea typeface="Batang" pitchFamily="18" charset="-127"/>
              </a:endParaRPr>
            </a:p>
          </p:txBody>
        </p:sp>
        <p:sp>
          <p:nvSpPr>
            <p:cNvPr id="125968" name="Line 13"/>
            <p:cNvSpPr/>
            <p:nvPr/>
          </p:nvSpPr>
          <p:spPr>
            <a:xfrm>
              <a:off x="736" y="2960"/>
              <a:ext cx="192" cy="0"/>
            </a:xfrm>
            <a:prstGeom prst="line">
              <a:avLst/>
            </a:prstGeom>
            <a:ln w="25400" cap="flat" cmpd="sng">
              <a:solidFill>
                <a:srgbClr val="0000FF"/>
              </a:solidFill>
              <a:prstDash val="solid"/>
              <a:headEnd type="none" w="med" len="med"/>
              <a:tailEnd type="triangle" w="med" len="med"/>
            </a:ln>
          </p:spPr>
        </p:sp>
        <p:sp>
          <p:nvSpPr>
            <p:cNvPr id="125969" name="Line 14"/>
            <p:cNvSpPr/>
            <p:nvPr/>
          </p:nvSpPr>
          <p:spPr>
            <a:xfrm>
              <a:off x="744" y="1440"/>
              <a:ext cx="0" cy="384"/>
            </a:xfrm>
            <a:prstGeom prst="line">
              <a:avLst/>
            </a:prstGeom>
            <a:ln w="25400" cap="flat" cmpd="sng">
              <a:solidFill>
                <a:srgbClr val="0000FF"/>
              </a:solidFill>
              <a:prstDash val="solid"/>
              <a:headEnd type="none" w="med" len="med"/>
              <a:tailEnd type="triangle" w="med" len="med"/>
            </a:ln>
          </p:spPr>
        </p:sp>
        <p:sp>
          <p:nvSpPr>
            <p:cNvPr id="125970" name="Line 24"/>
            <p:cNvSpPr/>
            <p:nvPr/>
          </p:nvSpPr>
          <p:spPr>
            <a:xfrm flipV="1">
              <a:off x="2064" y="1424"/>
              <a:ext cx="0" cy="488"/>
            </a:xfrm>
            <a:prstGeom prst="line">
              <a:avLst/>
            </a:prstGeom>
            <a:ln w="25400" cap="flat" cmpd="sng">
              <a:solidFill>
                <a:srgbClr val="0000FF"/>
              </a:solidFill>
              <a:prstDash val="solid"/>
              <a:headEnd type="none" w="med" len="med"/>
              <a:tailEnd type="none" w="med" len="med"/>
            </a:ln>
          </p:spPr>
        </p:sp>
        <p:sp>
          <p:nvSpPr>
            <p:cNvPr id="125971" name="Line 51"/>
            <p:cNvSpPr/>
            <p:nvPr/>
          </p:nvSpPr>
          <p:spPr>
            <a:xfrm flipH="1">
              <a:off x="832" y="1904"/>
              <a:ext cx="1227" cy="0"/>
            </a:xfrm>
            <a:prstGeom prst="line">
              <a:avLst/>
            </a:prstGeom>
            <a:ln w="25400" cap="flat" cmpd="sng">
              <a:solidFill>
                <a:srgbClr val="0000FF"/>
              </a:solidFill>
              <a:prstDash val="solid"/>
              <a:headEnd type="none" w="med" len="med"/>
              <a:tailEnd type="triangle" w="med" len="med"/>
            </a:ln>
          </p:spPr>
        </p:sp>
        <p:sp>
          <p:nvSpPr>
            <p:cNvPr id="125972" name="Line 52"/>
            <p:cNvSpPr/>
            <p:nvPr/>
          </p:nvSpPr>
          <p:spPr>
            <a:xfrm>
              <a:off x="744" y="2000"/>
              <a:ext cx="0" cy="960"/>
            </a:xfrm>
            <a:prstGeom prst="line">
              <a:avLst/>
            </a:prstGeom>
            <a:ln w="25400" cap="flat" cmpd="sng">
              <a:solidFill>
                <a:srgbClr val="0000FF"/>
              </a:solidFill>
              <a:prstDash val="solid"/>
              <a:headEnd type="none" w="med" len="med"/>
              <a:tailEnd type="none" w="med" len="med"/>
            </a:ln>
          </p:spPr>
        </p:sp>
        <p:sp>
          <p:nvSpPr>
            <p:cNvPr id="125973" name="Rectangle 94"/>
            <p:cNvSpPr/>
            <p:nvPr/>
          </p:nvSpPr>
          <p:spPr>
            <a:xfrm>
              <a:off x="432" y="2784"/>
              <a:ext cx="309" cy="288"/>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ea typeface="楷体_GB2312" pitchFamily="49" charset="-122"/>
                </a:rPr>
                <a:t>②</a:t>
              </a:r>
              <a:endParaRPr lang="en-US" altLang="zh-CN" sz="2400" b="1" dirty="0">
                <a:solidFill>
                  <a:srgbClr val="9900CC"/>
                </a:solidFill>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29765"/>
                                        </p:tgtEl>
                                        <p:attrNameLst>
                                          <p:attrName>style.visibility</p:attrName>
                                        </p:attrNameLst>
                                      </p:cBhvr>
                                      <p:to>
                                        <p:strVal val="visible"/>
                                      </p:to>
                                    </p:set>
                                    <p:anim calcmode="lin" valueType="num">
                                      <p:cBhvr additive="base">
                                        <p:cTn id="7" dur="500" fill="hold"/>
                                        <p:tgtEl>
                                          <p:spTgt spid="629765"/>
                                        </p:tgtEl>
                                        <p:attrNameLst>
                                          <p:attrName>ppt_x</p:attrName>
                                        </p:attrNameLst>
                                      </p:cBhvr>
                                      <p:tavLst>
                                        <p:tav tm="0">
                                          <p:val>
                                            <p:strVal val="0-#ppt_w/2"/>
                                          </p:val>
                                        </p:tav>
                                        <p:tav tm="100000">
                                          <p:val>
                                            <p:strVal val="#ppt_x"/>
                                          </p:val>
                                        </p:tav>
                                      </p:tavLst>
                                    </p:anim>
                                    <p:anim calcmode="lin" valueType="num">
                                      <p:cBhvr additive="base">
                                        <p:cTn id="8" dur="500" fill="hold"/>
                                        <p:tgtEl>
                                          <p:spTgt spid="6297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629768"/>
                                        </p:tgtEl>
                                        <p:attrNameLst>
                                          <p:attrName>style.visibility</p:attrName>
                                        </p:attrNameLst>
                                      </p:cBhvr>
                                      <p:to>
                                        <p:strVal val="visible"/>
                                      </p:to>
                                    </p:set>
                                    <p:animEffect transition="in" filter="wipe(left)">
                                      <p:cBhvr>
                                        <p:cTn id="13" dur="500"/>
                                        <p:tgtEl>
                                          <p:spTgt spid="62976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629815"/>
                                        </p:tgtEl>
                                        <p:attrNameLst>
                                          <p:attrName>style.visibility</p:attrName>
                                        </p:attrNameLst>
                                      </p:cBhvr>
                                      <p:to>
                                        <p:strVal val="visible"/>
                                      </p:to>
                                    </p:set>
                                    <p:animEffect transition="in" filter="wipe(up)">
                                      <p:cBhvr>
                                        <p:cTn id="18" dur="500"/>
                                        <p:tgtEl>
                                          <p:spTgt spid="6298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629844"/>
                                        </p:tgtEl>
                                        <p:attrNameLst>
                                          <p:attrName>style.visibility</p:attrName>
                                        </p:attrNameLst>
                                      </p:cBhvr>
                                      <p:to>
                                        <p:strVal val="visible"/>
                                      </p:to>
                                    </p:set>
                                    <p:animEffect transition="in" filter="wipe(up)">
                                      <p:cBhvr>
                                        <p:cTn id="23" dur="500"/>
                                        <p:tgtEl>
                                          <p:spTgt spid="62984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629856"/>
                                        </p:tgtEl>
                                        <p:attrNameLst>
                                          <p:attrName>style.visibility</p:attrName>
                                        </p:attrNameLst>
                                      </p:cBhvr>
                                      <p:to>
                                        <p:strVal val="visible"/>
                                      </p:to>
                                    </p:set>
                                    <p:animEffect transition="in" filter="wipe(up)">
                                      <p:cBhvr>
                                        <p:cTn id="28" dur="500"/>
                                        <p:tgtEl>
                                          <p:spTgt spid="62985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629855"/>
                                        </p:tgtEl>
                                        <p:attrNameLst>
                                          <p:attrName>style.visibility</p:attrName>
                                        </p:attrNameLst>
                                      </p:cBhvr>
                                      <p:to>
                                        <p:strVal val="visible"/>
                                      </p:to>
                                    </p:set>
                                    <p:animEffect transition="in" filter="wipe(up)">
                                      <p:cBhvr>
                                        <p:cTn id="33" dur="500"/>
                                        <p:tgtEl>
                                          <p:spTgt spid="62985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629858"/>
                                        </p:tgtEl>
                                        <p:attrNameLst>
                                          <p:attrName>style.visibility</p:attrName>
                                        </p:attrNameLst>
                                      </p:cBhvr>
                                      <p:to>
                                        <p:strVal val="visible"/>
                                      </p:to>
                                    </p:set>
                                    <p:animEffect transition="in" filter="wipe(left)">
                                      <p:cBhvr>
                                        <p:cTn id="38" dur="500"/>
                                        <p:tgtEl>
                                          <p:spTgt spid="629858"/>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6" fill="hold" nodeType="clickEffect">
                                  <p:stCondLst>
                                    <p:cond delay="0"/>
                                  </p:stCondLst>
                                  <p:childTnLst>
                                    <p:set>
                                      <p:cBhvr>
                                        <p:cTn id="42" dur="1" fill="hold">
                                          <p:stCondLst>
                                            <p:cond delay="0"/>
                                          </p:stCondLst>
                                        </p:cTn>
                                        <p:tgtEl>
                                          <p:spTgt spid="629860"/>
                                        </p:tgtEl>
                                        <p:attrNameLst>
                                          <p:attrName>style.visibility</p:attrName>
                                        </p:attrNameLst>
                                      </p:cBhvr>
                                      <p:to>
                                        <p:strVal val="visible"/>
                                      </p:to>
                                    </p:set>
                                    <p:animEffect transition="in" filter="strips(downRight)">
                                      <p:cBhvr>
                                        <p:cTn id="43" dur="500"/>
                                        <p:tgtEl>
                                          <p:spTgt spid="629860"/>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6" fill="hold" nodeType="clickEffect">
                                  <p:stCondLst>
                                    <p:cond delay="0"/>
                                  </p:stCondLst>
                                  <p:childTnLst>
                                    <p:set>
                                      <p:cBhvr>
                                        <p:cTn id="47" dur="1" fill="hold">
                                          <p:stCondLst>
                                            <p:cond delay="0"/>
                                          </p:stCondLst>
                                        </p:cTn>
                                        <p:tgtEl>
                                          <p:spTgt spid="629861"/>
                                        </p:tgtEl>
                                        <p:attrNameLst>
                                          <p:attrName>style.visibility</p:attrName>
                                        </p:attrNameLst>
                                      </p:cBhvr>
                                      <p:to>
                                        <p:strVal val="visible"/>
                                      </p:to>
                                    </p:set>
                                    <p:animEffect transition="in" filter="strips(downRight)">
                                      <p:cBhvr>
                                        <p:cTn id="48" dur="500"/>
                                        <p:tgtEl>
                                          <p:spTgt spid="62986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629845"/>
                                        </p:tgtEl>
                                        <p:attrNameLst>
                                          <p:attrName>style.visibility</p:attrName>
                                        </p:attrNameLst>
                                      </p:cBhvr>
                                      <p:to>
                                        <p:strVal val="visible"/>
                                      </p:to>
                                    </p:set>
                                    <p:animEffect transition="in" filter="wipe(up)">
                                      <p:cBhvr>
                                        <p:cTn id="53" dur="500"/>
                                        <p:tgtEl>
                                          <p:spTgt spid="629845"/>
                                        </p:tgtEl>
                                      </p:cBhvr>
                                    </p:animEffect>
                                  </p:childTnLst>
                                </p:cTn>
                              </p:par>
                            </p:childTnLst>
                          </p:cTn>
                        </p:par>
                      </p:childTnLst>
                    </p:cTn>
                  </p:par>
                  <p:par>
                    <p:cTn id="54" fill="hold">
                      <p:stCondLst>
                        <p:cond delay="indefinite"/>
                      </p:stCondLst>
                      <p:childTnLst>
                        <p:par>
                          <p:cTn id="55" fill="hold">
                            <p:stCondLst>
                              <p:cond delay="0"/>
                            </p:stCondLst>
                            <p:childTnLst>
                              <p:par>
                                <p:cTn id="56" presetID="18" presetClass="entr" presetSubtype="12" fill="hold" nodeType="clickEffect">
                                  <p:stCondLst>
                                    <p:cond delay="0"/>
                                  </p:stCondLst>
                                  <p:childTnLst>
                                    <p:set>
                                      <p:cBhvr>
                                        <p:cTn id="57" dur="1" fill="hold">
                                          <p:stCondLst>
                                            <p:cond delay="0"/>
                                          </p:stCondLst>
                                        </p:cTn>
                                        <p:tgtEl>
                                          <p:spTgt spid="629850"/>
                                        </p:tgtEl>
                                        <p:attrNameLst>
                                          <p:attrName>style.visibility</p:attrName>
                                        </p:attrNameLst>
                                      </p:cBhvr>
                                      <p:to>
                                        <p:strVal val="visible"/>
                                      </p:to>
                                    </p:set>
                                    <p:animEffect transition="in" filter="strips(downLeft)">
                                      <p:cBhvr>
                                        <p:cTn id="58" dur="500"/>
                                        <p:tgtEl>
                                          <p:spTgt spid="629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5" grpId="0"/>
      <p:bldP spid="629768"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126979" name="Rectangle 2"/>
          <p:cNvSpPr/>
          <p:nvPr/>
        </p:nvSpPr>
        <p:spPr>
          <a:xfrm>
            <a:off x="611188" y="908050"/>
            <a:ext cx="2787650" cy="457200"/>
          </a:xfrm>
          <a:prstGeom prst="rect">
            <a:avLst/>
          </a:prstGeom>
          <a:noFill/>
          <a:ln w="9525">
            <a:noFill/>
          </a:ln>
        </p:spPr>
        <p:txBody>
          <a:bodyPr wrap="none" anchor="ctr" anchorCtr="0">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9900CC"/>
                </a:solidFill>
                <a:ea typeface="楷体_GB2312" pitchFamily="49" charset="-122"/>
              </a:rPr>
              <a:t>4</a:t>
            </a:r>
            <a:r>
              <a:rPr lang="zh-CN" altLang="en-US" sz="2400" b="1" dirty="0">
                <a:solidFill>
                  <a:srgbClr val="9900CC"/>
                </a:solidFill>
                <a:ea typeface="楷体_GB2312" pitchFamily="49" charset="-122"/>
              </a:rPr>
              <a:t>、地址转换过程：</a:t>
            </a:r>
            <a:endParaRPr lang="zh-CN" altLang="en-US" sz="2400" dirty="0">
              <a:ea typeface="楷体_GB2312" pitchFamily="49" charset="-122"/>
            </a:endParaRPr>
          </a:p>
        </p:txBody>
      </p:sp>
      <p:sp>
        <p:nvSpPr>
          <p:cNvPr id="655363" name="Rectangle 3"/>
          <p:cNvSpPr/>
          <p:nvPr/>
        </p:nvSpPr>
        <p:spPr>
          <a:xfrm>
            <a:off x="611188" y="1412875"/>
            <a:ext cx="8229600" cy="25749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1</a:t>
            </a:r>
            <a:r>
              <a:rPr lang="zh-CN" altLang="en-US" sz="2400" b="1" dirty="0">
                <a:solidFill>
                  <a:srgbClr val="000099"/>
                </a:solidFill>
                <a:ea typeface="楷体_GB2312" pitchFamily="49" charset="-122"/>
              </a:rPr>
              <a:t>）将逻辑地址分解为段号</a:t>
            </a:r>
            <a:r>
              <a:rPr lang="en-US" altLang="zh-CN" sz="2400" b="1" dirty="0">
                <a:solidFill>
                  <a:srgbClr val="000099"/>
                </a:solidFill>
                <a:ea typeface="楷体_GB2312" pitchFamily="49" charset="-122"/>
              </a:rPr>
              <a:t>,</a:t>
            </a:r>
            <a:r>
              <a:rPr lang="zh-CN" altLang="en-US" sz="2400" b="1" dirty="0">
                <a:solidFill>
                  <a:srgbClr val="000099"/>
                </a:solidFill>
                <a:ea typeface="楷体_GB2312" pitchFamily="49" charset="-122"/>
              </a:rPr>
              <a:t>页号和页内地址</a:t>
            </a:r>
            <a:r>
              <a:rPr lang="en-US" altLang="zh-CN" sz="2400" b="1" dirty="0">
                <a:solidFill>
                  <a:srgbClr val="000099"/>
                </a:solidFill>
                <a:ea typeface="楷体_GB2312" pitchFamily="49" charset="-122"/>
              </a:rPr>
              <a:t>;</a:t>
            </a:r>
            <a:endParaRPr lang="en-US" altLang="zh-CN" sz="2400" b="1" dirty="0">
              <a:solidFill>
                <a:srgbClr val="000099"/>
              </a:solidFill>
              <a:ea typeface="楷体_GB2312" pitchFamily="49" charset="-122"/>
            </a:endParaRPr>
          </a:p>
          <a:p>
            <a:pPr marL="0" lvl="0" indent="0" eaLnBrk="1" hangingPunct="1">
              <a:lnSpc>
                <a:spcPct val="120000"/>
              </a:lnSpc>
              <a:buClrTx/>
              <a:buSzTx/>
              <a:buFontTx/>
              <a:buNone/>
            </a:pPr>
            <a:r>
              <a:rPr lang="en-US" altLang="zh-CN" sz="2400" b="1" dirty="0">
                <a:solidFill>
                  <a:srgbClr val="000099"/>
                </a:solidFill>
                <a:ea typeface="楷体_GB2312" pitchFamily="49" charset="-122"/>
              </a:rPr>
              <a:t>2</a:t>
            </a:r>
            <a:r>
              <a:rPr lang="zh-CN" altLang="en-US" sz="2400" b="1" dirty="0">
                <a:solidFill>
                  <a:srgbClr val="000099"/>
                </a:solidFill>
                <a:ea typeface="楷体_GB2312" pitchFamily="49" charset="-122"/>
              </a:rPr>
              <a:t>）根据段号访问段表，得到该段的页表起始地址；</a:t>
            </a:r>
            <a:endParaRPr lang="zh-CN" altLang="en-US" sz="2400" b="1" dirty="0">
              <a:solidFill>
                <a:srgbClr val="000099"/>
              </a:solidFill>
              <a:ea typeface="楷体_GB2312" pitchFamily="49" charset="-122"/>
            </a:endParaRPr>
          </a:p>
          <a:p>
            <a:pPr marL="0" lvl="0" indent="0" eaLnBrk="1" hangingPunct="1">
              <a:lnSpc>
                <a:spcPct val="120000"/>
              </a:lnSpc>
              <a:buClrTx/>
              <a:buSzTx/>
              <a:buFontTx/>
              <a:buNone/>
            </a:pPr>
            <a:r>
              <a:rPr lang="en-US" altLang="zh-CN" sz="2400" b="1" dirty="0">
                <a:solidFill>
                  <a:srgbClr val="000099"/>
                </a:solidFill>
                <a:ea typeface="楷体_GB2312" pitchFamily="49" charset="-122"/>
              </a:rPr>
              <a:t>3</a:t>
            </a:r>
            <a:r>
              <a:rPr lang="zh-CN" altLang="en-US" sz="2400" b="1" dirty="0">
                <a:solidFill>
                  <a:srgbClr val="000099"/>
                </a:solidFill>
                <a:ea typeface="楷体_GB2312" pitchFamily="49" charset="-122"/>
              </a:rPr>
              <a:t>）根据页号访问页表，得到主存块号；</a:t>
            </a:r>
            <a:endParaRPr lang="zh-CN" altLang="en-US" sz="2400" b="1" dirty="0">
              <a:solidFill>
                <a:srgbClr val="000099"/>
              </a:solidFill>
              <a:ea typeface="楷体_GB2312" pitchFamily="49" charset="-122"/>
            </a:endParaRPr>
          </a:p>
          <a:p>
            <a:pPr marL="0" lvl="0" indent="0" eaLnBrk="1" hangingPunct="1">
              <a:lnSpc>
                <a:spcPct val="120000"/>
              </a:lnSpc>
              <a:buClrTx/>
              <a:buSzTx/>
              <a:buFontTx/>
              <a:buNone/>
            </a:pPr>
            <a:r>
              <a:rPr lang="en-US" altLang="zh-CN" sz="2400" b="1" dirty="0">
                <a:solidFill>
                  <a:srgbClr val="000099"/>
                </a:solidFill>
                <a:ea typeface="楷体_GB2312" pitchFamily="49" charset="-122"/>
              </a:rPr>
              <a:t>4</a:t>
            </a:r>
            <a:r>
              <a:rPr lang="zh-CN" altLang="en-US" sz="2400" b="1" dirty="0">
                <a:solidFill>
                  <a:srgbClr val="000099"/>
                </a:solidFill>
                <a:ea typeface="楷体_GB2312" pitchFamily="49" charset="-122"/>
              </a:rPr>
              <a:t>）将主存块号与页内地址拼接，得到物理地址。</a:t>
            </a:r>
            <a:endParaRPr lang="zh-CN" altLang="en-US" sz="2400" b="1" dirty="0">
              <a:solidFill>
                <a:srgbClr val="000099"/>
              </a:solidFill>
              <a:ea typeface="楷体_GB2312" pitchFamily="49" charset="-122"/>
            </a:endParaRPr>
          </a:p>
          <a:p>
            <a:pPr marL="0" lvl="0" indent="0" eaLnBrk="1" hangingPunct="1">
              <a:lnSpc>
                <a:spcPct val="120000"/>
              </a:lnSpc>
              <a:buClrTx/>
              <a:buSzTx/>
              <a:buFontTx/>
              <a:buNone/>
            </a:pPr>
            <a:r>
              <a:rPr lang="zh-CN" altLang="en-US" sz="2400" b="1" dirty="0">
                <a:solidFill>
                  <a:srgbClr val="990033"/>
                </a:solidFill>
                <a:ea typeface="楷体_GB2312" pitchFamily="49" charset="-122"/>
              </a:rPr>
              <a:t>段页式存储管理要得到物理地址需三次访问主存</a:t>
            </a:r>
            <a:endParaRPr lang="zh-CN" altLang="en-US" sz="2400" b="1" dirty="0">
              <a:solidFill>
                <a:srgbClr val="990033"/>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55363"/>
                                        </p:tgtEl>
                                        <p:attrNameLst>
                                          <p:attrName>style.visibility</p:attrName>
                                        </p:attrNameLst>
                                      </p:cBhvr>
                                      <p:to>
                                        <p:strVal val="visible"/>
                                      </p:to>
                                    </p:set>
                                    <p:anim calcmode="lin" valueType="num">
                                      <p:cBhvr additive="base">
                                        <p:cTn id="7" dur="500" fill="hold"/>
                                        <p:tgtEl>
                                          <p:spTgt spid="655363"/>
                                        </p:tgtEl>
                                        <p:attrNameLst>
                                          <p:attrName>ppt_x</p:attrName>
                                        </p:attrNameLst>
                                      </p:cBhvr>
                                      <p:tavLst>
                                        <p:tav tm="0">
                                          <p:val>
                                            <p:strVal val="0-#ppt_w/2"/>
                                          </p:val>
                                        </p:tav>
                                        <p:tav tm="100000">
                                          <p:val>
                                            <p:strVal val="#ppt_x"/>
                                          </p:val>
                                        </p:tav>
                                      </p:tavLst>
                                    </p:anim>
                                    <p:anim calcmode="lin" valueType="num">
                                      <p:cBhvr additive="base">
                                        <p:cTn id="8" dur="500" fill="hold"/>
                                        <p:tgtEl>
                                          <p:spTgt spid="6553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63"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31458" name="Rectangle 1026"/>
          <p:cNvSpPr/>
          <p:nvPr/>
        </p:nvSpPr>
        <p:spPr>
          <a:xfrm>
            <a:off x="684213" y="908050"/>
            <a:ext cx="3384550" cy="519113"/>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800" dirty="0">
                <a:solidFill>
                  <a:srgbClr val="9900CC"/>
                </a:solidFill>
                <a:ea typeface="隶书" panose="02010509060101010101" pitchFamily="49" charset="-122"/>
              </a:rPr>
              <a:t>段页式系统的优点：</a:t>
            </a:r>
            <a:endParaRPr lang="zh-CN" altLang="en-US" sz="2800" dirty="0">
              <a:solidFill>
                <a:srgbClr val="9900CC"/>
              </a:solidFill>
              <a:ea typeface="隶书" panose="02010509060101010101" pitchFamily="49" charset="-122"/>
            </a:endParaRPr>
          </a:p>
        </p:txBody>
      </p:sp>
      <p:sp>
        <p:nvSpPr>
          <p:cNvPr id="531459" name="Rectangle 1027"/>
          <p:cNvSpPr/>
          <p:nvPr/>
        </p:nvSpPr>
        <p:spPr>
          <a:xfrm>
            <a:off x="684213" y="1484313"/>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由于段页式系统是分段和请求页式管理方案的结合，因而，它具有两者的全部优点。    </a:t>
            </a:r>
            <a:endParaRPr lang="zh-CN" altLang="en-US" sz="2400" b="1" dirty="0">
              <a:solidFill>
                <a:srgbClr val="000099"/>
              </a:solidFill>
              <a:ea typeface="楷体_GB2312" pitchFamily="49" charset="-122"/>
            </a:endParaRPr>
          </a:p>
        </p:txBody>
      </p:sp>
      <p:sp>
        <p:nvSpPr>
          <p:cNvPr id="531460" name="Rectangle 1028"/>
          <p:cNvSpPr/>
          <p:nvPr/>
        </p:nvSpPr>
        <p:spPr>
          <a:xfrm>
            <a:off x="684213" y="2997200"/>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1</a:t>
            </a:r>
            <a:r>
              <a:rPr lang="zh-CN" altLang="en-US" sz="2400" b="1" dirty="0">
                <a:solidFill>
                  <a:srgbClr val="000099"/>
                </a:solidFill>
                <a:ea typeface="楷体_GB2312" pitchFamily="49" charset="-122"/>
              </a:rPr>
              <a:t>）增加了软件复杂性和管理开销，需要的硬件支持也增加了。还有各种表格要占用存储空间；</a:t>
            </a:r>
            <a:endParaRPr lang="zh-CN" altLang="en-US" sz="2400" b="1" dirty="0">
              <a:solidFill>
                <a:srgbClr val="000099"/>
              </a:solidFill>
              <a:ea typeface="楷体_GB2312" pitchFamily="49" charset="-122"/>
            </a:endParaRPr>
          </a:p>
        </p:txBody>
      </p:sp>
      <p:sp>
        <p:nvSpPr>
          <p:cNvPr id="531461" name="Rectangle 1029"/>
          <p:cNvSpPr/>
          <p:nvPr/>
        </p:nvSpPr>
        <p:spPr>
          <a:xfrm>
            <a:off x="611188" y="2420938"/>
            <a:ext cx="3384550" cy="519112"/>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800" dirty="0">
                <a:solidFill>
                  <a:srgbClr val="990033"/>
                </a:solidFill>
                <a:ea typeface="隶书" panose="02010509060101010101" pitchFamily="49" charset="-122"/>
              </a:rPr>
              <a:t>段页式系统的缺点：</a:t>
            </a:r>
            <a:endParaRPr lang="zh-CN" altLang="en-US" sz="2800" dirty="0">
              <a:solidFill>
                <a:srgbClr val="990033"/>
              </a:solidFill>
              <a:ea typeface="隶书" panose="02010509060101010101" pitchFamily="49" charset="-122"/>
            </a:endParaRPr>
          </a:p>
        </p:txBody>
      </p:sp>
      <p:sp>
        <p:nvSpPr>
          <p:cNvPr id="531462" name="Rectangle 1030"/>
          <p:cNvSpPr/>
          <p:nvPr/>
        </p:nvSpPr>
        <p:spPr>
          <a:xfrm>
            <a:off x="684213" y="4005263"/>
            <a:ext cx="82296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2</a:t>
            </a:r>
            <a:r>
              <a:rPr lang="zh-CN" altLang="en-US" sz="2400" b="1" dirty="0">
                <a:solidFill>
                  <a:srgbClr val="000099"/>
                </a:solidFill>
                <a:ea typeface="楷体_GB2312" pitchFamily="49" charset="-122"/>
              </a:rPr>
              <a:t>）和在请求页式或在分段系统中一样，存在着系统抖动的危险；</a:t>
            </a:r>
            <a:endParaRPr lang="zh-CN" altLang="en-US" sz="2400" b="1" dirty="0">
              <a:solidFill>
                <a:srgbClr val="000099"/>
              </a:solidFill>
              <a:ea typeface="楷体_GB2312" pitchFamily="49" charset="-122"/>
            </a:endParaRPr>
          </a:p>
        </p:txBody>
      </p:sp>
      <p:sp>
        <p:nvSpPr>
          <p:cNvPr id="531463" name="Rectangle 1031"/>
          <p:cNvSpPr/>
          <p:nvPr/>
        </p:nvSpPr>
        <p:spPr>
          <a:xfrm>
            <a:off x="684213" y="5013325"/>
            <a:ext cx="82296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3</a:t>
            </a:r>
            <a:r>
              <a:rPr lang="zh-CN" altLang="en-US" sz="2400" b="1" dirty="0">
                <a:solidFill>
                  <a:srgbClr val="000099"/>
                </a:solidFill>
                <a:ea typeface="楷体_GB2312" pitchFamily="49" charset="-122"/>
              </a:rPr>
              <a:t>）和分页管理一样存在零头问题。</a:t>
            </a:r>
            <a:endParaRPr lang="zh-CN" altLang="en-US" sz="2400" b="1" dirty="0">
              <a:solidFill>
                <a:srgbClr val="000099"/>
              </a:solidFill>
              <a:ea typeface="楷体_GB2312" pitchFamily="49" charset="-122"/>
            </a:endParaRPr>
          </a:p>
        </p:txBody>
      </p:sp>
      <p:sp>
        <p:nvSpPr>
          <p:cNvPr id="531464" name="Rectangle 1032"/>
          <p:cNvSpPr/>
          <p:nvPr/>
        </p:nvSpPr>
        <p:spPr>
          <a:xfrm>
            <a:off x="685800" y="5589588"/>
            <a:ext cx="8458200" cy="96837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en-US" altLang="zh-CN" sz="2400" b="1" dirty="0">
                <a:solidFill>
                  <a:srgbClr val="000099"/>
                </a:solidFill>
                <a:ea typeface="楷体_GB2312" pitchFamily="49" charset="-122"/>
              </a:rPr>
              <a:t>         </a:t>
            </a:r>
            <a:r>
              <a:rPr lang="zh-CN" altLang="en-US" sz="2400" b="1" dirty="0">
                <a:solidFill>
                  <a:srgbClr val="000099"/>
                </a:solidFill>
                <a:ea typeface="楷体_GB2312" pitchFamily="49" charset="-122"/>
              </a:rPr>
              <a:t>这些缺点可在相当程度上可以克服，对当前的大型通用机来说，这种段页式存储管理是最通用、最灵活的一种方法。</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31458"/>
                                        </p:tgtEl>
                                        <p:attrNameLst>
                                          <p:attrName>style.visibility</p:attrName>
                                        </p:attrNameLst>
                                      </p:cBhvr>
                                      <p:to>
                                        <p:strVal val="visible"/>
                                      </p:to>
                                    </p:set>
                                    <p:anim calcmode="lin" valueType="num">
                                      <p:cBhvr additive="base">
                                        <p:cTn id="7" dur="500" fill="hold"/>
                                        <p:tgtEl>
                                          <p:spTgt spid="531458"/>
                                        </p:tgtEl>
                                        <p:attrNameLst>
                                          <p:attrName>ppt_x</p:attrName>
                                        </p:attrNameLst>
                                      </p:cBhvr>
                                      <p:tavLst>
                                        <p:tav tm="0">
                                          <p:val>
                                            <p:strVal val="0-#ppt_w/2"/>
                                          </p:val>
                                        </p:tav>
                                        <p:tav tm="100000">
                                          <p:val>
                                            <p:strVal val="#ppt_x"/>
                                          </p:val>
                                        </p:tav>
                                      </p:tavLst>
                                    </p:anim>
                                    <p:anim calcmode="lin" valueType="num">
                                      <p:cBhvr additive="base">
                                        <p:cTn id="8" dur="500" fill="hold"/>
                                        <p:tgtEl>
                                          <p:spTgt spid="5314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31459"/>
                                        </p:tgtEl>
                                        <p:attrNameLst>
                                          <p:attrName>style.visibility</p:attrName>
                                        </p:attrNameLst>
                                      </p:cBhvr>
                                      <p:to>
                                        <p:strVal val="visible"/>
                                      </p:to>
                                    </p:set>
                                    <p:anim calcmode="lin" valueType="num">
                                      <p:cBhvr additive="base">
                                        <p:cTn id="13" dur="500" fill="hold"/>
                                        <p:tgtEl>
                                          <p:spTgt spid="531459"/>
                                        </p:tgtEl>
                                        <p:attrNameLst>
                                          <p:attrName>ppt_x</p:attrName>
                                        </p:attrNameLst>
                                      </p:cBhvr>
                                      <p:tavLst>
                                        <p:tav tm="0">
                                          <p:val>
                                            <p:strVal val="0-#ppt_w/2"/>
                                          </p:val>
                                        </p:tav>
                                        <p:tav tm="100000">
                                          <p:val>
                                            <p:strVal val="#ppt_x"/>
                                          </p:val>
                                        </p:tav>
                                      </p:tavLst>
                                    </p:anim>
                                    <p:anim calcmode="lin" valueType="num">
                                      <p:cBhvr additive="base">
                                        <p:cTn id="14" dur="500" fill="hold"/>
                                        <p:tgtEl>
                                          <p:spTgt spid="53145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31461"/>
                                        </p:tgtEl>
                                        <p:attrNameLst>
                                          <p:attrName>style.visibility</p:attrName>
                                        </p:attrNameLst>
                                      </p:cBhvr>
                                      <p:to>
                                        <p:strVal val="visible"/>
                                      </p:to>
                                    </p:set>
                                    <p:anim calcmode="lin" valueType="num">
                                      <p:cBhvr additive="base">
                                        <p:cTn id="19" dur="500" fill="hold"/>
                                        <p:tgtEl>
                                          <p:spTgt spid="531461"/>
                                        </p:tgtEl>
                                        <p:attrNameLst>
                                          <p:attrName>ppt_x</p:attrName>
                                        </p:attrNameLst>
                                      </p:cBhvr>
                                      <p:tavLst>
                                        <p:tav tm="0">
                                          <p:val>
                                            <p:strVal val="0-#ppt_w/2"/>
                                          </p:val>
                                        </p:tav>
                                        <p:tav tm="100000">
                                          <p:val>
                                            <p:strVal val="#ppt_x"/>
                                          </p:val>
                                        </p:tav>
                                      </p:tavLst>
                                    </p:anim>
                                    <p:anim calcmode="lin" valueType="num">
                                      <p:cBhvr additive="base">
                                        <p:cTn id="20" dur="500" fill="hold"/>
                                        <p:tgtEl>
                                          <p:spTgt spid="53146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31460"/>
                                        </p:tgtEl>
                                        <p:attrNameLst>
                                          <p:attrName>style.visibility</p:attrName>
                                        </p:attrNameLst>
                                      </p:cBhvr>
                                      <p:to>
                                        <p:strVal val="visible"/>
                                      </p:to>
                                    </p:set>
                                    <p:anim calcmode="lin" valueType="num">
                                      <p:cBhvr additive="base">
                                        <p:cTn id="25" dur="500" fill="hold"/>
                                        <p:tgtEl>
                                          <p:spTgt spid="531460"/>
                                        </p:tgtEl>
                                        <p:attrNameLst>
                                          <p:attrName>ppt_x</p:attrName>
                                        </p:attrNameLst>
                                      </p:cBhvr>
                                      <p:tavLst>
                                        <p:tav tm="0">
                                          <p:val>
                                            <p:strVal val="0-#ppt_w/2"/>
                                          </p:val>
                                        </p:tav>
                                        <p:tav tm="100000">
                                          <p:val>
                                            <p:strVal val="#ppt_x"/>
                                          </p:val>
                                        </p:tav>
                                      </p:tavLst>
                                    </p:anim>
                                    <p:anim calcmode="lin" valueType="num">
                                      <p:cBhvr additive="base">
                                        <p:cTn id="26" dur="500" fill="hold"/>
                                        <p:tgtEl>
                                          <p:spTgt spid="53146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31462"/>
                                        </p:tgtEl>
                                        <p:attrNameLst>
                                          <p:attrName>style.visibility</p:attrName>
                                        </p:attrNameLst>
                                      </p:cBhvr>
                                      <p:to>
                                        <p:strVal val="visible"/>
                                      </p:to>
                                    </p:set>
                                    <p:anim calcmode="lin" valueType="num">
                                      <p:cBhvr additive="base">
                                        <p:cTn id="31" dur="500" fill="hold"/>
                                        <p:tgtEl>
                                          <p:spTgt spid="531462"/>
                                        </p:tgtEl>
                                        <p:attrNameLst>
                                          <p:attrName>ppt_x</p:attrName>
                                        </p:attrNameLst>
                                      </p:cBhvr>
                                      <p:tavLst>
                                        <p:tav tm="0">
                                          <p:val>
                                            <p:strVal val="0-#ppt_w/2"/>
                                          </p:val>
                                        </p:tav>
                                        <p:tav tm="100000">
                                          <p:val>
                                            <p:strVal val="#ppt_x"/>
                                          </p:val>
                                        </p:tav>
                                      </p:tavLst>
                                    </p:anim>
                                    <p:anim calcmode="lin" valueType="num">
                                      <p:cBhvr additive="base">
                                        <p:cTn id="32" dur="500" fill="hold"/>
                                        <p:tgtEl>
                                          <p:spTgt spid="53146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531463"/>
                                        </p:tgtEl>
                                        <p:attrNameLst>
                                          <p:attrName>style.visibility</p:attrName>
                                        </p:attrNameLst>
                                      </p:cBhvr>
                                      <p:to>
                                        <p:strVal val="visible"/>
                                      </p:to>
                                    </p:set>
                                    <p:anim calcmode="lin" valueType="num">
                                      <p:cBhvr additive="base">
                                        <p:cTn id="37" dur="500" fill="hold"/>
                                        <p:tgtEl>
                                          <p:spTgt spid="531463"/>
                                        </p:tgtEl>
                                        <p:attrNameLst>
                                          <p:attrName>ppt_x</p:attrName>
                                        </p:attrNameLst>
                                      </p:cBhvr>
                                      <p:tavLst>
                                        <p:tav tm="0">
                                          <p:val>
                                            <p:strVal val="0-#ppt_w/2"/>
                                          </p:val>
                                        </p:tav>
                                        <p:tav tm="100000">
                                          <p:val>
                                            <p:strVal val="#ppt_x"/>
                                          </p:val>
                                        </p:tav>
                                      </p:tavLst>
                                    </p:anim>
                                    <p:anim calcmode="lin" valueType="num">
                                      <p:cBhvr additive="base">
                                        <p:cTn id="38" dur="500" fill="hold"/>
                                        <p:tgtEl>
                                          <p:spTgt spid="53146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531464"/>
                                        </p:tgtEl>
                                        <p:attrNameLst>
                                          <p:attrName>style.visibility</p:attrName>
                                        </p:attrNameLst>
                                      </p:cBhvr>
                                      <p:to>
                                        <p:strVal val="visible"/>
                                      </p:to>
                                    </p:set>
                                    <p:anim calcmode="lin" valueType="num">
                                      <p:cBhvr additive="base">
                                        <p:cTn id="43" dur="500" fill="hold"/>
                                        <p:tgtEl>
                                          <p:spTgt spid="531464"/>
                                        </p:tgtEl>
                                        <p:attrNameLst>
                                          <p:attrName>ppt_x</p:attrName>
                                        </p:attrNameLst>
                                      </p:cBhvr>
                                      <p:tavLst>
                                        <p:tav tm="0">
                                          <p:val>
                                            <p:strVal val="0-#ppt_w/2"/>
                                          </p:val>
                                        </p:tav>
                                        <p:tav tm="100000">
                                          <p:val>
                                            <p:strVal val="#ppt_x"/>
                                          </p:val>
                                        </p:tav>
                                      </p:tavLst>
                                    </p:anim>
                                    <p:anim calcmode="lin" valueType="num">
                                      <p:cBhvr additive="base">
                                        <p:cTn id="44" dur="500" fill="hold"/>
                                        <p:tgtEl>
                                          <p:spTgt spid="5314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58" grpId="0"/>
      <p:bldP spid="531459" grpId="0"/>
      <p:bldP spid="531460" grpId="0"/>
      <p:bldP spid="531461" grpId="0"/>
      <p:bldP spid="531462" grpId="0"/>
      <p:bldP spid="531463" grpId="0"/>
      <p:bldP spid="531464"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32482" name="Text Box 2"/>
          <p:cNvSpPr txBox="1"/>
          <p:nvPr/>
        </p:nvSpPr>
        <p:spPr>
          <a:xfrm>
            <a:off x="684213" y="836613"/>
            <a:ext cx="2230437" cy="579437"/>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dirty="0">
                <a:solidFill>
                  <a:srgbClr val="9900CC"/>
                </a:solidFill>
                <a:ea typeface="隶书" panose="02010509060101010101" pitchFamily="49" charset="-122"/>
              </a:rPr>
              <a:t>总结：</a:t>
            </a:r>
            <a:endParaRPr lang="zh-CN" altLang="en-US" dirty="0">
              <a:solidFill>
                <a:srgbClr val="9900CC"/>
              </a:solidFill>
              <a:ea typeface="隶书" panose="02010509060101010101" pitchFamily="49" charset="-122"/>
            </a:endParaRPr>
          </a:p>
        </p:txBody>
      </p:sp>
      <p:sp>
        <p:nvSpPr>
          <p:cNvPr id="532484" name="Rectangle 4"/>
          <p:cNvSpPr/>
          <p:nvPr/>
        </p:nvSpPr>
        <p:spPr>
          <a:xfrm>
            <a:off x="827088" y="1628775"/>
            <a:ext cx="4572000" cy="25749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006600"/>
                </a:solidFill>
                <a:latin typeface="楷体_GB2312" pitchFamily="49" charset="-122"/>
                <a:ea typeface="楷体_GB2312" pitchFamily="49" charset="-122"/>
              </a:rPr>
              <a:t>存储管理的功能</a:t>
            </a:r>
            <a:r>
              <a:rPr lang="en-US" altLang="zh-CN" sz="2400" b="1" dirty="0">
                <a:solidFill>
                  <a:srgbClr val="006600"/>
                </a:solidFill>
                <a:latin typeface="楷体_GB2312" pitchFamily="49" charset="-122"/>
                <a:ea typeface="楷体_GB2312" pitchFamily="49" charset="-122"/>
              </a:rPr>
              <a:t>:</a:t>
            </a:r>
            <a:endParaRPr lang="en-US" altLang="zh-CN" sz="2400" b="1" dirty="0">
              <a:solidFill>
                <a:srgbClr val="006600"/>
              </a:solidFill>
              <a:latin typeface="楷体_GB2312" pitchFamily="49" charset="-122"/>
              <a:ea typeface="楷体_GB2312" pitchFamily="49" charset="-122"/>
            </a:endParaRPr>
          </a:p>
          <a:p>
            <a:pPr marL="0" lvl="0" indent="0">
              <a:lnSpc>
                <a:spcPct val="120000"/>
              </a:lnSpc>
              <a:buClrTx/>
              <a:buSzTx/>
              <a:buFontTx/>
              <a:buNone/>
            </a:pPr>
            <a:r>
              <a:rPr lang="en-US" altLang="zh-CN" sz="2400" b="1" dirty="0">
                <a:solidFill>
                  <a:srgbClr val="000099"/>
                </a:solidFill>
                <a:latin typeface="楷体_GB2312" pitchFamily="49" charset="-122"/>
                <a:ea typeface="楷体_GB2312" pitchFamily="49" charset="-122"/>
              </a:rPr>
              <a:t>  1</a:t>
            </a:r>
            <a:r>
              <a:rPr lang="zh-CN" altLang="en-US" sz="2400" b="1" dirty="0">
                <a:solidFill>
                  <a:srgbClr val="000099"/>
                </a:solidFill>
                <a:latin typeface="楷体_GB2312" pitchFamily="49" charset="-122"/>
                <a:ea typeface="楷体_GB2312" pitchFamily="49" charset="-122"/>
              </a:rPr>
              <a:t>）存储空间的分配与回收</a:t>
            </a:r>
            <a:endParaRPr lang="zh-CN" altLang="en-US" sz="2400" b="1" dirty="0">
              <a:solidFill>
                <a:srgbClr val="000099"/>
              </a:solidFill>
              <a:latin typeface="楷体_GB2312" pitchFamily="49" charset="-122"/>
              <a:ea typeface="楷体_GB2312" pitchFamily="49" charset="-122"/>
            </a:endParaRPr>
          </a:p>
          <a:p>
            <a:pPr marL="0" lvl="0" indent="0">
              <a:lnSpc>
                <a:spcPct val="120000"/>
              </a:lnSpc>
              <a:buClrTx/>
              <a:buSzTx/>
              <a:buFontTx/>
              <a:buNone/>
            </a:pPr>
            <a:r>
              <a:rPr lang="zh-CN" altLang="en-US" sz="2400" b="1" dirty="0">
                <a:solidFill>
                  <a:srgbClr val="000099"/>
                </a:solidFill>
                <a:latin typeface="楷体_GB2312" pitchFamily="49" charset="-122"/>
                <a:ea typeface="楷体_GB2312" pitchFamily="49" charset="-122"/>
              </a:rPr>
              <a:t>  </a:t>
            </a:r>
            <a:r>
              <a:rPr lang="en-US" altLang="zh-CN" sz="2400" b="1" dirty="0">
                <a:solidFill>
                  <a:srgbClr val="000099"/>
                </a:solidFill>
                <a:latin typeface="楷体_GB2312" pitchFamily="49" charset="-122"/>
                <a:ea typeface="楷体_GB2312" pitchFamily="49" charset="-122"/>
              </a:rPr>
              <a:t>2</a:t>
            </a:r>
            <a:r>
              <a:rPr lang="zh-CN" altLang="en-US" sz="2400" b="1" dirty="0">
                <a:solidFill>
                  <a:srgbClr val="000099"/>
                </a:solidFill>
                <a:latin typeface="楷体_GB2312" pitchFamily="49" charset="-122"/>
                <a:ea typeface="楷体_GB2312" pitchFamily="49" charset="-122"/>
              </a:rPr>
              <a:t>）地址重定位：</a:t>
            </a:r>
            <a:endParaRPr lang="zh-CN" altLang="en-US" sz="2400" b="1" dirty="0">
              <a:solidFill>
                <a:srgbClr val="000099"/>
              </a:solidFill>
              <a:latin typeface="楷体_GB2312" pitchFamily="49" charset="-122"/>
              <a:ea typeface="楷体_GB2312" pitchFamily="49" charset="-122"/>
            </a:endParaRPr>
          </a:p>
          <a:p>
            <a:pPr marL="0" lvl="0" indent="0">
              <a:lnSpc>
                <a:spcPct val="120000"/>
              </a:lnSpc>
              <a:buClrTx/>
              <a:buSzTx/>
              <a:buFontTx/>
              <a:buNone/>
            </a:pPr>
            <a:r>
              <a:rPr lang="zh-CN" altLang="en-US" sz="2400" b="1" dirty="0">
                <a:solidFill>
                  <a:srgbClr val="000099"/>
                </a:solidFill>
                <a:latin typeface="楷体_GB2312" pitchFamily="49" charset="-122"/>
                <a:ea typeface="楷体_GB2312" pitchFamily="49" charset="-122"/>
              </a:rPr>
              <a:t>  </a:t>
            </a:r>
            <a:r>
              <a:rPr lang="en-US" altLang="zh-CN" sz="2400" b="1" dirty="0">
                <a:solidFill>
                  <a:srgbClr val="000099"/>
                </a:solidFill>
                <a:latin typeface="楷体_GB2312" pitchFamily="49" charset="-122"/>
                <a:ea typeface="楷体_GB2312" pitchFamily="49" charset="-122"/>
              </a:rPr>
              <a:t>3</a:t>
            </a:r>
            <a:r>
              <a:rPr lang="zh-CN" altLang="en-US" sz="2400" b="1" dirty="0">
                <a:solidFill>
                  <a:srgbClr val="000099"/>
                </a:solidFill>
                <a:latin typeface="楷体_GB2312" pitchFamily="49" charset="-122"/>
                <a:ea typeface="楷体_GB2312" pitchFamily="49" charset="-122"/>
              </a:rPr>
              <a:t>）主存的保护</a:t>
            </a:r>
            <a:endParaRPr lang="zh-CN" altLang="en-US" sz="2400" b="1" dirty="0">
              <a:solidFill>
                <a:srgbClr val="000099"/>
              </a:solidFill>
              <a:latin typeface="楷体_GB2312" pitchFamily="49" charset="-122"/>
              <a:ea typeface="楷体_GB2312" pitchFamily="49" charset="-122"/>
            </a:endParaRPr>
          </a:p>
          <a:p>
            <a:pPr marL="0" lvl="0" indent="0">
              <a:lnSpc>
                <a:spcPct val="120000"/>
              </a:lnSpc>
              <a:buClrTx/>
              <a:buSzTx/>
              <a:buFontTx/>
              <a:buNone/>
            </a:pPr>
            <a:r>
              <a:rPr lang="zh-CN" altLang="en-US" sz="2400" b="1" dirty="0">
                <a:solidFill>
                  <a:srgbClr val="000099"/>
                </a:solidFill>
                <a:latin typeface="楷体_GB2312" pitchFamily="49" charset="-122"/>
                <a:ea typeface="楷体_GB2312" pitchFamily="49" charset="-122"/>
              </a:rPr>
              <a:t>  </a:t>
            </a:r>
            <a:r>
              <a:rPr lang="en-US" altLang="zh-CN" sz="2400" b="1" dirty="0">
                <a:solidFill>
                  <a:srgbClr val="000099"/>
                </a:solidFill>
                <a:latin typeface="楷体_GB2312" pitchFamily="49" charset="-122"/>
                <a:ea typeface="楷体_GB2312" pitchFamily="49" charset="-122"/>
              </a:rPr>
              <a:t>4</a:t>
            </a:r>
            <a:r>
              <a:rPr lang="zh-CN" altLang="en-US" sz="2400" b="1" dirty="0">
                <a:solidFill>
                  <a:srgbClr val="000099"/>
                </a:solidFill>
                <a:latin typeface="楷体_GB2312" pitchFamily="49" charset="-122"/>
                <a:ea typeface="楷体_GB2312" pitchFamily="49" charset="-122"/>
              </a:rPr>
              <a:t>）主存的扩充</a:t>
            </a:r>
            <a:endParaRPr lang="zh-CN" altLang="en-US" sz="2400" b="1" dirty="0">
              <a:solidFill>
                <a:srgbClr val="000099"/>
              </a:solidFill>
              <a:latin typeface="楷体_GB2312" pitchFamily="49" charset="-122"/>
              <a:ea typeface="楷体_GB2312" pitchFamily="49" charset="-122"/>
            </a:endParaRPr>
          </a:p>
        </p:txBody>
      </p:sp>
      <p:sp>
        <p:nvSpPr>
          <p:cNvPr id="532486" name="Rectangle 6"/>
          <p:cNvSpPr/>
          <p:nvPr/>
        </p:nvSpPr>
        <p:spPr>
          <a:xfrm>
            <a:off x="900113" y="4437063"/>
            <a:ext cx="7272337" cy="10414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990033"/>
                </a:solidFill>
                <a:ea typeface="楷体_GB2312" pitchFamily="49" charset="-122"/>
              </a:rPr>
              <a:t>地址映射（</a:t>
            </a:r>
            <a:r>
              <a:rPr lang="zh-CN" altLang="en-US" sz="2400" b="1" dirty="0">
                <a:solidFill>
                  <a:srgbClr val="990033"/>
                </a:solidFill>
                <a:ea typeface="楷体_GB2312" pitchFamily="49" charset="-122"/>
              </a:rPr>
              <a:t>地址重定位、地址转换）：</a:t>
            </a:r>
            <a:endParaRPr lang="zh-CN" altLang="en-US" sz="2400" b="1" dirty="0">
              <a:solidFill>
                <a:srgbClr val="990033"/>
              </a:solidFill>
              <a:ea typeface="楷体_GB2312" pitchFamily="49" charset="-122"/>
            </a:endParaRPr>
          </a:p>
          <a:p>
            <a:pPr marL="0" lvl="0" indent="0" eaLnBrk="1" hangingPunct="1">
              <a:lnSpc>
                <a:spcPct val="120000"/>
              </a:lnSpc>
              <a:buClrTx/>
              <a:buSzTx/>
              <a:buFontTx/>
              <a:buNone/>
            </a:pPr>
            <a:r>
              <a:rPr lang="zh-CN" altLang="en-US" sz="2400" b="1" dirty="0">
                <a:solidFill>
                  <a:srgbClr val="000099"/>
                </a:solidFill>
                <a:ea typeface="楷体_GB2312" pitchFamily="49" charset="-122"/>
              </a:rPr>
              <a:t>        把逻辑地址转换成物理地址的工作。</a:t>
            </a:r>
            <a:endParaRPr lang="zh-CN" altLang="en-US" sz="2400" b="1" dirty="0">
              <a:solidFill>
                <a:srgbClr val="000099"/>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32482"/>
                                        </p:tgtEl>
                                        <p:attrNameLst>
                                          <p:attrName>style.visibility</p:attrName>
                                        </p:attrNameLst>
                                      </p:cBhvr>
                                      <p:to>
                                        <p:strVal val="visible"/>
                                      </p:to>
                                    </p:set>
                                    <p:anim calcmode="lin" valueType="num">
                                      <p:cBhvr additive="base">
                                        <p:cTn id="7" dur="500" fill="hold"/>
                                        <p:tgtEl>
                                          <p:spTgt spid="532482"/>
                                        </p:tgtEl>
                                        <p:attrNameLst>
                                          <p:attrName>ppt_x</p:attrName>
                                        </p:attrNameLst>
                                      </p:cBhvr>
                                      <p:tavLst>
                                        <p:tav tm="0">
                                          <p:val>
                                            <p:strVal val="0-#ppt_w/2"/>
                                          </p:val>
                                        </p:tav>
                                        <p:tav tm="100000">
                                          <p:val>
                                            <p:strVal val="#ppt_x"/>
                                          </p:val>
                                        </p:tav>
                                      </p:tavLst>
                                    </p:anim>
                                    <p:anim calcmode="lin" valueType="num">
                                      <p:cBhvr additive="base">
                                        <p:cTn id="8" dur="500" fill="hold"/>
                                        <p:tgtEl>
                                          <p:spTgt spid="53248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32484"/>
                                        </p:tgtEl>
                                        <p:attrNameLst>
                                          <p:attrName>style.visibility</p:attrName>
                                        </p:attrNameLst>
                                      </p:cBhvr>
                                      <p:to>
                                        <p:strVal val="visible"/>
                                      </p:to>
                                    </p:set>
                                    <p:anim calcmode="lin" valueType="num">
                                      <p:cBhvr additive="base">
                                        <p:cTn id="13" dur="500" fill="hold"/>
                                        <p:tgtEl>
                                          <p:spTgt spid="532484"/>
                                        </p:tgtEl>
                                        <p:attrNameLst>
                                          <p:attrName>ppt_x</p:attrName>
                                        </p:attrNameLst>
                                      </p:cBhvr>
                                      <p:tavLst>
                                        <p:tav tm="0">
                                          <p:val>
                                            <p:strVal val="0-#ppt_w/2"/>
                                          </p:val>
                                        </p:tav>
                                        <p:tav tm="100000">
                                          <p:val>
                                            <p:strVal val="#ppt_x"/>
                                          </p:val>
                                        </p:tav>
                                      </p:tavLst>
                                    </p:anim>
                                    <p:anim calcmode="lin" valueType="num">
                                      <p:cBhvr additive="base">
                                        <p:cTn id="14" dur="500" fill="hold"/>
                                        <p:tgtEl>
                                          <p:spTgt spid="53248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32486"/>
                                        </p:tgtEl>
                                        <p:attrNameLst>
                                          <p:attrName>style.visibility</p:attrName>
                                        </p:attrNameLst>
                                      </p:cBhvr>
                                      <p:to>
                                        <p:strVal val="visible"/>
                                      </p:to>
                                    </p:set>
                                    <p:anim calcmode="lin" valueType="num">
                                      <p:cBhvr additive="base">
                                        <p:cTn id="19" dur="500" fill="hold"/>
                                        <p:tgtEl>
                                          <p:spTgt spid="532486"/>
                                        </p:tgtEl>
                                        <p:attrNameLst>
                                          <p:attrName>ppt_x</p:attrName>
                                        </p:attrNameLst>
                                      </p:cBhvr>
                                      <p:tavLst>
                                        <p:tav tm="0">
                                          <p:val>
                                            <p:strVal val="0-#ppt_w/2"/>
                                          </p:val>
                                        </p:tav>
                                        <p:tav tm="100000">
                                          <p:val>
                                            <p:strVal val="#ppt_x"/>
                                          </p:val>
                                        </p:tav>
                                      </p:tavLst>
                                    </p:anim>
                                    <p:anim calcmode="lin" valueType="num">
                                      <p:cBhvr additive="base">
                                        <p:cTn id="20" dur="500" fill="hold"/>
                                        <p:tgtEl>
                                          <p:spTgt spid="5324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82" grpId="0"/>
      <p:bldP spid="532484" grpId="0"/>
      <p:bldP spid="532486"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33506" name="Text Box 2"/>
          <p:cNvSpPr txBox="1"/>
          <p:nvPr/>
        </p:nvSpPr>
        <p:spPr>
          <a:xfrm>
            <a:off x="684213" y="836613"/>
            <a:ext cx="6553200" cy="13335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buClrTx/>
              <a:buSzTx/>
              <a:buFontTx/>
              <a:buNone/>
            </a:pPr>
            <a:r>
              <a:rPr lang="zh-CN" altLang="en-US" sz="2400" b="1" dirty="0">
                <a:solidFill>
                  <a:srgbClr val="800000"/>
                </a:solidFill>
                <a:ea typeface="楷体_GB2312" pitchFamily="49" charset="-122"/>
              </a:rPr>
              <a:t>地址映射方式：</a:t>
            </a:r>
            <a:endParaRPr lang="zh-CN" altLang="en-US" sz="2400" b="1" dirty="0">
              <a:solidFill>
                <a:srgbClr val="800000"/>
              </a:solidFill>
              <a:ea typeface="楷体_GB2312" pitchFamily="49" charset="-122"/>
            </a:endParaRPr>
          </a:p>
          <a:p>
            <a:pPr marL="0" lvl="0" indent="0" eaLnBrk="1" hangingPunct="1">
              <a:buClrTx/>
              <a:buSzTx/>
              <a:buFontTx/>
              <a:buNone/>
            </a:pPr>
            <a:r>
              <a:rPr lang="en-US" altLang="zh-CN" sz="2400" b="1" dirty="0">
                <a:solidFill>
                  <a:srgbClr val="009900"/>
                </a:solidFill>
                <a:ea typeface="楷体_GB2312" pitchFamily="49" charset="-122"/>
              </a:rPr>
              <a:t>1</a:t>
            </a:r>
            <a:r>
              <a:rPr lang="zh-CN" altLang="en-US" sz="2400" b="1" dirty="0">
                <a:solidFill>
                  <a:srgbClr val="009900"/>
                </a:solidFill>
                <a:ea typeface="楷体_GB2312" pitchFamily="49" charset="-122"/>
              </a:rPr>
              <a:t>）静态地址映射</a:t>
            </a:r>
            <a:endParaRPr lang="zh-CN" altLang="en-US" sz="2400" b="1" dirty="0">
              <a:solidFill>
                <a:srgbClr val="009900"/>
              </a:solidFill>
              <a:ea typeface="楷体_GB2312" pitchFamily="49" charset="-122"/>
            </a:endParaRPr>
          </a:p>
          <a:p>
            <a:pPr marL="0" lvl="0" indent="0" eaLnBrk="1" hangingPunct="1">
              <a:buClrTx/>
              <a:buSzTx/>
              <a:buFontTx/>
              <a:buNone/>
            </a:pPr>
            <a:r>
              <a:rPr lang="en-US" altLang="zh-CN" sz="2400" b="1" dirty="0">
                <a:solidFill>
                  <a:srgbClr val="009900"/>
                </a:solidFill>
                <a:ea typeface="楷体_GB2312" pitchFamily="49" charset="-122"/>
              </a:rPr>
              <a:t>2</a:t>
            </a:r>
            <a:r>
              <a:rPr lang="zh-CN" altLang="en-US" sz="2400" b="1" dirty="0">
                <a:solidFill>
                  <a:srgbClr val="009900"/>
                </a:solidFill>
                <a:ea typeface="楷体_GB2312" pitchFamily="49" charset="-122"/>
              </a:rPr>
              <a:t>）动态地址映射</a:t>
            </a:r>
            <a:endParaRPr lang="zh-CN" altLang="en-US" sz="2400" b="1" dirty="0">
              <a:solidFill>
                <a:srgbClr val="009900"/>
              </a:solidFill>
              <a:ea typeface="楷体_GB2312" pitchFamily="49" charset="-122"/>
            </a:endParaRPr>
          </a:p>
        </p:txBody>
      </p:sp>
      <p:sp>
        <p:nvSpPr>
          <p:cNvPr id="533507" name="Rectangle 3"/>
          <p:cNvSpPr/>
          <p:nvPr/>
        </p:nvSpPr>
        <p:spPr>
          <a:xfrm>
            <a:off x="755650" y="2205038"/>
            <a:ext cx="7777163"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lnSpc>
                <a:spcPct val="120000"/>
              </a:lnSpc>
              <a:buClrTx/>
              <a:buSzTx/>
              <a:buFontTx/>
              <a:buNone/>
            </a:pPr>
            <a:r>
              <a:rPr lang="zh-CN" altLang="en-US" sz="2400" b="1" dirty="0">
                <a:solidFill>
                  <a:srgbClr val="006600"/>
                </a:solidFill>
                <a:latin typeface="楷体_GB2312" pitchFamily="49" charset="-122"/>
                <a:ea typeface="楷体_GB2312" pitchFamily="49" charset="-122"/>
              </a:rPr>
              <a:t>分区式存储管理基本思想：</a:t>
            </a:r>
            <a:r>
              <a:rPr lang="zh-CN" altLang="en-US" sz="2400" b="1" dirty="0">
                <a:solidFill>
                  <a:srgbClr val="000099"/>
                </a:solidFill>
                <a:latin typeface="楷体_GB2312" pitchFamily="49" charset="-122"/>
                <a:ea typeface="楷体_GB2312" pitchFamily="49" charset="-122"/>
              </a:rPr>
              <a:t>把主存空间静态地或动态地划分为若干个大小不等的区域，每个作业分配一片连续的存储空间，程序一次性整体装入。 </a:t>
            </a:r>
            <a:endParaRPr lang="zh-CN" altLang="en-US" sz="2400" b="1" dirty="0">
              <a:solidFill>
                <a:srgbClr val="000099"/>
              </a:solidFill>
              <a:latin typeface="楷体_GB2312" pitchFamily="49" charset="-122"/>
              <a:ea typeface="楷体_GB2312" pitchFamily="49" charset="-122"/>
            </a:endParaRPr>
          </a:p>
        </p:txBody>
      </p:sp>
      <p:sp>
        <p:nvSpPr>
          <p:cNvPr id="533508" name="Rectangle 4"/>
          <p:cNvSpPr/>
          <p:nvPr/>
        </p:nvSpPr>
        <p:spPr>
          <a:xfrm>
            <a:off x="747713" y="3644900"/>
            <a:ext cx="8229600" cy="5302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eaLnBrk="1" hangingPunct="1">
              <a:lnSpc>
                <a:spcPct val="120000"/>
              </a:lnSpc>
              <a:buClrTx/>
              <a:buSzTx/>
              <a:buFontTx/>
              <a:buNone/>
            </a:pPr>
            <a:r>
              <a:rPr lang="zh-CN" altLang="en-US" sz="2400" b="1" dirty="0">
                <a:solidFill>
                  <a:srgbClr val="006600"/>
                </a:solidFill>
                <a:latin typeface="楷体_GB2312" pitchFamily="49" charset="-122"/>
                <a:ea typeface="楷体_GB2312" pitchFamily="49" charset="-122"/>
              </a:rPr>
              <a:t>分区式存储管理：</a:t>
            </a:r>
            <a:r>
              <a:rPr lang="zh-CN" altLang="en-US" sz="2400" b="1" dirty="0">
                <a:solidFill>
                  <a:srgbClr val="000099"/>
                </a:solidFill>
                <a:latin typeface="楷体_GB2312" pitchFamily="49" charset="-122"/>
                <a:ea typeface="楷体_GB2312" pitchFamily="49" charset="-122"/>
              </a:rPr>
              <a:t>固定分区存储管理、可变分区存储管理。 </a:t>
            </a:r>
            <a:endParaRPr lang="zh-CN" altLang="en-US" sz="2400" b="1" dirty="0">
              <a:solidFill>
                <a:srgbClr val="000099"/>
              </a:solidFill>
              <a:latin typeface="楷体_GB2312" pitchFamily="49" charset="-122"/>
              <a:ea typeface="楷体_GB2312" pitchFamily="49" charset="-122"/>
            </a:endParaRPr>
          </a:p>
        </p:txBody>
      </p:sp>
      <p:sp>
        <p:nvSpPr>
          <p:cNvPr id="533509" name="Rectangle 5"/>
          <p:cNvSpPr/>
          <p:nvPr/>
        </p:nvSpPr>
        <p:spPr>
          <a:xfrm>
            <a:off x="827088" y="4292600"/>
            <a:ext cx="5670550" cy="2063750"/>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800000"/>
                </a:solidFill>
                <a:ea typeface="楷体_GB2312" pitchFamily="49" charset="-122"/>
              </a:rPr>
              <a:t>放置策略：自由链中空闲区的排序原则。</a:t>
            </a:r>
            <a:endParaRPr lang="zh-CN" altLang="en-US" sz="2400" b="1" dirty="0">
              <a:solidFill>
                <a:srgbClr val="800000"/>
              </a:solidFill>
              <a:ea typeface="楷体_GB2312" pitchFamily="49" charset="-122"/>
            </a:endParaRPr>
          </a:p>
          <a:p>
            <a:pPr marL="0" lvl="0" indent="0" eaLnBrk="1" hangingPunct="1">
              <a:lnSpc>
                <a:spcPct val="120000"/>
              </a:lnSpc>
              <a:buClrTx/>
              <a:buSzTx/>
              <a:buFontTx/>
              <a:buNone/>
            </a:pPr>
            <a:r>
              <a:rPr lang="zh-CN" altLang="en-US" sz="2400" b="1" dirty="0">
                <a:solidFill>
                  <a:srgbClr val="800000"/>
                </a:solidFill>
                <a:ea typeface="楷体_GB2312" pitchFamily="49" charset="-122"/>
              </a:rPr>
              <a:t>最佳适应算法</a:t>
            </a:r>
            <a:endParaRPr lang="zh-CN" altLang="en-US" sz="2400" b="1" dirty="0">
              <a:solidFill>
                <a:srgbClr val="800000"/>
              </a:solidFill>
              <a:ea typeface="楷体_GB2312" pitchFamily="49" charset="-122"/>
            </a:endParaRPr>
          </a:p>
          <a:p>
            <a:pPr marL="0" lvl="0" indent="0" eaLnBrk="1" hangingPunct="1">
              <a:lnSpc>
                <a:spcPct val="120000"/>
              </a:lnSpc>
              <a:buClrTx/>
              <a:buSzTx/>
              <a:buFontTx/>
              <a:buNone/>
            </a:pPr>
            <a:r>
              <a:rPr lang="zh-CN" altLang="en-US" sz="2400" b="1" dirty="0">
                <a:solidFill>
                  <a:srgbClr val="800000"/>
                </a:solidFill>
                <a:ea typeface="楷体_GB2312" pitchFamily="49" charset="-122"/>
              </a:rPr>
              <a:t>最坏适应算法</a:t>
            </a:r>
            <a:endParaRPr lang="zh-CN" altLang="en-US" sz="2400" b="1" dirty="0">
              <a:solidFill>
                <a:srgbClr val="800000"/>
              </a:solidFill>
              <a:ea typeface="楷体_GB2312" pitchFamily="49" charset="-122"/>
            </a:endParaRPr>
          </a:p>
          <a:p>
            <a:pPr marL="0" lvl="0" indent="0" eaLnBrk="1" hangingPunct="1">
              <a:lnSpc>
                <a:spcPct val="120000"/>
              </a:lnSpc>
              <a:buClrTx/>
              <a:buSzTx/>
              <a:buFontTx/>
              <a:buNone/>
            </a:pPr>
            <a:r>
              <a:rPr lang="zh-CN" altLang="en-US" sz="2400" b="1" dirty="0">
                <a:solidFill>
                  <a:srgbClr val="800000"/>
                </a:solidFill>
                <a:ea typeface="楷体_GB2312" pitchFamily="49" charset="-122"/>
              </a:rPr>
              <a:t>首次适应算法</a:t>
            </a:r>
            <a:endParaRPr lang="zh-CN" altLang="en-US" sz="2400" b="1" dirty="0">
              <a:solidFill>
                <a:srgbClr val="800000"/>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33506"/>
                                        </p:tgtEl>
                                        <p:attrNameLst>
                                          <p:attrName>style.visibility</p:attrName>
                                        </p:attrNameLst>
                                      </p:cBhvr>
                                      <p:to>
                                        <p:strVal val="visible"/>
                                      </p:to>
                                    </p:set>
                                    <p:anim calcmode="lin" valueType="num">
                                      <p:cBhvr additive="base">
                                        <p:cTn id="7" dur="500" fill="hold"/>
                                        <p:tgtEl>
                                          <p:spTgt spid="533506"/>
                                        </p:tgtEl>
                                        <p:attrNameLst>
                                          <p:attrName>ppt_x</p:attrName>
                                        </p:attrNameLst>
                                      </p:cBhvr>
                                      <p:tavLst>
                                        <p:tav tm="0">
                                          <p:val>
                                            <p:strVal val="0-#ppt_w/2"/>
                                          </p:val>
                                        </p:tav>
                                        <p:tav tm="100000">
                                          <p:val>
                                            <p:strVal val="#ppt_x"/>
                                          </p:val>
                                        </p:tav>
                                      </p:tavLst>
                                    </p:anim>
                                    <p:anim calcmode="lin" valueType="num">
                                      <p:cBhvr additive="base">
                                        <p:cTn id="8" dur="500" fill="hold"/>
                                        <p:tgtEl>
                                          <p:spTgt spid="53350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33507"/>
                                        </p:tgtEl>
                                        <p:attrNameLst>
                                          <p:attrName>style.visibility</p:attrName>
                                        </p:attrNameLst>
                                      </p:cBhvr>
                                      <p:to>
                                        <p:strVal val="visible"/>
                                      </p:to>
                                    </p:set>
                                    <p:anim calcmode="lin" valueType="num">
                                      <p:cBhvr additive="base">
                                        <p:cTn id="13" dur="500" fill="hold"/>
                                        <p:tgtEl>
                                          <p:spTgt spid="533507"/>
                                        </p:tgtEl>
                                        <p:attrNameLst>
                                          <p:attrName>ppt_x</p:attrName>
                                        </p:attrNameLst>
                                      </p:cBhvr>
                                      <p:tavLst>
                                        <p:tav tm="0">
                                          <p:val>
                                            <p:strVal val="0-#ppt_w/2"/>
                                          </p:val>
                                        </p:tav>
                                        <p:tav tm="100000">
                                          <p:val>
                                            <p:strVal val="#ppt_x"/>
                                          </p:val>
                                        </p:tav>
                                      </p:tavLst>
                                    </p:anim>
                                    <p:anim calcmode="lin" valueType="num">
                                      <p:cBhvr additive="base">
                                        <p:cTn id="14" dur="500" fill="hold"/>
                                        <p:tgtEl>
                                          <p:spTgt spid="53350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33508"/>
                                        </p:tgtEl>
                                        <p:attrNameLst>
                                          <p:attrName>style.visibility</p:attrName>
                                        </p:attrNameLst>
                                      </p:cBhvr>
                                      <p:to>
                                        <p:strVal val="visible"/>
                                      </p:to>
                                    </p:set>
                                    <p:anim calcmode="lin" valueType="num">
                                      <p:cBhvr additive="base">
                                        <p:cTn id="19" dur="500" fill="hold"/>
                                        <p:tgtEl>
                                          <p:spTgt spid="533508"/>
                                        </p:tgtEl>
                                        <p:attrNameLst>
                                          <p:attrName>ppt_x</p:attrName>
                                        </p:attrNameLst>
                                      </p:cBhvr>
                                      <p:tavLst>
                                        <p:tav tm="0">
                                          <p:val>
                                            <p:strVal val="0-#ppt_w/2"/>
                                          </p:val>
                                        </p:tav>
                                        <p:tav tm="100000">
                                          <p:val>
                                            <p:strVal val="#ppt_x"/>
                                          </p:val>
                                        </p:tav>
                                      </p:tavLst>
                                    </p:anim>
                                    <p:anim calcmode="lin" valueType="num">
                                      <p:cBhvr additive="base">
                                        <p:cTn id="20" dur="500" fill="hold"/>
                                        <p:tgtEl>
                                          <p:spTgt spid="53350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33509"/>
                                        </p:tgtEl>
                                        <p:attrNameLst>
                                          <p:attrName>style.visibility</p:attrName>
                                        </p:attrNameLst>
                                      </p:cBhvr>
                                      <p:to>
                                        <p:strVal val="visible"/>
                                      </p:to>
                                    </p:set>
                                    <p:anim calcmode="lin" valueType="num">
                                      <p:cBhvr additive="base">
                                        <p:cTn id="25" dur="500" fill="hold"/>
                                        <p:tgtEl>
                                          <p:spTgt spid="533509"/>
                                        </p:tgtEl>
                                        <p:attrNameLst>
                                          <p:attrName>ppt_x</p:attrName>
                                        </p:attrNameLst>
                                      </p:cBhvr>
                                      <p:tavLst>
                                        <p:tav tm="0">
                                          <p:val>
                                            <p:strVal val="0-#ppt_w/2"/>
                                          </p:val>
                                        </p:tav>
                                        <p:tav tm="100000">
                                          <p:val>
                                            <p:strVal val="#ppt_x"/>
                                          </p:val>
                                        </p:tav>
                                      </p:tavLst>
                                    </p:anim>
                                    <p:anim calcmode="lin" valueType="num">
                                      <p:cBhvr additive="base">
                                        <p:cTn id="26" dur="500" fill="hold"/>
                                        <p:tgtEl>
                                          <p:spTgt spid="5335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6" grpId="0"/>
      <p:bldP spid="533507" grpId="0"/>
      <p:bldP spid="533508" grpId="0"/>
      <p:bldP spid="533509"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34530" name="Rectangle 2"/>
          <p:cNvSpPr/>
          <p:nvPr/>
        </p:nvSpPr>
        <p:spPr>
          <a:xfrm>
            <a:off x="768350" y="958850"/>
            <a:ext cx="7983538"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800000"/>
                </a:solidFill>
                <a:ea typeface="楷体_GB2312" pitchFamily="49" charset="-122"/>
              </a:rPr>
              <a:t>分页存储管理：</a:t>
            </a:r>
            <a:r>
              <a:rPr lang="zh-CN" altLang="en-US" sz="2400" b="1" dirty="0">
                <a:solidFill>
                  <a:srgbClr val="000099"/>
                </a:solidFill>
                <a:ea typeface="楷体_GB2312" pitchFamily="49" charset="-122"/>
              </a:rPr>
              <a:t>把作业也址空间分成固定大小的页，而把存储空间分成与页同等大小的存储块称页架。一个作业地址空间可以分配到不连续的存储块中。</a:t>
            </a:r>
            <a:endParaRPr lang="zh-CN" altLang="en-US" sz="2400" b="1" dirty="0">
              <a:solidFill>
                <a:srgbClr val="000099"/>
              </a:solidFill>
              <a:ea typeface="楷体_GB2312" pitchFamily="49" charset="-122"/>
            </a:endParaRPr>
          </a:p>
        </p:txBody>
      </p:sp>
      <p:sp>
        <p:nvSpPr>
          <p:cNvPr id="534538" name="Rectangle 10"/>
          <p:cNvSpPr/>
          <p:nvPr/>
        </p:nvSpPr>
        <p:spPr>
          <a:xfrm>
            <a:off x="684213" y="2492375"/>
            <a:ext cx="7848600"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eaLnBrk="1" hangingPunct="1">
              <a:lnSpc>
                <a:spcPct val="120000"/>
              </a:lnSpc>
              <a:buClrTx/>
              <a:buSzTx/>
              <a:buFontTx/>
              <a:buNone/>
              <a:tabLst>
                <a:tab pos="571500" algn="l"/>
              </a:tabLst>
            </a:pPr>
            <a:r>
              <a:rPr lang="zh-CN" altLang="en-US" sz="2400" b="1" dirty="0">
                <a:solidFill>
                  <a:srgbClr val="990033"/>
                </a:solidFill>
                <a:latin typeface="楷体_GB2312" pitchFamily="49" charset="-122"/>
                <a:ea typeface="楷体_GB2312" pitchFamily="49" charset="-122"/>
              </a:rPr>
              <a:t>分段式存储管理：</a:t>
            </a:r>
            <a:r>
              <a:rPr lang="zh-CN" altLang="en-US" sz="2400" b="1" dirty="0">
                <a:solidFill>
                  <a:srgbClr val="000099"/>
                </a:solidFill>
                <a:latin typeface="楷体_GB2312" pitchFamily="49" charset="-122"/>
                <a:ea typeface="楷体_GB2312" pitchFamily="49" charset="-122"/>
              </a:rPr>
              <a:t>用户程序按信息的逻辑关系分为段，存储分配时，以段为单位分配一片连续的存储空间。（以段为单位进行存储管理）</a:t>
            </a:r>
            <a:endParaRPr lang="zh-CN" altLang="en-US" sz="2400" b="1" dirty="0">
              <a:solidFill>
                <a:srgbClr val="000099"/>
              </a:solidFill>
              <a:latin typeface="楷体_GB2312" pitchFamily="49" charset="-122"/>
              <a:ea typeface="楷体_GB2312" pitchFamily="49" charset="-122"/>
            </a:endParaRPr>
          </a:p>
        </p:txBody>
      </p:sp>
      <p:sp>
        <p:nvSpPr>
          <p:cNvPr id="534539" name="Rectangle 11"/>
          <p:cNvSpPr/>
          <p:nvPr/>
        </p:nvSpPr>
        <p:spPr>
          <a:xfrm>
            <a:off x="755650" y="4005263"/>
            <a:ext cx="7704138" cy="1406525"/>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009900"/>
                </a:solidFill>
                <a:latin typeface="楷体_GB2312" pitchFamily="49" charset="-122"/>
                <a:ea typeface="楷体_GB2312" pitchFamily="49" charset="-122"/>
              </a:rPr>
              <a:t>段页式存储管理：</a:t>
            </a:r>
            <a:r>
              <a:rPr lang="zh-CN" altLang="en-US" sz="2400" b="1" dirty="0">
                <a:solidFill>
                  <a:srgbClr val="000099"/>
                </a:solidFill>
                <a:latin typeface="楷体_GB2312" pitchFamily="49" charset="-122"/>
                <a:ea typeface="楷体_GB2312" pitchFamily="49" charset="-122"/>
              </a:rPr>
              <a:t>作业的地址空间采用分段方式，而作业的每一段又采用分页方式。整个主存分成大小相等的块（页架），主存以块（页架）为单位分配给每个作业。</a:t>
            </a:r>
            <a:endParaRPr lang="zh-CN" altLang="en-US" sz="2400" b="1" dirty="0">
              <a:solidFill>
                <a:srgbClr val="000099"/>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34530"/>
                                        </p:tgtEl>
                                        <p:attrNameLst>
                                          <p:attrName>style.visibility</p:attrName>
                                        </p:attrNameLst>
                                      </p:cBhvr>
                                      <p:to>
                                        <p:strVal val="visible"/>
                                      </p:to>
                                    </p:set>
                                    <p:anim calcmode="lin" valueType="num">
                                      <p:cBhvr additive="base">
                                        <p:cTn id="7" dur="500" fill="hold"/>
                                        <p:tgtEl>
                                          <p:spTgt spid="534530"/>
                                        </p:tgtEl>
                                        <p:attrNameLst>
                                          <p:attrName>ppt_x</p:attrName>
                                        </p:attrNameLst>
                                      </p:cBhvr>
                                      <p:tavLst>
                                        <p:tav tm="0">
                                          <p:val>
                                            <p:strVal val="0-#ppt_w/2"/>
                                          </p:val>
                                        </p:tav>
                                        <p:tav tm="100000">
                                          <p:val>
                                            <p:strVal val="#ppt_x"/>
                                          </p:val>
                                        </p:tav>
                                      </p:tavLst>
                                    </p:anim>
                                    <p:anim calcmode="lin" valueType="num">
                                      <p:cBhvr additive="base">
                                        <p:cTn id="8" dur="500" fill="hold"/>
                                        <p:tgtEl>
                                          <p:spTgt spid="5345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34538"/>
                                        </p:tgtEl>
                                        <p:attrNameLst>
                                          <p:attrName>style.visibility</p:attrName>
                                        </p:attrNameLst>
                                      </p:cBhvr>
                                      <p:to>
                                        <p:strVal val="visible"/>
                                      </p:to>
                                    </p:set>
                                    <p:anim calcmode="lin" valueType="num">
                                      <p:cBhvr additive="base">
                                        <p:cTn id="13" dur="500" fill="hold"/>
                                        <p:tgtEl>
                                          <p:spTgt spid="534538"/>
                                        </p:tgtEl>
                                        <p:attrNameLst>
                                          <p:attrName>ppt_x</p:attrName>
                                        </p:attrNameLst>
                                      </p:cBhvr>
                                      <p:tavLst>
                                        <p:tav tm="0">
                                          <p:val>
                                            <p:strVal val="0-#ppt_w/2"/>
                                          </p:val>
                                        </p:tav>
                                        <p:tav tm="100000">
                                          <p:val>
                                            <p:strVal val="#ppt_x"/>
                                          </p:val>
                                        </p:tav>
                                      </p:tavLst>
                                    </p:anim>
                                    <p:anim calcmode="lin" valueType="num">
                                      <p:cBhvr additive="base">
                                        <p:cTn id="14" dur="500" fill="hold"/>
                                        <p:tgtEl>
                                          <p:spTgt spid="53453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34539"/>
                                        </p:tgtEl>
                                        <p:attrNameLst>
                                          <p:attrName>style.visibility</p:attrName>
                                        </p:attrNameLst>
                                      </p:cBhvr>
                                      <p:to>
                                        <p:strVal val="visible"/>
                                      </p:to>
                                    </p:set>
                                    <p:anim calcmode="lin" valueType="num">
                                      <p:cBhvr additive="base">
                                        <p:cTn id="19" dur="500" fill="hold"/>
                                        <p:tgtEl>
                                          <p:spTgt spid="534539"/>
                                        </p:tgtEl>
                                        <p:attrNameLst>
                                          <p:attrName>ppt_x</p:attrName>
                                        </p:attrNameLst>
                                      </p:cBhvr>
                                      <p:tavLst>
                                        <p:tav tm="0">
                                          <p:val>
                                            <p:strVal val="0-#ppt_w/2"/>
                                          </p:val>
                                        </p:tav>
                                        <p:tav tm="100000">
                                          <p:val>
                                            <p:strVal val="#ppt_x"/>
                                          </p:val>
                                        </p:tav>
                                      </p:tavLst>
                                    </p:anim>
                                    <p:anim calcmode="lin" valueType="num">
                                      <p:cBhvr additive="base">
                                        <p:cTn id="20" dur="500" fill="hold"/>
                                        <p:tgtEl>
                                          <p:spTgt spid="5345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0" grpId="0"/>
      <p:bldP spid="534538" grpId="0"/>
      <p:bldP spid="534539"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灯片编号占位符 3"/>
          <p:cNvSpPr txBox="1">
            <a:spLocks noGrp="1"/>
          </p:cNvSpPr>
          <p:nvPr>
            <p:ph type="sldNum" sz="quarter" idx="12"/>
          </p:nvPr>
        </p:nvSpPr>
        <p:spPr>
          <a:ln/>
        </p:spPr>
        <p:txBody>
          <a:bodyPr anchor="b" anchorCtr="0"/>
          <a:p>
            <a:pPr marL="0" indent="0" algn="r" eaLnBrk="1" hangingPunct="1">
              <a:spcBef>
                <a:spcPct val="0"/>
              </a:spcBef>
              <a:buClrTx/>
              <a:buSzTx/>
              <a:buFontTx/>
              <a:buNone/>
            </a:pPr>
            <a:fld id="{9A0DB2DC-4C9A-4742-B13C-FB6460FD3503}" type="slidenum">
              <a:rPr lang="en-US" altLang="zh-CN" sz="2400" dirty="0">
                <a:solidFill>
                  <a:schemeClr val="tx2"/>
                </a:solidFill>
              </a:rPr>
            </a:fld>
            <a:endParaRPr lang="en-US" altLang="zh-CN" sz="2400" dirty="0">
              <a:solidFill>
                <a:schemeClr val="tx2"/>
              </a:solidFill>
            </a:endParaRPr>
          </a:p>
        </p:txBody>
      </p:sp>
      <p:sp>
        <p:nvSpPr>
          <p:cNvPr id="535556" name="Rectangle 4"/>
          <p:cNvSpPr/>
          <p:nvPr/>
        </p:nvSpPr>
        <p:spPr>
          <a:xfrm>
            <a:off x="900113" y="1052513"/>
            <a:ext cx="7848600" cy="1041400"/>
          </a:xfrm>
          <a:prstGeom prst="rect">
            <a:avLst/>
          </a:prstGeom>
          <a:noFill/>
          <a:ln w="9525">
            <a:noFill/>
          </a:ln>
        </p:spPr>
        <p:txBody>
          <a:bodyPr>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algn="just" defTabSz="914400" eaLnBrk="1" hangingPunct="1">
              <a:lnSpc>
                <a:spcPct val="120000"/>
              </a:lnSpc>
              <a:buClrTx/>
              <a:buSzTx/>
              <a:buFontTx/>
              <a:buNone/>
              <a:tabLst>
                <a:tab pos="571500" algn="l"/>
              </a:tabLst>
            </a:pPr>
            <a:r>
              <a:rPr lang="zh-CN" altLang="en-US" sz="2400" b="1" dirty="0">
                <a:solidFill>
                  <a:srgbClr val="990033"/>
                </a:solidFill>
                <a:latin typeface="楷体_GB2312" pitchFamily="49" charset="-122"/>
                <a:ea typeface="楷体_GB2312" pitchFamily="49" charset="-122"/>
              </a:rPr>
              <a:t>分页式地址转换</a:t>
            </a:r>
            <a:endParaRPr lang="zh-CN" altLang="en-US" sz="2400" b="1" dirty="0">
              <a:solidFill>
                <a:srgbClr val="990033"/>
              </a:solidFill>
              <a:latin typeface="楷体_GB2312" pitchFamily="49" charset="-122"/>
              <a:ea typeface="楷体_GB2312" pitchFamily="49" charset="-122"/>
            </a:endParaRPr>
          </a:p>
          <a:p>
            <a:pPr marL="0" lvl="0" indent="0" algn="just" defTabSz="914400" eaLnBrk="1" hangingPunct="1">
              <a:lnSpc>
                <a:spcPct val="120000"/>
              </a:lnSpc>
              <a:buClrTx/>
              <a:buSzTx/>
              <a:buFontTx/>
              <a:buNone/>
              <a:tabLst>
                <a:tab pos="571500" algn="l"/>
              </a:tabLst>
            </a:pPr>
            <a:r>
              <a:rPr lang="zh-CN" altLang="en-US" sz="2400" b="1" dirty="0">
                <a:solidFill>
                  <a:srgbClr val="990033"/>
                </a:solidFill>
                <a:latin typeface="楷体_GB2312" pitchFamily="49" charset="-122"/>
                <a:ea typeface="楷体_GB2312" pitchFamily="49" charset="-122"/>
              </a:rPr>
              <a:t>分段式地址转换</a:t>
            </a:r>
            <a:endParaRPr lang="zh-CN" altLang="en-US" sz="2400" b="1" dirty="0">
              <a:solidFill>
                <a:srgbClr val="990033"/>
              </a:solidFill>
              <a:latin typeface="楷体_GB2312" pitchFamily="49" charset="-122"/>
              <a:ea typeface="楷体_GB2312" pitchFamily="49" charset="-122"/>
            </a:endParaRPr>
          </a:p>
        </p:txBody>
      </p:sp>
      <p:sp>
        <p:nvSpPr>
          <p:cNvPr id="535557" name="Rectangle 5"/>
          <p:cNvSpPr/>
          <p:nvPr/>
        </p:nvSpPr>
        <p:spPr>
          <a:xfrm>
            <a:off x="1004888" y="2276475"/>
            <a:ext cx="2622550" cy="530225"/>
          </a:xfrm>
          <a:prstGeom prst="rect">
            <a:avLst/>
          </a:prstGeom>
          <a:noFill/>
          <a:ln w="9525">
            <a:noFill/>
          </a:ln>
        </p:spPr>
        <p:txBody>
          <a:bodyPr wrap="none">
            <a:spAutoFit/>
          </a:bodyPr>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kumimoji="1" sz="3200" b="0">
                <a:solidFill>
                  <a:schemeClr val="tx1"/>
                </a:solidFill>
                <a:latin typeface="+mn-lt"/>
                <a:ea typeface="+mn-ea"/>
                <a:cs typeface="+mn-cs"/>
              </a:defRPr>
            </a:lvl1pPr>
            <a:lvl2pPr marL="1027430" indent="-455930" algn="l" rtl="0" eaLnBrk="0" fontAlgn="base" hangingPunct="0">
              <a:spcBef>
                <a:spcPct val="20000"/>
              </a:spcBef>
              <a:spcAft>
                <a:spcPct val="0"/>
              </a:spcAft>
              <a:buClr>
                <a:schemeClr val="accent2"/>
              </a:buClr>
              <a:buSzPct val="75000"/>
              <a:buFont typeface="Wingdings" panose="05000000000000000000" pitchFamily="2" charset="2"/>
              <a:buChar char="n"/>
              <a:defRPr kumimoji="1" sz="2800">
                <a:solidFill>
                  <a:schemeClr val="tx1"/>
                </a:solidFill>
                <a:latin typeface="+mn-lt"/>
                <a:ea typeface="+mn-ea"/>
              </a:defRPr>
            </a:lvl2pPr>
            <a:lvl3pPr marL="1370330" indent="-228600" algn="l" rtl="0" eaLnBrk="0" fontAlgn="base" hangingPunct="0">
              <a:spcBef>
                <a:spcPct val="20000"/>
              </a:spcBef>
              <a:spcAft>
                <a:spcPct val="0"/>
              </a:spcAft>
              <a:buClr>
                <a:srgbClr val="666699"/>
              </a:buClr>
              <a:buSzPct val="70000"/>
              <a:buFont typeface="Wingdings" panose="05000000000000000000" pitchFamily="2" charset="2"/>
              <a:buChar char="n"/>
              <a:defRPr kumimoji="1" sz="2400">
                <a:solidFill>
                  <a:schemeClr val="tx1"/>
                </a:solidFill>
                <a:latin typeface="+mn-lt"/>
                <a:ea typeface="+mn-ea"/>
              </a:defRPr>
            </a:lvl3pPr>
            <a:lvl4pPr marL="1713230" indent="-228600" algn="l" rtl="0" eaLnBrk="0" fontAlgn="base" hangingPunct="0">
              <a:spcBef>
                <a:spcPct val="20000"/>
              </a:spcBef>
              <a:spcAft>
                <a:spcPct val="0"/>
              </a:spcAft>
              <a:buSzPct val="60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55000"/>
              <a:buFont typeface="Wingdings" panose="05000000000000000000" pitchFamily="2" charset="2"/>
              <a:buChar char="n"/>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solidFill>
                  <a:srgbClr val="009900"/>
                </a:solidFill>
                <a:ea typeface="楷体_GB2312" pitchFamily="49" charset="-122"/>
              </a:rPr>
              <a:t>分页与分段的比较</a:t>
            </a:r>
            <a:endParaRPr lang="zh-CN" altLang="en-US" sz="2400" b="1" dirty="0">
              <a:solidFill>
                <a:srgbClr val="009900"/>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35556"/>
                                        </p:tgtEl>
                                        <p:attrNameLst>
                                          <p:attrName>style.visibility</p:attrName>
                                        </p:attrNameLst>
                                      </p:cBhvr>
                                      <p:to>
                                        <p:strVal val="visible"/>
                                      </p:to>
                                    </p:set>
                                    <p:anim calcmode="lin" valueType="num">
                                      <p:cBhvr additive="base">
                                        <p:cTn id="7" dur="500" fill="hold"/>
                                        <p:tgtEl>
                                          <p:spTgt spid="535556"/>
                                        </p:tgtEl>
                                        <p:attrNameLst>
                                          <p:attrName>ppt_x</p:attrName>
                                        </p:attrNameLst>
                                      </p:cBhvr>
                                      <p:tavLst>
                                        <p:tav tm="0">
                                          <p:val>
                                            <p:strVal val="0-#ppt_w/2"/>
                                          </p:val>
                                        </p:tav>
                                        <p:tav tm="100000">
                                          <p:val>
                                            <p:strVal val="#ppt_x"/>
                                          </p:val>
                                        </p:tav>
                                      </p:tavLst>
                                    </p:anim>
                                    <p:anim calcmode="lin" valueType="num">
                                      <p:cBhvr additive="base">
                                        <p:cTn id="8" dur="500" fill="hold"/>
                                        <p:tgtEl>
                                          <p:spTgt spid="5355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355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6" grpId="0"/>
      <p:bldP spid="535557" grpId="0"/>
    </p:bldLst>
  </p:timing>
</p:sld>
</file>

<file path=ppt/theme/theme1.xml><?xml version="1.0" encoding="utf-8"?>
<a:theme xmlns:a="http://schemas.openxmlformats.org/drawingml/2006/main" name="Nature">
  <a:themeElements>
    <a:clrScheme name="Nature 2">
      <a:dk1>
        <a:srgbClr val="5B5249"/>
      </a:dk1>
      <a:lt1>
        <a:srgbClr val="FFFFFF"/>
      </a:lt1>
      <a:dk2>
        <a:srgbClr val="2A3D7A"/>
      </a:dk2>
      <a:lt2>
        <a:srgbClr val="CEC8BA"/>
      </a:lt2>
      <a:accent1>
        <a:srgbClr val="C9DDF1"/>
      </a:accent1>
      <a:accent2>
        <a:srgbClr val="FAC164"/>
      </a:accent2>
      <a:accent3>
        <a:srgbClr val="FFFFFF"/>
      </a:accent3>
      <a:accent4>
        <a:srgbClr val="4C453D"/>
      </a:accent4>
      <a:accent5>
        <a:srgbClr val="E1EBF7"/>
      </a:accent5>
      <a:accent6>
        <a:srgbClr val="E3AF5A"/>
      </a:accent6>
      <a:hlink>
        <a:srgbClr val="B0AE6A"/>
      </a:hlink>
      <a:folHlink>
        <a:srgbClr val="C3E684"/>
      </a:folHlink>
    </a:clrScheme>
    <a:fontScheme name="Natur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spAutoFit/>
      </a:bodyPr>
      <a:lstStyle>
        <a:defPPr marL="0" marR="0" indent="0" algn="l" defTabSz="914400" rtl="0" eaLnBrk="1" fontAlgn="base" latinLnBrk="0" hangingPunct="1">
          <a:lnSpc>
            <a:spcPct val="115000"/>
          </a:lnSpc>
          <a:spcBef>
            <a:spcPct val="0"/>
          </a:spcBef>
          <a:spcAft>
            <a:spcPct val="0"/>
          </a:spcAft>
          <a:buClrTx/>
          <a:buSzTx/>
          <a:buFontTx/>
          <a:buNone/>
          <a:defRPr kumimoji="1" lang="zh-CN" altLang="en-US" sz="2400" b="1" i="0" u="none" strike="noStrike" cap="none" normalizeH="0" baseline="0" smtClean="0">
            <a:ln>
              <a:noFill/>
            </a:ln>
            <a:solidFill>
              <a:srgbClr val="000099"/>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spAutoFit/>
      </a:bodyPr>
      <a:lstStyle>
        <a:defPPr marL="0" marR="0" indent="0" algn="l" defTabSz="914400" rtl="0" eaLnBrk="1" fontAlgn="base" latinLnBrk="0" hangingPunct="1">
          <a:lnSpc>
            <a:spcPct val="115000"/>
          </a:lnSpc>
          <a:spcBef>
            <a:spcPct val="0"/>
          </a:spcBef>
          <a:spcAft>
            <a:spcPct val="0"/>
          </a:spcAft>
          <a:buClrTx/>
          <a:buSzTx/>
          <a:buFontTx/>
          <a:buNone/>
          <a:defRPr kumimoji="1" lang="zh-CN" altLang="en-US" sz="2400" b="1" i="0" u="none" strike="noStrike" cap="none" normalizeH="0" baseline="0" smtClean="0">
            <a:ln>
              <a:noFill/>
            </a:ln>
            <a:solidFill>
              <a:srgbClr val="000099"/>
            </a:solidFill>
            <a:effectLst/>
            <a:latin typeface="Times New Roman" panose="02020603050405020304" pitchFamily="18" charset="0"/>
            <a:ea typeface="楷体_GB2312" pitchFamily="49" charset="-122"/>
          </a:defRPr>
        </a:defPPr>
      </a:lstStyle>
    </a:lnDef>
  </a:objectDefaults>
  <a:extraClrSchemeLst>
    <a:extraClrScheme>
      <a:clrScheme name="Nature 1">
        <a:dk1>
          <a:srgbClr val="666699"/>
        </a:dk1>
        <a:lt1>
          <a:srgbClr val="FFFFCC"/>
        </a:lt1>
        <a:dk2>
          <a:srgbClr val="687FCA"/>
        </a:dk2>
        <a:lt2>
          <a:srgbClr val="192449"/>
        </a:lt2>
        <a:accent1>
          <a:srgbClr val="C9DDF1"/>
        </a:accent1>
        <a:accent2>
          <a:srgbClr val="FAC164"/>
        </a:accent2>
        <a:accent3>
          <a:srgbClr val="B9C0E1"/>
        </a:accent3>
        <a:accent4>
          <a:srgbClr val="DADAAE"/>
        </a:accent4>
        <a:accent5>
          <a:srgbClr val="E1EBF7"/>
        </a:accent5>
        <a:accent6>
          <a:srgbClr val="E3AF5A"/>
        </a:accent6>
        <a:hlink>
          <a:srgbClr val="B0AE6A"/>
        </a:hlink>
        <a:folHlink>
          <a:srgbClr val="C3E684"/>
        </a:folHlink>
      </a:clrScheme>
      <a:clrMap bg1="dk2" tx1="lt1" bg2="dk1" tx2="lt2" accent1="accent1" accent2="accent2" accent3="accent3" accent4="accent4" accent5="accent5" accent6="accent6" hlink="hlink" folHlink="folHlink"/>
    </a:extraClrScheme>
    <a:extraClrScheme>
      <a:clrScheme name="Nature 2">
        <a:dk1>
          <a:srgbClr val="5B5249"/>
        </a:dk1>
        <a:lt1>
          <a:srgbClr val="FFFFFF"/>
        </a:lt1>
        <a:dk2>
          <a:srgbClr val="2A3D7A"/>
        </a:dk2>
        <a:lt2>
          <a:srgbClr val="CEC8BA"/>
        </a:lt2>
        <a:accent1>
          <a:srgbClr val="C9DDF1"/>
        </a:accent1>
        <a:accent2>
          <a:srgbClr val="FAC164"/>
        </a:accent2>
        <a:accent3>
          <a:srgbClr val="FFFFFF"/>
        </a:accent3>
        <a:accent4>
          <a:srgbClr val="4C453D"/>
        </a:accent4>
        <a:accent5>
          <a:srgbClr val="E1EBF7"/>
        </a:accent5>
        <a:accent6>
          <a:srgbClr val="E3AF5A"/>
        </a:accent6>
        <a:hlink>
          <a:srgbClr val="B0AE6A"/>
        </a:hlink>
        <a:folHlink>
          <a:srgbClr val="C3E684"/>
        </a:folHlink>
      </a:clrScheme>
      <a:clrMap bg1="lt1" tx1="dk1" bg2="lt2" tx2="dk2" accent1="accent1" accent2="accent2" accent3="accent3" accent4="accent4" accent5="accent5" accent6="accent6" hlink="hlink" folHlink="folHlink"/>
    </a:extraClrScheme>
    <a:extraClrScheme>
      <a:clrScheme name="Nature 3">
        <a:dk1>
          <a:srgbClr val="333333"/>
        </a:dk1>
        <a:lt1>
          <a:srgbClr val="FFFFFF"/>
        </a:lt1>
        <a:dk2>
          <a:srgbClr val="000000"/>
        </a:dk2>
        <a:lt2>
          <a:srgbClr val="DDDDDD"/>
        </a:lt2>
        <a:accent1>
          <a:srgbClr val="DDDDDD"/>
        </a:accent1>
        <a:accent2>
          <a:srgbClr val="B2B2B2"/>
        </a:accent2>
        <a:accent3>
          <a:srgbClr val="FFFFFF"/>
        </a:accent3>
        <a:accent4>
          <a:srgbClr val="2A2A2A"/>
        </a:accent4>
        <a:accent5>
          <a:srgbClr val="EBEBEB"/>
        </a:accent5>
        <a:accent6>
          <a:srgbClr val="A1A1A1"/>
        </a:accent6>
        <a:hlink>
          <a:srgbClr val="808080"/>
        </a:hlink>
        <a:folHlink>
          <a:srgbClr val="5F5F5F"/>
        </a:folHlink>
      </a:clrScheme>
      <a:clrMap bg1="lt1" tx1="dk1" bg2="lt2" tx2="dk2" accent1="accent1" accent2="accent2" accent3="accent3" accent4="accent4" accent5="accent5" accent6="accent6" hlink="hlink" folHlink="folHlink"/>
    </a:extraClrScheme>
    <a:extraClrScheme>
      <a:clrScheme name="Nature 4">
        <a:dk1>
          <a:srgbClr val="8061A5"/>
        </a:dk1>
        <a:lt1>
          <a:srgbClr val="FFFFCC"/>
        </a:lt1>
        <a:dk2>
          <a:srgbClr val="967DB5"/>
        </a:dk2>
        <a:lt2>
          <a:srgbClr val="192449"/>
        </a:lt2>
        <a:accent1>
          <a:srgbClr val="D6C9F1"/>
        </a:accent1>
        <a:accent2>
          <a:srgbClr val="FAC164"/>
        </a:accent2>
        <a:accent3>
          <a:srgbClr val="C9BFD7"/>
        </a:accent3>
        <a:accent4>
          <a:srgbClr val="DADAAE"/>
        </a:accent4>
        <a:accent5>
          <a:srgbClr val="E8E1F7"/>
        </a:accent5>
        <a:accent6>
          <a:srgbClr val="E3AF5A"/>
        </a:accent6>
        <a:hlink>
          <a:srgbClr val="B0AE6A"/>
        </a:hlink>
        <a:folHlink>
          <a:srgbClr val="C3E684"/>
        </a:folHlink>
      </a:clrScheme>
      <a:clrMap bg1="dk2" tx1="lt1" bg2="dk1" tx2="lt2" accent1="accent1" accent2="accent2" accent3="accent3" accent4="accent4" accent5="accent5" accent6="accent6" hlink="hlink" folHlink="folHlink"/>
    </a:extraClrScheme>
    <a:extraClrScheme>
      <a:clrScheme name="Nature 5">
        <a:dk1>
          <a:srgbClr val="5B5249"/>
        </a:dk1>
        <a:lt1>
          <a:srgbClr val="FFFFFF"/>
        </a:lt1>
        <a:dk2>
          <a:srgbClr val="2A3D7A"/>
        </a:dk2>
        <a:lt2>
          <a:srgbClr val="CEC8BA"/>
        </a:lt2>
        <a:accent1>
          <a:srgbClr val="C9DDF1"/>
        </a:accent1>
        <a:accent2>
          <a:srgbClr val="FAC164"/>
        </a:accent2>
        <a:accent3>
          <a:srgbClr val="FFFFFF"/>
        </a:accent3>
        <a:accent4>
          <a:srgbClr val="4C453D"/>
        </a:accent4>
        <a:accent5>
          <a:srgbClr val="E1EBF7"/>
        </a:accent5>
        <a:accent6>
          <a:srgbClr val="E3AF5A"/>
        </a:accent6>
        <a:hlink>
          <a:srgbClr val="993333"/>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Designs\Nature.pot</Template>
  <TotalTime>0</TotalTime>
  <Words>19383</Words>
  <Application>WPS 演示</Application>
  <PresentationFormat/>
  <Paragraphs>2228</Paragraphs>
  <Slides>125</Slides>
  <Notes>0</Notes>
  <HiddenSlides>4</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17</vt:i4>
      </vt:variant>
      <vt:variant>
        <vt:lpstr>幻灯片标题</vt:lpstr>
      </vt:variant>
      <vt:variant>
        <vt:i4>125</vt:i4>
      </vt:variant>
    </vt:vector>
  </HeadingPairs>
  <TitlesOfParts>
    <vt:vector size="155" baseType="lpstr">
      <vt:lpstr>Arial</vt:lpstr>
      <vt:lpstr>宋体</vt:lpstr>
      <vt:lpstr>Wingdings</vt:lpstr>
      <vt:lpstr>Times New Roman</vt:lpstr>
      <vt:lpstr>楷体_GB2312</vt:lpstr>
      <vt:lpstr>新宋体</vt:lpstr>
      <vt:lpstr>隶书</vt:lpstr>
      <vt:lpstr>黑体</vt:lpstr>
      <vt:lpstr>Batang</vt:lpstr>
      <vt:lpstr>Constantia</vt:lpstr>
      <vt:lpstr>微软雅黑</vt:lpstr>
      <vt:lpstr>Arial Unicode MS</vt:lpstr>
      <vt:lpstr>Nature</vt:lpstr>
      <vt:lpstr>Visio.Drawing.4</vt:lpstr>
      <vt:lpstr>Paint.Picture</vt:lpstr>
      <vt:lpstr>Equation.3</vt:lpstr>
      <vt:lpstr>Visio.Drawing.4</vt:lpstr>
      <vt:lpstr>Visio.Drawing.4</vt:lpstr>
      <vt:lpstr>Paint.Picture</vt:lpstr>
      <vt:lpstr>Paint.Picture</vt:lpstr>
      <vt:lpstr>Paint.Picture</vt:lpstr>
      <vt:lpstr>Paint.Picture</vt:lpstr>
      <vt:lpstr>Paint.Picture</vt:lpstr>
      <vt:lpstr>Visio.Drawing.4</vt:lpstr>
      <vt:lpstr>Paint.Picture</vt:lpstr>
      <vt:lpstr>Paint.Picture</vt:lpstr>
      <vt:lpstr>Paint.Picture</vt:lpstr>
      <vt:lpstr>Visio.Drawing.4</vt:lpstr>
      <vt:lpstr>Visio.Drawing.4</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方昀</dc:creator>
  <cp:lastModifiedBy>肖继海</cp:lastModifiedBy>
  <cp:revision>350</cp:revision>
  <dcterms:created xsi:type="dcterms:W3CDTF">2003-09-26T00:08:36Z</dcterms:created>
  <dcterms:modified xsi:type="dcterms:W3CDTF">2024-12-05T08:23:48Z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D0E9463F5476425EA732459228B322B8_12</vt:lpwstr>
  </property>
  <property fmtid="{D5CDD505-2E9C-101B-9397-08002B2CF9AE}" pid="3" name="KSOProductBuildVer">
    <vt:lpwstr>2052-12.1.0.18912</vt:lpwstr>
  </property>
</Properties>
</file>