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sldIdLst>
    <p:sldId id="256" r:id="rId3"/>
    <p:sldId id="295" r:id="rId4"/>
    <p:sldId id="426" r:id="rId5"/>
    <p:sldId id="427" r:id="rId6"/>
    <p:sldId id="313" r:id="rId7"/>
    <p:sldId id="314" r:id="rId8"/>
    <p:sldId id="311" r:id="rId9"/>
    <p:sldId id="312" r:id="rId10"/>
    <p:sldId id="447" r:id="rId11"/>
    <p:sldId id="315" r:id="rId12"/>
    <p:sldId id="316" r:id="rId13"/>
    <p:sldId id="429" r:id="rId14"/>
    <p:sldId id="364" r:id="rId15"/>
    <p:sldId id="401" r:id="rId16"/>
    <p:sldId id="430" r:id="rId17"/>
    <p:sldId id="296" r:id="rId18"/>
    <p:sldId id="297" r:id="rId19"/>
    <p:sldId id="355" r:id="rId20"/>
    <p:sldId id="298" r:id="rId21"/>
    <p:sldId id="299" r:id="rId22"/>
    <p:sldId id="431" r:id="rId23"/>
    <p:sldId id="432" r:id="rId24"/>
    <p:sldId id="436" r:id="rId26"/>
    <p:sldId id="437" r:id="rId27"/>
    <p:sldId id="438" r:id="rId28"/>
    <p:sldId id="441" r:id="rId29"/>
    <p:sldId id="300" r:id="rId30"/>
    <p:sldId id="433" r:id="rId31"/>
    <p:sldId id="434" r:id="rId32"/>
    <p:sldId id="301" r:id="rId33"/>
    <p:sldId id="318" r:id="rId34"/>
    <p:sldId id="317" r:id="rId35"/>
    <p:sldId id="435" r:id="rId36"/>
    <p:sldId id="439" r:id="rId37"/>
    <p:sldId id="302" r:id="rId38"/>
    <p:sldId id="319" r:id="rId39"/>
    <p:sldId id="303" r:id="rId40"/>
    <p:sldId id="304" r:id="rId41"/>
    <p:sldId id="305" r:id="rId42"/>
    <p:sldId id="306" r:id="rId43"/>
    <p:sldId id="320" r:id="rId44"/>
    <p:sldId id="321" r:id="rId45"/>
    <p:sldId id="356" r:id="rId46"/>
    <p:sldId id="307" r:id="rId47"/>
    <p:sldId id="442" r:id="rId48"/>
    <p:sldId id="443" r:id="rId49"/>
    <p:sldId id="444" r:id="rId50"/>
    <p:sldId id="445" r:id="rId51"/>
    <p:sldId id="357" r:id="rId52"/>
    <p:sldId id="324" r:id="rId53"/>
    <p:sldId id="326" r:id="rId54"/>
    <p:sldId id="327" r:id="rId55"/>
    <p:sldId id="323" r:id="rId56"/>
    <p:sldId id="308" r:id="rId57"/>
    <p:sldId id="329" r:id="rId58"/>
    <p:sldId id="440" r:id="rId59"/>
    <p:sldId id="448" r:id="rId60"/>
    <p:sldId id="446" r:id="rId61"/>
    <p:sldId id="358" r:id="rId62"/>
    <p:sldId id="331" r:id="rId63"/>
    <p:sldId id="332" r:id="rId64"/>
    <p:sldId id="333" r:id="rId65"/>
    <p:sldId id="334" r:id="rId66"/>
    <p:sldId id="335" r:id="rId67"/>
    <p:sldId id="336" r:id="rId68"/>
    <p:sldId id="337" r:id="rId69"/>
    <p:sldId id="359" r:id="rId70"/>
    <p:sldId id="338" r:id="rId71"/>
    <p:sldId id="340" r:id="rId72"/>
    <p:sldId id="341" r:id="rId73"/>
    <p:sldId id="342" r:id="rId74"/>
    <p:sldId id="343" r:id="rId75"/>
    <p:sldId id="344" r:id="rId76"/>
    <p:sldId id="345" r:id="rId77"/>
    <p:sldId id="346" r:id="rId78"/>
    <p:sldId id="347" r:id="rId79"/>
    <p:sldId id="348" r:id="rId80"/>
    <p:sldId id="360" r:id="rId81"/>
    <p:sldId id="328" r:id="rId82"/>
    <p:sldId id="350" r:id="rId83"/>
    <p:sldId id="351" r:id="rId84"/>
    <p:sldId id="353" r:id="rId85"/>
    <p:sldId id="361" r:id="rId86"/>
    <p:sldId id="354" r:id="rId87"/>
    <p:sldId id="261" r:id="rId88"/>
  </p:sldIdLst>
  <p:sldSz cx="12192000" cy="6858000"/>
  <p:notesSz cx="6858000" cy="9144000"/>
  <p:custDataLst>
    <p:tags r:id="rId9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5C"/>
    <a:srgbClr val="06D24C"/>
    <a:srgbClr val="035920"/>
    <a:srgbClr val="F6F5F3"/>
    <a:srgbClr val="04862F"/>
    <a:srgbClr val="07DB4E"/>
    <a:srgbClr val="08396E"/>
    <a:srgbClr val="0519AB"/>
    <a:srgbClr val="06BE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182" autoAdjust="0"/>
  </p:normalViewPr>
  <p:slideViewPr>
    <p:cSldViewPr snapToGrid="0" showGuides="1">
      <p:cViewPr varScale="1">
        <p:scale>
          <a:sx n="112" d="100"/>
          <a:sy n="112" d="100"/>
        </p:scale>
        <p:origin x="456" y="-192"/>
      </p:cViewPr>
      <p:guideLst>
        <p:guide orient="horz" pos="2160"/>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gs" Target="tags/tag18.xml"/><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7.xml"/><Relationship Id="rId89" Type="http://schemas.openxmlformats.org/officeDocument/2006/relationships/presProps" Target="presProps.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D0016"/>
                </a:solidFill>
                <a:effectLst/>
                <a:latin typeface="-apple-system"/>
              </a:rPr>
              <a:t>操作员把用户提交的作业分类，把一批中的作业编成一个作业执行序列。每一批作业将有专门编制的监督程序自动依次处理。</a:t>
            </a:r>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47625" y="341754"/>
            <a:ext cx="12239625"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8377B416-7C1C-4EB5-81DE-D94CB008A4CE}" type="slidenum">
              <a:rPr lang="en-US" altLang="zh-CN"/>
            </a:fld>
            <a:endParaRPr lang="en-US" altLang="zh-CN"/>
          </a:p>
        </p:txBody>
      </p:sp>
    </p:spTree>
  </p:cSld>
  <p:clrMapOvr>
    <a:masterClrMapping/>
  </p:clrMapOvr>
  <p:transition spd="slow">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5.xml"/><Relationship Id="rId2" Type="http://schemas.openxmlformats.org/officeDocument/2006/relationships/image" Target="../media/image11.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hyperlink" Target="https://baike.baidu.com/item/%E8%BE%93%E5%87%BA%E8%AE%BE%E5%A4%87" TargetMode="External"/><Relationship Id="rId2" Type="http://schemas.openxmlformats.org/officeDocument/2006/relationships/hyperlink" Target="https://baike.baidu.com/item/%E4%B8%BB%E6%9C%BA" TargetMode="External"/><Relationship Id="rId1" Type="http://schemas.openxmlformats.org/officeDocument/2006/relationships/hyperlink" Target="https://baike.baidu.com/item/%E8%84%B1%E6%9C%BA%E6%89%B9%E5%A4%84%E7%90%86%E7%B3%BB%E7%BB%9F" TargetMode="Externa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jpeg"/><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17.wmf"/><Relationship Id="rId1" Type="http://schemas.openxmlformats.org/officeDocument/2006/relationships/oleObject" Target="../embeddings/oleObject3.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jpeg"/><Relationship Id="rId1" Type="http://schemas.openxmlformats.org/officeDocument/2006/relationships/tags" Target="../tags/tag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emf"/><Relationship Id="rId1" Type="http://schemas.openxmlformats.org/officeDocument/2006/relationships/image" Target="../media/image21.w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0.jpeg"/><Relationship Id="rId3" Type="http://schemas.openxmlformats.org/officeDocument/2006/relationships/image" Target="../media/image16.jpeg"/><Relationship Id="rId2" Type="http://schemas.openxmlformats.org/officeDocument/2006/relationships/image" Target="../media/image25.jpeg"/><Relationship Id="rId1" Type="http://schemas.openxmlformats.org/officeDocument/2006/relationships/tags" Target="../tags/tag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jpeg"/><Relationship Id="rId1" Type="http://schemas.openxmlformats.org/officeDocument/2006/relationships/tags" Target="../tags/tag1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jpeg"/></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0.jpeg"/><Relationship Id="rId3" Type="http://schemas.openxmlformats.org/officeDocument/2006/relationships/image" Target="../media/image16.jpeg"/><Relationship Id="rId2" Type="http://schemas.openxmlformats.org/officeDocument/2006/relationships/image" Target="../media/image25.jpeg"/><Relationship Id="rId1" Type="http://schemas.openxmlformats.org/officeDocument/2006/relationships/tags" Target="../tags/tag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3.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9.png"/><Relationship Id="rId1"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计算机操作系统</a:t>
            </a:r>
            <a:endParaRPr lang="zh-CN" altLang="en-US" sz="2000" b="0" dirty="0"/>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9684121" y="5993053"/>
            <a:ext cx="2074491" cy="431799"/>
          </a:xfrm>
          <a:prstGeom prst="rect">
            <a:avLst/>
          </a:prstGeom>
        </p:spPr>
      </p:pic>
      <p:sp>
        <p:nvSpPr>
          <p:cNvPr id="22"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主讲教师：崔晓红</a:t>
            </a:r>
            <a:endParaRPr lang="en-US" altLang="zh-CN" b="1" dirty="0">
              <a:solidFill>
                <a:schemeClr val="tx1"/>
              </a:solidFill>
            </a:endParaRPr>
          </a:p>
        </p:txBody>
      </p:sp>
      <p:pic>
        <p:nvPicPr>
          <p:cNvPr id="25" name="图片 2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7" name="矩形 6"/>
          <p:cNvSpPr/>
          <p:nvPr/>
        </p:nvSpPr>
        <p:spPr>
          <a:xfrm>
            <a:off x="1243012" y="589418"/>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1" name="图片 10"/>
          <p:cNvPicPr>
            <a:picLocks noChangeAspect="1"/>
          </p:cNvPicPr>
          <p:nvPr/>
        </p:nvPicPr>
        <p:blipFill>
          <a:blip r:embed="rId4"/>
          <a:stretch>
            <a:fillRect/>
          </a:stretch>
        </p:blipFill>
        <p:spPr>
          <a:xfrm>
            <a:off x="7055100" y="844791"/>
            <a:ext cx="3007096" cy="4261541"/>
          </a:xfrm>
          <a:prstGeom prst="rect">
            <a:avLst/>
          </a:prstGeom>
        </p:spPr>
      </p:pic>
      <p:sp>
        <p:nvSpPr>
          <p:cNvPr id="6" name="矩形 5"/>
          <p:cNvSpPr/>
          <p:nvPr/>
        </p:nvSpPr>
        <p:spPr>
          <a:xfrm>
            <a:off x="933065" y="5405482"/>
            <a:ext cx="6122035" cy="456565"/>
          </a:xfrm>
          <a:prstGeom prst="rect">
            <a:avLst/>
          </a:prstGeom>
        </p:spPr>
        <p:txBody>
          <a:bodyPr wrap="square">
            <a:spAutoFit/>
          </a:bodyPr>
          <a:lstStyle/>
          <a:p>
            <a:pPr algn="l">
              <a:lnSpc>
                <a:spcPct val="132000"/>
              </a:lnSpc>
            </a:pPr>
            <a:r>
              <a:rPr lang="zh-CN" altLang="en-US" dirty="0">
                <a:solidFill>
                  <a:srgbClr val="0000FF"/>
                </a:solidFill>
                <a:latin typeface="Times New Roman" panose="02020603050405020304" charset="0"/>
                <a:ea typeface="微软雅黑" panose="020B0503020204020204" pitchFamily="34" charset="-122"/>
                <a:cs typeface="+mn-ea"/>
                <a:sym typeface="Times New Roman" panose="02020603050405020304" charset="0"/>
              </a:rPr>
              <a:t>学院：计算机科学与技术学院（大数据</a:t>
            </a:r>
            <a:r>
              <a:rPr lang="zh-CN" altLang="en-US" dirty="0">
                <a:solidFill>
                  <a:srgbClr val="0000FF"/>
                </a:solidFill>
                <a:latin typeface="Times New Roman" panose="02020603050405020304" charset="0"/>
                <a:ea typeface="微软雅黑" panose="020B0503020204020204" pitchFamily="34" charset="-122"/>
                <a:cs typeface="+mn-ea"/>
                <a:sym typeface="Times New Roman" panose="02020603050405020304" charset="0"/>
              </a:rPr>
              <a:t>学院）</a:t>
            </a:r>
            <a:endParaRPr lang="en-US" altLang="zh-CN" dirty="0">
              <a:solidFill>
                <a:srgbClr val="0000FF"/>
              </a:solidFill>
              <a:latin typeface="Times New Roman" panose="02020603050405020304" charset="0"/>
              <a:ea typeface="微软雅黑" panose="020B0503020204020204" pitchFamily="34" charset="-122"/>
              <a:cs typeface="+mn-ea"/>
              <a:sym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0" name="矩形 19"/>
          <p:cNvSpPr/>
          <p:nvPr/>
        </p:nvSpPr>
        <p:spPr>
          <a:xfrm>
            <a:off x="771525" y="257830"/>
            <a:ext cx="1620957" cy="523220"/>
          </a:xfrm>
          <a:prstGeom prst="rect">
            <a:avLst/>
          </a:prstGeom>
        </p:spPr>
        <p:txBody>
          <a:bodyPr wrap="none">
            <a:spAutoFit/>
          </a:bodyPr>
          <a:lstStyle/>
          <a:p>
            <a:r>
              <a:rPr lang="zh-CN" altLang="en-US" sz="2800" b="1" dirty="0">
                <a:solidFill>
                  <a:schemeClr val="bg1"/>
                </a:solidFill>
              </a:rPr>
              <a:t>课程特点</a:t>
            </a:r>
            <a:endParaRPr lang="zh-CN" altLang="en-US" sz="2800" b="1" dirty="0">
              <a:solidFill>
                <a:schemeClr val="bg1"/>
              </a:solidFill>
            </a:endParaRPr>
          </a:p>
        </p:txBody>
      </p: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
        <p:nvSpPr>
          <p:cNvPr id="3" name="文本框 2"/>
          <p:cNvSpPr txBox="1"/>
          <p:nvPr/>
        </p:nvSpPr>
        <p:spPr>
          <a:xfrm>
            <a:off x="2259249" y="1507813"/>
            <a:ext cx="6113834" cy="2775760"/>
          </a:xfrm>
          <a:prstGeom prst="rect">
            <a:avLst/>
          </a:prstGeom>
          <a:noFill/>
        </p:spPr>
        <p:txBody>
          <a:bodyPr wrap="square">
            <a:spAutoFit/>
          </a:bodyPr>
          <a:lstStyle/>
          <a:p>
            <a:pPr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1 </a:t>
            </a:r>
            <a:r>
              <a:rPr lang="zh-CN" altLang="en-US" sz="2400" dirty="0">
                <a:latin typeface="宋体" panose="02010600030101010101" pitchFamily="2" charset="-122"/>
                <a:ea typeface="宋体" panose="02010600030101010101" pitchFamily="2" charset="-122"/>
              </a:rPr>
              <a:t>理论性强、内容抽象、理解困难</a:t>
            </a:r>
            <a:endParaRPr lang="zh-CN" altLang="en-US" sz="2400" dirty="0">
              <a:latin typeface="宋体" panose="02010600030101010101" pitchFamily="2" charset="-122"/>
              <a:ea typeface="宋体" panose="02010600030101010101" pitchFamily="2" charset="-122"/>
            </a:endParaRPr>
          </a:p>
          <a:p>
            <a:pPr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2 </a:t>
            </a:r>
            <a:r>
              <a:rPr lang="zh-CN" altLang="en-US" sz="2400" dirty="0">
                <a:latin typeface="宋体" panose="02010600030101010101" pitchFamily="2" charset="-122"/>
                <a:ea typeface="宋体" panose="02010600030101010101" pitchFamily="2" charset="-122"/>
              </a:rPr>
              <a:t>理论性和实践性紧密结合</a:t>
            </a:r>
            <a:endParaRPr lang="zh-CN" altLang="en-US" sz="2400" dirty="0">
              <a:latin typeface="宋体" panose="02010600030101010101" pitchFamily="2" charset="-122"/>
              <a:ea typeface="宋体" panose="02010600030101010101" pitchFamily="2" charset="-122"/>
            </a:endParaRPr>
          </a:p>
          <a:p>
            <a:pPr algn="just"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3 </a:t>
            </a:r>
            <a:r>
              <a:rPr lang="zh-CN" altLang="en-US" sz="2400" dirty="0">
                <a:latin typeface="宋体" panose="02010600030101010101" pitchFamily="2" charset="-122"/>
                <a:ea typeface="宋体" panose="02010600030101010101" pitchFamily="2" charset="-122"/>
              </a:rPr>
              <a:t>发展迅速，知识更新快</a:t>
            </a:r>
            <a:endParaRPr lang="zh-CN" altLang="en-US" sz="2400" dirty="0">
              <a:latin typeface="宋体" panose="02010600030101010101" pitchFamily="2" charset="-122"/>
              <a:ea typeface="宋体" panose="02010600030101010101" pitchFamily="2" charset="-122"/>
            </a:endParaRPr>
          </a:p>
          <a:p>
            <a:pPr algn="just"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4 </a:t>
            </a:r>
            <a:r>
              <a:rPr lang="zh-CN" altLang="en-US" sz="2400" dirty="0">
                <a:latin typeface="宋体" panose="02010600030101010101" pitchFamily="2" charset="-122"/>
                <a:ea typeface="宋体" panose="02010600030101010101" pitchFamily="2" charset="-122"/>
              </a:rPr>
              <a:t>涉及内容广泛，与多个方向交叉</a:t>
            </a:r>
            <a:endParaRPr lang="zh-CN" altLang="en-US" sz="2400" dirty="0">
              <a:latin typeface="宋体" panose="02010600030101010101" pitchFamily="2" charset="-122"/>
              <a:ea typeface="宋体" panose="02010600030101010101" pitchFamily="2" charset="-122"/>
            </a:endParaRPr>
          </a:p>
          <a:p>
            <a:pPr algn="just"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5 </a:t>
            </a:r>
            <a:r>
              <a:rPr lang="zh-CN" altLang="en-US" sz="2400" dirty="0">
                <a:latin typeface="宋体" panose="02010600030101010101" pitchFamily="2" charset="-122"/>
                <a:ea typeface="宋体" panose="02010600030101010101" pitchFamily="2" charset="-122"/>
              </a:rPr>
              <a:t>知识点多，综合性强，灵活性大</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3"/>
          <p:cNvSpPr>
            <a:spLocks noGrp="1" noRot="1" noChangeArrowheads="1"/>
          </p:cNvSpPr>
          <p:nvPr>
            <p:ph idx="1"/>
          </p:nvPr>
        </p:nvSpPr>
        <p:spPr>
          <a:xfrm>
            <a:off x="2135188" y="2023353"/>
            <a:ext cx="8075612" cy="3706238"/>
          </a:xfrm>
        </p:spPr>
        <p:txBody>
          <a:bodyPr>
            <a:normAutofit/>
          </a:bodyPr>
          <a:lstStyle/>
          <a:p>
            <a:pPr algn="just" eaLnBrk="1" hangingPunct="1">
              <a:lnSpc>
                <a:spcPct val="150000"/>
              </a:lnSpc>
            </a:pPr>
            <a:r>
              <a:rPr lang="zh-CN" altLang="en-US" sz="2400" b="1" dirty="0">
                <a:latin typeface="宋体" panose="02010600030101010101" pitchFamily="2" charset="-122"/>
                <a:ea typeface="宋体" panose="02010600030101010101" pitchFamily="2" charset="-122"/>
              </a:rPr>
              <a:t>操作系统是计算机系统的一个重要组成部分，操作系统课程则是计算机教育的基本内容。</a:t>
            </a:r>
            <a:endParaRPr lang="zh-CN" altLang="en-US" sz="2400" b="1" dirty="0">
              <a:latin typeface="宋体" panose="02010600030101010101" pitchFamily="2" charset="-122"/>
              <a:ea typeface="宋体" panose="02010600030101010101" pitchFamily="2" charset="-122"/>
            </a:endParaRPr>
          </a:p>
          <a:p>
            <a:pPr algn="just" eaLnBrk="1" hangingPunct="1">
              <a:lnSpc>
                <a:spcPct val="150000"/>
              </a:lnSpc>
            </a:pPr>
            <a:r>
              <a:rPr lang="zh-CN" altLang="en-US" sz="2400" b="1" dirty="0">
                <a:latin typeface="宋体" panose="02010600030101010101" pitchFamily="2" charset="-122"/>
                <a:ea typeface="宋体" panose="02010600030101010101" pitchFamily="2" charset="-122"/>
              </a:rPr>
              <a:t>先行课程</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程序设计、计算机组成原理和数据结构。</a:t>
            </a:r>
            <a:endParaRPr lang="zh-CN" altLang="en-US" sz="2400" b="1" dirty="0">
              <a:latin typeface="宋体" panose="02010600030101010101" pitchFamily="2" charset="-122"/>
              <a:ea typeface="宋体" panose="02010600030101010101" pitchFamily="2" charset="-122"/>
            </a:endParaRPr>
          </a:p>
          <a:p>
            <a:pPr algn="just" eaLnBrk="1" hangingPunct="1">
              <a:lnSpc>
                <a:spcPct val="150000"/>
              </a:lnSpc>
            </a:pPr>
            <a:r>
              <a:rPr lang="zh-CN" altLang="en-US" sz="2400" b="1" dirty="0">
                <a:latin typeface="宋体" panose="02010600030101010101" pitchFamily="2" charset="-122"/>
                <a:ea typeface="宋体" panose="02010600030101010101" pitchFamily="2" charset="-122"/>
              </a:rPr>
              <a:t>通过本课程的学习</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不但对先行课程是一次总结和提高</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同时也为后继课程的学习打下良好的基础。</a:t>
            </a:r>
            <a:endParaRPr lang="zh-CN" altLang="en-US" sz="2400" b="1" dirty="0">
              <a:latin typeface="宋体" panose="02010600030101010101" pitchFamily="2" charset="-122"/>
              <a:ea typeface="宋体" panose="02010600030101010101" pitchFamily="2" charset="-122"/>
            </a:endParaRPr>
          </a:p>
        </p:txBody>
      </p:sp>
      <p:sp>
        <p:nvSpPr>
          <p:cNvPr id="81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467F6449-34B6-429D-8CCE-D662DA2EF798}" type="slidenum">
              <a:rPr lang="en-US" altLang="zh-CN" sz="1400">
                <a:solidFill>
                  <a:schemeClr val="tx1"/>
                </a:solidFill>
                <a:ea typeface="宋体" panose="02010600030101010101" pitchFamily="2" charset="-122"/>
              </a:rPr>
            </a:fld>
            <a:endParaRPr lang="en-US" altLang="zh-CN" sz="1400">
              <a:solidFill>
                <a:schemeClr val="tx1"/>
              </a:solidFill>
              <a:ea typeface="宋体" panose="02010600030101010101" pitchFamily="2" charset="-122"/>
            </a:endParaRPr>
          </a:p>
        </p:txBody>
      </p:sp>
      <p:sp>
        <p:nvSpPr>
          <p:cNvPr id="2" name="任意多边形: 形状 1"/>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p:cNvSpPr/>
          <p:nvPr/>
        </p:nvSpPr>
        <p:spPr bwMode="auto">
          <a:xfrm>
            <a:off x="-9526" y="221451"/>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8195" name="Rectangle 2"/>
          <p:cNvSpPr>
            <a:spLocks noGrp="1" noRot="1" noChangeArrowheads="1"/>
          </p:cNvSpPr>
          <p:nvPr>
            <p:ph type="title"/>
          </p:nvPr>
        </p:nvSpPr>
        <p:spPr>
          <a:xfrm>
            <a:off x="771525" y="23812"/>
            <a:ext cx="4362889" cy="762000"/>
          </a:xfrm>
        </p:spPr>
        <p:txBody>
          <a:bodyPr>
            <a:normAutofit/>
          </a:bodyPr>
          <a:lstStyle/>
          <a:p>
            <a:pPr eaLnBrk="1" hangingPunct="1"/>
            <a:r>
              <a:rPr lang="zh-CN" altLang="en-US" dirty="0">
                <a:solidFill>
                  <a:schemeClr val="bg1"/>
                </a:solidFill>
                <a:latin typeface="隶书" panose="02010509060101010101" pitchFamily="49" charset="-122"/>
              </a:rPr>
              <a:t>重要性</a:t>
            </a:r>
            <a:endParaRPr lang="zh-CN" altLang="en-US" dirty="0">
              <a:solidFill>
                <a:schemeClr val="bg1"/>
              </a:solidFill>
              <a:latin typeface="隶书" panose="02010509060101010101" pitchFamily="49" charset="-122"/>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Rot="1" noChangeArrowheads="1"/>
          </p:cNvSpPr>
          <p:nvPr>
            <p:ph idx="1"/>
          </p:nvPr>
        </p:nvSpPr>
        <p:spPr>
          <a:xfrm>
            <a:off x="2336800" y="1320800"/>
            <a:ext cx="7772400" cy="3737583"/>
          </a:xfrm>
        </p:spPr>
        <p:txBody>
          <a:bodyPr>
            <a:normAutofit/>
          </a:bodyPr>
          <a:lstStyle/>
          <a:p>
            <a:pPr eaLnBrk="1" hangingPunct="1">
              <a:lnSpc>
                <a:spcPct val="115000"/>
              </a:lnSpc>
            </a:pPr>
            <a:r>
              <a:rPr lang="zh-CN" altLang="en-US" sz="2400" b="1" dirty="0">
                <a:latin typeface="宋体" panose="02010600030101010101" pitchFamily="2" charset="-122"/>
                <a:ea typeface="宋体" panose="02010600030101010101" pitchFamily="2" charset="-122"/>
              </a:rPr>
              <a:t>什么是操作系统</a:t>
            </a:r>
            <a:r>
              <a:rPr lang="en-US" altLang="zh-CN"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eaLnBrk="1" hangingPunct="1">
              <a:lnSpc>
                <a:spcPct val="115000"/>
              </a:lnSpc>
            </a:pPr>
            <a:r>
              <a:rPr lang="zh-CN" altLang="en-US" sz="2400" b="1" dirty="0">
                <a:latin typeface="宋体" panose="02010600030101010101" pitchFamily="2" charset="-122"/>
                <a:ea typeface="宋体" panose="02010600030101010101" pitchFamily="2" charset="-122"/>
              </a:rPr>
              <a:t>为什么要操作系统</a:t>
            </a:r>
            <a:r>
              <a:rPr lang="en-US" altLang="zh-CN"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eaLnBrk="1" hangingPunct="1">
              <a:lnSpc>
                <a:spcPct val="115000"/>
              </a:lnSpc>
            </a:pPr>
            <a:r>
              <a:rPr lang="zh-CN" altLang="en-US" sz="2400" b="1" dirty="0">
                <a:latin typeface="宋体" panose="02010600030101010101" pitchFamily="2" charset="-122"/>
                <a:ea typeface="宋体" panose="02010600030101010101" pitchFamily="2" charset="-122"/>
              </a:rPr>
              <a:t>操作系统是做什么的</a:t>
            </a:r>
            <a:r>
              <a:rPr lang="en-US" altLang="zh-CN"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eaLnBrk="1" hangingPunct="1">
              <a:lnSpc>
                <a:spcPct val="115000"/>
              </a:lnSpc>
            </a:pPr>
            <a:r>
              <a:rPr lang="zh-CN" altLang="en-US" sz="2400" b="1" dirty="0">
                <a:latin typeface="宋体" panose="02010600030101010101" pitchFamily="2" charset="-122"/>
                <a:ea typeface="宋体" panose="02010600030101010101" pitchFamily="2" charset="-122"/>
              </a:rPr>
              <a:t>操作系统是如何做的</a:t>
            </a:r>
            <a:r>
              <a:rPr lang="en-US" altLang="zh-CN"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eaLnBrk="1" hangingPunct="1">
              <a:lnSpc>
                <a:spcPct val="115000"/>
              </a:lnSpc>
            </a:pPr>
            <a:r>
              <a:rPr lang="zh-CN" altLang="en-US" sz="2400" b="1" dirty="0">
                <a:latin typeface="宋体" panose="02010600030101010101" pitchFamily="2" charset="-122"/>
                <a:ea typeface="宋体" panose="02010600030101010101" pitchFamily="2" charset="-122"/>
              </a:rPr>
              <a:t>操作系统是如何使用的</a:t>
            </a:r>
            <a:r>
              <a:rPr lang="en-US" altLang="zh-CN"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eaLnBrk="1" hangingPunct="1">
              <a:lnSpc>
                <a:spcPct val="115000"/>
              </a:lnSpc>
            </a:pPr>
            <a:r>
              <a:rPr lang="zh-CN" altLang="en-US" sz="2400" b="1" dirty="0">
                <a:latin typeface="宋体" panose="02010600030101010101" pitchFamily="2" charset="-122"/>
                <a:ea typeface="宋体" panose="02010600030101010101" pitchFamily="2" charset="-122"/>
              </a:rPr>
              <a:t>为什么要学操作系统这门课</a:t>
            </a:r>
            <a:r>
              <a:rPr lang="en-US" altLang="zh-CN"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p:txBody>
      </p:sp>
      <p:sp>
        <p:nvSpPr>
          <p:cNvPr id="92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nSpc>
                <a:spcPct val="100000"/>
              </a:lnSpc>
              <a:spcBef>
                <a:spcPct val="0"/>
              </a:spcBef>
              <a:buClrTx/>
              <a:buSzTx/>
              <a:buFontTx/>
              <a:buNone/>
            </a:pPr>
            <a:fld id="{28AF643B-630C-4313-801E-2A0716FFA29D}" type="slidenum">
              <a:rPr lang="en-US" altLang="zh-CN" sz="1400">
                <a:solidFill>
                  <a:schemeClr val="tx1"/>
                </a:solidFill>
                <a:ea typeface="宋体" panose="02010600030101010101" pitchFamily="2" charset="-122"/>
              </a:rPr>
            </a:fld>
            <a:endParaRPr lang="en-US" altLang="zh-CN" sz="1400">
              <a:solidFill>
                <a:schemeClr val="tx1"/>
              </a:solidFill>
              <a:ea typeface="宋体" panose="02010600030101010101" pitchFamily="2" charset="-122"/>
            </a:endParaRPr>
          </a:p>
        </p:txBody>
      </p:sp>
      <p:sp>
        <p:nvSpPr>
          <p:cNvPr id="2" name="任意多边形: 形状 1"/>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p:cNvSpPr/>
          <p:nvPr/>
        </p:nvSpPr>
        <p:spPr bwMode="auto">
          <a:xfrm>
            <a:off x="-9526" y="221451"/>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9219" name="Rectangle 2"/>
          <p:cNvSpPr>
            <a:spLocks noGrp="1" noRot="1" noChangeArrowheads="1"/>
          </p:cNvSpPr>
          <p:nvPr>
            <p:ph type="title"/>
          </p:nvPr>
        </p:nvSpPr>
        <p:spPr>
          <a:xfrm>
            <a:off x="771525" y="119153"/>
            <a:ext cx="1963366" cy="666659"/>
          </a:xfrm>
        </p:spPr>
        <p:txBody>
          <a:bodyPr>
            <a:normAutofit/>
          </a:bodyPr>
          <a:lstStyle/>
          <a:p>
            <a:pPr eaLnBrk="1" hangingPunct="1"/>
            <a:r>
              <a:rPr lang="zh-CN" altLang="en-US" dirty="0">
                <a:solidFill>
                  <a:schemeClr val="bg1"/>
                </a:solidFill>
              </a:rPr>
              <a:t>研究内容</a:t>
            </a:r>
            <a:endParaRPr lang="zh-CN" altLang="en-US" dirty="0">
              <a:solidFill>
                <a:schemeClr val="bg1"/>
              </a:solidFill>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
        <p:nvSpPr>
          <p:cNvPr id="5" name="矩形 4"/>
          <p:cNvSpPr/>
          <p:nvPr/>
        </p:nvSpPr>
        <p:spPr>
          <a:xfrm>
            <a:off x="1971675" y="5201554"/>
            <a:ext cx="9548813" cy="461665"/>
          </a:xfrm>
          <a:prstGeom prst="rect">
            <a:avLst/>
          </a:prstGeom>
        </p:spPr>
        <p:txBody>
          <a:bodyPr wrap="square">
            <a:spAutoFit/>
          </a:bodyPr>
          <a:lstStyle/>
          <a:p>
            <a:r>
              <a:rPr lang="zh-CN" altLang="en-US" sz="2400" dirty="0">
                <a:solidFill>
                  <a:srgbClr val="0000FF"/>
                </a:solidFill>
                <a:latin typeface="+mj-ea"/>
                <a:ea typeface="+mj-ea"/>
              </a:rPr>
              <a:t>学时安排：</a:t>
            </a:r>
            <a:r>
              <a:rPr lang="zh-CN" altLang="en-US" sz="2400" dirty="0">
                <a:solidFill>
                  <a:srgbClr val="FF0000"/>
                </a:solidFill>
                <a:latin typeface="微软雅黑 (正文)"/>
              </a:rPr>
              <a:t>理论</a:t>
            </a:r>
            <a:r>
              <a:rPr lang="zh-CN" altLang="en-US" sz="2400" dirty="0">
                <a:latin typeface="+mn-ea"/>
              </a:rPr>
              <a:t>教学</a:t>
            </a:r>
            <a:r>
              <a:rPr lang="en-US" altLang="zh-CN" sz="2400" dirty="0" smtClean="0">
                <a:latin typeface="+mn-ea"/>
              </a:rPr>
              <a:t>40</a:t>
            </a:r>
            <a:r>
              <a:rPr lang="zh-CN" altLang="en-US" sz="2400" dirty="0" smtClean="0">
                <a:latin typeface="+mn-ea"/>
              </a:rPr>
              <a:t>学时 </a:t>
            </a:r>
            <a:r>
              <a:rPr lang="en-US" altLang="zh-CN" sz="2400" dirty="0">
                <a:latin typeface="微软雅黑 (正文)"/>
              </a:rPr>
              <a:t>+ </a:t>
            </a:r>
            <a:r>
              <a:rPr lang="zh-CN" altLang="en-US" sz="2400" dirty="0">
                <a:solidFill>
                  <a:srgbClr val="FF0000"/>
                </a:solidFill>
                <a:latin typeface="微软雅黑 (正文)"/>
              </a:rPr>
              <a:t>实验</a:t>
            </a:r>
            <a:r>
              <a:rPr lang="zh-CN" altLang="en-US" sz="2400" dirty="0">
                <a:latin typeface="+mn-ea"/>
              </a:rPr>
              <a:t>教学</a:t>
            </a:r>
            <a:r>
              <a:rPr lang="en-US" altLang="zh-CN" sz="2400" dirty="0">
                <a:latin typeface="+mn-ea"/>
              </a:rPr>
              <a:t>8</a:t>
            </a:r>
            <a:r>
              <a:rPr lang="zh-CN" altLang="en-US" sz="2400" dirty="0">
                <a:latin typeface="+mn-ea"/>
              </a:rPr>
              <a:t>学时</a:t>
            </a:r>
            <a:r>
              <a:rPr lang="zh-CN" altLang="en-US" sz="2400" dirty="0">
                <a:latin typeface="微软雅黑 (正文)"/>
              </a:rPr>
              <a:t>。</a:t>
            </a:r>
            <a:endParaRPr lang="zh-CN" altLang="en-US" sz="2400" dirty="0">
              <a:latin typeface="微软雅黑 (正文)"/>
            </a:endParaRPr>
          </a:p>
        </p:txBody>
      </p:sp>
      <p:sp>
        <p:nvSpPr>
          <p:cNvPr id="6" name="矩形 5"/>
          <p:cNvSpPr/>
          <p:nvPr/>
        </p:nvSpPr>
        <p:spPr>
          <a:xfrm>
            <a:off x="1971675" y="5923707"/>
            <a:ext cx="9548813" cy="461665"/>
          </a:xfrm>
          <a:prstGeom prst="rect">
            <a:avLst/>
          </a:prstGeom>
        </p:spPr>
        <p:txBody>
          <a:bodyPr wrap="square">
            <a:spAutoFit/>
          </a:bodyPr>
          <a:lstStyle/>
          <a:p>
            <a:r>
              <a:rPr lang="zh-CN" altLang="en-US" sz="2400" dirty="0">
                <a:solidFill>
                  <a:srgbClr val="0000FF"/>
                </a:solidFill>
                <a:latin typeface="+mj-ea"/>
                <a:ea typeface="+mj-ea"/>
              </a:rPr>
              <a:t>考核方式：</a:t>
            </a:r>
            <a:r>
              <a:rPr lang="zh-CN" altLang="en-US" sz="2400" dirty="0">
                <a:latin typeface="+mn-ea"/>
              </a:rPr>
              <a:t>闭卷考试，</a:t>
            </a:r>
            <a:r>
              <a:rPr lang="en-US" altLang="zh-CN" sz="2400" dirty="0" smtClean="0">
                <a:latin typeface="+mn-ea"/>
              </a:rPr>
              <a:t>3</a:t>
            </a:r>
            <a:r>
              <a:rPr lang="zh-CN" altLang="en-US" sz="2400" dirty="0" smtClean="0">
                <a:latin typeface="+mn-ea"/>
              </a:rPr>
              <a:t>学分</a:t>
            </a:r>
            <a:r>
              <a:rPr lang="zh-CN" altLang="en-US" sz="2400" dirty="0">
                <a:latin typeface="+mn-ea"/>
              </a:rPr>
              <a:t>。</a:t>
            </a:r>
            <a:endParaRPr lang="zh-CN" altLang="en-US" sz="2400" dirty="0">
              <a:latin typeface="+mn-ea"/>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44625" y="5153726"/>
            <a:ext cx="527050" cy="527050"/>
          </a:xfrm>
          <a:prstGeom prst="rect">
            <a:avLst/>
          </a:prstGeom>
          <a:ln>
            <a:noFill/>
          </a:ln>
          <a:effectLst>
            <a:softEdge rad="0"/>
          </a:effectLst>
        </p:spPr>
      </p:pic>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44625" y="5887151"/>
            <a:ext cx="527050" cy="527050"/>
          </a:xfrm>
          <a:prstGeom prst="rect">
            <a:avLst/>
          </a:prstGeom>
          <a:ln>
            <a:noFill/>
          </a:ln>
          <a:effectLst>
            <a:softEdge rad="0"/>
          </a:effectLst>
        </p:spPr>
      </p:pic>
    </p:spTree>
  </p:cSld>
  <p:clrMapOvr>
    <a:masterClrMapping/>
  </p:clrMapOvr>
  <p:transition>
    <p:check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620957" cy="523220"/>
          </a:xfrm>
          <a:prstGeom prst="rect">
            <a:avLst/>
          </a:prstGeom>
        </p:spPr>
        <p:txBody>
          <a:bodyPr wrap="none">
            <a:spAutoFit/>
          </a:bodyPr>
          <a:lstStyle/>
          <a:p>
            <a:r>
              <a:rPr lang="zh-CN" altLang="en-US" sz="2800" b="1" dirty="0">
                <a:solidFill>
                  <a:schemeClr val="bg1"/>
                </a:solidFill>
              </a:rPr>
              <a:t>教学目标</a:t>
            </a:r>
            <a:endParaRPr lang="zh-CN" altLang="en-US" sz="2800" b="1" dirty="0">
              <a:solidFill>
                <a:schemeClr val="bg1"/>
              </a:solidFill>
            </a:endParaRPr>
          </a:p>
        </p:txBody>
      </p:sp>
      <p:sp>
        <p:nvSpPr>
          <p:cNvPr id="17" name="任意多边形: 形状 16"/>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
        <p:nvSpPr>
          <p:cNvPr id="3" name="文本框 2"/>
          <p:cNvSpPr txBox="1"/>
          <p:nvPr/>
        </p:nvSpPr>
        <p:spPr>
          <a:xfrm>
            <a:off x="1196501" y="1381463"/>
            <a:ext cx="10019489" cy="3883755"/>
          </a:xfrm>
          <a:prstGeom prst="rect">
            <a:avLst/>
          </a:prstGeom>
          <a:noFill/>
        </p:spPr>
        <p:txBody>
          <a:bodyPr wrap="square">
            <a:spAutoFit/>
          </a:bodyPr>
          <a:lstStyle/>
          <a:p>
            <a:pPr algn="just"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明确操作系统的作用、功能和地位，并建立起以操作系统为中心的计算机系统的系统级</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全局和整体</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的认识。</a:t>
            </a:r>
            <a:endParaRPr lang="zh-CN" altLang="en-US" sz="2400" dirty="0">
              <a:latin typeface="宋体" panose="02010600030101010101" pitchFamily="2" charset="-122"/>
              <a:ea typeface="宋体" panose="02010600030101010101" pitchFamily="2" charset="-122"/>
            </a:endParaRPr>
          </a:p>
          <a:p>
            <a:pPr algn="just"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掌握操作系统中进程管理和调度等控制程序执行的关键技术。</a:t>
            </a:r>
            <a:endParaRPr lang="zh-CN" altLang="en-US" sz="2400" dirty="0">
              <a:latin typeface="宋体" panose="02010600030101010101" pitchFamily="2" charset="-122"/>
              <a:ea typeface="宋体" panose="02010600030101010101" pitchFamily="2" charset="-122"/>
            </a:endParaRPr>
          </a:p>
          <a:p>
            <a:pPr algn="just"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3)</a:t>
            </a:r>
            <a:r>
              <a:rPr lang="zh-CN" altLang="en-US" sz="2400" dirty="0">
                <a:latin typeface="宋体" panose="02010600030101010101" pitchFamily="2" charset="-122"/>
                <a:ea typeface="宋体" panose="02010600030101010101" pitchFamily="2" charset="-122"/>
              </a:rPr>
              <a:t>掌握操作系统中资源管理的关键技术。</a:t>
            </a:r>
            <a:endParaRPr lang="zh-CN" altLang="en-US" sz="2400" dirty="0">
              <a:latin typeface="宋体" panose="02010600030101010101" pitchFamily="2" charset="-122"/>
              <a:ea typeface="宋体" panose="02010600030101010101" pitchFamily="2" charset="-122"/>
            </a:endParaRPr>
          </a:p>
          <a:p>
            <a:pPr algn="just"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掌握并发程序设计的基本思想，并有解决相关问题的能力。</a:t>
            </a:r>
            <a:endParaRPr lang="zh-CN" altLang="en-US" sz="2400" dirty="0">
              <a:latin typeface="宋体" panose="02010600030101010101" pitchFamily="2" charset="-122"/>
              <a:ea typeface="宋体" panose="02010600030101010101" pitchFamily="2" charset="-122"/>
            </a:endParaRPr>
          </a:p>
          <a:p>
            <a:pPr algn="just"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5)</a:t>
            </a:r>
            <a:r>
              <a:rPr lang="zh-CN" altLang="en-US" sz="2400" dirty="0">
                <a:latin typeface="宋体" panose="02010600030101010101" pitchFamily="2" charset="-122"/>
                <a:ea typeface="宋体" panose="02010600030101010101" pitchFamily="2" charset="-122"/>
              </a:rPr>
              <a:t>掌握操作系统的构造技术，具有剖析和设计系统模块的初步能力。</a:t>
            </a:r>
            <a:endParaRPr lang="zh-CN" altLang="en-US" sz="2400" dirty="0">
              <a:latin typeface="宋体" panose="02010600030101010101" pitchFamily="2" charset="-122"/>
              <a:ea typeface="宋体" panose="02010600030101010101" pitchFamily="2" charset="-122"/>
            </a:endParaRPr>
          </a:p>
          <a:p>
            <a:pPr algn="just" eaLnBrk="1" hangingPunct="1">
              <a:lnSpc>
                <a:spcPct val="150000"/>
              </a:lnSpc>
              <a:buFont typeface="Wingdings" panose="05000000000000000000" pitchFamily="2" charset="2"/>
              <a:buNone/>
            </a:pPr>
            <a:r>
              <a:rPr lang="en-US" altLang="zh-CN" sz="2400" dirty="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了解</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至</a:t>
            </a: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个主流操作系统的实现技术，熟练掌握和应用。</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620957" cy="523220"/>
          </a:xfrm>
          <a:prstGeom prst="rect">
            <a:avLst/>
          </a:prstGeom>
        </p:spPr>
        <p:txBody>
          <a:bodyPr wrap="none">
            <a:spAutoFit/>
          </a:bodyPr>
          <a:lstStyle/>
          <a:p>
            <a:r>
              <a:rPr lang="zh-CN" altLang="en-US" sz="2800" b="1" dirty="0">
                <a:solidFill>
                  <a:schemeClr val="bg1"/>
                </a:solidFill>
              </a:rPr>
              <a:t>推荐教材</a:t>
            </a:r>
            <a:endParaRPr lang="zh-CN" altLang="en-US" sz="2800" b="1" dirty="0">
              <a:solidFill>
                <a:schemeClr val="bg1"/>
              </a:solidFill>
            </a:endParaRPr>
          </a:p>
        </p:txBody>
      </p:sp>
      <p:pic>
        <p:nvPicPr>
          <p:cNvPr id="16" name="图片 15" descr="主教材立体封面"/>
          <p:cNvPicPr>
            <a:picLocks noChangeAspect="1"/>
          </p:cNvPicPr>
          <p:nvPr>
            <p:custDataLst>
              <p:tags r:id="rId1"/>
            </p:custDataLst>
          </p:nvPr>
        </p:nvPicPr>
        <p:blipFill>
          <a:blip r:embed="rId2"/>
          <a:stretch>
            <a:fillRect/>
          </a:stretch>
        </p:blipFill>
        <p:spPr>
          <a:xfrm>
            <a:off x="620645" y="1634204"/>
            <a:ext cx="3773170" cy="4826635"/>
          </a:xfrm>
          <a:prstGeom prst="rect">
            <a:avLst/>
          </a:prstGeom>
        </p:spPr>
      </p:pic>
      <p:sp>
        <p:nvSpPr>
          <p:cNvPr id="17" name="文本框 16"/>
          <p:cNvSpPr txBox="1"/>
          <p:nvPr/>
        </p:nvSpPr>
        <p:spPr>
          <a:xfrm>
            <a:off x="4651235" y="1114767"/>
            <a:ext cx="7017023" cy="3158813"/>
          </a:xfrm>
          <a:prstGeom prst="rect">
            <a:avLst/>
          </a:prstGeom>
          <a:noFill/>
        </p:spPr>
        <p:txBody>
          <a:bodyPr wrap="square" rtlCol="0">
            <a:spAutoFit/>
          </a:bodyPr>
          <a:lstStyle/>
          <a:p>
            <a:pPr algn="just">
              <a:lnSpc>
                <a:spcPct val="120000"/>
              </a:lnSpc>
              <a:spcAft>
                <a:spcPts val="600"/>
              </a:spcAft>
            </a:pPr>
            <a:r>
              <a:rPr lang="zh-CN" altLang="en-US" sz="2800" dirty="0">
                <a:solidFill>
                  <a:srgbClr val="0000FF"/>
                </a:solidFill>
              </a:rPr>
              <a:t>《计算机操作系统（慕课版）》</a:t>
            </a:r>
            <a:endParaRPr lang="zh-CN" altLang="en-US" sz="2800" dirty="0">
              <a:solidFill>
                <a:srgbClr val="0000FF"/>
              </a:solidFill>
            </a:endParaRPr>
          </a:p>
          <a:p>
            <a:pPr algn="just">
              <a:lnSpc>
                <a:spcPct val="120000"/>
              </a:lnSpc>
              <a:spcBef>
                <a:spcPts val="500"/>
              </a:spcBef>
            </a:pPr>
            <a:r>
              <a:rPr lang="zh-CN" altLang="en-US" sz="2400" dirty="0"/>
              <a:t>作者：</a:t>
            </a:r>
            <a:r>
              <a:rPr lang="zh-CN" altLang="en-US" sz="2400" dirty="0">
                <a:sym typeface="+mn-ea"/>
              </a:rPr>
              <a:t>汤小丹、王红玲、姜华、汤子瀛</a:t>
            </a:r>
            <a:endParaRPr lang="zh-CN" altLang="en-US" sz="2400" dirty="0">
              <a:sym typeface="+mn-ea"/>
            </a:endParaRPr>
          </a:p>
          <a:p>
            <a:pPr algn="just">
              <a:lnSpc>
                <a:spcPct val="120000"/>
              </a:lnSpc>
              <a:spcBef>
                <a:spcPts val="500"/>
              </a:spcBef>
            </a:pPr>
            <a:r>
              <a:rPr lang="zh-CN" altLang="en-US" sz="2400" dirty="0">
                <a:sym typeface="+mn-ea"/>
              </a:rPr>
              <a:t>出版：人民邮电出版社</a:t>
            </a:r>
            <a:endParaRPr lang="zh-CN" altLang="en-US" sz="2400" dirty="0">
              <a:sym typeface="+mn-ea"/>
            </a:endParaRPr>
          </a:p>
          <a:p>
            <a:pPr algn="just">
              <a:lnSpc>
                <a:spcPct val="120000"/>
              </a:lnSpc>
              <a:spcBef>
                <a:spcPts val="500"/>
              </a:spcBef>
            </a:pPr>
            <a:r>
              <a:rPr lang="zh-CN" altLang="en-US" sz="2400" dirty="0">
                <a:sym typeface="+mn-ea"/>
              </a:rPr>
              <a:t>配套：习题解析</a:t>
            </a:r>
            <a:r>
              <a:rPr lang="en-US" altLang="zh-CN" sz="2400" dirty="0">
                <a:sym typeface="+mn-ea"/>
              </a:rPr>
              <a:t>+</a:t>
            </a:r>
            <a:r>
              <a:rPr lang="zh-CN" altLang="en-US" sz="2400" dirty="0">
                <a:sym typeface="+mn-ea"/>
              </a:rPr>
              <a:t>实验指导</a:t>
            </a:r>
            <a:endParaRPr lang="zh-CN" altLang="en-US" sz="2400" dirty="0">
              <a:sym typeface="+mn-ea"/>
            </a:endParaRPr>
          </a:p>
          <a:p>
            <a:pPr algn="just">
              <a:lnSpc>
                <a:spcPct val="120000"/>
              </a:lnSpc>
              <a:spcBef>
                <a:spcPts val="500"/>
              </a:spcBef>
            </a:pPr>
            <a:r>
              <a:rPr lang="zh-CN" altLang="en-US" sz="2400" dirty="0"/>
              <a:t>特点：</a:t>
            </a:r>
            <a:r>
              <a:rPr lang="zh-CN" altLang="en-US" sz="2400" dirty="0">
                <a:solidFill>
                  <a:srgbClr val="FF0000"/>
                </a:solidFill>
              </a:rPr>
              <a:t>全面覆盖考研大纲</a:t>
            </a:r>
            <a:r>
              <a:rPr lang="zh-CN" altLang="en-US" sz="2400" dirty="0"/>
              <a:t>，紧密跟踪前沿技术，支持线上线下混合式教学等。</a:t>
            </a:r>
            <a:endParaRPr lang="zh-CN" altLang="en-US" sz="2400" dirty="0"/>
          </a:p>
        </p:txBody>
      </p:sp>
      <p:pic>
        <p:nvPicPr>
          <p:cNvPr id="18" name="图片 17"/>
          <p:cNvPicPr>
            <a:picLocks noChangeAspect="1"/>
          </p:cNvPicPr>
          <p:nvPr/>
        </p:nvPicPr>
        <p:blipFill>
          <a:blip r:embed="rId3"/>
          <a:stretch>
            <a:fillRect/>
          </a:stretch>
        </p:blipFill>
        <p:spPr>
          <a:xfrm>
            <a:off x="4792903" y="4428893"/>
            <a:ext cx="1440000" cy="2031946"/>
          </a:xfrm>
          <a:prstGeom prst="rect">
            <a:avLst/>
          </a:prstGeom>
        </p:spPr>
      </p:pic>
      <p:pic>
        <p:nvPicPr>
          <p:cNvPr id="21" name="图片 20"/>
          <p:cNvPicPr>
            <a:picLocks noChangeAspect="1"/>
          </p:cNvPicPr>
          <p:nvPr/>
        </p:nvPicPr>
        <p:blipFill>
          <a:blip r:embed="rId4"/>
          <a:stretch>
            <a:fillRect/>
          </a:stretch>
        </p:blipFill>
        <p:spPr>
          <a:xfrm>
            <a:off x="7894382" y="4467225"/>
            <a:ext cx="1440000" cy="2030543"/>
          </a:xfrm>
          <a:prstGeom prst="rect">
            <a:avLst/>
          </a:prstGeom>
        </p:spPr>
      </p:pic>
      <p:sp>
        <p:nvSpPr>
          <p:cNvPr id="2" name="矩形 1"/>
          <p:cNvSpPr/>
          <p:nvPr/>
        </p:nvSpPr>
        <p:spPr>
          <a:xfrm>
            <a:off x="6282575" y="4743442"/>
            <a:ext cx="415498" cy="1754326"/>
          </a:xfrm>
          <a:prstGeom prst="rect">
            <a:avLst/>
          </a:prstGeom>
        </p:spPr>
        <p:txBody>
          <a:bodyPr wrap="none">
            <a:spAutoFit/>
          </a:bodyPr>
          <a:lstStyle/>
          <a:p>
            <a:r>
              <a:rPr lang="zh-CN" altLang="en-US" b="1" dirty="0">
                <a:solidFill>
                  <a:srgbClr val="0000FF"/>
                </a:solidFill>
                <a:latin typeface="+mj-ea"/>
              </a:rPr>
              <a:t>习</a:t>
            </a:r>
            <a:endParaRPr lang="en-US" altLang="zh-CN" b="1" dirty="0">
              <a:solidFill>
                <a:srgbClr val="0000FF"/>
              </a:solidFill>
              <a:latin typeface="+mj-ea"/>
            </a:endParaRPr>
          </a:p>
          <a:p>
            <a:r>
              <a:rPr lang="zh-CN" altLang="en-US" b="1" dirty="0">
                <a:solidFill>
                  <a:srgbClr val="0000FF"/>
                </a:solidFill>
                <a:latin typeface="+mj-ea"/>
              </a:rPr>
              <a:t>题</a:t>
            </a:r>
            <a:endParaRPr lang="en-US" altLang="zh-CN" b="1" dirty="0">
              <a:solidFill>
                <a:srgbClr val="0000FF"/>
              </a:solidFill>
              <a:latin typeface="+mj-ea"/>
            </a:endParaRPr>
          </a:p>
          <a:p>
            <a:r>
              <a:rPr lang="zh-CN" altLang="en-US" b="1" dirty="0">
                <a:solidFill>
                  <a:srgbClr val="0000FF"/>
                </a:solidFill>
                <a:latin typeface="+mj-ea"/>
              </a:rPr>
              <a:t>解</a:t>
            </a:r>
            <a:endParaRPr lang="en-US" altLang="zh-CN" b="1" dirty="0">
              <a:solidFill>
                <a:srgbClr val="0000FF"/>
              </a:solidFill>
              <a:latin typeface="+mj-ea"/>
            </a:endParaRPr>
          </a:p>
          <a:p>
            <a:r>
              <a:rPr lang="zh-CN" altLang="en-US" b="1" dirty="0">
                <a:solidFill>
                  <a:srgbClr val="0000FF"/>
                </a:solidFill>
                <a:latin typeface="+mj-ea"/>
              </a:rPr>
              <a:t>析</a:t>
            </a:r>
            <a:endParaRPr lang="en-US" altLang="zh-CN" b="1" dirty="0">
              <a:solidFill>
                <a:srgbClr val="0000FF"/>
              </a:solidFill>
              <a:latin typeface="+mj-ea"/>
            </a:endParaRPr>
          </a:p>
          <a:p>
            <a:r>
              <a:rPr lang="zh-CN" altLang="en-US" b="1" dirty="0">
                <a:solidFill>
                  <a:srgbClr val="0000FF"/>
                </a:solidFill>
                <a:latin typeface="+mj-ea"/>
              </a:rPr>
              <a:t>手</a:t>
            </a:r>
            <a:endParaRPr lang="en-US" altLang="zh-CN" b="1" dirty="0">
              <a:solidFill>
                <a:srgbClr val="0000FF"/>
              </a:solidFill>
              <a:latin typeface="+mj-ea"/>
            </a:endParaRPr>
          </a:p>
          <a:p>
            <a:r>
              <a:rPr lang="zh-CN" altLang="en-US" b="1" dirty="0">
                <a:solidFill>
                  <a:srgbClr val="0000FF"/>
                </a:solidFill>
                <a:latin typeface="+mj-ea"/>
              </a:rPr>
              <a:t>册</a:t>
            </a:r>
            <a:endParaRPr lang="zh-CN" altLang="en-US" b="1" dirty="0">
              <a:solidFill>
                <a:srgbClr val="0000FF"/>
              </a:solidFill>
              <a:latin typeface="+mj-ea"/>
            </a:endParaRPr>
          </a:p>
        </p:txBody>
      </p:sp>
      <p:sp>
        <p:nvSpPr>
          <p:cNvPr id="22" name="矩形 21"/>
          <p:cNvSpPr/>
          <p:nvPr/>
        </p:nvSpPr>
        <p:spPr>
          <a:xfrm>
            <a:off x="9437899" y="4743442"/>
            <a:ext cx="415498" cy="1754326"/>
          </a:xfrm>
          <a:prstGeom prst="rect">
            <a:avLst/>
          </a:prstGeom>
        </p:spPr>
        <p:txBody>
          <a:bodyPr wrap="none">
            <a:spAutoFit/>
          </a:bodyPr>
          <a:lstStyle/>
          <a:p>
            <a:r>
              <a:rPr lang="zh-CN" altLang="en-US" b="1" dirty="0">
                <a:solidFill>
                  <a:srgbClr val="0000FF"/>
                </a:solidFill>
                <a:latin typeface="+mj-ea"/>
              </a:rPr>
              <a:t>实</a:t>
            </a:r>
            <a:endParaRPr lang="en-US" altLang="zh-CN" b="1" dirty="0">
              <a:solidFill>
                <a:srgbClr val="0000FF"/>
              </a:solidFill>
              <a:latin typeface="+mj-ea"/>
            </a:endParaRPr>
          </a:p>
          <a:p>
            <a:r>
              <a:rPr lang="zh-CN" altLang="en-US" b="1" dirty="0">
                <a:solidFill>
                  <a:srgbClr val="0000FF"/>
                </a:solidFill>
                <a:latin typeface="+mj-ea"/>
              </a:rPr>
              <a:t>验</a:t>
            </a:r>
            <a:endParaRPr lang="en-US" altLang="zh-CN" b="1" dirty="0">
              <a:solidFill>
                <a:srgbClr val="0000FF"/>
              </a:solidFill>
              <a:latin typeface="+mj-ea"/>
            </a:endParaRPr>
          </a:p>
          <a:p>
            <a:r>
              <a:rPr lang="zh-CN" altLang="en-US" b="1" dirty="0">
                <a:solidFill>
                  <a:srgbClr val="0000FF"/>
                </a:solidFill>
                <a:latin typeface="+mj-ea"/>
              </a:rPr>
              <a:t>指</a:t>
            </a:r>
            <a:endParaRPr lang="en-US" altLang="zh-CN" b="1" dirty="0">
              <a:solidFill>
                <a:srgbClr val="0000FF"/>
              </a:solidFill>
              <a:latin typeface="+mj-ea"/>
            </a:endParaRPr>
          </a:p>
          <a:p>
            <a:r>
              <a:rPr lang="zh-CN" altLang="en-US" b="1" dirty="0">
                <a:solidFill>
                  <a:srgbClr val="0000FF"/>
                </a:solidFill>
                <a:latin typeface="+mj-ea"/>
              </a:rPr>
              <a:t>导</a:t>
            </a:r>
            <a:endParaRPr lang="en-US" altLang="zh-CN" b="1" dirty="0">
              <a:solidFill>
                <a:srgbClr val="0000FF"/>
              </a:solidFill>
              <a:latin typeface="+mj-ea"/>
            </a:endParaRPr>
          </a:p>
          <a:p>
            <a:r>
              <a:rPr lang="zh-CN" altLang="en-US" b="1" dirty="0">
                <a:solidFill>
                  <a:srgbClr val="0000FF"/>
                </a:solidFill>
                <a:latin typeface="+mj-ea"/>
              </a:rPr>
              <a:t>手</a:t>
            </a:r>
            <a:endParaRPr lang="en-US" altLang="zh-CN" b="1" dirty="0">
              <a:solidFill>
                <a:srgbClr val="0000FF"/>
              </a:solidFill>
              <a:latin typeface="+mj-ea"/>
            </a:endParaRPr>
          </a:p>
          <a:p>
            <a:r>
              <a:rPr lang="zh-CN" altLang="en-US" b="1" dirty="0">
                <a:solidFill>
                  <a:srgbClr val="0000FF"/>
                </a:solidFill>
                <a:latin typeface="+mj-ea"/>
              </a:rPr>
              <a:t>册</a:t>
            </a:r>
            <a:endParaRPr lang="zh-CN" altLang="en-US" b="1" dirty="0">
              <a:solidFill>
                <a:srgbClr val="0000FF"/>
              </a:solidFill>
              <a:latin typeface="+mj-ea"/>
            </a:endParaRPr>
          </a:p>
        </p:txBody>
      </p:sp>
      <p:sp>
        <p:nvSpPr>
          <p:cNvPr id="12" name="任意多边形: 形状 11"/>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br>
              <a:rPr lang="en-US" altLang="zh-CN" sz="4800" dirty="0"/>
            </a:br>
            <a:r>
              <a:rPr lang="zh-CN" altLang="en-US" sz="4800" dirty="0">
                <a:sym typeface="+mn-ea"/>
              </a:rPr>
              <a:t>第</a:t>
            </a:r>
            <a:r>
              <a:rPr lang="en-US" altLang="zh-CN" sz="4800" dirty="0">
                <a:sym typeface="+mn-ea"/>
              </a:rPr>
              <a:t>1</a:t>
            </a:r>
            <a:r>
              <a:rPr lang="zh-CN" altLang="en-US" sz="4800" dirty="0">
                <a:sym typeface="+mn-ea"/>
              </a:rPr>
              <a:t>章</a:t>
            </a:r>
            <a:r>
              <a:rPr lang="en-US" altLang="zh-CN" sz="4800" dirty="0">
                <a:sym typeface="+mn-ea"/>
              </a:rPr>
              <a:t> </a:t>
            </a:r>
            <a:r>
              <a:rPr lang="zh-CN" altLang="en-US" sz="4800" dirty="0"/>
              <a:t>操作系统引论</a:t>
            </a:r>
            <a:endParaRPr lang="zh-CN" altLang="en-US" sz="2000" b="0" dirty="0"/>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1" name="矩形 10"/>
          <p:cNvSpPr/>
          <p:nvPr/>
        </p:nvSpPr>
        <p:spPr>
          <a:xfrm>
            <a:off x="1243012" y="589418"/>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9684121" y="5993053"/>
            <a:ext cx="2074491" cy="431799"/>
          </a:xfrm>
          <a:prstGeom prst="rect">
            <a:avLst/>
          </a:prstGeom>
        </p:spPr>
      </p:pic>
      <p:pic>
        <p:nvPicPr>
          <p:cNvPr id="14" name="图片 13"/>
          <p:cNvPicPr>
            <a:picLocks noChangeAspect="1"/>
          </p:cNvPicPr>
          <p:nvPr/>
        </p:nvPicPr>
        <p:blipFill>
          <a:blip r:embed="rId4"/>
          <a:stretch>
            <a:fillRect/>
          </a:stretch>
        </p:blipFill>
        <p:spPr>
          <a:xfrm>
            <a:off x="7055100" y="844791"/>
            <a:ext cx="3007096" cy="42615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1</a:t>
            </a:r>
            <a:r>
              <a:rPr lang="zh-CN" altLang="en-US" sz="2800" b="1" dirty="0">
                <a:solidFill>
                  <a:schemeClr val="bg1"/>
                </a:solidFill>
              </a:rPr>
              <a:t>章知识导图</a:t>
            </a:r>
            <a:endParaRPr lang="zh-CN" altLang="en-US" sz="2800" b="1" dirty="0">
              <a:solidFill>
                <a:schemeClr val="bg1"/>
              </a:solidFill>
            </a:endParaRPr>
          </a:p>
        </p:txBody>
      </p:sp>
      <p:graphicFrame>
        <p:nvGraphicFramePr>
          <p:cNvPr id="30" name="表格 29"/>
          <p:cNvGraphicFramePr/>
          <p:nvPr>
            <p:custDataLst>
              <p:tags r:id="rId1"/>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dirty="0">
                          <a:latin typeface="微软雅黑 (正文)"/>
                        </a:rPr>
                        <a:t>第1章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操作系统引论</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第8章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文件管理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磁盘存储器管理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第10章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多处理机操作系统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第11章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虚拟化和云计算</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保护和安全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1章 知识导图"/>
          <p:cNvPicPr>
            <a:picLocks noChangeAspect="1"/>
          </p:cNvPicPr>
          <p:nvPr/>
        </p:nvPicPr>
        <p:blipFill>
          <a:blip r:embed="rId3"/>
          <a:stretch>
            <a:fillRect/>
          </a:stretch>
        </p:blipFill>
        <p:spPr>
          <a:xfrm>
            <a:off x="4669155" y="1255395"/>
            <a:ext cx="7034530" cy="53968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523220"/>
          </a:xfrm>
          <a:prstGeom prst="rect">
            <a:avLst/>
          </a:prstGeom>
        </p:spPr>
        <p:txBody>
          <a:bodyPr wrap="square">
            <a:spAutoFit/>
          </a:bodyPr>
          <a:lstStyle/>
          <a:p>
            <a:r>
              <a:rPr lang="en-US" altLang="zh-CN" sz="2400" b="1" dirty="0">
                <a:solidFill>
                  <a:srgbClr val="0000FF"/>
                </a:solidFill>
                <a:latin typeface="+mj-ea"/>
                <a:ea typeface="+mj-ea"/>
              </a:rPr>
              <a:t>1.1 </a:t>
            </a:r>
            <a:r>
              <a:rPr lang="zh-CN" altLang="en-US" sz="2400" b="1" dirty="0">
                <a:solidFill>
                  <a:srgbClr val="0000FF"/>
                </a:solidFill>
                <a:latin typeface="+mj-ea"/>
                <a:ea typeface="+mj-ea"/>
              </a:rPr>
              <a:t>操作系统的目标和作用</a:t>
            </a:r>
            <a:endParaRPr lang="en-US" altLang="zh-CN" sz="2400" b="1" dirty="0">
              <a:solidFill>
                <a:srgbClr val="0000FF"/>
              </a:solidFill>
              <a:latin typeface="+mj-ea"/>
              <a:ea typeface="+mj-ea"/>
            </a:endParaRPr>
          </a:p>
        </p:txBody>
      </p:sp>
      <p:sp>
        <p:nvSpPr>
          <p:cNvPr id="23" name="矩形 22"/>
          <p:cNvSpPr/>
          <p:nvPr/>
        </p:nvSpPr>
        <p:spPr>
          <a:xfrm>
            <a:off x="1696469" y="2375673"/>
            <a:ext cx="3682150" cy="400110"/>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00110"/>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00110"/>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00110"/>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bwMode="auto">
          <a:xfrm>
            <a:off x="6553200" y="6019800"/>
            <a:ext cx="2289175" cy="47625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algn="r" rtl="0" eaLnBrk="1" fontAlgn="base" hangingPunct="1">
              <a:spcBef>
                <a:spcPct val="0"/>
              </a:spcBef>
              <a:spcAft>
                <a:spcPct val="0"/>
              </a:spcAft>
              <a:defRPr sz="1400" b="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5pPr>
            <a:lvl6pPr marL="22860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6pPr>
            <a:lvl7pPr marL="27432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7pPr>
            <a:lvl8pPr marL="32004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8pPr>
            <a:lvl9pPr marL="36576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9pPr>
          </a:lstStyle>
          <a:p>
            <a:pPr>
              <a:lnSpc>
                <a:spcPct val="100000"/>
              </a:lnSpc>
              <a:spcBef>
                <a:spcPct val="0"/>
              </a:spcBef>
              <a:buClrTx/>
              <a:buSzTx/>
              <a:buFontTx/>
              <a:buNone/>
            </a:pPr>
            <a:fld id="{8A3D4D0C-AC1A-426F-BA50-5B97E386CEDB}" type="slidenum">
              <a:rPr lang="en-US" altLang="zh-CN" smtClean="0"/>
            </a:fld>
            <a:endParaRPr lang="en-US" altLang="zh-CN" sz="1400">
              <a:solidFill>
                <a:schemeClr val="tx1"/>
              </a:solidFill>
              <a:ea typeface="宋体" panose="02010600030101010101" pitchFamily="2" charset="-122"/>
            </a:endParaRPr>
          </a:p>
        </p:txBody>
      </p:sp>
      <p:sp>
        <p:nvSpPr>
          <p:cNvPr id="274435" name="Text Box 1027"/>
          <p:cNvSpPr txBox="1">
            <a:spLocks noChangeArrowheads="1"/>
          </p:cNvSpPr>
          <p:nvPr/>
        </p:nvSpPr>
        <p:spPr bwMode="auto">
          <a:xfrm>
            <a:off x="2057400" y="725523"/>
            <a:ext cx="7848600" cy="60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buClrTx/>
              <a:buSzTx/>
              <a:buFontTx/>
              <a:buNone/>
            </a:pPr>
            <a:r>
              <a:rPr lang="zh-CN" altLang="en-US" dirty="0">
                <a:solidFill>
                  <a:srgbClr val="006600"/>
                </a:solidFill>
                <a:latin typeface="隶书" panose="02010509060101010101" pitchFamily="49" charset="-122"/>
                <a:ea typeface="隶书" panose="02010509060101010101" pitchFamily="49" charset="-122"/>
              </a:rPr>
              <a:t>操作系统的概念</a:t>
            </a:r>
            <a:endParaRPr lang="zh-CN" altLang="en-US" sz="1800" dirty="0">
              <a:solidFill>
                <a:schemeClr val="tx1"/>
              </a:solidFill>
              <a:latin typeface="隶书" panose="02010509060101010101" pitchFamily="49" charset="-122"/>
              <a:ea typeface="隶书" panose="02010509060101010101" pitchFamily="49" charset="-122"/>
            </a:endParaRPr>
          </a:p>
        </p:txBody>
      </p:sp>
      <p:sp>
        <p:nvSpPr>
          <p:cNvPr id="274436" name="Text Box 1028"/>
          <p:cNvSpPr txBox="1">
            <a:spLocks noChangeArrowheads="1"/>
          </p:cNvSpPr>
          <p:nvPr/>
        </p:nvSpPr>
        <p:spPr bwMode="auto">
          <a:xfrm>
            <a:off x="2057400" y="1634204"/>
            <a:ext cx="8077200" cy="1143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zh-CN" altLang="en-US" sz="2800" dirty="0">
                <a:solidFill>
                  <a:srgbClr val="660066"/>
                </a:solidFill>
                <a:latin typeface="隶书" panose="02010509060101010101" pitchFamily="49" charset="-122"/>
                <a:ea typeface="隶书" panose="02010509060101010101" pitchFamily="49" charset="-122"/>
              </a:rPr>
              <a:t>一、计算机系统的组成及系统资源</a:t>
            </a:r>
            <a:endParaRPr lang="zh-CN" altLang="en-US" sz="2800" dirty="0">
              <a:solidFill>
                <a:srgbClr val="660066"/>
              </a:solidFill>
              <a:latin typeface="隶书" panose="02010509060101010101" pitchFamily="49" charset="-122"/>
              <a:ea typeface="隶书" panose="02010509060101010101" pitchFamily="49" charset="-122"/>
            </a:endParaRPr>
          </a:p>
          <a:p>
            <a:pPr eaLnBrk="1" hangingPunct="1">
              <a:buClrTx/>
              <a:buSzTx/>
              <a:buFontTx/>
              <a:buNone/>
            </a:pPr>
            <a:r>
              <a:rPr lang="en-US" altLang="zh-CN" sz="2800" dirty="0">
                <a:solidFill>
                  <a:srgbClr val="FF9900"/>
                </a:solidFill>
                <a:latin typeface="隶书" panose="02010509060101010101" pitchFamily="49" charset="-122"/>
                <a:ea typeface="隶书" panose="02010509060101010101" pitchFamily="49" charset="-122"/>
              </a:rPr>
              <a:t>1</a:t>
            </a:r>
            <a:r>
              <a:rPr lang="zh-CN" altLang="en-US" sz="2800" dirty="0">
                <a:solidFill>
                  <a:srgbClr val="FF9900"/>
                </a:solidFill>
                <a:latin typeface="隶书" panose="02010509060101010101" pitchFamily="49" charset="-122"/>
                <a:ea typeface="隶书" panose="02010509060101010101" pitchFamily="49" charset="-122"/>
              </a:rPr>
              <a:t>．计算机系统是由硬件和软件两部分组成</a:t>
            </a:r>
            <a:r>
              <a:rPr lang="zh-CN" altLang="en-US" sz="2800" dirty="0">
                <a:latin typeface="隶书" panose="02010509060101010101" pitchFamily="49" charset="-122"/>
                <a:ea typeface="隶书" panose="02010509060101010101" pitchFamily="49" charset="-122"/>
              </a:rPr>
              <a:t> </a:t>
            </a:r>
            <a:endParaRPr lang="zh-CN" altLang="en-US" sz="2800" dirty="0">
              <a:latin typeface="隶书" panose="02010509060101010101" pitchFamily="49" charset="-122"/>
              <a:ea typeface="隶书" panose="02010509060101010101" pitchFamily="49" charset="-122"/>
            </a:endParaRPr>
          </a:p>
        </p:txBody>
      </p:sp>
      <p:grpSp>
        <p:nvGrpSpPr>
          <p:cNvPr id="2" name="Group 1037"/>
          <p:cNvGrpSpPr/>
          <p:nvPr/>
        </p:nvGrpSpPr>
        <p:grpSpPr bwMode="auto">
          <a:xfrm>
            <a:off x="2571750" y="2853404"/>
            <a:ext cx="6934200" cy="3462338"/>
            <a:chOff x="720" y="1632"/>
            <a:chExt cx="4368" cy="2181"/>
          </a:xfrm>
        </p:grpSpPr>
        <p:sp>
          <p:nvSpPr>
            <p:cNvPr id="14343" name="Text Box 1029"/>
            <p:cNvSpPr txBox="1">
              <a:spLocks noChangeArrowheads="1"/>
            </p:cNvSpPr>
            <p:nvPr/>
          </p:nvSpPr>
          <p:spPr bwMode="auto">
            <a:xfrm>
              <a:off x="720" y="1632"/>
              <a:ext cx="4368" cy="2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en-US" altLang="zh-CN" sz="2000" dirty="0">
                  <a:solidFill>
                    <a:srgbClr val="660066"/>
                  </a:solidFill>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中央处理机（</a:t>
              </a:r>
              <a:r>
                <a:rPr lang="en-US" altLang="zh-CN" sz="2000" dirty="0">
                  <a:latin typeface="Times New Roman" panose="02020603050405020304" charset="0"/>
                  <a:ea typeface="宋体" panose="02010600030101010101" pitchFamily="2" charset="-122"/>
                  <a:cs typeface="Times New Roman" panose="02020603050405020304" charset="0"/>
                </a:rPr>
                <a:t>CPU</a:t>
              </a:r>
              <a:r>
                <a:rPr lang="zh-CN" altLang="en-US" sz="2000" dirty="0">
                  <a:latin typeface="宋体" panose="02010600030101010101" pitchFamily="2" charset="-122"/>
                  <a:ea typeface="宋体" panose="02010600030101010101" pitchFamily="2" charset="-122"/>
                </a:rPr>
                <a:t>）</a:t>
              </a:r>
              <a:endParaRPr lang="zh-CN" altLang="en-US" sz="2000" dirty="0">
                <a:latin typeface="Times New Roman" panose="02020603050405020304" charset="0"/>
                <a:ea typeface="宋体" panose="02010600030101010101" pitchFamily="2" charset="-122"/>
              </a:endParaRPr>
            </a:p>
            <a:p>
              <a:pPr eaLnBrk="1" hangingPunct="1">
                <a:buClrTx/>
                <a:buSzTx/>
                <a:buFontTx/>
                <a:buNone/>
              </a:pPr>
              <a:r>
                <a:rPr lang="zh-CN" altLang="en-US" sz="2000" dirty="0">
                  <a:latin typeface="Times New Roman" panose="02020603050405020304" charset="0"/>
                  <a:ea typeface="宋体" panose="02010600030101010101" pitchFamily="2" charset="-122"/>
                </a:rPr>
                <a:t>                         </a:t>
              </a:r>
              <a:r>
                <a:rPr lang="zh-CN" altLang="en-US" sz="2000" dirty="0">
                  <a:latin typeface="宋体" panose="02010600030101010101" pitchFamily="2" charset="-122"/>
                  <a:ea typeface="宋体" panose="02010600030101010101" pitchFamily="2" charset="-122"/>
                </a:rPr>
                <a:t>硬件子系统</a:t>
              </a:r>
              <a:r>
                <a:rPr lang="zh-CN" altLang="en-US" sz="2000" dirty="0">
                  <a:latin typeface="Times New Roman" panose="02020603050405020304" charset="0"/>
                  <a:ea typeface="宋体" panose="02010600030101010101" pitchFamily="2" charset="-122"/>
                </a:rPr>
                <a:t>    </a:t>
              </a:r>
              <a:r>
                <a:rPr lang="zh-CN" altLang="en-US" sz="2000" dirty="0">
                  <a:latin typeface="宋体" panose="02010600030101010101" pitchFamily="2" charset="-122"/>
                  <a:ea typeface="宋体" panose="02010600030101010101" pitchFamily="2" charset="-122"/>
                </a:rPr>
                <a:t>存储器             裸机</a:t>
              </a:r>
              <a:endParaRPr lang="zh-CN" altLang="en-US" sz="2000" dirty="0">
                <a:latin typeface="Times New Roman" panose="02020603050405020304" charset="0"/>
                <a:ea typeface="宋体" panose="02010600030101010101" pitchFamily="2" charset="-122"/>
              </a:endParaRPr>
            </a:p>
            <a:p>
              <a:pPr eaLnBrk="1" hangingPunct="1">
                <a:buClrTx/>
                <a:buSzTx/>
                <a:buFontTx/>
                <a:buNone/>
              </a:pPr>
              <a:r>
                <a:rPr lang="zh-CN" altLang="en-US" sz="2000" dirty="0">
                  <a:latin typeface="宋体" panose="02010600030101010101" pitchFamily="2" charset="-122"/>
                  <a:ea typeface="宋体" panose="02010600030101010101" pitchFamily="2" charset="-122"/>
                </a:rPr>
                <a:t>计算机系统</a:t>
              </a:r>
              <a:r>
                <a:rPr lang="zh-CN" altLang="en-US" sz="2000" dirty="0">
                  <a:latin typeface="Times New Roman" panose="02020603050405020304" charset="0"/>
                  <a:ea typeface="宋体" panose="02010600030101010101" pitchFamily="2" charset="-122"/>
                </a:rPr>
                <a:t>                             </a:t>
              </a:r>
              <a:r>
                <a:rPr lang="zh-CN" altLang="en-US" sz="2000" dirty="0">
                  <a:latin typeface="宋体" panose="02010600030101010101" pitchFamily="2" charset="-122"/>
                  <a:ea typeface="宋体" panose="02010600030101010101" pitchFamily="2" charset="-122"/>
                </a:rPr>
                <a:t>输入输出设备</a:t>
              </a:r>
              <a:endParaRPr lang="zh-CN" altLang="en-US" sz="2000" dirty="0">
                <a:latin typeface="Times New Roman" panose="02020603050405020304" charset="0"/>
                <a:ea typeface="宋体" panose="02010600030101010101" pitchFamily="2" charset="-122"/>
              </a:endParaRPr>
            </a:p>
            <a:p>
              <a:pPr eaLnBrk="1" hangingPunct="1">
                <a:buClrTx/>
                <a:buSzTx/>
                <a:buFontTx/>
                <a:buNone/>
              </a:pP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系统资源</a:t>
              </a:r>
              <a:r>
                <a:rPr lang="en-US" altLang="zh-CN" sz="2000" dirty="0">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操作系统</a:t>
              </a:r>
              <a:endParaRPr lang="zh-CN" altLang="en-US" sz="2000" dirty="0">
                <a:solidFill>
                  <a:schemeClr val="hlink"/>
                </a:solidFill>
                <a:latin typeface="Times New Roman" panose="02020603050405020304" charset="0"/>
                <a:ea typeface="宋体" panose="02010600030101010101" pitchFamily="2" charset="-122"/>
              </a:endParaRPr>
            </a:p>
            <a:p>
              <a:pPr eaLnBrk="1" hangingPunct="1">
                <a:buClrTx/>
                <a:buSzTx/>
                <a:buFontTx/>
                <a:buNone/>
              </a:pPr>
              <a:r>
                <a:rPr lang="zh-CN" altLang="en-US" sz="2000" dirty="0">
                  <a:latin typeface="宋体" panose="02010600030101010101" pitchFamily="2" charset="-122"/>
                  <a:ea typeface="宋体" panose="02010600030101010101" pitchFamily="2" charset="-122"/>
                </a:rPr>
                <a:t>                        系统程序</a:t>
              </a:r>
              <a:r>
                <a:rPr lang="zh-CN" altLang="en-US" sz="2000" dirty="0">
                  <a:latin typeface="Times New Roman" panose="02020603050405020304" charset="0"/>
                  <a:ea typeface="宋体" panose="02010600030101010101" pitchFamily="2" charset="-122"/>
                </a:rPr>
                <a:t>    </a:t>
              </a:r>
              <a:r>
                <a:rPr lang="zh-CN" altLang="en-US" sz="2000" dirty="0">
                  <a:latin typeface="宋体" panose="02010600030101010101" pitchFamily="2" charset="-122"/>
                  <a:ea typeface="宋体" panose="02010600030101010101" pitchFamily="2" charset="-122"/>
                </a:rPr>
                <a:t>程序设计语言</a:t>
              </a:r>
              <a:endParaRPr lang="zh-CN" altLang="en-US" sz="2000" dirty="0">
                <a:latin typeface="Times New Roman" panose="02020603050405020304" charset="0"/>
                <a:ea typeface="宋体" panose="02010600030101010101" pitchFamily="2" charset="-122"/>
              </a:endParaRPr>
            </a:p>
            <a:p>
              <a:pPr eaLnBrk="1" hangingPunct="1">
                <a:buClrTx/>
                <a:buSzTx/>
                <a:buFontTx/>
                <a:buNone/>
              </a:pPr>
              <a:r>
                <a:rPr lang="zh-CN" altLang="en-US" sz="2000" dirty="0">
                  <a:latin typeface="宋体" panose="02010600030101010101" pitchFamily="2" charset="-122"/>
                  <a:ea typeface="宋体" panose="02010600030101010101" pitchFamily="2" charset="-122"/>
                </a:rPr>
                <a:t>            软件子系统            编译程序</a:t>
              </a:r>
              <a:r>
                <a:rPr lang="en-US" altLang="zh-CN" sz="2000" dirty="0">
                  <a:latin typeface="Times New Roman" panose="02020603050405020304" charset="0"/>
                  <a:ea typeface="宋体" panose="02010600030101010101" pitchFamily="2" charset="-122"/>
                </a:rPr>
                <a:t>···</a:t>
              </a:r>
              <a:endParaRPr lang="en-US" altLang="zh-CN" sz="2000" dirty="0">
                <a:latin typeface="Times New Roman" panose="02020603050405020304" charset="0"/>
                <a:ea typeface="宋体" panose="02010600030101010101" pitchFamily="2" charset="-122"/>
              </a:endParaRPr>
            </a:p>
            <a:p>
              <a:pPr eaLnBrk="1" hangingPunct="1">
                <a:buClrTx/>
                <a:buSzTx/>
                <a:buFontTx/>
                <a:buNone/>
              </a:pPr>
              <a:r>
                <a:rPr lang="en-US" altLang="zh-CN" sz="2000" dirty="0">
                  <a:latin typeface="Times New Roman" panose="02020603050405020304" charset="0"/>
                  <a:ea typeface="宋体" panose="02010600030101010101" pitchFamily="2" charset="-122"/>
                </a:rPr>
                <a:t>                                                 </a:t>
              </a:r>
              <a:r>
                <a:rPr lang="zh-CN" altLang="en-US" sz="2000" dirty="0">
                  <a:latin typeface="宋体" panose="02010600030101010101" pitchFamily="2" charset="-122"/>
                  <a:ea typeface="宋体" panose="02010600030101010101" pitchFamily="2" charset="-122"/>
                </a:rPr>
                <a:t>应用程序</a:t>
              </a:r>
              <a:endParaRPr lang="zh-CN" altLang="en-US" sz="2000" dirty="0">
                <a:latin typeface="Times New Roman" panose="02020603050405020304" charset="0"/>
                <a:ea typeface="宋体" panose="02010600030101010101" pitchFamily="2" charset="-122"/>
              </a:endParaRPr>
            </a:p>
            <a:p>
              <a:pPr eaLnBrk="1" hangingPunct="1">
                <a:lnSpc>
                  <a:spcPct val="100000"/>
                </a:lnSpc>
                <a:spcBef>
                  <a:spcPct val="50000"/>
                </a:spcBef>
                <a:buClrTx/>
                <a:buSzTx/>
                <a:buFontTx/>
                <a:buNone/>
              </a:pPr>
              <a:endParaRPr lang="en-US" altLang="zh-CN" sz="1800" dirty="0">
                <a:ea typeface="宋体" panose="02010600030101010101" pitchFamily="2" charset="-122"/>
              </a:endParaRPr>
            </a:p>
          </p:txBody>
        </p:sp>
        <p:grpSp>
          <p:nvGrpSpPr>
            <p:cNvPr id="14344" name="Group 1030"/>
            <p:cNvGrpSpPr/>
            <p:nvPr/>
          </p:nvGrpSpPr>
          <p:grpSpPr bwMode="auto">
            <a:xfrm>
              <a:off x="1608" y="1728"/>
              <a:ext cx="2640" cy="1728"/>
              <a:chOff x="1296" y="2112"/>
              <a:chExt cx="2640" cy="1728"/>
            </a:xfrm>
          </p:grpSpPr>
          <p:sp>
            <p:nvSpPr>
              <p:cNvPr id="14345" name="AutoShape 1031"/>
              <p:cNvSpPr/>
              <p:nvPr/>
            </p:nvSpPr>
            <p:spPr bwMode="auto">
              <a:xfrm>
                <a:off x="2304" y="3216"/>
                <a:ext cx="96" cy="624"/>
              </a:xfrm>
              <a:prstGeom prst="leftBrace">
                <a:avLst>
                  <a:gd name="adj1" fmla="val 54167"/>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14347" name="AutoShape 1033"/>
              <p:cNvSpPr/>
              <p:nvPr/>
            </p:nvSpPr>
            <p:spPr bwMode="auto">
              <a:xfrm>
                <a:off x="1296" y="2400"/>
                <a:ext cx="144" cy="1104"/>
              </a:xfrm>
              <a:prstGeom prst="leftBrace">
                <a:avLst>
                  <a:gd name="adj1" fmla="val 63889"/>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14348" name="AutoShape 1034"/>
              <p:cNvSpPr/>
              <p:nvPr/>
            </p:nvSpPr>
            <p:spPr bwMode="auto">
              <a:xfrm>
                <a:off x="2304" y="2112"/>
                <a:ext cx="96" cy="624"/>
              </a:xfrm>
              <a:prstGeom prst="leftBrace">
                <a:avLst>
                  <a:gd name="adj1" fmla="val 54167"/>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14349" name="AutoShape 1035"/>
              <p:cNvSpPr/>
              <p:nvPr/>
            </p:nvSpPr>
            <p:spPr bwMode="auto">
              <a:xfrm>
                <a:off x="3024" y="2940"/>
                <a:ext cx="144" cy="624"/>
              </a:xfrm>
              <a:prstGeom prst="leftBrace">
                <a:avLst>
                  <a:gd name="adj1" fmla="val 3611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14350" name="AutoShape 1036"/>
              <p:cNvSpPr/>
              <p:nvPr/>
            </p:nvSpPr>
            <p:spPr bwMode="auto">
              <a:xfrm>
                <a:off x="3840" y="2112"/>
                <a:ext cx="96" cy="624"/>
              </a:xfrm>
              <a:prstGeom prst="rightBrace">
                <a:avLst>
                  <a:gd name="adj1" fmla="val 54167"/>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grpSp>
      </p:grpSp>
      <p:sp>
        <p:nvSpPr>
          <p:cNvPr id="3" name="任意多边形: 形状 2"/>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4435"/>
                                        </p:tgtEl>
                                        <p:attrNameLst>
                                          <p:attrName>style.visibility</p:attrName>
                                        </p:attrNameLst>
                                      </p:cBhvr>
                                      <p:to>
                                        <p:strVal val="visible"/>
                                      </p:to>
                                    </p:set>
                                    <p:anim calcmode="lin" valueType="num">
                                      <p:cBhvr additive="base">
                                        <p:cTn id="7" dur="500" fill="hold"/>
                                        <p:tgtEl>
                                          <p:spTgt spid="274435"/>
                                        </p:tgtEl>
                                        <p:attrNameLst>
                                          <p:attrName>ppt_x</p:attrName>
                                        </p:attrNameLst>
                                      </p:cBhvr>
                                      <p:tavLst>
                                        <p:tav tm="0">
                                          <p:val>
                                            <p:strVal val="0-#ppt_w/2"/>
                                          </p:val>
                                        </p:tav>
                                        <p:tav tm="100000">
                                          <p:val>
                                            <p:strVal val="#ppt_x"/>
                                          </p:val>
                                        </p:tav>
                                      </p:tavLst>
                                    </p:anim>
                                    <p:anim calcmode="lin" valueType="num">
                                      <p:cBhvr additive="base">
                                        <p:cTn id="8" dur="500" fill="hold"/>
                                        <p:tgtEl>
                                          <p:spTgt spid="2744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4436"/>
                                        </p:tgtEl>
                                        <p:attrNameLst>
                                          <p:attrName>style.visibility</p:attrName>
                                        </p:attrNameLst>
                                      </p:cBhvr>
                                      <p:to>
                                        <p:strVal val="visible"/>
                                      </p:to>
                                    </p:set>
                                    <p:anim calcmode="lin" valueType="num">
                                      <p:cBhvr additive="base">
                                        <p:cTn id="13" dur="500" fill="hold"/>
                                        <p:tgtEl>
                                          <p:spTgt spid="274436"/>
                                        </p:tgtEl>
                                        <p:attrNameLst>
                                          <p:attrName>ppt_x</p:attrName>
                                        </p:attrNameLst>
                                      </p:cBhvr>
                                      <p:tavLst>
                                        <p:tav tm="0">
                                          <p:val>
                                            <p:strVal val="0-#ppt_w/2"/>
                                          </p:val>
                                        </p:tav>
                                        <p:tav tm="100000">
                                          <p:val>
                                            <p:strVal val="#ppt_x"/>
                                          </p:val>
                                        </p:tav>
                                      </p:tavLst>
                                    </p:anim>
                                    <p:anim calcmode="lin" valueType="num">
                                      <p:cBhvr additive="base">
                                        <p:cTn id="14" dur="500" fill="hold"/>
                                        <p:tgtEl>
                                          <p:spTgt spid="27443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autoUpdateAnimBg="0"/>
      <p:bldP spid="27443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bwMode="auto">
          <a:xfrm>
            <a:off x="6553200" y="6019800"/>
            <a:ext cx="2289175" cy="47625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algn="r" rtl="0" eaLnBrk="1" fontAlgn="base" hangingPunct="1">
              <a:spcBef>
                <a:spcPct val="0"/>
              </a:spcBef>
              <a:spcAft>
                <a:spcPct val="0"/>
              </a:spcAft>
              <a:defRPr sz="1400" b="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5pPr>
            <a:lvl6pPr marL="22860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6pPr>
            <a:lvl7pPr marL="27432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7pPr>
            <a:lvl8pPr marL="32004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8pPr>
            <a:lvl9pPr marL="36576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9pPr>
          </a:lstStyle>
          <a:p>
            <a:pPr>
              <a:lnSpc>
                <a:spcPct val="100000"/>
              </a:lnSpc>
              <a:spcBef>
                <a:spcPct val="0"/>
              </a:spcBef>
              <a:buClrTx/>
              <a:buSzTx/>
              <a:buFontTx/>
              <a:buNone/>
            </a:pPr>
            <a:fld id="{8A3D4D0C-AC1A-426F-BA50-5B97E386CEDB}" type="slidenum">
              <a:rPr lang="en-US" altLang="zh-CN" smtClean="0"/>
            </a:fld>
            <a:endParaRPr lang="en-US" altLang="zh-CN" sz="1400">
              <a:solidFill>
                <a:schemeClr val="tx1"/>
              </a:solidFill>
              <a:ea typeface="宋体" panose="02010600030101010101" pitchFamily="2" charset="-122"/>
            </a:endParaRPr>
          </a:p>
        </p:txBody>
      </p:sp>
      <p:sp>
        <p:nvSpPr>
          <p:cNvPr id="250882" name="Text Box 2"/>
          <p:cNvSpPr txBox="1">
            <a:spLocks noChangeArrowheads="1"/>
          </p:cNvSpPr>
          <p:nvPr/>
        </p:nvSpPr>
        <p:spPr bwMode="auto">
          <a:xfrm>
            <a:off x="2293690" y="1150016"/>
            <a:ext cx="81534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buClrTx/>
              <a:buSzTx/>
              <a:buFontTx/>
              <a:buNone/>
            </a:pPr>
            <a:r>
              <a:rPr lang="zh-CN" altLang="en-US" sz="2400" dirty="0">
                <a:solidFill>
                  <a:srgbClr val="006600"/>
                </a:solidFill>
                <a:latin typeface="楷体_GB2312" pitchFamily="49" charset="-122"/>
              </a:rPr>
              <a:t>硬件部分：</a:t>
            </a:r>
            <a:r>
              <a:rPr lang="zh-CN" altLang="en-US" sz="2400" dirty="0">
                <a:latin typeface="楷体_GB2312" pitchFamily="49" charset="-122"/>
              </a:rPr>
              <a:t>构成了系统本身和用户作业赖以活动的物质基</a:t>
            </a:r>
            <a:r>
              <a:rPr lang="zh-CN" altLang="en-US" sz="2400" dirty="0"/>
              <a:t>础      和环境。     </a:t>
            </a:r>
            <a:endParaRPr lang="zh-CN" altLang="en-US" sz="2400" dirty="0"/>
          </a:p>
        </p:txBody>
      </p:sp>
      <p:sp>
        <p:nvSpPr>
          <p:cNvPr id="250888" name="Text Box 8"/>
          <p:cNvSpPr txBox="1">
            <a:spLocks noChangeArrowheads="1"/>
          </p:cNvSpPr>
          <p:nvPr/>
        </p:nvSpPr>
        <p:spPr bwMode="auto">
          <a:xfrm>
            <a:off x="2293690" y="2064416"/>
            <a:ext cx="8077200"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zh-CN" altLang="en-US" sz="2400" dirty="0">
                <a:solidFill>
                  <a:srgbClr val="006600"/>
                </a:solidFill>
                <a:latin typeface="楷体_GB2312" pitchFamily="49" charset="-122"/>
              </a:rPr>
              <a:t>系统软件：</a:t>
            </a:r>
            <a:r>
              <a:rPr lang="zh-CN" altLang="en-US" sz="2400" dirty="0">
                <a:latin typeface="楷体_GB2312" pitchFamily="49" charset="-122"/>
              </a:rPr>
              <a:t>主要管理计算机系统本身的操作；</a:t>
            </a:r>
            <a:endParaRPr lang="zh-CN" altLang="en-US" sz="2400" dirty="0">
              <a:latin typeface="楷体_GB2312" pitchFamily="49" charset="-122"/>
            </a:endParaRPr>
          </a:p>
        </p:txBody>
      </p:sp>
      <p:sp>
        <p:nvSpPr>
          <p:cNvPr id="250889" name="Text Box 9"/>
          <p:cNvSpPr txBox="1">
            <a:spLocks noChangeArrowheads="1"/>
          </p:cNvSpPr>
          <p:nvPr/>
        </p:nvSpPr>
        <p:spPr bwMode="auto">
          <a:xfrm>
            <a:off x="2306390" y="2712116"/>
            <a:ext cx="8305800"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zh-CN" altLang="en-US" sz="2400">
                <a:solidFill>
                  <a:srgbClr val="006600"/>
                </a:solidFill>
                <a:latin typeface="楷体_GB2312" pitchFamily="49" charset="-122"/>
              </a:rPr>
              <a:t>应用软件</a:t>
            </a:r>
            <a:r>
              <a:rPr lang="en-US" altLang="zh-CN" sz="2400">
                <a:solidFill>
                  <a:srgbClr val="006600"/>
                </a:solidFill>
                <a:latin typeface="楷体_GB2312" pitchFamily="49" charset="-122"/>
              </a:rPr>
              <a:t>: </a:t>
            </a:r>
            <a:r>
              <a:rPr lang="zh-CN" altLang="en-US" sz="2400">
                <a:latin typeface="楷体_GB2312" pitchFamily="49" charset="-122"/>
              </a:rPr>
              <a:t>主要解决用户的问题。</a:t>
            </a:r>
            <a:endParaRPr lang="zh-CN" altLang="en-US" sz="2400">
              <a:latin typeface="楷体_GB2312" pitchFamily="49" charset="-122"/>
            </a:endParaRPr>
          </a:p>
        </p:txBody>
      </p:sp>
      <p:sp>
        <p:nvSpPr>
          <p:cNvPr id="250890" name="Text Box 10"/>
          <p:cNvSpPr txBox="1">
            <a:spLocks noChangeArrowheads="1"/>
          </p:cNvSpPr>
          <p:nvPr/>
        </p:nvSpPr>
        <p:spPr bwMode="auto">
          <a:xfrm>
            <a:off x="2217490" y="3321716"/>
            <a:ext cx="8382000"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en-US" altLang="zh-CN" sz="2800" dirty="0">
                <a:solidFill>
                  <a:srgbClr val="FF9900"/>
                </a:solidFill>
                <a:latin typeface="隶书" panose="02010509060101010101" pitchFamily="49" charset="-122"/>
                <a:ea typeface="隶书" panose="02010509060101010101" pitchFamily="49" charset="-122"/>
              </a:rPr>
              <a:t>2</a:t>
            </a:r>
            <a:r>
              <a:rPr lang="zh-CN" altLang="en-US" sz="2800" dirty="0">
                <a:solidFill>
                  <a:srgbClr val="FF9900"/>
                </a:solidFill>
                <a:latin typeface="隶书" panose="02010509060101010101" pitchFamily="49" charset="-122"/>
                <a:ea typeface="隶书" panose="02010509060101010101" pitchFamily="49" charset="-122"/>
              </a:rPr>
              <a:t>．操作系统在计算机系统中的地位和作用</a:t>
            </a:r>
            <a:endParaRPr lang="zh-CN" altLang="en-US" sz="2800" dirty="0">
              <a:solidFill>
                <a:schemeClr val="tx1"/>
              </a:solidFill>
              <a:latin typeface="隶书" panose="02010509060101010101" pitchFamily="49" charset="-122"/>
              <a:ea typeface="隶书" panose="02010509060101010101" pitchFamily="49" charset="-122"/>
            </a:endParaRPr>
          </a:p>
        </p:txBody>
      </p:sp>
      <p:grpSp>
        <p:nvGrpSpPr>
          <p:cNvPr id="2" name="Group 12"/>
          <p:cNvGrpSpPr/>
          <p:nvPr/>
        </p:nvGrpSpPr>
        <p:grpSpPr bwMode="auto">
          <a:xfrm>
            <a:off x="4351090" y="4058315"/>
            <a:ext cx="2590800" cy="2743200"/>
            <a:chOff x="1488" y="2352"/>
            <a:chExt cx="1632" cy="1728"/>
          </a:xfrm>
        </p:grpSpPr>
        <p:grpSp>
          <p:nvGrpSpPr>
            <p:cNvPr id="15368" name="Group 7"/>
            <p:cNvGrpSpPr/>
            <p:nvPr/>
          </p:nvGrpSpPr>
          <p:grpSpPr bwMode="auto">
            <a:xfrm>
              <a:off x="1488" y="2352"/>
              <a:ext cx="1632" cy="1728"/>
              <a:chOff x="1488" y="2352"/>
              <a:chExt cx="1632" cy="1728"/>
            </a:xfrm>
          </p:grpSpPr>
          <p:sp>
            <p:nvSpPr>
              <p:cNvPr id="15370" name="Rectangle 3"/>
              <p:cNvSpPr>
                <a:spLocks noChangeArrowheads="1"/>
              </p:cNvSpPr>
              <p:nvPr/>
            </p:nvSpPr>
            <p:spPr bwMode="auto">
              <a:xfrm>
                <a:off x="1488" y="2352"/>
                <a:ext cx="1632" cy="1728"/>
              </a:xfrm>
              <a:prstGeom prst="rect">
                <a:avLst/>
              </a:prstGeom>
              <a:solidFill>
                <a:srgbClr val="FFFFFF"/>
              </a:solidFill>
              <a:ln w="9525">
                <a:solidFill>
                  <a:srgbClr val="000000"/>
                </a:solidFill>
                <a:miter lim="800000"/>
              </a:ln>
            </p:spPr>
            <p:txBody>
              <a:bodyPr lIns="18000" tIns="0" rIns="18000" bIns="0"/>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a:spcBef>
                    <a:spcPct val="0"/>
                  </a:spcBef>
                  <a:buClrTx/>
                  <a:buSzTx/>
                  <a:buFontTx/>
                  <a:buNone/>
                </a:pPr>
                <a:r>
                  <a:rPr lang="en-US" altLang="zh-CN" sz="1000" dirty="0">
                    <a:solidFill>
                      <a:schemeClr val="tx1"/>
                    </a:solidFill>
                    <a:latin typeface="Times New Roman" panose="02020603050405020304" charset="0"/>
                    <a:ea typeface="宋体" panose="02010600030101010101" pitchFamily="2" charset="-122"/>
                  </a:rPr>
                  <a:t>   </a:t>
                </a:r>
                <a:r>
                  <a:rPr lang="zh-CN" altLang="en-US" sz="2400" dirty="0">
                    <a:latin typeface="楷体_GB2312" pitchFamily="49" charset="-122"/>
                  </a:rPr>
                  <a:t>应 用 软 件</a:t>
                </a:r>
                <a:endParaRPr lang="zh-CN" altLang="en-US" sz="2400" dirty="0">
                  <a:latin typeface="楷体_GB2312" pitchFamily="49" charset="-122"/>
                </a:endParaRPr>
              </a:p>
              <a:p>
                <a:pPr algn="just">
                  <a:spcBef>
                    <a:spcPct val="0"/>
                  </a:spcBef>
                  <a:buClrTx/>
                  <a:buSzTx/>
                  <a:buFontTx/>
                  <a:buNone/>
                </a:pPr>
                <a:r>
                  <a:rPr lang="zh-CN" altLang="en-US" sz="2400" dirty="0">
                    <a:latin typeface="楷体_GB2312" pitchFamily="49" charset="-122"/>
                  </a:rPr>
                  <a:t> 系     </a:t>
                </a:r>
                <a:r>
                  <a:rPr lang="en-US" altLang="zh-CN" sz="2400" dirty="0">
                    <a:latin typeface="Times New Roman" panose="02020603050405020304" charset="0"/>
                  </a:rPr>
                  <a:t>···</a:t>
                </a:r>
                <a:endParaRPr lang="en-US" altLang="zh-CN" sz="2400" dirty="0">
                  <a:latin typeface="楷体_GB2312" pitchFamily="49" charset="-122"/>
                </a:endParaRPr>
              </a:p>
              <a:p>
                <a:pPr algn="just">
                  <a:spcBef>
                    <a:spcPct val="0"/>
                  </a:spcBef>
                  <a:buClrTx/>
                  <a:buSzTx/>
                  <a:buFontTx/>
                  <a:buNone/>
                </a:pPr>
                <a:r>
                  <a:rPr lang="en-US" altLang="zh-CN" sz="2400" dirty="0">
                    <a:latin typeface="楷体_GB2312" pitchFamily="49" charset="-122"/>
                  </a:rPr>
                  <a:t> </a:t>
                </a:r>
                <a:r>
                  <a:rPr lang="zh-CN" altLang="en-US" sz="2400" dirty="0">
                    <a:latin typeface="楷体_GB2312" pitchFamily="49" charset="-122"/>
                  </a:rPr>
                  <a:t>统   编译软件</a:t>
                </a:r>
                <a:endParaRPr lang="zh-CN" altLang="en-US" sz="2400" dirty="0">
                  <a:latin typeface="楷体_GB2312" pitchFamily="49" charset="-122"/>
                </a:endParaRPr>
              </a:p>
              <a:p>
                <a:pPr algn="just">
                  <a:spcBef>
                    <a:spcPct val="0"/>
                  </a:spcBef>
                  <a:buClrTx/>
                  <a:buSzTx/>
                  <a:buFontTx/>
                  <a:buNone/>
                </a:pPr>
                <a:r>
                  <a:rPr lang="zh-CN" altLang="en-US" sz="2400" dirty="0">
                    <a:latin typeface="楷体_GB2312" pitchFamily="49" charset="-122"/>
                  </a:rPr>
                  <a:t> 软   程序设计语言</a:t>
                </a:r>
                <a:endParaRPr lang="zh-CN" altLang="en-US" sz="2400" dirty="0">
                  <a:latin typeface="楷体_GB2312" pitchFamily="49" charset="-122"/>
                </a:endParaRPr>
              </a:p>
              <a:p>
                <a:pPr algn="just">
                  <a:spcBef>
                    <a:spcPct val="0"/>
                  </a:spcBef>
                  <a:buClrTx/>
                  <a:buSzTx/>
                  <a:buFontTx/>
                  <a:buNone/>
                </a:pPr>
                <a:r>
                  <a:rPr lang="zh-CN" altLang="en-US" sz="2400" dirty="0">
                    <a:latin typeface="楷体_GB2312" pitchFamily="49" charset="-122"/>
                  </a:rPr>
                  <a:t> 件   </a:t>
                </a:r>
                <a:r>
                  <a:rPr lang="zh-CN" altLang="en-US" sz="2400" dirty="0">
                    <a:solidFill>
                      <a:srgbClr val="9900CC"/>
                    </a:solidFill>
                    <a:latin typeface="楷体_GB2312" pitchFamily="49" charset="-122"/>
                  </a:rPr>
                  <a:t>操作系统</a:t>
                </a:r>
                <a:endParaRPr lang="zh-CN" altLang="en-US" sz="2400" dirty="0">
                  <a:solidFill>
                    <a:srgbClr val="9900CC"/>
                  </a:solidFill>
                  <a:latin typeface="楷体_GB2312" pitchFamily="49" charset="-122"/>
                </a:endParaRPr>
              </a:p>
              <a:p>
                <a:pPr algn="just">
                  <a:lnSpc>
                    <a:spcPct val="140000"/>
                  </a:lnSpc>
                  <a:spcBef>
                    <a:spcPct val="0"/>
                  </a:spcBef>
                  <a:buClrTx/>
                  <a:buSzTx/>
                  <a:buFontTx/>
                  <a:buNone/>
                </a:pPr>
                <a:r>
                  <a:rPr lang="zh-CN" altLang="en-US" sz="2400" dirty="0">
                    <a:latin typeface="楷体_GB2312" pitchFamily="49" charset="-122"/>
                  </a:rPr>
                  <a:t>    裸     机</a:t>
                </a:r>
                <a:endParaRPr lang="zh-CN" altLang="en-US" sz="2400" dirty="0">
                  <a:latin typeface="楷体_GB2312" pitchFamily="49" charset="-122"/>
                </a:endParaRPr>
              </a:p>
            </p:txBody>
          </p:sp>
          <p:sp>
            <p:nvSpPr>
              <p:cNvPr id="15371" name="Line 4"/>
              <p:cNvSpPr>
                <a:spLocks noChangeShapeType="1"/>
              </p:cNvSpPr>
              <p:nvPr/>
            </p:nvSpPr>
            <p:spPr bwMode="auto">
              <a:xfrm>
                <a:off x="1488" y="2640"/>
                <a:ext cx="163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372" name="Line 6"/>
              <p:cNvSpPr>
                <a:spLocks noChangeShapeType="1"/>
              </p:cNvSpPr>
              <p:nvPr/>
            </p:nvSpPr>
            <p:spPr bwMode="auto">
              <a:xfrm>
                <a:off x="1872" y="2640"/>
                <a:ext cx="0" cy="115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5369" name="Line 11"/>
            <p:cNvSpPr>
              <a:spLocks noChangeShapeType="1"/>
            </p:cNvSpPr>
            <p:nvPr/>
          </p:nvSpPr>
          <p:spPr bwMode="auto">
            <a:xfrm>
              <a:off x="1488" y="3792"/>
              <a:ext cx="163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 name="任意多边形: 形状 2"/>
          <p:cNvSpPr/>
          <p:nvPr/>
        </p:nvSpPr>
        <p:spPr>
          <a:xfrm>
            <a:off x="-9525" y="-1"/>
            <a:ext cx="12201525" cy="83984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bwMode="auto">
          <a:xfrm>
            <a:off x="-9526" y="252740"/>
            <a:ext cx="12201525" cy="630577"/>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0882"/>
                                        </p:tgtEl>
                                        <p:attrNameLst>
                                          <p:attrName>style.visibility</p:attrName>
                                        </p:attrNameLst>
                                      </p:cBhvr>
                                      <p:to>
                                        <p:strVal val="visible"/>
                                      </p:to>
                                    </p:set>
                                    <p:anim calcmode="lin" valueType="num">
                                      <p:cBhvr additive="base">
                                        <p:cTn id="7" dur="500" fill="hold"/>
                                        <p:tgtEl>
                                          <p:spTgt spid="250882"/>
                                        </p:tgtEl>
                                        <p:attrNameLst>
                                          <p:attrName>ppt_x</p:attrName>
                                        </p:attrNameLst>
                                      </p:cBhvr>
                                      <p:tavLst>
                                        <p:tav tm="0">
                                          <p:val>
                                            <p:strVal val="0-#ppt_w/2"/>
                                          </p:val>
                                        </p:tav>
                                        <p:tav tm="100000">
                                          <p:val>
                                            <p:strVal val="#ppt_x"/>
                                          </p:val>
                                        </p:tav>
                                      </p:tavLst>
                                    </p:anim>
                                    <p:anim calcmode="lin" valueType="num">
                                      <p:cBhvr additive="base">
                                        <p:cTn id="8" dur="500" fill="hold"/>
                                        <p:tgtEl>
                                          <p:spTgt spid="25088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0888"/>
                                        </p:tgtEl>
                                        <p:attrNameLst>
                                          <p:attrName>style.visibility</p:attrName>
                                        </p:attrNameLst>
                                      </p:cBhvr>
                                      <p:to>
                                        <p:strVal val="visible"/>
                                      </p:to>
                                    </p:set>
                                    <p:anim calcmode="lin" valueType="num">
                                      <p:cBhvr additive="base">
                                        <p:cTn id="13" dur="500" fill="hold"/>
                                        <p:tgtEl>
                                          <p:spTgt spid="250888"/>
                                        </p:tgtEl>
                                        <p:attrNameLst>
                                          <p:attrName>ppt_x</p:attrName>
                                        </p:attrNameLst>
                                      </p:cBhvr>
                                      <p:tavLst>
                                        <p:tav tm="0">
                                          <p:val>
                                            <p:strVal val="0-#ppt_w/2"/>
                                          </p:val>
                                        </p:tav>
                                        <p:tav tm="100000">
                                          <p:val>
                                            <p:strVal val="#ppt_x"/>
                                          </p:val>
                                        </p:tav>
                                      </p:tavLst>
                                    </p:anim>
                                    <p:anim calcmode="lin" valueType="num">
                                      <p:cBhvr additive="base">
                                        <p:cTn id="14" dur="500" fill="hold"/>
                                        <p:tgtEl>
                                          <p:spTgt spid="25088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0889"/>
                                        </p:tgtEl>
                                        <p:attrNameLst>
                                          <p:attrName>style.visibility</p:attrName>
                                        </p:attrNameLst>
                                      </p:cBhvr>
                                      <p:to>
                                        <p:strVal val="visible"/>
                                      </p:to>
                                    </p:set>
                                    <p:anim calcmode="lin" valueType="num">
                                      <p:cBhvr additive="base">
                                        <p:cTn id="19" dur="500" fill="hold"/>
                                        <p:tgtEl>
                                          <p:spTgt spid="250889"/>
                                        </p:tgtEl>
                                        <p:attrNameLst>
                                          <p:attrName>ppt_x</p:attrName>
                                        </p:attrNameLst>
                                      </p:cBhvr>
                                      <p:tavLst>
                                        <p:tav tm="0">
                                          <p:val>
                                            <p:strVal val="0-#ppt_w/2"/>
                                          </p:val>
                                        </p:tav>
                                        <p:tav tm="100000">
                                          <p:val>
                                            <p:strVal val="#ppt_x"/>
                                          </p:val>
                                        </p:tav>
                                      </p:tavLst>
                                    </p:anim>
                                    <p:anim calcmode="lin" valueType="num">
                                      <p:cBhvr additive="base">
                                        <p:cTn id="20" dur="500" fill="hold"/>
                                        <p:tgtEl>
                                          <p:spTgt spid="25088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0890"/>
                                        </p:tgtEl>
                                        <p:attrNameLst>
                                          <p:attrName>style.visibility</p:attrName>
                                        </p:attrNameLst>
                                      </p:cBhvr>
                                      <p:to>
                                        <p:strVal val="visible"/>
                                      </p:to>
                                    </p:set>
                                    <p:anim calcmode="lin" valueType="num">
                                      <p:cBhvr additive="base">
                                        <p:cTn id="25" dur="500" fill="hold"/>
                                        <p:tgtEl>
                                          <p:spTgt spid="250890"/>
                                        </p:tgtEl>
                                        <p:attrNameLst>
                                          <p:attrName>ppt_x</p:attrName>
                                        </p:attrNameLst>
                                      </p:cBhvr>
                                      <p:tavLst>
                                        <p:tav tm="0">
                                          <p:val>
                                            <p:strVal val="0-#ppt_w/2"/>
                                          </p:val>
                                        </p:tav>
                                        <p:tav tm="100000">
                                          <p:val>
                                            <p:strVal val="#ppt_x"/>
                                          </p:val>
                                        </p:tav>
                                      </p:tavLst>
                                    </p:anim>
                                    <p:anim calcmode="lin" valueType="num">
                                      <p:cBhvr additive="base">
                                        <p:cTn id="26" dur="500" fill="hold"/>
                                        <p:tgtEl>
                                          <p:spTgt spid="25089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2" grpId="0" autoUpdateAnimBg="0"/>
      <p:bldP spid="250888" grpId="0" autoUpdateAnimBg="0"/>
      <p:bldP spid="250889" grpId="0" autoUpdateAnimBg="0"/>
      <p:bldP spid="250890"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bwMode="auto">
          <a:xfrm>
            <a:off x="6553200" y="6019800"/>
            <a:ext cx="2289175" cy="47625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algn="r" rtl="0" eaLnBrk="1" fontAlgn="base" hangingPunct="1">
              <a:spcBef>
                <a:spcPct val="0"/>
              </a:spcBef>
              <a:spcAft>
                <a:spcPct val="0"/>
              </a:spcAft>
              <a:defRPr sz="1400" b="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5pPr>
            <a:lvl6pPr marL="22860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6pPr>
            <a:lvl7pPr marL="27432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7pPr>
            <a:lvl8pPr marL="32004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8pPr>
            <a:lvl9pPr marL="36576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9pPr>
          </a:lstStyle>
          <a:p>
            <a:pPr>
              <a:lnSpc>
                <a:spcPct val="100000"/>
              </a:lnSpc>
              <a:spcBef>
                <a:spcPct val="0"/>
              </a:spcBef>
              <a:buClrTx/>
              <a:buSzTx/>
              <a:buFontTx/>
              <a:buNone/>
            </a:pPr>
            <a:fld id="{8A3D4D0C-AC1A-426F-BA50-5B97E386CEDB}" type="slidenum">
              <a:rPr lang="en-US" altLang="zh-CN" smtClean="0"/>
            </a:fld>
            <a:endParaRPr lang="en-US" altLang="zh-CN" sz="1400">
              <a:solidFill>
                <a:schemeClr val="tx1"/>
              </a:solidFill>
              <a:ea typeface="宋体" panose="02010600030101010101" pitchFamily="2" charset="-122"/>
            </a:endParaRPr>
          </a:p>
        </p:txBody>
      </p:sp>
      <p:sp>
        <p:nvSpPr>
          <p:cNvPr id="337922" name="Rectangle 1026"/>
          <p:cNvSpPr>
            <a:spLocks noChangeArrowheads="1"/>
          </p:cNvSpPr>
          <p:nvPr/>
        </p:nvSpPr>
        <p:spPr bwMode="auto">
          <a:xfrm>
            <a:off x="2566988" y="188913"/>
            <a:ext cx="7467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3600">
                <a:solidFill>
                  <a:schemeClr val="hlink"/>
                </a:solidFill>
                <a:ea typeface="隶书" panose="02010509060101010101" pitchFamily="49" charset="-122"/>
              </a:rPr>
              <a:t>计算机系统的层次结构</a:t>
            </a:r>
            <a:endParaRPr lang="zh-CN" altLang="en-US" sz="4400">
              <a:solidFill>
                <a:schemeClr val="hlink"/>
              </a:solidFill>
              <a:ea typeface="隶书" panose="02010509060101010101" pitchFamily="49" charset="-122"/>
            </a:endParaRPr>
          </a:p>
        </p:txBody>
      </p:sp>
      <p:sp>
        <p:nvSpPr>
          <p:cNvPr id="337924" name="Text Box 1028"/>
          <p:cNvSpPr txBox="1">
            <a:spLocks noChangeArrowheads="1"/>
          </p:cNvSpPr>
          <p:nvPr/>
        </p:nvSpPr>
        <p:spPr bwMode="auto">
          <a:xfrm>
            <a:off x="2468564" y="4641851"/>
            <a:ext cx="77612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zh-CN" altLang="en-US" sz="2400">
                <a:solidFill>
                  <a:srgbClr val="006600"/>
                </a:solidFill>
                <a:latin typeface="Times New Roman" panose="02020603050405020304" charset="0"/>
              </a:rPr>
              <a:t>操作系统的地位：</a:t>
            </a:r>
            <a:r>
              <a:rPr kumimoji="1" lang="zh-CN" altLang="en-US" sz="2400">
                <a:latin typeface="Times New Roman" panose="02020603050405020304" charset="0"/>
              </a:rPr>
              <a:t>是系统硬件之上的第一层软件，为其他软件提供单向支撑（单向服务）作用。</a:t>
            </a:r>
            <a:endParaRPr kumimoji="1" lang="zh-CN" altLang="en-US" sz="2400">
              <a:latin typeface="Times New Roman" panose="02020603050405020304" charset="0"/>
            </a:endParaRPr>
          </a:p>
        </p:txBody>
      </p:sp>
      <p:sp>
        <p:nvSpPr>
          <p:cNvPr id="337926" name="Text Box 1030"/>
          <p:cNvSpPr txBox="1">
            <a:spLocks noChangeArrowheads="1"/>
          </p:cNvSpPr>
          <p:nvPr/>
        </p:nvSpPr>
        <p:spPr bwMode="auto">
          <a:xfrm>
            <a:off x="2495550" y="5445126"/>
            <a:ext cx="768985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buClrTx/>
              <a:buSzTx/>
              <a:buFontTx/>
              <a:buNone/>
            </a:pPr>
            <a:r>
              <a:rPr lang="zh-CN" altLang="en-US" sz="2400">
                <a:solidFill>
                  <a:srgbClr val="006600"/>
                </a:solidFill>
                <a:latin typeface="楷体_GB2312" pitchFamily="49" charset="-122"/>
              </a:rPr>
              <a:t>虚拟机：</a:t>
            </a:r>
            <a:r>
              <a:rPr lang="zh-CN" altLang="en-US" sz="2400">
                <a:latin typeface="楷体_GB2312" pitchFamily="49" charset="-122"/>
              </a:rPr>
              <a:t>对裸机功能的首次扩充，把裸机改造成功能更强、使用更方便的机器。</a:t>
            </a:r>
            <a:endParaRPr lang="zh-CN" altLang="en-US" sz="2400">
              <a:latin typeface="楷体_GB2312" pitchFamily="49" charset="-122"/>
            </a:endParaRPr>
          </a:p>
        </p:txBody>
      </p:sp>
      <p:sp>
        <p:nvSpPr>
          <p:cNvPr id="337925" name="Rectangle 1029"/>
          <p:cNvSpPr>
            <a:spLocks noChangeArrowheads="1"/>
          </p:cNvSpPr>
          <p:nvPr/>
        </p:nvSpPr>
        <p:spPr bwMode="auto">
          <a:xfrm>
            <a:off x="2495551" y="4005264"/>
            <a:ext cx="6911975" cy="497957"/>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buClrTx/>
              <a:buSzTx/>
              <a:buFontTx/>
              <a:buNone/>
            </a:pPr>
            <a:r>
              <a:rPr lang="zh-CN" altLang="en-US" sz="2400">
                <a:solidFill>
                  <a:srgbClr val="006600"/>
                </a:solidFill>
                <a:latin typeface="楷体_GB2312" pitchFamily="49" charset="-122"/>
              </a:rPr>
              <a:t>裸机：</a:t>
            </a:r>
            <a:r>
              <a:rPr lang="zh-CN" altLang="en-US" sz="2400">
                <a:latin typeface="楷体_GB2312" pitchFamily="49" charset="-122"/>
              </a:rPr>
              <a:t>没有任何软件支持的计算机。</a:t>
            </a:r>
            <a:endParaRPr lang="zh-CN" altLang="en-US" sz="2400">
              <a:latin typeface="楷体_GB2312" pitchFamily="49" charset="-122"/>
            </a:endParaRPr>
          </a:p>
        </p:txBody>
      </p:sp>
      <p:pic>
        <p:nvPicPr>
          <p:cNvPr id="16391" name="Picture 1033" descr="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40014" y="1125539"/>
            <a:ext cx="7058025"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7922"/>
                                        </p:tgtEl>
                                        <p:attrNameLst>
                                          <p:attrName>style.visibility</p:attrName>
                                        </p:attrNameLst>
                                      </p:cBhvr>
                                      <p:to>
                                        <p:strVal val="visible"/>
                                      </p:to>
                                    </p:set>
                                    <p:anim calcmode="lin" valueType="num">
                                      <p:cBhvr additive="base">
                                        <p:cTn id="7" dur="500" fill="hold"/>
                                        <p:tgtEl>
                                          <p:spTgt spid="337922"/>
                                        </p:tgtEl>
                                        <p:attrNameLst>
                                          <p:attrName>ppt_x</p:attrName>
                                        </p:attrNameLst>
                                      </p:cBhvr>
                                      <p:tavLst>
                                        <p:tav tm="0">
                                          <p:val>
                                            <p:strVal val="0-#ppt_w/2"/>
                                          </p:val>
                                        </p:tav>
                                        <p:tav tm="100000">
                                          <p:val>
                                            <p:strVal val="#ppt_x"/>
                                          </p:val>
                                        </p:tav>
                                      </p:tavLst>
                                    </p:anim>
                                    <p:anim calcmode="lin" valueType="num">
                                      <p:cBhvr additive="base">
                                        <p:cTn id="8" dur="500" fill="hold"/>
                                        <p:tgtEl>
                                          <p:spTgt spid="3379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37925"/>
                                        </p:tgtEl>
                                        <p:attrNameLst>
                                          <p:attrName>style.visibility</p:attrName>
                                        </p:attrNameLst>
                                      </p:cBhvr>
                                      <p:to>
                                        <p:strVal val="visible"/>
                                      </p:to>
                                    </p:set>
                                    <p:anim calcmode="lin" valueType="num">
                                      <p:cBhvr additive="base">
                                        <p:cTn id="13" dur="500" fill="hold"/>
                                        <p:tgtEl>
                                          <p:spTgt spid="337925"/>
                                        </p:tgtEl>
                                        <p:attrNameLst>
                                          <p:attrName>ppt_x</p:attrName>
                                        </p:attrNameLst>
                                      </p:cBhvr>
                                      <p:tavLst>
                                        <p:tav tm="0">
                                          <p:val>
                                            <p:strVal val="0-#ppt_w/2"/>
                                          </p:val>
                                        </p:tav>
                                        <p:tav tm="100000">
                                          <p:val>
                                            <p:strVal val="#ppt_x"/>
                                          </p:val>
                                        </p:tav>
                                      </p:tavLst>
                                    </p:anim>
                                    <p:anim calcmode="lin" valueType="num">
                                      <p:cBhvr additive="base">
                                        <p:cTn id="14" dur="500" fill="hold"/>
                                        <p:tgtEl>
                                          <p:spTgt spid="33792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37924"/>
                                        </p:tgtEl>
                                        <p:attrNameLst>
                                          <p:attrName>style.visibility</p:attrName>
                                        </p:attrNameLst>
                                      </p:cBhvr>
                                      <p:to>
                                        <p:strVal val="visible"/>
                                      </p:to>
                                    </p:set>
                                    <p:anim calcmode="lin" valueType="num">
                                      <p:cBhvr additive="base">
                                        <p:cTn id="19" dur="500" fill="hold"/>
                                        <p:tgtEl>
                                          <p:spTgt spid="337924"/>
                                        </p:tgtEl>
                                        <p:attrNameLst>
                                          <p:attrName>ppt_x</p:attrName>
                                        </p:attrNameLst>
                                      </p:cBhvr>
                                      <p:tavLst>
                                        <p:tav tm="0">
                                          <p:val>
                                            <p:strVal val="0-#ppt_w/2"/>
                                          </p:val>
                                        </p:tav>
                                        <p:tav tm="100000">
                                          <p:val>
                                            <p:strVal val="#ppt_x"/>
                                          </p:val>
                                        </p:tav>
                                      </p:tavLst>
                                    </p:anim>
                                    <p:anim calcmode="lin" valueType="num">
                                      <p:cBhvr additive="base">
                                        <p:cTn id="20" dur="500" fill="hold"/>
                                        <p:tgtEl>
                                          <p:spTgt spid="33792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37926"/>
                                        </p:tgtEl>
                                        <p:attrNameLst>
                                          <p:attrName>style.visibility</p:attrName>
                                        </p:attrNameLst>
                                      </p:cBhvr>
                                      <p:to>
                                        <p:strVal val="visible"/>
                                      </p:to>
                                    </p:set>
                                    <p:anim calcmode="lin" valueType="num">
                                      <p:cBhvr additive="base">
                                        <p:cTn id="25" dur="500" fill="hold"/>
                                        <p:tgtEl>
                                          <p:spTgt spid="337926"/>
                                        </p:tgtEl>
                                        <p:attrNameLst>
                                          <p:attrName>ppt_x</p:attrName>
                                        </p:attrNameLst>
                                      </p:cBhvr>
                                      <p:tavLst>
                                        <p:tav tm="0">
                                          <p:val>
                                            <p:strVal val="0-#ppt_w/2"/>
                                          </p:val>
                                        </p:tav>
                                        <p:tav tm="100000">
                                          <p:val>
                                            <p:strVal val="#ppt_x"/>
                                          </p:val>
                                        </p:tav>
                                      </p:tavLst>
                                    </p:anim>
                                    <p:anim calcmode="lin" valueType="num">
                                      <p:cBhvr additive="base">
                                        <p:cTn id="26" dur="500" fill="hold"/>
                                        <p:tgtEl>
                                          <p:spTgt spid="3379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2" grpId="0" autoUpdateAnimBg="0"/>
      <p:bldP spid="337924" grpId="0" autoUpdateAnimBg="0"/>
      <p:bldP spid="337926" grpId="0" autoUpdateAnimBg="0"/>
      <p:bldP spid="337925"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bwMode="auto">
          <a:xfrm>
            <a:off x="6553200" y="6019800"/>
            <a:ext cx="2289175" cy="47625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algn="r" rtl="0" eaLnBrk="1" fontAlgn="base" hangingPunct="1">
              <a:spcBef>
                <a:spcPct val="0"/>
              </a:spcBef>
              <a:spcAft>
                <a:spcPct val="0"/>
              </a:spcAft>
              <a:defRPr sz="1400" b="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400" b="1" kern="1200">
                <a:solidFill>
                  <a:srgbClr val="006600"/>
                </a:solidFill>
                <a:latin typeface="Arial" panose="020B0604020202020204" pitchFamily="34" charset="0"/>
                <a:ea typeface="楷体_GB2312" pitchFamily="49" charset="-122"/>
                <a:cs typeface="+mn-cs"/>
              </a:defRPr>
            </a:lvl5pPr>
            <a:lvl6pPr marL="22860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6pPr>
            <a:lvl7pPr marL="27432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7pPr>
            <a:lvl8pPr marL="32004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8pPr>
            <a:lvl9pPr marL="3657600" algn="l" defTabSz="914400" rtl="0" eaLnBrk="1" latinLnBrk="0" hangingPunct="1">
              <a:defRPr sz="2400" b="1" kern="1200">
                <a:solidFill>
                  <a:srgbClr val="006600"/>
                </a:solidFill>
                <a:latin typeface="Arial" panose="020B0604020202020204" pitchFamily="34" charset="0"/>
                <a:ea typeface="楷体_GB2312" pitchFamily="49" charset="-122"/>
                <a:cs typeface="+mn-cs"/>
              </a:defRPr>
            </a:lvl9pPr>
          </a:lstStyle>
          <a:p>
            <a:pPr>
              <a:lnSpc>
                <a:spcPct val="100000"/>
              </a:lnSpc>
              <a:spcBef>
                <a:spcPct val="0"/>
              </a:spcBef>
              <a:buClrTx/>
              <a:buSzTx/>
              <a:buFontTx/>
              <a:buNone/>
            </a:pPr>
            <a:fld id="{8A3D4D0C-AC1A-426F-BA50-5B97E386CEDB}" type="slidenum">
              <a:rPr lang="en-US" altLang="zh-CN" smtClean="0"/>
            </a:fld>
            <a:endParaRPr lang="en-US" altLang="zh-CN" sz="1400">
              <a:solidFill>
                <a:schemeClr val="tx1"/>
              </a:solidFill>
              <a:ea typeface="宋体" panose="02010600030101010101" pitchFamily="2" charset="-122"/>
            </a:endParaRPr>
          </a:p>
        </p:txBody>
      </p:sp>
      <p:sp>
        <p:nvSpPr>
          <p:cNvPr id="410628" name="Text Box 4"/>
          <p:cNvSpPr txBox="1">
            <a:spLocks noChangeArrowheads="1"/>
          </p:cNvSpPr>
          <p:nvPr/>
        </p:nvSpPr>
        <p:spPr bwMode="auto">
          <a:xfrm>
            <a:off x="2208213" y="476250"/>
            <a:ext cx="8229600"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0000"/>
              </a:lnSpc>
              <a:buClrTx/>
              <a:buSzTx/>
              <a:buFontTx/>
              <a:buNone/>
            </a:pPr>
            <a:r>
              <a:rPr kumimoji="1" lang="zh-CN" altLang="en-US" sz="2400">
                <a:solidFill>
                  <a:srgbClr val="800080"/>
                </a:solidFill>
              </a:rPr>
              <a:t>操作系统实现了对计算机资源的抽象</a:t>
            </a:r>
            <a:endParaRPr kumimoji="1" lang="zh-CN" altLang="en-US" sz="2400">
              <a:solidFill>
                <a:srgbClr val="800080"/>
              </a:solidFill>
            </a:endParaRPr>
          </a:p>
          <a:p>
            <a:pPr eaLnBrk="1" hangingPunct="1">
              <a:lnSpc>
                <a:spcPct val="110000"/>
              </a:lnSpc>
              <a:buClrTx/>
              <a:buSzTx/>
              <a:buFontTx/>
              <a:buNone/>
            </a:pPr>
            <a:r>
              <a:rPr kumimoji="1" lang="zh-CN" altLang="en-US" sz="2400">
                <a:solidFill>
                  <a:schemeClr val="tx1"/>
                </a:solidFill>
              </a:rPr>
              <a:t>　    </a:t>
            </a:r>
            <a:r>
              <a:rPr kumimoji="1" lang="zh-CN" altLang="en-US" sz="2400"/>
              <a:t>裸机</a:t>
            </a:r>
            <a:r>
              <a:rPr kumimoji="1" lang="en-US" altLang="zh-CN" sz="2400"/>
              <a:t>—— </a:t>
            </a:r>
            <a:r>
              <a:rPr kumimoji="1" lang="zh-CN" altLang="en-US" sz="2400"/>
              <a:t>用户必须对物理接口的实现细节有充分的了解，该物理机器是难以使用的。</a:t>
            </a:r>
            <a:endParaRPr kumimoji="1" lang="zh-CN" altLang="en-US" sz="2400"/>
          </a:p>
          <a:p>
            <a:pPr eaLnBrk="1" hangingPunct="1">
              <a:lnSpc>
                <a:spcPct val="110000"/>
              </a:lnSpc>
              <a:buClrTx/>
              <a:buSzTx/>
              <a:buFontTx/>
              <a:buNone/>
            </a:pPr>
            <a:r>
              <a:rPr kumimoji="1" lang="zh-CN" altLang="en-US" sz="2400"/>
              <a:t>        为了方便用户使用</a:t>
            </a:r>
            <a:r>
              <a:rPr kumimoji="1" lang="en-US" altLang="zh-CN" sz="2400"/>
              <a:t>I/O</a:t>
            </a:r>
            <a:r>
              <a:rPr kumimoji="1" lang="zh-CN" altLang="en-US" sz="2400"/>
              <a:t>设备，人们在裸机上覆盖上一层</a:t>
            </a:r>
            <a:r>
              <a:rPr kumimoji="1" lang="en-US" altLang="zh-CN" sz="2400"/>
              <a:t>I/O</a:t>
            </a:r>
            <a:r>
              <a:rPr kumimoji="1" lang="zh-CN" altLang="en-US" sz="2400"/>
              <a:t>设备管理软件。</a:t>
            </a:r>
            <a:endParaRPr kumimoji="1" lang="zh-CN" altLang="en-US" sz="2400"/>
          </a:p>
          <a:p>
            <a:pPr eaLnBrk="1" hangingPunct="1">
              <a:lnSpc>
                <a:spcPct val="110000"/>
              </a:lnSpc>
              <a:buClrTx/>
              <a:buSzTx/>
              <a:buFontTx/>
              <a:buNone/>
            </a:pPr>
            <a:r>
              <a:rPr kumimoji="1" lang="zh-CN" altLang="en-US" sz="2400"/>
              <a:t>       用户所看到的机器将是一台比裸机功能更强、使用更方便的机器。这就是说，在裸机上铺设的</a:t>
            </a:r>
            <a:r>
              <a:rPr kumimoji="1" lang="en-US" altLang="zh-CN" sz="2400"/>
              <a:t>I/O</a:t>
            </a:r>
            <a:r>
              <a:rPr kumimoji="1" lang="zh-CN" altLang="en-US" sz="2400"/>
              <a:t>软件隐藏了对</a:t>
            </a:r>
            <a:r>
              <a:rPr kumimoji="1" lang="en-US" altLang="zh-CN" sz="2400"/>
              <a:t>I/O</a:t>
            </a:r>
            <a:r>
              <a:rPr kumimoji="1" lang="zh-CN" altLang="en-US" sz="2400"/>
              <a:t>设备操作的具体细节，向上提供了一组抽象的</a:t>
            </a:r>
            <a:r>
              <a:rPr kumimoji="1" lang="en-US" altLang="zh-CN" sz="2400"/>
              <a:t>I/O</a:t>
            </a:r>
            <a:r>
              <a:rPr kumimoji="1" lang="zh-CN" altLang="en-US" sz="2400"/>
              <a:t>设备。</a:t>
            </a:r>
            <a:endParaRPr kumimoji="1" lang="zh-CN" altLang="en-US" sz="2400"/>
          </a:p>
        </p:txBody>
      </p:sp>
      <p:graphicFrame>
        <p:nvGraphicFramePr>
          <p:cNvPr id="410631" name="Object 7"/>
          <p:cNvGraphicFramePr>
            <a:graphicFrameLocks noChangeAspect="1"/>
          </p:cNvGraphicFramePr>
          <p:nvPr/>
        </p:nvGraphicFramePr>
        <p:xfrm>
          <a:off x="3611562" y="4000500"/>
          <a:ext cx="4968875" cy="2706688"/>
        </p:xfrm>
        <a:graphic>
          <a:graphicData uri="http://schemas.openxmlformats.org/presentationml/2006/ole">
            <mc:AlternateContent xmlns:mc="http://schemas.openxmlformats.org/markup-compatibility/2006">
              <mc:Choice xmlns:v="urn:schemas-microsoft-com:vml" Requires="v">
                <p:oleObj spid="_x0000_s1033" name="" r:id="rId1" imgW="2309495" imgH="1417955" progId="Visio.Drawing.4">
                  <p:embed/>
                </p:oleObj>
              </mc:Choice>
              <mc:Fallback>
                <p:oleObj name="" r:id="rId1" imgW="2309495" imgH="1417955" progId="Visio.Drawing.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1562" y="4000500"/>
                        <a:ext cx="4968875" cy="270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0628"/>
                                        </p:tgtEl>
                                        <p:attrNameLst>
                                          <p:attrName>style.visibility</p:attrName>
                                        </p:attrNameLst>
                                      </p:cBhvr>
                                      <p:to>
                                        <p:strVal val="visible"/>
                                      </p:to>
                                    </p:set>
                                    <p:anim calcmode="lin" valueType="num">
                                      <p:cBhvr additive="base">
                                        <p:cTn id="7" dur="500" fill="hold"/>
                                        <p:tgtEl>
                                          <p:spTgt spid="410628"/>
                                        </p:tgtEl>
                                        <p:attrNameLst>
                                          <p:attrName>ppt_x</p:attrName>
                                        </p:attrNameLst>
                                      </p:cBhvr>
                                      <p:tavLst>
                                        <p:tav tm="0">
                                          <p:val>
                                            <p:strVal val="0-#ppt_w/2"/>
                                          </p:val>
                                        </p:tav>
                                        <p:tav tm="100000">
                                          <p:val>
                                            <p:strVal val="#ppt_x"/>
                                          </p:val>
                                        </p:tav>
                                      </p:tavLst>
                                    </p:anim>
                                    <p:anim calcmode="lin" valueType="num">
                                      <p:cBhvr additive="base">
                                        <p:cTn id="8" dur="500" fill="hold"/>
                                        <p:tgtEl>
                                          <p:spTgt spid="4106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06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7"/>
          <p:cNvSpPr txBox="1">
            <a:spLocks noChangeArrowheads="1"/>
          </p:cNvSpPr>
          <p:nvPr/>
        </p:nvSpPr>
        <p:spPr bwMode="auto">
          <a:xfrm>
            <a:off x="1771878" y="1741314"/>
            <a:ext cx="7410450"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buClrTx/>
              <a:buSzTx/>
              <a:buFontTx/>
              <a:buNone/>
            </a:pPr>
            <a:r>
              <a:rPr lang="zh-CN" altLang="en-US" sz="2800" dirty="0">
                <a:solidFill>
                  <a:srgbClr val="008000"/>
                </a:solidFill>
                <a:latin typeface="楷体_GB2312" pitchFamily="49" charset="-122"/>
              </a:rPr>
              <a:t>操作系统</a:t>
            </a:r>
            <a:r>
              <a:rPr lang="zh-CN" altLang="en-US" sz="2800" dirty="0">
                <a:latin typeface="楷体_GB2312" pitchFamily="49" charset="-122"/>
              </a:rPr>
              <a:t>是计算机系统中的一个大型的</a:t>
            </a:r>
            <a:r>
              <a:rPr lang="zh-CN" altLang="en-US" sz="2800" dirty="0">
                <a:solidFill>
                  <a:srgbClr val="990000"/>
                </a:solidFill>
                <a:latin typeface="楷体_GB2312" pitchFamily="49" charset="-122"/>
              </a:rPr>
              <a:t>系统软件</a:t>
            </a:r>
            <a:r>
              <a:rPr lang="zh-CN" altLang="en-US" sz="2800" dirty="0">
                <a:latin typeface="楷体_GB2312" pitchFamily="49" charset="-122"/>
              </a:rPr>
              <a:t>。它</a:t>
            </a:r>
            <a:r>
              <a:rPr lang="zh-CN" altLang="en-US" sz="2800" dirty="0">
                <a:solidFill>
                  <a:srgbClr val="FF0000"/>
                </a:solidFill>
                <a:latin typeface="楷体_GB2312" pitchFamily="49" charset="-122"/>
              </a:rPr>
              <a:t>管理和控制</a:t>
            </a:r>
            <a:r>
              <a:rPr lang="zh-CN" altLang="en-US" sz="2800" dirty="0">
                <a:latin typeface="楷体_GB2312" pitchFamily="49" charset="-122"/>
              </a:rPr>
              <a:t>计算机系统中的全部软、硬件</a:t>
            </a:r>
            <a:r>
              <a:rPr lang="zh-CN" altLang="en-US" sz="2800" dirty="0">
                <a:solidFill>
                  <a:srgbClr val="FF0000"/>
                </a:solidFill>
                <a:latin typeface="楷体_GB2312" pitchFamily="49" charset="-122"/>
              </a:rPr>
              <a:t>资源</a:t>
            </a:r>
            <a:r>
              <a:rPr lang="zh-CN" altLang="en-US" sz="2800" dirty="0">
                <a:latin typeface="楷体_GB2312" pitchFamily="49" charset="-122"/>
              </a:rPr>
              <a:t>，合理地</a:t>
            </a:r>
            <a:r>
              <a:rPr lang="zh-CN" altLang="en-US" sz="2800" dirty="0">
                <a:solidFill>
                  <a:srgbClr val="FF0000"/>
                </a:solidFill>
                <a:latin typeface="楷体_GB2312" pitchFamily="49" charset="-122"/>
              </a:rPr>
              <a:t>组织</a:t>
            </a:r>
            <a:r>
              <a:rPr lang="zh-CN" altLang="en-US" sz="2800" dirty="0">
                <a:latin typeface="楷体_GB2312" pitchFamily="49" charset="-122"/>
              </a:rPr>
              <a:t>计算机的</a:t>
            </a:r>
            <a:r>
              <a:rPr lang="zh-CN" altLang="en-US" sz="2800" dirty="0">
                <a:solidFill>
                  <a:srgbClr val="FF0000"/>
                </a:solidFill>
                <a:latin typeface="楷体_GB2312" pitchFamily="49" charset="-122"/>
              </a:rPr>
              <a:t>工作流程</a:t>
            </a:r>
            <a:r>
              <a:rPr lang="zh-CN" altLang="en-US" sz="2800" dirty="0">
                <a:latin typeface="楷体_GB2312" pitchFamily="49" charset="-122"/>
              </a:rPr>
              <a:t>，为用户应用程序的运行</a:t>
            </a:r>
            <a:r>
              <a:rPr lang="zh-CN" altLang="en-US" sz="2800" dirty="0">
                <a:solidFill>
                  <a:srgbClr val="FF0000"/>
                </a:solidFill>
                <a:latin typeface="楷体_GB2312" pitchFamily="49" charset="-122"/>
              </a:rPr>
              <a:t>提供</a:t>
            </a:r>
            <a:r>
              <a:rPr lang="zh-CN" altLang="en-US" sz="2800" dirty="0">
                <a:latin typeface="楷体_GB2312" pitchFamily="49" charset="-122"/>
              </a:rPr>
              <a:t>一个友好的界面和良好的</a:t>
            </a:r>
            <a:r>
              <a:rPr lang="zh-CN" altLang="en-US" sz="2800" dirty="0">
                <a:solidFill>
                  <a:srgbClr val="FF0000"/>
                </a:solidFill>
                <a:latin typeface="楷体_GB2312" pitchFamily="49" charset="-122"/>
              </a:rPr>
              <a:t>工作环境</a:t>
            </a:r>
            <a:r>
              <a:rPr lang="zh-CN" altLang="en-US" sz="2800" dirty="0">
                <a:latin typeface="楷体_GB2312" pitchFamily="49" charset="-122"/>
              </a:rPr>
              <a:t>。</a:t>
            </a:r>
            <a:endParaRPr lang="zh-CN" altLang="en-US" sz="2800" b="0" dirty="0">
              <a:solidFill>
                <a:schemeClr val="tx1"/>
              </a:solidFill>
              <a:ea typeface="隶书" panose="02010509060101010101" pitchFamily="49" charset="-122"/>
            </a:endParaRPr>
          </a:p>
        </p:txBody>
      </p:sp>
      <p:sp>
        <p:nvSpPr>
          <p:cNvPr id="4" name="任意多边形: 形状 3"/>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a:solidFill>
                  <a:schemeClr val="bg1"/>
                </a:solidFill>
              </a:rPr>
              <a:t>操作系统的目标</a:t>
            </a:r>
            <a:endParaRPr lang="zh-CN" altLang="en-US" sz="2800" b="1" dirty="0">
              <a:solidFill>
                <a:schemeClr val="bg1"/>
              </a:solidFill>
            </a:endParaRPr>
          </a:p>
        </p:txBody>
      </p:sp>
      <p:sp>
        <p:nvSpPr>
          <p:cNvPr id="4" name="文本框 3"/>
          <p:cNvSpPr txBox="1"/>
          <p:nvPr/>
        </p:nvSpPr>
        <p:spPr>
          <a:xfrm>
            <a:off x="1357520" y="1310204"/>
            <a:ext cx="6338680" cy="3031599"/>
          </a:xfrm>
          <a:prstGeom prst="rect">
            <a:avLst/>
          </a:prstGeom>
          <a:noFill/>
        </p:spPr>
        <p:txBody>
          <a:bodyPr wrap="square" rtlCol="0">
            <a:spAutoFit/>
          </a:bodyPr>
          <a:lstStyle/>
          <a:p>
            <a:pPr algn="just">
              <a:lnSpc>
                <a:spcPct val="150000"/>
              </a:lnSpc>
              <a:spcAft>
                <a:spcPts val="600"/>
              </a:spcAft>
            </a:pPr>
            <a:r>
              <a:rPr lang="zh-CN" altLang="en-US" sz="2400" dirty="0">
                <a:solidFill>
                  <a:srgbClr val="FF0000"/>
                </a:solidFill>
                <a:latin typeface="+mn-ea"/>
              </a:rPr>
              <a:t>方便性</a:t>
            </a:r>
            <a:endParaRPr lang="zh-CN" altLang="en-US" sz="2400" dirty="0">
              <a:solidFill>
                <a:srgbClr val="FF0000"/>
              </a:solidFill>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通过</a:t>
            </a:r>
            <a:r>
              <a:rPr lang="en-US" altLang="zh-CN" sz="2200" dirty="0">
                <a:latin typeface="+mn-ea"/>
              </a:rPr>
              <a:t>OS</a:t>
            </a:r>
            <a:r>
              <a:rPr lang="zh-CN" altLang="en-US" sz="2200" dirty="0">
                <a:latin typeface="+mn-ea"/>
              </a:rPr>
              <a:t>命令操纵计算机，方便用户</a:t>
            </a:r>
            <a:endParaRPr lang="zh-CN" altLang="en-US" sz="2200" dirty="0">
              <a:latin typeface="+mn-ea"/>
            </a:endParaRPr>
          </a:p>
          <a:p>
            <a:pPr algn="just">
              <a:lnSpc>
                <a:spcPct val="150000"/>
              </a:lnSpc>
              <a:spcAft>
                <a:spcPts val="600"/>
              </a:spcAft>
            </a:pPr>
            <a:r>
              <a:rPr lang="zh-CN" altLang="en-US" sz="2400" dirty="0">
                <a:solidFill>
                  <a:srgbClr val="FF0000"/>
                </a:solidFill>
                <a:latin typeface="+mn-ea"/>
              </a:rPr>
              <a:t>有效性</a:t>
            </a:r>
            <a:endParaRPr lang="zh-CN" altLang="en-US" sz="2400" dirty="0">
              <a:solidFill>
                <a:srgbClr val="FF0000"/>
              </a:solidFill>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提高系统资源的利用率</a:t>
            </a:r>
            <a:endParaRPr lang="zh-CN" altLang="en-US" sz="22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提高系统吞吐量</a:t>
            </a:r>
            <a:endParaRPr lang="zh-CN" altLang="en-US" sz="2200" dirty="0">
              <a:latin typeface="+mn-ea"/>
            </a:endParaRPr>
          </a:p>
        </p:txBody>
      </p:sp>
      <p:sp>
        <p:nvSpPr>
          <p:cNvPr id="9" name="文本框 8"/>
          <p:cNvSpPr txBox="1"/>
          <p:nvPr/>
        </p:nvSpPr>
        <p:spPr>
          <a:xfrm>
            <a:off x="5687186" y="3178600"/>
            <a:ext cx="6338680" cy="3031599"/>
          </a:xfrm>
          <a:prstGeom prst="rect">
            <a:avLst/>
          </a:prstGeom>
          <a:noFill/>
        </p:spPr>
        <p:txBody>
          <a:bodyPr wrap="square" rtlCol="0">
            <a:spAutoFit/>
          </a:bodyPr>
          <a:lstStyle/>
          <a:p>
            <a:pPr algn="just">
              <a:lnSpc>
                <a:spcPct val="150000"/>
              </a:lnSpc>
              <a:spcAft>
                <a:spcPts val="600"/>
              </a:spcAft>
            </a:pPr>
            <a:r>
              <a:rPr lang="zh-CN" altLang="en-US" sz="2400" dirty="0">
                <a:solidFill>
                  <a:srgbClr val="0000FF"/>
                </a:solidFill>
                <a:latin typeface="+mn-ea"/>
              </a:rPr>
              <a:t>可扩充性</a:t>
            </a:r>
            <a:endParaRPr lang="zh-CN" altLang="en-US" sz="2400" dirty="0">
              <a:solidFill>
                <a:srgbClr val="0000FF"/>
              </a:solidFill>
              <a:latin typeface="+mn-ea"/>
            </a:endParaRPr>
          </a:p>
          <a:p>
            <a:pPr marL="342900" indent="-342900" algn="just">
              <a:lnSpc>
                <a:spcPct val="150000"/>
              </a:lnSpc>
              <a:spcAft>
                <a:spcPts val="600"/>
              </a:spcAft>
              <a:buClr>
                <a:srgbClr val="0000FF"/>
              </a:buClr>
              <a:buFont typeface="Wingdings" panose="05000000000000000000" pitchFamily="2" charset="2"/>
              <a:buChar char="Ø"/>
            </a:pPr>
            <a:r>
              <a:rPr lang="en-US" altLang="zh-CN" sz="2200" dirty="0">
                <a:latin typeface="+mn-ea"/>
              </a:rPr>
              <a:t>OS</a:t>
            </a:r>
            <a:r>
              <a:rPr lang="zh-CN" altLang="en-US" sz="2200" dirty="0">
                <a:latin typeface="+mn-ea"/>
              </a:rPr>
              <a:t>必须具有很好的可扩充性</a:t>
            </a:r>
            <a:endParaRPr lang="zh-CN" altLang="en-US" sz="2200" dirty="0">
              <a:latin typeface="+mn-ea"/>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latin typeface="+mn-ea"/>
              </a:rPr>
              <a:t>与</a:t>
            </a:r>
            <a:r>
              <a:rPr lang="en-US" altLang="zh-CN" sz="2200" dirty="0">
                <a:latin typeface="+mn-ea"/>
              </a:rPr>
              <a:t>OS</a:t>
            </a:r>
            <a:r>
              <a:rPr lang="zh-CN" altLang="en-US" sz="2200" dirty="0">
                <a:latin typeface="+mn-ea"/>
              </a:rPr>
              <a:t>的结构有紧密的联系</a:t>
            </a:r>
            <a:endParaRPr lang="zh-CN" altLang="en-US" sz="2200" dirty="0">
              <a:latin typeface="+mn-ea"/>
            </a:endParaRPr>
          </a:p>
          <a:p>
            <a:pPr algn="just">
              <a:lnSpc>
                <a:spcPct val="150000"/>
              </a:lnSpc>
              <a:spcAft>
                <a:spcPts val="600"/>
              </a:spcAft>
            </a:pPr>
            <a:r>
              <a:rPr lang="zh-CN" altLang="en-US" sz="2400" dirty="0">
                <a:solidFill>
                  <a:srgbClr val="0000FF"/>
                </a:solidFill>
                <a:latin typeface="+mn-ea"/>
              </a:rPr>
              <a:t>开放性</a:t>
            </a:r>
            <a:endParaRPr lang="zh-CN" altLang="en-US" sz="2400" dirty="0">
              <a:solidFill>
                <a:srgbClr val="0000FF"/>
              </a:solidFill>
              <a:latin typeface="+mn-ea"/>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latin typeface="+mn-ea"/>
              </a:rPr>
              <a:t>遵循世界标准规范。特别是开放系统互连</a:t>
            </a:r>
            <a:r>
              <a:rPr lang="en-US" altLang="zh-CN" sz="2200" dirty="0">
                <a:latin typeface="+mn-ea"/>
              </a:rPr>
              <a:t>OSI</a:t>
            </a:r>
            <a:endParaRPr lang="en-US" altLang="zh-CN" sz="2200" dirty="0">
              <a:latin typeface="+mn-ea"/>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4411" y="1407071"/>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4411" y="2651550"/>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48959" y="3290710"/>
            <a:ext cx="527050" cy="527050"/>
          </a:xfrm>
          <a:prstGeom prst="rect">
            <a:avLst/>
          </a:prstGeom>
          <a:ln>
            <a:noFill/>
          </a:ln>
          <a:effectLst>
            <a:softEdge rad="0"/>
          </a:effectLst>
        </p:spPr>
      </p:pic>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48959" y="5050119"/>
            <a:ext cx="527050" cy="527050"/>
          </a:xfrm>
          <a:prstGeom prst="rect">
            <a:avLst/>
          </a:prstGeom>
          <a:ln>
            <a:noFill/>
          </a:ln>
          <a:effectLst>
            <a:softEdge rad="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操作系统的作用</a:t>
            </a:r>
            <a:endParaRPr lang="zh-CN" altLang="en-US" sz="2800" b="1" dirty="0">
              <a:solidFill>
                <a:schemeClr val="bg1"/>
              </a:solidFill>
            </a:endParaRPr>
          </a:p>
        </p:txBody>
      </p:sp>
      <p:sp>
        <p:nvSpPr>
          <p:cNvPr id="40" name="ïşľîďè"/>
          <p:cNvSpPr/>
          <p:nvPr/>
        </p:nvSpPr>
        <p:spPr>
          <a:xfrm>
            <a:off x="189780" y="1716436"/>
            <a:ext cx="3691349" cy="4421486"/>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3348471" y="1174124"/>
            <a:ext cx="7381904" cy="1648925"/>
            <a:chOff x="4136995" y="1170302"/>
            <a:chExt cx="7381904" cy="1648925"/>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4" name="ïSḻiḍé"/>
            <p:cNvSpPr txBox="1"/>
            <p:nvPr/>
          </p:nvSpPr>
          <p:spPr>
            <a:xfrm>
              <a:off x="4882718" y="1170302"/>
              <a:ext cx="6636181"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solidFill>
                    <a:srgbClr val="0000FF"/>
                  </a:solidFill>
                  <a:latin typeface="+mj-ea"/>
                  <a:ea typeface="+mj-ea"/>
                </a:rPr>
                <a:t>用户与计算机硬件系统之间的接口</a:t>
              </a:r>
              <a:endParaRPr lang="zh-CN" altLang="en-US" sz="2400" dirty="0">
                <a:solidFill>
                  <a:srgbClr val="0000FF"/>
                </a:solidFill>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命令方式（</a:t>
              </a:r>
              <a:r>
                <a:rPr lang="en-US" altLang="zh-CN" sz="2400" dirty="0">
                  <a:latin typeface="+mj-ea"/>
                  <a:ea typeface="+mj-ea"/>
                </a:rPr>
                <a:t>UNIX</a:t>
              </a:r>
              <a:r>
                <a:rPr lang="zh-CN" altLang="en-US" sz="2400" dirty="0">
                  <a:latin typeface="+mj-ea"/>
                  <a:ea typeface="+mj-ea"/>
                </a:rPr>
                <a:t>、</a:t>
              </a:r>
              <a:r>
                <a:rPr lang="en-US" altLang="zh-CN" sz="2400" dirty="0">
                  <a:latin typeface="+mj-ea"/>
                  <a:ea typeface="+mj-ea"/>
                </a:rPr>
                <a:t>DOS</a:t>
              </a:r>
              <a:r>
                <a:rPr lang="zh-CN" altLang="en-US" sz="2400" dirty="0">
                  <a:latin typeface="+mj-ea"/>
                  <a:ea typeface="+mj-ea"/>
                </a:rPr>
                <a:t>命令）；</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系统调用方式（</a:t>
              </a:r>
              <a:r>
                <a:rPr lang="en-US" altLang="zh-CN" sz="2400" dirty="0">
                  <a:latin typeface="+mj-ea"/>
                  <a:ea typeface="+mj-ea"/>
                </a:rPr>
                <a:t>API</a:t>
              </a:r>
              <a:r>
                <a:rPr lang="zh-CN" altLang="en-US" sz="2400" dirty="0">
                  <a:latin typeface="+mj-ea"/>
                  <a:ea typeface="+mj-ea"/>
                </a:rPr>
                <a:t>）；</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en-US" altLang="zh-CN" sz="2400" dirty="0">
                  <a:latin typeface="+mj-ea"/>
                  <a:ea typeface="+mj-ea"/>
                </a:rPr>
                <a:t>GUI</a:t>
              </a:r>
              <a:r>
                <a:rPr lang="zh-CN" altLang="en-US" sz="2400" dirty="0">
                  <a:latin typeface="+mj-ea"/>
                  <a:ea typeface="+mj-ea"/>
                </a:rPr>
                <a:t>方式（</a:t>
              </a:r>
              <a:r>
                <a:rPr lang="en-US" altLang="zh-CN" sz="2400" dirty="0">
                  <a:latin typeface="+mj-ea"/>
                  <a:ea typeface="+mj-ea"/>
                </a:rPr>
                <a:t>Windows</a:t>
              </a:r>
              <a:r>
                <a:rPr lang="zh-CN" altLang="en-US" sz="2400" dirty="0">
                  <a:latin typeface="+mj-ea"/>
                  <a:ea typeface="+mj-ea"/>
                </a:rPr>
                <a:t>、</a:t>
              </a:r>
              <a:r>
                <a:rPr lang="en-US" altLang="zh-CN" sz="2400" dirty="0">
                  <a:latin typeface="+mj-ea"/>
                  <a:ea typeface="+mj-ea"/>
                </a:rPr>
                <a:t>LINUX</a:t>
              </a:r>
              <a:r>
                <a:rPr lang="zh-CN" altLang="en-US" sz="2400" dirty="0">
                  <a:latin typeface="+mj-ea"/>
                  <a:ea typeface="+mj-ea"/>
                </a:rPr>
                <a:t>）</a:t>
              </a:r>
              <a:endParaRPr lang="zh-CN" altLang="en-US" sz="2400" dirty="0">
                <a:latin typeface="+mj-ea"/>
                <a:ea typeface="+mj-ea"/>
              </a:endParaRPr>
            </a:p>
          </p:txBody>
        </p:sp>
      </p:grpSp>
      <p:grpSp>
        <p:nvGrpSpPr>
          <p:cNvPr id="45" name="išḷîḓé"/>
          <p:cNvGrpSpPr/>
          <p:nvPr/>
        </p:nvGrpSpPr>
        <p:grpSpPr>
          <a:xfrm>
            <a:off x="3348471" y="3286056"/>
            <a:ext cx="8378932" cy="801176"/>
            <a:chOff x="4136995" y="3233565"/>
            <a:chExt cx="8378932" cy="801176"/>
          </a:xfrm>
        </p:grpSpPr>
        <p:sp>
          <p:nvSpPr>
            <p:cNvPr id="46"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7"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计算机系统资源的管理者</a:t>
              </a:r>
              <a:endParaRPr lang="zh-CN" altLang="en-US" sz="2400" dirty="0">
                <a:solidFill>
                  <a:srgbClr val="0000FF"/>
                </a:solidFill>
              </a:endParaRPr>
            </a:p>
            <a:p>
              <a:pPr marL="342900" indent="-342900">
                <a:lnSpc>
                  <a:spcPct val="130000"/>
                </a:lnSpc>
                <a:buClr>
                  <a:srgbClr val="FF0000"/>
                </a:buClr>
                <a:buFont typeface="Wingdings" panose="05000000000000000000" pitchFamily="2" charset="2"/>
                <a:buChar char="Ø"/>
              </a:pPr>
              <a:r>
                <a:rPr lang="zh-CN" altLang="en-US" sz="2400" dirty="0">
                  <a:solidFill>
                    <a:srgbClr val="FF0000"/>
                  </a:solidFill>
                </a:rPr>
                <a:t>处理机管理、存储器管理、</a:t>
              </a:r>
              <a:r>
                <a:rPr lang="en-US" altLang="zh-CN" sz="2400" dirty="0">
                  <a:solidFill>
                    <a:srgbClr val="FF0000"/>
                  </a:solidFill>
                </a:rPr>
                <a:t>I/O</a:t>
              </a:r>
              <a:r>
                <a:rPr lang="zh-CN" altLang="en-US" sz="2400" dirty="0">
                  <a:solidFill>
                    <a:srgbClr val="FF0000"/>
                  </a:solidFill>
                </a:rPr>
                <a:t>设备管理、文件管理。</a:t>
              </a:r>
              <a:endParaRPr lang="zh-CN" altLang="en-US" sz="2400" dirty="0">
                <a:solidFill>
                  <a:srgbClr val="FF0000"/>
                </a:solidFill>
              </a:endParaRPr>
            </a:p>
          </p:txBody>
        </p:sp>
      </p:grpSp>
      <p:grpSp>
        <p:nvGrpSpPr>
          <p:cNvPr id="48" name="ïSlíḍê"/>
          <p:cNvGrpSpPr/>
          <p:nvPr/>
        </p:nvGrpSpPr>
        <p:grpSpPr>
          <a:xfrm>
            <a:off x="3348471" y="4371764"/>
            <a:ext cx="8378931" cy="1311067"/>
            <a:chOff x="4136995" y="4714289"/>
            <a:chExt cx="8378931"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50"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zh-CN" altLang="en-US" sz="2400" dirty="0"/>
            </a:p>
            <a:p>
              <a:pPr>
                <a:lnSpc>
                  <a:spcPct val="130000"/>
                </a:lnSpc>
              </a:pPr>
              <a:r>
                <a:rPr lang="zh-CN" altLang="en-US" sz="2400" dirty="0">
                  <a:solidFill>
                    <a:srgbClr val="0000FF"/>
                  </a:solidFill>
                </a:rPr>
                <a:t>实现对计算机资源的抽象</a:t>
              </a:r>
              <a:endParaRPr lang="zh-CN" altLang="en-US" sz="2400" dirty="0">
                <a:solidFill>
                  <a:srgbClr val="0000FF"/>
                </a:solidFill>
              </a:endParaRPr>
            </a:p>
            <a:p>
              <a:pPr marL="342900" indent="-342900">
                <a:lnSpc>
                  <a:spcPct val="130000"/>
                </a:lnSpc>
                <a:buClr>
                  <a:srgbClr val="FF0000"/>
                </a:buClr>
                <a:buFont typeface="Wingdings" panose="05000000000000000000" pitchFamily="2" charset="2"/>
                <a:buChar char="Ø"/>
              </a:pPr>
              <a:r>
                <a:rPr lang="zh-CN" altLang="en-US" sz="2400" dirty="0"/>
                <a:t>裸机：无软件的计算机系统。</a:t>
              </a:r>
              <a:endParaRPr lang="zh-CN" altLang="en-US" sz="2400" dirty="0"/>
            </a:p>
            <a:p>
              <a:pPr marL="342900" indent="-342900">
                <a:lnSpc>
                  <a:spcPct val="130000"/>
                </a:lnSpc>
                <a:buClr>
                  <a:srgbClr val="FF0000"/>
                </a:buClr>
                <a:buFont typeface="Wingdings" panose="05000000000000000000" pitchFamily="2" charset="2"/>
                <a:buChar char="Ø"/>
              </a:pPr>
              <a:r>
                <a:rPr lang="zh-CN" altLang="en-US" sz="2400" dirty="0"/>
                <a:t>虚拟机：覆盖了软件的机器，向用户提供一个对硬件操作的抽象模型。</a:t>
              </a:r>
              <a:endParaRPr lang="zh-CN" altLang="en-US" sz="240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b="1" dirty="0">
                <a:solidFill>
                  <a:srgbClr val="0000FF"/>
                </a:solidFill>
                <a:latin typeface="+mj-ea"/>
              </a:rPr>
              <a:t>1.2 </a:t>
            </a:r>
            <a:r>
              <a:rPr lang="zh-CN" altLang="en-US" sz="2400" b="1" dirty="0">
                <a:solidFill>
                  <a:srgbClr val="0000FF"/>
                </a:solidFill>
                <a:latin typeface="+mj-ea"/>
              </a:rPr>
              <a:t>操作系统的发展过程</a:t>
            </a:r>
            <a:endParaRPr lang="en-US" altLang="zh-CN" sz="2400" b="1" dirty="0">
              <a:solidFill>
                <a:srgbClr val="0000FF"/>
              </a:solidFill>
              <a:latin typeface="+mj-ea"/>
            </a:endParaRPr>
          </a:p>
        </p:txBody>
      </p:sp>
      <p:sp>
        <p:nvSpPr>
          <p:cNvPr id="24" name="矩形 23"/>
          <p:cNvSpPr/>
          <p:nvPr/>
        </p:nvSpPr>
        <p:spPr>
          <a:xfrm>
            <a:off x="1696468" y="2994798"/>
            <a:ext cx="3488967" cy="400110"/>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00110"/>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00110"/>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txBox="1"/>
          <p:nvPr/>
        </p:nvSpPr>
        <p:spPr>
          <a:xfrm>
            <a:off x="669925" y="530665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推动</a:t>
            </a:r>
            <a:r>
              <a:rPr lang="en-US" altLang="zh-CN" sz="2800" b="1" dirty="0">
                <a:solidFill>
                  <a:schemeClr val="bg1"/>
                </a:solidFill>
              </a:rPr>
              <a:t>OS</a:t>
            </a:r>
            <a:r>
              <a:rPr lang="zh-CN" altLang="en-US" sz="2800" b="1" dirty="0">
                <a:solidFill>
                  <a:schemeClr val="bg1"/>
                </a:solidFill>
              </a:rPr>
              <a:t>发展的主要动力</a:t>
            </a:r>
            <a:endParaRPr lang="zh-CN" altLang="en-US" sz="2800" b="1" dirty="0">
              <a:solidFill>
                <a:schemeClr val="bg1"/>
              </a:solidFill>
            </a:endParaRPr>
          </a:p>
        </p:txBody>
      </p:sp>
      <p:sp>
        <p:nvSpPr>
          <p:cNvPr id="10" name="iṥḷîdé"/>
          <p:cNvSpPr/>
          <p:nvPr/>
        </p:nvSpPr>
        <p:spPr bwMode="auto">
          <a:xfrm rot="610268">
            <a:off x="4224180" y="3695598"/>
            <a:ext cx="1187744" cy="1497020"/>
          </a:xfrm>
          <a:prstGeom prst="rtTriangle">
            <a:avLst/>
          </a:prstGeom>
          <a:solidFill>
            <a:schemeClr val="bg1">
              <a:lumMod val="65000"/>
            </a:schemeClr>
          </a:solidFill>
          <a:ln w="19050">
            <a:noFill/>
            <a:round/>
          </a:ln>
        </p:spPr>
        <p:txBody>
          <a:bodyPr wrap="square" lIns="91440" tIns="45720" rIns="91440" bIns="45720" anchor="ctr">
            <a:normAutofit/>
          </a:bodyPr>
          <a:lstStyle/>
          <a:p>
            <a:pPr algn="ctr"/>
          </a:p>
        </p:txBody>
      </p:sp>
      <p:sp>
        <p:nvSpPr>
          <p:cNvPr id="11" name="ïš1iďe"/>
          <p:cNvSpPr/>
          <p:nvPr/>
        </p:nvSpPr>
        <p:spPr bwMode="auto">
          <a:xfrm rot="16200000">
            <a:off x="1772352" y="1064207"/>
            <a:ext cx="1296144" cy="2052228"/>
          </a:xfrm>
          <a:prstGeom prst="triangle">
            <a:avLst/>
          </a:prstGeom>
          <a:solidFill>
            <a:schemeClr val="bg1">
              <a:lumMod val="65000"/>
            </a:schemeClr>
          </a:solidFill>
          <a:ln w="19050">
            <a:noFill/>
            <a:round/>
          </a:ln>
        </p:spPr>
        <p:txBody>
          <a:bodyPr wrap="square" lIns="91440" tIns="45720" rIns="91440" bIns="45720" anchor="ctr">
            <a:normAutofit/>
          </a:bodyPr>
          <a:lstStyle/>
          <a:p>
            <a:pPr algn="ctr"/>
          </a:p>
        </p:txBody>
      </p:sp>
      <p:sp>
        <p:nvSpPr>
          <p:cNvPr id="12" name="ïṥliḋe"/>
          <p:cNvSpPr/>
          <p:nvPr/>
        </p:nvSpPr>
        <p:spPr bwMode="auto">
          <a:xfrm rot="3712223">
            <a:off x="855993" y="1330709"/>
            <a:ext cx="4066498" cy="4482407"/>
          </a:xfrm>
          <a:custGeom>
            <a:avLst/>
            <a:gdLst>
              <a:gd name="connsiteX0" fmla="*/ 0 w 4066498"/>
              <a:gd name="connsiteY0" fmla="*/ 2863075 h 4482407"/>
              <a:gd name="connsiteX1" fmla="*/ 1937533 w 4066498"/>
              <a:gd name="connsiteY1" fmla="*/ 0 h 4482407"/>
              <a:gd name="connsiteX2" fmla="*/ 4066498 w 4066498"/>
              <a:gd name="connsiteY2" fmla="*/ 1138176 h 4482407"/>
              <a:gd name="connsiteX3" fmla="*/ 3028971 w 4066498"/>
              <a:gd name="connsiteY3" fmla="*/ 4482407 h 4482407"/>
              <a:gd name="connsiteX4" fmla="*/ 0 w 4066498"/>
              <a:gd name="connsiteY4" fmla="*/ 2863075 h 4482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6498" h="4482407">
                <a:moveTo>
                  <a:pt x="0" y="2863075"/>
                </a:moveTo>
                <a:lnTo>
                  <a:pt x="1937533" y="0"/>
                </a:lnTo>
                <a:lnTo>
                  <a:pt x="4066498" y="1138176"/>
                </a:lnTo>
                <a:lnTo>
                  <a:pt x="3028971" y="4482407"/>
                </a:lnTo>
                <a:lnTo>
                  <a:pt x="0" y="2863075"/>
                </a:lnTo>
                <a:close/>
              </a:path>
            </a:pathLst>
          </a:custGeom>
          <a:solidFill>
            <a:schemeClr val="bg1">
              <a:lumMod val="95000"/>
            </a:schemeClr>
          </a:solidFill>
          <a:ln w="19050">
            <a:noFill/>
            <a:round/>
          </a:ln>
        </p:spPr>
        <p:txBody>
          <a:bodyPr wrap="square" lIns="91440" tIns="45720" rIns="91440" bIns="45720" anchor="ctr">
            <a:normAutofit/>
          </a:bodyPr>
          <a:lstStyle/>
          <a:p>
            <a:pPr algn="ctr"/>
          </a:p>
        </p:txBody>
      </p:sp>
      <p:sp>
        <p:nvSpPr>
          <p:cNvPr id="13" name="íṧḷiḍe"/>
          <p:cNvSpPr/>
          <p:nvPr/>
        </p:nvSpPr>
        <p:spPr>
          <a:xfrm rot="10800000" flipV="1">
            <a:off x="1510436" y="3209926"/>
            <a:ext cx="2972566" cy="823924"/>
          </a:xfrm>
          <a:prstGeom prst="rect">
            <a:avLst/>
          </a:prstGeom>
        </p:spPr>
        <p:txBody>
          <a:bodyPr vert="horz" wrap="square" lIns="91440" tIns="45720" rIns="91440" bIns="45720" anchor="ctr">
            <a:normAutofit fontScale="92500" lnSpcReduction="10000"/>
          </a:bodyPr>
          <a:lstStyle/>
          <a:p>
            <a:pPr algn="ctr"/>
            <a:r>
              <a:rPr lang="zh-CN" altLang="en-US" sz="2800" b="1" i="1" dirty="0"/>
              <a:t>推动</a:t>
            </a:r>
            <a:r>
              <a:rPr lang="en-US" altLang="zh-CN" sz="2800" b="1" i="1" dirty="0"/>
              <a:t>OS</a:t>
            </a:r>
            <a:r>
              <a:rPr lang="zh-CN" altLang="en-US" sz="2800" b="1" i="1" dirty="0"/>
              <a:t>发展的主要动力</a:t>
            </a:r>
            <a:endParaRPr lang="zh-CN" altLang="en-US" sz="2800" b="1" i="1" dirty="0"/>
          </a:p>
        </p:txBody>
      </p:sp>
      <p:sp>
        <p:nvSpPr>
          <p:cNvPr id="16" name="îşļïďè"/>
          <p:cNvSpPr/>
          <p:nvPr/>
        </p:nvSpPr>
        <p:spPr>
          <a:xfrm>
            <a:off x="6236451" y="5047466"/>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5</a:t>
            </a:r>
            <a:endParaRPr lang="en-US" altLang="zh-CN" sz="2400" dirty="0">
              <a:solidFill>
                <a:schemeClr val="bg1"/>
              </a:solidFill>
              <a:latin typeface="Impact" panose="020B0806030902050204" pitchFamily="34" charset="0"/>
            </a:endParaRPr>
          </a:p>
        </p:txBody>
      </p:sp>
      <p:sp>
        <p:nvSpPr>
          <p:cNvPr id="22" name="îšḷîḑé"/>
          <p:cNvSpPr txBox="1"/>
          <p:nvPr/>
        </p:nvSpPr>
        <p:spPr>
          <a:xfrm>
            <a:off x="6860799" y="5160801"/>
            <a:ext cx="4659689" cy="430545"/>
          </a:xfrm>
          <a:prstGeom prst="rect">
            <a:avLst/>
          </a:prstGeom>
          <a:noFill/>
        </p:spPr>
        <p:txBody>
          <a:bodyPr wrap="square" lIns="91440" tIns="45720" rIns="91440" bIns="45720" anchor="b" anchorCtr="0">
            <a:noAutofit/>
          </a:bodyPr>
          <a:lstStyle/>
          <a:p>
            <a:r>
              <a:rPr lang="zh-CN" altLang="en-US" sz="2400" b="1" dirty="0">
                <a:solidFill>
                  <a:srgbClr val="0000FF"/>
                </a:solidFill>
              </a:rPr>
              <a:t>不断提出的新的应用需求</a:t>
            </a:r>
            <a:endParaRPr lang="zh-CN" altLang="en-US" sz="2400" b="1" dirty="0">
              <a:solidFill>
                <a:srgbClr val="0000FF"/>
              </a:solidFill>
            </a:endParaRPr>
          </a:p>
        </p:txBody>
      </p:sp>
      <p:sp>
        <p:nvSpPr>
          <p:cNvPr id="24" name="işlíḋé"/>
          <p:cNvSpPr/>
          <p:nvPr/>
        </p:nvSpPr>
        <p:spPr>
          <a:xfrm>
            <a:off x="6241890" y="4168890"/>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4</a:t>
            </a:r>
            <a:endParaRPr lang="en-US" altLang="zh-CN" sz="2400" dirty="0">
              <a:solidFill>
                <a:schemeClr val="bg1"/>
              </a:solidFill>
              <a:latin typeface="Impact" panose="020B0806030902050204" pitchFamily="34" charset="0"/>
            </a:endParaRPr>
          </a:p>
        </p:txBody>
      </p:sp>
      <p:sp>
        <p:nvSpPr>
          <p:cNvPr id="25" name="iṥlïḋè"/>
          <p:cNvSpPr txBox="1"/>
          <p:nvPr/>
        </p:nvSpPr>
        <p:spPr>
          <a:xfrm>
            <a:off x="6860799" y="4269347"/>
            <a:ext cx="4659689" cy="430545"/>
          </a:xfrm>
          <a:prstGeom prst="rect">
            <a:avLst/>
          </a:prstGeom>
          <a:noFill/>
        </p:spPr>
        <p:txBody>
          <a:bodyPr wrap="square" lIns="91440" tIns="45720" rIns="91440" bIns="45720" anchor="b" anchorCtr="0">
            <a:noAutofit/>
          </a:bodyPr>
          <a:lstStyle/>
          <a:p>
            <a:pPr>
              <a:lnSpc>
                <a:spcPct val="130000"/>
              </a:lnSpc>
            </a:pPr>
            <a:r>
              <a:rPr lang="zh-CN" altLang="en-US" sz="2400" b="1" dirty="0">
                <a:solidFill>
                  <a:srgbClr val="0000FF"/>
                </a:solidFill>
              </a:rPr>
              <a:t>计算机体系结构的不断发展</a:t>
            </a:r>
            <a:endParaRPr lang="zh-CN" altLang="en-US" sz="2400" b="1" dirty="0">
              <a:solidFill>
                <a:srgbClr val="0000FF"/>
              </a:solidFill>
            </a:endParaRPr>
          </a:p>
        </p:txBody>
      </p:sp>
      <p:sp>
        <p:nvSpPr>
          <p:cNvPr id="27" name="i$1îḑe"/>
          <p:cNvSpPr/>
          <p:nvPr/>
        </p:nvSpPr>
        <p:spPr>
          <a:xfrm>
            <a:off x="6241890" y="3290314"/>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3</a:t>
            </a:r>
            <a:endParaRPr lang="en-US" altLang="zh-CN" sz="2400" dirty="0">
              <a:solidFill>
                <a:schemeClr val="bg1"/>
              </a:solidFill>
              <a:latin typeface="Impact" panose="020B0806030902050204" pitchFamily="34" charset="0"/>
            </a:endParaRPr>
          </a:p>
        </p:txBody>
      </p:sp>
      <p:sp>
        <p:nvSpPr>
          <p:cNvPr id="28" name="í$1îḍe"/>
          <p:cNvSpPr txBox="1"/>
          <p:nvPr/>
        </p:nvSpPr>
        <p:spPr>
          <a:xfrm>
            <a:off x="6860799" y="3390771"/>
            <a:ext cx="4659689" cy="430545"/>
          </a:xfrm>
          <a:prstGeom prst="rect">
            <a:avLst/>
          </a:prstGeom>
          <a:noFill/>
        </p:spPr>
        <p:txBody>
          <a:bodyPr wrap="square" lIns="91440" tIns="45720" rIns="91440" bIns="45720" anchor="b" anchorCtr="0">
            <a:noAutofit/>
          </a:bodyPr>
          <a:lstStyle/>
          <a:p>
            <a:r>
              <a:rPr lang="zh-CN" altLang="en-US" sz="2400" b="1" dirty="0">
                <a:solidFill>
                  <a:srgbClr val="0000FF"/>
                </a:solidFill>
              </a:rPr>
              <a:t>器件的不断更新换代</a:t>
            </a:r>
            <a:endParaRPr lang="en-US" altLang="zh-CN" sz="2400" b="1" dirty="0">
              <a:solidFill>
                <a:srgbClr val="0000FF"/>
              </a:solidFill>
            </a:endParaRPr>
          </a:p>
        </p:txBody>
      </p:sp>
      <p:sp>
        <p:nvSpPr>
          <p:cNvPr id="30" name="ïSļïḓè"/>
          <p:cNvSpPr/>
          <p:nvPr/>
        </p:nvSpPr>
        <p:spPr>
          <a:xfrm>
            <a:off x="6241890" y="2411738"/>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2</a:t>
            </a:r>
            <a:endParaRPr lang="en-US" altLang="zh-CN" sz="2400" dirty="0">
              <a:solidFill>
                <a:schemeClr val="bg1"/>
              </a:solidFill>
              <a:latin typeface="Impact" panose="020B0806030902050204" pitchFamily="34" charset="0"/>
            </a:endParaRPr>
          </a:p>
        </p:txBody>
      </p:sp>
      <p:sp>
        <p:nvSpPr>
          <p:cNvPr id="31" name="iŝļíďè"/>
          <p:cNvSpPr txBox="1"/>
          <p:nvPr/>
        </p:nvSpPr>
        <p:spPr>
          <a:xfrm>
            <a:off x="6860799" y="2512194"/>
            <a:ext cx="4659689" cy="430545"/>
          </a:xfrm>
          <a:prstGeom prst="rect">
            <a:avLst/>
          </a:prstGeom>
          <a:noFill/>
        </p:spPr>
        <p:txBody>
          <a:bodyPr wrap="square" lIns="91440" tIns="45720" rIns="91440" bIns="45720" anchor="b" anchorCtr="0">
            <a:noAutofit/>
          </a:bodyPr>
          <a:lstStyle/>
          <a:p>
            <a:r>
              <a:rPr lang="zh-CN" altLang="en-US" sz="2400" b="1" dirty="0">
                <a:solidFill>
                  <a:srgbClr val="0000FF"/>
                </a:solidFill>
              </a:rPr>
              <a:t>方便用户</a:t>
            </a:r>
            <a:endParaRPr lang="en-US" altLang="zh-CN" sz="2400" b="1" dirty="0">
              <a:solidFill>
                <a:srgbClr val="0000FF"/>
              </a:solidFill>
            </a:endParaRPr>
          </a:p>
        </p:txBody>
      </p:sp>
      <p:sp>
        <p:nvSpPr>
          <p:cNvPr id="33" name="ïśľiďe"/>
          <p:cNvSpPr/>
          <p:nvPr/>
        </p:nvSpPr>
        <p:spPr>
          <a:xfrm>
            <a:off x="6241892" y="1533162"/>
            <a:ext cx="624349" cy="62434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1</a:t>
            </a:r>
            <a:endParaRPr lang="en-US" altLang="zh-CN" sz="2400" dirty="0">
              <a:solidFill>
                <a:schemeClr val="bg1"/>
              </a:solidFill>
              <a:latin typeface="Impact" panose="020B0806030902050204" pitchFamily="34" charset="0"/>
            </a:endParaRPr>
          </a:p>
        </p:txBody>
      </p:sp>
      <p:sp>
        <p:nvSpPr>
          <p:cNvPr id="34" name="îṡ1ide"/>
          <p:cNvSpPr txBox="1"/>
          <p:nvPr/>
        </p:nvSpPr>
        <p:spPr>
          <a:xfrm>
            <a:off x="6860799" y="1607861"/>
            <a:ext cx="4659689" cy="430545"/>
          </a:xfrm>
          <a:prstGeom prst="rect">
            <a:avLst/>
          </a:prstGeom>
          <a:noFill/>
        </p:spPr>
        <p:txBody>
          <a:bodyPr wrap="square" lIns="91440" tIns="45720" rIns="91440" bIns="45720" anchor="b" anchorCtr="0">
            <a:noAutofit/>
          </a:bodyPr>
          <a:lstStyle/>
          <a:p>
            <a:r>
              <a:rPr lang="zh-CN" altLang="en-US" sz="2400" b="1" dirty="0">
                <a:solidFill>
                  <a:srgbClr val="0000FF"/>
                </a:solidFill>
              </a:rPr>
              <a:t>不断提高计算机资源利用率</a:t>
            </a:r>
            <a:endParaRPr lang="en-US" altLang="zh-CN" sz="2400" b="1" dirty="0">
              <a:solidFill>
                <a:srgbClr val="0000FF"/>
              </a:solidFill>
            </a:endParaRPr>
          </a:p>
        </p:txBody>
      </p:sp>
      <p:cxnSp>
        <p:nvCxnSpPr>
          <p:cNvPr id="36" name="直接连接符 35"/>
          <p:cNvCxnSpPr/>
          <p:nvPr/>
        </p:nvCxnSpPr>
        <p:spPr>
          <a:xfrm>
            <a:off x="6860799" y="2216515"/>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6860799" y="310461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860799" y="399996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6860799" y="489531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操作系统的发展过程</a:t>
            </a:r>
            <a:endParaRPr lang="zh-CN" altLang="en-US" sz="2800" b="1" dirty="0">
              <a:solidFill>
                <a:schemeClr val="bg1"/>
              </a:solidFill>
            </a:endParaRPr>
          </a:p>
        </p:txBody>
      </p:sp>
      <p:sp>
        <p:nvSpPr>
          <p:cNvPr id="61" name="iśḷíḑe"/>
          <p:cNvSpPr/>
          <p:nvPr/>
        </p:nvSpPr>
        <p:spPr>
          <a:xfrm>
            <a:off x="784302" y="1628059"/>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62" name="ïś1ïḑè"/>
          <p:cNvSpPr/>
          <p:nvPr/>
        </p:nvSpPr>
        <p:spPr>
          <a:xfrm>
            <a:off x="1490999" y="2611473"/>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83" name="iśḷíḑe"/>
          <p:cNvSpPr/>
          <p:nvPr/>
        </p:nvSpPr>
        <p:spPr>
          <a:xfrm>
            <a:off x="2214899" y="3369995"/>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84" name="ïś1ïḑè"/>
          <p:cNvSpPr/>
          <p:nvPr/>
        </p:nvSpPr>
        <p:spPr>
          <a:xfrm>
            <a:off x="2938799" y="4152251"/>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85" name="内容占位符 2"/>
          <p:cNvSpPr txBox="1"/>
          <p:nvPr/>
        </p:nvSpPr>
        <p:spPr>
          <a:xfrm>
            <a:off x="1734478" y="1548195"/>
            <a:ext cx="5168423" cy="10711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无操作系统的计算机系统</a:t>
            </a:r>
            <a:endParaRPr lang="en-US" altLang="zh-CN" sz="2400" dirty="0"/>
          </a:p>
          <a:p>
            <a:pPr lvl="1">
              <a:lnSpc>
                <a:spcPct val="132000"/>
              </a:lnSpc>
              <a:buClr>
                <a:srgbClr val="0000FF"/>
              </a:buClr>
              <a:buFont typeface="Wingdings" panose="05000000000000000000" pitchFamily="2" charset="2"/>
              <a:buChar char="Ø"/>
            </a:pPr>
            <a:r>
              <a:rPr lang="zh-CN" altLang="en-US" sz="2200" dirty="0"/>
              <a:t>人工操作方式</a:t>
            </a:r>
            <a:endParaRPr lang="en-US" altLang="zh-CN" sz="2200" dirty="0"/>
          </a:p>
        </p:txBody>
      </p:sp>
      <p:sp>
        <p:nvSpPr>
          <p:cNvPr id="86" name="内容占位符 2"/>
          <p:cNvSpPr txBox="1"/>
          <p:nvPr/>
        </p:nvSpPr>
        <p:spPr>
          <a:xfrm>
            <a:off x="2441174" y="2842367"/>
            <a:ext cx="2573361"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单道批处理</a:t>
            </a:r>
            <a:r>
              <a:rPr lang="zh-CN" altLang="en-US" sz="2400" dirty="0"/>
              <a:t>系统</a:t>
            </a:r>
            <a:endParaRPr lang="zh-CN" altLang="en-US" sz="2400" dirty="0"/>
          </a:p>
        </p:txBody>
      </p:sp>
      <p:sp>
        <p:nvSpPr>
          <p:cNvPr id="87" name="内容占位符 2"/>
          <p:cNvSpPr txBox="1"/>
          <p:nvPr/>
        </p:nvSpPr>
        <p:spPr>
          <a:xfrm>
            <a:off x="3165075" y="3616608"/>
            <a:ext cx="2573360"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多道批处理</a:t>
            </a:r>
            <a:r>
              <a:rPr lang="zh-CN" altLang="en-US" sz="2400" dirty="0"/>
              <a:t>系统</a:t>
            </a:r>
            <a:endParaRPr lang="zh-CN" altLang="en-US" sz="2400" dirty="0"/>
          </a:p>
        </p:txBody>
      </p:sp>
      <p:sp>
        <p:nvSpPr>
          <p:cNvPr id="88" name="内容占位符 2"/>
          <p:cNvSpPr txBox="1"/>
          <p:nvPr/>
        </p:nvSpPr>
        <p:spPr>
          <a:xfrm>
            <a:off x="3888975" y="4416337"/>
            <a:ext cx="2290026"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分时</a:t>
            </a:r>
            <a:r>
              <a:rPr lang="zh-CN" altLang="en-US" sz="2400" dirty="0"/>
              <a:t>系统</a:t>
            </a:r>
            <a:endParaRPr lang="zh-CN" altLang="en-US" sz="2400" dirty="0"/>
          </a:p>
        </p:txBody>
      </p:sp>
      <p:sp>
        <p:nvSpPr>
          <p:cNvPr id="89" name="iśḷíḑe"/>
          <p:cNvSpPr/>
          <p:nvPr/>
        </p:nvSpPr>
        <p:spPr>
          <a:xfrm>
            <a:off x="3838776" y="503940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05</a:t>
            </a:r>
            <a:endParaRPr lang="zh-CN" altLang="en-US" sz="2400" b="1" kern="0" dirty="0">
              <a:solidFill>
                <a:prstClr val="white"/>
              </a:solidFill>
            </a:endParaRPr>
          </a:p>
        </p:txBody>
      </p:sp>
      <p:sp>
        <p:nvSpPr>
          <p:cNvPr id="90" name="内容占位符 2"/>
          <p:cNvSpPr txBox="1"/>
          <p:nvPr/>
        </p:nvSpPr>
        <p:spPr>
          <a:xfrm>
            <a:off x="4788952" y="5296963"/>
            <a:ext cx="229002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实时</a:t>
            </a:r>
            <a:r>
              <a:rPr lang="zh-CN" altLang="en-US" sz="2400" dirty="0"/>
              <a:t>系统</a:t>
            </a:r>
            <a:endParaRPr lang="en-US" altLang="zh-CN" sz="2400" dirty="0"/>
          </a:p>
        </p:txBody>
      </p:sp>
      <p:sp>
        <p:nvSpPr>
          <p:cNvPr id="91" name="iśḷíḑe"/>
          <p:cNvSpPr/>
          <p:nvPr/>
        </p:nvSpPr>
        <p:spPr>
          <a:xfrm>
            <a:off x="7276648" y="1647506"/>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06</a:t>
            </a:r>
            <a:endParaRPr lang="zh-CN" altLang="en-US" sz="2400" b="1" kern="0" dirty="0">
              <a:solidFill>
                <a:prstClr val="white"/>
              </a:solidFill>
            </a:endParaRPr>
          </a:p>
        </p:txBody>
      </p:sp>
      <p:sp>
        <p:nvSpPr>
          <p:cNvPr id="92" name="ïś1ïḑè"/>
          <p:cNvSpPr/>
          <p:nvPr/>
        </p:nvSpPr>
        <p:spPr>
          <a:xfrm>
            <a:off x="7276648" y="2740454"/>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07</a:t>
            </a:r>
            <a:endParaRPr lang="zh-CN" altLang="en-US" sz="2400" b="1" kern="0" dirty="0">
              <a:solidFill>
                <a:prstClr val="white"/>
              </a:solidFill>
            </a:endParaRPr>
          </a:p>
        </p:txBody>
      </p:sp>
      <p:sp>
        <p:nvSpPr>
          <p:cNvPr id="93" name="iśḷíḑe"/>
          <p:cNvSpPr/>
          <p:nvPr/>
        </p:nvSpPr>
        <p:spPr>
          <a:xfrm>
            <a:off x="7276648" y="3833402"/>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08</a:t>
            </a:r>
            <a:endParaRPr lang="zh-CN" altLang="en-US" sz="2400" b="1" kern="0" dirty="0">
              <a:solidFill>
                <a:prstClr val="white"/>
              </a:solidFill>
            </a:endParaRPr>
          </a:p>
        </p:txBody>
      </p:sp>
      <p:sp>
        <p:nvSpPr>
          <p:cNvPr id="94" name="ïś1ïḑè"/>
          <p:cNvSpPr/>
          <p:nvPr/>
        </p:nvSpPr>
        <p:spPr>
          <a:xfrm>
            <a:off x="7276648" y="4926350"/>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09</a:t>
            </a:r>
            <a:endParaRPr lang="zh-CN" altLang="en-US" sz="2400" b="1" kern="0" dirty="0">
              <a:solidFill>
                <a:prstClr val="white"/>
              </a:solidFill>
            </a:endParaRPr>
          </a:p>
        </p:txBody>
      </p:sp>
      <p:sp>
        <p:nvSpPr>
          <p:cNvPr id="95" name="内容占位符 2"/>
          <p:cNvSpPr txBox="1"/>
          <p:nvPr/>
        </p:nvSpPr>
        <p:spPr>
          <a:xfrm>
            <a:off x="8226824" y="1746563"/>
            <a:ext cx="2015650" cy="3440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微机</a:t>
            </a:r>
            <a:r>
              <a:rPr lang="zh-CN" altLang="en-US" sz="2400" dirty="0"/>
              <a:t>操作系统</a:t>
            </a:r>
            <a:endParaRPr lang="en-US" altLang="zh-CN" sz="2400" dirty="0"/>
          </a:p>
        </p:txBody>
      </p:sp>
      <p:sp>
        <p:nvSpPr>
          <p:cNvPr id="96" name="内容占位符 2"/>
          <p:cNvSpPr txBox="1"/>
          <p:nvPr/>
        </p:nvSpPr>
        <p:spPr>
          <a:xfrm>
            <a:off x="8226824" y="2871612"/>
            <a:ext cx="2508967"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嵌入式</a:t>
            </a:r>
            <a:r>
              <a:rPr lang="zh-CN" altLang="en-US" sz="2400" dirty="0"/>
              <a:t>操作系统</a:t>
            </a:r>
            <a:endParaRPr lang="en-US" altLang="zh-CN" sz="2400" dirty="0"/>
          </a:p>
        </p:txBody>
      </p:sp>
      <p:sp>
        <p:nvSpPr>
          <p:cNvPr id="97" name="内容占位符 2"/>
          <p:cNvSpPr txBox="1"/>
          <p:nvPr/>
        </p:nvSpPr>
        <p:spPr>
          <a:xfrm>
            <a:off x="8226824" y="4018320"/>
            <a:ext cx="229002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网络</a:t>
            </a:r>
            <a:r>
              <a:rPr lang="zh-CN" altLang="en-US" sz="2400" dirty="0"/>
              <a:t>操作系统</a:t>
            </a:r>
            <a:endParaRPr lang="en-US" altLang="zh-CN" sz="2400" dirty="0"/>
          </a:p>
        </p:txBody>
      </p:sp>
      <p:sp>
        <p:nvSpPr>
          <p:cNvPr id="98" name="内容占位符 2"/>
          <p:cNvSpPr txBox="1"/>
          <p:nvPr/>
        </p:nvSpPr>
        <p:spPr>
          <a:xfrm>
            <a:off x="8226824" y="5166782"/>
            <a:ext cx="2637756"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分布式</a:t>
            </a:r>
            <a:r>
              <a:rPr lang="zh-CN" altLang="en-US" sz="2400" dirty="0"/>
              <a:t>操作系统</a:t>
            </a:r>
            <a:endParaRPr lang="zh-CN" altLang="en-US" sz="2400" dirty="0"/>
          </a:p>
        </p:txBody>
      </p:sp>
      <p:sp>
        <p:nvSpPr>
          <p:cNvPr id="21" name="内容占位符 2"/>
          <p:cNvSpPr txBox="1"/>
          <p:nvPr/>
        </p:nvSpPr>
        <p:spPr>
          <a:xfrm>
            <a:off x="3986831" y="2088711"/>
            <a:ext cx="2410044" cy="5692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脱机</a:t>
            </a:r>
            <a:r>
              <a:rPr lang="en-US" altLang="zh-CN" sz="2200" dirty="0"/>
              <a:t>I/O</a:t>
            </a:r>
            <a:r>
              <a:rPr lang="zh-CN" altLang="en-US" sz="2200" dirty="0"/>
              <a:t>方式</a:t>
            </a:r>
            <a:endParaRPr lang="en-US" altLang="zh-CN"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867883" y="1042928"/>
            <a:ext cx="4392612"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a:buClrTx/>
              <a:buSzTx/>
              <a:buFontTx/>
              <a:buNone/>
            </a:pPr>
            <a:r>
              <a:rPr lang="en-US" altLang="zh-CN" sz="2400" b="0" dirty="0">
                <a:solidFill>
                  <a:srgbClr val="FF9900"/>
                </a:solidFill>
                <a:latin typeface="楷体_GB2312" pitchFamily="49" charset="-122"/>
              </a:rPr>
              <a:t> </a:t>
            </a:r>
            <a:r>
              <a:rPr lang="en-US" altLang="zh-CN" sz="2800" b="0" dirty="0">
                <a:solidFill>
                  <a:srgbClr val="FF9900"/>
                </a:solidFill>
                <a:latin typeface="隶书" panose="02010509060101010101" pitchFamily="49" charset="-122"/>
                <a:ea typeface="隶书" panose="02010509060101010101" pitchFamily="49" charset="-122"/>
              </a:rPr>
              <a:t>1</a:t>
            </a:r>
            <a:r>
              <a:rPr lang="zh-CN" altLang="en-US" sz="2800" b="0" dirty="0">
                <a:solidFill>
                  <a:srgbClr val="FF9900"/>
                </a:solidFill>
                <a:latin typeface="隶书" panose="02010509060101010101" pitchFamily="49" charset="-122"/>
                <a:ea typeface="隶书" panose="02010509060101010101" pitchFamily="49" charset="-122"/>
              </a:rPr>
              <a:t>．人工操作阶段</a:t>
            </a:r>
            <a:endParaRPr lang="zh-CN" altLang="en-US" sz="2800" b="0" dirty="0">
              <a:solidFill>
                <a:schemeClr val="tx1"/>
              </a:solidFill>
              <a:latin typeface="隶书" panose="02010509060101010101" pitchFamily="49" charset="-122"/>
              <a:ea typeface="隶书" panose="02010509060101010101" pitchFamily="49" charset="-122"/>
            </a:endParaRPr>
          </a:p>
        </p:txBody>
      </p:sp>
      <p:sp>
        <p:nvSpPr>
          <p:cNvPr id="3" name="Text Box 4"/>
          <p:cNvSpPr txBox="1">
            <a:spLocks noChangeArrowheads="1"/>
          </p:cNvSpPr>
          <p:nvPr/>
        </p:nvSpPr>
        <p:spPr bwMode="auto">
          <a:xfrm>
            <a:off x="574195" y="1616015"/>
            <a:ext cx="838835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a:buClrTx/>
              <a:buSzTx/>
              <a:buFontTx/>
              <a:buNone/>
            </a:pPr>
            <a:r>
              <a:rPr lang="en-US" altLang="zh-CN" sz="2400" dirty="0">
                <a:solidFill>
                  <a:srgbClr val="008000"/>
                </a:solidFill>
                <a:latin typeface="楷体_GB2312" pitchFamily="49" charset="-122"/>
              </a:rPr>
              <a:t>    </a:t>
            </a:r>
            <a:r>
              <a:rPr lang="zh-CN" altLang="en-US" sz="2400" dirty="0">
                <a:solidFill>
                  <a:srgbClr val="008000"/>
                </a:solidFill>
                <a:latin typeface="楷体_GB2312" pitchFamily="49" charset="-122"/>
              </a:rPr>
              <a:t>电子管时代</a:t>
            </a:r>
            <a:r>
              <a:rPr lang="zh-CN" altLang="en-US" sz="2400" dirty="0">
                <a:latin typeface="楷体_GB2312" pitchFamily="49" charset="-122"/>
              </a:rPr>
              <a:t>，计算机的运算速度较慢，</a:t>
            </a:r>
            <a:r>
              <a:rPr lang="zh-CN" altLang="en-US" sz="2400" dirty="0">
                <a:solidFill>
                  <a:schemeClr val="hlink"/>
                </a:solidFill>
                <a:latin typeface="楷体_GB2312" pitchFamily="49" charset="-122"/>
              </a:rPr>
              <a:t>没有操作系统</a:t>
            </a:r>
            <a:r>
              <a:rPr lang="zh-CN" altLang="en-US" sz="2400" dirty="0">
                <a:latin typeface="楷体_GB2312" pitchFamily="49" charset="-122"/>
              </a:rPr>
              <a:t>，  人们采用人工操作方式使用计算机。</a:t>
            </a:r>
            <a:endParaRPr lang="zh-CN" altLang="en-US" sz="2400" dirty="0">
              <a:latin typeface="楷体_GB2312" pitchFamily="49" charset="-122"/>
            </a:endParaRPr>
          </a:p>
        </p:txBody>
      </p:sp>
      <p:grpSp>
        <p:nvGrpSpPr>
          <p:cNvPr id="4" name="Group 13"/>
          <p:cNvGrpSpPr/>
          <p:nvPr/>
        </p:nvGrpSpPr>
        <p:grpSpPr bwMode="auto">
          <a:xfrm>
            <a:off x="1306033" y="2479615"/>
            <a:ext cx="6934200" cy="1371600"/>
            <a:chOff x="816" y="1728"/>
            <a:chExt cx="4368" cy="864"/>
          </a:xfrm>
        </p:grpSpPr>
        <p:graphicFrame>
          <p:nvGraphicFramePr>
            <p:cNvPr id="5" name="Object 11"/>
            <p:cNvGraphicFramePr>
              <a:graphicFrameLocks noChangeAspect="1"/>
            </p:cNvGraphicFramePr>
            <p:nvPr/>
          </p:nvGraphicFramePr>
          <p:xfrm>
            <a:off x="816" y="1728"/>
            <a:ext cx="4368" cy="779"/>
          </p:xfrm>
          <a:graphic>
            <a:graphicData uri="http://schemas.openxmlformats.org/presentationml/2006/ole">
              <mc:AlternateContent xmlns:mc="http://schemas.openxmlformats.org/markup-compatibility/2006">
                <mc:Choice xmlns:v="urn:schemas-microsoft-com:vml" Requires="v">
                  <p:oleObj spid="_x0000_s2057" name="BMP 图象" r:id="rId1" imgW="3686175" imgH="657225" progId="Paint.Picture">
                    <p:embed/>
                  </p:oleObj>
                </mc:Choice>
                <mc:Fallback>
                  <p:oleObj name="BMP 图象" r:id="rId1" imgW="3686175" imgH="657225" progId="Paint.Picture">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 y="1728"/>
                          <a:ext cx="4368" cy="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12"/>
            <p:cNvSpPr>
              <a:spLocks noChangeArrowheads="1"/>
            </p:cNvSpPr>
            <p:nvPr/>
          </p:nvSpPr>
          <p:spPr bwMode="auto">
            <a:xfrm>
              <a:off x="2400" y="2304"/>
              <a:ext cx="14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zh-CN" altLang="en-US" sz="2400">
                  <a:latin typeface="Times New Roman" panose="02020603050405020304" charset="0"/>
                </a:rPr>
                <a:t>手工操作计算机</a:t>
              </a:r>
              <a:endParaRPr kumimoji="1" lang="zh-CN" altLang="en-US" sz="2400">
                <a:latin typeface="Times New Roman" panose="02020603050405020304" charset="0"/>
              </a:endParaRPr>
            </a:p>
          </p:txBody>
        </p:sp>
      </p:grpSp>
      <p:sp>
        <p:nvSpPr>
          <p:cNvPr id="7" name="Rectangle 15"/>
          <p:cNvSpPr>
            <a:spLocks noChangeArrowheads="1"/>
          </p:cNvSpPr>
          <p:nvPr/>
        </p:nvSpPr>
        <p:spPr bwMode="auto">
          <a:xfrm>
            <a:off x="1028220" y="3970278"/>
            <a:ext cx="733425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lnSpc>
                <a:spcPct val="100000"/>
              </a:lnSpc>
              <a:spcBef>
                <a:spcPct val="0"/>
              </a:spcBef>
              <a:buFont typeface="Wingdings" panose="05000000000000000000" pitchFamily="2" charset="2"/>
              <a:buNone/>
            </a:pPr>
            <a:r>
              <a:rPr lang="zh-CN" altLang="en-US" sz="2400">
                <a:solidFill>
                  <a:srgbClr val="008000"/>
                </a:solidFill>
                <a:latin typeface="楷体_GB2312" pitchFamily="49" charset="-122"/>
              </a:rPr>
              <a:t>特点</a:t>
            </a:r>
            <a:r>
              <a:rPr lang="en-US" altLang="zh-CN" sz="2400">
                <a:solidFill>
                  <a:srgbClr val="008000"/>
                </a:solidFill>
                <a:latin typeface="楷体_GB2312" pitchFamily="49" charset="-122"/>
              </a:rPr>
              <a:t>:</a:t>
            </a:r>
            <a:endParaRPr lang="en-US" altLang="zh-CN" sz="2400">
              <a:solidFill>
                <a:srgbClr val="008000"/>
              </a:solidFill>
              <a:latin typeface="楷体_GB2312" pitchFamily="49" charset="-122"/>
            </a:endParaRPr>
          </a:p>
          <a:p>
            <a:pPr algn="just" eaLnBrk="1" hangingPunct="1">
              <a:lnSpc>
                <a:spcPct val="100000"/>
              </a:lnSpc>
              <a:spcBef>
                <a:spcPct val="0"/>
              </a:spcBef>
              <a:buFont typeface="Wingdings" panose="05000000000000000000" pitchFamily="2" charset="2"/>
              <a:buNone/>
            </a:pPr>
            <a:r>
              <a:rPr lang="en-US" altLang="zh-CN" sz="2400">
                <a:solidFill>
                  <a:srgbClr val="3333CC"/>
                </a:solidFill>
                <a:latin typeface="楷体_GB2312" pitchFamily="49" charset="-122"/>
              </a:rPr>
              <a:t>  </a:t>
            </a:r>
            <a:r>
              <a:rPr lang="en-US" altLang="zh-CN" sz="2400">
                <a:latin typeface="楷体_GB2312" pitchFamily="49" charset="-122"/>
              </a:rPr>
              <a:t>1</a:t>
            </a:r>
            <a:r>
              <a:rPr lang="zh-CN" altLang="en-US" sz="2400">
                <a:latin typeface="楷体_GB2312" pitchFamily="49" charset="-122"/>
              </a:rPr>
              <a:t>、用户独占全机   </a:t>
            </a:r>
            <a:r>
              <a:rPr lang="en-US" altLang="zh-CN" sz="2400">
                <a:latin typeface="楷体_GB2312" pitchFamily="49" charset="-122"/>
              </a:rPr>
              <a:t>2</a:t>
            </a:r>
            <a:r>
              <a:rPr lang="zh-CN" altLang="en-US" sz="2400">
                <a:latin typeface="楷体_GB2312" pitchFamily="49" charset="-122"/>
              </a:rPr>
              <a:t>、</a:t>
            </a:r>
            <a:r>
              <a:rPr lang="en-US" altLang="zh-CN" sz="2400">
                <a:latin typeface="楷体_GB2312" pitchFamily="49" charset="-122"/>
              </a:rPr>
              <a:t>CPU</a:t>
            </a:r>
            <a:r>
              <a:rPr lang="zh-CN" altLang="en-US" sz="2400">
                <a:latin typeface="楷体_GB2312" pitchFamily="49" charset="-122"/>
              </a:rPr>
              <a:t>等待人工操作</a:t>
            </a:r>
            <a:endParaRPr lang="zh-CN" altLang="en-US" sz="2400">
              <a:latin typeface="楷体_GB2312" pitchFamily="49" charset="-122"/>
            </a:endParaRPr>
          </a:p>
          <a:p>
            <a:pPr algn="just" eaLnBrk="1" hangingPunct="1">
              <a:lnSpc>
                <a:spcPct val="100000"/>
              </a:lnSpc>
              <a:spcBef>
                <a:spcPct val="0"/>
              </a:spcBef>
              <a:buFont typeface="Wingdings" panose="05000000000000000000" pitchFamily="2" charset="2"/>
              <a:buNone/>
            </a:pPr>
            <a:r>
              <a:rPr lang="zh-CN" altLang="en-US" sz="2400">
                <a:latin typeface="楷体_GB2312" pitchFamily="49" charset="-122"/>
              </a:rPr>
              <a:t>  </a:t>
            </a:r>
            <a:r>
              <a:rPr lang="en-US" altLang="zh-CN" sz="2400">
                <a:latin typeface="楷体_GB2312" pitchFamily="49" charset="-122"/>
              </a:rPr>
              <a:t>3</a:t>
            </a:r>
            <a:r>
              <a:rPr lang="zh-CN" altLang="en-US" sz="2400">
                <a:latin typeface="楷体_GB2312" pitchFamily="49" charset="-122"/>
              </a:rPr>
              <a:t>、独占性         </a:t>
            </a:r>
            <a:r>
              <a:rPr lang="en-US" altLang="zh-CN" sz="2400">
                <a:latin typeface="楷体_GB2312" pitchFamily="49" charset="-122"/>
              </a:rPr>
              <a:t>4</a:t>
            </a:r>
            <a:r>
              <a:rPr lang="zh-CN" altLang="en-US" sz="2400">
                <a:latin typeface="楷体_GB2312" pitchFamily="49" charset="-122"/>
              </a:rPr>
              <a:t>、串行性</a:t>
            </a:r>
            <a:endParaRPr lang="zh-CN" altLang="en-US" sz="2400">
              <a:latin typeface="楷体_GB2312" pitchFamily="49" charset="-122"/>
            </a:endParaRPr>
          </a:p>
          <a:p>
            <a:pPr algn="just" eaLnBrk="1" hangingPunct="1">
              <a:lnSpc>
                <a:spcPct val="100000"/>
              </a:lnSpc>
              <a:spcBef>
                <a:spcPct val="0"/>
              </a:spcBef>
              <a:buFont typeface="Wingdings" panose="05000000000000000000" pitchFamily="2" charset="2"/>
              <a:buNone/>
            </a:pPr>
            <a:r>
              <a:rPr lang="zh-CN" altLang="en-US" sz="2400">
                <a:solidFill>
                  <a:srgbClr val="008000"/>
                </a:solidFill>
                <a:latin typeface="楷体_GB2312" pitchFamily="49" charset="-122"/>
              </a:rPr>
              <a:t>缺点</a:t>
            </a:r>
            <a:r>
              <a:rPr lang="en-US" altLang="zh-CN" sz="2400">
                <a:solidFill>
                  <a:srgbClr val="008000"/>
                </a:solidFill>
                <a:latin typeface="楷体_GB2312" pitchFamily="49" charset="-122"/>
              </a:rPr>
              <a:t>:</a:t>
            </a:r>
            <a:endParaRPr lang="en-US" altLang="zh-CN" sz="2400">
              <a:solidFill>
                <a:srgbClr val="008000"/>
              </a:solidFill>
              <a:latin typeface="楷体_GB2312" pitchFamily="49" charset="-122"/>
            </a:endParaRPr>
          </a:p>
          <a:p>
            <a:pPr algn="just" eaLnBrk="1" hangingPunct="1">
              <a:lnSpc>
                <a:spcPct val="100000"/>
              </a:lnSpc>
              <a:spcBef>
                <a:spcPct val="0"/>
              </a:spcBef>
              <a:buFont typeface="Wingdings" panose="05000000000000000000" pitchFamily="2" charset="2"/>
              <a:buNone/>
            </a:pPr>
            <a:r>
              <a:rPr lang="en-US" altLang="zh-CN" sz="2400">
                <a:latin typeface="楷体_GB2312" pitchFamily="49" charset="-122"/>
              </a:rPr>
              <a:t>  1</a:t>
            </a:r>
            <a:r>
              <a:rPr lang="zh-CN" altLang="en-US" sz="2400">
                <a:latin typeface="楷体_GB2312" pitchFamily="49" charset="-122"/>
              </a:rPr>
              <a:t>、计算机的有效机时严重浪费    </a:t>
            </a:r>
            <a:r>
              <a:rPr lang="en-US" altLang="zh-CN" sz="2400">
                <a:latin typeface="楷体_GB2312" pitchFamily="49" charset="-122"/>
              </a:rPr>
              <a:t>2</a:t>
            </a:r>
            <a:r>
              <a:rPr lang="zh-CN" altLang="en-US" sz="2400">
                <a:latin typeface="楷体_GB2312" pitchFamily="49" charset="-122"/>
              </a:rPr>
              <a:t>、效率低</a:t>
            </a:r>
            <a:endParaRPr lang="zh-CN" altLang="en-US" sz="2400">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6"/>
          <p:cNvSpPr>
            <a:spLocks noChangeArrowheads="1"/>
          </p:cNvSpPr>
          <p:nvPr/>
        </p:nvSpPr>
        <p:spPr bwMode="auto">
          <a:xfrm>
            <a:off x="1201798" y="1140484"/>
            <a:ext cx="23383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lang="en-US" altLang="zh-CN" sz="2800" b="0">
                <a:solidFill>
                  <a:srgbClr val="FF9900"/>
                </a:solidFill>
                <a:latin typeface="隶书" panose="02010509060101010101" pitchFamily="49" charset="-122"/>
                <a:ea typeface="隶书" panose="02010509060101010101" pitchFamily="49" charset="-122"/>
              </a:rPr>
              <a:t>2.</a:t>
            </a:r>
            <a:r>
              <a:rPr lang="zh-CN" altLang="en-US" sz="2800" b="0">
                <a:solidFill>
                  <a:srgbClr val="FF9900"/>
                </a:solidFill>
                <a:latin typeface="隶书" panose="02010509060101010101" pitchFamily="49" charset="-122"/>
                <a:ea typeface="隶书" panose="02010509060101010101" pitchFamily="49" charset="-122"/>
              </a:rPr>
              <a:t>批处理阶段</a:t>
            </a:r>
            <a:endParaRPr lang="zh-CN" altLang="en-US" sz="2800" b="0">
              <a:solidFill>
                <a:srgbClr val="FF9900"/>
              </a:solidFill>
              <a:latin typeface="隶书" panose="02010509060101010101" pitchFamily="49" charset="-122"/>
              <a:ea typeface="隶书" panose="02010509060101010101" pitchFamily="49" charset="-122"/>
            </a:endParaRPr>
          </a:p>
        </p:txBody>
      </p:sp>
      <p:sp>
        <p:nvSpPr>
          <p:cNvPr id="3" name="Rectangle 1027"/>
          <p:cNvSpPr>
            <a:spLocks noChangeArrowheads="1"/>
          </p:cNvSpPr>
          <p:nvPr/>
        </p:nvSpPr>
        <p:spPr bwMode="auto">
          <a:xfrm>
            <a:off x="1128773" y="2005672"/>
            <a:ext cx="8077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a:lnSpc>
                <a:spcPct val="100000"/>
              </a:lnSpc>
              <a:buClrTx/>
              <a:buSzTx/>
              <a:buFontTx/>
              <a:buNone/>
            </a:pPr>
            <a:r>
              <a:rPr lang="en-US" altLang="zh-CN" sz="2400" dirty="0"/>
              <a:t>        </a:t>
            </a:r>
            <a:r>
              <a:rPr lang="zh-CN" altLang="en-US" sz="2400" dirty="0">
                <a:solidFill>
                  <a:srgbClr val="05A714"/>
                </a:solidFill>
              </a:rPr>
              <a:t>晶体管时代</a:t>
            </a:r>
            <a:r>
              <a:rPr lang="zh-CN" altLang="en-US" sz="2400" dirty="0"/>
              <a:t>，随着中央处理机速度的大幅度提高，</a:t>
            </a:r>
            <a:r>
              <a:rPr lang="zh-CN" altLang="en-US" sz="2400" dirty="0">
                <a:solidFill>
                  <a:srgbClr val="008000"/>
                </a:solidFill>
              </a:rPr>
              <a:t>人工操作的慢速度和中央处理机运算的高速度</a:t>
            </a:r>
            <a:r>
              <a:rPr lang="zh-CN" altLang="en-US" sz="2400" dirty="0"/>
              <a:t>之间出现了矛盾，即所谓</a:t>
            </a:r>
            <a:r>
              <a:rPr lang="zh-CN" altLang="en-US" sz="2400" dirty="0">
                <a:solidFill>
                  <a:schemeClr val="hlink"/>
                </a:solidFill>
              </a:rPr>
              <a:t>人机矛盾</a:t>
            </a:r>
            <a:r>
              <a:rPr lang="zh-CN" altLang="en-US" sz="2400" dirty="0"/>
              <a:t>。为解决这一矛盾，只有设法去掉人工操作，实现作业的自动过渡，这样就出现了</a:t>
            </a:r>
            <a:r>
              <a:rPr lang="zh-CN" altLang="en-US" sz="2400" dirty="0">
                <a:solidFill>
                  <a:schemeClr val="hlink"/>
                </a:solidFill>
              </a:rPr>
              <a:t>批处理。</a:t>
            </a:r>
            <a:endParaRPr lang="en-US" altLang="zh-CN" sz="2400" dirty="0"/>
          </a:p>
        </p:txBody>
      </p:sp>
      <p:sp>
        <p:nvSpPr>
          <p:cNvPr id="4" name="Text Box 4"/>
          <p:cNvSpPr txBox="1">
            <a:spLocks noChangeArrowheads="1"/>
          </p:cNvSpPr>
          <p:nvPr/>
        </p:nvSpPr>
        <p:spPr bwMode="auto">
          <a:xfrm>
            <a:off x="1201798" y="4201694"/>
            <a:ext cx="83058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lnSpc>
                <a:spcPct val="115000"/>
              </a:lnSpc>
              <a:buClrTx/>
              <a:buSzTx/>
              <a:buFontTx/>
              <a:buNone/>
            </a:pPr>
            <a:r>
              <a:rPr lang="zh-CN" altLang="en-US" sz="2800" b="0" dirty="0">
                <a:solidFill>
                  <a:srgbClr val="990000"/>
                </a:solidFill>
                <a:latin typeface="隶书" panose="02010509060101010101" pitchFamily="49" charset="-122"/>
                <a:ea typeface="隶书" panose="02010509060101010101" pitchFamily="49" charset="-122"/>
              </a:rPr>
              <a:t>批处理经历了两个阶段：</a:t>
            </a:r>
            <a:endParaRPr lang="zh-CN" altLang="en-US" sz="2800" b="0" dirty="0">
              <a:solidFill>
                <a:srgbClr val="990000"/>
              </a:solidFill>
              <a:latin typeface="隶书" panose="02010509060101010101" pitchFamily="49" charset="-122"/>
              <a:ea typeface="隶书" panose="02010509060101010101" pitchFamily="49" charset="-122"/>
            </a:endParaRPr>
          </a:p>
          <a:p>
            <a:pPr algn="just" eaLnBrk="1" hangingPunct="1">
              <a:lnSpc>
                <a:spcPct val="115000"/>
              </a:lnSpc>
              <a:buClrTx/>
              <a:buSzTx/>
              <a:buFontTx/>
              <a:buNone/>
            </a:pPr>
            <a:r>
              <a:rPr lang="zh-CN" altLang="en-US" sz="2400" dirty="0">
                <a:latin typeface="楷体_GB2312" pitchFamily="49" charset="-122"/>
              </a:rPr>
              <a:t>    联机批处理阶段和脱机批处理阶段。</a:t>
            </a:r>
            <a:endParaRPr lang="zh-CN" altLang="en-US" sz="2400" dirty="0">
              <a:latin typeface="楷体_GB2312" pitchFamily="49" charset="-122"/>
            </a:endParaRPr>
          </a:p>
        </p:txBody>
      </p:sp>
      <p:sp>
        <p:nvSpPr>
          <p:cNvPr id="5" name="矩形 2"/>
          <p:cNvSpPr>
            <a:spLocks noChangeArrowheads="1"/>
          </p:cNvSpPr>
          <p:nvPr/>
        </p:nvSpPr>
        <p:spPr bwMode="auto">
          <a:xfrm>
            <a:off x="1352610" y="5388634"/>
            <a:ext cx="75596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lnSpc>
                <a:spcPct val="115000"/>
              </a:lnSpc>
              <a:spcBef>
                <a:spcPct val="0"/>
              </a:spcBef>
              <a:buClrTx/>
              <a:buSzTx/>
              <a:buFontTx/>
              <a:buNone/>
            </a:pPr>
            <a:r>
              <a:rPr lang="zh-CN" altLang="en-US" sz="2400">
                <a:solidFill>
                  <a:srgbClr val="663300"/>
                </a:solidFill>
                <a:latin typeface="楷体_GB2312" pitchFamily="49" charset="-122"/>
              </a:rPr>
              <a:t>联机批处理系统：</a:t>
            </a:r>
            <a:r>
              <a:rPr lang="zh-CN" altLang="en-US" sz="2400">
                <a:solidFill>
                  <a:srgbClr val="006600"/>
                </a:solidFill>
                <a:latin typeface="楷体_GB2312" pitchFamily="49" charset="-122"/>
              </a:rPr>
              <a:t>作业的</a:t>
            </a:r>
            <a:r>
              <a:rPr lang="en-US" altLang="zh-CN" sz="2400">
                <a:solidFill>
                  <a:srgbClr val="006600"/>
                </a:solidFill>
                <a:latin typeface="楷体_GB2312" pitchFamily="49" charset="-122"/>
              </a:rPr>
              <a:t>I/O</a:t>
            </a:r>
            <a:r>
              <a:rPr lang="zh-CN" altLang="en-US" sz="2400">
                <a:solidFill>
                  <a:srgbClr val="006600"/>
                </a:solidFill>
                <a:latin typeface="楷体_GB2312" pitchFamily="49" charset="-122"/>
              </a:rPr>
              <a:t>和计算全部由</a:t>
            </a:r>
            <a:r>
              <a:rPr lang="en-US" altLang="zh-CN" sz="2400">
                <a:solidFill>
                  <a:srgbClr val="006600"/>
                </a:solidFill>
                <a:latin typeface="楷体_GB2312" pitchFamily="49" charset="-122"/>
              </a:rPr>
              <a:t>CPU</a:t>
            </a:r>
            <a:r>
              <a:rPr lang="zh-CN" altLang="en-US" sz="2400">
                <a:solidFill>
                  <a:srgbClr val="006600"/>
                </a:solidFill>
                <a:latin typeface="楷体_GB2312" pitchFamily="49" charset="-122"/>
              </a:rPr>
              <a:t>直接控制。 </a:t>
            </a:r>
            <a:endParaRPr lang="zh-CN" altLang="en-US" sz="2400">
              <a:solidFill>
                <a:srgbClr val="006600"/>
              </a:solidFill>
              <a:latin typeface="楷体_GB2312" pitchFamily="49" charset="-122"/>
            </a:endParaRPr>
          </a:p>
        </p:txBody>
      </p:sp>
      <p:sp>
        <p:nvSpPr>
          <p:cNvPr id="6" name="文本框 5"/>
          <p:cNvSpPr txBox="1"/>
          <p:nvPr/>
        </p:nvSpPr>
        <p:spPr>
          <a:xfrm>
            <a:off x="1201798" y="3730397"/>
            <a:ext cx="7398738" cy="461665"/>
          </a:xfrm>
          <a:prstGeom prst="rect">
            <a:avLst/>
          </a:prstGeom>
          <a:noFill/>
        </p:spPr>
        <p:txBody>
          <a:bodyPr wrap="square" rtlCol="0">
            <a:spAutoFit/>
          </a:bodyPr>
          <a:lstStyle/>
          <a:p>
            <a:pPr algn="just">
              <a:lnSpc>
                <a:spcPct val="100000"/>
              </a:lnSpc>
              <a:buClrTx/>
              <a:buSzTx/>
              <a:buFontTx/>
              <a:buNone/>
            </a:pPr>
            <a:r>
              <a:rPr lang="zh-CN" altLang="en-US" sz="2400" dirty="0"/>
              <a:t>装入、汇编（或编译）、连接装配、执行</a:t>
            </a:r>
            <a:endParaRPr kumimoji="1" lang="zh-CN" altLang="en-US" sz="2400" dirty="0">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8"/>
          <p:cNvSpPr>
            <a:spLocks noChangeArrowheads="1"/>
          </p:cNvSpPr>
          <p:nvPr/>
        </p:nvSpPr>
        <p:spPr bwMode="auto">
          <a:xfrm>
            <a:off x="1420962" y="4211219"/>
            <a:ext cx="7924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buClr>
                <a:schemeClr val="accent2"/>
              </a:buClr>
              <a:buSzPct val="80000"/>
              <a:buFont typeface="Wingdings" panose="05000000000000000000" pitchFamily="2" charset="2"/>
              <a:buNone/>
            </a:pPr>
            <a:r>
              <a:rPr lang="zh-CN" altLang="en-US" sz="2400">
                <a:solidFill>
                  <a:srgbClr val="008000"/>
                </a:solidFill>
                <a:latin typeface="楷体_GB2312" pitchFamily="49" charset="-122"/>
              </a:rPr>
              <a:t>监督程序：</a:t>
            </a:r>
            <a:r>
              <a:rPr lang="zh-CN" altLang="en-US" sz="2400">
                <a:latin typeface="楷体_GB2312" pitchFamily="49" charset="-122"/>
              </a:rPr>
              <a:t>是一个常驻内存的小的核心代码，用于</a:t>
            </a:r>
            <a:r>
              <a:rPr kumimoji="1" lang="zh-CN" altLang="en-US" sz="2400">
                <a:latin typeface="楷体_GB2312" pitchFamily="49" charset="-122"/>
              </a:rPr>
              <a:t>实现各作业之间的自动转接，提高了系统效率。</a:t>
            </a:r>
            <a:endParaRPr kumimoji="1" lang="zh-CN" altLang="en-US" sz="2400">
              <a:latin typeface="楷体_GB2312" pitchFamily="49" charset="-122"/>
            </a:endParaRPr>
          </a:p>
        </p:txBody>
      </p:sp>
      <p:pic>
        <p:nvPicPr>
          <p:cNvPr id="3"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20975" y="1147344"/>
            <a:ext cx="8158162" cy="283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12"/>
          <p:cNvSpPr txBox="1">
            <a:spLocks noChangeArrowheads="1"/>
          </p:cNvSpPr>
          <p:nvPr/>
        </p:nvSpPr>
        <p:spPr bwMode="auto">
          <a:xfrm>
            <a:off x="1420962" y="5408194"/>
            <a:ext cx="79914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lnSpc>
                <a:spcPct val="115000"/>
              </a:lnSpc>
              <a:buClrTx/>
              <a:buSzTx/>
              <a:buFontTx/>
              <a:buNone/>
            </a:pPr>
            <a:r>
              <a:rPr lang="zh-CN" altLang="en-US" sz="2400">
                <a:solidFill>
                  <a:srgbClr val="663300"/>
                </a:solidFill>
                <a:latin typeface="楷体_GB2312" pitchFamily="49" charset="-122"/>
              </a:rPr>
              <a:t>联机批处理系统</a:t>
            </a:r>
            <a:r>
              <a:rPr lang="en-US" altLang="zh-CN" sz="2400">
                <a:solidFill>
                  <a:srgbClr val="663300"/>
                </a:solidFill>
              </a:rPr>
              <a:t>——</a:t>
            </a:r>
            <a:r>
              <a:rPr lang="en-US" altLang="zh-CN" sz="2400">
                <a:latin typeface="楷体_GB2312" pitchFamily="49" charset="-122"/>
              </a:rPr>
              <a:t>CPU</a:t>
            </a:r>
            <a:r>
              <a:rPr lang="zh-CN" altLang="en-US" sz="2400">
                <a:latin typeface="楷体_GB2312" pitchFamily="49" charset="-122"/>
              </a:rPr>
              <a:t>与</a:t>
            </a:r>
            <a:r>
              <a:rPr lang="en-US" altLang="zh-CN" sz="2400">
                <a:latin typeface="楷体_GB2312" pitchFamily="49" charset="-122"/>
              </a:rPr>
              <a:t>I/O</a:t>
            </a:r>
            <a:r>
              <a:rPr lang="zh-CN" altLang="en-US" sz="2400">
                <a:latin typeface="楷体_GB2312" pitchFamily="49" charset="-122"/>
              </a:rPr>
              <a:t>设备之间速度不匹配的矛盾</a:t>
            </a:r>
            <a:endParaRPr lang="zh-CN" altLang="en-US" sz="2400">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362314" y="1309359"/>
            <a:ext cx="80010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lnSpc>
                <a:spcPct val="115000"/>
              </a:lnSpc>
              <a:buClrTx/>
              <a:buSzTx/>
              <a:buFontTx/>
              <a:buNone/>
            </a:pPr>
            <a:r>
              <a:rPr lang="zh-CN" altLang="en-US" sz="2400">
                <a:solidFill>
                  <a:schemeClr val="hlink"/>
                </a:solidFill>
                <a:latin typeface="楷体_GB2312" pitchFamily="49" charset="-122"/>
              </a:rPr>
              <a:t>脱机批处理系统</a:t>
            </a:r>
            <a:endParaRPr lang="zh-CN" altLang="en-US" sz="2400">
              <a:latin typeface="楷体_GB2312" pitchFamily="49" charset="-122"/>
            </a:endParaRPr>
          </a:p>
        </p:txBody>
      </p:sp>
      <p:sp>
        <p:nvSpPr>
          <p:cNvPr id="3" name="矩形 2"/>
          <p:cNvSpPr/>
          <p:nvPr/>
        </p:nvSpPr>
        <p:spPr>
          <a:xfrm>
            <a:off x="1436927" y="1953884"/>
            <a:ext cx="7908925" cy="1200150"/>
          </a:xfrm>
          <a:prstGeom prst="rect">
            <a:avLst/>
          </a:prstGeom>
        </p:spPr>
        <p:txBody>
          <a:bodyPr>
            <a:spAutoFit/>
          </a:bodyPr>
          <a:lstStyle/>
          <a:p>
            <a:pPr>
              <a:defRPr/>
            </a:pPr>
            <a:r>
              <a:rPr lang="zh-CN" altLang="en-US" sz="2400" dirty="0">
                <a:solidFill>
                  <a:schemeClr val="accent4"/>
                </a:solidFill>
                <a:latin typeface="Arial" panose="020B0604020202020204" pitchFamily="34" charset="0"/>
              </a:rPr>
              <a:t>为克服与缓解高速主机与慢速外设的矛盾，提高</a:t>
            </a:r>
            <a:r>
              <a:rPr lang="en-US" altLang="zh-CN" sz="2400" dirty="0">
                <a:solidFill>
                  <a:schemeClr val="accent4"/>
                </a:solidFill>
                <a:latin typeface="Arial" panose="020B0604020202020204" pitchFamily="34" charset="0"/>
              </a:rPr>
              <a:t>CPU</a:t>
            </a:r>
            <a:r>
              <a:rPr lang="zh-CN" altLang="en-US" sz="2400" dirty="0">
                <a:solidFill>
                  <a:schemeClr val="accent4"/>
                </a:solidFill>
                <a:latin typeface="Arial" panose="020B0604020202020204" pitchFamily="34" charset="0"/>
              </a:rPr>
              <a:t>的利用率，又引入了</a:t>
            </a:r>
            <a:r>
              <a:rPr lang="zh-CN" altLang="en-US" sz="2400" dirty="0">
                <a:solidFill>
                  <a:schemeClr val="accent4"/>
                </a:solidFill>
                <a:latin typeface="Arial" panose="020B0604020202020204" pitchFamily="34" charset="0"/>
                <a:hlinkClick r:id="rId1"/>
              </a:rPr>
              <a:t>脱机批处理系统</a:t>
            </a:r>
            <a:r>
              <a:rPr lang="zh-CN" altLang="en-US" sz="2400" dirty="0">
                <a:solidFill>
                  <a:schemeClr val="accent4"/>
                </a:solidFill>
                <a:latin typeface="Arial" panose="020B0604020202020204" pitchFamily="34" charset="0"/>
              </a:rPr>
              <a:t>，即输入</a:t>
            </a:r>
            <a:r>
              <a:rPr lang="en-US" altLang="zh-CN" sz="2400" dirty="0">
                <a:solidFill>
                  <a:schemeClr val="accent4"/>
                </a:solidFill>
                <a:latin typeface="Arial" panose="020B0604020202020204" pitchFamily="34" charset="0"/>
              </a:rPr>
              <a:t>/</a:t>
            </a:r>
            <a:r>
              <a:rPr lang="zh-CN" altLang="en-US" sz="2400" dirty="0">
                <a:solidFill>
                  <a:schemeClr val="accent4"/>
                </a:solidFill>
                <a:latin typeface="Arial" panose="020B0604020202020204" pitchFamily="34" charset="0"/>
              </a:rPr>
              <a:t>输出脱离主机控制。</a:t>
            </a:r>
            <a:endParaRPr lang="zh-CN" altLang="en-US" sz="2400" dirty="0">
              <a:solidFill>
                <a:schemeClr val="accent4"/>
              </a:solidFill>
            </a:endParaRPr>
          </a:p>
        </p:txBody>
      </p:sp>
      <p:sp>
        <p:nvSpPr>
          <p:cNvPr id="4" name="矩形 2"/>
          <p:cNvSpPr>
            <a:spLocks noChangeArrowheads="1"/>
          </p:cNvSpPr>
          <p:nvPr/>
        </p:nvSpPr>
        <p:spPr bwMode="auto">
          <a:xfrm>
            <a:off x="1436927" y="3336597"/>
            <a:ext cx="7926387"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lnSpc>
                <a:spcPct val="115000"/>
              </a:lnSpc>
              <a:spcBef>
                <a:spcPct val="0"/>
              </a:spcBef>
              <a:buClrTx/>
              <a:buSzTx/>
              <a:buFontTx/>
              <a:buNone/>
            </a:pPr>
            <a:r>
              <a:rPr lang="zh-CN" altLang="en-US" sz="2400">
                <a:solidFill>
                  <a:srgbClr val="006600"/>
                </a:solidFill>
                <a:latin typeface="楷体_GB2312" pitchFamily="49" charset="-122"/>
              </a:rPr>
              <a:t>由主机和外围计算机（卫星机）组成，外围计算机负责</a:t>
            </a:r>
            <a:r>
              <a:rPr lang="en-US" altLang="zh-CN" sz="2400">
                <a:solidFill>
                  <a:srgbClr val="006600"/>
                </a:solidFill>
                <a:latin typeface="楷体_GB2312" pitchFamily="49" charset="-122"/>
              </a:rPr>
              <a:t>I/O</a:t>
            </a:r>
            <a:r>
              <a:rPr lang="zh-CN" altLang="en-US" sz="2400">
                <a:solidFill>
                  <a:srgbClr val="006600"/>
                </a:solidFill>
                <a:latin typeface="楷体_GB2312" pitchFamily="49" charset="-122"/>
              </a:rPr>
              <a:t>处理，主机和外围计算机可以并行工作。</a:t>
            </a:r>
            <a:endParaRPr lang="zh-CN" altLang="en-US" sz="2400">
              <a:solidFill>
                <a:srgbClr val="006600"/>
              </a:solidFill>
              <a:latin typeface="楷体_GB2312" pitchFamily="49" charset="-122"/>
            </a:endParaRPr>
          </a:p>
        </p:txBody>
      </p:sp>
      <p:sp>
        <p:nvSpPr>
          <p:cNvPr id="5" name="矩形 3"/>
          <p:cNvSpPr>
            <a:spLocks noChangeArrowheads="1"/>
          </p:cNvSpPr>
          <p:nvPr/>
        </p:nvSpPr>
        <p:spPr bwMode="auto">
          <a:xfrm>
            <a:off x="1436927" y="4458959"/>
            <a:ext cx="81041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rgbClr val="006600"/>
                </a:solidFill>
                <a:latin typeface="Arial" panose="020B0604020202020204" pitchFamily="34" charset="0"/>
                <a:ea typeface="楷体_GB2312" pitchFamily="49" charset="-122"/>
              </a:defRPr>
            </a:lvl1pPr>
            <a:lvl2pPr marL="742950" indent="-285750">
              <a:defRPr sz="2400" b="1">
                <a:solidFill>
                  <a:srgbClr val="006600"/>
                </a:solidFill>
                <a:latin typeface="Arial" panose="020B0604020202020204" pitchFamily="34" charset="0"/>
                <a:ea typeface="楷体_GB2312" pitchFamily="49" charset="-122"/>
              </a:defRPr>
            </a:lvl2pPr>
            <a:lvl3pPr marL="1143000" indent="-228600">
              <a:defRPr sz="2400" b="1">
                <a:solidFill>
                  <a:srgbClr val="006600"/>
                </a:solidFill>
                <a:latin typeface="Arial" panose="020B0604020202020204" pitchFamily="34" charset="0"/>
                <a:ea typeface="楷体_GB2312" pitchFamily="49" charset="-122"/>
              </a:defRPr>
            </a:lvl3pPr>
            <a:lvl4pPr marL="1600200" indent="-228600">
              <a:defRPr sz="2400" b="1">
                <a:solidFill>
                  <a:srgbClr val="006600"/>
                </a:solidFill>
                <a:latin typeface="Arial" panose="020B0604020202020204" pitchFamily="34" charset="0"/>
                <a:ea typeface="楷体_GB2312" pitchFamily="49" charset="-122"/>
              </a:defRPr>
            </a:lvl4pPr>
            <a:lvl5pPr marL="2057400" indent="-228600">
              <a:defRPr sz="2400" b="1">
                <a:solidFill>
                  <a:srgbClr val="0066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rgbClr val="0066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rgbClr val="0066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rgbClr val="0066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rgbClr val="006600"/>
                </a:solidFill>
                <a:latin typeface="Arial" panose="020B0604020202020204" pitchFamily="34" charset="0"/>
                <a:ea typeface="楷体_GB2312" pitchFamily="49" charset="-122"/>
              </a:defRPr>
            </a:lvl9pPr>
          </a:lstStyle>
          <a:p>
            <a:pPr>
              <a:defRPr/>
            </a:pPr>
            <a:r>
              <a:rPr lang="zh-CN" altLang="en-US" dirty="0">
                <a:solidFill>
                  <a:schemeClr val="accent4"/>
                </a:solidFill>
              </a:rPr>
              <a:t>这种方式的显著特征是：增加一台不与</a:t>
            </a:r>
            <a:r>
              <a:rPr lang="zh-CN" altLang="en-US" dirty="0">
                <a:solidFill>
                  <a:schemeClr val="accent4"/>
                </a:solidFill>
                <a:hlinkClick r:id="rId2"/>
              </a:rPr>
              <a:t>主机</a:t>
            </a:r>
            <a:r>
              <a:rPr lang="zh-CN" altLang="en-US" dirty="0">
                <a:solidFill>
                  <a:schemeClr val="accent4"/>
                </a:solidFill>
              </a:rPr>
              <a:t>直接相连而专门用于与输入</a:t>
            </a:r>
            <a:r>
              <a:rPr lang="en-US" altLang="zh-CN" dirty="0">
                <a:solidFill>
                  <a:schemeClr val="accent4"/>
                </a:solidFill>
              </a:rPr>
              <a:t>/</a:t>
            </a:r>
            <a:r>
              <a:rPr lang="zh-CN" altLang="en-US" dirty="0">
                <a:solidFill>
                  <a:schemeClr val="accent4"/>
                </a:solidFill>
                <a:hlinkClick r:id="rId3"/>
              </a:rPr>
              <a:t>输出设备</a:t>
            </a:r>
            <a:r>
              <a:rPr lang="zh-CN" altLang="en-US" dirty="0">
                <a:solidFill>
                  <a:schemeClr val="accent4"/>
                </a:solidFill>
              </a:rPr>
              <a:t>打交道的卫星机。</a:t>
            </a:r>
            <a:endParaRPr lang="zh-CN" altLang="en-US"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9"/>
          <p:cNvSpPr txBox="1">
            <a:spLocks noChangeArrowheads="1"/>
          </p:cNvSpPr>
          <p:nvPr/>
        </p:nvSpPr>
        <p:spPr bwMode="auto">
          <a:xfrm>
            <a:off x="1157078" y="4961926"/>
            <a:ext cx="7777163"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lnSpc>
                <a:spcPct val="100000"/>
              </a:lnSpc>
              <a:spcBef>
                <a:spcPct val="30000"/>
              </a:spcBef>
              <a:buClrTx/>
              <a:buSzTx/>
              <a:buFontTx/>
              <a:buNone/>
            </a:pPr>
            <a:r>
              <a:rPr kumimoji="1" lang="zh-CN" altLang="en-US" sz="2400">
                <a:latin typeface="楷体_GB2312" pitchFamily="49" charset="-122"/>
              </a:rPr>
              <a:t>脱机</a:t>
            </a:r>
            <a:r>
              <a:rPr kumimoji="1" lang="en-US" altLang="zh-CN" sz="2400">
                <a:latin typeface="楷体_GB2312" pitchFamily="49" charset="-122"/>
              </a:rPr>
              <a:t>I/O</a:t>
            </a:r>
            <a:r>
              <a:rPr kumimoji="1" lang="zh-CN" altLang="en-US" sz="2400">
                <a:latin typeface="楷体_GB2312" pitchFamily="49" charset="-122"/>
              </a:rPr>
              <a:t>方式的主要优点：</a:t>
            </a:r>
            <a:endParaRPr kumimoji="1" lang="zh-CN" altLang="en-US" sz="2400">
              <a:latin typeface="楷体_GB2312" pitchFamily="49" charset="-122"/>
            </a:endParaRPr>
          </a:p>
          <a:p>
            <a:pPr algn="just" eaLnBrk="1" hangingPunct="1">
              <a:lnSpc>
                <a:spcPct val="100000"/>
              </a:lnSpc>
              <a:spcBef>
                <a:spcPct val="30000"/>
              </a:spcBef>
              <a:buClrTx/>
              <a:buSzTx/>
              <a:buFontTx/>
              <a:buNone/>
            </a:pPr>
            <a:r>
              <a:rPr kumimoji="1" lang="en-US" altLang="zh-CN" sz="2400">
                <a:latin typeface="楷体_GB2312" pitchFamily="49" charset="-122"/>
              </a:rPr>
              <a:t>1</a:t>
            </a:r>
            <a:r>
              <a:rPr kumimoji="1" lang="zh-CN" altLang="en-US" sz="2400">
                <a:latin typeface="楷体_GB2312" pitchFamily="49" charset="-122"/>
              </a:rPr>
              <a:t>）减少了</a:t>
            </a:r>
            <a:r>
              <a:rPr kumimoji="1" lang="en-US" altLang="zh-CN" sz="2400">
                <a:latin typeface="楷体_GB2312" pitchFamily="49" charset="-122"/>
              </a:rPr>
              <a:t>CPU</a:t>
            </a:r>
            <a:r>
              <a:rPr kumimoji="1" lang="zh-CN" altLang="en-US" sz="2400">
                <a:latin typeface="楷体_GB2312" pitchFamily="49" charset="-122"/>
              </a:rPr>
              <a:t>的空闲时间       </a:t>
            </a:r>
            <a:r>
              <a:rPr kumimoji="1" lang="en-US" altLang="zh-CN" sz="2400">
                <a:latin typeface="楷体_GB2312" pitchFamily="49" charset="-122"/>
              </a:rPr>
              <a:t>2</a:t>
            </a:r>
            <a:r>
              <a:rPr kumimoji="1" lang="zh-CN" altLang="en-US" sz="2400">
                <a:latin typeface="楷体_GB2312" pitchFamily="49" charset="-122"/>
              </a:rPr>
              <a:t>）提高</a:t>
            </a:r>
            <a:r>
              <a:rPr kumimoji="1" lang="en-US" altLang="zh-CN" sz="2400">
                <a:latin typeface="楷体_GB2312" pitchFamily="49" charset="-122"/>
              </a:rPr>
              <a:t>I/O</a:t>
            </a:r>
            <a:r>
              <a:rPr kumimoji="1" lang="zh-CN" altLang="en-US" sz="2400">
                <a:latin typeface="楷体_GB2312" pitchFamily="49" charset="-122"/>
              </a:rPr>
              <a:t>速度</a:t>
            </a:r>
            <a:r>
              <a:rPr kumimoji="1" lang="zh-CN" altLang="en-US" sz="2400">
                <a:solidFill>
                  <a:srgbClr val="3333CC"/>
                </a:solidFill>
                <a:latin typeface="楷体_GB2312" pitchFamily="49" charset="-122"/>
              </a:rPr>
              <a:t> </a:t>
            </a:r>
            <a:endParaRPr kumimoji="1" lang="zh-CN" altLang="en-US" sz="2400">
              <a:solidFill>
                <a:srgbClr val="3333CC"/>
              </a:solidFill>
              <a:latin typeface="楷体_GB2312" pitchFamily="49" charset="-122"/>
            </a:endParaRPr>
          </a:p>
        </p:txBody>
      </p:sp>
      <p:pic>
        <p:nvPicPr>
          <p:cNvPr id="3"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085641" y="1194789"/>
            <a:ext cx="815975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p:nvPr/>
        </p:nvSpPr>
        <p:spPr>
          <a:xfrm>
            <a:off x="7211568" y="6038088"/>
            <a:ext cx="2289175"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lnSpc>
                <a:spcPct val="120000"/>
              </a:lnSpc>
              <a:spcBef>
                <a:spcPct val="20000"/>
              </a:spcBef>
              <a:buClr>
                <a:schemeClr val="hlink"/>
              </a:buClr>
              <a:buSzPct val="70000"/>
              <a:buFont typeface="Wingdings" panose="05000000000000000000" pitchFamily="2" charset="2"/>
              <a:buChar char="v"/>
              <a:defRPr sz="3200" kern="1200">
                <a:solidFill>
                  <a:srgbClr val="000099"/>
                </a:solidFill>
                <a:latin typeface="Arial" panose="020B0604020202020204" pitchFamily="34" charset="0"/>
                <a:ea typeface="楷体_GB2312" pitchFamily="49" charset="-122"/>
                <a:cs typeface="+mn-cs"/>
              </a:defRPr>
            </a:lvl1pPr>
            <a:lvl2pPr marL="742950" indent="-285750" algn="l" defTabSz="914400" rtl="0" eaLnBrk="1" latinLnBrk="0" hangingPunct="1">
              <a:spcBef>
                <a:spcPct val="20000"/>
              </a:spcBef>
              <a:buClr>
                <a:schemeClr val="accent2"/>
              </a:buClr>
              <a:buSzPct val="85000"/>
              <a:buFont typeface="Wingdings" panose="05000000000000000000" pitchFamily="2" charset="2"/>
              <a:buChar char=""/>
              <a:defRPr sz="2800" kern="1200">
                <a:solidFill>
                  <a:schemeClr val="tx1"/>
                </a:solidFill>
                <a:latin typeface="Arial" panose="020B0604020202020204" pitchFamily="34" charset="0"/>
                <a:ea typeface="隶书" panose="02010509060101010101" pitchFamily="49" charset="-122"/>
                <a:cs typeface="+mn-cs"/>
              </a:defRPr>
            </a:lvl2pPr>
            <a:lvl3pPr marL="1143000" indent="-228600" algn="l" defTabSz="914400" rtl="0" eaLnBrk="1" latinLnBrk="0" hangingPunct="1">
              <a:lnSpc>
                <a:spcPct val="120000"/>
              </a:lnSpc>
              <a:spcBef>
                <a:spcPct val="20000"/>
              </a:spcBef>
              <a:buClr>
                <a:schemeClr val="hlink"/>
              </a:buClr>
              <a:buSzPct val="80000"/>
              <a:buFont typeface="Wingdings" panose="05000000000000000000" pitchFamily="2" charset="2"/>
              <a:buChar char="•"/>
              <a:defRPr sz="2400" kern="1200">
                <a:solidFill>
                  <a:schemeClr val="tx1"/>
                </a:solidFill>
                <a:latin typeface="Arial" panose="020B0604020202020204" pitchFamily="34" charset="0"/>
                <a:ea typeface="隶书" panose="02010509060101010101" pitchFamily="49" charset="-122"/>
                <a:cs typeface="+mn-cs"/>
              </a:defRPr>
            </a:lvl3pPr>
            <a:lvl4pPr marL="1600200" indent="-228600" algn="l" defTabSz="914400" rtl="0" eaLnBrk="1" latinLnBrk="0" hangingPunct="1">
              <a:spcBef>
                <a:spcPct val="20000"/>
              </a:spcBef>
              <a:buClr>
                <a:schemeClr val="accent2"/>
              </a:buClr>
              <a:buSzPct val="90000"/>
              <a:buFont typeface="Wingdings" panose="05000000000000000000" pitchFamily="2" charset="2"/>
              <a:buChar char=""/>
              <a:defRPr sz="2000" kern="1200">
                <a:solidFill>
                  <a:schemeClr val="tx1"/>
                </a:solidFill>
                <a:latin typeface="Arial" panose="020B0604020202020204" pitchFamily="34" charset="0"/>
                <a:ea typeface="隶书" panose="02010509060101010101" pitchFamily="49" charset="-122"/>
                <a:cs typeface="+mn-cs"/>
              </a:defRPr>
            </a:lvl4pPr>
            <a:lvl5pPr marL="2057400" indent="-228600" algn="l" defTabSz="914400" rtl="0" eaLnBrk="1" latinLnBrk="0" hangingPunct="1">
              <a:spcBef>
                <a:spcPct val="20000"/>
              </a:spcBef>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5pPr>
            <a:lvl6pPr marL="25146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6pPr>
            <a:lvl7pPr marL="29718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7pPr>
            <a:lvl8pPr marL="34290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8pPr>
            <a:lvl9pPr marL="38862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9pPr>
          </a:lstStyle>
          <a:p>
            <a:pPr>
              <a:lnSpc>
                <a:spcPct val="100000"/>
              </a:lnSpc>
              <a:spcBef>
                <a:spcPct val="0"/>
              </a:spcBef>
              <a:buClrTx/>
              <a:buSzTx/>
              <a:buFontTx/>
              <a:buNone/>
            </a:pPr>
            <a:fld id="{3E87BCF6-B96C-4BE6-B29E-576E53C61A33}" type="slidenum">
              <a:rPr lang="en-US" altLang="zh-CN" sz="1400" smtClean="0">
                <a:solidFill>
                  <a:schemeClr val="tx1"/>
                </a:solidFill>
                <a:ea typeface="宋体" panose="02010600030101010101" pitchFamily="2" charset="-122"/>
              </a:rPr>
            </a:fld>
            <a:endParaRPr lang="en-US" altLang="zh-CN" sz="1400">
              <a:solidFill>
                <a:schemeClr val="tx1"/>
              </a:solidFill>
              <a:ea typeface="宋体" panose="02010600030101010101" pitchFamily="2" charset="-122"/>
            </a:endParaRPr>
          </a:p>
        </p:txBody>
      </p:sp>
      <p:sp>
        <p:nvSpPr>
          <p:cNvPr id="3" name="Text Box 2"/>
          <p:cNvSpPr txBox="1">
            <a:spLocks noChangeArrowheads="1"/>
          </p:cNvSpPr>
          <p:nvPr/>
        </p:nvSpPr>
        <p:spPr bwMode="auto">
          <a:xfrm>
            <a:off x="1420368" y="235775"/>
            <a:ext cx="76327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r>
              <a:rPr lang="en-US" altLang="zh-CN" sz="2800" b="0" dirty="0">
                <a:solidFill>
                  <a:srgbClr val="FF9900"/>
                </a:solidFill>
                <a:latin typeface="隶书" panose="02010509060101010101" pitchFamily="49" charset="-122"/>
                <a:ea typeface="隶书" panose="02010509060101010101" pitchFamily="49" charset="-122"/>
              </a:rPr>
              <a:t>3. </a:t>
            </a:r>
            <a:r>
              <a:rPr lang="zh-CN" altLang="en-US" sz="2800" b="0" dirty="0">
                <a:solidFill>
                  <a:srgbClr val="FF9900"/>
                </a:solidFill>
                <a:latin typeface="隶书" panose="02010509060101010101" pitchFamily="49" charset="-122"/>
                <a:ea typeface="隶书" panose="02010509060101010101" pitchFamily="49" charset="-122"/>
              </a:rPr>
              <a:t>执行系统</a:t>
            </a:r>
            <a:endParaRPr lang="zh-CN" altLang="en-US" sz="2400" b="0" dirty="0">
              <a:solidFill>
                <a:srgbClr val="008000"/>
              </a:solidFill>
              <a:latin typeface="楷体_GB2312" pitchFamily="49" charset="-122"/>
            </a:endParaRPr>
          </a:p>
        </p:txBody>
      </p:sp>
      <p:sp>
        <p:nvSpPr>
          <p:cNvPr id="4" name="Text Box 3"/>
          <p:cNvSpPr txBox="1">
            <a:spLocks noChangeArrowheads="1"/>
          </p:cNvSpPr>
          <p:nvPr/>
        </p:nvSpPr>
        <p:spPr bwMode="auto">
          <a:xfrm>
            <a:off x="1420368" y="932688"/>
            <a:ext cx="7777163"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buClrTx/>
              <a:buSzTx/>
              <a:buFontTx/>
              <a:buNone/>
            </a:pPr>
            <a:r>
              <a:rPr lang="zh-CN" altLang="en-US" sz="2400">
                <a:solidFill>
                  <a:srgbClr val="05A714"/>
                </a:solidFill>
                <a:latin typeface="楷体_GB2312" pitchFamily="49" charset="-122"/>
              </a:rPr>
              <a:t>通道：</a:t>
            </a:r>
            <a:r>
              <a:rPr kumimoji="1" lang="zh-CN" altLang="en-US" sz="2400">
                <a:latin typeface="楷体_GB2312" pitchFamily="49" charset="-122"/>
              </a:rPr>
              <a:t>是独立于</a:t>
            </a:r>
            <a:r>
              <a:rPr kumimoji="1" lang="en-US" altLang="zh-CN" sz="2400">
                <a:latin typeface="楷体_GB2312" pitchFamily="49" charset="-122"/>
              </a:rPr>
              <a:t>CPU</a:t>
            </a:r>
            <a:r>
              <a:rPr kumimoji="1" lang="zh-CN" altLang="en-US" sz="2400">
                <a:latin typeface="楷体_GB2312" pitchFamily="49" charset="-122"/>
              </a:rPr>
              <a:t>，专门用来控制输入输出设备的</a:t>
            </a:r>
            <a:r>
              <a:rPr kumimoji="1" lang="en-US" altLang="zh-CN" sz="2400">
                <a:solidFill>
                  <a:srgbClr val="990000"/>
                </a:solidFill>
                <a:latin typeface="楷体_GB2312" pitchFamily="49" charset="-122"/>
              </a:rPr>
              <a:t>I/O</a:t>
            </a:r>
            <a:r>
              <a:rPr kumimoji="1" lang="zh-CN" altLang="en-US" sz="2400">
                <a:solidFill>
                  <a:srgbClr val="990000"/>
                </a:solidFill>
                <a:latin typeface="楷体_GB2312" pitchFamily="49" charset="-122"/>
              </a:rPr>
              <a:t>处理机</a:t>
            </a:r>
            <a:r>
              <a:rPr kumimoji="1" lang="zh-CN" altLang="en-US" sz="2400">
                <a:latin typeface="楷体_GB2312" pitchFamily="49" charset="-122"/>
              </a:rPr>
              <a:t>。</a:t>
            </a:r>
            <a:endParaRPr kumimoji="1" lang="zh-CN" altLang="en-US" sz="2400">
              <a:latin typeface="楷体_GB2312" pitchFamily="49" charset="-122"/>
            </a:endParaRPr>
          </a:p>
        </p:txBody>
      </p:sp>
      <p:grpSp>
        <p:nvGrpSpPr>
          <p:cNvPr id="5" name="Group 16"/>
          <p:cNvGrpSpPr/>
          <p:nvPr/>
        </p:nvGrpSpPr>
        <p:grpSpPr bwMode="auto">
          <a:xfrm>
            <a:off x="1648968" y="3142488"/>
            <a:ext cx="6705600" cy="838200"/>
            <a:chOff x="624" y="2304"/>
            <a:chExt cx="4224" cy="528"/>
          </a:xfrm>
        </p:grpSpPr>
        <p:sp>
          <p:nvSpPr>
            <p:cNvPr id="6" name="Rectangle 17"/>
            <p:cNvSpPr>
              <a:spLocks noChangeArrowheads="1"/>
            </p:cNvSpPr>
            <p:nvPr/>
          </p:nvSpPr>
          <p:spPr bwMode="auto">
            <a:xfrm>
              <a:off x="3936" y="2304"/>
              <a:ext cx="912" cy="480"/>
            </a:xfrm>
            <a:prstGeom prst="rect">
              <a:avLst/>
            </a:prstGeom>
            <a:solidFill>
              <a:srgbClr val="66FFFF"/>
            </a:solidFill>
            <a:ln w="9525">
              <a:solidFill>
                <a:schemeClr val="bg2"/>
              </a:solidFill>
              <a:miter lim="800000"/>
            </a:ln>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en-US" altLang="zh-CN" sz="2400">
                  <a:latin typeface="楷体_GB2312" pitchFamily="49" charset="-122"/>
                </a:rPr>
                <a:t>I/O</a:t>
              </a:r>
              <a:r>
                <a:rPr lang="zh-CN" altLang="en-US" sz="2400">
                  <a:latin typeface="楷体_GB2312" pitchFamily="49" charset="-122"/>
                </a:rPr>
                <a:t>设备</a:t>
              </a:r>
              <a:endParaRPr lang="zh-CN" altLang="en-US" sz="2400">
                <a:latin typeface="楷体_GB2312" pitchFamily="49" charset="-122"/>
              </a:endParaRPr>
            </a:p>
          </p:txBody>
        </p:sp>
        <p:grpSp>
          <p:nvGrpSpPr>
            <p:cNvPr id="7" name="Group 18"/>
            <p:cNvGrpSpPr/>
            <p:nvPr/>
          </p:nvGrpSpPr>
          <p:grpSpPr bwMode="auto">
            <a:xfrm>
              <a:off x="624" y="2352"/>
              <a:ext cx="3312" cy="480"/>
              <a:chOff x="624" y="2064"/>
              <a:chExt cx="3312" cy="480"/>
            </a:xfrm>
          </p:grpSpPr>
          <p:sp>
            <p:nvSpPr>
              <p:cNvPr id="8" name="Rectangle 19"/>
              <p:cNvSpPr>
                <a:spLocks noChangeArrowheads="1"/>
              </p:cNvSpPr>
              <p:nvPr/>
            </p:nvSpPr>
            <p:spPr bwMode="auto">
              <a:xfrm>
                <a:off x="624" y="2064"/>
                <a:ext cx="624" cy="480"/>
              </a:xfrm>
              <a:prstGeom prst="rect">
                <a:avLst/>
              </a:prstGeom>
              <a:solidFill>
                <a:srgbClr val="66FFFF"/>
              </a:solidFill>
              <a:ln w="9525">
                <a:solidFill>
                  <a:schemeClr val="bg2"/>
                </a:solidFill>
                <a:miter lim="800000"/>
              </a:ln>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en-US" altLang="zh-CN" sz="2400">
                    <a:latin typeface="楷体_GB2312" pitchFamily="49" charset="-122"/>
                  </a:rPr>
                  <a:t>CPU</a:t>
                </a:r>
                <a:endParaRPr lang="en-US" altLang="zh-CN" sz="2400">
                  <a:latin typeface="楷体_GB2312" pitchFamily="49" charset="-122"/>
                </a:endParaRPr>
              </a:p>
            </p:txBody>
          </p:sp>
          <p:sp>
            <p:nvSpPr>
              <p:cNvPr id="9" name="Rectangle 20"/>
              <p:cNvSpPr>
                <a:spLocks noChangeArrowheads="1"/>
              </p:cNvSpPr>
              <p:nvPr/>
            </p:nvSpPr>
            <p:spPr bwMode="auto">
              <a:xfrm>
                <a:off x="1728" y="2064"/>
                <a:ext cx="624" cy="480"/>
              </a:xfrm>
              <a:prstGeom prst="rect">
                <a:avLst/>
              </a:prstGeom>
              <a:solidFill>
                <a:srgbClr val="66FFFF"/>
              </a:solidFill>
              <a:ln w="9525">
                <a:solidFill>
                  <a:schemeClr val="bg2"/>
                </a:solidFill>
                <a:miter lim="800000"/>
              </a:ln>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2400">
                    <a:latin typeface="楷体_GB2312" pitchFamily="49" charset="-122"/>
                  </a:rPr>
                  <a:t>主存</a:t>
                </a:r>
                <a:endParaRPr lang="zh-CN" altLang="en-US" sz="2400">
                  <a:latin typeface="楷体_GB2312" pitchFamily="49" charset="-122"/>
                </a:endParaRPr>
              </a:p>
            </p:txBody>
          </p:sp>
          <p:sp>
            <p:nvSpPr>
              <p:cNvPr id="10" name="Rectangle 21"/>
              <p:cNvSpPr>
                <a:spLocks noChangeArrowheads="1"/>
              </p:cNvSpPr>
              <p:nvPr/>
            </p:nvSpPr>
            <p:spPr bwMode="auto">
              <a:xfrm>
                <a:off x="2736" y="2064"/>
                <a:ext cx="624" cy="480"/>
              </a:xfrm>
              <a:prstGeom prst="rect">
                <a:avLst/>
              </a:prstGeom>
              <a:solidFill>
                <a:srgbClr val="66FFFF"/>
              </a:solidFill>
              <a:ln w="9525">
                <a:solidFill>
                  <a:schemeClr val="bg2"/>
                </a:solidFill>
                <a:miter lim="800000"/>
              </a:ln>
            </p:spPr>
            <p:txBody>
              <a:bodyPr wrap="none"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2400">
                    <a:latin typeface="楷体_GB2312" pitchFamily="49" charset="-122"/>
                  </a:rPr>
                  <a:t>通道</a:t>
                </a:r>
                <a:endParaRPr lang="zh-CN" altLang="en-US" sz="2400">
                  <a:latin typeface="楷体_GB2312" pitchFamily="49" charset="-122"/>
                </a:endParaRPr>
              </a:p>
            </p:txBody>
          </p:sp>
          <p:sp>
            <p:nvSpPr>
              <p:cNvPr id="11" name="Line 22"/>
              <p:cNvSpPr>
                <a:spLocks noChangeShapeType="1"/>
              </p:cNvSpPr>
              <p:nvPr/>
            </p:nvSpPr>
            <p:spPr bwMode="auto">
              <a:xfrm>
                <a:off x="1248" y="2208"/>
                <a:ext cx="480" cy="0"/>
              </a:xfrm>
              <a:prstGeom prst="line">
                <a:avLst/>
              </a:prstGeom>
              <a:noFill/>
              <a:ln w="9525">
                <a:solidFill>
                  <a:schemeClr val="bg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3"/>
              <p:cNvSpPr>
                <a:spLocks noChangeShapeType="1"/>
              </p:cNvSpPr>
              <p:nvPr/>
            </p:nvSpPr>
            <p:spPr bwMode="auto">
              <a:xfrm>
                <a:off x="2352" y="2208"/>
                <a:ext cx="384" cy="0"/>
              </a:xfrm>
              <a:prstGeom prst="line">
                <a:avLst/>
              </a:prstGeom>
              <a:noFill/>
              <a:ln w="9525">
                <a:solidFill>
                  <a:schemeClr val="bg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24"/>
              <p:cNvSpPr>
                <a:spLocks noChangeShapeType="1"/>
              </p:cNvSpPr>
              <p:nvPr/>
            </p:nvSpPr>
            <p:spPr bwMode="auto">
              <a:xfrm>
                <a:off x="3360" y="2208"/>
                <a:ext cx="576" cy="0"/>
              </a:xfrm>
              <a:prstGeom prst="line">
                <a:avLst/>
              </a:prstGeom>
              <a:noFill/>
              <a:ln w="9525">
                <a:solidFill>
                  <a:schemeClr val="bg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25"/>
              <p:cNvSpPr>
                <a:spLocks noChangeShapeType="1"/>
              </p:cNvSpPr>
              <p:nvPr/>
            </p:nvSpPr>
            <p:spPr bwMode="auto">
              <a:xfrm flipH="1">
                <a:off x="3408" y="2400"/>
                <a:ext cx="528" cy="0"/>
              </a:xfrm>
              <a:prstGeom prst="line">
                <a:avLst/>
              </a:prstGeom>
              <a:noFill/>
              <a:ln w="9525">
                <a:solidFill>
                  <a:schemeClr val="bg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26"/>
              <p:cNvSpPr>
                <a:spLocks noChangeShapeType="1"/>
              </p:cNvSpPr>
              <p:nvPr/>
            </p:nvSpPr>
            <p:spPr bwMode="auto">
              <a:xfrm flipH="1">
                <a:off x="2352" y="2400"/>
                <a:ext cx="384" cy="0"/>
              </a:xfrm>
              <a:prstGeom prst="line">
                <a:avLst/>
              </a:prstGeom>
              <a:noFill/>
              <a:ln w="9525">
                <a:solidFill>
                  <a:schemeClr val="bg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7"/>
              <p:cNvSpPr>
                <a:spLocks noChangeShapeType="1"/>
              </p:cNvSpPr>
              <p:nvPr/>
            </p:nvSpPr>
            <p:spPr bwMode="auto">
              <a:xfrm flipH="1">
                <a:off x="1248" y="2400"/>
                <a:ext cx="432" cy="0"/>
              </a:xfrm>
              <a:prstGeom prst="line">
                <a:avLst/>
              </a:prstGeom>
              <a:noFill/>
              <a:ln w="9525">
                <a:solidFill>
                  <a:schemeClr val="bg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7" name="Text Box 28"/>
          <p:cNvSpPr txBox="1">
            <a:spLocks noChangeArrowheads="1"/>
          </p:cNvSpPr>
          <p:nvPr/>
        </p:nvSpPr>
        <p:spPr bwMode="auto">
          <a:xfrm>
            <a:off x="1420368" y="1847088"/>
            <a:ext cx="7704138"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lnSpc>
                <a:spcPct val="115000"/>
              </a:lnSpc>
              <a:buClrTx/>
              <a:buSzTx/>
              <a:buFontTx/>
              <a:buNone/>
            </a:pPr>
            <a:r>
              <a:rPr lang="zh-CN" altLang="en-US" sz="2400" dirty="0">
                <a:solidFill>
                  <a:srgbClr val="008000"/>
                </a:solidFill>
                <a:latin typeface="楷体_GB2312" pitchFamily="49" charset="-122"/>
              </a:rPr>
              <a:t>中断：</a:t>
            </a:r>
            <a:r>
              <a:rPr lang="zh-CN" altLang="en-US" sz="2400" dirty="0">
                <a:latin typeface="楷体_GB2312" pitchFamily="49" charset="-122"/>
              </a:rPr>
              <a:t>当主机接到某信号（如</a:t>
            </a:r>
            <a:r>
              <a:rPr lang="en-US" altLang="zh-CN" sz="2400" dirty="0">
                <a:latin typeface="楷体_GB2312" pitchFamily="49" charset="-122"/>
              </a:rPr>
              <a:t>I/O</a:t>
            </a:r>
            <a:r>
              <a:rPr lang="zh-CN" altLang="en-US" sz="2400" dirty="0">
                <a:latin typeface="楷体_GB2312" pitchFamily="49" charset="-122"/>
              </a:rPr>
              <a:t>完成信号），马上停止原来的工作，转去执行这一事件，处理完后，回到原处继续工作。</a:t>
            </a:r>
            <a:endParaRPr lang="zh-CN" altLang="en-US" sz="1800" b="0" dirty="0">
              <a:solidFill>
                <a:schemeClr val="tx1"/>
              </a:solidFill>
              <a:ea typeface="隶书" panose="02010509060101010101" pitchFamily="49" charset="-122"/>
            </a:endParaRPr>
          </a:p>
        </p:txBody>
      </p:sp>
      <p:sp>
        <p:nvSpPr>
          <p:cNvPr id="18" name="Text Box 29"/>
          <p:cNvSpPr txBox="1">
            <a:spLocks noChangeArrowheads="1"/>
          </p:cNvSpPr>
          <p:nvPr/>
        </p:nvSpPr>
        <p:spPr bwMode="auto">
          <a:xfrm>
            <a:off x="1558481" y="4133088"/>
            <a:ext cx="7704137" cy="219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lnSpc>
                <a:spcPct val="115000"/>
              </a:lnSpc>
              <a:buClrTx/>
              <a:buSzTx/>
              <a:buFontTx/>
              <a:buNone/>
            </a:pPr>
            <a:r>
              <a:rPr lang="en-US" altLang="zh-CN" sz="2400" dirty="0">
                <a:latin typeface="楷体_GB2312" pitchFamily="49" charset="-122"/>
              </a:rPr>
              <a:t>    </a:t>
            </a:r>
            <a:r>
              <a:rPr lang="zh-CN" altLang="en-US" sz="2400" dirty="0">
                <a:latin typeface="楷体_GB2312" pitchFamily="49" charset="-122"/>
              </a:rPr>
              <a:t>借助于通道和中断技术，输入输出操作可以在中央处理机控制之下完成。这时，原有的监督程序不仅要负责调度作业自动运行，而且还要提供输入输出控制功能，它比原有的监督程序的功能增强了。这个发展了的监督程序常驻内存，称为</a:t>
            </a:r>
            <a:r>
              <a:rPr lang="zh-CN" altLang="en-US" sz="2400" dirty="0">
                <a:solidFill>
                  <a:srgbClr val="9900CC"/>
                </a:solidFill>
                <a:latin typeface="楷体_GB2312" pitchFamily="49" charset="-122"/>
              </a:rPr>
              <a:t>执行系统。</a:t>
            </a:r>
            <a:endParaRPr lang="zh-CN" altLang="en-US" sz="1800" b="0" dirty="0">
              <a:solidFill>
                <a:schemeClr val="tx1"/>
              </a:solidFill>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0-#ppt_w/2"/>
                                          </p:val>
                                        </p:tav>
                                        <p:tav tm="100000">
                                          <p:val>
                                            <p:strVal val="#ppt_x"/>
                                          </p:val>
                                        </p:tav>
                                      </p:tavLst>
                                    </p:anim>
                                    <p:anim calcmode="lin" valueType="num">
                                      <p:cBhvr additive="base">
                                        <p:cTn id="2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17" grpId="0" autoUpdateAnimBg="0"/>
      <p:bldP spid="18"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单道批处理系统</a:t>
            </a:r>
            <a:endParaRPr lang="zh-CN" altLang="en-US" sz="2800" b="1" dirty="0">
              <a:solidFill>
                <a:schemeClr val="bg1"/>
              </a:solidFill>
            </a:endParaRP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700783"/>
            <a:ext cx="11531600" cy="4435559"/>
            <a:chOff x="660400" y="1700783"/>
            <a:chExt cx="11531600" cy="4435559"/>
          </a:xfrm>
        </p:grpSpPr>
        <p:sp>
          <p:nvSpPr>
            <p:cNvPr id="7" name="iṥlídè"/>
            <p:cNvSpPr/>
            <p:nvPr/>
          </p:nvSpPr>
          <p:spPr>
            <a:xfrm>
              <a:off x="7695711" y="1700783"/>
              <a:ext cx="4496289" cy="4435559"/>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10" name="iṡļiḓe"/>
            <p:cNvGrpSpPr/>
            <p:nvPr/>
          </p:nvGrpSpPr>
          <p:grpSpPr>
            <a:xfrm>
              <a:off x="660400" y="1834087"/>
              <a:ext cx="6876351" cy="1254559"/>
              <a:chOff x="660400" y="1834087"/>
              <a:chExt cx="6876351" cy="1254559"/>
            </a:xfrm>
          </p:grpSpPr>
          <p:grpSp>
            <p:nvGrpSpPr>
              <p:cNvPr id="21" name="iSḻíḓè"/>
              <p:cNvGrpSpPr/>
              <p:nvPr/>
            </p:nvGrpSpPr>
            <p:grpSpPr>
              <a:xfrm>
                <a:off x="1530997" y="1834087"/>
                <a:ext cx="6005754" cy="1254559"/>
                <a:chOff x="1592242" y="1834087"/>
                <a:chExt cx="7574760" cy="1254559"/>
              </a:xfrm>
            </p:grpSpPr>
            <p:sp>
              <p:nvSpPr>
                <p:cNvPr id="25" name="îṧľîḋé"/>
                <p:cNvSpPr txBox="1"/>
                <p:nvPr/>
              </p:nvSpPr>
              <p:spPr>
                <a:xfrm>
                  <a:off x="1592242" y="183408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处理过程：</a:t>
                  </a:r>
                  <a:endParaRPr lang="en-US" altLang="zh-CN" sz="2800" dirty="0"/>
                </a:p>
              </p:txBody>
            </p:sp>
            <p:sp>
              <p:nvSpPr>
                <p:cNvPr id="26" name="íşļîḓé"/>
                <p:cNvSpPr/>
                <p:nvPr/>
              </p:nvSpPr>
              <p:spPr bwMode="auto">
                <a:xfrm>
                  <a:off x="1592242" y="2277810"/>
                  <a:ext cx="7574760" cy="81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作业一个接一个地连续处理；</a:t>
                  </a:r>
                  <a:endParaRPr lang="en-US" altLang="zh-CN"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旨在提高系统资源利用率和系统吞吐量</a:t>
                  </a:r>
                  <a:endParaRPr lang="en-US" altLang="zh-CN" sz="2400" dirty="0"/>
                </a:p>
              </p:txBody>
            </p:sp>
          </p:grpSp>
          <p:grpSp>
            <p:nvGrpSpPr>
              <p:cNvPr id="22" name="ïS1íḋé"/>
              <p:cNvGrpSpPr/>
              <p:nvPr/>
            </p:nvGrpSpPr>
            <p:grpSpPr>
              <a:xfrm>
                <a:off x="660400" y="1860585"/>
                <a:ext cx="733394" cy="733394"/>
                <a:chOff x="660400" y="1860585"/>
                <a:chExt cx="733394" cy="733394"/>
              </a:xfrm>
            </p:grpSpPr>
            <p:sp>
              <p:nvSpPr>
                <p:cNvPr id="23" name="islîḋe"/>
                <p:cNvSpPr/>
                <p:nvPr/>
              </p:nvSpPr>
              <p:spPr>
                <a:xfrm>
                  <a:off x="660400" y="186058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4" name="îŝlîďe"/>
                <p:cNvSpPr/>
                <p:nvPr/>
              </p:nvSpPr>
              <p:spPr>
                <a:xfrm>
                  <a:off x="797603" y="204545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660400" y="4251929"/>
              <a:ext cx="5882287" cy="1006003"/>
              <a:chOff x="660400" y="1860585"/>
              <a:chExt cx="5882287" cy="1006003"/>
            </a:xfrm>
          </p:grpSpPr>
          <p:grpSp>
            <p:nvGrpSpPr>
              <p:cNvPr id="13" name="ïṧļïḓe"/>
              <p:cNvGrpSpPr/>
              <p:nvPr/>
            </p:nvGrpSpPr>
            <p:grpSpPr>
              <a:xfrm>
                <a:off x="1539875" y="1889655"/>
                <a:ext cx="5002812" cy="976933"/>
                <a:chOff x="1603439" y="1889655"/>
                <a:chExt cx="6309799" cy="976933"/>
              </a:xfrm>
            </p:grpSpPr>
            <p:sp>
              <p:nvSpPr>
                <p:cNvPr id="18" name="ïšļíďè"/>
                <p:cNvSpPr txBox="1"/>
                <p:nvPr/>
              </p:nvSpPr>
              <p:spPr>
                <a:xfrm>
                  <a:off x="1603439" y="18896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solidFill>
                        <a:srgbClr val="FF0000"/>
                      </a:solidFill>
                    </a:rPr>
                    <a:t>缺点：</a:t>
                  </a:r>
                  <a:endParaRPr lang="en-US" altLang="zh-CN" sz="2800" dirty="0"/>
                </a:p>
              </p:txBody>
            </p:sp>
            <p:sp>
              <p:nvSpPr>
                <p:cNvPr id="19" name="íşľíḑè"/>
                <p:cNvSpPr/>
                <p:nvPr/>
              </p:nvSpPr>
              <p:spPr bwMode="auto">
                <a:xfrm>
                  <a:off x="1619683" y="2384894"/>
                  <a:ext cx="6293555" cy="48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buFont typeface="Wingdings" panose="05000000000000000000" pitchFamily="2" charset="2"/>
                    <a:buChar char="Ø"/>
                  </a:pPr>
                  <a:r>
                    <a:rPr lang="zh-CN" altLang="en-US" sz="2400" dirty="0"/>
                    <a:t>系统资源得不到充分的利用。</a:t>
                  </a:r>
                  <a:endParaRPr lang="en-US" altLang="zh-CN" sz="2400" dirty="0"/>
                </a:p>
              </p:txBody>
            </p:sp>
          </p:grpSp>
          <p:grpSp>
            <p:nvGrpSpPr>
              <p:cNvPr id="15" name="ïŝľídè"/>
              <p:cNvGrpSpPr/>
              <p:nvPr/>
            </p:nvGrpSpPr>
            <p:grpSpPr>
              <a:xfrm>
                <a:off x="660400" y="1860585"/>
                <a:ext cx="733394" cy="733394"/>
                <a:chOff x="660400" y="1860585"/>
                <a:chExt cx="733394" cy="733394"/>
              </a:xfrm>
            </p:grpSpPr>
            <p:sp>
              <p:nvSpPr>
                <p:cNvPr id="16" name="ïṡľïde"/>
                <p:cNvSpPr/>
                <p:nvPr/>
              </p:nvSpPr>
              <p:spPr>
                <a:xfrm>
                  <a:off x="660400" y="1860585"/>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806481" y="2072090"/>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660400" y="3632200"/>
              <a:ext cx="54000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txBox="1"/>
          <p:nvPr/>
        </p:nvSpPr>
        <p:spPr>
          <a:xfrm>
            <a:off x="6794740" y="6537385"/>
            <a:ext cx="2289175"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lnSpc>
                <a:spcPct val="120000"/>
              </a:lnSpc>
              <a:spcBef>
                <a:spcPct val="20000"/>
              </a:spcBef>
              <a:buClr>
                <a:schemeClr val="hlink"/>
              </a:buClr>
              <a:buSzPct val="70000"/>
              <a:buFont typeface="Wingdings" panose="05000000000000000000" pitchFamily="2" charset="2"/>
              <a:buChar char="v"/>
              <a:defRPr sz="3200" kern="1200">
                <a:solidFill>
                  <a:srgbClr val="000099"/>
                </a:solidFill>
                <a:latin typeface="Arial" panose="020B0604020202020204" pitchFamily="34" charset="0"/>
                <a:ea typeface="楷体_GB2312" pitchFamily="49" charset="-122"/>
                <a:cs typeface="+mn-cs"/>
              </a:defRPr>
            </a:lvl1pPr>
            <a:lvl2pPr marL="742950" indent="-285750" algn="l" defTabSz="914400" rtl="0" eaLnBrk="1" latinLnBrk="0" hangingPunct="1">
              <a:spcBef>
                <a:spcPct val="20000"/>
              </a:spcBef>
              <a:buClr>
                <a:schemeClr val="accent2"/>
              </a:buClr>
              <a:buSzPct val="85000"/>
              <a:buFont typeface="Wingdings" panose="05000000000000000000" pitchFamily="2" charset="2"/>
              <a:buChar char=""/>
              <a:defRPr sz="2800" kern="1200">
                <a:solidFill>
                  <a:schemeClr val="tx1"/>
                </a:solidFill>
                <a:latin typeface="Arial" panose="020B0604020202020204" pitchFamily="34" charset="0"/>
                <a:ea typeface="隶书" panose="02010509060101010101" pitchFamily="49" charset="-122"/>
                <a:cs typeface="+mn-cs"/>
              </a:defRPr>
            </a:lvl2pPr>
            <a:lvl3pPr marL="1143000" indent="-228600" algn="l" defTabSz="914400" rtl="0" eaLnBrk="1" latinLnBrk="0" hangingPunct="1">
              <a:lnSpc>
                <a:spcPct val="120000"/>
              </a:lnSpc>
              <a:spcBef>
                <a:spcPct val="20000"/>
              </a:spcBef>
              <a:buClr>
                <a:schemeClr val="hlink"/>
              </a:buClr>
              <a:buSzPct val="80000"/>
              <a:buFont typeface="Wingdings" panose="05000000000000000000" pitchFamily="2" charset="2"/>
              <a:buChar char="•"/>
              <a:defRPr sz="2400" kern="1200">
                <a:solidFill>
                  <a:schemeClr val="tx1"/>
                </a:solidFill>
                <a:latin typeface="Arial" panose="020B0604020202020204" pitchFamily="34" charset="0"/>
                <a:ea typeface="隶书" panose="02010509060101010101" pitchFamily="49" charset="-122"/>
                <a:cs typeface="+mn-cs"/>
              </a:defRPr>
            </a:lvl3pPr>
            <a:lvl4pPr marL="1600200" indent="-228600" algn="l" defTabSz="914400" rtl="0" eaLnBrk="1" latinLnBrk="0" hangingPunct="1">
              <a:spcBef>
                <a:spcPct val="20000"/>
              </a:spcBef>
              <a:buClr>
                <a:schemeClr val="accent2"/>
              </a:buClr>
              <a:buSzPct val="90000"/>
              <a:buFont typeface="Wingdings" panose="05000000000000000000" pitchFamily="2" charset="2"/>
              <a:buChar char=""/>
              <a:defRPr sz="2000" kern="1200">
                <a:solidFill>
                  <a:schemeClr val="tx1"/>
                </a:solidFill>
                <a:latin typeface="Arial" panose="020B0604020202020204" pitchFamily="34" charset="0"/>
                <a:ea typeface="隶书" panose="02010509060101010101" pitchFamily="49" charset="-122"/>
                <a:cs typeface="+mn-cs"/>
              </a:defRPr>
            </a:lvl4pPr>
            <a:lvl5pPr marL="2057400" indent="-228600" algn="l" defTabSz="914400" rtl="0" eaLnBrk="1" latinLnBrk="0" hangingPunct="1">
              <a:spcBef>
                <a:spcPct val="20000"/>
              </a:spcBef>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5pPr>
            <a:lvl6pPr marL="25146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6pPr>
            <a:lvl7pPr marL="29718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7pPr>
            <a:lvl8pPr marL="34290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8pPr>
            <a:lvl9pPr marL="38862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9pPr>
          </a:lstStyle>
          <a:p>
            <a:pPr>
              <a:lnSpc>
                <a:spcPct val="100000"/>
              </a:lnSpc>
              <a:spcBef>
                <a:spcPct val="0"/>
              </a:spcBef>
              <a:buClrTx/>
              <a:buSzTx/>
              <a:buFontTx/>
              <a:buNone/>
            </a:pPr>
            <a:fld id="{BE8A06CE-120E-43A0-AF7F-D414188011DB}" type="slidenum">
              <a:rPr lang="en-US" altLang="zh-CN" sz="1400" smtClean="0">
                <a:solidFill>
                  <a:schemeClr val="tx1"/>
                </a:solidFill>
                <a:ea typeface="宋体" panose="02010600030101010101" pitchFamily="2" charset="-122"/>
              </a:rPr>
            </a:fld>
            <a:endParaRPr lang="en-US" altLang="zh-CN" sz="1400">
              <a:solidFill>
                <a:schemeClr val="tx1"/>
              </a:solidFill>
              <a:ea typeface="宋体" panose="02010600030101010101" pitchFamily="2" charset="-122"/>
            </a:endParaRPr>
          </a:p>
        </p:txBody>
      </p:sp>
      <p:graphicFrame>
        <p:nvGraphicFramePr>
          <p:cNvPr id="3" name="Object 1029"/>
          <p:cNvGraphicFramePr>
            <a:graphicFrameLocks noChangeAspect="1"/>
          </p:cNvGraphicFramePr>
          <p:nvPr/>
        </p:nvGraphicFramePr>
        <p:xfrm>
          <a:off x="1500428" y="1354198"/>
          <a:ext cx="7113587" cy="3816350"/>
        </p:xfrm>
        <a:graphic>
          <a:graphicData uri="http://schemas.openxmlformats.org/presentationml/2006/ole">
            <mc:AlternateContent xmlns:mc="http://schemas.openxmlformats.org/markup-compatibility/2006">
              <mc:Choice xmlns:v="urn:schemas-microsoft-com:vml" Requires="v">
                <p:oleObj spid="_x0000_s3081" name="" r:id="rId1" imgW="2587625" imgH="2009140" progId="Visio.Drawing.4">
                  <p:embed/>
                </p:oleObj>
              </mc:Choice>
              <mc:Fallback>
                <p:oleObj name="" r:id="rId1" imgW="2587625" imgH="2009140" progId="Visio.Drawing.4">
                  <p:embed/>
                  <p:pic>
                    <p:nvPicPr>
                      <p:cNvPr id="0" name="Object 1029"/>
                      <p:cNvPicPr>
                        <a:picLocks noChangeAspect="1" noChangeArrowheads="1"/>
                      </p:cNvPicPr>
                      <p:nvPr/>
                    </p:nvPicPr>
                    <p:blipFill>
                      <a:blip r:embed="rId2">
                        <a:extLst>
                          <a:ext uri="{28A0092B-C50C-407E-A947-70E740481C1C}">
                            <a14:useLocalDpi xmlns:a14="http://schemas.microsoft.com/office/drawing/2010/main" val="0"/>
                          </a:ext>
                        </a:extLst>
                      </a:blip>
                      <a:srcRect l="8333"/>
                      <a:stretch>
                        <a:fillRect/>
                      </a:stretch>
                    </p:blipFill>
                    <p:spPr bwMode="auto">
                      <a:xfrm>
                        <a:off x="1500428" y="1354198"/>
                        <a:ext cx="7113587"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1030"/>
          <p:cNvSpPr txBox="1">
            <a:spLocks noChangeArrowheads="1"/>
          </p:cNvSpPr>
          <p:nvPr/>
        </p:nvSpPr>
        <p:spPr bwMode="auto">
          <a:xfrm>
            <a:off x="2868853" y="5746810"/>
            <a:ext cx="401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kumimoji="1" lang="en-US" altLang="zh-CN" sz="2400">
                <a:solidFill>
                  <a:schemeClr val="tx1"/>
                </a:solidFill>
                <a:latin typeface="Times New Roman" panose="02020603050405020304" charset="0"/>
                <a:ea typeface="宋体" panose="02010600030101010101" pitchFamily="2" charset="-122"/>
              </a:rPr>
              <a:t> </a:t>
            </a:r>
            <a:r>
              <a:rPr kumimoji="1" lang="zh-CN" altLang="en-US" sz="2400">
                <a:solidFill>
                  <a:schemeClr val="tx1"/>
                </a:solidFill>
                <a:latin typeface="宋体" panose="02010600030101010101" pitchFamily="2" charset="-122"/>
                <a:ea typeface="宋体" panose="02010600030101010101" pitchFamily="2" charset="-122"/>
              </a:rPr>
              <a:t>单道批处理系统的处理流程</a:t>
            </a:r>
            <a:r>
              <a:rPr kumimoji="1" lang="zh-CN" altLang="en-US" sz="2400" b="0">
                <a:solidFill>
                  <a:schemeClr val="tx1"/>
                </a:solidFill>
                <a:latin typeface="Times New Roman" panose="02020603050405020304" charset="0"/>
                <a:ea typeface="宋体" panose="02010600030101010101" pitchFamily="2" charset="-122"/>
              </a:rPr>
              <a:t> </a:t>
            </a:r>
            <a:endParaRPr kumimoji="1" lang="zh-CN" altLang="en-US" sz="2400" b="0">
              <a:solidFill>
                <a:schemeClr val="tx1"/>
              </a:solidFill>
              <a:latin typeface="Times New Roman" panose="02020603050405020304" charset="0"/>
              <a:ea typeface="宋体" panose="02010600030101010101" pitchFamily="2" charset="-122"/>
            </a:endParaRPr>
          </a:p>
        </p:txBody>
      </p:sp>
      <p:sp>
        <p:nvSpPr>
          <p:cNvPr id="5" name="AutoShape 1031"/>
          <p:cNvSpPr>
            <a:spLocks noChangeArrowheads="1"/>
          </p:cNvSpPr>
          <p:nvPr/>
        </p:nvSpPr>
        <p:spPr bwMode="auto">
          <a:xfrm>
            <a:off x="1141653" y="2830573"/>
            <a:ext cx="1871662" cy="863600"/>
          </a:xfrm>
          <a:prstGeom prst="cloudCallout">
            <a:avLst>
              <a:gd name="adj1" fmla="val 76546"/>
              <a:gd name="adj2" fmla="val -94852"/>
            </a:avLst>
          </a:prstGeom>
          <a:solidFill>
            <a:schemeClr val="accent1"/>
          </a:solidFill>
          <a:ln w="9525">
            <a:solidFill>
              <a:schemeClr val="tx1"/>
            </a:solidFill>
            <a:round/>
          </a:ln>
        </p:spPr>
        <p:txBody>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kumimoji="1" lang="zh-CN" altLang="en-US" sz="2000">
                <a:solidFill>
                  <a:schemeClr val="tx1"/>
                </a:solidFill>
                <a:latin typeface="Times New Roman" panose="02020603050405020304" charset="0"/>
                <a:ea typeface="宋体" panose="02010600030101010101" pitchFamily="2" charset="-122"/>
              </a:rPr>
              <a:t>监督程序</a:t>
            </a:r>
            <a:endParaRPr kumimoji="1" lang="zh-CN" altLang="en-US" sz="2000">
              <a:solidFill>
                <a:schemeClr val="tx1"/>
              </a:solidFill>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3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3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bwMode="auto">
          <a:xfrm>
            <a:off x="3607998" y="2761562"/>
            <a:ext cx="1357313" cy="1587"/>
          </a:xfrm>
          <a:prstGeom prst="line">
            <a:avLst/>
          </a:prstGeom>
          <a:ln w="28575">
            <a:solidFill>
              <a:schemeClr val="accent1">
                <a:lumMod val="1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 name="直接连接符 2"/>
          <p:cNvCxnSpPr/>
          <p:nvPr/>
        </p:nvCxnSpPr>
        <p:spPr bwMode="auto">
          <a:xfrm rot="5400000">
            <a:off x="4536685" y="2706000"/>
            <a:ext cx="142875" cy="0"/>
          </a:xfrm>
          <a:prstGeom prst="line">
            <a:avLst/>
          </a:prstGeom>
          <a:ln>
            <a:solidFill>
              <a:schemeClr val="accent1">
                <a:lumMod val="1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 name="Rectangle 3"/>
          <p:cNvSpPr txBox="1">
            <a:spLocks noChangeArrowheads="1"/>
          </p:cNvSpPr>
          <p:nvPr/>
        </p:nvSpPr>
        <p:spPr>
          <a:xfrm>
            <a:off x="3019036" y="4399862"/>
            <a:ext cx="4967287" cy="476250"/>
          </a:xfrm>
          <a:prstGeom prst="rect">
            <a:avLst/>
          </a:prstGeom>
        </p:spPr>
        <p:txBody>
          <a:bodyPr/>
          <a:lstStyle>
            <a:lvl1pPr marL="342900" indent="-342900" algn="l" rtl="0" eaLnBrk="0" fontAlgn="base" hangingPunct="0">
              <a:lnSpc>
                <a:spcPct val="120000"/>
              </a:lnSpc>
              <a:spcBef>
                <a:spcPct val="20000"/>
              </a:spcBef>
              <a:spcAft>
                <a:spcPct val="0"/>
              </a:spcAft>
              <a:buClr>
                <a:schemeClr val="hlink"/>
              </a:buClr>
              <a:buSzPct val="70000"/>
              <a:buFont typeface="Wingdings" panose="05000000000000000000" pitchFamily="2" charset="2"/>
              <a:buChar char="v"/>
              <a:defRPr sz="3200">
                <a:solidFill>
                  <a:srgbClr val="000099"/>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j-ea"/>
              </a:defRPr>
            </a:lvl2pPr>
            <a:lvl3pPr marL="1143000" indent="-228600" algn="l" rtl="0" eaLnBrk="0" fontAlgn="base" hangingPunct="0">
              <a:lnSpc>
                <a:spcPct val="120000"/>
              </a:lnSpc>
              <a:spcBef>
                <a:spcPct val="20000"/>
              </a:spcBef>
              <a:spcAft>
                <a:spcPct val="0"/>
              </a:spcAft>
              <a:buClr>
                <a:schemeClr val="hlink"/>
              </a:buClr>
              <a:buSzPct val="80000"/>
              <a:buFont typeface="Wingdings" panose="05000000000000000000" pitchFamily="2" charset="2"/>
              <a:buChar char="•"/>
              <a:defRPr sz="2400">
                <a:solidFill>
                  <a:schemeClr val="tx1"/>
                </a:solidFill>
                <a:latin typeface="+mn-lt"/>
                <a:ea typeface="+mj-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j-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j-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j-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j-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j-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j-ea"/>
              </a:defRPr>
            </a:lvl9pPr>
          </a:lstStyle>
          <a:p>
            <a:pPr marL="0" indent="0" algn="ctr" eaLnBrk="1" hangingPunct="1">
              <a:buFont typeface="Wingdings" panose="05000000000000000000" pitchFamily="2" charset="2"/>
              <a:buNone/>
              <a:defRPr/>
            </a:pPr>
            <a:r>
              <a:rPr lang="zh-CN" altLang="en-US" sz="2400" b="0" kern="0" dirty="0"/>
              <a:t>单道程序的运行情况</a:t>
            </a:r>
            <a:endParaRPr lang="zh-CN" altLang="en-US" sz="2400" b="0" kern="0" dirty="0"/>
          </a:p>
        </p:txBody>
      </p:sp>
      <p:pic>
        <p:nvPicPr>
          <p:cNvPr id="5" name="Picture 4" descr="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06148" y="1980512"/>
            <a:ext cx="7561263"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多道批处理系统</a:t>
            </a:r>
            <a:endParaRPr lang="zh-CN" altLang="en-US" sz="2800" b="1" dirty="0">
              <a:solidFill>
                <a:schemeClr val="bg1"/>
              </a:solidFill>
            </a:endParaRPr>
          </a:p>
        </p:txBody>
      </p:sp>
      <p:sp>
        <p:nvSpPr>
          <p:cNvPr id="1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8" name="îṧľîdé"/>
          <p:cNvSpPr/>
          <p:nvPr/>
        </p:nvSpPr>
        <p:spPr>
          <a:xfrm>
            <a:off x="3703687" y="176554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内容占位符 2"/>
          <p:cNvSpPr txBox="1"/>
          <p:nvPr/>
        </p:nvSpPr>
        <p:spPr>
          <a:xfrm>
            <a:off x="894703" y="2556677"/>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多道程序设计的概念</a:t>
            </a:r>
            <a:endParaRPr lang="en-US" altLang="zh-CN"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提高资源利用率和吞吐量</a:t>
            </a:r>
            <a:endParaRPr lang="en-US" altLang="zh-CN"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多道程序的运行情况</a:t>
            </a:r>
            <a:endParaRPr lang="zh-CN" altLang="en-US" sz="2400" dirty="0">
              <a:solidFill>
                <a:schemeClr val="tx1">
                  <a:lumMod val="65000"/>
                  <a:lumOff val="35000"/>
                </a:schemeClr>
              </a:solidFill>
            </a:endParaRPr>
          </a:p>
        </p:txBody>
      </p:sp>
      <p:sp>
        <p:nvSpPr>
          <p:cNvPr id="33" name="内容占位符 2"/>
          <p:cNvSpPr txBox="1"/>
          <p:nvPr/>
        </p:nvSpPr>
        <p:spPr>
          <a:xfrm>
            <a:off x="7696200" y="3235045"/>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多道批处理系统的</a:t>
            </a:r>
            <a:r>
              <a:rPr lang="zh-CN" altLang="en-US" sz="2400" dirty="0">
                <a:solidFill>
                  <a:srgbClr val="FF0000"/>
                </a:solidFill>
              </a:rPr>
              <a:t>优缺点：</a:t>
            </a:r>
            <a:endParaRPr lang="en-US" altLang="zh-CN"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资源利用率高</a:t>
            </a:r>
            <a:endParaRPr lang="en-US" altLang="zh-CN"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系统吞吐量达</a:t>
            </a:r>
            <a:endParaRPr lang="en-US" altLang="zh-CN"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平均周转时间长</a:t>
            </a:r>
            <a:endParaRPr lang="en-US" altLang="zh-CN"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无交互能力</a:t>
            </a:r>
            <a:endParaRPr lang="zh-CN" altLang="en-US" sz="2400" dirty="0">
              <a:solidFill>
                <a:schemeClr val="tx1">
                  <a:lumMod val="65000"/>
                  <a:lumOff val="35000"/>
                </a:scheme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多道批处理系统</a:t>
            </a:r>
            <a:endParaRPr lang="zh-CN" altLang="en-US" sz="2800" b="1" dirty="0">
              <a:solidFill>
                <a:schemeClr val="bg1"/>
              </a:solidFill>
            </a:endParaRPr>
          </a:p>
        </p:txBody>
      </p:sp>
      <p:grpSp>
        <p:nvGrpSpPr>
          <p:cNvPr id="4" name="组合 3"/>
          <p:cNvGrpSpPr/>
          <p:nvPr/>
        </p:nvGrpSpPr>
        <p:grpSpPr>
          <a:xfrm>
            <a:off x="1807335" y="1094093"/>
            <a:ext cx="9321800" cy="5822989"/>
            <a:chOff x="1807335" y="1094093"/>
            <a:chExt cx="9321800" cy="5822989"/>
          </a:xfrm>
        </p:grpSpPr>
        <p:sp>
          <p:nvSpPr>
            <p:cNvPr id="113" name="Line 2"/>
            <p:cNvSpPr>
              <a:spLocks noChangeShapeType="1"/>
            </p:cNvSpPr>
            <p:nvPr/>
          </p:nvSpPr>
          <p:spPr bwMode="auto">
            <a:xfrm>
              <a:off x="1807335" y="2894451"/>
              <a:ext cx="9144000" cy="0"/>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4" name="Line 3"/>
            <p:cNvSpPr>
              <a:spLocks noChangeShapeType="1"/>
            </p:cNvSpPr>
            <p:nvPr/>
          </p:nvSpPr>
          <p:spPr bwMode="auto">
            <a:xfrm>
              <a:off x="2569335" y="2769598"/>
              <a:ext cx="8001000" cy="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5" name="Line 4"/>
            <p:cNvSpPr>
              <a:spLocks noChangeShapeType="1"/>
            </p:cNvSpPr>
            <p:nvPr/>
          </p:nvSpPr>
          <p:spPr bwMode="auto">
            <a:xfrm>
              <a:off x="2721735" y="1398893"/>
              <a:ext cx="8382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6" name="Line 5"/>
            <p:cNvSpPr>
              <a:spLocks noChangeShapeType="1"/>
            </p:cNvSpPr>
            <p:nvPr/>
          </p:nvSpPr>
          <p:spPr bwMode="auto">
            <a:xfrm>
              <a:off x="3559935" y="13988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7" name="Line 6"/>
            <p:cNvSpPr>
              <a:spLocks noChangeShapeType="1"/>
            </p:cNvSpPr>
            <p:nvPr/>
          </p:nvSpPr>
          <p:spPr bwMode="auto">
            <a:xfrm>
              <a:off x="3559935" y="1856093"/>
              <a:ext cx="6096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8" name="Line 7"/>
            <p:cNvSpPr>
              <a:spLocks noChangeShapeType="1"/>
            </p:cNvSpPr>
            <p:nvPr/>
          </p:nvSpPr>
          <p:spPr bwMode="auto">
            <a:xfrm>
              <a:off x="4169535" y="18560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9" name="Line 8"/>
            <p:cNvSpPr>
              <a:spLocks noChangeShapeType="1"/>
            </p:cNvSpPr>
            <p:nvPr/>
          </p:nvSpPr>
          <p:spPr bwMode="auto">
            <a:xfrm>
              <a:off x="4169535" y="2313293"/>
              <a:ext cx="16764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0" name="Line 9"/>
            <p:cNvSpPr>
              <a:spLocks noChangeShapeType="1"/>
            </p:cNvSpPr>
            <p:nvPr/>
          </p:nvSpPr>
          <p:spPr bwMode="auto">
            <a:xfrm flipV="1">
              <a:off x="5845935" y="18560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1" name="Line 10"/>
            <p:cNvSpPr>
              <a:spLocks noChangeShapeType="1"/>
            </p:cNvSpPr>
            <p:nvPr/>
          </p:nvSpPr>
          <p:spPr bwMode="auto">
            <a:xfrm>
              <a:off x="5845935" y="1856093"/>
              <a:ext cx="6096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2" name="Line 11"/>
            <p:cNvSpPr>
              <a:spLocks noChangeShapeType="1"/>
            </p:cNvSpPr>
            <p:nvPr/>
          </p:nvSpPr>
          <p:spPr bwMode="auto">
            <a:xfrm flipV="1">
              <a:off x="6455535" y="13988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3" name="Line 12"/>
            <p:cNvSpPr>
              <a:spLocks noChangeShapeType="1"/>
            </p:cNvSpPr>
            <p:nvPr/>
          </p:nvSpPr>
          <p:spPr bwMode="auto">
            <a:xfrm>
              <a:off x="6455535" y="1398893"/>
              <a:ext cx="10668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4" name="Line 13"/>
            <p:cNvSpPr>
              <a:spLocks noChangeShapeType="1"/>
            </p:cNvSpPr>
            <p:nvPr/>
          </p:nvSpPr>
          <p:spPr bwMode="auto">
            <a:xfrm>
              <a:off x="7522335" y="13988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5" name="Line 14"/>
            <p:cNvSpPr>
              <a:spLocks noChangeShapeType="1"/>
            </p:cNvSpPr>
            <p:nvPr/>
          </p:nvSpPr>
          <p:spPr bwMode="auto">
            <a:xfrm>
              <a:off x="7522335" y="1856093"/>
              <a:ext cx="762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6" name="Line 15"/>
            <p:cNvSpPr>
              <a:spLocks noChangeShapeType="1"/>
            </p:cNvSpPr>
            <p:nvPr/>
          </p:nvSpPr>
          <p:spPr bwMode="auto">
            <a:xfrm>
              <a:off x="8284335" y="18560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7" name="Line 16"/>
            <p:cNvSpPr>
              <a:spLocks noChangeShapeType="1"/>
            </p:cNvSpPr>
            <p:nvPr/>
          </p:nvSpPr>
          <p:spPr bwMode="auto">
            <a:xfrm>
              <a:off x="8284335" y="2313293"/>
              <a:ext cx="12954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8" name="Line 17"/>
            <p:cNvSpPr>
              <a:spLocks noChangeShapeType="1"/>
            </p:cNvSpPr>
            <p:nvPr/>
          </p:nvSpPr>
          <p:spPr bwMode="auto">
            <a:xfrm flipV="1">
              <a:off x="9579735" y="18560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9" name="Line 18"/>
            <p:cNvSpPr>
              <a:spLocks noChangeShapeType="1"/>
            </p:cNvSpPr>
            <p:nvPr/>
          </p:nvSpPr>
          <p:spPr bwMode="auto">
            <a:xfrm>
              <a:off x="9579735" y="1856093"/>
              <a:ext cx="38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30" name="Line 19"/>
            <p:cNvSpPr>
              <a:spLocks noChangeShapeType="1"/>
            </p:cNvSpPr>
            <p:nvPr/>
          </p:nvSpPr>
          <p:spPr bwMode="auto">
            <a:xfrm flipV="1">
              <a:off x="9960735" y="13988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31" name="Line 20"/>
            <p:cNvSpPr>
              <a:spLocks noChangeShapeType="1"/>
            </p:cNvSpPr>
            <p:nvPr/>
          </p:nvSpPr>
          <p:spPr bwMode="auto">
            <a:xfrm>
              <a:off x="9960735" y="1398893"/>
              <a:ext cx="6096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32" name="Text Box 21"/>
            <p:cNvSpPr txBox="1">
              <a:spLocks noChangeArrowheads="1"/>
            </p:cNvSpPr>
            <p:nvPr/>
          </p:nvSpPr>
          <p:spPr bwMode="auto">
            <a:xfrm>
              <a:off x="34837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en-US" altLang="zh-CN" sz="1400" b="1">
                  <a:latin typeface="+mn-ea"/>
                  <a:ea typeface="+mn-ea"/>
                </a:rPr>
                <a:t>t</a:t>
              </a:r>
              <a:r>
                <a:rPr lang="en-US" altLang="zh-CN" sz="1400" b="1" baseline="-25000">
                  <a:latin typeface="+mn-ea"/>
                  <a:ea typeface="+mn-ea"/>
                </a:rPr>
                <a:t>1</a:t>
              </a:r>
              <a:endParaRPr lang="en-US" altLang="zh-CN" sz="1400" b="1" baseline="-25000">
                <a:latin typeface="+mn-ea"/>
                <a:ea typeface="+mn-ea"/>
              </a:endParaRPr>
            </a:p>
          </p:txBody>
        </p:sp>
        <p:sp>
          <p:nvSpPr>
            <p:cNvPr id="133" name="Text Box 22"/>
            <p:cNvSpPr txBox="1">
              <a:spLocks noChangeArrowheads="1"/>
            </p:cNvSpPr>
            <p:nvPr/>
          </p:nvSpPr>
          <p:spPr bwMode="auto">
            <a:xfrm>
              <a:off x="40552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2</a:t>
              </a:r>
              <a:endParaRPr lang="en-US" altLang="zh-CN" sz="1400" baseline="-25000">
                <a:latin typeface="+mn-ea"/>
                <a:ea typeface="+mn-ea"/>
              </a:endParaRPr>
            </a:p>
          </p:txBody>
        </p:sp>
        <p:sp>
          <p:nvSpPr>
            <p:cNvPr id="134" name="Text Box 23"/>
            <p:cNvSpPr txBox="1">
              <a:spLocks noChangeArrowheads="1"/>
            </p:cNvSpPr>
            <p:nvPr/>
          </p:nvSpPr>
          <p:spPr bwMode="auto">
            <a:xfrm>
              <a:off x="56681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3</a:t>
              </a:r>
              <a:endParaRPr lang="en-US" altLang="zh-CN" sz="1400" baseline="-25000">
                <a:latin typeface="+mn-ea"/>
                <a:ea typeface="+mn-ea"/>
              </a:endParaRPr>
            </a:p>
          </p:txBody>
        </p:sp>
        <p:sp>
          <p:nvSpPr>
            <p:cNvPr id="135" name="Text Box 24"/>
            <p:cNvSpPr txBox="1">
              <a:spLocks noChangeArrowheads="1"/>
            </p:cNvSpPr>
            <p:nvPr/>
          </p:nvSpPr>
          <p:spPr bwMode="auto">
            <a:xfrm>
              <a:off x="63793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4</a:t>
              </a:r>
              <a:endParaRPr lang="en-US" altLang="zh-CN" sz="1400" baseline="-25000">
                <a:latin typeface="+mn-ea"/>
                <a:ea typeface="+mn-ea"/>
              </a:endParaRPr>
            </a:p>
          </p:txBody>
        </p:sp>
        <p:sp>
          <p:nvSpPr>
            <p:cNvPr id="136" name="Text Box 25"/>
            <p:cNvSpPr txBox="1">
              <a:spLocks noChangeArrowheads="1"/>
            </p:cNvSpPr>
            <p:nvPr/>
          </p:nvSpPr>
          <p:spPr bwMode="auto">
            <a:xfrm>
              <a:off x="73699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5</a:t>
              </a:r>
              <a:endParaRPr lang="en-US" altLang="zh-CN" sz="1400" baseline="-25000">
                <a:latin typeface="+mn-ea"/>
                <a:ea typeface="+mn-ea"/>
              </a:endParaRPr>
            </a:p>
          </p:txBody>
        </p:sp>
        <p:sp>
          <p:nvSpPr>
            <p:cNvPr id="137" name="Text Box 26"/>
            <p:cNvSpPr txBox="1">
              <a:spLocks noChangeArrowheads="1"/>
            </p:cNvSpPr>
            <p:nvPr/>
          </p:nvSpPr>
          <p:spPr bwMode="auto">
            <a:xfrm>
              <a:off x="82081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6</a:t>
              </a:r>
              <a:endParaRPr lang="en-US" altLang="zh-CN" sz="1400" baseline="-25000">
                <a:latin typeface="+mn-ea"/>
                <a:ea typeface="+mn-ea"/>
              </a:endParaRPr>
            </a:p>
          </p:txBody>
        </p:sp>
        <p:sp>
          <p:nvSpPr>
            <p:cNvPr id="138" name="Text Box 27"/>
            <p:cNvSpPr txBox="1">
              <a:spLocks noChangeArrowheads="1"/>
            </p:cNvSpPr>
            <p:nvPr/>
          </p:nvSpPr>
          <p:spPr bwMode="auto">
            <a:xfrm>
              <a:off x="94273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7</a:t>
              </a:r>
              <a:endParaRPr lang="en-US" altLang="zh-CN" sz="1400" baseline="-25000">
                <a:latin typeface="+mn-ea"/>
                <a:ea typeface="+mn-ea"/>
              </a:endParaRPr>
            </a:p>
          </p:txBody>
        </p:sp>
        <p:sp>
          <p:nvSpPr>
            <p:cNvPr id="139" name="Text Box 28"/>
            <p:cNvSpPr txBox="1">
              <a:spLocks noChangeArrowheads="1"/>
            </p:cNvSpPr>
            <p:nvPr/>
          </p:nvSpPr>
          <p:spPr bwMode="auto">
            <a:xfrm>
              <a:off x="98464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8</a:t>
              </a:r>
              <a:endParaRPr lang="en-US" altLang="zh-CN" sz="1400" baseline="-25000">
                <a:latin typeface="+mn-ea"/>
                <a:ea typeface="+mn-ea"/>
              </a:endParaRPr>
            </a:p>
          </p:txBody>
        </p:sp>
        <p:sp>
          <p:nvSpPr>
            <p:cNvPr id="140" name="Text Box 29"/>
            <p:cNvSpPr txBox="1">
              <a:spLocks noChangeArrowheads="1"/>
            </p:cNvSpPr>
            <p:nvPr/>
          </p:nvSpPr>
          <p:spPr bwMode="auto">
            <a:xfrm>
              <a:off x="1807335" y="12464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a:latin typeface="+mn-ea"/>
                  <a:ea typeface="+mn-ea"/>
                </a:rPr>
                <a:t>用户程序</a:t>
              </a:r>
              <a:endParaRPr lang="zh-CN" altLang="en-US" sz="1400" b="1">
                <a:latin typeface="+mn-ea"/>
                <a:ea typeface="+mn-ea"/>
              </a:endParaRPr>
            </a:p>
          </p:txBody>
        </p:sp>
        <p:sp>
          <p:nvSpPr>
            <p:cNvPr id="141" name="Text Box 30"/>
            <p:cNvSpPr txBox="1">
              <a:spLocks noChangeArrowheads="1"/>
            </p:cNvSpPr>
            <p:nvPr/>
          </p:nvSpPr>
          <p:spPr bwMode="auto">
            <a:xfrm>
              <a:off x="1807335" y="17036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监督程序</a:t>
              </a:r>
              <a:endParaRPr lang="zh-CN" altLang="en-US" sz="1400" b="1" dirty="0">
                <a:latin typeface="+mn-ea"/>
                <a:ea typeface="+mn-ea"/>
              </a:endParaRPr>
            </a:p>
          </p:txBody>
        </p:sp>
        <p:sp>
          <p:nvSpPr>
            <p:cNvPr id="142" name="Text Box 31"/>
            <p:cNvSpPr txBox="1">
              <a:spLocks noChangeArrowheads="1"/>
            </p:cNvSpPr>
            <p:nvPr/>
          </p:nvSpPr>
          <p:spPr bwMode="auto">
            <a:xfrm>
              <a:off x="1807335" y="21608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en-US" altLang="zh-CN" sz="1400" b="1" dirty="0">
                  <a:latin typeface="+mn-ea"/>
                  <a:ea typeface="+mn-ea"/>
                </a:rPr>
                <a:t>I/O</a:t>
              </a:r>
              <a:r>
                <a:rPr lang="zh-CN" altLang="en-US" sz="1400" b="1" dirty="0">
                  <a:latin typeface="+mn-ea"/>
                  <a:ea typeface="+mn-ea"/>
                </a:rPr>
                <a:t>操作</a:t>
              </a:r>
              <a:endParaRPr lang="zh-CN" altLang="en-US" sz="1400" b="1" dirty="0">
                <a:latin typeface="+mn-ea"/>
                <a:ea typeface="+mn-ea"/>
              </a:endParaRPr>
            </a:p>
          </p:txBody>
        </p:sp>
        <p:sp>
          <p:nvSpPr>
            <p:cNvPr id="143" name="Text Box 34"/>
            <p:cNvSpPr txBox="1">
              <a:spLocks noChangeArrowheads="1"/>
            </p:cNvSpPr>
            <p:nvPr/>
          </p:nvSpPr>
          <p:spPr bwMode="auto">
            <a:xfrm>
              <a:off x="5845935" y="2160892"/>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结束中断</a:t>
              </a:r>
              <a:endParaRPr lang="zh-CN" altLang="en-US" sz="1400" b="1" dirty="0">
                <a:latin typeface="+mn-ea"/>
                <a:ea typeface="+mn-ea"/>
              </a:endParaRPr>
            </a:p>
          </p:txBody>
        </p:sp>
        <p:sp>
          <p:nvSpPr>
            <p:cNvPr id="144" name="Text Box 35"/>
            <p:cNvSpPr txBox="1">
              <a:spLocks noChangeArrowheads="1"/>
            </p:cNvSpPr>
            <p:nvPr/>
          </p:nvSpPr>
          <p:spPr bwMode="auto">
            <a:xfrm>
              <a:off x="5464935" y="15512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en-US" altLang="zh-CN" sz="1400" b="1">
                  <a:latin typeface="+mn-ea"/>
                  <a:ea typeface="+mn-ea"/>
                </a:rPr>
                <a:t>I/O</a:t>
              </a:r>
              <a:r>
                <a:rPr lang="zh-CN" altLang="en-US" sz="1400" b="1">
                  <a:latin typeface="+mn-ea"/>
                  <a:ea typeface="+mn-ea"/>
                </a:rPr>
                <a:t>完成</a:t>
              </a:r>
              <a:endParaRPr lang="zh-CN" altLang="en-US" sz="1400" b="1">
                <a:latin typeface="+mn-ea"/>
                <a:ea typeface="+mn-ea"/>
              </a:endParaRPr>
            </a:p>
          </p:txBody>
        </p:sp>
        <p:sp>
          <p:nvSpPr>
            <p:cNvPr id="145" name="Text Box 36"/>
            <p:cNvSpPr txBox="1">
              <a:spLocks noChangeArrowheads="1"/>
            </p:cNvSpPr>
            <p:nvPr/>
          </p:nvSpPr>
          <p:spPr bwMode="auto">
            <a:xfrm>
              <a:off x="7255635" y="1094093"/>
              <a:ext cx="1219202"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en-US" altLang="zh-CN" sz="1400" b="1" dirty="0">
                  <a:latin typeface="+mn-ea"/>
                  <a:ea typeface="+mn-ea"/>
                </a:rPr>
                <a:t>I/O</a:t>
              </a:r>
              <a:r>
                <a:rPr lang="zh-CN" altLang="en-US" sz="1400" b="1" dirty="0">
                  <a:latin typeface="+mn-ea"/>
                  <a:ea typeface="+mn-ea"/>
                </a:rPr>
                <a:t>中断请求</a:t>
              </a:r>
              <a:endParaRPr lang="zh-CN" altLang="en-US" sz="1400" b="1" dirty="0">
                <a:latin typeface="+mn-ea"/>
                <a:ea typeface="+mn-ea"/>
              </a:endParaRPr>
            </a:p>
          </p:txBody>
        </p:sp>
        <p:sp>
          <p:nvSpPr>
            <p:cNvPr id="146" name="Text Box 37"/>
            <p:cNvSpPr txBox="1">
              <a:spLocks noChangeArrowheads="1"/>
            </p:cNvSpPr>
            <p:nvPr/>
          </p:nvSpPr>
          <p:spPr bwMode="auto">
            <a:xfrm>
              <a:off x="7941435" y="15512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a:latin typeface="+mn-ea"/>
                  <a:ea typeface="+mn-ea"/>
                </a:rPr>
                <a:t>启动</a:t>
              </a:r>
              <a:r>
                <a:rPr lang="en-US" altLang="zh-CN" sz="1400" b="1">
                  <a:latin typeface="+mn-ea"/>
                  <a:ea typeface="+mn-ea"/>
                </a:rPr>
                <a:t>I/O</a:t>
              </a:r>
              <a:endParaRPr lang="en-US" altLang="zh-CN" sz="1400" b="1">
                <a:latin typeface="+mn-ea"/>
                <a:ea typeface="+mn-ea"/>
              </a:endParaRPr>
            </a:p>
          </p:txBody>
        </p:sp>
        <p:sp>
          <p:nvSpPr>
            <p:cNvPr id="147" name="Text Box 38"/>
            <p:cNvSpPr txBox="1">
              <a:spLocks noChangeArrowheads="1"/>
            </p:cNvSpPr>
            <p:nvPr/>
          </p:nvSpPr>
          <p:spPr bwMode="auto">
            <a:xfrm>
              <a:off x="9123071" y="1540520"/>
              <a:ext cx="8382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en-US" altLang="zh-CN" sz="1400" b="1" dirty="0">
                  <a:latin typeface="+mn-ea"/>
                  <a:ea typeface="+mn-ea"/>
                </a:rPr>
                <a:t>I/O</a:t>
              </a:r>
              <a:r>
                <a:rPr lang="zh-CN" altLang="en-US" sz="1400" b="1" dirty="0">
                  <a:latin typeface="+mn-ea"/>
                  <a:ea typeface="+mn-ea"/>
                </a:rPr>
                <a:t>完成</a:t>
              </a:r>
              <a:endParaRPr lang="zh-CN" altLang="en-US" sz="1400" b="1" dirty="0">
                <a:latin typeface="+mn-ea"/>
                <a:ea typeface="+mn-ea"/>
              </a:endParaRPr>
            </a:p>
          </p:txBody>
        </p:sp>
        <p:sp>
          <p:nvSpPr>
            <p:cNvPr id="148" name="Text Box 39"/>
            <p:cNvSpPr txBox="1">
              <a:spLocks noChangeArrowheads="1"/>
            </p:cNvSpPr>
            <p:nvPr/>
          </p:nvSpPr>
          <p:spPr bwMode="auto">
            <a:xfrm>
              <a:off x="3636135" y="15512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a:latin typeface="+mn-ea"/>
                  <a:ea typeface="+mn-ea"/>
                </a:rPr>
                <a:t>启动</a:t>
              </a:r>
              <a:r>
                <a:rPr lang="en-US" altLang="zh-CN" sz="1400" b="1">
                  <a:latin typeface="+mn-ea"/>
                  <a:ea typeface="+mn-ea"/>
                </a:rPr>
                <a:t>I/O</a:t>
              </a:r>
              <a:endParaRPr lang="en-US" altLang="zh-CN" sz="1400" b="1">
                <a:latin typeface="+mn-ea"/>
                <a:ea typeface="+mn-ea"/>
              </a:endParaRPr>
            </a:p>
          </p:txBody>
        </p:sp>
        <p:sp>
          <p:nvSpPr>
            <p:cNvPr id="149" name="Text Box 40"/>
            <p:cNvSpPr txBox="1">
              <a:spLocks noChangeArrowheads="1"/>
            </p:cNvSpPr>
            <p:nvPr/>
          </p:nvSpPr>
          <p:spPr bwMode="auto">
            <a:xfrm>
              <a:off x="3026534" y="1094093"/>
              <a:ext cx="1333499"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en-US" altLang="zh-CN" sz="1400" b="1" dirty="0">
                  <a:latin typeface="+mn-ea"/>
                  <a:ea typeface="+mn-ea"/>
                </a:rPr>
                <a:t>I/O</a:t>
              </a:r>
              <a:r>
                <a:rPr lang="zh-CN" altLang="en-US" sz="1400" b="1" dirty="0">
                  <a:latin typeface="+mn-ea"/>
                  <a:ea typeface="+mn-ea"/>
                </a:rPr>
                <a:t>中断请求</a:t>
              </a:r>
              <a:endParaRPr lang="zh-CN" altLang="en-US" sz="1400" b="1" baseline="-25000" dirty="0">
                <a:latin typeface="+mn-ea"/>
                <a:ea typeface="+mn-ea"/>
              </a:endParaRPr>
            </a:p>
          </p:txBody>
        </p:sp>
        <p:sp>
          <p:nvSpPr>
            <p:cNvPr id="150" name="Line 41"/>
            <p:cNvSpPr>
              <a:spLocks noChangeShapeType="1"/>
            </p:cNvSpPr>
            <p:nvPr/>
          </p:nvSpPr>
          <p:spPr bwMode="auto">
            <a:xfrm>
              <a:off x="2645535" y="5915081"/>
              <a:ext cx="8001000" cy="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1" name="Line 42"/>
            <p:cNvSpPr>
              <a:spLocks noChangeShapeType="1"/>
            </p:cNvSpPr>
            <p:nvPr/>
          </p:nvSpPr>
          <p:spPr bwMode="auto">
            <a:xfrm>
              <a:off x="2721735" y="3694550"/>
              <a:ext cx="8382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2" name="Line 44"/>
            <p:cNvSpPr>
              <a:spLocks noChangeShapeType="1"/>
            </p:cNvSpPr>
            <p:nvPr/>
          </p:nvSpPr>
          <p:spPr bwMode="auto">
            <a:xfrm>
              <a:off x="3940935" y="4227950"/>
              <a:ext cx="7620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3" name="Line 45"/>
            <p:cNvSpPr>
              <a:spLocks noChangeShapeType="1"/>
            </p:cNvSpPr>
            <p:nvPr/>
          </p:nvSpPr>
          <p:spPr bwMode="auto">
            <a:xfrm>
              <a:off x="3559935" y="3694550"/>
              <a:ext cx="0" cy="20574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4" name="Line 46"/>
            <p:cNvSpPr>
              <a:spLocks noChangeShapeType="1"/>
            </p:cNvSpPr>
            <p:nvPr/>
          </p:nvSpPr>
          <p:spPr bwMode="auto">
            <a:xfrm>
              <a:off x="3559935" y="5751950"/>
              <a:ext cx="38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5" name="Line 47"/>
            <p:cNvSpPr>
              <a:spLocks noChangeShapeType="1"/>
            </p:cNvSpPr>
            <p:nvPr/>
          </p:nvSpPr>
          <p:spPr bwMode="auto">
            <a:xfrm flipV="1">
              <a:off x="3940935" y="3694550"/>
              <a:ext cx="0" cy="20574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6" name="Line 48"/>
            <p:cNvSpPr>
              <a:spLocks noChangeShapeType="1"/>
            </p:cNvSpPr>
            <p:nvPr/>
          </p:nvSpPr>
          <p:spPr bwMode="auto">
            <a:xfrm>
              <a:off x="3940935" y="3694550"/>
              <a:ext cx="3810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7" name="Line 49"/>
            <p:cNvSpPr>
              <a:spLocks noChangeShapeType="1"/>
            </p:cNvSpPr>
            <p:nvPr/>
          </p:nvSpPr>
          <p:spPr bwMode="auto">
            <a:xfrm>
              <a:off x="4702935" y="4227950"/>
              <a:ext cx="0" cy="15240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8" name="Line 50"/>
            <p:cNvSpPr>
              <a:spLocks noChangeShapeType="1"/>
            </p:cNvSpPr>
            <p:nvPr/>
          </p:nvSpPr>
          <p:spPr bwMode="auto">
            <a:xfrm>
              <a:off x="4702935" y="5751950"/>
              <a:ext cx="38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9" name="Line 51"/>
            <p:cNvSpPr>
              <a:spLocks noChangeShapeType="1"/>
            </p:cNvSpPr>
            <p:nvPr/>
          </p:nvSpPr>
          <p:spPr bwMode="auto">
            <a:xfrm flipV="1">
              <a:off x="5083935" y="4227950"/>
              <a:ext cx="0" cy="15240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0" name="Line 52"/>
            <p:cNvSpPr>
              <a:spLocks noChangeShapeType="1"/>
            </p:cNvSpPr>
            <p:nvPr/>
          </p:nvSpPr>
          <p:spPr bwMode="auto">
            <a:xfrm>
              <a:off x="5083935" y="4227950"/>
              <a:ext cx="4267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lIns="92075" tIns="46038" rIns="92075" bIns="46038"/>
            <a:lstStyle/>
            <a:p>
              <a:endParaRPr lang="zh-CN" altLang="en-US"/>
            </a:p>
          </p:txBody>
        </p:sp>
        <p:sp>
          <p:nvSpPr>
            <p:cNvPr id="161" name="Line 53"/>
            <p:cNvSpPr>
              <a:spLocks noChangeShapeType="1"/>
            </p:cNvSpPr>
            <p:nvPr/>
          </p:nvSpPr>
          <p:spPr bwMode="auto">
            <a:xfrm>
              <a:off x="5083935" y="4761350"/>
              <a:ext cx="9144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2" name="Line 54"/>
            <p:cNvSpPr>
              <a:spLocks noChangeShapeType="1"/>
            </p:cNvSpPr>
            <p:nvPr/>
          </p:nvSpPr>
          <p:spPr bwMode="auto">
            <a:xfrm>
              <a:off x="5998335" y="4761350"/>
              <a:ext cx="0" cy="9906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3" name="Line 55"/>
            <p:cNvSpPr>
              <a:spLocks noChangeShapeType="1"/>
            </p:cNvSpPr>
            <p:nvPr/>
          </p:nvSpPr>
          <p:spPr bwMode="auto">
            <a:xfrm>
              <a:off x="5998335" y="5751950"/>
              <a:ext cx="38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4" name="Line 56"/>
            <p:cNvSpPr>
              <a:spLocks noChangeShapeType="1"/>
            </p:cNvSpPr>
            <p:nvPr/>
          </p:nvSpPr>
          <p:spPr bwMode="auto">
            <a:xfrm>
              <a:off x="6379335" y="4761350"/>
              <a:ext cx="0" cy="9906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5" name="Line 57"/>
            <p:cNvSpPr>
              <a:spLocks noChangeShapeType="1"/>
            </p:cNvSpPr>
            <p:nvPr/>
          </p:nvSpPr>
          <p:spPr bwMode="auto">
            <a:xfrm>
              <a:off x="6379335" y="4761350"/>
              <a:ext cx="2667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6" name="Line 58"/>
            <p:cNvSpPr>
              <a:spLocks noChangeShapeType="1"/>
            </p:cNvSpPr>
            <p:nvPr/>
          </p:nvSpPr>
          <p:spPr bwMode="auto">
            <a:xfrm>
              <a:off x="6379335" y="5370950"/>
              <a:ext cx="12954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7" name="Line 59"/>
            <p:cNvSpPr>
              <a:spLocks noChangeShapeType="1"/>
            </p:cNvSpPr>
            <p:nvPr/>
          </p:nvSpPr>
          <p:spPr bwMode="auto">
            <a:xfrm>
              <a:off x="7674735" y="5370950"/>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8" name="Line 60"/>
            <p:cNvSpPr>
              <a:spLocks noChangeShapeType="1"/>
            </p:cNvSpPr>
            <p:nvPr/>
          </p:nvSpPr>
          <p:spPr bwMode="auto">
            <a:xfrm>
              <a:off x="7674735" y="5828150"/>
              <a:ext cx="38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9" name="Line 61"/>
            <p:cNvSpPr>
              <a:spLocks noChangeShapeType="1"/>
            </p:cNvSpPr>
            <p:nvPr/>
          </p:nvSpPr>
          <p:spPr bwMode="auto">
            <a:xfrm flipV="1">
              <a:off x="8055735" y="5370950"/>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0" name="Line 62"/>
            <p:cNvSpPr>
              <a:spLocks noChangeShapeType="1"/>
            </p:cNvSpPr>
            <p:nvPr/>
          </p:nvSpPr>
          <p:spPr bwMode="auto">
            <a:xfrm>
              <a:off x="8055735" y="5370950"/>
              <a:ext cx="21336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1" name="Line 63"/>
            <p:cNvSpPr>
              <a:spLocks noChangeShapeType="1"/>
            </p:cNvSpPr>
            <p:nvPr/>
          </p:nvSpPr>
          <p:spPr bwMode="auto">
            <a:xfrm>
              <a:off x="9427335" y="4761350"/>
              <a:ext cx="9144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2" name="Line 64"/>
            <p:cNvSpPr>
              <a:spLocks noChangeShapeType="1"/>
            </p:cNvSpPr>
            <p:nvPr/>
          </p:nvSpPr>
          <p:spPr bwMode="auto">
            <a:xfrm>
              <a:off x="5083935" y="4227950"/>
              <a:ext cx="419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3" name="Line 65"/>
            <p:cNvSpPr>
              <a:spLocks noChangeShapeType="1"/>
            </p:cNvSpPr>
            <p:nvPr/>
          </p:nvSpPr>
          <p:spPr bwMode="auto">
            <a:xfrm>
              <a:off x="8665335" y="3694550"/>
              <a:ext cx="7620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4" name="Line 66"/>
            <p:cNvSpPr>
              <a:spLocks noChangeShapeType="1"/>
            </p:cNvSpPr>
            <p:nvPr/>
          </p:nvSpPr>
          <p:spPr bwMode="auto">
            <a:xfrm>
              <a:off x="9427335" y="3694550"/>
              <a:ext cx="0" cy="10668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5" name="Text Box 67"/>
            <p:cNvSpPr txBox="1">
              <a:spLocks noChangeArrowheads="1"/>
            </p:cNvSpPr>
            <p:nvPr/>
          </p:nvSpPr>
          <p:spPr bwMode="auto">
            <a:xfrm>
              <a:off x="1807335" y="3542150"/>
              <a:ext cx="6858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a:t>
              </a:r>
              <a:endParaRPr lang="en-US" altLang="zh-CN" sz="1400" b="1" dirty="0">
                <a:latin typeface="+mn-ea"/>
                <a:ea typeface="+mn-ea"/>
              </a:endParaRPr>
            </a:p>
          </p:txBody>
        </p:sp>
        <p:sp>
          <p:nvSpPr>
            <p:cNvPr id="176" name="Text Box 70"/>
            <p:cNvSpPr txBox="1">
              <a:spLocks noChangeArrowheads="1"/>
            </p:cNvSpPr>
            <p:nvPr/>
          </p:nvSpPr>
          <p:spPr bwMode="auto">
            <a:xfrm>
              <a:off x="1807335" y="4075550"/>
              <a:ext cx="6858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B</a:t>
              </a:r>
              <a:endParaRPr lang="en-US" altLang="zh-CN" sz="1400" b="1" dirty="0">
                <a:latin typeface="+mn-ea"/>
                <a:ea typeface="+mn-ea"/>
              </a:endParaRPr>
            </a:p>
          </p:txBody>
        </p:sp>
        <p:sp>
          <p:nvSpPr>
            <p:cNvPr id="177" name="Text Box 71"/>
            <p:cNvSpPr txBox="1">
              <a:spLocks noChangeArrowheads="1"/>
            </p:cNvSpPr>
            <p:nvPr/>
          </p:nvSpPr>
          <p:spPr bwMode="auto">
            <a:xfrm>
              <a:off x="1807335" y="4608950"/>
              <a:ext cx="6858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a:latin typeface="+mn-ea"/>
                  <a:ea typeface="+mn-ea"/>
                </a:rPr>
                <a:t>程序</a:t>
              </a:r>
              <a:r>
                <a:rPr lang="en-US" altLang="zh-CN" sz="1400" b="1">
                  <a:latin typeface="+mn-ea"/>
                  <a:ea typeface="+mn-ea"/>
                </a:rPr>
                <a:t>C</a:t>
              </a:r>
              <a:endParaRPr lang="en-US" altLang="zh-CN" sz="1400" b="1">
                <a:latin typeface="+mn-ea"/>
                <a:ea typeface="+mn-ea"/>
              </a:endParaRPr>
            </a:p>
          </p:txBody>
        </p:sp>
        <p:sp>
          <p:nvSpPr>
            <p:cNvPr id="178" name="Text Box 72"/>
            <p:cNvSpPr txBox="1">
              <a:spLocks noChangeArrowheads="1"/>
            </p:cNvSpPr>
            <p:nvPr/>
          </p:nvSpPr>
          <p:spPr bwMode="auto">
            <a:xfrm>
              <a:off x="1807335" y="5142350"/>
              <a:ext cx="762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D</a:t>
              </a:r>
              <a:endParaRPr lang="en-US" altLang="zh-CN" sz="1400" b="1" dirty="0">
                <a:latin typeface="+mn-ea"/>
                <a:ea typeface="+mn-ea"/>
              </a:endParaRPr>
            </a:p>
          </p:txBody>
        </p:sp>
        <p:sp>
          <p:nvSpPr>
            <p:cNvPr id="179" name="Text Box 73"/>
            <p:cNvSpPr txBox="1">
              <a:spLocks noChangeArrowheads="1"/>
            </p:cNvSpPr>
            <p:nvPr/>
          </p:nvSpPr>
          <p:spPr bwMode="auto">
            <a:xfrm>
              <a:off x="1807335" y="5599550"/>
              <a:ext cx="9906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调度程序</a:t>
              </a:r>
              <a:endParaRPr lang="zh-CN" altLang="en-US" sz="1400" b="1" dirty="0">
                <a:latin typeface="+mn-ea"/>
                <a:ea typeface="+mn-ea"/>
              </a:endParaRPr>
            </a:p>
          </p:txBody>
        </p:sp>
        <p:sp>
          <p:nvSpPr>
            <p:cNvPr id="180" name="Text Box 74"/>
            <p:cNvSpPr txBox="1">
              <a:spLocks noChangeArrowheads="1"/>
            </p:cNvSpPr>
            <p:nvPr/>
          </p:nvSpPr>
          <p:spPr bwMode="auto">
            <a:xfrm>
              <a:off x="2595093" y="3401555"/>
              <a:ext cx="7366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a:t>
              </a:r>
              <a:endParaRPr lang="en-US" altLang="zh-CN" sz="1400" b="1" dirty="0">
                <a:latin typeface="+mn-ea"/>
                <a:ea typeface="+mn-ea"/>
              </a:endParaRPr>
            </a:p>
          </p:txBody>
        </p:sp>
        <p:sp>
          <p:nvSpPr>
            <p:cNvPr id="181" name="Text Box 75"/>
            <p:cNvSpPr txBox="1">
              <a:spLocks noChangeArrowheads="1"/>
            </p:cNvSpPr>
            <p:nvPr/>
          </p:nvSpPr>
          <p:spPr bwMode="auto">
            <a:xfrm>
              <a:off x="3255135" y="3211592"/>
              <a:ext cx="13716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 I/O</a:t>
              </a:r>
              <a:r>
                <a:rPr lang="zh-CN" altLang="en-US" sz="1400" b="1" dirty="0">
                  <a:latin typeface="+mn-ea"/>
                  <a:ea typeface="+mn-ea"/>
                </a:rPr>
                <a:t>请求</a:t>
              </a:r>
              <a:endParaRPr lang="zh-CN" altLang="en-US" sz="1400" b="1" dirty="0">
                <a:latin typeface="+mn-ea"/>
                <a:ea typeface="+mn-ea"/>
              </a:endParaRPr>
            </a:p>
          </p:txBody>
        </p:sp>
        <p:sp>
          <p:nvSpPr>
            <p:cNvPr id="182" name="Line 76"/>
            <p:cNvSpPr>
              <a:spLocks noChangeShapeType="1"/>
            </p:cNvSpPr>
            <p:nvPr/>
          </p:nvSpPr>
          <p:spPr bwMode="auto">
            <a:xfrm>
              <a:off x="3559935" y="34659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83" name="Text Box 77"/>
            <p:cNvSpPr txBox="1">
              <a:spLocks noChangeArrowheads="1"/>
            </p:cNvSpPr>
            <p:nvPr/>
          </p:nvSpPr>
          <p:spPr bwMode="auto">
            <a:xfrm>
              <a:off x="4017134" y="3923150"/>
              <a:ext cx="685799"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B</a:t>
              </a:r>
              <a:endParaRPr lang="en-US" altLang="zh-CN" sz="1400" b="1" dirty="0">
                <a:latin typeface="+mn-ea"/>
                <a:ea typeface="+mn-ea"/>
              </a:endParaRPr>
            </a:p>
          </p:txBody>
        </p:sp>
        <p:sp>
          <p:nvSpPr>
            <p:cNvPr id="184" name="Text Box 78"/>
            <p:cNvSpPr txBox="1">
              <a:spLocks noChangeArrowheads="1"/>
            </p:cNvSpPr>
            <p:nvPr/>
          </p:nvSpPr>
          <p:spPr bwMode="auto">
            <a:xfrm>
              <a:off x="4474335" y="3694550"/>
              <a:ext cx="1397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B I/O</a:t>
              </a:r>
              <a:r>
                <a:rPr lang="zh-CN" altLang="en-US" sz="1400" b="1" dirty="0">
                  <a:latin typeface="+mn-ea"/>
                  <a:ea typeface="+mn-ea"/>
                </a:rPr>
                <a:t>请求</a:t>
              </a:r>
              <a:endParaRPr lang="zh-CN" altLang="en-US" sz="1400" b="1" dirty="0">
                <a:latin typeface="+mn-ea"/>
                <a:ea typeface="+mn-ea"/>
              </a:endParaRPr>
            </a:p>
          </p:txBody>
        </p:sp>
        <p:sp>
          <p:nvSpPr>
            <p:cNvPr id="185" name="Line 79"/>
            <p:cNvSpPr>
              <a:spLocks noChangeShapeType="1"/>
            </p:cNvSpPr>
            <p:nvPr/>
          </p:nvSpPr>
          <p:spPr bwMode="auto">
            <a:xfrm>
              <a:off x="4702935" y="39993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86" name="Text Box 80"/>
            <p:cNvSpPr txBox="1">
              <a:spLocks noChangeArrowheads="1"/>
            </p:cNvSpPr>
            <p:nvPr/>
          </p:nvSpPr>
          <p:spPr bwMode="auto">
            <a:xfrm>
              <a:off x="5236335" y="4456550"/>
              <a:ext cx="6858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C</a:t>
              </a:r>
              <a:endParaRPr lang="en-US" altLang="zh-CN" sz="1400" b="1" dirty="0">
                <a:latin typeface="+mn-ea"/>
                <a:ea typeface="+mn-ea"/>
              </a:endParaRPr>
            </a:p>
          </p:txBody>
        </p:sp>
        <p:sp>
          <p:nvSpPr>
            <p:cNvPr id="187" name="Text Box 81"/>
            <p:cNvSpPr txBox="1">
              <a:spLocks noChangeArrowheads="1"/>
            </p:cNvSpPr>
            <p:nvPr/>
          </p:nvSpPr>
          <p:spPr bwMode="auto">
            <a:xfrm>
              <a:off x="5464934" y="4227950"/>
              <a:ext cx="1447797"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C I/O</a:t>
              </a:r>
              <a:r>
                <a:rPr lang="zh-CN" altLang="en-US" sz="1400" b="1" dirty="0">
                  <a:latin typeface="+mn-ea"/>
                  <a:ea typeface="+mn-ea"/>
                </a:rPr>
                <a:t>请求</a:t>
              </a:r>
              <a:endParaRPr lang="zh-CN" altLang="en-US" sz="1400" b="1" dirty="0">
                <a:latin typeface="+mn-ea"/>
                <a:ea typeface="+mn-ea"/>
              </a:endParaRPr>
            </a:p>
          </p:txBody>
        </p:sp>
        <p:sp>
          <p:nvSpPr>
            <p:cNvPr id="188" name="Line 82"/>
            <p:cNvSpPr>
              <a:spLocks noChangeShapeType="1"/>
            </p:cNvSpPr>
            <p:nvPr/>
          </p:nvSpPr>
          <p:spPr bwMode="auto">
            <a:xfrm>
              <a:off x="5998335" y="4380350"/>
              <a:ext cx="0" cy="3810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89" name="Text Box 83"/>
            <p:cNvSpPr txBox="1">
              <a:spLocks noChangeArrowheads="1"/>
            </p:cNvSpPr>
            <p:nvPr/>
          </p:nvSpPr>
          <p:spPr bwMode="auto">
            <a:xfrm>
              <a:off x="6912734" y="4761350"/>
              <a:ext cx="1422401"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D I/O</a:t>
              </a:r>
              <a:r>
                <a:rPr lang="zh-CN" altLang="en-US" sz="1400" b="1" dirty="0">
                  <a:latin typeface="+mn-ea"/>
                  <a:ea typeface="+mn-ea"/>
                </a:rPr>
                <a:t>请求</a:t>
              </a:r>
              <a:endParaRPr lang="zh-CN" altLang="en-US" sz="1400" b="1" dirty="0">
                <a:latin typeface="+mn-ea"/>
                <a:ea typeface="+mn-ea"/>
              </a:endParaRPr>
            </a:p>
          </p:txBody>
        </p:sp>
        <p:sp>
          <p:nvSpPr>
            <p:cNvPr id="190" name="Line 84"/>
            <p:cNvSpPr>
              <a:spLocks noChangeShapeType="1"/>
            </p:cNvSpPr>
            <p:nvPr/>
          </p:nvSpPr>
          <p:spPr bwMode="auto">
            <a:xfrm>
              <a:off x="7674735" y="5066150"/>
              <a:ext cx="0" cy="3048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91" name="Text Box 87"/>
            <p:cNvSpPr txBox="1">
              <a:spLocks noChangeArrowheads="1"/>
            </p:cNvSpPr>
            <p:nvPr/>
          </p:nvSpPr>
          <p:spPr bwMode="auto">
            <a:xfrm>
              <a:off x="6531735" y="5066150"/>
              <a:ext cx="7239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D</a:t>
              </a:r>
              <a:endParaRPr lang="en-US" altLang="zh-CN" sz="1400" b="1" dirty="0">
                <a:latin typeface="+mn-ea"/>
                <a:ea typeface="+mn-ea"/>
              </a:endParaRPr>
            </a:p>
          </p:txBody>
        </p:sp>
        <p:sp>
          <p:nvSpPr>
            <p:cNvPr id="192" name="Line 88"/>
            <p:cNvSpPr>
              <a:spLocks noChangeShapeType="1"/>
            </p:cNvSpPr>
            <p:nvPr/>
          </p:nvSpPr>
          <p:spPr bwMode="auto">
            <a:xfrm>
              <a:off x="8055735" y="5370950"/>
              <a:ext cx="6096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93" name="Line 89"/>
            <p:cNvSpPr>
              <a:spLocks noChangeShapeType="1"/>
            </p:cNvSpPr>
            <p:nvPr/>
          </p:nvSpPr>
          <p:spPr bwMode="auto">
            <a:xfrm>
              <a:off x="8665335" y="3694550"/>
              <a:ext cx="0" cy="16764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94" name="Text Box 90"/>
            <p:cNvSpPr txBox="1">
              <a:spLocks noChangeArrowheads="1"/>
            </p:cNvSpPr>
            <p:nvPr/>
          </p:nvSpPr>
          <p:spPr bwMode="auto">
            <a:xfrm>
              <a:off x="8436734" y="3237350"/>
              <a:ext cx="1625599"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 </a:t>
              </a:r>
              <a:r>
                <a:rPr lang="zh-CN" altLang="en-US" sz="1400" b="1" dirty="0">
                  <a:latin typeface="+mn-ea"/>
                  <a:ea typeface="+mn-ea"/>
                </a:rPr>
                <a:t>被再次调度</a:t>
              </a:r>
              <a:endParaRPr lang="zh-CN" altLang="en-US" sz="1400" b="1" dirty="0">
                <a:latin typeface="+mn-ea"/>
                <a:ea typeface="+mn-ea"/>
              </a:endParaRPr>
            </a:p>
          </p:txBody>
        </p:sp>
        <p:sp>
          <p:nvSpPr>
            <p:cNvPr id="195" name="Line 91"/>
            <p:cNvSpPr>
              <a:spLocks noChangeShapeType="1"/>
            </p:cNvSpPr>
            <p:nvPr/>
          </p:nvSpPr>
          <p:spPr bwMode="auto">
            <a:xfrm>
              <a:off x="8665335" y="3389750"/>
              <a:ext cx="0" cy="3048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96" name="Line 92"/>
            <p:cNvSpPr>
              <a:spLocks noChangeShapeType="1"/>
            </p:cNvSpPr>
            <p:nvPr/>
          </p:nvSpPr>
          <p:spPr bwMode="auto">
            <a:xfrm>
              <a:off x="9427335" y="34659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97" name="Text Box 93"/>
            <p:cNvSpPr txBox="1">
              <a:spLocks noChangeArrowheads="1"/>
            </p:cNvSpPr>
            <p:nvPr/>
          </p:nvSpPr>
          <p:spPr bwMode="auto">
            <a:xfrm>
              <a:off x="9427335" y="3542150"/>
              <a:ext cx="1320796"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 </a:t>
              </a:r>
              <a:r>
                <a:rPr lang="zh-CN" altLang="en-US" sz="1400" b="1" dirty="0">
                  <a:latin typeface="+mn-ea"/>
                  <a:ea typeface="+mn-ea"/>
                </a:rPr>
                <a:t>完成</a:t>
              </a:r>
              <a:endParaRPr lang="zh-CN" altLang="en-US" sz="1400" b="1" dirty="0">
                <a:latin typeface="+mn-ea"/>
                <a:ea typeface="+mn-ea"/>
              </a:endParaRPr>
            </a:p>
          </p:txBody>
        </p:sp>
        <p:sp>
          <p:nvSpPr>
            <p:cNvPr id="198" name="Text Box 94"/>
            <p:cNvSpPr txBox="1">
              <a:spLocks noChangeArrowheads="1"/>
            </p:cNvSpPr>
            <p:nvPr/>
          </p:nvSpPr>
          <p:spPr bwMode="auto">
            <a:xfrm>
              <a:off x="9503535" y="4456550"/>
              <a:ext cx="16256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C </a:t>
              </a:r>
              <a:r>
                <a:rPr lang="zh-CN" altLang="en-US" sz="1400" b="1" dirty="0">
                  <a:latin typeface="+mn-ea"/>
                  <a:ea typeface="+mn-ea"/>
                </a:rPr>
                <a:t>被再次调度</a:t>
              </a:r>
              <a:endParaRPr lang="zh-CN" altLang="en-US" sz="1400" b="1" dirty="0">
                <a:latin typeface="+mn-ea"/>
                <a:ea typeface="+mn-ea"/>
              </a:endParaRPr>
            </a:p>
          </p:txBody>
        </p:sp>
        <p:sp>
          <p:nvSpPr>
            <p:cNvPr id="199" name="Line 95"/>
            <p:cNvSpPr>
              <a:spLocks noChangeShapeType="1"/>
            </p:cNvSpPr>
            <p:nvPr/>
          </p:nvSpPr>
          <p:spPr bwMode="auto">
            <a:xfrm>
              <a:off x="9427335" y="45327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00" name="Line 96"/>
            <p:cNvSpPr>
              <a:spLocks noChangeShapeType="1"/>
            </p:cNvSpPr>
            <p:nvPr/>
          </p:nvSpPr>
          <p:spPr bwMode="auto">
            <a:xfrm>
              <a:off x="7750935" y="34659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01" name="Text Box 97"/>
            <p:cNvSpPr txBox="1">
              <a:spLocks noChangeArrowheads="1"/>
            </p:cNvSpPr>
            <p:nvPr/>
          </p:nvSpPr>
          <p:spPr bwMode="auto">
            <a:xfrm>
              <a:off x="6912731" y="3211950"/>
              <a:ext cx="1422404"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 I/O</a:t>
              </a:r>
              <a:r>
                <a:rPr lang="zh-CN" altLang="en-US" sz="1400" b="1" dirty="0">
                  <a:latin typeface="+mn-ea"/>
                  <a:ea typeface="+mn-ea"/>
                </a:rPr>
                <a:t>完成</a:t>
              </a:r>
              <a:endParaRPr lang="zh-CN" altLang="en-US" sz="1400" b="1" dirty="0">
                <a:latin typeface="+mn-ea"/>
                <a:ea typeface="+mn-ea"/>
              </a:endParaRPr>
            </a:p>
          </p:txBody>
        </p:sp>
        <p:sp>
          <p:nvSpPr>
            <p:cNvPr id="202" name="Text Box 98"/>
            <p:cNvSpPr txBox="1">
              <a:spLocks noChangeArrowheads="1"/>
            </p:cNvSpPr>
            <p:nvPr/>
          </p:nvSpPr>
          <p:spPr bwMode="auto">
            <a:xfrm>
              <a:off x="7827135" y="5561987"/>
              <a:ext cx="1295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en-US" altLang="zh-CN" sz="1400" b="1">
                  <a:latin typeface="+mn-ea"/>
                  <a:ea typeface="+mn-ea"/>
                </a:rPr>
                <a:t>CPU</a:t>
              </a:r>
              <a:r>
                <a:rPr lang="zh-CN" altLang="en-US" sz="1400" b="1">
                  <a:latin typeface="+mn-ea"/>
                  <a:ea typeface="+mn-ea"/>
                </a:rPr>
                <a:t>空闲</a:t>
              </a:r>
              <a:endParaRPr lang="zh-CN" altLang="en-US" sz="1400" b="1">
                <a:latin typeface="+mn-ea"/>
                <a:ea typeface="+mn-ea"/>
              </a:endParaRPr>
            </a:p>
          </p:txBody>
        </p:sp>
        <p:sp>
          <p:nvSpPr>
            <p:cNvPr id="203" name="Line 99"/>
            <p:cNvSpPr>
              <a:spLocks noChangeShapeType="1"/>
            </p:cNvSpPr>
            <p:nvPr/>
          </p:nvSpPr>
          <p:spPr bwMode="auto">
            <a:xfrm flipV="1">
              <a:off x="8436735" y="5370950"/>
              <a:ext cx="0" cy="228600"/>
            </a:xfrm>
            <a:prstGeom prst="line">
              <a:avLst/>
            </a:prstGeom>
            <a:noFill/>
            <a:ln w="9525">
              <a:solidFill>
                <a:srgbClr val="E71101"/>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04" name="Text Box 100"/>
            <p:cNvSpPr txBox="1">
              <a:spLocks noChangeArrowheads="1"/>
            </p:cNvSpPr>
            <p:nvPr/>
          </p:nvSpPr>
          <p:spPr bwMode="auto">
            <a:xfrm>
              <a:off x="8589135" y="3770750"/>
              <a:ext cx="1473198"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B I/O</a:t>
              </a:r>
              <a:r>
                <a:rPr lang="zh-CN" altLang="en-US" sz="1400" b="1" dirty="0">
                  <a:latin typeface="+mn-ea"/>
                  <a:ea typeface="+mn-ea"/>
                </a:rPr>
                <a:t>完成</a:t>
              </a:r>
              <a:endParaRPr lang="zh-CN" altLang="en-US" sz="1400" b="1" dirty="0">
                <a:latin typeface="+mn-ea"/>
                <a:ea typeface="+mn-ea"/>
              </a:endParaRPr>
            </a:p>
          </p:txBody>
        </p:sp>
        <p:sp>
          <p:nvSpPr>
            <p:cNvPr id="205" name="Text Box 101"/>
            <p:cNvSpPr txBox="1">
              <a:spLocks noChangeArrowheads="1"/>
            </p:cNvSpPr>
            <p:nvPr/>
          </p:nvSpPr>
          <p:spPr bwMode="auto">
            <a:xfrm>
              <a:off x="8055735" y="4304150"/>
              <a:ext cx="14478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C I/O</a:t>
              </a:r>
              <a:r>
                <a:rPr lang="zh-CN" altLang="en-US" sz="1400" b="1" dirty="0">
                  <a:latin typeface="+mn-ea"/>
                  <a:ea typeface="+mn-ea"/>
                </a:rPr>
                <a:t>完成</a:t>
              </a:r>
              <a:endParaRPr lang="zh-CN" altLang="en-US" sz="1400" b="1" dirty="0">
                <a:latin typeface="+mn-ea"/>
                <a:ea typeface="+mn-ea"/>
              </a:endParaRPr>
            </a:p>
          </p:txBody>
        </p:sp>
        <p:sp>
          <p:nvSpPr>
            <p:cNvPr id="206" name="Line 102"/>
            <p:cNvSpPr>
              <a:spLocks noChangeShapeType="1"/>
            </p:cNvSpPr>
            <p:nvPr/>
          </p:nvSpPr>
          <p:spPr bwMode="auto">
            <a:xfrm>
              <a:off x="9046335" y="45327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07" name="Line 103"/>
            <p:cNvSpPr>
              <a:spLocks noChangeShapeType="1"/>
            </p:cNvSpPr>
            <p:nvPr/>
          </p:nvSpPr>
          <p:spPr bwMode="auto">
            <a:xfrm>
              <a:off x="9274935" y="3923150"/>
              <a:ext cx="0" cy="3048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08" name="Text Box 105"/>
            <p:cNvSpPr txBox="1">
              <a:spLocks noChangeArrowheads="1"/>
            </p:cNvSpPr>
            <p:nvPr/>
          </p:nvSpPr>
          <p:spPr bwMode="auto">
            <a:xfrm>
              <a:off x="7615347" y="2958019"/>
              <a:ext cx="1905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en-US" altLang="zh-CN" sz="1400" dirty="0">
                  <a:solidFill>
                    <a:srgbClr val="FF0000"/>
                  </a:solidFill>
                  <a:latin typeface="+mn-ea"/>
                  <a:ea typeface="+mn-ea"/>
                </a:rPr>
                <a:t>I/O</a:t>
              </a:r>
              <a:r>
                <a:rPr lang="zh-CN" altLang="en-US" sz="1400" dirty="0">
                  <a:solidFill>
                    <a:srgbClr val="FF0000"/>
                  </a:solidFill>
                  <a:latin typeface="+mn-ea"/>
                  <a:ea typeface="+mn-ea"/>
                </a:rPr>
                <a:t>占的时间比例很大</a:t>
              </a:r>
              <a:endParaRPr lang="zh-CN" altLang="en-US" sz="1400" baseline="-25000" dirty="0">
                <a:solidFill>
                  <a:srgbClr val="FF0000"/>
                </a:solidFill>
                <a:latin typeface="+mn-ea"/>
                <a:ea typeface="+mn-ea"/>
              </a:endParaRPr>
            </a:p>
          </p:txBody>
        </p:sp>
        <p:sp>
          <p:nvSpPr>
            <p:cNvPr id="209" name="Text Box 106"/>
            <p:cNvSpPr txBox="1">
              <a:spLocks noChangeArrowheads="1"/>
            </p:cNvSpPr>
            <p:nvPr/>
          </p:nvSpPr>
          <p:spPr bwMode="auto">
            <a:xfrm>
              <a:off x="9655935" y="4227950"/>
              <a:ext cx="1295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1400" dirty="0">
                  <a:solidFill>
                    <a:srgbClr val="FF0000"/>
                  </a:solidFill>
                  <a:latin typeface="+mn-ea"/>
                  <a:ea typeface="+mn-ea"/>
                </a:rPr>
                <a:t>在</a:t>
              </a:r>
              <a:r>
                <a:rPr lang="en-US" altLang="zh-CN" sz="1400" dirty="0">
                  <a:solidFill>
                    <a:srgbClr val="FF0000"/>
                  </a:solidFill>
                  <a:latin typeface="+mn-ea"/>
                  <a:ea typeface="+mn-ea"/>
                </a:rPr>
                <a:t>A</a:t>
              </a:r>
              <a:r>
                <a:rPr lang="zh-CN" altLang="en-US" sz="1400" dirty="0">
                  <a:solidFill>
                    <a:srgbClr val="FF0000"/>
                  </a:solidFill>
                  <a:latin typeface="+mn-ea"/>
                  <a:ea typeface="+mn-ea"/>
                </a:rPr>
                <a:t>完成后！！</a:t>
              </a:r>
              <a:endParaRPr lang="zh-CN" altLang="en-US" sz="1400" baseline="-25000" dirty="0">
                <a:solidFill>
                  <a:srgbClr val="FF0000"/>
                </a:solidFill>
                <a:latin typeface="+mn-ea"/>
                <a:ea typeface="+mn-ea"/>
              </a:endParaRPr>
            </a:p>
          </p:txBody>
        </p:sp>
        <p:sp>
          <p:nvSpPr>
            <p:cNvPr id="210" name="Text Box 104"/>
            <p:cNvSpPr txBox="1">
              <a:spLocks noChangeArrowheads="1"/>
            </p:cNvSpPr>
            <p:nvPr/>
          </p:nvSpPr>
          <p:spPr bwMode="auto">
            <a:xfrm>
              <a:off x="3598035" y="6209057"/>
              <a:ext cx="5334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600" b="1" dirty="0">
                  <a:solidFill>
                    <a:srgbClr val="0000FF"/>
                  </a:solidFill>
                  <a:latin typeface="+mn-ea"/>
                  <a:ea typeface="+mn-ea"/>
                </a:rPr>
                <a:t>单道和多道程序运行情况图</a:t>
              </a:r>
              <a:endParaRPr lang="zh-CN" altLang="en-US" sz="1600" b="1" dirty="0">
                <a:solidFill>
                  <a:srgbClr val="0000FF"/>
                </a:solidFill>
                <a:latin typeface="+mn-ea"/>
                <a:ea typeface="+mn-ea"/>
              </a:endParaRPr>
            </a:p>
            <a:p>
              <a:pPr algn="ctr" eaLnBrk="1" hangingPunct="1">
                <a:spcBef>
                  <a:spcPct val="50000"/>
                </a:spcBef>
                <a:buClrTx/>
                <a:buSzTx/>
                <a:buFont typeface="Monotype Sorts" pitchFamily="2" charset="2"/>
                <a:buNone/>
              </a:pPr>
              <a:r>
                <a:rPr lang="zh-CN" altLang="en-US" sz="1600" b="1" dirty="0">
                  <a:solidFill>
                    <a:schemeClr val="bg1"/>
                  </a:solidFill>
                  <a:latin typeface="+mn-ea"/>
                  <a:ea typeface="+mn-ea"/>
                </a:rPr>
                <a:t>（</a:t>
              </a:r>
              <a:r>
                <a:rPr lang="en-US" altLang="zh-CN" sz="1600" b="1" dirty="0">
                  <a:solidFill>
                    <a:schemeClr val="bg1"/>
                  </a:solidFill>
                  <a:latin typeface="+mn-ea"/>
                  <a:ea typeface="+mn-ea"/>
                </a:rPr>
                <a:t>a</a:t>
              </a:r>
              <a:r>
                <a:rPr lang="zh-CN" altLang="en-US" sz="1600" b="1" dirty="0">
                  <a:solidFill>
                    <a:schemeClr val="bg1"/>
                  </a:solidFill>
                  <a:latin typeface="+mn-ea"/>
                  <a:ea typeface="+mn-ea"/>
                </a:rPr>
                <a:t>）单道程序运行情况；（</a:t>
              </a:r>
              <a:r>
                <a:rPr lang="en-US" altLang="zh-CN" sz="1600" b="1" dirty="0">
                  <a:solidFill>
                    <a:schemeClr val="bg1"/>
                  </a:solidFill>
                  <a:latin typeface="+mn-ea"/>
                  <a:ea typeface="+mn-ea"/>
                </a:rPr>
                <a:t>b</a:t>
              </a:r>
              <a:r>
                <a:rPr lang="zh-CN" altLang="en-US" sz="1600" b="1" dirty="0">
                  <a:solidFill>
                    <a:schemeClr val="bg1"/>
                  </a:solidFill>
                  <a:latin typeface="+mn-ea"/>
                  <a:ea typeface="+mn-ea"/>
                </a:rPr>
                <a:t>）四道程序运行情况</a:t>
              </a:r>
              <a:endParaRPr lang="zh-CN" altLang="en-US" sz="1600" b="1" dirty="0">
                <a:solidFill>
                  <a:schemeClr val="bg1"/>
                </a:solidFill>
                <a:latin typeface="+mn-ea"/>
                <a:ea typeface="+mn-ea"/>
              </a:endParaRPr>
            </a:p>
          </p:txBody>
        </p:sp>
      </p:grpSp>
      <p:pic>
        <p:nvPicPr>
          <p:cNvPr id="102" name="Picture 4" descr="1-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6902" y="2973647"/>
            <a:ext cx="9304866" cy="327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多道批处理系统需要解决的问题</a:t>
            </a:r>
            <a:endParaRPr lang="zh-CN" altLang="en-US" sz="2800" b="1" dirty="0">
              <a:solidFill>
                <a:schemeClr val="bg1"/>
              </a:solidFill>
            </a:endParaRPr>
          </a:p>
        </p:txBody>
      </p:sp>
      <p:grpSp>
        <p:nvGrpSpPr>
          <p:cNvPr id="7"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32660" y="1763071"/>
            <a:ext cx="10986239" cy="3733544"/>
            <a:chOff x="527899" y="1557009"/>
            <a:chExt cx="10986239" cy="3733544"/>
          </a:xfrm>
        </p:grpSpPr>
        <p:sp>
          <p:nvSpPr>
            <p:cNvPr id="8" name="íśḷíḋé"/>
            <p:cNvSpPr/>
            <p:nvPr/>
          </p:nvSpPr>
          <p:spPr bwMode="auto">
            <a:xfrm>
              <a:off x="4801181" y="213314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9"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10"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11"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12"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14"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15"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16"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17"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18"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19"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21"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22"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23"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4"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5"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6"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7"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8"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0" name="îṩļiḓè"/>
            <p:cNvSpPr/>
            <p:nvPr/>
          </p:nvSpPr>
          <p:spPr>
            <a:xfrm>
              <a:off x="665163" y="1667557"/>
              <a:ext cx="3486183" cy="467559"/>
            </a:xfrm>
            <a:prstGeom prst="rect">
              <a:avLst/>
            </a:prstGeom>
          </p:spPr>
          <p:txBody>
            <a:bodyPr wrap="square" lIns="91440" tIns="45720" rIns="91440" bIns="45720" anchor="ctr" anchorCtr="0">
              <a:normAutofit/>
            </a:bodyPr>
            <a:lstStyle/>
            <a:p>
              <a:pPr algn="r"/>
              <a:r>
                <a:rPr lang="zh-CN" altLang="en-US" sz="2400" dirty="0">
                  <a:solidFill>
                    <a:srgbClr val="0000FF"/>
                  </a:solidFill>
                </a:rPr>
                <a:t>处理机争用</a:t>
              </a:r>
              <a:r>
                <a:rPr lang="zh-CN" altLang="en-US" sz="2400" dirty="0"/>
                <a:t>问题</a:t>
              </a:r>
              <a:endParaRPr lang="en-US" altLang="zh-CN" sz="2400" dirty="0"/>
            </a:p>
          </p:txBody>
        </p:sp>
        <p:sp>
          <p:nvSpPr>
            <p:cNvPr id="33" name="ïṣľîḋê"/>
            <p:cNvSpPr/>
            <p:nvPr/>
          </p:nvSpPr>
          <p:spPr>
            <a:xfrm>
              <a:off x="8029002" y="1667557"/>
              <a:ext cx="3485135" cy="467559"/>
            </a:xfrm>
            <a:prstGeom prst="rect">
              <a:avLst/>
            </a:prstGeom>
          </p:spPr>
          <p:txBody>
            <a:bodyPr wrap="square" lIns="91440" tIns="45720" rIns="91440" bIns="45720" anchor="ctr" anchorCtr="0">
              <a:normAutofit/>
            </a:bodyPr>
            <a:lstStyle/>
            <a:p>
              <a:r>
                <a:rPr lang="zh-CN" altLang="en-US" sz="2400" dirty="0">
                  <a:solidFill>
                    <a:srgbClr val="0000FF"/>
                  </a:solidFill>
                </a:rPr>
                <a:t>文件的组织和管理</a:t>
              </a:r>
              <a:r>
                <a:rPr lang="zh-CN" altLang="en-US" sz="2400" dirty="0"/>
                <a:t>问题</a:t>
              </a:r>
              <a:endParaRPr lang="en-US" altLang="zh-CN" sz="2400" dirty="0"/>
            </a:p>
          </p:txBody>
        </p:sp>
        <p:sp>
          <p:nvSpPr>
            <p:cNvPr id="35" name="išľïḓe"/>
            <p:cNvSpPr/>
            <p:nvPr/>
          </p:nvSpPr>
          <p:spPr>
            <a:xfrm>
              <a:off x="527899" y="3161434"/>
              <a:ext cx="3019285" cy="467559"/>
            </a:xfrm>
            <a:prstGeom prst="rect">
              <a:avLst/>
            </a:prstGeom>
          </p:spPr>
          <p:txBody>
            <a:bodyPr wrap="square" lIns="91440" tIns="45720" rIns="91440" bIns="45720" anchor="ctr" anchorCtr="0">
              <a:noAutofit/>
            </a:bodyPr>
            <a:lstStyle/>
            <a:p>
              <a:pPr algn="r"/>
              <a:r>
                <a:rPr lang="zh-CN" altLang="en-US" sz="2400" dirty="0">
                  <a:solidFill>
                    <a:srgbClr val="0000FF"/>
                  </a:solidFill>
                </a:rPr>
                <a:t>内存分配和保护</a:t>
              </a:r>
              <a:r>
                <a:rPr lang="zh-CN" altLang="en-US" sz="2400" dirty="0"/>
                <a:t>问题</a:t>
              </a:r>
              <a:endParaRPr lang="en-US" altLang="zh-CN" sz="2400" dirty="0"/>
            </a:p>
          </p:txBody>
        </p:sp>
        <p:sp>
          <p:nvSpPr>
            <p:cNvPr id="37" name="îṧľïdè"/>
            <p:cNvSpPr/>
            <p:nvPr/>
          </p:nvSpPr>
          <p:spPr>
            <a:xfrm>
              <a:off x="8632118" y="3161434"/>
              <a:ext cx="2882020" cy="467559"/>
            </a:xfrm>
            <a:prstGeom prst="rect">
              <a:avLst/>
            </a:prstGeom>
          </p:spPr>
          <p:txBody>
            <a:bodyPr wrap="square" lIns="91440" tIns="45720" rIns="91440" bIns="45720" anchor="ctr" anchorCtr="0">
              <a:normAutofit/>
            </a:bodyPr>
            <a:lstStyle/>
            <a:p>
              <a:r>
                <a:rPr lang="zh-CN" altLang="en-US" sz="2400" dirty="0">
                  <a:solidFill>
                    <a:srgbClr val="0000FF"/>
                  </a:solidFill>
                </a:rPr>
                <a:t>作业管理</a:t>
              </a:r>
              <a:r>
                <a:rPr lang="zh-CN" altLang="en-US" sz="2400" dirty="0"/>
                <a:t>问题</a:t>
              </a:r>
              <a:endParaRPr lang="en-US" altLang="zh-CN" sz="2400" dirty="0"/>
            </a:p>
          </p:txBody>
        </p:sp>
        <p:sp>
          <p:nvSpPr>
            <p:cNvPr id="43" name="işľîḓé"/>
            <p:cNvSpPr/>
            <p:nvPr/>
          </p:nvSpPr>
          <p:spPr>
            <a:xfrm>
              <a:off x="665163" y="4708346"/>
              <a:ext cx="3486183" cy="467559"/>
            </a:xfrm>
            <a:prstGeom prst="rect">
              <a:avLst/>
            </a:prstGeom>
          </p:spPr>
          <p:txBody>
            <a:bodyPr wrap="square" lIns="91440" tIns="45720" rIns="91440" bIns="45720" anchor="ctr" anchorCtr="0">
              <a:normAutofit/>
            </a:bodyPr>
            <a:lstStyle/>
            <a:p>
              <a:pPr algn="r"/>
              <a:r>
                <a:rPr lang="en-US" altLang="zh-CN" sz="2400" dirty="0">
                  <a:solidFill>
                    <a:srgbClr val="0000FF"/>
                  </a:solidFill>
                </a:rPr>
                <a:t>I/O</a:t>
              </a:r>
              <a:r>
                <a:rPr lang="zh-CN" altLang="en-US" sz="2400" dirty="0">
                  <a:solidFill>
                    <a:srgbClr val="0000FF"/>
                  </a:solidFill>
                </a:rPr>
                <a:t>设备分配</a:t>
              </a:r>
              <a:r>
                <a:rPr lang="zh-CN" altLang="en-US" sz="2400" dirty="0"/>
                <a:t>问题</a:t>
              </a:r>
              <a:endParaRPr lang="en-US" altLang="zh-CN" sz="2400" dirty="0"/>
            </a:p>
          </p:txBody>
        </p:sp>
        <p:sp>
          <p:nvSpPr>
            <p:cNvPr id="41" name="ïśļíde"/>
            <p:cNvSpPr/>
            <p:nvPr/>
          </p:nvSpPr>
          <p:spPr>
            <a:xfrm>
              <a:off x="8029002" y="4708346"/>
              <a:ext cx="3485135" cy="467559"/>
            </a:xfrm>
            <a:prstGeom prst="rect">
              <a:avLst/>
            </a:prstGeom>
          </p:spPr>
          <p:txBody>
            <a:bodyPr wrap="square" lIns="91440" tIns="45720" rIns="91440" bIns="45720" anchor="ctr" anchorCtr="0">
              <a:normAutofit/>
            </a:bodyPr>
            <a:lstStyle/>
            <a:p>
              <a:r>
                <a:rPr lang="zh-CN" altLang="en-US" sz="2400" dirty="0">
                  <a:solidFill>
                    <a:srgbClr val="0000FF"/>
                  </a:solidFill>
                </a:rPr>
                <a:t>用户与系统的接口</a:t>
              </a:r>
              <a:r>
                <a:rPr lang="zh-CN" altLang="en-US" sz="2400" dirty="0"/>
                <a:t>问题</a:t>
              </a:r>
              <a:endParaRPr lang="zh-CN" altLang="en-US" sz="2400" dirty="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bwMode="auto">
          <a:xfrm>
            <a:off x="1592173" y="2791304"/>
            <a:ext cx="6965950" cy="2597150"/>
            <a:chOff x="652" y="1824"/>
            <a:chExt cx="4388" cy="1636"/>
          </a:xfrm>
        </p:grpSpPr>
        <p:sp>
          <p:nvSpPr>
            <p:cNvPr id="3" name="Oval 4"/>
            <p:cNvSpPr>
              <a:spLocks noChangeArrowheads="1"/>
            </p:cNvSpPr>
            <p:nvPr/>
          </p:nvSpPr>
          <p:spPr bwMode="auto">
            <a:xfrm>
              <a:off x="1201" y="2392"/>
              <a:ext cx="431" cy="43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提交</a:t>
              </a:r>
              <a:endParaRPr lang="zh-CN" altLang="en-US" sz="1800">
                <a:solidFill>
                  <a:schemeClr val="tx1"/>
                </a:solidFill>
                <a:ea typeface="宋体" panose="02010600030101010101" pitchFamily="2" charset="-122"/>
              </a:endParaRPr>
            </a:p>
          </p:txBody>
        </p:sp>
        <p:sp>
          <p:nvSpPr>
            <p:cNvPr id="4" name="Oval 5"/>
            <p:cNvSpPr>
              <a:spLocks noChangeArrowheads="1"/>
            </p:cNvSpPr>
            <p:nvPr/>
          </p:nvSpPr>
          <p:spPr bwMode="auto">
            <a:xfrm>
              <a:off x="1968" y="2400"/>
              <a:ext cx="431" cy="43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收容</a:t>
              </a:r>
              <a:endParaRPr lang="zh-CN" altLang="en-US" sz="1800">
                <a:solidFill>
                  <a:schemeClr val="tx1"/>
                </a:solidFill>
                <a:ea typeface="宋体" panose="02010600030101010101" pitchFamily="2" charset="-122"/>
              </a:endParaRPr>
            </a:p>
          </p:txBody>
        </p:sp>
        <p:sp>
          <p:nvSpPr>
            <p:cNvPr id="5" name="Oval 6"/>
            <p:cNvSpPr>
              <a:spLocks noChangeArrowheads="1"/>
            </p:cNvSpPr>
            <p:nvPr/>
          </p:nvSpPr>
          <p:spPr bwMode="auto">
            <a:xfrm>
              <a:off x="4533" y="1916"/>
              <a:ext cx="431" cy="43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完成</a:t>
              </a:r>
              <a:endParaRPr lang="zh-CN" altLang="en-US" sz="1800">
                <a:solidFill>
                  <a:schemeClr val="tx1"/>
                </a:solidFill>
                <a:ea typeface="宋体" panose="02010600030101010101" pitchFamily="2" charset="-122"/>
              </a:endParaRPr>
            </a:p>
          </p:txBody>
        </p:sp>
        <p:sp>
          <p:nvSpPr>
            <p:cNvPr id="6" name="Text Box 7"/>
            <p:cNvSpPr txBox="1">
              <a:spLocks noChangeArrowheads="1"/>
            </p:cNvSpPr>
            <p:nvPr/>
          </p:nvSpPr>
          <p:spPr bwMode="auto">
            <a:xfrm>
              <a:off x="652" y="2496"/>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用户</a:t>
              </a:r>
              <a:endParaRPr lang="zh-CN" altLang="en-US" sz="1800">
                <a:solidFill>
                  <a:schemeClr val="tx1"/>
                </a:solidFill>
                <a:ea typeface="宋体" panose="02010600030101010101" pitchFamily="2" charset="-122"/>
              </a:endParaRPr>
            </a:p>
          </p:txBody>
        </p:sp>
        <p:sp>
          <p:nvSpPr>
            <p:cNvPr id="7" name="Line 8"/>
            <p:cNvSpPr>
              <a:spLocks noChangeShapeType="1"/>
            </p:cNvSpPr>
            <p:nvPr/>
          </p:nvSpPr>
          <p:spPr bwMode="auto">
            <a:xfrm>
              <a:off x="1632" y="2592"/>
              <a:ext cx="3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 name="Line 9"/>
            <p:cNvSpPr>
              <a:spLocks noChangeShapeType="1"/>
            </p:cNvSpPr>
            <p:nvPr/>
          </p:nvSpPr>
          <p:spPr bwMode="auto">
            <a:xfrm>
              <a:off x="1008" y="2592"/>
              <a:ext cx="19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 name="Line 10"/>
            <p:cNvSpPr>
              <a:spLocks noChangeShapeType="1"/>
            </p:cNvSpPr>
            <p:nvPr/>
          </p:nvSpPr>
          <p:spPr bwMode="auto">
            <a:xfrm>
              <a:off x="2400" y="2592"/>
              <a:ext cx="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0" name="Line 11"/>
            <p:cNvSpPr>
              <a:spLocks noChangeShapeType="1"/>
            </p:cNvSpPr>
            <p:nvPr/>
          </p:nvSpPr>
          <p:spPr bwMode="auto">
            <a:xfrm flipV="1">
              <a:off x="1776" y="2592"/>
              <a:ext cx="0" cy="52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 name="Line 12"/>
            <p:cNvSpPr>
              <a:spLocks noChangeShapeType="1"/>
            </p:cNvSpPr>
            <p:nvPr/>
          </p:nvSpPr>
          <p:spPr bwMode="auto">
            <a:xfrm flipV="1">
              <a:off x="2496" y="2592"/>
              <a:ext cx="0" cy="52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2" name="Line 13"/>
            <p:cNvSpPr>
              <a:spLocks noChangeShapeType="1"/>
            </p:cNvSpPr>
            <p:nvPr/>
          </p:nvSpPr>
          <p:spPr bwMode="auto">
            <a:xfrm flipH="1" flipV="1">
              <a:off x="4160" y="2393"/>
              <a:ext cx="254" cy="2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3" name="Line 14"/>
            <p:cNvSpPr>
              <a:spLocks noChangeShapeType="1"/>
            </p:cNvSpPr>
            <p:nvPr/>
          </p:nvSpPr>
          <p:spPr bwMode="auto">
            <a:xfrm>
              <a:off x="3717" y="2108"/>
              <a:ext cx="795" cy="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4" name="Group 15"/>
            <p:cNvGrpSpPr/>
            <p:nvPr/>
          </p:nvGrpSpPr>
          <p:grpSpPr bwMode="auto">
            <a:xfrm>
              <a:off x="1392" y="3024"/>
              <a:ext cx="747" cy="436"/>
              <a:chOff x="1509" y="3116"/>
              <a:chExt cx="747" cy="436"/>
            </a:xfrm>
          </p:grpSpPr>
          <p:sp>
            <p:nvSpPr>
              <p:cNvPr id="31" name="Freeform 16"/>
              <p:cNvSpPr/>
              <p:nvPr/>
            </p:nvSpPr>
            <p:spPr bwMode="auto">
              <a:xfrm rot="-414968">
                <a:off x="1509" y="3116"/>
                <a:ext cx="747" cy="436"/>
              </a:xfrm>
              <a:custGeom>
                <a:avLst/>
                <a:gdLst>
                  <a:gd name="T0" fmla="*/ 49 w 872"/>
                  <a:gd name="T1" fmla="*/ 18 h 480"/>
                  <a:gd name="T2" fmla="*/ 27 w 872"/>
                  <a:gd name="T3" fmla="*/ 5 h 480"/>
                  <a:gd name="T4" fmla="*/ 3 w 872"/>
                  <a:gd name="T5" fmla="*/ 33 h 480"/>
                  <a:gd name="T6" fmla="*/ 11 w 872"/>
                  <a:gd name="T7" fmla="*/ 108 h 480"/>
                  <a:gd name="T8" fmla="*/ 72 w 872"/>
                  <a:gd name="T9" fmla="*/ 139 h 480"/>
                  <a:gd name="T10" fmla="*/ 124 w 872"/>
                  <a:gd name="T11" fmla="*/ 139 h 480"/>
                  <a:gd name="T12" fmla="*/ 124 w 872"/>
                  <a:gd name="T13" fmla="*/ 64 h 480"/>
                  <a:gd name="T14" fmla="*/ 49 w 872"/>
                  <a:gd name="T15" fmla="*/ 18 h 480"/>
                  <a:gd name="T16" fmla="*/ 0 60000 65536"/>
                  <a:gd name="T17" fmla="*/ 0 60000 65536"/>
                  <a:gd name="T18" fmla="*/ 0 60000 65536"/>
                  <a:gd name="T19" fmla="*/ 0 60000 65536"/>
                  <a:gd name="T20" fmla="*/ 0 60000 65536"/>
                  <a:gd name="T21" fmla="*/ 0 60000 65536"/>
                  <a:gd name="T22" fmla="*/ 0 60000 65536"/>
                  <a:gd name="T23" fmla="*/ 0 60000 65536"/>
                  <a:gd name="T24" fmla="*/ 0 w 872"/>
                  <a:gd name="T25" fmla="*/ 0 h 480"/>
                  <a:gd name="T26" fmla="*/ 872 w 872"/>
                  <a:gd name="T27" fmla="*/ 480 h 4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72" h="480">
                    <a:moveTo>
                      <a:pt x="312" y="56"/>
                    </a:moveTo>
                    <a:cubicBezTo>
                      <a:pt x="208" y="24"/>
                      <a:pt x="216" y="0"/>
                      <a:pt x="168" y="8"/>
                    </a:cubicBezTo>
                    <a:cubicBezTo>
                      <a:pt x="120" y="16"/>
                      <a:pt x="40" y="48"/>
                      <a:pt x="24" y="104"/>
                    </a:cubicBezTo>
                    <a:cubicBezTo>
                      <a:pt x="8" y="160"/>
                      <a:pt x="0" y="288"/>
                      <a:pt x="72" y="344"/>
                    </a:cubicBezTo>
                    <a:cubicBezTo>
                      <a:pt x="144" y="400"/>
                      <a:pt x="336" y="424"/>
                      <a:pt x="456" y="440"/>
                    </a:cubicBezTo>
                    <a:cubicBezTo>
                      <a:pt x="576" y="456"/>
                      <a:pt x="736" y="480"/>
                      <a:pt x="792" y="440"/>
                    </a:cubicBezTo>
                    <a:cubicBezTo>
                      <a:pt x="848" y="400"/>
                      <a:pt x="872" y="264"/>
                      <a:pt x="792" y="200"/>
                    </a:cubicBezTo>
                    <a:cubicBezTo>
                      <a:pt x="712" y="136"/>
                      <a:pt x="416" y="88"/>
                      <a:pt x="312" y="56"/>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32" name="Text Box 17"/>
              <p:cNvSpPr txBox="1">
                <a:spLocks noChangeArrowheads="1"/>
              </p:cNvSpPr>
              <p:nvPr/>
            </p:nvSpPr>
            <p:spPr bwMode="auto">
              <a:xfrm>
                <a:off x="1534" y="3216"/>
                <a:ext cx="6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作业录入</a:t>
                </a:r>
                <a:endParaRPr lang="zh-CN" altLang="en-US" sz="1800">
                  <a:solidFill>
                    <a:schemeClr val="tx1"/>
                  </a:solidFill>
                  <a:ea typeface="宋体" panose="02010600030101010101" pitchFamily="2" charset="-122"/>
                </a:endParaRPr>
              </a:p>
            </p:txBody>
          </p:sp>
        </p:grpSp>
        <p:grpSp>
          <p:nvGrpSpPr>
            <p:cNvPr id="15" name="Group 18"/>
            <p:cNvGrpSpPr/>
            <p:nvPr/>
          </p:nvGrpSpPr>
          <p:grpSpPr bwMode="auto">
            <a:xfrm>
              <a:off x="2160" y="3024"/>
              <a:ext cx="747" cy="436"/>
              <a:chOff x="1509" y="3116"/>
              <a:chExt cx="747" cy="436"/>
            </a:xfrm>
          </p:grpSpPr>
          <p:sp>
            <p:nvSpPr>
              <p:cNvPr id="29" name="Freeform 19"/>
              <p:cNvSpPr/>
              <p:nvPr/>
            </p:nvSpPr>
            <p:spPr bwMode="auto">
              <a:xfrm rot="-414968">
                <a:off x="1509" y="3116"/>
                <a:ext cx="747" cy="436"/>
              </a:xfrm>
              <a:custGeom>
                <a:avLst/>
                <a:gdLst>
                  <a:gd name="T0" fmla="*/ 49 w 872"/>
                  <a:gd name="T1" fmla="*/ 18 h 480"/>
                  <a:gd name="T2" fmla="*/ 27 w 872"/>
                  <a:gd name="T3" fmla="*/ 5 h 480"/>
                  <a:gd name="T4" fmla="*/ 3 w 872"/>
                  <a:gd name="T5" fmla="*/ 33 h 480"/>
                  <a:gd name="T6" fmla="*/ 11 w 872"/>
                  <a:gd name="T7" fmla="*/ 108 h 480"/>
                  <a:gd name="T8" fmla="*/ 72 w 872"/>
                  <a:gd name="T9" fmla="*/ 139 h 480"/>
                  <a:gd name="T10" fmla="*/ 124 w 872"/>
                  <a:gd name="T11" fmla="*/ 139 h 480"/>
                  <a:gd name="T12" fmla="*/ 124 w 872"/>
                  <a:gd name="T13" fmla="*/ 64 h 480"/>
                  <a:gd name="T14" fmla="*/ 49 w 872"/>
                  <a:gd name="T15" fmla="*/ 18 h 480"/>
                  <a:gd name="T16" fmla="*/ 0 60000 65536"/>
                  <a:gd name="T17" fmla="*/ 0 60000 65536"/>
                  <a:gd name="T18" fmla="*/ 0 60000 65536"/>
                  <a:gd name="T19" fmla="*/ 0 60000 65536"/>
                  <a:gd name="T20" fmla="*/ 0 60000 65536"/>
                  <a:gd name="T21" fmla="*/ 0 60000 65536"/>
                  <a:gd name="T22" fmla="*/ 0 60000 65536"/>
                  <a:gd name="T23" fmla="*/ 0 60000 65536"/>
                  <a:gd name="T24" fmla="*/ 0 w 872"/>
                  <a:gd name="T25" fmla="*/ 0 h 480"/>
                  <a:gd name="T26" fmla="*/ 872 w 872"/>
                  <a:gd name="T27" fmla="*/ 480 h 4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72" h="480">
                    <a:moveTo>
                      <a:pt x="312" y="56"/>
                    </a:moveTo>
                    <a:cubicBezTo>
                      <a:pt x="208" y="24"/>
                      <a:pt x="216" y="0"/>
                      <a:pt x="168" y="8"/>
                    </a:cubicBezTo>
                    <a:cubicBezTo>
                      <a:pt x="120" y="16"/>
                      <a:pt x="40" y="48"/>
                      <a:pt x="24" y="104"/>
                    </a:cubicBezTo>
                    <a:cubicBezTo>
                      <a:pt x="8" y="160"/>
                      <a:pt x="0" y="288"/>
                      <a:pt x="72" y="344"/>
                    </a:cubicBezTo>
                    <a:cubicBezTo>
                      <a:pt x="144" y="400"/>
                      <a:pt x="336" y="424"/>
                      <a:pt x="456" y="440"/>
                    </a:cubicBezTo>
                    <a:cubicBezTo>
                      <a:pt x="576" y="456"/>
                      <a:pt x="736" y="480"/>
                      <a:pt x="792" y="440"/>
                    </a:cubicBezTo>
                    <a:cubicBezTo>
                      <a:pt x="848" y="400"/>
                      <a:pt x="872" y="264"/>
                      <a:pt x="792" y="200"/>
                    </a:cubicBezTo>
                    <a:cubicBezTo>
                      <a:pt x="712" y="136"/>
                      <a:pt x="416" y="88"/>
                      <a:pt x="312" y="56"/>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30" name="Text Box 20"/>
              <p:cNvSpPr txBox="1">
                <a:spLocks noChangeArrowheads="1"/>
              </p:cNvSpPr>
              <p:nvPr/>
            </p:nvSpPr>
            <p:spPr bwMode="auto">
              <a:xfrm>
                <a:off x="1534" y="3216"/>
                <a:ext cx="6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作业调度</a:t>
                </a:r>
                <a:endParaRPr lang="zh-CN" altLang="en-US" sz="1800">
                  <a:solidFill>
                    <a:schemeClr val="tx1"/>
                  </a:solidFill>
                  <a:ea typeface="宋体" panose="02010600030101010101" pitchFamily="2" charset="-122"/>
                </a:endParaRPr>
              </a:p>
            </p:txBody>
          </p:sp>
        </p:grpSp>
        <p:grpSp>
          <p:nvGrpSpPr>
            <p:cNvPr id="16" name="Group 21"/>
            <p:cNvGrpSpPr/>
            <p:nvPr/>
          </p:nvGrpSpPr>
          <p:grpSpPr bwMode="auto">
            <a:xfrm>
              <a:off x="4293" y="2636"/>
              <a:ext cx="747" cy="436"/>
              <a:chOff x="1509" y="3116"/>
              <a:chExt cx="747" cy="436"/>
            </a:xfrm>
          </p:grpSpPr>
          <p:sp>
            <p:nvSpPr>
              <p:cNvPr id="27" name="Freeform 22"/>
              <p:cNvSpPr/>
              <p:nvPr/>
            </p:nvSpPr>
            <p:spPr bwMode="auto">
              <a:xfrm rot="-414968">
                <a:off x="1509" y="3116"/>
                <a:ext cx="747" cy="436"/>
              </a:xfrm>
              <a:custGeom>
                <a:avLst/>
                <a:gdLst>
                  <a:gd name="T0" fmla="*/ 49 w 872"/>
                  <a:gd name="T1" fmla="*/ 18 h 480"/>
                  <a:gd name="T2" fmla="*/ 27 w 872"/>
                  <a:gd name="T3" fmla="*/ 5 h 480"/>
                  <a:gd name="T4" fmla="*/ 3 w 872"/>
                  <a:gd name="T5" fmla="*/ 33 h 480"/>
                  <a:gd name="T6" fmla="*/ 11 w 872"/>
                  <a:gd name="T7" fmla="*/ 108 h 480"/>
                  <a:gd name="T8" fmla="*/ 72 w 872"/>
                  <a:gd name="T9" fmla="*/ 139 h 480"/>
                  <a:gd name="T10" fmla="*/ 124 w 872"/>
                  <a:gd name="T11" fmla="*/ 139 h 480"/>
                  <a:gd name="T12" fmla="*/ 124 w 872"/>
                  <a:gd name="T13" fmla="*/ 64 h 480"/>
                  <a:gd name="T14" fmla="*/ 49 w 872"/>
                  <a:gd name="T15" fmla="*/ 18 h 480"/>
                  <a:gd name="T16" fmla="*/ 0 60000 65536"/>
                  <a:gd name="T17" fmla="*/ 0 60000 65536"/>
                  <a:gd name="T18" fmla="*/ 0 60000 65536"/>
                  <a:gd name="T19" fmla="*/ 0 60000 65536"/>
                  <a:gd name="T20" fmla="*/ 0 60000 65536"/>
                  <a:gd name="T21" fmla="*/ 0 60000 65536"/>
                  <a:gd name="T22" fmla="*/ 0 60000 65536"/>
                  <a:gd name="T23" fmla="*/ 0 60000 65536"/>
                  <a:gd name="T24" fmla="*/ 0 w 872"/>
                  <a:gd name="T25" fmla="*/ 0 h 480"/>
                  <a:gd name="T26" fmla="*/ 872 w 872"/>
                  <a:gd name="T27" fmla="*/ 480 h 4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72" h="480">
                    <a:moveTo>
                      <a:pt x="312" y="56"/>
                    </a:moveTo>
                    <a:cubicBezTo>
                      <a:pt x="208" y="24"/>
                      <a:pt x="216" y="0"/>
                      <a:pt x="168" y="8"/>
                    </a:cubicBezTo>
                    <a:cubicBezTo>
                      <a:pt x="120" y="16"/>
                      <a:pt x="40" y="48"/>
                      <a:pt x="24" y="104"/>
                    </a:cubicBezTo>
                    <a:cubicBezTo>
                      <a:pt x="8" y="160"/>
                      <a:pt x="0" y="288"/>
                      <a:pt x="72" y="344"/>
                    </a:cubicBezTo>
                    <a:cubicBezTo>
                      <a:pt x="144" y="400"/>
                      <a:pt x="336" y="424"/>
                      <a:pt x="456" y="440"/>
                    </a:cubicBezTo>
                    <a:cubicBezTo>
                      <a:pt x="576" y="456"/>
                      <a:pt x="736" y="480"/>
                      <a:pt x="792" y="440"/>
                    </a:cubicBezTo>
                    <a:cubicBezTo>
                      <a:pt x="848" y="400"/>
                      <a:pt x="872" y="264"/>
                      <a:pt x="792" y="200"/>
                    </a:cubicBezTo>
                    <a:cubicBezTo>
                      <a:pt x="712" y="136"/>
                      <a:pt x="416" y="88"/>
                      <a:pt x="312" y="56"/>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28" name="Text Box 23"/>
              <p:cNvSpPr txBox="1">
                <a:spLocks noChangeArrowheads="1"/>
              </p:cNvSpPr>
              <p:nvPr/>
            </p:nvSpPr>
            <p:spPr bwMode="auto">
              <a:xfrm>
                <a:off x="1531" y="3216"/>
                <a:ext cx="7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进程调度</a:t>
                </a:r>
                <a:endParaRPr lang="zh-CN" altLang="en-US" sz="1800">
                  <a:solidFill>
                    <a:schemeClr val="tx1"/>
                  </a:solidFill>
                  <a:ea typeface="宋体" panose="02010600030101010101" pitchFamily="2" charset="-122"/>
                </a:endParaRPr>
              </a:p>
            </p:txBody>
          </p:sp>
        </p:grpSp>
        <p:grpSp>
          <p:nvGrpSpPr>
            <p:cNvPr id="17" name="Group 24"/>
            <p:cNvGrpSpPr/>
            <p:nvPr/>
          </p:nvGrpSpPr>
          <p:grpSpPr bwMode="auto">
            <a:xfrm>
              <a:off x="2688" y="1824"/>
              <a:ext cx="1582" cy="1532"/>
              <a:chOff x="2958" y="1808"/>
              <a:chExt cx="1582" cy="1532"/>
            </a:xfrm>
          </p:grpSpPr>
          <p:sp>
            <p:nvSpPr>
              <p:cNvPr id="18" name="Oval 25"/>
              <p:cNvSpPr>
                <a:spLocks noChangeArrowheads="1"/>
              </p:cNvSpPr>
              <p:nvPr/>
            </p:nvSpPr>
            <p:spPr bwMode="auto">
              <a:xfrm>
                <a:off x="3552" y="1872"/>
                <a:ext cx="431" cy="43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运行</a:t>
                </a:r>
                <a:endParaRPr lang="zh-CN" altLang="en-US" sz="1800">
                  <a:solidFill>
                    <a:schemeClr val="tx1"/>
                  </a:solidFill>
                  <a:ea typeface="宋体" panose="02010600030101010101" pitchFamily="2" charset="-122"/>
                </a:endParaRPr>
              </a:p>
            </p:txBody>
          </p:sp>
          <p:sp>
            <p:nvSpPr>
              <p:cNvPr id="19" name="Oval 26"/>
              <p:cNvSpPr>
                <a:spLocks noChangeArrowheads="1"/>
              </p:cNvSpPr>
              <p:nvPr/>
            </p:nvSpPr>
            <p:spPr bwMode="auto">
              <a:xfrm>
                <a:off x="3072" y="2592"/>
                <a:ext cx="431" cy="43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就绪</a:t>
                </a:r>
                <a:endParaRPr lang="zh-CN" altLang="en-US" sz="1800">
                  <a:solidFill>
                    <a:schemeClr val="tx1"/>
                  </a:solidFill>
                  <a:ea typeface="宋体" panose="02010600030101010101" pitchFamily="2" charset="-122"/>
                </a:endParaRPr>
              </a:p>
            </p:txBody>
          </p:sp>
          <p:sp>
            <p:nvSpPr>
              <p:cNvPr id="20" name="Oval 27"/>
              <p:cNvSpPr>
                <a:spLocks noChangeArrowheads="1"/>
              </p:cNvSpPr>
              <p:nvPr/>
            </p:nvSpPr>
            <p:spPr bwMode="auto">
              <a:xfrm>
                <a:off x="3985" y="2592"/>
                <a:ext cx="431" cy="43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等待</a:t>
                </a:r>
                <a:endParaRPr lang="zh-CN" altLang="en-US" sz="1800">
                  <a:solidFill>
                    <a:schemeClr val="tx1"/>
                  </a:solidFill>
                  <a:ea typeface="宋体" panose="02010600030101010101" pitchFamily="2" charset="-122"/>
                </a:endParaRPr>
              </a:p>
            </p:txBody>
          </p:sp>
          <p:sp>
            <p:nvSpPr>
              <p:cNvPr id="21" name="Text Box 28"/>
              <p:cNvSpPr txBox="1">
                <a:spLocks noChangeArrowheads="1"/>
              </p:cNvSpPr>
              <p:nvPr/>
            </p:nvSpPr>
            <p:spPr bwMode="auto">
              <a:xfrm>
                <a:off x="3552" y="2793"/>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执行</a:t>
                </a:r>
                <a:endParaRPr lang="zh-CN" altLang="en-US" sz="1800">
                  <a:solidFill>
                    <a:schemeClr val="tx1"/>
                  </a:solidFill>
                  <a:ea typeface="宋体" panose="02010600030101010101" pitchFamily="2" charset="-122"/>
                </a:endParaRPr>
              </a:p>
            </p:txBody>
          </p:sp>
          <p:sp>
            <p:nvSpPr>
              <p:cNvPr id="22" name="Line 29"/>
              <p:cNvSpPr>
                <a:spLocks noChangeShapeType="1"/>
              </p:cNvSpPr>
              <p:nvPr/>
            </p:nvSpPr>
            <p:spPr bwMode="auto">
              <a:xfrm flipH="1">
                <a:off x="3408" y="2256"/>
                <a:ext cx="240"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3" name="Line 30"/>
              <p:cNvSpPr>
                <a:spLocks noChangeShapeType="1"/>
              </p:cNvSpPr>
              <p:nvPr/>
            </p:nvSpPr>
            <p:spPr bwMode="auto">
              <a:xfrm>
                <a:off x="3888" y="2304"/>
                <a:ext cx="192"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4" name="Line 31"/>
              <p:cNvSpPr>
                <a:spLocks noChangeShapeType="1"/>
              </p:cNvSpPr>
              <p:nvPr/>
            </p:nvSpPr>
            <p:spPr bwMode="auto">
              <a:xfrm flipH="1">
                <a:off x="3505" y="2784"/>
                <a:ext cx="48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5" name="Line 32"/>
              <p:cNvSpPr>
                <a:spLocks noChangeShapeType="1"/>
              </p:cNvSpPr>
              <p:nvPr/>
            </p:nvSpPr>
            <p:spPr bwMode="auto">
              <a:xfrm flipV="1">
                <a:off x="3216" y="2112"/>
                <a:ext cx="336" cy="48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6" name="Oval 33"/>
              <p:cNvSpPr>
                <a:spLocks noChangeArrowheads="1"/>
              </p:cNvSpPr>
              <p:nvPr/>
            </p:nvSpPr>
            <p:spPr bwMode="auto">
              <a:xfrm>
                <a:off x="2958" y="1808"/>
                <a:ext cx="1582" cy="1532"/>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endParaRPr lang="en-US" altLang="zh-CN" sz="1800" b="0">
                  <a:solidFill>
                    <a:schemeClr val="tx1"/>
                  </a:solidFill>
                  <a:ea typeface="宋体" panose="02010600030101010101" pitchFamily="2" charset="-122"/>
                </a:endParaRPr>
              </a:p>
              <a:p>
                <a:pPr algn="ctr" eaLnBrk="1" hangingPunct="1">
                  <a:lnSpc>
                    <a:spcPct val="100000"/>
                  </a:lnSpc>
                  <a:spcBef>
                    <a:spcPct val="0"/>
                  </a:spcBef>
                  <a:buClrTx/>
                  <a:buSzTx/>
                  <a:buFontTx/>
                  <a:buNone/>
                </a:pPr>
                <a:endParaRPr lang="en-US" altLang="zh-CN" sz="1800" b="0">
                  <a:solidFill>
                    <a:schemeClr val="tx1"/>
                  </a:solidFill>
                  <a:ea typeface="宋体" panose="02010600030101010101" pitchFamily="2" charset="-122"/>
                </a:endParaRPr>
              </a:p>
              <a:p>
                <a:pPr algn="ctr" eaLnBrk="1" hangingPunct="1">
                  <a:lnSpc>
                    <a:spcPct val="100000"/>
                  </a:lnSpc>
                  <a:spcBef>
                    <a:spcPct val="0"/>
                  </a:spcBef>
                  <a:buClrTx/>
                  <a:buSzTx/>
                  <a:buFontTx/>
                  <a:buNone/>
                </a:pPr>
                <a:endParaRPr lang="en-US" altLang="zh-CN" sz="1800" b="0">
                  <a:solidFill>
                    <a:schemeClr val="tx1"/>
                  </a:solidFill>
                  <a:ea typeface="宋体" panose="02010600030101010101" pitchFamily="2" charset="-122"/>
                </a:endParaRPr>
              </a:p>
              <a:p>
                <a:pPr algn="ctr" eaLnBrk="1" hangingPunct="1">
                  <a:lnSpc>
                    <a:spcPct val="100000"/>
                  </a:lnSpc>
                  <a:spcBef>
                    <a:spcPct val="0"/>
                  </a:spcBef>
                  <a:buClrTx/>
                  <a:buSzTx/>
                  <a:buFontTx/>
                  <a:buNone/>
                </a:pPr>
                <a:endParaRPr lang="en-US" altLang="zh-CN" sz="1800" b="0">
                  <a:solidFill>
                    <a:schemeClr val="tx1"/>
                  </a:solidFill>
                  <a:ea typeface="宋体" panose="02010600030101010101" pitchFamily="2" charset="-122"/>
                </a:endParaRPr>
              </a:p>
              <a:p>
                <a:pPr algn="ctr" eaLnBrk="1" hangingPunct="1">
                  <a:lnSpc>
                    <a:spcPct val="100000"/>
                  </a:lnSpc>
                  <a:spcBef>
                    <a:spcPct val="0"/>
                  </a:spcBef>
                  <a:buClrTx/>
                  <a:buSzTx/>
                  <a:buFontTx/>
                  <a:buNone/>
                </a:pPr>
                <a:endParaRPr lang="en-US" altLang="zh-CN" sz="1800" b="0">
                  <a:solidFill>
                    <a:schemeClr val="tx1"/>
                  </a:solidFill>
                  <a:ea typeface="宋体" panose="02010600030101010101" pitchFamily="2" charset="-122"/>
                </a:endParaRPr>
              </a:p>
              <a:p>
                <a:pPr algn="ctr" eaLnBrk="1" hangingPunct="1">
                  <a:lnSpc>
                    <a:spcPct val="100000"/>
                  </a:lnSpc>
                  <a:spcBef>
                    <a:spcPct val="0"/>
                  </a:spcBef>
                  <a:buClrTx/>
                  <a:buSzTx/>
                  <a:buFontTx/>
                  <a:buNone/>
                </a:pPr>
                <a:endParaRPr lang="en-US" altLang="zh-CN" sz="1800" b="0">
                  <a:solidFill>
                    <a:schemeClr val="tx1"/>
                  </a:solidFill>
                  <a:ea typeface="宋体" panose="02010600030101010101" pitchFamily="2" charset="-122"/>
                </a:endParaRPr>
              </a:p>
            </p:txBody>
          </p:sp>
        </p:grpSp>
      </p:grpSp>
      <p:sp>
        <p:nvSpPr>
          <p:cNvPr id="33" name="Text Box 34"/>
          <p:cNvSpPr txBox="1">
            <a:spLocks noChangeArrowheads="1"/>
          </p:cNvSpPr>
          <p:nvPr/>
        </p:nvSpPr>
        <p:spPr bwMode="auto">
          <a:xfrm>
            <a:off x="3128925" y="5839304"/>
            <a:ext cx="42242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en-US" altLang="zh-CN" sz="1800" dirty="0">
                <a:solidFill>
                  <a:schemeClr val="tx1"/>
                </a:solidFill>
                <a:ea typeface="宋体" panose="02010600030101010101" pitchFamily="2" charset="-122"/>
              </a:rPr>
              <a:t>         </a:t>
            </a:r>
            <a:r>
              <a:rPr lang="zh-CN" altLang="en-US" sz="1800" dirty="0">
                <a:solidFill>
                  <a:schemeClr val="tx1"/>
                </a:solidFill>
                <a:ea typeface="宋体" panose="02010600030101010101" pitchFamily="2" charset="-122"/>
              </a:rPr>
              <a:t>多道批处理系统中作业处理及状态</a:t>
            </a:r>
            <a:endParaRPr lang="zh-CN" altLang="en-US" sz="1800" dirty="0">
              <a:solidFill>
                <a:schemeClr val="tx1"/>
              </a:solidFill>
              <a:ea typeface="宋体" panose="02010600030101010101" pitchFamily="2" charset="-122"/>
            </a:endParaRPr>
          </a:p>
        </p:txBody>
      </p:sp>
      <p:grpSp>
        <p:nvGrpSpPr>
          <p:cNvPr id="34" name="Group 35"/>
          <p:cNvGrpSpPr/>
          <p:nvPr/>
        </p:nvGrpSpPr>
        <p:grpSpPr bwMode="auto">
          <a:xfrm>
            <a:off x="1700123" y="1006954"/>
            <a:ext cx="8410575" cy="1860550"/>
            <a:chOff x="864" y="1132"/>
            <a:chExt cx="5298" cy="1172"/>
          </a:xfrm>
        </p:grpSpPr>
        <p:pic>
          <p:nvPicPr>
            <p:cNvPr id="35" name="Picture 36" descr="PE01616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64" y="1488"/>
              <a:ext cx="848" cy="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37"/>
            <p:cNvSpPr txBox="1">
              <a:spLocks noChangeArrowheads="1"/>
            </p:cNvSpPr>
            <p:nvPr/>
          </p:nvSpPr>
          <p:spPr bwMode="auto">
            <a:xfrm>
              <a:off x="3312" y="1180"/>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内存</a:t>
              </a:r>
              <a:endParaRPr lang="zh-CN" altLang="en-US" sz="1800">
                <a:solidFill>
                  <a:schemeClr val="tx1"/>
                </a:solidFill>
                <a:ea typeface="宋体" panose="02010600030101010101" pitchFamily="2" charset="-122"/>
              </a:endParaRPr>
            </a:p>
          </p:txBody>
        </p:sp>
        <p:grpSp>
          <p:nvGrpSpPr>
            <p:cNvPr id="37" name="Group 38"/>
            <p:cNvGrpSpPr/>
            <p:nvPr/>
          </p:nvGrpSpPr>
          <p:grpSpPr bwMode="auto">
            <a:xfrm>
              <a:off x="2112" y="1180"/>
              <a:ext cx="624" cy="1104"/>
              <a:chOff x="2448" y="1056"/>
              <a:chExt cx="624" cy="1104"/>
            </a:xfrm>
          </p:grpSpPr>
          <p:grpSp>
            <p:nvGrpSpPr>
              <p:cNvPr id="50" name="Group 39"/>
              <p:cNvGrpSpPr/>
              <p:nvPr/>
            </p:nvGrpSpPr>
            <p:grpSpPr bwMode="auto">
              <a:xfrm>
                <a:off x="2448" y="1296"/>
                <a:ext cx="624" cy="864"/>
                <a:chOff x="2448" y="1296"/>
                <a:chExt cx="624" cy="864"/>
              </a:xfrm>
            </p:grpSpPr>
            <p:sp>
              <p:nvSpPr>
                <p:cNvPr id="52" name="AutoShape 40"/>
                <p:cNvSpPr>
                  <a:spLocks noChangeArrowheads="1"/>
                </p:cNvSpPr>
                <p:nvPr/>
              </p:nvSpPr>
              <p:spPr bwMode="auto">
                <a:xfrm>
                  <a:off x="2448" y="1776"/>
                  <a:ext cx="624" cy="144"/>
                </a:xfrm>
                <a:prstGeom prst="flowChartConnector">
                  <a:avLst/>
                </a:prstGeom>
                <a:solidFill>
                  <a:srgbClr val="FFFFFF"/>
                </a:solidFill>
                <a:ln w="9525">
                  <a:solidFill>
                    <a:schemeClr val="tx1"/>
                  </a:solidFill>
                  <a:round/>
                </a:ln>
                <a:effectLst>
                  <a:outerShdw dist="107763" dir="2700000" algn="ctr" rotWithShape="0">
                    <a:srgbClr val="99CCFF">
                      <a:alpha val="50000"/>
                    </a:srgbClr>
                  </a:outerShdw>
                </a:effec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53" name="AutoShape 41"/>
                <p:cNvSpPr>
                  <a:spLocks noChangeArrowheads="1"/>
                </p:cNvSpPr>
                <p:nvPr/>
              </p:nvSpPr>
              <p:spPr bwMode="auto">
                <a:xfrm>
                  <a:off x="2448" y="1680"/>
                  <a:ext cx="624" cy="144"/>
                </a:xfrm>
                <a:prstGeom prst="flowChartConnector">
                  <a:avLst/>
                </a:prstGeom>
                <a:solidFill>
                  <a:srgbClr val="FFFFFF"/>
                </a:solidFill>
                <a:ln w="9525">
                  <a:solidFill>
                    <a:schemeClr val="tx1"/>
                  </a:solidFill>
                  <a:round/>
                </a:ln>
                <a:effectLst>
                  <a:outerShdw dist="107763" dir="2700000" algn="ctr" rotWithShape="0">
                    <a:srgbClr val="99CCFF">
                      <a:alpha val="50000"/>
                    </a:srgbClr>
                  </a:outerShdw>
                </a:effec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54" name="AutoShape 42"/>
                <p:cNvSpPr>
                  <a:spLocks noChangeArrowheads="1"/>
                </p:cNvSpPr>
                <p:nvPr/>
              </p:nvSpPr>
              <p:spPr bwMode="auto">
                <a:xfrm>
                  <a:off x="2448" y="1584"/>
                  <a:ext cx="624" cy="144"/>
                </a:xfrm>
                <a:prstGeom prst="flowChartConnector">
                  <a:avLst/>
                </a:prstGeom>
                <a:solidFill>
                  <a:srgbClr val="FFFFFF"/>
                </a:solidFill>
                <a:ln w="9525">
                  <a:solidFill>
                    <a:schemeClr val="tx1"/>
                  </a:solidFill>
                  <a:round/>
                </a:ln>
                <a:effectLst>
                  <a:outerShdw dist="107763" dir="2700000" algn="ctr" rotWithShape="0">
                    <a:srgbClr val="99CCFF">
                      <a:alpha val="50000"/>
                    </a:srgbClr>
                  </a:outerShdw>
                </a:effec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55" name="AutoShape 43"/>
                <p:cNvSpPr>
                  <a:spLocks noChangeArrowheads="1"/>
                </p:cNvSpPr>
                <p:nvPr/>
              </p:nvSpPr>
              <p:spPr bwMode="auto">
                <a:xfrm>
                  <a:off x="2448" y="1488"/>
                  <a:ext cx="624" cy="144"/>
                </a:xfrm>
                <a:prstGeom prst="flowChartConnector">
                  <a:avLst/>
                </a:prstGeom>
                <a:solidFill>
                  <a:srgbClr val="FFFFFF"/>
                </a:solidFill>
                <a:ln w="9525">
                  <a:solidFill>
                    <a:schemeClr val="tx1"/>
                  </a:solidFill>
                  <a:round/>
                </a:ln>
                <a:effectLst>
                  <a:outerShdw dist="107763" dir="2700000" algn="ctr" rotWithShape="0">
                    <a:srgbClr val="99CCFF">
                      <a:alpha val="50000"/>
                    </a:srgbClr>
                  </a:outerShdw>
                </a:effec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56" name="Line 44"/>
                <p:cNvSpPr>
                  <a:spLocks noChangeShapeType="1"/>
                </p:cNvSpPr>
                <p:nvPr/>
              </p:nvSpPr>
              <p:spPr bwMode="auto">
                <a:xfrm flipV="1">
                  <a:off x="2766" y="1296"/>
                  <a:ext cx="0" cy="240"/>
                </a:xfrm>
                <a:prstGeom prst="line">
                  <a:avLst/>
                </a:prstGeom>
                <a:noFill/>
                <a:ln w="9525">
                  <a:solidFill>
                    <a:schemeClr val="tx1"/>
                  </a:solidFill>
                  <a:round/>
                </a:ln>
                <a:effectLst>
                  <a:outerShdw dist="35921" dir="2700000" algn="ctr" rotWithShape="0">
                    <a:srgbClr val="99CCFF"/>
                  </a:outerShdw>
                </a:effectLst>
                <a:extLst>
                  <a:ext uri="{909E8E84-426E-40DD-AFC4-6F175D3DCCD1}">
                    <a14:hiddenFill xmlns:a14="http://schemas.microsoft.com/office/drawing/2010/main">
                      <a:noFill/>
                    </a14:hiddenFill>
                  </a:ext>
                </a:extLst>
              </p:spPr>
              <p:txBody>
                <a:bodyPr>
                  <a:spAutoFit/>
                </a:bodyPr>
                <a:lstStyle/>
                <a:p>
                  <a:endParaRPr lang="zh-CN" altLang="en-US"/>
                </a:p>
              </p:txBody>
            </p:sp>
            <p:sp>
              <p:nvSpPr>
                <p:cNvPr id="57" name="Line 45"/>
                <p:cNvSpPr>
                  <a:spLocks noChangeShapeType="1"/>
                </p:cNvSpPr>
                <p:nvPr/>
              </p:nvSpPr>
              <p:spPr bwMode="auto">
                <a:xfrm flipV="1">
                  <a:off x="2766" y="1920"/>
                  <a:ext cx="0" cy="240"/>
                </a:xfrm>
                <a:prstGeom prst="line">
                  <a:avLst/>
                </a:prstGeom>
                <a:noFill/>
                <a:ln w="9525">
                  <a:solidFill>
                    <a:schemeClr val="tx1"/>
                  </a:solidFill>
                  <a:round/>
                </a:ln>
                <a:effectLst>
                  <a:outerShdw dist="35921" dir="2700000" algn="ctr" rotWithShape="0">
                    <a:srgbClr val="99CCFF"/>
                  </a:outerShdw>
                </a:effectLst>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51" name="Text Box 46"/>
              <p:cNvSpPr txBox="1">
                <a:spLocks noChangeArrowheads="1"/>
              </p:cNvSpPr>
              <p:nvPr/>
            </p:nvSpPr>
            <p:spPr bwMode="auto">
              <a:xfrm>
                <a:off x="2592" y="1056"/>
                <a:ext cx="404"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zh-CN" altLang="en-US" sz="1800">
                    <a:solidFill>
                      <a:schemeClr val="tx1"/>
                    </a:solidFill>
                    <a:ea typeface="宋体" panose="02010600030101010101" pitchFamily="2" charset="-122"/>
                  </a:rPr>
                  <a:t>磁盘</a:t>
                </a:r>
                <a:endParaRPr lang="zh-CN" altLang="en-US" sz="1800">
                  <a:solidFill>
                    <a:schemeClr val="tx1"/>
                  </a:solidFill>
                  <a:ea typeface="宋体" panose="02010600030101010101" pitchFamily="2" charset="-122"/>
                </a:endParaRPr>
              </a:p>
            </p:txBody>
          </p:sp>
        </p:grpSp>
        <p:sp>
          <p:nvSpPr>
            <p:cNvPr id="38" name="Rectangle 47"/>
            <p:cNvSpPr>
              <a:spLocks noChangeArrowheads="1"/>
            </p:cNvSpPr>
            <p:nvPr/>
          </p:nvSpPr>
          <p:spPr bwMode="auto">
            <a:xfrm>
              <a:off x="4176" y="1324"/>
              <a:ext cx="912" cy="980"/>
            </a:xfrm>
            <a:prstGeom prst="rect">
              <a:avLst/>
            </a:prstGeom>
            <a:noFill/>
            <a:ln>
              <a:noFill/>
            </a:ln>
            <a:effectLst>
              <a:outerShdw dist="35921" dir="2700000" algn="ctr" rotWithShape="0">
                <a:srgbClr val="99CCFF">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0"/>
                </a:spcBef>
                <a:buClrTx/>
                <a:buSzTx/>
                <a:buFontTx/>
                <a:buNone/>
              </a:pPr>
              <a:r>
                <a:rPr lang="en-US" altLang="zh-CN" sz="9600" b="0">
                  <a:solidFill>
                    <a:schemeClr val="tx1"/>
                  </a:solidFill>
                  <a:latin typeface="Times New Roman" panose="02020603050405020304" charset="0"/>
                  <a:ea typeface="宋体" panose="02010600030101010101" pitchFamily="2" charset="-122"/>
                  <a:sym typeface="Webdings" panose="05030102010509060703" pitchFamily="18" charset="2"/>
                </a:rPr>
                <a:t></a:t>
              </a:r>
              <a:r>
                <a:rPr lang="en-US" altLang="zh-CN" sz="1200" b="0">
                  <a:solidFill>
                    <a:schemeClr val="tx1"/>
                  </a:solidFill>
                  <a:ea typeface="宋体" panose="02010600030101010101" pitchFamily="2" charset="-122"/>
                </a:rPr>
                <a:t> </a:t>
              </a:r>
              <a:endParaRPr lang="en-US" altLang="zh-CN" sz="4200" b="0">
                <a:solidFill>
                  <a:schemeClr val="tx1"/>
                </a:solidFill>
                <a:latin typeface="Times New Roman" panose="02020603050405020304" charset="0"/>
                <a:ea typeface="宋体" panose="02010600030101010101" pitchFamily="2" charset="-122"/>
                <a:sym typeface="Webdings" panose="05030102010509060703" pitchFamily="18" charset="2"/>
              </a:endParaRPr>
            </a:p>
          </p:txBody>
        </p:sp>
        <p:grpSp>
          <p:nvGrpSpPr>
            <p:cNvPr id="39" name="Group 48"/>
            <p:cNvGrpSpPr/>
            <p:nvPr/>
          </p:nvGrpSpPr>
          <p:grpSpPr bwMode="auto">
            <a:xfrm>
              <a:off x="5280" y="1132"/>
              <a:ext cx="882" cy="1152"/>
              <a:chOff x="5280" y="720"/>
              <a:chExt cx="882" cy="1152"/>
            </a:xfrm>
          </p:grpSpPr>
          <p:pic>
            <p:nvPicPr>
              <p:cNvPr id="48" name="Picture 49" descr="BD05537_"/>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0" y="720"/>
                <a:ext cx="882" cy="11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9" name="Rectangle 50"/>
              <p:cNvSpPr>
                <a:spLocks noChangeArrowheads="1"/>
              </p:cNvSpPr>
              <p:nvPr/>
            </p:nvSpPr>
            <p:spPr bwMode="auto">
              <a:xfrm>
                <a:off x="5328" y="912"/>
                <a:ext cx="452"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en-US" altLang="zh-CN" sz="4200" b="0">
                    <a:solidFill>
                      <a:schemeClr val="tx1"/>
                    </a:solidFill>
                    <a:latin typeface="Times New Roman" panose="02020603050405020304" charset="0"/>
                    <a:ea typeface="宋体" panose="02010600030101010101" pitchFamily="2" charset="-122"/>
                    <a:sym typeface="Webdings" panose="05030102010509060703" pitchFamily="18" charset="2"/>
                  </a:rPr>
                  <a:t></a:t>
                </a:r>
                <a:endParaRPr lang="en-US" altLang="zh-CN" sz="4200" b="0">
                  <a:solidFill>
                    <a:schemeClr val="tx1"/>
                  </a:solidFill>
                  <a:latin typeface="Times New Roman" panose="02020603050405020304" charset="0"/>
                  <a:ea typeface="宋体" panose="02010600030101010101" pitchFamily="2" charset="-122"/>
                  <a:sym typeface="Webdings" panose="05030102010509060703" pitchFamily="18" charset="2"/>
                </a:endParaRPr>
              </a:p>
            </p:txBody>
          </p:sp>
        </p:grpSp>
        <p:sp>
          <p:nvSpPr>
            <p:cNvPr id="40" name="AutoShape 51"/>
            <p:cNvSpPr>
              <a:spLocks noChangeArrowheads="1"/>
            </p:cNvSpPr>
            <p:nvPr/>
          </p:nvSpPr>
          <p:spPr bwMode="auto">
            <a:xfrm>
              <a:off x="1728" y="1804"/>
              <a:ext cx="336" cy="192"/>
            </a:xfrm>
            <a:prstGeom prst="rightArrow">
              <a:avLst>
                <a:gd name="adj1" fmla="val 50000"/>
                <a:gd name="adj2" fmla="val 4375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41" name="AutoShape 52"/>
            <p:cNvSpPr>
              <a:spLocks noChangeArrowheads="1"/>
            </p:cNvSpPr>
            <p:nvPr/>
          </p:nvSpPr>
          <p:spPr bwMode="auto">
            <a:xfrm>
              <a:off x="2832" y="1804"/>
              <a:ext cx="336" cy="192"/>
            </a:xfrm>
            <a:prstGeom prst="rightArrow">
              <a:avLst>
                <a:gd name="adj1" fmla="val 50000"/>
                <a:gd name="adj2" fmla="val 4375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42" name="AutoShape 53"/>
            <p:cNvSpPr>
              <a:spLocks noChangeArrowheads="1"/>
            </p:cNvSpPr>
            <p:nvPr/>
          </p:nvSpPr>
          <p:spPr bwMode="auto">
            <a:xfrm>
              <a:off x="3936" y="1804"/>
              <a:ext cx="336" cy="192"/>
            </a:xfrm>
            <a:prstGeom prst="rightArrow">
              <a:avLst>
                <a:gd name="adj1" fmla="val 50000"/>
                <a:gd name="adj2" fmla="val 4375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43" name="AutoShape 54"/>
            <p:cNvSpPr>
              <a:spLocks noChangeArrowheads="1"/>
            </p:cNvSpPr>
            <p:nvPr/>
          </p:nvSpPr>
          <p:spPr bwMode="auto">
            <a:xfrm>
              <a:off x="4992" y="1804"/>
              <a:ext cx="336" cy="192"/>
            </a:xfrm>
            <a:prstGeom prst="rightArrow">
              <a:avLst>
                <a:gd name="adj1" fmla="val 50000"/>
                <a:gd name="adj2" fmla="val 4375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15000"/>
                </a:lnSpc>
                <a:buClrTx/>
                <a:buSzTx/>
                <a:buFontTx/>
                <a:buNone/>
              </a:pPr>
              <a:endParaRPr lang="zh-CN" altLang="en-US" sz="2400">
                <a:solidFill>
                  <a:srgbClr val="006600"/>
                </a:solidFill>
              </a:endParaRPr>
            </a:p>
          </p:txBody>
        </p:sp>
        <p:sp>
          <p:nvSpPr>
            <p:cNvPr id="44" name="Rectangle 55"/>
            <p:cNvSpPr>
              <a:spLocks noChangeArrowheads="1"/>
            </p:cNvSpPr>
            <p:nvPr/>
          </p:nvSpPr>
          <p:spPr bwMode="auto">
            <a:xfrm>
              <a:off x="3264" y="1660"/>
              <a:ext cx="525" cy="13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en-US" altLang="zh-CN" sz="1800">
                  <a:solidFill>
                    <a:schemeClr val="tx1"/>
                  </a:solidFill>
                  <a:ea typeface="宋体" panose="02010600030101010101" pitchFamily="2" charset="-122"/>
                </a:rPr>
                <a:t>OS</a:t>
              </a:r>
              <a:endParaRPr lang="en-US" altLang="zh-CN" sz="1800">
                <a:solidFill>
                  <a:schemeClr val="tx1"/>
                </a:solidFill>
                <a:ea typeface="宋体" panose="02010600030101010101" pitchFamily="2" charset="-122"/>
              </a:endParaRPr>
            </a:p>
          </p:txBody>
        </p:sp>
        <p:sp>
          <p:nvSpPr>
            <p:cNvPr id="45" name="Rectangle 56"/>
            <p:cNvSpPr>
              <a:spLocks noChangeArrowheads="1"/>
            </p:cNvSpPr>
            <p:nvPr/>
          </p:nvSpPr>
          <p:spPr bwMode="auto">
            <a:xfrm>
              <a:off x="3264" y="1793"/>
              <a:ext cx="525" cy="13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en-US" altLang="zh-CN" sz="1800">
                  <a:solidFill>
                    <a:schemeClr val="tx1"/>
                  </a:solidFill>
                  <a:ea typeface="宋体" panose="02010600030101010101" pitchFamily="2" charset="-122"/>
                </a:rPr>
                <a:t>A</a:t>
              </a:r>
              <a:endParaRPr lang="en-US" altLang="zh-CN" sz="1800">
                <a:solidFill>
                  <a:schemeClr val="tx1"/>
                </a:solidFill>
                <a:ea typeface="宋体" panose="02010600030101010101" pitchFamily="2" charset="-122"/>
              </a:endParaRPr>
            </a:p>
          </p:txBody>
        </p:sp>
        <p:sp>
          <p:nvSpPr>
            <p:cNvPr id="46" name="Rectangle 57"/>
            <p:cNvSpPr>
              <a:spLocks noChangeArrowheads="1"/>
            </p:cNvSpPr>
            <p:nvPr/>
          </p:nvSpPr>
          <p:spPr bwMode="auto">
            <a:xfrm>
              <a:off x="3264" y="1929"/>
              <a:ext cx="525" cy="13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en-US" altLang="zh-CN" sz="1800">
                  <a:solidFill>
                    <a:schemeClr val="tx1"/>
                  </a:solidFill>
                  <a:ea typeface="宋体" panose="02010600030101010101" pitchFamily="2" charset="-122"/>
                </a:rPr>
                <a:t>B</a:t>
              </a:r>
              <a:endParaRPr lang="en-US" altLang="zh-CN" sz="1800">
                <a:solidFill>
                  <a:schemeClr val="tx1"/>
                </a:solidFill>
                <a:ea typeface="宋体" panose="02010600030101010101" pitchFamily="2" charset="-122"/>
              </a:endParaRPr>
            </a:p>
          </p:txBody>
        </p:sp>
        <p:sp>
          <p:nvSpPr>
            <p:cNvPr id="47" name="Rectangle 58"/>
            <p:cNvSpPr>
              <a:spLocks noChangeArrowheads="1"/>
            </p:cNvSpPr>
            <p:nvPr/>
          </p:nvSpPr>
          <p:spPr bwMode="auto">
            <a:xfrm>
              <a:off x="3264" y="2072"/>
              <a:ext cx="525" cy="13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0"/>
                </a:spcBef>
                <a:buClrTx/>
                <a:buSzTx/>
                <a:buFontTx/>
                <a:buNone/>
              </a:pPr>
              <a:r>
                <a:rPr lang="en-US" altLang="zh-CN" sz="1800">
                  <a:solidFill>
                    <a:schemeClr val="tx1"/>
                  </a:solidFill>
                  <a:ea typeface="宋体" panose="02010600030101010101" pitchFamily="2" charset="-122"/>
                </a:rPr>
                <a:t>C</a:t>
              </a:r>
              <a:endParaRPr lang="en-US" altLang="zh-CN" sz="1800">
                <a:solidFill>
                  <a:schemeClr val="tx1"/>
                </a:solidFill>
                <a:ea typeface="宋体" panose="02010600030101010101" pitchFamily="2"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分时系统</a:t>
            </a:r>
            <a:endParaRPr lang="zh-CN" altLang="en-US" sz="2800" b="1" dirty="0">
              <a:solidFill>
                <a:schemeClr val="bg1"/>
              </a:solidFill>
            </a:endParaRPr>
          </a:p>
        </p:txBody>
      </p:sp>
      <p:sp>
        <p:nvSpPr>
          <p:cNvPr id="3" name="Text Box 4"/>
          <p:cNvSpPr txBox="1">
            <a:spLocks noChangeArrowheads="1"/>
          </p:cNvSpPr>
          <p:nvPr/>
        </p:nvSpPr>
        <p:spPr bwMode="auto">
          <a:xfrm>
            <a:off x="1572883" y="931652"/>
            <a:ext cx="755967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buClrTx/>
              <a:buSzTx/>
              <a:buFontTx/>
              <a:buNone/>
            </a:pPr>
            <a:r>
              <a:rPr lang="en-US" altLang="zh-CN" sz="2400" dirty="0">
                <a:latin typeface="楷体_GB2312" pitchFamily="49" charset="-122"/>
              </a:rPr>
              <a:t>    </a:t>
            </a:r>
            <a:r>
              <a:rPr kumimoji="1" lang="zh-CN" altLang="en-US" sz="2400" dirty="0">
                <a:solidFill>
                  <a:srgbClr val="9900CC"/>
                </a:solidFill>
                <a:latin typeface="楷体_GB2312" pitchFamily="49" charset="-122"/>
              </a:rPr>
              <a:t>多用户交互式系统。</a:t>
            </a:r>
            <a:r>
              <a:rPr kumimoji="1" lang="zh-CN" altLang="en-US" sz="2400" dirty="0">
                <a:latin typeface="楷体_GB2312" pitchFamily="49" charset="-122"/>
              </a:rPr>
              <a:t>多个用户通过交互方式分享使用同一台计算机。</a:t>
            </a:r>
            <a:endParaRPr lang="zh-CN" altLang="en-US" sz="2400" dirty="0">
              <a:latin typeface="楷体_GB2312" pitchFamily="49" charset="-122"/>
            </a:endParaRPr>
          </a:p>
        </p:txBody>
      </p:sp>
      <p:sp>
        <p:nvSpPr>
          <p:cNvPr id="4" name="Text Box 5"/>
          <p:cNvSpPr txBox="1">
            <a:spLocks noChangeArrowheads="1"/>
          </p:cNvSpPr>
          <p:nvPr/>
        </p:nvSpPr>
        <p:spPr bwMode="auto">
          <a:xfrm>
            <a:off x="1530021" y="5532227"/>
            <a:ext cx="778192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buClrTx/>
              <a:buSzTx/>
              <a:buFontTx/>
              <a:buNone/>
            </a:pPr>
            <a:r>
              <a:rPr lang="zh-CN" altLang="en-US" sz="2400">
                <a:solidFill>
                  <a:srgbClr val="006600"/>
                </a:solidFill>
                <a:latin typeface="楷体_GB2312" pitchFamily="49" charset="-122"/>
              </a:rPr>
              <a:t>分时技术：</a:t>
            </a:r>
            <a:r>
              <a:rPr lang="zh-CN" altLang="en-US" sz="2400">
                <a:latin typeface="楷体_GB2312" pitchFamily="49" charset="-122"/>
              </a:rPr>
              <a:t>把处理机的时间划分成很短的时间片，按时间片轮流地把处理机分配给</a:t>
            </a:r>
            <a:r>
              <a:rPr kumimoji="1" lang="zh-CN" altLang="en-US" sz="2400">
                <a:latin typeface="宋体" panose="02010600030101010101" pitchFamily="2" charset="-122"/>
              </a:rPr>
              <a:t>各联机用户使用。</a:t>
            </a:r>
            <a:endParaRPr lang="zh-CN" altLang="en-US" sz="2400"/>
          </a:p>
        </p:txBody>
      </p:sp>
      <p:grpSp>
        <p:nvGrpSpPr>
          <p:cNvPr id="5" name="Group 7"/>
          <p:cNvGrpSpPr/>
          <p:nvPr/>
        </p:nvGrpSpPr>
        <p:grpSpPr bwMode="auto">
          <a:xfrm>
            <a:off x="1853871" y="1933365"/>
            <a:ext cx="7924800" cy="3687762"/>
            <a:chOff x="1056" y="672"/>
            <a:chExt cx="4992" cy="3689"/>
          </a:xfrm>
        </p:grpSpPr>
        <p:grpSp>
          <p:nvGrpSpPr>
            <p:cNvPr id="6" name="Group 8"/>
            <p:cNvGrpSpPr/>
            <p:nvPr/>
          </p:nvGrpSpPr>
          <p:grpSpPr bwMode="auto">
            <a:xfrm>
              <a:off x="1200" y="1170"/>
              <a:ext cx="4232" cy="3191"/>
              <a:chOff x="1296" y="912"/>
              <a:chExt cx="4226" cy="3191"/>
            </a:xfrm>
          </p:grpSpPr>
          <p:grpSp>
            <p:nvGrpSpPr>
              <p:cNvPr id="14" name="Group 9"/>
              <p:cNvGrpSpPr/>
              <p:nvPr/>
            </p:nvGrpSpPr>
            <p:grpSpPr bwMode="auto">
              <a:xfrm>
                <a:off x="1296" y="912"/>
                <a:ext cx="4226" cy="2662"/>
                <a:chOff x="1296" y="912"/>
                <a:chExt cx="4226" cy="2662"/>
              </a:xfrm>
            </p:grpSpPr>
            <p:sp>
              <p:nvSpPr>
                <p:cNvPr id="16" name="tower"/>
                <p:cNvSpPr>
                  <a:spLocks noEditPoints="1" noChangeArrowheads="1"/>
                </p:cNvSpPr>
                <p:nvPr/>
              </p:nvSpPr>
              <p:spPr bwMode="auto">
                <a:xfrm>
                  <a:off x="2912" y="1302"/>
                  <a:ext cx="570" cy="114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5 w 21600"/>
                    <a:gd name="T31" fmla="*/ 22547 h 21600"/>
                    <a:gd name="T32" fmla="*/ 21486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ln>
                <a:effectLst>
                  <a:outerShdw dist="107763" dir="2700000" algn="ctr" rotWithShape="0">
                    <a:srgbClr val="99CCFF">
                      <a:alpha val="50000"/>
                    </a:srgbClr>
                  </a:outerShdw>
                </a:effectLst>
              </p:spPr>
              <p:txBody>
                <a:bodyPr/>
                <a:lstStyle/>
                <a:p>
                  <a:endParaRPr lang="zh-CN" altLang="en-US"/>
                </a:p>
              </p:txBody>
            </p:sp>
            <p:pic>
              <p:nvPicPr>
                <p:cNvPr id="17" name="Picture 11"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44" y="912"/>
                  <a:ext cx="866" cy="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2"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6" y="2064"/>
                  <a:ext cx="866" cy="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3"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8" y="2784"/>
                  <a:ext cx="866" cy="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4"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8" y="2640"/>
                  <a:ext cx="866" cy="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5"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56" y="1008"/>
                  <a:ext cx="866" cy="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16"/>
                <p:cNvSpPr>
                  <a:spLocks noChangeShapeType="1"/>
                </p:cNvSpPr>
                <p:nvPr/>
              </p:nvSpPr>
              <p:spPr bwMode="auto">
                <a:xfrm>
                  <a:off x="2256" y="1440"/>
                  <a:ext cx="576"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3" name="Line 17"/>
                <p:cNvSpPr>
                  <a:spLocks noChangeShapeType="1"/>
                </p:cNvSpPr>
                <p:nvPr/>
              </p:nvSpPr>
              <p:spPr bwMode="auto">
                <a:xfrm flipV="1">
                  <a:off x="2256" y="2256"/>
                  <a:ext cx="576"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4" name="Line 18"/>
                <p:cNvSpPr>
                  <a:spLocks noChangeShapeType="1"/>
                </p:cNvSpPr>
                <p:nvPr/>
              </p:nvSpPr>
              <p:spPr bwMode="auto">
                <a:xfrm flipV="1">
                  <a:off x="3216" y="2544"/>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5" name="Line 19"/>
                <p:cNvSpPr>
                  <a:spLocks noChangeShapeType="1"/>
                </p:cNvSpPr>
                <p:nvPr/>
              </p:nvSpPr>
              <p:spPr bwMode="auto">
                <a:xfrm flipH="1" flipV="1">
                  <a:off x="3696" y="2304"/>
                  <a:ext cx="1056" cy="3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6" name="Line 20"/>
                <p:cNvSpPr>
                  <a:spLocks noChangeShapeType="1"/>
                </p:cNvSpPr>
                <p:nvPr/>
              </p:nvSpPr>
              <p:spPr bwMode="auto">
                <a:xfrm flipH="1">
                  <a:off x="3696" y="1440"/>
                  <a:ext cx="96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 name="Text Box 21"/>
                <p:cNvSpPr txBox="1">
                  <a:spLocks noChangeArrowheads="1"/>
                </p:cNvSpPr>
                <p:nvPr/>
              </p:nvSpPr>
              <p:spPr bwMode="auto">
                <a:xfrm>
                  <a:off x="2357" y="1597"/>
                  <a:ext cx="289" cy="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en-US" altLang="zh-CN" sz="1800">
                      <a:solidFill>
                        <a:schemeClr val="tx1"/>
                      </a:solidFill>
                      <a:ea typeface="宋体" panose="02010600030101010101" pitchFamily="2" charset="-122"/>
                    </a:rPr>
                    <a:t>……</a:t>
                  </a:r>
                  <a:endParaRPr lang="en-US" altLang="zh-CN" sz="1800">
                    <a:solidFill>
                      <a:schemeClr val="tx1"/>
                    </a:solidFill>
                    <a:ea typeface="宋体" panose="02010600030101010101" pitchFamily="2" charset="-122"/>
                  </a:endParaRPr>
                </a:p>
              </p:txBody>
            </p:sp>
            <p:sp>
              <p:nvSpPr>
                <p:cNvPr id="28" name="Text Box 22"/>
                <p:cNvSpPr txBox="1">
                  <a:spLocks noChangeArrowheads="1"/>
                </p:cNvSpPr>
                <p:nvPr/>
              </p:nvSpPr>
              <p:spPr bwMode="auto">
                <a:xfrm>
                  <a:off x="4128" y="1674"/>
                  <a:ext cx="289" cy="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en-US" altLang="zh-CN" sz="1800" i="1">
                      <a:solidFill>
                        <a:schemeClr val="tx1"/>
                      </a:solidFill>
                      <a:ea typeface="宋体" panose="02010600030101010101" pitchFamily="2" charset="-122"/>
                    </a:rPr>
                    <a:t>……</a:t>
                  </a:r>
                  <a:endParaRPr lang="en-US" altLang="zh-CN" sz="1800" i="1">
                    <a:solidFill>
                      <a:schemeClr val="tx1"/>
                    </a:solidFill>
                    <a:ea typeface="宋体" panose="02010600030101010101" pitchFamily="2" charset="-122"/>
                  </a:endParaRPr>
                </a:p>
              </p:txBody>
            </p:sp>
            <p:sp>
              <p:nvSpPr>
                <p:cNvPr id="29" name="Text Box 23"/>
                <p:cNvSpPr txBox="1">
                  <a:spLocks noChangeArrowheads="1"/>
                </p:cNvSpPr>
                <p:nvPr/>
              </p:nvSpPr>
              <p:spPr bwMode="auto">
                <a:xfrm rot="-1497066">
                  <a:off x="3521" y="2489"/>
                  <a:ext cx="403"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en-US" altLang="zh-CN" sz="1800">
                      <a:solidFill>
                        <a:schemeClr val="tx1"/>
                      </a:solidFill>
                      <a:ea typeface="宋体" panose="02010600030101010101" pitchFamily="2" charset="-122"/>
                    </a:rPr>
                    <a:t>……</a:t>
                  </a:r>
                  <a:endParaRPr lang="en-US" altLang="zh-CN" sz="1800">
                    <a:solidFill>
                      <a:schemeClr val="tx1"/>
                    </a:solidFill>
                    <a:ea typeface="宋体" panose="02010600030101010101" pitchFamily="2" charset="-122"/>
                  </a:endParaRPr>
                </a:p>
              </p:txBody>
            </p:sp>
            <p:sp>
              <p:nvSpPr>
                <p:cNvPr id="30" name="Text Box 24"/>
                <p:cNvSpPr txBox="1">
                  <a:spLocks noChangeArrowheads="1"/>
                </p:cNvSpPr>
                <p:nvPr/>
              </p:nvSpPr>
              <p:spPr bwMode="auto">
                <a:xfrm rot="969096">
                  <a:off x="2580" y="2454"/>
                  <a:ext cx="404"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en-US" altLang="zh-CN" sz="1800">
                      <a:solidFill>
                        <a:schemeClr val="tx1"/>
                      </a:solidFill>
                      <a:ea typeface="宋体" panose="02010600030101010101" pitchFamily="2" charset="-122"/>
                    </a:rPr>
                    <a:t>……</a:t>
                  </a:r>
                  <a:endParaRPr lang="en-US" altLang="zh-CN" sz="1800">
                    <a:solidFill>
                      <a:schemeClr val="tx1"/>
                    </a:solidFill>
                    <a:ea typeface="宋体" panose="02010600030101010101" pitchFamily="2" charset="-122"/>
                  </a:endParaRPr>
                </a:p>
              </p:txBody>
            </p:sp>
          </p:grpSp>
          <p:sp>
            <p:nvSpPr>
              <p:cNvPr id="15" name="Text Box 25"/>
              <p:cNvSpPr txBox="1">
                <a:spLocks noChangeArrowheads="1"/>
              </p:cNvSpPr>
              <p:nvPr/>
            </p:nvSpPr>
            <p:spPr bwMode="auto">
              <a:xfrm>
                <a:off x="2171" y="3736"/>
                <a:ext cx="1998"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zh-CN" altLang="en-US" sz="1800">
                    <a:solidFill>
                      <a:schemeClr val="tx1"/>
                    </a:solidFill>
                    <a:ea typeface="宋体" panose="02010600030101010101" pitchFamily="2" charset="-122"/>
                  </a:rPr>
                  <a:t>分时操作系统工作方式示意图</a:t>
                </a:r>
                <a:endParaRPr lang="zh-CN" altLang="en-US" sz="1800">
                  <a:solidFill>
                    <a:schemeClr val="tx1"/>
                  </a:solidFill>
                  <a:ea typeface="宋体" panose="02010600030101010101" pitchFamily="2" charset="-122"/>
                </a:endParaRPr>
              </a:p>
            </p:txBody>
          </p:sp>
        </p:grpSp>
        <p:sp>
          <p:nvSpPr>
            <p:cNvPr id="7" name="Text Box 26"/>
            <p:cNvSpPr txBox="1">
              <a:spLocks noChangeArrowheads="1"/>
            </p:cNvSpPr>
            <p:nvPr/>
          </p:nvSpPr>
          <p:spPr bwMode="auto">
            <a:xfrm>
              <a:off x="1056" y="672"/>
              <a:ext cx="1776"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lnSpc>
                  <a:spcPct val="100000"/>
                </a:lnSpc>
                <a:spcBef>
                  <a:spcPct val="50000"/>
                </a:spcBef>
                <a:buClrTx/>
                <a:buSzTx/>
                <a:buFontTx/>
                <a:buNone/>
              </a:pPr>
              <a:r>
                <a:rPr lang="zh-CN" altLang="en-US" sz="1800">
                  <a:solidFill>
                    <a:schemeClr val="tx1"/>
                  </a:solidFill>
                  <a:ea typeface="宋体" panose="02010600030101010101" pitchFamily="2" charset="-122"/>
                </a:rPr>
                <a:t>工作方式</a:t>
              </a:r>
              <a:endParaRPr lang="zh-CN" altLang="en-US" sz="1800">
                <a:solidFill>
                  <a:schemeClr val="tx1"/>
                </a:solidFill>
                <a:ea typeface="宋体" panose="02010600030101010101" pitchFamily="2" charset="-122"/>
              </a:endParaRPr>
            </a:p>
          </p:txBody>
        </p:sp>
        <p:sp>
          <p:nvSpPr>
            <p:cNvPr id="8" name="Text Box 27"/>
            <p:cNvSpPr txBox="1">
              <a:spLocks noChangeArrowheads="1"/>
            </p:cNvSpPr>
            <p:nvPr/>
          </p:nvSpPr>
          <p:spPr bwMode="auto">
            <a:xfrm>
              <a:off x="2880" y="1968"/>
              <a:ext cx="28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zh-CN" altLang="en-US" sz="1800">
                  <a:solidFill>
                    <a:schemeClr val="tx1"/>
                  </a:solidFill>
                  <a:ea typeface="宋体" panose="02010600030101010101" pitchFamily="2" charset="-122"/>
                </a:rPr>
                <a:t>主机</a:t>
              </a:r>
              <a:endParaRPr lang="zh-CN" altLang="en-US" sz="1800">
                <a:solidFill>
                  <a:schemeClr val="tx1"/>
                </a:solidFill>
                <a:ea typeface="宋体" panose="02010600030101010101" pitchFamily="2" charset="-122"/>
              </a:endParaRPr>
            </a:p>
          </p:txBody>
        </p:sp>
        <p:sp>
          <p:nvSpPr>
            <p:cNvPr id="9" name="Text Box 28"/>
            <p:cNvSpPr txBox="1">
              <a:spLocks noChangeArrowheads="1"/>
            </p:cNvSpPr>
            <p:nvPr/>
          </p:nvSpPr>
          <p:spPr bwMode="auto">
            <a:xfrm>
              <a:off x="5136" y="1545"/>
              <a:ext cx="912"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zh-CN" altLang="en-US" sz="1800">
                  <a:solidFill>
                    <a:schemeClr val="tx1"/>
                  </a:solidFill>
                  <a:ea typeface="宋体" panose="02010600030101010101" pitchFamily="2" charset="-122"/>
                </a:rPr>
                <a:t>终端</a:t>
              </a:r>
              <a:endParaRPr lang="zh-CN" altLang="en-US" sz="1800">
                <a:solidFill>
                  <a:schemeClr val="tx1"/>
                </a:solidFill>
                <a:ea typeface="宋体" panose="02010600030101010101" pitchFamily="2" charset="-122"/>
              </a:endParaRPr>
            </a:p>
          </p:txBody>
        </p:sp>
        <p:sp>
          <p:nvSpPr>
            <p:cNvPr id="10" name="Text Box 29"/>
            <p:cNvSpPr txBox="1">
              <a:spLocks noChangeArrowheads="1"/>
            </p:cNvSpPr>
            <p:nvPr/>
          </p:nvSpPr>
          <p:spPr bwMode="auto">
            <a:xfrm>
              <a:off x="4608" y="3216"/>
              <a:ext cx="912"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zh-CN" altLang="en-US" sz="1800">
                  <a:solidFill>
                    <a:schemeClr val="tx1"/>
                  </a:solidFill>
                  <a:ea typeface="宋体" panose="02010600030101010101" pitchFamily="2" charset="-122"/>
                </a:rPr>
                <a:t>终端</a:t>
              </a:r>
              <a:endParaRPr lang="zh-CN" altLang="en-US" sz="1800">
                <a:solidFill>
                  <a:schemeClr val="tx1"/>
                </a:solidFill>
                <a:ea typeface="宋体" panose="02010600030101010101" pitchFamily="2" charset="-122"/>
              </a:endParaRPr>
            </a:p>
          </p:txBody>
        </p:sp>
        <p:sp>
          <p:nvSpPr>
            <p:cNvPr id="11" name="Text Box 30"/>
            <p:cNvSpPr txBox="1">
              <a:spLocks noChangeArrowheads="1"/>
            </p:cNvSpPr>
            <p:nvPr/>
          </p:nvSpPr>
          <p:spPr bwMode="auto">
            <a:xfrm>
              <a:off x="3120" y="3321"/>
              <a:ext cx="912"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zh-CN" altLang="en-US" sz="1800">
                  <a:solidFill>
                    <a:schemeClr val="tx1"/>
                  </a:solidFill>
                  <a:ea typeface="宋体" panose="02010600030101010101" pitchFamily="2" charset="-122"/>
                </a:rPr>
                <a:t>终端</a:t>
              </a:r>
              <a:endParaRPr lang="zh-CN" altLang="en-US" sz="1800">
                <a:solidFill>
                  <a:schemeClr val="tx1"/>
                </a:solidFill>
                <a:ea typeface="宋体" panose="02010600030101010101" pitchFamily="2" charset="-122"/>
              </a:endParaRPr>
            </a:p>
          </p:txBody>
        </p:sp>
        <p:sp>
          <p:nvSpPr>
            <p:cNvPr id="12" name="Text Box 31"/>
            <p:cNvSpPr txBox="1">
              <a:spLocks noChangeArrowheads="1"/>
            </p:cNvSpPr>
            <p:nvPr/>
          </p:nvSpPr>
          <p:spPr bwMode="auto">
            <a:xfrm>
              <a:off x="1776" y="2928"/>
              <a:ext cx="912"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zh-CN" altLang="en-US" sz="1800">
                  <a:solidFill>
                    <a:schemeClr val="tx1"/>
                  </a:solidFill>
                  <a:ea typeface="宋体" panose="02010600030101010101" pitchFamily="2" charset="-122"/>
                </a:rPr>
                <a:t>终端</a:t>
              </a:r>
              <a:endParaRPr lang="zh-CN" altLang="en-US" sz="1800">
                <a:solidFill>
                  <a:schemeClr val="tx1"/>
                </a:solidFill>
                <a:ea typeface="宋体" panose="02010600030101010101" pitchFamily="2" charset="-122"/>
              </a:endParaRPr>
            </a:p>
          </p:txBody>
        </p:sp>
        <p:sp>
          <p:nvSpPr>
            <p:cNvPr id="13" name="Text Box 32"/>
            <p:cNvSpPr txBox="1">
              <a:spLocks noChangeArrowheads="1"/>
            </p:cNvSpPr>
            <p:nvPr/>
          </p:nvSpPr>
          <p:spPr bwMode="auto">
            <a:xfrm>
              <a:off x="1824" y="1441"/>
              <a:ext cx="912"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ctr" eaLnBrk="1" hangingPunct="1">
                <a:lnSpc>
                  <a:spcPct val="100000"/>
                </a:lnSpc>
                <a:spcBef>
                  <a:spcPct val="50000"/>
                </a:spcBef>
                <a:buClrTx/>
                <a:buSzTx/>
                <a:buFontTx/>
                <a:buNone/>
              </a:pPr>
              <a:r>
                <a:rPr lang="zh-CN" altLang="en-US" sz="1800">
                  <a:solidFill>
                    <a:schemeClr val="tx1"/>
                  </a:solidFill>
                  <a:ea typeface="宋体" panose="02010600030101010101" pitchFamily="2" charset="-122"/>
                </a:rPr>
                <a:t>终端</a:t>
              </a:r>
              <a:endParaRPr lang="zh-CN" altLang="en-US" sz="1800">
                <a:solidFill>
                  <a:schemeClr val="tx1"/>
                </a:solidFill>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ox(out)">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0-#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分时系统</a:t>
            </a:r>
            <a:endParaRPr lang="zh-CN" altLang="en-US" sz="2800" b="1" dirty="0">
              <a:solidFill>
                <a:schemeClr val="bg1"/>
              </a:solidFill>
            </a:endParaRPr>
          </a:p>
        </p:txBody>
      </p:sp>
      <p:sp>
        <p:nvSpPr>
          <p:cNvPr id="5" name="矩形: 圆角 4"/>
          <p:cNvSpPr/>
          <p:nvPr/>
        </p:nvSpPr>
        <p:spPr>
          <a:xfrm>
            <a:off x="881726" y="1331757"/>
            <a:ext cx="2742976"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400" dirty="0">
                <a:solidFill>
                  <a:schemeClr val="bg1"/>
                </a:solidFill>
              </a:rPr>
              <a:t>1.</a:t>
            </a:r>
            <a:r>
              <a:rPr lang="zh-CN" altLang="en-US" sz="2400" dirty="0">
                <a:solidFill>
                  <a:schemeClr val="bg1"/>
                </a:solidFill>
              </a:rPr>
              <a:t>分时系统的引入</a:t>
            </a:r>
            <a:endParaRPr lang="zh-CN" altLang="en-US" sz="2400" dirty="0">
              <a:solidFill>
                <a:schemeClr val="bg1"/>
              </a:solidFill>
            </a:endParaRPr>
          </a:p>
        </p:txBody>
      </p:sp>
      <p:sp>
        <p:nvSpPr>
          <p:cNvPr id="6" name="内容占位符 2"/>
          <p:cNvSpPr txBox="1"/>
          <p:nvPr/>
        </p:nvSpPr>
        <p:spPr>
          <a:xfrm>
            <a:off x="881725" y="2054341"/>
            <a:ext cx="5161266" cy="36573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用户需要表现在以下几个方面</a:t>
            </a:r>
            <a:endParaRPr lang="zh-CN" altLang="en-US" sz="2400" dirty="0"/>
          </a:p>
          <a:p>
            <a:pPr marL="799465" lvl="3" indent="-457200">
              <a:lnSpc>
                <a:spcPct val="132000"/>
              </a:lnSpc>
              <a:spcBef>
                <a:spcPts val="370"/>
              </a:spcBef>
              <a:buClr>
                <a:srgbClr val="E71101"/>
              </a:buClr>
              <a:buSzPct val="60000"/>
              <a:buFont typeface="Wingdings" panose="05000000000000000000" pitchFamily="2" charset="2"/>
              <a:buChar char="Ø"/>
              <a:defRPr/>
            </a:pPr>
            <a:r>
              <a:rPr lang="zh-CN" altLang="en-US" sz="2200" dirty="0"/>
              <a:t>人机交互（批处理系统做不到）</a:t>
            </a:r>
            <a:endParaRPr lang="zh-CN" altLang="en-US" sz="2200" dirty="0"/>
          </a:p>
          <a:p>
            <a:pPr marL="799465" lvl="3" indent="-457200">
              <a:lnSpc>
                <a:spcPct val="132000"/>
              </a:lnSpc>
              <a:spcBef>
                <a:spcPts val="370"/>
              </a:spcBef>
              <a:buClr>
                <a:srgbClr val="E71101"/>
              </a:buClr>
              <a:buSzPct val="60000"/>
              <a:buFont typeface="Wingdings" panose="05000000000000000000" pitchFamily="2" charset="2"/>
              <a:buChar char="Ø"/>
              <a:defRPr/>
            </a:pPr>
            <a:r>
              <a:rPr lang="zh-CN" altLang="en-US" sz="2200" dirty="0"/>
              <a:t>共享主机（感觉独占）</a:t>
            </a:r>
            <a:endParaRPr lang="zh-CN" altLang="en-US" sz="2200" dirty="0"/>
          </a:p>
          <a:p>
            <a:pPr marL="0"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定义</a:t>
            </a:r>
            <a:endParaRPr lang="zh-CN" altLang="en-US" sz="2400" dirty="0">
              <a:solidFill>
                <a:srgbClr val="FF0000"/>
              </a:solidFill>
            </a:endParaRPr>
          </a:p>
          <a:p>
            <a:pPr marL="799465" lvl="3" indent="-457200">
              <a:lnSpc>
                <a:spcPct val="132000"/>
              </a:lnSpc>
              <a:spcBef>
                <a:spcPts val="370"/>
              </a:spcBef>
              <a:buClr>
                <a:srgbClr val="E71101"/>
              </a:buClr>
              <a:buSzPct val="60000"/>
              <a:buFont typeface="Wingdings" panose="05000000000000000000" pitchFamily="2" charset="2"/>
              <a:buChar char="Ø"/>
              <a:defRPr/>
            </a:pPr>
            <a:r>
              <a:rPr lang="zh-CN" altLang="en-US" sz="2200" dirty="0"/>
              <a:t>分时系统：在一台</a:t>
            </a:r>
            <a:r>
              <a:rPr lang="zh-CN" altLang="en-US" sz="2200" u="sng" dirty="0"/>
              <a:t>主机</a:t>
            </a:r>
            <a:r>
              <a:rPr lang="zh-CN" altLang="en-US" sz="2200" dirty="0"/>
              <a:t>上连接了多个带有显示器和键盘的终端，同时允许多个用户共享主机中的资源，每个用户都可通过自己的终端以交互方式使用计算机</a:t>
            </a:r>
            <a:endParaRPr lang="en-US" altLang="zh-CN" sz="2200" dirty="0"/>
          </a:p>
        </p:txBody>
      </p:sp>
      <p:sp>
        <p:nvSpPr>
          <p:cNvPr id="7" name="矩形: 圆角 4"/>
          <p:cNvSpPr/>
          <p:nvPr/>
        </p:nvSpPr>
        <p:spPr>
          <a:xfrm>
            <a:off x="6723321" y="1331757"/>
            <a:ext cx="4244439"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400" dirty="0">
                <a:solidFill>
                  <a:schemeClr val="bg1"/>
                </a:solidFill>
              </a:rPr>
              <a:t>2.</a:t>
            </a:r>
            <a:r>
              <a:rPr lang="zh-CN" altLang="en-US" sz="2400" dirty="0">
                <a:solidFill>
                  <a:schemeClr val="bg1"/>
                </a:solidFill>
              </a:rPr>
              <a:t>分时系统实现中的</a:t>
            </a:r>
            <a:r>
              <a:rPr lang="zh-CN" altLang="en-US" sz="2400" dirty="0">
                <a:solidFill>
                  <a:srgbClr val="FF0000"/>
                </a:solidFill>
              </a:rPr>
              <a:t>关键问题</a:t>
            </a:r>
            <a:endParaRPr lang="zh-CN" altLang="en-US" sz="2400" dirty="0">
              <a:solidFill>
                <a:srgbClr val="FF0000"/>
              </a:solidFill>
            </a:endParaRPr>
          </a:p>
        </p:txBody>
      </p:sp>
      <p:sp>
        <p:nvSpPr>
          <p:cNvPr id="8" name="内容占位符 2"/>
          <p:cNvSpPr txBox="1"/>
          <p:nvPr/>
        </p:nvSpPr>
        <p:spPr>
          <a:xfrm>
            <a:off x="6723321" y="2054341"/>
            <a:ext cx="4978348" cy="29812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Font typeface="Wingdings" panose="05000000000000000000" pitchFamily="2" charset="2"/>
              <a:buNone/>
              <a:defRPr/>
            </a:pPr>
            <a:r>
              <a:rPr lang="zh-CN" altLang="en-US" sz="2400" u="sng" dirty="0"/>
              <a:t>最关键的问题是如何使用户能与自己的作业进行交互</a:t>
            </a:r>
            <a:endParaRPr lang="zh-CN" altLang="en-US" sz="2400" u="sng"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及时接收（多路卡、命令缓冲区）</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及时处理</a:t>
            </a:r>
            <a:endParaRPr lang="en-US" altLang="zh-CN" sz="2400" dirty="0"/>
          </a:p>
          <a:p>
            <a:pPr marL="685165" lvl="2" indent="-342900">
              <a:lnSpc>
                <a:spcPct val="132000"/>
              </a:lnSpc>
              <a:spcBef>
                <a:spcPts val="370"/>
              </a:spcBef>
              <a:buClr>
                <a:srgbClr val="E71101"/>
              </a:buClr>
              <a:buSzPct val="60000"/>
              <a:buFont typeface="Wingdings" panose="05000000000000000000" pitchFamily="2" charset="2"/>
              <a:buChar char="Ø"/>
              <a:defRPr/>
            </a:pPr>
            <a:r>
              <a:rPr lang="zh-CN" altLang="en-US" sz="2200" dirty="0"/>
              <a:t>作业直接进入内存</a:t>
            </a:r>
            <a:endParaRPr lang="en-US" altLang="zh-CN" sz="2200" dirty="0"/>
          </a:p>
          <a:p>
            <a:pPr marL="685165" lvl="2" indent="-342900">
              <a:lnSpc>
                <a:spcPct val="132000"/>
              </a:lnSpc>
              <a:spcBef>
                <a:spcPts val="370"/>
              </a:spcBef>
              <a:buClr>
                <a:srgbClr val="E71101"/>
              </a:buClr>
              <a:buSzPct val="60000"/>
              <a:buFont typeface="Wingdings" panose="05000000000000000000" pitchFamily="2" charset="2"/>
              <a:buChar char="Ø"/>
              <a:defRPr/>
            </a:pPr>
            <a:r>
              <a:rPr lang="zh-CN" altLang="en-US" sz="2200" dirty="0"/>
              <a:t>采用轮转运行方式</a:t>
            </a:r>
            <a:endParaRPr lang="zh-CN" altLang="en-US" sz="2200" dirty="0"/>
          </a:p>
        </p:txBody>
      </p:sp>
      <p:cxnSp>
        <p:nvCxnSpPr>
          <p:cNvPr id="4" name="直接连接符 3"/>
          <p:cNvCxnSpPr/>
          <p:nvPr/>
        </p:nvCxnSpPr>
        <p:spPr>
          <a:xfrm>
            <a:off x="6228522" y="1470991"/>
            <a:ext cx="0" cy="4558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042991" y="5711687"/>
            <a:ext cx="565867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分时系统的特征</a:t>
            </a:r>
            <a:endParaRPr lang="zh-CN" altLang="en-US" sz="2800" b="1" dirty="0">
              <a:solidFill>
                <a:schemeClr val="bg1"/>
              </a:solidFill>
            </a:endParaRPr>
          </a:p>
        </p:txBody>
      </p:sp>
      <p:grpSp>
        <p:nvGrpSpPr>
          <p:cNvPr id="11"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1558125"/>
            <a:ext cx="10845800" cy="4555593"/>
            <a:chOff x="673100" y="1558125"/>
            <a:chExt cx="10845800" cy="4555593"/>
          </a:xfrm>
        </p:grpSpPr>
        <p:sp>
          <p:nvSpPr>
            <p:cNvPr id="12"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3"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5"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6"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7" name="ï$1iḍe"/>
            <p:cNvSpPr txBox="1"/>
            <p:nvPr/>
          </p:nvSpPr>
          <p:spPr>
            <a:xfrm>
              <a:off x="67310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solidFill>
                    <a:srgbClr val="0000FF"/>
                  </a:solidFill>
                </a:rPr>
                <a:t>多路性</a:t>
              </a:r>
              <a:endParaRPr lang="en-US" altLang="zh-CN" sz="2400" dirty="0">
                <a:solidFill>
                  <a:srgbClr val="0000FF"/>
                </a:solidFill>
              </a:endParaRPr>
            </a:p>
          </p:txBody>
        </p:sp>
        <p:sp>
          <p:nvSpPr>
            <p:cNvPr id="18" name="isľîdê"/>
            <p:cNvSpPr txBox="1"/>
            <p:nvPr/>
          </p:nvSpPr>
          <p:spPr>
            <a:xfrm>
              <a:off x="673100" y="4600486"/>
              <a:ext cx="2533740" cy="1461716"/>
            </a:xfrm>
            <a:prstGeom prst="rect">
              <a:avLst/>
            </a:prstGeom>
            <a:noFill/>
            <a:ln>
              <a:noFill/>
            </a:ln>
          </p:spPr>
          <p:txBody>
            <a:bodyPr wrap="square" lIns="91440" tIns="45720" rIns="91440" bIns="45720" anchor="t" anchorCtr="0">
              <a:noAutofit/>
            </a:bodyPr>
            <a:lstStyle/>
            <a:p>
              <a:pPr marL="0" lvl="1" algn="ctr">
                <a:lnSpc>
                  <a:spcPct val="120000"/>
                </a:lnSpc>
              </a:pPr>
              <a:r>
                <a:rPr lang="zh-CN" altLang="en-US" sz="2200" dirty="0"/>
                <a:t>允许将多台终端同时连接到一台主机，并分时使用。</a:t>
              </a:r>
              <a:endParaRPr lang="en-US" altLang="zh-CN" sz="2200" dirty="0"/>
            </a:p>
          </p:txBody>
        </p:sp>
        <p:sp>
          <p:nvSpPr>
            <p:cNvPr id="19" name="íṩ1ïḑe"/>
            <p:cNvSpPr txBox="1"/>
            <p:nvPr/>
          </p:nvSpPr>
          <p:spPr>
            <a:xfrm>
              <a:off x="350294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solidFill>
                    <a:srgbClr val="0000FF"/>
                  </a:solidFill>
                </a:rPr>
                <a:t>独立性</a:t>
              </a:r>
              <a:endParaRPr lang="en-US" altLang="zh-CN" sz="2400" dirty="0">
                <a:solidFill>
                  <a:srgbClr val="0000FF"/>
                </a:solidFill>
              </a:endParaRPr>
            </a:p>
          </p:txBody>
        </p:sp>
        <p:sp>
          <p:nvSpPr>
            <p:cNvPr id="22" name="ïsḻiďê"/>
            <p:cNvSpPr txBox="1"/>
            <p:nvPr/>
          </p:nvSpPr>
          <p:spPr>
            <a:xfrm>
              <a:off x="633278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solidFill>
                    <a:srgbClr val="0000FF"/>
                  </a:solidFill>
                </a:rPr>
                <a:t>及时性</a:t>
              </a:r>
              <a:endParaRPr lang="en-US" altLang="zh-CN" sz="2400" dirty="0">
                <a:solidFill>
                  <a:srgbClr val="0000FF"/>
                </a:solidFill>
              </a:endParaRPr>
            </a:p>
          </p:txBody>
        </p:sp>
        <p:sp>
          <p:nvSpPr>
            <p:cNvPr id="24" name="isḷiḋé"/>
            <p:cNvSpPr txBox="1"/>
            <p:nvPr/>
          </p:nvSpPr>
          <p:spPr>
            <a:xfrm>
              <a:off x="916262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solidFill>
                    <a:srgbClr val="0000FF"/>
                  </a:solidFill>
                </a:rPr>
                <a:t>交互性</a:t>
              </a:r>
              <a:endParaRPr lang="en-US" altLang="zh-CN" sz="2400" dirty="0">
                <a:solidFill>
                  <a:srgbClr val="0000FF"/>
                </a:solidFill>
              </a:endParaRPr>
            </a:p>
          </p:txBody>
        </p:sp>
        <p:sp>
          <p:nvSpPr>
            <p:cNvPr id="26"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7"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8"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9"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0" name="ísḻiḋé"/>
            <p:cNvSpPr/>
            <p:nvPr/>
          </p:nvSpPr>
          <p:spPr bwMode="auto">
            <a:xfrm>
              <a:off x="1787050" y="1558125"/>
              <a:ext cx="347228" cy="347229"/>
            </a:xfrm>
            <a:custGeom>
              <a:avLst/>
              <a:gdLst>
                <a:gd name="connsiteX0" fmla="*/ 299602 w 347228"/>
                <a:gd name="connsiteY0" fmla="*/ 281654 h 347229"/>
                <a:gd name="connsiteX1" fmla="*/ 281438 w 347228"/>
                <a:gd name="connsiteY1" fmla="*/ 299759 h 347229"/>
                <a:gd name="connsiteX2" fmla="*/ 299602 w 347228"/>
                <a:gd name="connsiteY2" fmla="*/ 317857 h 347229"/>
                <a:gd name="connsiteX3" fmla="*/ 317759 w 347228"/>
                <a:gd name="connsiteY3" fmla="*/ 299759 h 347229"/>
                <a:gd name="connsiteX4" fmla="*/ 299602 w 347228"/>
                <a:gd name="connsiteY4" fmla="*/ 281654 h 347229"/>
                <a:gd name="connsiteX5" fmla="*/ 245668 w 347228"/>
                <a:gd name="connsiteY5" fmla="*/ 201851 h 347229"/>
                <a:gd name="connsiteX6" fmla="*/ 303772 w 347228"/>
                <a:gd name="connsiteY6" fmla="*/ 259773 h 347229"/>
                <a:gd name="connsiteX7" fmla="*/ 342465 w 347228"/>
                <a:gd name="connsiteY7" fmla="*/ 288486 h 347229"/>
                <a:gd name="connsiteX8" fmla="*/ 346621 w 347228"/>
                <a:gd name="connsiteY8" fmla="*/ 304221 h 347229"/>
                <a:gd name="connsiteX9" fmla="*/ 303724 w 347228"/>
                <a:gd name="connsiteY9" fmla="*/ 347229 h 347229"/>
                <a:gd name="connsiteX10" fmla="*/ 288283 w 347228"/>
                <a:gd name="connsiteY10" fmla="*/ 343070 h 347229"/>
                <a:gd name="connsiteX11" fmla="*/ 259200 w 347228"/>
                <a:gd name="connsiteY11" fmla="*/ 304221 h 347229"/>
                <a:gd name="connsiteX12" fmla="*/ 197725 w 347228"/>
                <a:gd name="connsiteY12" fmla="*/ 242934 h 347229"/>
                <a:gd name="connsiteX13" fmla="*/ 216386 w 347228"/>
                <a:gd name="connsiteY13" fmla="*/ 231034 h 347229"/>
                <a:gd name="connsiteX14" fmla="*/ 225436 w 347228"/>
                <a:gd name="connsiteY14" fmla="*/ 222009 h 347229"/>
                <a:gd name="connsiteX15" fmla="*/ 235191 w 347228"/>
                <a:gd name="connsiteY15" fmla="*/ 212283 h 347229"/>
                <a:gd name="connsiteX16" fmla="*/ 230641 w 347228"/>
                <a:gd name="connsiteY16" fmla="*/ 203096 h 347229"/>
                <a:gd name="connsiteX17" fmla="*/ 239885 w 347228"/>
                <a:gd name="connsiteY17" fmla="*/ 207619 h 347229"/>
                <a:gd name="connsiteX18" fmla="*/ 290492 w 347228"/>
                <a:gd name="connsiteY18" fmla="*/ 4 h 347229"/>
                <a:gd name="connsiteX19" fmla="*/ 313626 w 347228"/>
                <a:gd name="connsiteY19" fmla="*/ 9551 h 347229"/>
                <a:gd name="connsiteX20" fmla="*/ 337653 w 347228"/>
                <a:gd name="connsiteY20" fmla="*/ 33507 h 347229"/>
                <a:gd name="connsiteX21" fmla="*/ 337653 w 347228"/>
                <a:gd name="connsiteY21" fmla="*/ 79611 h 347229"/>
                <a:gd name="connsiteX22" fmla="*/ 234782 w 347228"/>
                <a:gd name="connsiteY22" fmla="*/ 182151 h 347229"/>
                <a:gd name="connsiteX23" fmla="*/ 228552 w 347228"/>
                <a:gd name="connsiteY23" fmla="*/ 180823 h 347229"/>
                <a:gd name="connsiteX24" fmla="*/ 214762 w 347228"/>
                <a:gd name="connsiteY24" fmla="*/ 186324 h 347229"/>
                <a:gd name="connsiteX25" fmla="*/ 210560 w 347228"/>
                <a:gd name="connsiteY25" fmla="*/ 206282 h 347229"/>
                <a:gd name="connsiteX26" fmla="*/ 201508 w 347228"/>
                <a:gd name="connsiteY26" fmla="*/ 215318 h 347229"/>
                <a:gd name="connsiteX27" fmla="*/ 178357 w 347228"/>
                <a:gd name="connsiteY27" fmla="*/ 224881 h 347229"/>
                <a:gd name="connsiteX28" fmla="*/ 155239 w 347228"/>
                <a:gd name="connsiteY28" fmla="*/ 215334 h 347229"/>
                <a:gd name="connsiteX29" fmla="*/ 152854 w 347228"/>
                <a:gd name="connsiteY29" fmla="*/ 212967 h 347229"/>
                <a:gd name="connsiteX30" fmla="*/ 72679 w 347228"/>
                <a:gd name="connsiteY30" fmla="*/ 292894 h 347229"/>
                <a:gd name="connsiteX31" fmla="*/ 64568 w 347228"/>
                <a:gd name="connsiteY31" fmla="*/ 314419 h 347229"/>
                <a:gd name="connsiteX32" fmla="*/ 20052 w 347228"/>
                <a:gd name="connsiteY32" fmla="*/ 345427 h 347229"/>
                <a:gd name="connsiteX33" fmla="*/ 0 w 347228"/>
                <a:gd name="connsiteY33" fmla="*/ 325501 h 347229"/>
                <a:gd name="connsiteX34" fmla="*/ 31229 w 347228"/>
                <a:gd name="connsiteY34" fmla="*/ 281076 h 347229"/>
                <a:gd name="connsiteX35" fmla="*/ 52644 w 347228"/>
                <a:gd name="connsiteY35" fmla="*/ 273000 h 347229"/>
                <a:gd name="connsiteX36" fmla="*/ 132867 w 347228"/>
                <a:gd name="connsiteY36" fmla="*/ 193041 h 347229"/>
                <a:gd name="connsiteX37" fmla="*/ 131196 w 347228"/>
                <a:gd name="connsiteY37" fmla="*/ 191362 h 347229"/>
                <a:gd name="connsiteX38" fmla="*/ 131196 w 347228"/>
                <a:gd name="connsiteY38" fmla="*/ 145257 h 347229"/>
                <a:gd name="connsiteX39" fmla="*/ 140216 w 347228"/>
                <a:gd name="connsiteY39" fmla="*/ 136286 h 347229"/>
                <a:gd name="connsiteX40" fmla="*/ 146641 w 347228"/>
                <a:gd name="connsiteY40" fmla="*/ 137725 h 347229"/>
                <a:gd name="connsiteX41" fmla="*/ 160463 w 347228"/>
                <a:gd name="connsiteY41" fmla="*/ 132208 h 347229"/>
                <a:gd name="connsiteX42" fmla="*/ 164535 w 347228"/>
                <a:gd name="connsiteY42" fmla="*/ 112026 h 347229"/>
                <a:gd name="connsiteX43" fmla="*/ 267358 w 347228"/>
                <a:gd name="connsiteY43" fmla="*/ 9567 h 347229"/>
                <a:gd name="connsiteX44" fmla="*/ 290492 w 347228"/>
                <a:gd name="connsiteY44" fmla="*/ 4 h 347229"/>
                <a:gd name="connsiteX45" fmla="*/ 74475 w 347228"/>
                <a:gd name="connsiteY45" fmla="*/ 4 h 347229"/>
                <a:gd name="connsiteX46" fmla="*/ 154925 w 347228"/>
                <a:gd name="connsiteY46" fmla="*/ 80174 h 347229"/>
                <a:gd name="connsiteX47" fmla="*/ 151417 w 347228"/>
                <a:gd name="connsiteY47" fmla="*/ 96830 h 347229"/>
                <a:gd name="connsiteX48" fmla="*/ 150427 w 347228"/>
                <a:gd name="connsiteY48" fmla="*/ 97813 h 347229"/>
                <a:gd name="connsiteX49" fmla="*/ 140464 w 347228"/>
                <a:gd name="connsiteY49" fmla="*/ 107751 h 347229"/>
                <a:gd name="connsiteX50" fmla="*/ 145155 w 347228"/>
                <a:gd name="connsiteY50" fmla="*/ 116764 h 347229"/>
                <a:gd name="connsiteX51" fmla="*/ 136125 w 347228"/>
                <a:gd name="connsiteY51" fmla="*/ 112074 h 347229"/>
                <a:gd name="connsiteX52" fmla="*/ 126155 w 347228"/>
                <a:gd name="connsiteY52" fmla="*/ 122012 h 347229"/>
                <a:gd name="connsiteX53" fmla="*/ 117153 w 347228"/>
                <a:gd name="connsiteY53" fmla="*/ 130982 h 347229"/>
                <a:gd name="connsiteX54" fmla="*/ 105225 w 347228"/>
                <a:gd name="connsiteY54" fmla="*/ 149582 h 347229"/>
                <a:gd name="connsiteX55" fmla="*/ 103725 w 347228"/>
                <a:gd name="connsiteY55" fmla="*/ 148090 h 347229"/>
                <a:gd name="connsiteX56" fmla="*/ 80464 w 347228"/>
                <a:gd name="connsiteY56" fmla="*/ 154393 h 347229"/>
                <a:gd name="connsiteX57" fmla="*/ 0 w 347228"/>
                <a:gd name="connsiteY57" fmla="*/ 74216 h 347229"/>
                <a:gd name="connsiteX58" fmla="*/ 7259 w 347228"/>
                <a:gd name="connsiteY58" fmla="*/ 66895 h 347229"/>
                <a:gd name="connsiteX59" fmla="*/ 55072 w 347228"/>
                <a:gd name="connsiteY59" fmla="*/ 97031 h 347229"/>
                <a:gd name="connsiteX60" fmla="*/ 97370 w 347228"/>
                <a:gd name="connsiteY60" fmla="*/ 54878 h 347229"/>
                <a:gd name="connsiteX61" fmla="*/ 67137 w 347228"/>
                <a:gd name="connsiteY61" fmla="*/ 7224 h 347229"/>
                <a:gd name="connsiteX62" fmla="*/ 74475 w 347228"/>
                <a:gd name="connsiteY62" fmla="*/ 4 h 34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47228" h="347229">
                  <a:moveTo>
                    <a:pt x="299602" y="281654"/>
                  </a:moveTo>
                  <a:cubicBezTo>
                    <a:pt x="289572" y="281654"/>
                    <a:pt x="281438" y="289758"/>
                    <a:pt x="281438" y="299759"/>
                  </a:cubicBezTo>
                  <a:cubicBezTo>
                    <a:pt x="281438" y="309754"/>
                    <a:pt x="289572" y="317857"/>
                    <a:pt x="299602" y="317857"/>
                  </a:cubicBezTo>
                  <a:cubicBezTo>
                    <a:pt x="309632" y="317857"/>
                    <a:pt x="317759" y="309754"/>
                    <a:pt x="317759" y="299759"/>
                  </a:cubicBezTo>
                  <a:cubicBezTo>
                    <a:pt x="317759" y="289758"/>
                    <a:pt x="309632" y="281654"/>
                    <a:pt x="299602" y="281654"/>
                  </a:cubicBezTo>
                  <a:close/>
                  <a:moveTo>
                    <a:pt x="245668" y="201851"/>
                  </a:moveTo>
                  <a:lnTo>
                    <a:pt x="303772" y="259773"/>
                  </a:lnTo>
                  <a:lnTo>
                    <a:pt x="342465" y="288486"/>
                  </a:lnTo>
                  <a:lnTo>
                    <a:pt x="346621" y="304221"/>
                  </a:lnTo>
                  <a:lnTo>
                    <a:pt x="303724" y="347229"/>
                  </a:lnTo>
                  <a:lnTo>
                    <a:pt x="288283" y="343070"/>
                  </a:lnTo>
                  <a:lnTo>
                    <a:pt x="259200" y="304221"/>
                  </a:lnTo>
                  <a:lnTo>
                    <a:pt x="197725" y="242934"/>
                  </a:lnTo>
                  <a:cubicBezTo>
                    <a:pt x="204646" y="240376"/>
                    <a:pt x="211016" y="236392"/>
                    <a:pt x="216386" y="231034"/>
                  </a:cubicBezTo>
                  <a:lnTo>
                    <a:pt x="225436" y="222009"/>
                  </a:lnTo>
                  <a:lnTo>
                    <a:pt x="235191" y="212283"/>
                  </a:lnTo>
                  <a:lnTo>
                    <a:pt x="230641" y="203096"/>
                  </a:lnTo>
                  <a:lnTo>
                    <a:pt x="239885" y="207619"/>
                  </a:lnTo>
                  <a:close/>
                  <a:moveTo>
                    <a:pt x="290492" y="4"/>
                  </a:moveTo>
                  <a:cubicBezTo>
                    <a:pt x="298863" y="4"/>
                    <a:pt x="307234" y="3186"/>
                    <a:pt x="313626" y="9551"/>
                  </a:cubicBezTo>
                  <a:lnTo>
                    <a:pt x="337653" y="33507"/>
                  </a:lnTo>
                  <a:cubicBezTo>
                    <a:pt x="350420" y="46236"/>
                    <a:pt x="350420" y="66882"/>
                    <a:pt x="337653" y="79611"/>
                  </a:cubicBezTo>
                  <a:lnTo>
                    <a:pt x="234782" y="182151"/>
                  </a:lnTo>
                  <a:cubicBezTo>
                    <a:pt x="232916" y="181239"/>
                    <a:pt x="230758" y="180823"/>
                    <a:pt x="228552" y="180823"/>
                  </a:cubicBezTo>
                  <a:cubicBezTo>
                    <a:pt x="223523" y="180823"/>
                    <a:pt x="218120" y="182966"/>
                    <a:pt x="214762" y="186324"/>
                  </a:cubicBezTo>
                  <a:cubicBezTo>
                    <a:pt x="209879" y="191186"/>
                    <a:pt x="207575" y="200237"/>
                    <a:pt x="210560" y="206282"/>
                  </a:cubicBezTo>
                  <a:lnTo>
                    <a:pt x="201508" y="215318"/>
                  </a:lnTo>
                  <a:cubicBezTo>
                    <a:pt x="195116" y="221699"/>
                    <a:pt x="186728" y="224881"/>
                    <a:pt x="178357" y="224881"/>
                  </a:cubicBezTo>
                  <a:cubicBezTo>
                    <a:pt x="169986" y="224881"/>
                    <a:pt x="161615" y="221699"/>
                    <a:pt x="155239" y="215334"/>
                  </a:cubicBezTo>
                  <a:lnTo>
                    <a:pt x="152854" y="212967"/>
                  </a:lnTo>
                  <a:lnTo>
                    <a:pt x="72679" y="292894"/>
                  </a:lnTo>
                  <a:lnTo>
                    <a:pt x="64568" y="314419"/>
                  </a:lnTo>
                  <a:lnTo>
                    <a:pt x="20052" y="345427"/>
                  </a:lnTo>
                  <a:lnTo>
                    <a:pt x="0" y="325501"/>
                  </a:lnTo>
                  <a:lnTo>
                    <a:pt x="31229" y="281076"/>
                  </a:lnTo>
                  <a:lnTo>
                    <a:pt x="52644" y="273000"/>
                  </a:lnTo>
                  <a:lnTo>
                    <a:pt x="132867" y="193041"/>
                  </a:lnTo>
                  <a:lnTo>
                    <a:pt x="131196" y="191362"/>
                  </a:lnTo>
                  <a:cubicBezTo>
                    <a:pt x="118429" y="178632"/>
                    <a:pt x="118429" y="157987"/>
                    <a:pt x="131196" y="145257"/>
                  </a:cubicBezTo>
                  <a:lnTo>
                    <a:pt x="140216" y="136286"/>
                  </a:lnTo>
                  <a:cubicBezTo>
                    <a:pt x="142115" y="137278"/>
                    <a:pt x="144337" y="137725"/>
                    <a:pt x="146641" y="137725"/>
                  </a:cubicBezTo>
                  <a:cubicBezTo>
                    <a:pt x="151670" y="137725"/>
                    <a:pt x="157072" y="135582"/>
                    <a:pt x="160463" y="132208"/>
                  </a:cubicBezTo>
                  <a:cubicBezTo>
                    <a:pt x="165362" y="127299"/>
                    <a:pt x="167698" y="118103"/>
                    <a:pt x="164535" y="112026"/>
                  </a:cubicBezTo>
                  <a:lnTo>
                    <a:pt x="267358" y="9567"/>
                  </a:lnTo>
                  <a:cubicBezTo>
                    <a:pt x="273733" y="3186"/>
                    <a:pt x="282121" y="4"/>
                    <a:pt x="290492" y="4"/>
                  </a:cubicBezTo>
                  <a:close/>
                  <a:moveTo>
                    <a:pt x="74475" y="4"/>
                  </a:moveTo>
                  <a:cubicBezTo>
                    <a:pt x="115589" y="-484"/>
                    <a:pt x="154925" y="39182"/>
                    <a:pt x="154925" y="80174"/>
                  </a:cubicBezTo>
                  <a:cubicBezTo>
                    <a:pt x="154932" y="85473"/>
                    <a:pt x="153634" y="91116"/>
                    <a:pt x="151417" y="96830"/>
                  </a:cubicBezTo>
                  <a:lnTo>
                    <a:pt x="150427" y="97813"/>
                  </a:lnTo>
                  <a:lnTo>
                    <a:pt x="140464" y="107751"/>
                  </a:lnTo>
                  <a:lnTo>
                    <a:pt x="145155" y="116764"/>
                  </a:lnTo>
                  <a:lnTo>
                    <a:pt x="136125" y="112074"/>
                  </a:lnTo>
                  <a:lnTo>
                    <a:pt x="126155" y="122012"/>
                  </a:lnTo>
                  <a:lnTo>
                    <a:pt x="117153" y="130982"/>
                  </a:lnTo>
                  <a:cubicBezTo>
                    <a:pt x="111687" y="136424"/>
                    <a:pt x="107735" y="142799"/>
                    <a:pt x="105225" y="149582"/>
                  </a:cubicBezTo>
                  <a:lnTo>
                    <a:pt x="103725" y="148090"/>
                  </a:lnTo>
                  <a:cubicBezTo>
                    <a:pt x="95864" y="152027"/>
                    <a:pt x="87909" y="154393"/>
                    <a:pt x="80464" y="154393"/>
                  </a:cubicBezTo>
                  <a:cubicBezTo>
                    <a:pt x="39342" y="154393"/>
                    <a:pt x="502" y="115200"/>
                    <a:pt x="0" y="74216"/>
                  </a:cubicBezTo>
                  <a:cubicBezTo>
                    <a:pt x="7" y="74058"/>
                    <a:pt x="4641" y="69505"/>
                    <a:pt x="7259" y="66895"/>
                  </a:cubicBezTo>
                  <a:cubicBezTo>
                    <a:pt x="40920" y="100459"/>
                    <a:pt x="34322" y="97031"/>
                    <a:pt x="55072" y="97031"/>
                  </a:cubicBezTo>
                  <a:cubicBezTo>
                    <a:pt x="71104" y="97031"/>
                    <a:pt x="97370" y="71218"/>
                    <a:pt x="97370" y="54878"/>
                  </a:cubicBezTo>
                  <a:cubicBezTo>
                    <a:pt x="97370" y="34729"/>
                    <a:pt x="100096" y="40064"/>
                    <a:pt x="67137" y="7224"/>
                  </a:cubicBezTo>
                  <a:cubicBezTo>
                    <a:pt x="69669" y="4700"/>
                    <a:pt x="74317" y="4"/>
                    <a:pt x="74475" y="4"/>
                  </a:cubicBezTo>
                  <a:close/>
                </a:path>
              </a:pathLst>
            </a:custGeom>
            <a:solidFill>
              <a:schemeClr val="accent1"/>
            </a:solidFill>
            <a:ln>
              <a:noFill/>
            </a:ln>
          </p:spPr>
          <p:txBody>
            <a:bodyPr wrap="square" lIns="91440" tIns="45720" rIns="91440" bIns="45720" anchor="ctr">
              <a:normAutofit lnSpcReduction="10000"/>
            </a:bodyPr>
            <a:lstStyle/>
            <a:p>
              <a:pPr algn="ctr"/>
            </a:p>
          </p:txBody>
        </p:sp>
        <p:sp>
          <p:nvSpPr>
            <p:cNvPr id="31" name="ïṣḷiḑè"/>
            <p:cNvSpPr/>
            <p:nvPr/>
          </p:nvSpPr>
          <p:spPr bwMode="auto">
            <a:xfrm>
              <a:off x="4540744" y="1558125"/>
              <a:ext cx="347228" cy="347229"/>
            </a:xfrm>
            <a:custGeom>
              <a:avLst/>
              <a:gdLst>
                <a:gd name="connsiteX0" fmla="*/ 299602 w 347228"/>
                <a:gd name="connsiteY0" fmla="*/ 281654 h 347229"/>
                <a:gd name="connsiteX1" fmla="*/ 281438 w 347228"/>
                <a:gd name="connsiteY1" fmla="*/ 299759 h 347229"/>
                <a:gd name="connsiteX2" fmla="*/ 299602 w 347228"/>
                <a:gd name="connsiteY2" fmla="*/ 317857 h 347229"/>
                <a:gd name="connsiteX3" fmla="*/ 317759 w 347228"/>
                <a:gd name="connsiteY3" fmla="*/ 299759 h 347229"/>
                <a:gd name="connsiteX4" fmla="*/ 299602 w 347228"/>
                <a:gd name="connsiteY4" fmla="*/ 281654 h 347229"/>
                <a:gd name="connsiteX5" fmla="*/ 245668 w 347228"/>
                <a:gd name="connsiteY5" fmla="*/ 201851 h 347229"/>
                <a:gd name="connsiteX6" fmla="*/ 303772 w 347228"/>
                <a:gd name="connsiteY6" fmla="*/ 259773 h 347229"/>
                <a:gd name="connsiteX7" fmla="*/ 342465 w 347228"/>
                <a:gd name="connsiteY7" fmla="*/ 288486 h 347229"/>
                <a:gd name="connsiteX8" fmla="*/ 346621 w 347228"/>
                <a:gd name="connsiteY8" fmla="*/ 304221 h 347229"/>
                <a:gd name="connsiteX9" fmla="*/ 303724 w 347228"/>
                <a:gd name="connsiteY9" fmla="*/ 347229 h 347229"/>
                <a:gd name="connsiteX10" fmla="*/ 288283 w 347228"/>
                <a:gd name="connsiteY10" fmla="*/ 343070 h 347229"/>
                <a:gd name="connsiteX11" fmla="*/ 259200 w 347228"/>
                <a:gd name="connsiteY11" fmla="*/ 304221 h 347229"/>
                <a:gd name="connsiteX12" fmla="*/ 197725 w 347228"/>
                <a:gd name="connsiteY12" fmla="*/ 242934 h 347229"/>
                <a:gd name="connsiteX13" fmla="*/ 216386 w 347228"/>
                <a:gd name="connsiteY13" fmla="*/ 231034 h 347229"/>
                <a:gd name="connsiteX14" fmla="*/ 225436 w 347228"/>
                <a:gd name="connsiteY14" fmla="*/ 222009 h 347229"/>
                <a:gd name="connsiteX15" fmla="*/ 235191 w 347228"/>
                <a:gd name="connsiteY15" fmla="*/ 212283 h 347229"/>
                <a:gd name="connsiteX16" fmla="*/ 230641 w 347228"/>
                <a:gd name="connsiteY16" fmla="*/ 203096 h 347229"/>
                <a:gd name="connsiteX17" fmla="*/ 239885 w 347228"/>
                <a:gd name="connsiteY17" fmla="*/ 207619 h 347229"/>
                <a:gd name="connsiteX18" fmla="*/ 290492 w 347228"/>
                <a:gd name="connsiteY18" fmla="*/ 4 h 347229"/>
                <a:gd name="connsiteX19" fmla="*/ 313626 w 347228"/>
                <a:gd name="connsiteY19" fmla="*/ 9551 h 347229"/>
                <a:gd name="connsiteX20" fmla="*/ 337653 w 347228"/>
                <a:gd name="connsiteY20" fmla="*/ 33507 h 347229"/>
                <a:gd name="connsiteX21" fmla="*/ 337653 w 347228"/>
                <a:gd name="connsiteY21" fmla="*/ 79611 h 347229"/>
                <a:gd name="connsiteX22" fmla="*/ 234782 w 347228"/>
                <a:gd name="connsiteY22" fmla="*/ 182151 h 347229"/>
                <a:gd name="connsiteX23" fmla="*/ 228552 w 347228"/>
                <a:gd name="connsiteY23" fmla="*/ 180823 h 347229"/>
                <a:gd name="connsiteX24" fmla="*/ 214762 w 347228"/>
                <a:gd name="connsiteY24" fmla="*/ 186324 h 347229"/>
                <a:gd name="connsiteX25" fmla="*/ 210560 w 347228"/>
                <a:gd name="connsiteY25" fmla="*/ 206282 h 347229"/>
                <a:gd name="connsiteX26" fmla="*/ 201508 w 347228"/>
                <a:gd name="connsiteY26" fmla="*/ 215318 h 347229"/>
                <a:gd name="connsiteX27" fmla="*/ 178357 w 347228"/>
                <a:gd name="connsiteY27" fmla="*/ 224881 h 347229"/>
                <a:gd name="connsiteX28" fmla="*/ 155239 w 347228"/>
                <a:gd name="connsiteY28" fmla="*/ 215334 h 347229"/>
                <a:gd name="connsiteX29" fmla="*/ 152854 w 347228"/>
                <a:gd name="connsiteY29" fmla="*/ 212967 h 347229"/>
                <a:gd name="connsiteX30" fmla="*/ 72679 w 347228"/>
                <a:gd name="connsiteY30" fmla="*/ 292894 h 347229"/>
                <a:gd name="connsiteX31" fmla="*/ 64568 w 347228"/>
                <a:gd name="connsiteY31" fmla="*/ 314419 h 347229"/>
                <a:gd name="connsiteX32" fmla="*/ 20052 w 347228"/>
                <a:gd name="connsiteY32" fmla="*/ 345427 h 347229"/>
                <a:gd name="connsiteX33" fmla="*/ 0 w 347228"/>
                <a:gd name="connsiteY33" fmla="*/ 325501 h 347229"/>
                <a:gd name="connsiteX34" fmla="*/ 31229 w 347228"/>
                <a:gd name="connsiteY34" fmla="*/ 281076 h 347229"/>
                <a:gd name="connsiteX35" fmla="*/ 52644 w 347228"/>
                <a:gd name="connsiteY35" fmla="*/ 273000 h 347229"/>
                <a:gd name="connsiteX36" fmla="*/ 132867 w 347228"/>
                <a:gd name="connsiteY36" fmla="*/ 193041 h 347229"/>
                <a:gd name="connsiteX37" fmla="*/ 131196 w 347228"/>
                <a:gd name="connsiteY37" fmla="*/ 191362 h 347229"/>
                <a:gd name="connsiteX38" fmla="*/ 131196 w 347228"/>
                <a:gd name="connsiteY38" fmla="*/ 145257 h 347229"/>
                <a:gd name="connsiteX39" fmla="*/ 140216 w 347228"/>
                <a:gd name="connsiteY39" fmla="*/ 136286 h 347229"/>
                <a:gd name="connsiteX40" fmla="*/ 146641 w 347228"/>
                <a:gd name="connsiteY40" fmla="*/ 137725 h 347229"/>
                <a:gd name="connsiteX41" fmla="*/ 160463 w 347228"/>
                <a:gd name="connsiteY41" fmla="*/ 132208 h 347229"/>
                <a:gd name="connsiteX42" fmla="*/ 164535 w 347228"/>
                <a:gd name="connsiteY42" fmla="*/ 112026 h 347229"/>
                <a:gd name="connsiteX43" fmla="*/ 267358 w 347228"/>
                <a:gd name="connsiteY43" fmla="*/ 9567 h 347229"/>
                <a:gd name="connsiteX44" fmla="*/ 290492 w 347228"/>
                <a:gd name="connsiteY44" fmla="*/ 4 h 347229"/>
                <a:gd name="connsiteX45" fmla="*/ 74475 w 347228"/>
                <a:gd name="connsiteY45" fmla="*/ 4 h 347229"/>
                <a:gd name="connsiteX46" fmla="*/ 154925 w 347228"/>
                <a:gd name="connsiteY46" fmla="*/ 80174 h 347229"/>
                <a:gd name="connsiteX47" fmla="*/ 151417 w 347228"/>
                <a:gd name="connsiteY47" fmla="*/ 96830 h 347229"/>
                <a:gd name="connsiteX48" fmla="*/ 150427 w 347228"/>
                <a:gd name="connsiteY48" fmla="*/ 97813 h 347229"/>
                <a:gd name="connsiteX49" fmla="*/ 140464 w 347228"/>
                <a:gd name="connsiteY49" fmla="*/ 107751 h 347229"/>
                <a:gd name="connsiteX50" fmla="*/ 145155 w 347228"/>
                <a:gd name="connsiteY50" fmla="*/ 116764 h 347229"/>
                <a:gd name="connsiteX51" fmla="*/ 136125 w 347228"/>
                <a:gd name="connsiteY51" fmla="*/ 112074 h 347229"/>
                <a:gd name="connsiteX52" fmla="*/ 126155 w 347228"/>
                <a:gd name="connsiteY52" fmla="*/ 122012 h 347229"/>
                <a:gd name="connsiteX53" fmla="*/ 117153 w 347228"/>
                <a:gd name="connsiteY53" fmla="*/ 130982 h 347229"/>
                <a:gd name="connsiteX54" fmla="*/ 105225 w 347228"/>
                <a:gd name="connsiteY54" fmla="*/ 149582 h 347229"/>
                <a:gd name="connsiteX55" fmla="*/ 103725 w 347228"/>
                <a:gd name="connsiteY55" fmla="*/ 148090 h 347229"/>
                <a:gd name="connsiteX56" fmla="*/ 80464 w 347228"/>
                <a:gd name="connsiteY56" fmla="*/ 154393 h 347229"/>
                <a:gd name="connsiteX57" fmla="*/ 0 w 347228"/>
                <a:gd name="connsiteY57" fmla="*/ 74216 h 347229"/>
                <a:gd name="connsiteX58" fmla="*/ 7259 w 347228"/>
                <a:gd name="connsiteY58" fmla="*/ 66895 h 347229"/>
                <a:gd name="connsiteX59" fmla="*/ 55072 w 347228"/>
                <a:gd name="connsiteY59" fmla="*/ 97031 h 347229"/>
                <a:gd name="connsiteX60" fmla="*/ 97370 w 347228"/>
                <a:gd name="connsiteY60" fmla="*/ 54878 h 347229"/>
                <a:gd name="connsiteX61" fmla="*/ 67137 w 347228"/>
                <a:gd name="connsiteY61" fmla="*/ 7224 h 347229"/>
                <a:gd name="connsiteX62" fmla="*/ 74475 w 347228"/>
                <a:gd name="connsiteY62" fmla="*/ 4 h 34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47228" h="347229">
                  <a:moveTo>
                    <a:pt x="299602" y="281654"/>
                  </a:moveTo>
                  <a:cubicBezTo>
                    <a:pt x="289572" y="281654"/>
                    <a:pt x="281438" y="289758"/>
                    <a:pt x="281438" y="299759"/>
                  </a:cubicBezTo>
                  <a:cubicBezTo>
                    <a:pt x="281438" y="309754"/>
                    <a:pt x="289572" y="317857"/>
                    <a:pt x="299602" y="317857"/>
                  </a:cubicBezTo>
                  <a:cubicBezTo>
                    <a:pt x="309632" y="317857"/>
                    <a:pt x="317759" y="309754"/>
                    <a:pt x="317759" y="299759"/>
                  </a:cubicBezTo>
                  <a:cubicBezTo>
                    <a:pt x="317759" y="289758"/>
                    <a:pt x="309632" y="281654"/>
                    <a:pt x="299602" y="281654"/>
                  </a:cubicBezTo>
                  <a:close/>
                  <a:moveTo>
                    <a:pt x="245668" y="201851"/>
                  </a:moveTo>
                  <a:lnTo>
                    <a:pt x="303772" y="259773"/>
                  </a:lnTo>
                  <a:lnTo>
                    <a:pt x="342465" y="288486"/>
                  </a:lnTo>
                  <a:lnTo>
                    <a:pt x="346621" y="304221"/>
                  </a:lnTo>
                  <a:lnTo>
                    <a:pt x="303724" y="347229"/>
                  </a:lnTo>
                  <a:lnTo>
                    <a:pt x="288283" y="343070"/>
                  </a:lnTo>
                  <a:lnTo>
                    <a:pt x="259200" y="304221"/>
                  </a:lnTo>
                  <a:lnTo>
                    <a:pt x="197725" y="242934"/>
                  </a:lnTo>
                  <a:cubicBezTo>
                    <a:pt x="204646" y="240376"/>
                    <a:pt x="211016" y="236392"/>
                    <a:pt x="216386" y="231034"/>
                  </a:cubicBezTo>
                  <a:lnTo>
                    <a:pt x="225436" y="222009"/>
                  </a:lnTo>
                  <a:lnTo>
                    <a:pt x="235191" y="212283"/>
                  </a:lnTo>
                  <a:lnTo>
                    <a:pt x="230641" y="203096"/>
                  </a:lnTo>
                  <a:lnTo>
                    <a:pt x="239885" y="207619"/>
                  </a:lnTo>
                  <a:close/>
                  <a:moveTo>
                    <a:pt x="290492" y="4"/>
                  </a:moveTo>
                  <a:cubicBezTo>
                    <a:pt x="298863" y="4"/>
                    <a:pt x="307234" y="3186"/>
                    <a:pt x="313626" y="9551"/>
                  </a:cubicBezTo>
                  <a:lnTo>
                    <a:pt x="337653" y="33507"/>
                  </a:lnTo>
                  <a:cubicBezTo>
                    <a:pt x="350420" y="46236"/>
                    <a:pt x="350420" y="66882"/>
                    <a:pt x="337653" y="79611"/>
                  </a:cubicBezTo>
                  <a:lnTo>
                    <a:pt x="234782" y="182151"/>
                  </a:lnTo>
                  <a:cubicBezTo>
                    <a:pt x="232916" y="181239"/>
                    <a:pt x="230758" y="180823"/>
                    <a:pt x="228552" y="180823"/>
                  </a:cubicBezTo>
                  <a:cubicBezTo>
                    <a:pt x="223523" y="180823"/>
                    <a:pt x="218120" y="182966"/>
                    <a:pt x="214762" y="186324"/>
                  </a:cubicBezTo>
                  <a:cubicBezTo>
                    <a:pt x="209879" y="191186"/>
                    <a:pt x="207575" y="200237"/>
                    <a:pt x="210560" y="206282"/>
                  </a:cubicBezTo>
                  <a:lnTo>
                    <a:pt x="201508" y="215318"/>
                  </a:lnTo>
                  <a:cubicBezTo>
                    <a:pt x="195116" y="221699"/>
                    <a:pt x="186728" y="224881"/>
                    <a:pt x="178357" y="224881"/>
                  </a:cubicBezTo>
                  <a:cubicBezTo>
                    <a:pt x="169986" y="224881"/>
                    <a:pt x="161615" y="221699"/>
                    <a:pt x="155239" y="215334"/>
                  </a:cubicBezTo>
                  <a:lnTo>
                    <a:pt x="152854" y="212967"/>
                  </a:lnTo>
                  <a:lnTo>
                    <a:pt x="72679" y="292894"/>
                  </a:lnTo>
                  <a:lnTo>
                    <a:pt x="64568" y="314419"/>
                  </a:lnTo>
                  <a:lnTo>
                    <a:pt x="20052" y="345427"/>
                  </a:lnTo>
                  <a:lnTo>
                    <a:pt x="0" y="325501"/>
                  </a:lnTo>
                  <a:lnTo>
                    <a:pt x="31229" y="281076"/>
                  </a:lnTo>
                  <a:lnTo>
                    <a:pt x="52644" y="273000"/>
                  </a:lnTo>
                  <a:lnTo>
                    <a:pt x="132867" y="193041"/>
                  </a:lnTo>
                  <a:lnTo>
                    <a:pt x="131196" y="191362"/>
                  </a:lnTo>
                  <a:cubicBezTo>
                    <a:pt x="118429" y="178632"/>
                    <a:pt x="118429" y="157987"/>
                    <a:pt x="131196" y="145257"/>
                  </a:cubicBezTo>
                  <a:lnTo>
                    <a:pt x="140216" y="136286"/>
                  </a:lnTo>
                  <a:cubicBezTo>
                    <a:pt x="142115" y="137278"/>
                    <a:pt x="144337" y="137725"/>
                    <a:pt x="146641" y="137725"/>
                  </a:cubicBezTo>
                  <a:cubicBezTo>
                    <a:pt x="151670" y="137725"/>
                    <a:pt x="157072" y="135582"/>
                    <a:pt x="160463" y="132208"/>
                  </a:cubicBezTo>
                  <a:cubicBezTo>
                    <a:pt x="165362" y="127299"/>
                    <a:pt x="167698" y="118103"/>
                    <a:pt x="164535" y="112026"/>
                  </a:cubicBezTo>
                  <a:lnTo>
                    <a:pt x="267358" y="9567"/>
                  </a:lnTo>
                  <a:cubicBezTo>
                    <a:pt x="273733" y="3186"/>
                    <a:pt x="282121" y="4"/>
                    <a:pt x="290492" y="4"/>
                  </a:cubicBezTo>
                  <a:close/>
                  <a:moveTo>
                    <a:pt x="74475" y="4"/>
                  </a:moveTo>
                  <a:cubicBezTo>
                    <a:pt x="115589" y="-484"/>
                    <a:pt x="154925" y="39182"/>
                    <a:pt x="154925" y="80174"/>
                  </a:cubicBezTo>
                  <a:cubicBezTo>
                    <a:pt x="154932" y="85473"/>
                    <a:pt x="153634" y="91116"/>
                    <a:pt x="151417" y="96830"/>
                  </a:cubicBezTo>
                  <a:lnTo>
                    <a:pt x="150427" y="97813"/>
                  </a:lnTo>
                  <a:lnTo>
                    <a:pt x="140464" y="107751"/>
                  </a:lnTo>
                  <a:lnTo>
                    <a:pt x="145155" y="116764"/>
                  </a:lnTo>
                  <a:lnTo>
                    <a:pt x="136125" y="112074"/>
                  </a:lnTo>
                  <a:lnTo>
                    <a:pt x="126155" y="122012"/>
                  </a:lnTo>
                  <a:lnTo>
                    <a:pt x="117153" y="130982"/>
                  </a:lnTo>
                  <a:cubicBezTo>
                    <a:pt x="111687" y="136424"/>
                    <a:pt x="107735" y="142799"/>
                    <a:pt x="105225" y="149582"/>
                  </a:cubicBezTo>
                  <a:lnTo>
                    <a:pt x="103725" y="148090"/>
                  </a:lnTo>
                  <a:cubicBezTo>
                    <a:pt x="95864" y="152027"/>
                    <a:pt x="87909" y="154393"/>
                    <a:pt x="80464" y="154393"/>
                  </a:cubicBezTo>
                  <a:cubicBezTo>
                    <a:pt x="39342" y="154393"/>
                    <a:pt x="502" y="115200"/>
                    <a:pt x="0" y="74216"/>
                  </a:cubicBezTo>
                  <a:cubicBezTo>
                    <a:pt x="7" y="74058"/>
                    <a:pt x="4641" y="69505"/>
                    <a:pt x="7259" y="66895"/>
                  </a:cubicBezTo>
                  <a:cubicBezTo>
                    <a:pt x="40920" y="100459"/>
                    <a:pt x="34322" y="97031"/>
                    <a:pt x="55072" y="97031"/>
                  </a:cubicBezTo>
                  <a:cubicBezTo>
                    <a:pt x="71104" y="97031"/>
                    <a:pt x="97370" y="71218"/>
                    <a:pt x="97370" y="54878"/>
                  </a:cubicBezTo>
                  <a:cubicBezTo>
                    <a:pt x="97370" y="34729"/>
                    <a:pt x="100096" y="40064"/>
                    <a:pt x="67137" y="7224"/>
                  </a:cubicBezTo>
                  <a:cubicBezTo>
                    <a:pt x="69669" y="4700"/>
                    <a:pt x="74317" y="4"/>
                    <a:pt x="74475" y="4"/>
                  </a:cubicBezTo>
                  <a:close/>
                </a:path>
              </a:pathLst>
            </a:custGeom>
            <a:solidFill>
              <a:schemeClr val="accent2"/>
            </a:solidFill>
            <a:ln>
              <a:noFill/>
            </a:ln>
          </p:spPr>
          <p:txBody>
            <a:bodyPr wrap="square" lIns="91440" tIns="45720" rIns="91440" bIns="45720" anchor="ctr">
              <a:normAutofit lnSpcReduction="10000"/>
            </a:bodyPr>
            <a:lstStyle/>
            <a:p>
              <a:pPr algn="ctr"/>
            </a:p>
          </p:txBody>
        </p:sp>
        <p:sp>
          <p:nvSpPr>
            <p:cNvPr id="32" name="ïṡļiḑê"/>
            <p:cNvSpPr/>
            <p:nvPr/>
          </p:nvSpPr>
          <p:spPr bwMode="auto">
            <a:xfrm>
              <a:off x="7294438" y="1558125"/>
              <a:ext cx="347228" cy="347229"/>
            </a:xfrm>
            <a:custGeom>
              <a:avLst/>
              <a:gdLst>
                <a:gd name="connsiteX0" fmla="*/ 299602 w 347228"/>
                <a:gd name="connsiteY0" fmla="*/ 281654 h 347229"/>
                <a:gd name="connsiteX1" fmla="*/ 281438 w 347228"/>
                <a:gd name="connsiteY1" fmla="*/ 299759 h 347229"/>
                <a:gd name="connsiteX2" fmla="*/ 299602 w 347228"/>
                <a:gd name="connsiteY2" fmla="*/ 317857 h 347229"/>
                <a:gd name="connsiteX3" fmla="*/ 317759 w 347228"/>
                <a:gd name="connsiteY3" fmla="*/ 299759 h 347229"/>
                <a:gd name="connsiteX4" fmla="*/ 299602 w 347228"/>
                <a:gd name="connsiteY4" fmla="*/ 281654 h 347229"/>
                <a:gd name="connsiteX5" fmla="*/ 245668 w 347228"/>
                <a:gd name="connsiteY5" fmla="*/ 201851 h 347229"/>
                <a:gd name="connsiteX6" fmla="*/ 303772 w 347228"/>
                <a:gd name="connsiteY6" fmla="*/ 259773 h 347229"/>
                <a:gd name="connsiteX7" fmla="*/ 342465 w 347228"/>
                <a:gd name="connsiteY7" fmla="*/ 288486 h 347229"/>
                <a:gd name="connsiteX8" fmla="*/ 346621 w 347228"/>
                <a:gd name="connsiteY8" fmla="*/ 304221 h 347229"/>
                <a:gd name="connsiteX9" fmla="*/ 303724 w 347228"/>
                <a:gd name="connsiteY9" fmla="*/ 347229 h 347229"/>
                <a:gd name="connsiteX10" fmla="*/ 288283 w 347228"/>
                <a:gd name="connsiteY10" fmla="*/ 343070 h 347229"/>
                <a:gd name="connsiteX11" fmla="*/ 259200 w 347228"/>
                <a:gd name="connsiteY11" fmla="*/ 304221 h 347229"/>
                <a:gd name="connsiteX12" fmla="*/ 197725 w 347228"/>
                <a:gd name="connsiteY12" fmla="*/ 242934 h 347229"/>
                <a:gd name="connsiteX13" fmla="*/ 216386 w 347228"/>
                <a:gd name="connsiteY13" fmla="*/ 231034 h 347229"/>
                <a:gd name="connsiteX14" fmla="*/ 225436 w 347228"/>
                <a:gd name="connsiteY14" fmla="*/ 222009 h 347229"/>
                <a:gd name="connsiteX15" fmla="*/ 235191 w 347228"/>
                <a:gd name="connsiteY15" fmla="*/ 212283 h 347229"/>
                <a:gd name="connsiteX16" fmla="*/ 230641 w 347228"/>
                <a:gd name="connsiteY16" fmla="*/ 203096 h 347229"/>
                <a:gd name="connsiteX17" fmla="*/ 239885 w 347228"/>
                <a:gd name="connsiteY17" fmla="*/ 207619 h 347229"/>
                <a:gd name="connsiteX18" fmla="*/ 290492 w 347228"/>
                <a:gd name="connsiteY18" fmla="*/ 4 h 347229"/>
                <a:gd name="connsiteX19" fmla="*/ 313626 w 347228"/>
                <a:gd name="connsiteY19" fmla="*/ 9551 h 347229"/>
                <a:gd name="connsiteX20" fmla="*/ 337653 w 347228"/>
                <a:gd name="connsiteY20" fmla="*/ 33507 h 347229"/>
                <a:gd name="connsiteX21" fmla="*/ 337653 w 347228"/>
                <a:gd name="connsiteY21" fmla="*/ 79611 h 347229"/>
                <a:gd name="connsiteX22" fmla="*/ 234782 w 347228"/>
                <a:gd name="connsiteY22" fmla="*/ 182151 h 347229"/>
                <a:gd name="connsiteX23" fmla="*/ 228552 w 347228"/>
                <a:gd name="connsiteY23" fmla="*/ 180823 h 347229"/>
                <a:gd name="connsiteX24" fmla="*/ 214762 w 347228"/>
                <a:gd name="connsiteY24" fmla="*/ 186324 h 347229"/>
                <a:gd name="connsiteX25" fmla="*/ 210560 w 347228"/>
                <a:gd name="connsiteY25" fmla="*/ 206282 h 347229"/>
                <a:gd name="connsiteX26" fmla="*/ 201508 w 347228"/>
                <a:gd name="connsiteY26" fmla="*/ 215318 h 347229"/>
                <a:gd name="connsiteX27" fmla="*/ 178357 w 347228"/>
                <a:gd name="connsiteY27" fmla="*/ 224881 h 347229"/>
                <a:gd name="connsiteX28" fmla="*/ 155239 w 347228"/>
                <a:gd name="connsiteY28" fmla="*/ 215334 h 347229"/>
                <a:gd name="connsiteX29" fmla="*/ 152854 w 347228"/>
                <a:gd name="connsiteY29" fmla="*/ 212967 h 347229"/>
                <a:gd name="connsiteX30" fmla="*/ 72679 w 347228"/>
                <a:gd name="connsiteY30" fmla="*/ 292894 h 347229"/>
                <a:gd name="connsiteX31" fmla="*/ 64568 w 347228"/>
                <a:gd name="connsiteY31" fmla="*/ 314419 h 347229"/>
                <a:gd name="connsiteX32" fmla="*/ 20052 w 347228"/>
                <a:gd name="connsiteY32" fmla="*/ 345427 h 347229"/>
                <a:gd name="connsiteX33" fmla="*/ 0 w 347228"/>
                <a:gd name="connsiteY33" fmla="*/ 325501 h 347229"/>
                <a:gd name="connsiteX34" fmla="*/ 31229 w 347228"/>
                <a:gd name="connsiteY34" fmla="*/ 281076 h 347229"/>
                <a:gd name="connsiteX35" fmla="*/ 52644 w 347228"/>
                <a:gd name="connsiteY35" fmla="*/ 273000 h 347229"/>
                <a:gd name="connsiteX36" fmla="*/ 132867 w 347228"/>
                <a:gd name="connsiteY36" fmla="*/ 193041 h 347229"/>
                <a:gd name="connsiteX37" fmla="*/ 131196 w 347228"/>
                <a:gd name="connsiteY37" fmla="*/ 191362 h 347229"/>
                <a:gd name="connsiteX38" fmla="*/ 131196 w 347228"/>
                <a:gd name="connsiteY38" fmla="*/ 145257 h 347229"/>
                <a:gd name="connsiteX39" fmla="*/ 140216 w 347228"/>
                <a:gd name="connsiteY39" fmla="*/ 136286 h 347229"/>
                <a:gd name="connsiteX40" fmla="*/ 146641 w 347228"/>
                <a:gd name="connsiteY40" fmla="*/ 137725 h 347229"/>
                <a:gd name="connsiteX41" fmla="*/ 160463 w 347228"/>
                <a:gd name="connsiteY41" fmla="*/ 132208 h 347229"/>
                <a:gd name="connsiteX42" fmla="*/ 164535 w 347228"/>
                <a:gd name="connsiteY42" fmla="*/ 112026 h 347229"/>
                <a:gd name="connsiteX43" fmla="*/ 267358 w 347228"/>
                <a:gd name="connsiteY43" fmla="*/ 9567 h 347229"/>
                <a:gd name="connsiteX44" fmla="*/ 290492 w 347228"/>
                <a:gd name="connsiteY44" fmla="*/ 4 h 347229"/>
                <a:gd name="connsiteX45" fmla="*/ 74475 w 347228"/>
                <a:gd name="connsiteY45" fmla="*/ 4 h 347229"/>
                <a:gd name="connsiteX46" fmla="*/ 154925 w 347228"/>
                <a:gd name="connsiteY46" fmla="*/ 80174 h 347229"/>
                <a:gd name="connsiteX47" fmla="*/ 151417 w 347228"/>
                <a:gd name="connsiteY47" fmla="*/ 96830 h 347229"/>
                <a:gd name="connsiteX48" fmla="*/ 150427 w 347228"/>
                <a:gd name="connsiteY48" fmla="*/ 97813 h 347229"/>
                <a:gd name="connsiteX49" fmla="*/ 140464 w 347228"/>
                <a:gd name="connsiteY49" fmla="*/ 107751 h 347229"/>
                <a:gd name="connsiteX50" fmla="*/ 145155 w 347228"/>
                <a:gd name="connsiteY50" fmla="*/ 116764 h 347229"/>
                <a:gd name="connsiteX51" fmla="*/ 136125 w 347228"/>
                <a:gd name="connsiteY51" fmla="*/ 112074 h 347229"/>
                <a:gd name="connsiteX52" fmla="*/ 126155 w 347228"/>
                <a:gd name="connsiteY52" fmla="*/ 122012 h 347229"/>
                <a:gd name="connsiteX53" fmla="*/ 117153 w 347228"/>
                <a:gd name="connsiteY53" fmla="*/ 130982 h 347229"/>
                <a:gd name="connsiteX54" fmla="*/ 105225 w 347228"/>
                <a:gd name="connsiteY54" fmla="*/ 149582 h 347229"/>
                <a:gd name="connsiteX55" fmla="*/ 103725 w 347228"/>
                <a:gd name="connsiteY55" fmla="*/ 148090 h 347229"/>
                <a:gd name="connsiteX56" fmla="*/ 80464 w 347228"/>
                <a:gd name="connsiteY56" fmla="*/ 154393 h 347229"/>
                <a:gd name="connsiteX57" fmla="*/ 0 w 347228"/>
                <a:gd name="connsiteY57" fmla="*/ 74216 h 347229"/>
                <a:gd name="connsiteX58" fmla="*/ 7259 w 347228"/>
                <a:gd name="connsiteY58" fmla="*/ 66895 h 347229"/>
                <a:gd name="connsiteX59" fmla="*/ 55072 w 347228"/>
                <a:gd name="connsiteY59" fmla="*/ 97031 h 347229"/>
                <a:gd name="connsiteX60" fmla="*/ 97370 w 347228"/>
                <a:gd name="connsiteY60" fmla="*/ 54878 h 347229"/>
                <a:gd name="connsiteX61" fmla="*/ 67137 w 347228"/>
                <a:gd name="connsiteY61" fmla="*/ 7224 h 347229"/>
                <a:gd name="connsiteX62" fmla="*/ 74475 w 347228"/>
                <a:gd name="connsiteY62" fmla="*/ 4 h 34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47228" h="347229">
                  <a:moveTo>
                    <a:pt x="299602" y="281654"/>
                  </a:moveTo>
                  <a:cubicBezTo>
                    <a:pt x="289572" y="281654"/>
                    <a:pt x="281438" y="289758"/>
                    <a:pt x="281438" y="299759"/>
                  </a:cubicBezTo>
                  <a:cubicBezTo>
                    <a:pt x="281438" y="309754"/>
                    <a:pt x="289572" y="317857"/>
                    <a:pt x="299602" y="317857"/>
                  </a:cubicBezTo>
                  <a:cubicBezTo>
                    <a:pt x="309632" y="317857"/>
                    <a:pt x="317759" y="309754"/>
                    <a:pt x="317759" y="299759"/>
                  </a:cubicBezTo>
                  <a:cubicBezTo>
                    <a:pt x="317759" y="289758"/>
                    <a:pt x="309632" y="281654"/>
                    <a:pt x="299602" y="281654"/>
                  </a:cubicBezTo>
                  <a:close/>
                  <a:moveTo>
                    <a:pt x="245668" y="201851"/>
                  </a:moveTo>
                  <a:lnTo>
                    <a:pt x="303772" y="259773"/>
                  </a:lnTo>
                  <a:lnTo>
                    <a:pt x="342465" y="288486"/>
                  </a:lnTo>
                  <a:lnTo>
                    <a:pt x="346621" y="304221"/>
                  </a:lnTo>
                  <a:lnTo>
                    <a:pt x="303724" y="347229"/>
                  </a:lnTo>
                  <a:lnTo>
                    <a:pt x="288283" y="343070"/>
                  </a:lnTo>
                  <a:lnTo>
                    <a:pt x="259200" y="304221"/>
                  </a:lnTo>
                  <a:lnTo>
                    <a:pt x="197725" y="242934"/>
                  </a:lnTo>
                  <a:cubicBezTo>
                    <a:pt x="204646" y="240376"/>
                    <a:pt x="211016" y="236392"/>
                    <a:pt x="216386" y="231034"/>
                  </a:cubicBezTo>
                  <a:lnTo>
                    <a:pt x="225436" y="222009"/>
                  </a:lnTo>
                  <a:lnTo>
                    <a:pt x="235191" y="212283"/>
                  </a:lnTo>
                  <a:lnTo>
                    <a:pt x="230641" y="203096"/>
                  </a:lnTo>
                  <a:lnTo>
                    <a:pt x="239885" y="207619"/>
                  </a:lnTo>
                  <a:close/>
                  <a:moveTo>
                    <a:pt x="290492" y="4"/>
                  </a:moveTo>
                  <a:cubicBezTo>
                    <a:pt x="298863" y="4"/>
                    <a:pt x="307234" y="3186"/>
                    <a:pt x="313626" y="9551"/>
                  </a:cubicBezTo>
                  <a:lnTo>
                    <a:pt x="337653" y="33507"/>
                  </a:lnTo>
                  <a:cubicBezTo>
                    <a:pt x="350420" y="46236"/>
                    <a:pt x="350420" y="66882"/>
                    <a:pt x="337653" y="79611"/>
                  </a:cubicBezTo>
                  <a:lnTo>
                    <a:pt x="234782" y="182151"/>
                  </a:lnTo>
                  <a:cubicBezTo>
                    <a:pt x="232916" y="181239"/>
                    <a:pt x="230758" y="180823"/>
                    <a:pt x="228552" y="180823"/>
                  </a:cubicBezTo>
                  <a:cubicBezTo>
                    <a:pt x="223523" y="180823"/>
                    <a:pt x="218120" y="182966"/>
                    <a:pt x="214762" y="186324"/>
                  </a:cubicBezTo>
                  <a:cubicBezTo>
                    <a:pt x="209879" y="191186"/>
                    <a:pt x="207575" y="200237"/>
                    <a:pt x="210560" y="206282"/>
                  </a:cubicBezTo>
                  <a:lnTo>
                    <a:pt x="201508" y="215318"/>
                  </a:lnTo>
                  <a:cubicBezTo>
                    <a:pt x="195116" y="221699"/>
                    <a:pt x="186728" y="224881"/>
                    <a:pt x="178357" y="224881"/>
                  </a:cubicBezTo>
                  <a:cubicBezTo>
                    <a:pt x="169986" y="224881"/>
                    <a:pt x="161615" y="221699"/>
                    <a:pt x="155239" y="215334"/>
                  </a:cubicBezTo>
                  <a:lnTo>
                    <a:pt x="152854" y="212967"/>
                  </a:lnTo>
                  <a:lnTo>
                    <a:pt x="72679" y="292894"/>
                  </a:lnTo>
                  <a:lnTo>
                    <a:pt x="64568" y="314419"/>
                  </a:lnTo>
                  <a:lnTo>
                    <a:pt x="20052" y="345427"/>
                  </a:lnTo>
                  <a:lnTo>
                    <a:pt x="0" y="325501"/>
                  </a:lnTo>
                  <a:lnTo>
                    <a:pt x="31229" y="281076"/>
                  </a:lnTo>
                  <a:lnTo>
                    <a:pt x="52644" y="273000"/>
                  </a:lnTo>
                  <a:lnTo>
                    <a:pt x="132867" y="193041"/>
                  </a:lnTo>
                  <a:lnTo>
                    <a:pt x="131196" y="191362"/>
                  </a:lnTo>
                  <a:cubicBezTo>
                    <a:pt x="118429" y="178632"/>
                    <a:pt x="118429" y="157987"/>
                    <a:pt x="131196" y="145257"/>
                  </a:cubicBezTo>
                  <a:lnTo>
                    <a:pt x="140216" y="136286"/>
                  </a:lnTo>
                  <a:cubicBezTo>
                    <a:pt x="142115" y="137278"/>
                    <a:pt x="144337" y="137725"/>
                    <a:pt x="146641" y="137725"/>
                  </a:cubicBezTo>
                  <a:cubicBezTo>
                    <a:pt x="151670" y="137725"/>
                    <a:pt x="157072" y="135582"/>
                    <a:pt x="160463" y="132208"/>
                  </a:cubicBezTo>
                  <a:cubicBezTo>
                    <a:pt x="165362" y="127299"/>
                    <a:pt x="167698" y="118103"/>
                    <a:pt x="164535" y="112026"/>
                  </a:cubicBezTo>
                  <a:lnTo>
                    <a:pt x="267358" y="9567"/>
                  </a:lnTo>
                  <a:cubicBezTo>
                    <a:pt x="273733" y="3186"/>
                    <a:pt x="282121" y="4"/>
                    <a:pt x="290492" y="4"/>
                  </a:cubicBezTo>
                  <a:close/>
                  <a:moveTo>
                    <a:pt x="74475" y="4"/>
                  </a:moveTo>
                  <a:cubicBezTo>
                    <a:pt x="115589" y="-484"/>
                    <a:pt x="154925" y="39182"/>
                    <a:pt x="154925" y="80174"/>
                  </a:cubicBezTo>
                  <a:cubicBezTo>
                    <a:pt x="154932" y="85473"/>
                    <a:pt x="153634" y="91116"/>
                    <a:pt x="151417" y="96830"/>
                  </a:cubicBezTo>
                  <a:lnTo>
                    <a:pt x="150427" y="97813"/>
                  </a:lnTo>
                  <a:lnTo>
                    <a:pt x="140464" y="107751"/>
                  </a:lnTo>
                  <a:lnTo>
                    <a:pt x="145155" y="116764"/>
                  </a:lnTo>
                  <a:lnTo>
                    <a:pt x="136125" y="112074"/>
                  </a:lnTo>
                  <a:lnTo>
                    <a:pt x="126155" y="122012"/>
                  </a:lnTo>
                  <a:lnTo>
                    <a:pt x="117153" y="130982"/>
                  </a:lnTo>
                  <a:cubicBezTo>
                    <a:pt x="111687" y="136424"/>
                    <a:pt x="107735" y="142799"/>
                    <a:pt x="105225" y="149582"/>
                  </a:cubicBezTo>
                  <a:lnTo>
                    <a:pt x="103725" y="148090"/>
                  </a:lnTo>
                  <a:cubicBezTo>
                    <a:pt x="95864" y="152027"/>
                    <a:pt x="87909" y="154393"/>
                    <a:pt x="80464" y="154393"/>
                  </a:cubicBezTo>
                  <a:cubicBezTo>
                    <a:pt x="39342" y="154393"/>
                    <a:pt x="502" y="115200"/>
                    <a:pt x="0" y="74216"/>
                  </a:cubicBezTo>
                  <a:cubicBezTo>
                    <a:pt x="7" y="74058"/>
                    <a:pt x="4641" y="69505"/>
                    <a:pt x="7259" y="66895"/>
                  </a:cubicBezTo>
                  <a:cubicBezTo>
                    <a:pt x="40920" y="100459"/>
                    <a:pt x="34322" y="97031"/>
                    <a:pt x="55072" y="97031"/>
                  </a:cubicBezTo>
                  <a:cubicBezTo>
                    <a:pt x="71104" y="97031"/>
                    <a:pt x="97370" y="71218"/>
                    <a:pt x="97370" y="54878"/>
                  </a:cubicBezTo>
                  <a:cubicBezTo>
                    <a:pt x="97370" y="34729"/>
                    <a:pt x="100096" y="40064"/>
                    <a:pt x="67137" y="7224"/>
                  </a:cubicBezTo>
                  <a:cubicBezTo>
                    <a:pt x="69669" y="4700"/>
                    <a:pt x="74317" y="4"/>
                    <a:pt x="74475" y="4"/>
                  </a:cubicBezTo>
                  <a:close/>
                </a:path>
              </a:pathLst>
            </a:custGeom>
            <a:solidFill>
              <a:schemeClr val="accent1"/>
            </a:solidFill>
            <a:ln>
              <a:noFill/>
            </a:ln>
          </p:spPr>
          <p:txBody>
            <a:bodyPr wrap="square" lIns="91440" tIns="45720" rIns="91440" bIns="45720" anchor="ctr">
              <a:normAutofit lnSpcReduction="10000"/>
            </a:bodyPr>
            <a:lstStyle/>
            <a:p>
              <a:pPr algn="ctr"/>
            </a:p>
          </p:txBody>
        </p:sp>
        <p:sp>
          <p:nvSpPr>
            <p:cNvPr id="33" name="isḻíḓe"/>
            <p:cNvSpPr/>
            <p:nvPr/>
          </p:nvSpPr>
          <p:spPr bwMode="auto">
            <a:xfrm>
              <a:off x="10048132" y="1558125"/>
              <a:ext cx="347228" cy="347229"/>
            </a:xfrm>
            <a:custGeom>
              <a:avLst/>
              <a:gdLst>
                <a:gd name="connsiteX0" fmla="*/ 299602 w 347228"/>
                <a:gd name="connsiteY0" fmla="*/ 281654 h 347229"/>
                <a:gd name="connsiteX1" fmla="*/ 281438 w 347228"/>
                <a:gd name="connsiteY1" fmla="*/ 299759 h 347229"/>
                <a:gd name="connsiteX2" fmla="*/ 299602 w 347228"/>
                <a:gd name="connsiteY2" fmla="*/ 317857 h 347229"/>
                <a:gd name="connsiteX3" fmla="*/ 317759 w 347228"/>
                <a:gd name="connsiteY3" fmla="*/ 299759 h 347229"/>
                <a:gd name="connsiteX4" fmla="*/ 299602 w 347228"/>
                <a:gd name="connsiteY4" fmla="*/ 281654 h 347229"/>
                <a:gd name="connsiteX5" fmla="*/ 245668 w 347228"/>
                <a:gd name="connsiteY5" fmla="*/ 201851 h 347229"/>
                <a:gd name="connsiteX6" fmla="*/ 303772 w 347228"/>
                <a:gd name="connsiteY6" fmla="*/ 259773 h 347229"/>
                <a:gd name="connsiteX7" fmla="*/ 342465 w 347228"/>
                <a:gd name="connsiteY7" fmla="*/ 288486 h 347229"/>
                <a:gd name="connsiteX8" fmla="*/ 346621 w 347228"/>
                <a:gd name="connsiteY8" fmla="*/ 304221 h 347229"/>
                <a:gd name="connsiteX9" fmla="*/ 303724 w 347228"/>
                <a:gd name="connsiteY9" fmla="*/ 347229 h 347229"/>
                <a:gd name="connsiteX10" fmla="*/ 288283 w 347228"/>
                <a:gd name="connsiteY10" fmla="*/ 343070 h 347229"/>
                <a:gd name="connsiteX11" fmla="*/ 259200 w 347228"/>
                <a:gd name="connsiteY11" fmla="*/ 304221 h 347229"/>
                <a:gd name="connsiteX12" fmla="*/ 197725 w 347228"/>
                <a:gd name="connsiteY12" fmla="*/ 242934 h 347229"/>
                <a:gd name="connsiteX13" fmla="*/ 216386 w 347228"/>
                <a:gd name="connsiteY13" fmla="*/ 231034 h 347229"/>
                <a:gd name="connsiteX14" fmla="*/ 225436 w 347228"/>
                <a:gd name="connsiteY14" fmla="*/ 222009 h 347229"/>
                <a:gd name="connsiteX15" fmla="*/ 235191 w 347228"/>
                <a:gd name="connsiteY15" fmla="*/ 212283 h 347229"/>
                <a:gd name="connsiteX16" fmla="*/ 230641 w 347228"/>
                <a:gd name="connsiteY16" fmla="*/ 203096 h 347229"/>
                <a:gd name="connsiteX17" fmla="*/ 239885 w 347228"/>
                <a:gd name="connsiteY17" fmla="*/ 207619 h 347229"/>
                <a:gd name="connsiteX18" fmla="*/ 290492 w 347228"/>
                <a:gd name="connsiteY18" fmla="*/ 4 h 347229"/>
                <a:gd name="connsiteX19" fmla="*/ 313626 w 347228"/>
                <a:gd name="connsiteY19" fmla="*/ 9551 h 347229"/>
                <a:gd name="connsiteX20" fmla="*/ 337653 w 347228"/>
                <a:gd name="connsiteY20" fmla="*/ 33507 h 347229"/>
                <a:gd name="connsiteX21" fmla="*/ 337653 w 347228"/>
                <a:gd name="connsiteY21" fmla="*/ 79611 h 347229"/>
                <a:gd name="connsiteX22" fmla="*/ 234782 w 347228"/>
                <a:gd name="connsiteY22" fmla="*/ 182151 h 347229"/>
                <a:gd name="connsiteX23" fmla="*/ 228552 w 347228"/>
                <a:gd name="connsiteY23" fmla="*/ 180823 h 347229"/>
                <a:gd name="connsiteX24" fmla="*/ 214762 w 347228"/>
                <a:gd name="connsiteY24" fmla="*/ 186324 h 347229"/>
                <a:gd name="connsiteX25" fmla="*/ 210560 w 347228"/>
                <a:gd name="connsiteY25" fmla="*/ 206282 h 347229"/>
                <a:gd name="connsiteX26" fmla="*/ 201508 w 347228"/>
                <a:gd name="connsiteY26" fmla="*/ 215318 h 347229"/>
                <a:gd name="connsiteX27" fmla="*/ 178357 w 347228"/>
                <a:gd name="connsiteY27" fmla="*/ 224881 h 347229"/>
                <a:gd name="connsiteX28" fmla="*/ 155239 w 347228"/>
                <a:gd name="connsiteY28" fmla="*/ 215334 h 347229"/>
                <a:gd name="connsiteX29" fmla="*/ 152854 w 347228"/>
                <a:gd name="connsiteY29" fmla="*/ 212967 h 347229"/>
                <a:gd name="connsiteX30" fmla="*/ 72679 w 347228"/>
                <a:gd name="connsiteY30" fmla="*/ 292894 h 347229"/>
                <a:gd name="connsiteX31" fmla="*/ 64568 w 347228"/>
                <a:gd name="connsiteY31" fmla="*/ 314419 h 347229"/>
                <a:gd name="connsiteX32" fmla="*/ 20052 w 347228"/>
                <a:gd name="connsiteY32" fmla="*/ 345427 h 347229"/>
                <a:gd name="connsiteX33" fmla="*/ 0 w 347228"/>
                <a:gd name="connsiteY33" fmla="*/ 325501 h 347229"/>
                <a:gd name="connsiteX34" fmla="*/ 31229 w 347228"/>
                <a:gd name="connsiteY34" fmla="*/ 281076 h 347229"/>
                <a:gd name="connsiteX35" fmla="*/ 52644 w 347228"/>
                <a:gd name="connsiteY35" fmla="*/ 273000 h 347229"/>
                <a:gd name="connsiteX36" fmla="*/ 132867 w 347228"/>
                <a:gd name="connsiteY36" fmla="*/ 193041 h 347229"/>
                <a:gd name="connsiteX37" fmla="*/ 131196 w 347228"/>
                <a:gd name="connsiteY37" fmla="*/ 191362 h 347229"/>
                <a:gd name="connsiteX38" fmla="*/ 131196 w 347228"/>
                <a:gd name="connsiteY38" fmla="*/ 145257 h 347229"/>
                <a:gd name="connsiteX39" fmla="*/ 140216 w 347228"/>
                <a:gd name="connsiteY39" fmla="*/ 136286 h 347229"/>
                <a:gd name="connsiteX40" fmla="*/ 146641 w 347228"/>
                <a:gd name="connsiteY40" fmla="*/ 137725 h 347229"/>
                <a:gd name="connsiteX41" fmla="*/ 160463 w 347228"/>
                <a:gd name="connsiteY41" fmla="*/ 132208 h 347229"/>
                <a:gd name="connsiteX42" fmla="*/ 164535 w 347228"/>
                <a:gd name="connsiteY42" fmla="*/ 112026 h 347229"/>
                <a:gd name="connsiteX43" fmla="*/ 267358 w 347228"/>
                <a:gd name="connsiteY43" fmla="*/ 9567 h 347229"/>
                <a:gd name="connsiteX44" fmla="*/ 290492 w 347228"/>
                <a:gd name="connsiteY44" fmla="*/ 4 h 347229"/>
                <a:gd name="connsiteX45" fmla="*/ 74475 w 347228"/>
                <a:gd name="connsiteY45" fmla="*/ 4 h 347229"/>
                <a:gd name="connsiteX46" fmla="*/ 154925 w 347228"/>
                <a:gd name="connsiteY46" fmla="*/ 80174 h 347229"/>
                <a:gd name="connsiteX47" fmla="*/ 151417 w 347228"/>
                <a:gd name="connsiteY47" fmla="*/ 96830 h 347229"/>
                <a:gd name="connsiteX48" fmla="*/ 150427 w 347228"/>
                <a:gd name="connsiteY48" fmla="*/ 97813 h 347229"/>
                <a:gd name="connsiteX49" fmla="*/ 140464 w 347228"/>
                <a:gd name="connsiteY49" fmla="*/ 107751 h 347229"/>
                <a:gd name="connsiteX50" fmla="*/ 145155 w 347228"/>
                <a:gd name="connsiteY50" fmla="*/ 116764 h 347229"/>
                <a:gd name="connsiteX51" fmla="*/ 136125 w 347228"/>
                <a:gd name="connsiteY51" fmla="*/ 112074 h 347229"/>
                <a:gd name="connsiteX52" fmla="*/ 126155 w 347228"/>
                <a:gd name="connsiteY52" fmla="*/ 122012 h 347229"/>
                <a:gd name="connsiteX53" fmla="*/ 117153 w 347228"/>
                <a:gd name="connsiteY53" fmla="*/ 130982 h 347229"/>
                <a:gd name="connsiteX54" fmla="*/ 105225 w 347228"/>
                <a:gd name="connsiteY54" fmla="*/ 149582 h 347229"/>
                <a:gd name="connsiteX55" fmla="*/ 103725 w 347228"/>
                <a:gd name="connsiteY55" fmla="*/ 148090 h 347229"/>
                <a:gd name="connsiteX56" fmla="*/ 80464 w 347228"/>
                <a:gd name="connsiteY56" fmla="*/ 154393 h 347229"/>
                <a:gd name="connsiteX57" fmla="*/ 0 w 347228"/>
                <a:gd name="connsiteY57" fmla="*/ 74216 h 347229"/>
                <a:gd name="connsiteX58" fmla="*/ 7259 w 347228"/>
                <a:gd name="connsiteY58" fmla="*/ 66895 h 347229"/>
                <a:gd name="connsiteX59" fmla="*/ 55072 w 347228"/>
                <a:gd name="connsiteY59" fmla="*/ 97031 h 347229"/>
                <a:gd name="connsiteX60" fmla="*/ 97370 w 347228"/>
                <a:gd name="connsiteY60" fmla="*/ 54878 h 347229"/>
                <a:gd name="connsiteX61" fmla="*/ 67137 w 347228"/>
                <a:gd name="connsiteY61" fmla="*/ 7224 h 347229"/>
                <a:gd name="connsiteX62" fmla="*/ 74475 w 347228"/>
                <a:gd name="connsiteY62" fmla="*/ 4 h 34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47228" h="347229">
                  <a:moveTo>
                    <a:pt x="299602" y="281654"/>
                  </a:moveTo>
                  <a:cubicBezTo>
                    <a:pt x="289572" y="281654"/>
                    <a:pt x="281438" y="289758"/>
                    <a:pt x="281438" y="299759"/>
                  </a:cubicBezTo>
                  <a:cubicBezTo>
                    <a:pt x="281438" y="309754"/>
                    <a:pt x="289572" y="317857"/>
                    <a:pt x="299602" y="317857"/>
                  </a:cubicBezTo>
                  <a:cubicBezTo>
                    <a:pt x="309632" y="317857"/>
                    <a:pt x="317759" y="309754"/>
                    <a:pt x="317759" y="299759"/>
                  </a:cubicBezTo>
                  <a:cubicBezTo>
                    <a:pt x="317759" y="289758"/>
                    <a:pt x="309632" y="281654"/>
                    <a:pt x="299602" y="281654"/>
                  </a:cubicBezTo>
                  <a:close/>
                  <a:moveTo>
                    <a:pt x="245668" y="201851"/>
                  </a:moveTo>
                  <a:lnTo>
                    <a:pt x="303772" y="259773"/>
                  </a:lnTo>
                  <a:lnTo>
                    <a:pt x="342465" y="288486"/>
                  </a:lnTo>
                  <a:lnTo>
                    <a:pt x="346621" y="304221"/>
                  </a:lnTo>
                  <a:lnTo>
                    <a:pt x="303724" y="347229"/>
                  </a:lnTo>
                  <a:lnTo>
                    <a:pt x="288283" y="343070"/>
                  </a:lnTo>
                  <a:lnTo>
                    <a:pt x="259200" y="304221"/>
                  </a:lnTo>
                  <a:lnTo>
                    <a:pt x="197725" y="242934"/>
                  </a:lnTo>
                  <a:cubicBezTo>
                    <a:pt x="204646" y="240376"/>
                    <a:pt x="211016" y="236392"/>
                    <a:pt x="216386" y="231034"/>
                  </a:cubicBezTo>
                  <a:lnTo>
                    <a:pt x="225436" y="222009"/>
                  </a:lnTo>
                  <a:lnTo>
                    <a:pt x="235191" y="212283"/>
                  </a:lnTo>
                  <a:lnTo>
                    <a:pt x="230641" y="203096"/>
                  </a:lnTo>
                  <a:lnTo>
                    <a:pt x="239885" y="207619"/>
                  </a:lnTo>
                  <a:close/>
                  <a:moveTo>
                    <a:pt x="290492" y="4"/>
                  </a:moveTo>
                  <a:cubicBezTo>
                    <a:pt x="298863" y="4"/>
                    <a:pt x="307234" y="3186"/>
                    <a:pt x="313626" y="9551"/>
                  </a:cubicBezTo>
                  <a:lnTo>
                    <a:pt x="337653" y="33507"/>
                  </a:lnTo>
                  <a:cubicBezTo>
                    <a:pt x="350420" y="46236"/>
                    <a:pt x="350420" y="66882"/>
                    <a:pt x="337653" y="79611"/>
                  </a:cubicBezTo>
                  <a:lnTo>
                    <a:pt x="234782" y="182151"/>
                  </a:lnTo>
                  <a:cubicBezTo>
                    <a:pt x="232916" y="181239"/>
                    <a:pt x="230758" y="180823"/>
                    <a:pt x="228552" y="180823"/>
                  </a:cubicBezTo>
                  <a:cubicBezTo>
                    <a:pt x="223523" y="180823"/>
                    <a:pt x="218120" y="182966"/>
                    <a:pt x="214762" y="186324"/>
                  </a:cubicBezTo>
                  <a:cubicBezTo>
                    <a:pt x="209879" y="191186"/>
                    <a:pt x="207575" y="200237"/>
                    <a:pt x="210560" y="206282"/>
                  </a:cubicBezTo>
                  <a:lnTo>
                    <a:pt x="201508" y="215318"/>
                  </a:lnTo>
                  <a:cubicBezTo>
                    <a:pt x="195116" y="221699"/>
                    <a:pt x="186728" y="224881"/>
                    <a:pt x="178357" y="224881"/>
                  </a:cubicBezTo>
                  <a:cubicBezTo>
                    <a:pt x="169986" y="224881"/>
                    <a:pt x="161615" y="221699"/>
                    <a:pt x="155239" y="215334"/>
                  </a:cubicBezTo>
                  <a:lnTo>
                    <a:pt x="152854" y="212967"/>
                  </a:lnTo>
                  <a:lnTo>
                    <a:pt x="72679" y="292894"/>
                  </a:lnTo>
                  <a:lnTo>
                    <a:pt x="64568" y="314419"/>
                  </a:lnTo>
                  <a:lnTo>
                    <a:pt x="20052" y="345427"/>
                  </a:lnTo>
                  <a:lnTo>
                    <a:pt x="0" y="325501"/>
                  </a:lnTo>
                  <a:lnTo>
                    <a:pt x="31229" y="281076"/>
                  </a:lnTo>
                  <a:lnTo>
                    <a:pt x="52644" y="273000"/>
                  </a:lnTo>
                  <a:lnTo>
                    <a:pt x="132867" y="193041"/>
                  </a:lnTo>
                  <a:lnTo>
                    <a:pt x="131196" y="191362"/>
                  </a:lnTo>
                  <a:cubicBezTo>
                    <a:pt x="118429" y="178632"/>
                    <a:pt x="118429" y="157987"/>
                    <a:pt x="131196" y="145257"/>
                  </a:cubicBezTo>
                  <a:lnTo>
                    <a:pt x="140216" y="136286"/>
                  </a:lnTo>
                  <a:cubicBezTo>
                    <a:pt x="142115" y="137278"/>
                    <a:pt x="144337" y="137725"/>
                    <a:pt x="146641" y="137725"/>
                  </a:cubicBezTo>
                  <a:cubicBezTo>
                    <a:pt x="151670" y="137725"/>
                    <a:pt x="157072" y="135582"/>
                    <a:pt x="160463" y="132208"/>
                  </a:cubicBezTo>
                  <a:cubicBezTo>
                    <a:pt x="165362" y="127299"/>
                    <a:pt x="167698" y="118103"/>
                    <a:pt x="164535" y="112026"/>
                  </a:cubicBezTo>
                  <a:lnTo>
                    <a:pt x="267358" y="9567"/>
                  </a:lnTo>
                  <a:cubicBezTo>
                    <a:pt x="273733" y="3186"/>
                    <a:pt x="282121" y="4"/>
                    <a:pt x="290492" y="4"/>
                  </a:cubicBezTo>
                  <a:close/>
                  <a:moveTo>
                    <a:pt x="74475" y="4"/>
                  </a:moveTo>
                  <a:cubicBezTo>
                    <a:pt x="115589" y="-484"/>
                    <a:pt x="154925" y="39182"/>
                    <a:pt x="154925" y="80174"/>
                  </a:cubicBezTo>
                  <a:cubicBezTo>
                    <a:pt x="154932" y="85473"/>
                    <a:pt x="153634" y="91116"/>
                    <a:pt x="151417" y="96830"/>
                  </a:cubicBezTo>
                  <a:lnTo>
                    <a:pt x="150427" y="97813"/>
                  </a:lnTo>
                  <a:lnTo>
                    <a:pt x="140464" y="107751"/>
                  </a:lnTo>
                  <a:lnTo>
                    <a:pt x="145155" y="116764"/>
                  </a:lnTo>
                  <a:lnTo>
                    <a:pt x="136125" y="112074"/>
                  </a:lnTo>
                  <a:lnTo>
                    <a:pt x="126155" y="122012"/>
                  </a:lnTo>
                  <a:lnTo>
                    <a:pt x="117153" y="130982"/>
                  </a:lnTo>
                  <a:cubicBezTo>
                    <a:pt x="111687" y="136424"/>
                    <a:pt x="107735" y="142799"/>
                    <a:pt x="105225" y="149582"/>
                  </a:cubicBezTo>
                  <a:lnTo>
                    <a:pt x="103725" y="148090"/>
                  </a:lnTo>
                  <a:cubicBezTo>
                    <a:pt x="95864" y="152027"/>
                    <a:pt x="87909" y="154393"/>
                    <a:pt x="80464" y="154393"/>
                  </a:cubicBezTo>
                  <a:cubicBezTo>
                    <a:pt x="39342" y="154393"/>
                    <a:pt x="502" y="115200"/>
                    <a:pt x="0" y="74216"/>
                  </a:cubicBezTo>
                  <a:cubicBezTo>
                    <a:pt x="7" y="74058"/>
                    <a:pt x="4641" y="69505"/>
                    <a:pt x="7259" y="66895"/>
                  </a:cubicBezTo>
                  <a:cubicBezTo>
                    <a:pt x="40920" y="100459"/>
                    <a:pt x="34322" y="97031"/>
                    <a:pt x="55072" y="97031"/>
                  </a:cubicBezTo>
                  <a:cubicBezTo>
                    <a:pt x="71104" y="97031"/>
                    <a:pt x="97370" y="71218"/>
                    <a:pt x="97370" y="54878"/>
                  </a:cubicBezTo>
                  <a:cubicBezTo>
                    <a:pt x="97370" y="34729"/>
                    <a:pt x="100096" y="40064"/>
                    <a:pt x="67137" y="7224"/>
                  </a:cubicBezTo>
                  <a:cubicBezTo>
                    <a:pt x="69669" y="4700"/>
                    <a:pt x="74317" y="4"/>
                    <a:pt x="74475" y="4"/>
                  </a:cubicBezTo>
                  <a:close/>
                </a:path>
              </a:pathLst>
            </a:custGeom>
            <a:solidFill>
              <a:schemeClr val="accent2"/>
            </a:solidFill>
            <a:ln>
              <a:noFill/>
            </a:ln>
          </p:spPr>
          <p:txBody>
            <a:bodyPr wrap="square" lIns="91440" tIns="45720" rIns="91440" bIns="45720" anchor="ctr">
              <a:normAutofit lnSpcReduction="10000"/>
            </a:bodyPr>
            <a:lstStyle/>
            <a:p>
              <a:pPr algn="ctr"/>
            </a:p>
          </p:txBody>
        </p:sp>
        <p:sp>
          <p:nvSpPr>
            <p:cNvPr id="34" name="isľîdê"/>
            <p:cNvSpPr txBox="1"/>
            <p:nvPr/>
          </p:nvSpPr>
          <p:spPr>
            <a:xfrm>
              <a:off x="3414210" y="4652002"/>
              <a:ext cx="2533740" cy="1461716"/>
            </a:xfrm>
            <a:prstGeom prst="rect">
              <a:avLst/>
            </a:prstGeom>
            <a:noFill/>
            <a:ln>
              <a:noFill/>
            </a:ln>
          </p:spPr>
          <p:txBody>
            <a:bodyPr wrap="square" lIns="91440" tIns="45720" rIns="91440" bIns="45720" anchor="t" anchorCtr="0">
              <a:noAutofit/>
            </a:bodyPr>
            <a:lstStyle/>
            <a:p>
              <a:pPr marL="0" lvl="1" algn="ctr">
                <a:lnSpc>
                  <a:spcPct val="120000"/>
                </a:lnSpc>
              </a:pPr>
              <a:r>
                <a:rPr lang="zh-CN" altLang="en-US" sz="2200" dirty="0"/>
                <a:t>感觉用户独占主机。</a:t>
              </a:r>
              <a:endParaRPr lang="zh-CN" altLang="en-US" sz="2200" dirty="0"/>
            </a:p>
          </p:txBody>
        </p:sp>
        <p:sp>
          <p:nvSpPr>
            <p:cNvPr id="35" name="isľîdê"/>
            <p:cNvSpPr txBox="1"/>
            <p:nvPr/>
          </p:nvSpPr>
          <p:spPr>
            <a:xfrm>
              <a:off x="6255660" y="4600486"/>
              <a:ext cx="2533740" cy="1461716"/>
            </a:xfrm>
            <a:prstGeom prst="rect">
              <a:avLst/>
            </a:prstGeom>
            <a:noFill/>
            <a:ln>
              <a:noFill/>
            </a:ln>
          </p:spPr>
          <p:txBody>
            <a:bodyPr wrap="square" lIns="91440" tIns="45720" rIns="91440" bIns="45720" anchor="t" anchorCtr="0">
              <a:noAutofit/>
            </a:bodyPr>
            <a:lstStyle/>
            <a:p>
              <a:pPr marL="0" lvl="1" algn="ctr">
                <a:lnSpc>
                  <a:spcPct val="120000"/>
                </a:lnSpc>
              </a:pPr>
              <a:r>
                <a:rPr lang="zh-CN" altLang="en-US" sz="2200" dirty="0"/>
                <a:t>用户的请求能在很短时间内获得响应（</a:t>
              </a:r>
              <a:r>
                <a:rPr lang="en-US" altLang="zh-CN" sz="2200" dirty="0"/>
                <a:t>1~3</a:t>
              </a:r>
              <a:r>
                <a:rPr lang="zh-CN" altLang="en-US" sz="2200" dirty="0"/>
                <a:t>秒）。</a:t>
              </a:r>
              <a:endParaRPr lang="zh-CN" altLang="en-US" sz="2200" dirty="0"/>
            </a:p>
          </p:txBody>
        </p:sp>
        <p:sp>
          <p:nvSpPr>
            <p:cNvPr id="36" name="isľîdê"/>
            <p:cNvSpPr txBox="1"/>
            <p:nvPr/>
          </p:nvSpPr>
          <p:spPr>
            <a:xfrm>
              <a:off x="8985160" y="4600486"/>
              <a:ext cx="2533740" cy="1461716"/>
            </a:xfrm>
            <a:prstGeom prst="rect">
              <a:avLst/>
            </a:prstGeom>
            <a:noFill/>
            <a:ln>
              <a:noFill/>
            </a:ln>
          </p:spPr>
          <p:txBody>
            <a:bodyPr wrap="square" lIns="91440" tIns="45720" rIns="91440" bIns="45720" anchor="t" anchorCtr="0">
              <a:noAutofit/>
            </a:bodyPr>
            <a:lstStyle/>
            <a:p>
              <a:pPr marL="0" lvl="1" algn="ctr">
                <a:lnSpc>
                  <a:spcPct val="120000"/>
                </a:lnSpc>
              </a:pPr>
              <a:r>
                <a:rPr lang="zh-CN" altLang="en-US" sz="2200" dirty="0"/>
                <a:t>用户可通过终端与系统进行广泛的人机对话。</a:t>
              </a:r>
              <a:endParaRPr lang="zh-CN" altLang="en-US" sz="2200" dirty="0"/>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实时系统</a:t>
            </a:r>
            <a:r>
              <a:rPr lang="en-US" altLang="zh-CN" sz="2800" b="1" dirty="0">
                <a:solidFill>
                  <a:schemeClr val="bg1"/>
                </a:solidFill>
              </a:rPr>
              <a:t>(1)</a:t>
            </a:r>
            <a:endParaRPr lang="zh-CN" altLang="en-US" sz="2800" b="1" dirty="0">
              <a:solidFill>
                <a:schemeClr val="bg1"/>
              </a:solidFill>
            </a:endParaRPr>
          </a:p>
        </p:txBody>
      </p:sp>
      <p:sp>
        <p:nvSpPr>
          <p:cNvPr id="2" name="矩形 1"/>
          <p:cNvSpPr/>
          <p:nvPr/>
        </p:nvSpPr>
        <p:spPr>
          <a:xfrm>
            <a:off x="669925" y="1268516"/>
            <a:ext cx="10850563" cy="2353837"/>
          </a:xfrm>
          <a:prstGeom prst="rect">
            <a:avLst/>
          </a:prstGeom>
        </p:spPr>
        <p:txBody>
          <a:bodyPr wrap="square">
            <a:noAutofit/>
          </a:bodyPr>
          <a:lstStyle/>
          <a:p>
            <a:pPr indent="457200">
              <a:lnSpc>
                <a:spcPct val="132000"/>
              </a:lnSpc>
              <a:spcBef>
                <a:spcPts val="600"/>
              </a:spcBef>
              <a:spcAft>
                <a:spcPts val="600"/>
              </a:spcAft>
            </a:pPr>
            <a:r>
              <a:rPr lang="zh-CN" altLang="en-US" sz="2400" dirty="0">
                <a:latin typeface="+mn-ea"/>
              </a:rPr>
              <a:t>实时系统：系统能及时响应外部事件的请求，在规定的时间内完成对该事件的处理，并控制所有实时任务协调一致地运行。</a:t>
            </a:r>
            <a:endParaRPr lang="en-US" altLang="zh-CN" sz="2400" dirty="0">
              <a:latin typeface="+mn-ea"/>
            </a:endParaRPr>
          </a:p>
          <a:p>
            <a:pPr indent="457200">
              <a:lnSpc>
                <a:spcPct val="132000"/>
              </a:lnSpc>
              <a:spcBef>
                <a:spcPts val="600"/>
              </a:spcBef>
              <a:spcAft>
                <a:spcPts val="600"/>
              </a:spcAft>
            </a:pPr>
            <a:r>
              <a:rPr lang="zh-CN" altLang="en-US" sz="2400" dirty="0"/>
              <a:t>最主要的特征：</a:t>
            </a:r>
            <a:r>
              <a:rPr lang="zh-CN" altLang="en-US" sz="2400" dirty="0">
                <a:solidFill>
                  <a:srgbClr val="FF0000"/>
                </a:solidFill>
              </a:rPr>
              <a:t>实时性</a:t>
            </a:r>
            <a:endParaRPr lang="en-US" altLang="zh-CN" sz="2400" dirty="0">
              <a:solidFill>
                <a:srgbClr val="FF0000"/>
              </a:solidFill>
            </a:endParaRPr>
          </a:p>
          <a:p>
            <a:pPr indent="457200">
              <a:lnSpc>
                <a:spcPct val="132000"/>
              </a:lnSpc>
              <a:spcBef>
                <a:spcPts val="600"/>
              </a:spcBef>
              <a:spcAft>
                <a:spcPts val="600"/>
              </a:spcAft>
            </a:pPr>
            <a:endParaRPr lang="en-US" altLang="zh-CN" sz="2400" dirty="0">
              <a:solidFill>
                <a:srgbClr val="FF0000"/>
              </a:solidFill>
            </a:endParaRPr>
          </a:p>
          <a:p>
            <a:pPr indent="457200">
              <a:lnSpc>
                <a:spcPct val="132000"/>
              </a:lnSpc>
              <a:spcBef>
                <a:spcPts val="600"/>
              </a:spcBef>
              <a:spcAft>
                <a:spcPts val="600"/>
              </a:spcAft>
            </a:pPr>
            <a:r>
              <a:rPr lang="zh-CN" altLang="en-US" sz="2400" dirty="0"/>
              <a:t>实时系统类型：</a:t>
            </a:r>
            <a:endParaRPr lang="en-US" altLang="zh-CN" sz="2400" dirty="0">
              <a:solidFill>
                <a:srgbClr val="FF0000"/>
              </a:solidFill>
            </a:endParaRPr>
          </a:p>
          <a:p>
            <a:pPr indent="457200">
              <a:lnSpc>
                <a:spcPct val="132000"/>
              </a:lnSpc>
              <a:spcBef>
                <a:spcPts val="600"/>
              </a:spcBef>
              <a:spcAft>
                <a:spcPts val="600"/>
              </a:spcAft>
            </a:pPr>
            <a:endParaRPr lang="zh-CN" altLang="en-US" sz="2400" dirty="0">
              <a:latin typeface="+mn-ea"/>
            </a:endParaRPr>
          </a:p>
        </p:txBody>
      </p:sp>
      <p:sp>
        <p:nvSpPr>
          <p:cNvPr id="10" name="矩形 9"/>
          <p:cNvSpPr/>
          <p:nvPr/>
        </p:nvSpPr>
        <p:spPr>
          <a:xfrm>
            <a:off x="1751773" y="4499232"/>
            <a:ext cx="3946662" cy="1291969"/>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工业（武器）控制系统</a:t>
            </a:r>
            <a:endParaRPr lang="zh-CN" altLang="en-US" sz="2400" dirty="0">
              <a:latin typeface="+mn-ea"/>
            </a:endParaRPr>
          </a:p>
          <a:p>
            <a:pPr>
              <a:lnSpc>
                <a:spcPct val="132000"/>
              </a:lnSpc>
              <a:spcBef>
                <a:spcPts val="600"/>
              </a:spcBef>
              <a:spcAft>
                <a:spcPts val="600"/>
              </a:spcAft>
            </a:pPr>
            <a:r>
              <a:rPr lang="zh-CN" altLang="en-US" sz="2400" dirty="0">
                <a:latin typeface="+mn-ea"/>
              </a:rPr>
              <a:t>信息查询系统</a:t>
            </a:r>
            <a:endParaRPr lang="zh-CN" altLang="en-US" sz="2400" dirty="0">
              <a:latin typeface="+mn-ea"/>
            </a:endParaRPr>
          </a:p>
        </p:txBody>
      </p:sp>
      <p:sp>
        <p:nvSpPr>
          <p:cNvPr id="11" name="矩形 10"/>
          <p:cNvSpPr/>
          <p:nvPr/>
        </p:nvSpPr>
        <p:spPr>
          <a:xfrm>
            <a:off x="7900781" y="4404233"/>
            <a:ext cx="2767219" cy="1199405"/>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多媒体系统</a:t>
            </a:r>
            <a:endParaRPr lang="zh-CN" altLang="en-US" sz="2400" dirty="0">
              <a:latin typeface="+mn-ea"/>
            </a:endParaRPr>
          </a:p>
          <a:p>
            <a:pPr>
              <a:lnSpc>
                <a:spcPct val="132000"/>
              </a:lnSpc>
              <a:spcBef>
                <a:spcPts val="600"/>
              </a:spcBef>
              <a:spcAft>
                <a:spcPts val="600"/>
              </a:spcAft>
            </a:pPr>
            <a:r>
              <a:rPr lang="zh-CN" altLang="en-US" sz="2400" dirty="0">
                <a:latin typeface="+mn-ea"/>
              </a:rPr>
              <a:t>嵌入式系统</a:t>
            </a:r>
            <a:endParaRPr lang="zh-CN" altLang="en-US" sz="2400" dirty="0">
              <a:latin typeface="+mn-ea"/>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169150" y="4476885"/>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169150" y="5149863"/>
            <a:ext cx="527050" cy="527050"/>
          </a:xfrm>
          <a:prstGeom prst="rect">
            <a:avLst/>
          </a:prstGeom>
          <a:ln>
            <a:noFill/>
          </a:ln>
          <a:effectLst>
            <a:softEdge rad="0"/>
          </a:effectLst>
        </p:spPr>
      </p:pic>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81100" y="4500717"/>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81100" y="5149863"/>
            <a:ext cx="527050" cy="527050"/>
          </a:xfrm>
          <a:prstGeom prst="rect">
            <a:avLst/>
          </a:prstGeom>
          <a:ln>
            <a:noFill/>
          </a:ln>
          <a:effectLst>
            <a:softEdge rad="0"/>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954107"/>
          </a:xfrm>
          <a:prstGeom prst="rect">
            <a:avLst/>
          </a:prstGeom>
        </p:spPr>
        <p:txBody>
          <a:bodyPr wrap="square">
            <a:spAutoFit/>
          </a:bodyPr>
          <a:lstStyle/>
          <a:p>
            <a:r>
              <a:rPr lang="zh-CN" altLang="en-US" sz="2800" b="1" dirty="0">
                <a:solidFill>
                  <a:schemeClr val="bg1"/>
                </a:solidFill>
              </a:rPr>
              <a:t>实时系统</a:t>
            </a:r>
            <a:r>
              <a:rPr lang="en-US" altLang="zh-CN" sz="2800" b="1" dirty="0">
                <a:solidFill>
                  <a:schemeClr val="bg1"/>
                </a:solidFill>
              </a:rPr>
              <a:t>(2)</a:t>
            </a:r>
            <a:endParaRPr lang="en-US" altLang="zh-CN" sz="2800" b="1" dirty="0">
              <a:solidFill>
                <a:schemeClr val="bg1"/>
              </a:solidFill>
            </a:endParaRPr>
          </a:p>
          <a:p>
            <a:endParaRPr lang="zh-CN" altLang="en-US" sz="2800" b="1" dirty="0">
              <a:solidFill>
                <a:schemeClr val="bg1"/>
              </a:solidFill>
            </a:endParaRPr>
          </a:p>
        </p:txBody>
      </p:sp>
      <p:sp>
        <p:nvSpPr>
          <p:cNvPr id="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8" name="îṧľîdé"/>
          <p:cNvSpPr/>
          <p:nvPr/>
        </p:nvSpPr>
        <p:spPr>
          <a:xfrm>
            <a:off x="3945450" y="1508926"/>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9" name="内容占位符 2"/>
          <p:cNvSpPr txBox="1"/>
          <p:nvPr/>
        </p:nvSpPr>
        <p:spPr>
          <a:xfrm>
            <a:off x="894703" y="2556676"/>
            <a:ext cx="430836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实时任务的类型</a:t>
            </a:r>
            <a:endParaRPr lang="en-US" altLang="zh-CN"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根据</a:t>
            </a:r>
            <a:r>
              <a:rPr lang="zh-CN" altLang="en-US" sz="2200" dirty="0">
                <a:solidFill>
                  <a:srgbClr val="0000FF"/>
                </a:solidFill>
              </a:rPr>
              <a:t>任务执行时是否呈现周期性</a:t>
            </a:r>
            <a:r>
              <a:rPr lang="zh-CN" altLang="en-US" sz="2200" dirty="0">
                <a:solidFill>
                  <a:schemeClr val="tx1">
                    <a:lumMod val="65000"/>
                    <a:lumOff val="35000"/>
                  </a:schemeClr>
                </a:solidFill>
              </a:rPr>
              <a:t>来划分</a:t>
            </a:r>
            <a:endParaRPr lang="zh-CN" altLang="en-US" sz="22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200" dirty="0">
                <a:solidFill>
                  <a:schemeClr val="tx1">
                    <a:lumMod val="65000"/>
                    <a:lumOff val="35000"/>
                  </a:schemeClr>
                </a:solidFill>
              </a:rPr>
              <a:t>周期性实时任务、非周期性实时任务</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根据</a:t>
            </a:r>
            <a:r>
              <a:rPr lang="zh-CN" altLang="en-US" sz="2200" dirty="0">
                <a:solidFill>
                  <a:srgbClr val="0000FF"/>
                </a:solidFill>
              </a:rPr>
              <a:t>对截止时间的要求</a:t>
            </a:r>
            <a:r>
              <a:rPr lang="zh-CN" altLang="en-US" sz="2200" dirty="0">
                <a:solidFill>
                  <a:schemeClr val="tx1">
                    <a:lumMod val="65000"/>
                    <a:lumOff val="35000"/>
                  </a:schemeClr>
                </a:solidFill>
              </a:rPr>
              <a:t>来划分</a:t>
            </a:r>
            <a:endParaRPr lang="zh-CN" altLang="en-US" sz="22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200" dirty="0">
                <a:solidFill>
                  <a:schemeClr val="tx1">
                    <a:lumMod val="65000"/>
                    <a:lumOff val="35000"/>
                  </a:schemeClr>
                </a:solidFill>
              </a:rPr>
              <a:t>硬实时任务、软实时任务</a:t>
            </a:r>
            <a:endParaRPr lang="zh-CN" altLang="en-US" sz="2200" dirty="0">
              <a:solidFill>
                <a:schemeClr val="tx1">
                  <a:lumMod val="65000"/>
                  <a:lumOff val="35000"/>
                </a:schemeClr>
              </a:solidFill>
            </a:endParaRPr>
          </a:p>
        </p:txBody>
      </p:sp>
      <p:sp>
        <p:nvSpPr>
          <p:cNvPr id="10" name="内容占位符 2"/>
          <p:cNvSpPr txBox="1"/>
          <p:nvPr/>
        </p:nvSpPr>
        <p:spPr>
          <a:xfrm>
            <a:off x="7696200" y="3235045"/>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实时系统与分时系统的比较</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多路性</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独立性</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及时性</a:t>
            </a:r>
            <a:endParaRPr lang="zh-CN" altLang="en-US" sz="2200" dirty="0">
              <a:solidFill>
                <a:srgbClr val="FF0000"/>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交互性</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可靠性</a:t>
            </a:r>
            <a:endParaRPr lang="zh-CN" altLang="en-US" sz="2200"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微机操作系统的发展</a:t>
            </a:r>
            <a:endParaRPr lang="zh-CN" altLang="en-US" sz="2800" b="1" dirty="0">
              <a:solidFill>
                <a:schemeClr val="bg1"/>
              </a:solidFill>
            </a:endParaRPr>
          </a:p>
        </p:txBody>
      </p:sp>
      <p:sp>
        <p:nvSpPr>
          <p:cNvPr id="220" name="íšḻîḋè"/>
          <p:cNvSpPr/>
          <p:nvPr/>
        </p:nvSpPr>
        <p:spPr>
          <a:xfrm>
            <a:off x="2485983" y="3427032"/>
            <a:ext cx="2941922" cy="523971"/>
          </a:xfrm>
          <a:prstGeom prst="rect">
            <a:avLst/>
          </a:prstGeom>
          <a:noFill/>
          <a:ln>
            <a:noFill/>
          </a:ln>
        </p:spPr>
        <p:txBody>
          <a:bodyPr wrap="square" lIns="91440" tIns="45720" rIns="91440" bIns="45720" anchor="t" anchorCtr="0">
            <a:normAutofit lnSpcReduction="10000"/>
          </a:bodyPr>
          <a:lstStyle/>
          <a:p>
            <a:pPr marL="342900" indent="-342900">
              <a:lnSpc>
                <a:spcPct val="120000"/>
              </a:lnSpc>
              <a:buClr>
                <a:srgbClr val="FF0000"/>
              </a:buClr>
              <a:buFont typeface="Wingdings" panose="05000000000000000000" pitchFamily="2" charset="2"/>
              <a:buChar char="Ø"/>
            </a:pPr>
            <a:r>
              <a:rPr lang="en-US" altLang="zh-CN" sz="2400" dirty="0"/>
              <a:t>Windows 95/98</a:t>
            </a:r>
            <a:endParaRPr lang="en-US" altLang="zh-CN" sz="2400" dirty="0"/>
          </a:p>
        </p:txBody>
      </p:sp>
      <p:sp>
        <p:nvSpPr>
          <p:cNvPr id="221" name="i$lîďê"/>
          <p:cNvSpPr/>
          <p:nvPr/>
        </p:nvSpPr>
        <p:spPr>
          <a:xfrm>
            <a:off x="2485983" y="2986584"/>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单用户多任务</a:t>
            </a:r>
            <a:r>
              <a:rPr lang="zh-CN" altLang="en-US" sz="2400" dirty="0"/>
              <a:t>操作系统</a:t>
            </a:r>
            <a:endParaRPr lang="en-US" altLang="zh-CN" sz="2400" dirty="0"/>
          </a:p>
        </p:txBody>
      </p:sp>
      <p:sp>
        <p:nvSpPr>
          <p:cNvPr id="222" name="î$ļíḋè"/>
          <p:cNvSpPr/>
          <p:nvPr/>
        </p:nvSpPr>
        <p:spPr>
          <a:xfrm>
            <a:off x="3169487" y="4884564"/>
            <a:ext cx="2257252"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pt-BR" altLang="zh-CN" sz="2400" dirty="0"/>
              <a:t>Solaris OS</a:t>
            </a:r>
            <a:endParaRPr lang="pt-BR" altLang="zh-CN" sz="2400" dirty="0"/>
          </a:p>
        </p:txBody>
      </p:sp>
      <p:sp>
        <p:nvSpPr>
          <p:cNvPr id="223" name="ïṧḷïḋè"/>
          <p:cNvSpPr/>
          <p:nvPr/>
        </p:nvSpPr>
        <p:spPr>
          <a:xfrm>
            <a:off x="3169487" y="4371789"/>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多用户多任务</a:t>
            </a:r>
            <a:r>
              <a:rPr lang="zh-CN" altLang="en-US" sz="2400" dirty="0"/>
              <a:t>操作系统</a:t>
            </a:r>
            <a:endParaRPr lang="en-US" altLang="zh-CN" sz="2400" dirty="0"/>
          </a:p>
        </p:txBody>
      </p:sp>
      <p:sp>
        <p:nvSpPr>
          <p:cNvPr id="224" name="îs1iďé"/>
          <p:cNvSpPr/>
          <p:nvPr/>
        </p:nvSpPr>
        <p:spPr>
          <a:xfrm>
            <a:off x="1802481" y="2115747"/>
            <a:ext cx="2941922" cy="523971"/>
          </a:xfrm>
          <a:prstGeom prst="rect">
            <a:avLst/>
          </a:prstGeom>
          <a:noFill/>
          <a:ln>
            <a:noFill/>
          </a:ln>
        </p:spPr>
        <p:txBody>
          <a:bodyPr wrap="square" lIns="91440" tIns="45720" rIns="91440" bIns="45720" anchor="t" anchorCtr="0">
            <a:normAutofit lnSpcReduction="10000"/>
          </a:bodyPr>
          <a:lstStyle/>
          <a:p>
            <a:pPr marL="342900" indent="-342900">
              <a:lnSpc>
                <a:spcPct val="120000"/>
              </a:lnSpc>
              <a:buClr>
                <a:srgbClr val="FF0000"/>
              </a:buClr>
              <a:buFont typeface="Wingdings" panose="05000000000000000000" pitchFamily="2" charset="2"/>
              <a:buChar char="Ø"/>
            </a:pPr>
            <a:r>
              <a:rPr lang="en-US" altLang="zh-CN" sz="2400" dirty="0"/>
              <a:t>CP/M</a:t>
            </a:r>
            <a:r>
              <a:rPr lang="zh-CN" altLang="en-US" sz="2400" dirty="0"/>
              <a:t>，</a:t>
            </a:r>
            <a:r>
              <a:rPr lang="en-US" altLang="zh-CN" sz="2400" dirty="0"/>
              <a:t>MS-DOS</a:t>
            </a:r>
            <a:endParaRPr lang="en-US" altLang="zh-CN" sz="2400" dirty="0"/>
          </a:p>
        </p:txBody>
      </p:sp>
      <p:sp>
        <p:nvSpPr>
          <p:cNvPr id="225" name="íšḻíḑê"/>
          <p:cNvSpPr/>
          <p:nvPr/>
        </p:nvSpPr>
        <p:spPr>
          <a:xfrm>
            <a:off x="1802481" y="1699200"/>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单用户单任务</a:t>
            </a:r>
            <a:r>
              <a:rPr lang="zh-CN" altLang="en-US" sz="2400" dirty="0"/>
              <a:t>操作系统</a:t>
            </a:r>
            <a:endParaRPr lang="en-US" altLang="zh-CN" sz="2400" dirty="0"/>
          </a:p>
        </p:txBody>
      </p:sp>
      <p:sp>
        <p:nvSpPr>
          <p:cNvPr id="226" name="îSļiḓè"/>
          <p:cNvSpPr/>
          <p:nvPr/>
        </p:nvSpPr>
        <p:spPr>
          <a:xfrm>
            <a:off x="1118978" y="168563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2485983" y="428918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802481" y="297621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3" y="188177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992735" y="319822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2705176" y="447864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6" name="î$ļíḋè"/>
          <p:cNvSpPr/>
          <p:nvPr/>
        </p:nvSpPr>
        <p:spPr>
          <a:xfrm>
            <a:off x="5230106" y="4884564"/>
            <a:ext cx="2006347"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pt-BR" altLang="zh-CN" sz="2400" dirty="0"/>
              <a:t>Linux OS</a:t>
            </a:r>
            <a:endParaRPr lang="pt-BR" altLang="zh-CN" sz="2400" dirty="0"/>
          </a:p>
        </p:txBody>
      </p:sp>
      <p:sp>
        <p:nvSpPr>
          <p:cNvPr id="237" name="î$ļíḋè"/>
          <p:cNvSpPr/>
          <p:nvPr/>
        </p:nvSpPr>
        <p:spPr>
          <a:xfrm>
            <a:off x="7290725" y="4917054"/>
            <a:ext cx="2006347" cy="49148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pt-BR" altLang="zh-CN" sz="2400" dirty="0"/>
              <a:t>Windows</a:t>
            </a:r>
            <a:endParaRPr lang="pt-BR" altLang="zh-CN" sz="2400" dirty="0"/>
          </a:p>
        </p:txBody>
      </p:sp>
      <p:sp>
        <p:nvSpPr>
          <p:cNvPr id="238" name="î$ļíḋè"/>
          <p:cNvSpPr/>
          <p:nvPr/>
        </p:nvSpPr>
        <p:spPr>
          <a:xfrm>
            <a:off x="9351343" y="4917054"/>
            <a:ext cx="2012073" cy="49148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pt-BR" altLang="zh-CN" sz="2400" dirty="0"/>
              <a:t>NT/Server</a:t>
            </a:r>
            <a:endParaRPr lang="pt-BR" altLang="zh-CN"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嵌入式操作系统</a:t>
            </a:r>
            <a:endParaRPr lang="zh-CN" altLang="en-US" sz="2800" b="1" dirty="0">
              <a:solidFill>
                <a:schemeClr val="bg1"/>
              </a:solidFill>
            </a:endParaRPr>
          </a:p>
        </p:txBody>
      </p:sp>
      <p:sp>
        <p:nvSpPr>
          <p:cNvPr id="570" name="iṥlídè"/>
          <p:cNvSpPr/>
          <p:nvPr/>
        </p:nvSpPr>
        <p:spPr>
          <a:xfrm>
            <a:off x="6958245" y="1128057"/>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571" name="iṡļiḓe"/>
          <p:cNvGrpSpPr/>
          <p:nvPr/>
        </p:nvGrpSpPr>
        <p:grpSpPr>
          <a:xfrm>
            <a:off x="660400" y="1298467"/>
            <a:ext cx="5753279" cy="2333733"/>
            <a:chOff x="660400" y="1787149"/>
            <a:chExt cx="5753279" cy="2333733"/>
          </a:xfrm>
        </p:grpSpPr>
        <p:grpSp>
          <p:nvGrpSpPr>
            <p:cNvPr id="1144" name="iSḻíḓè"/>
            <p:cNvGrpSpPr/>
            <p:nvPr/>
          </p:nvGrpSpPr>
          <p:grpSpPr>
            <a:xfrm>
              <a:off x="1296567" y="1835355"/>
              <a:ext cx="5117112" cy="2285527"/>
              <a:chOff x="1296567" y="1835355"/>
              <a:chExt cx="6453960" cy="2285527"/>
            </a:xfrm>
          </p:grpSpPr>
          <p:sp>
            <p:nvSpPr>
              <p:cNvPr id="1148"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rPr>
                  <a:t>嵌入式系统</a:t>
                </a:r>
                <a:endParaRPr lang="zh-CN" altLang="en-US" sz="2400" dirty="0">
                  <a:solidFill>
                    <a:srgbClr val="0000FF"/>
                  </a:solidFill>
                </a:endParaRPr>
              </a:p>
            </p:txBody>
          </p:sp>
          <p:sp>
            <p:nvSpPr>
              <p:cNvPr id="1149" name="íşļîḓé"/>
              <p:cNvSpPr/>
              <p:nvPr/>
            </p:nvSpPr>
            <p:spPr bwMode="auto">
              <a:xfrm>
                <a:off x="1296567" y="2279077"/>
                <a:ext cx="6453960"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为了完成某个特定功能而设计的系统，或是有附加机制的系统，或是其他部分的计算机硬件与软件的结合体</a:t>
                </a:r>
                <a:endParaRPr lang="zh-CN" altLang="en-US" sz="20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有实时限制，如响应速度、测量精度、持续时间等</a:t>
                </a:r>
                <a:endParaRPr lang="zh-CN" altLang="en-US" sz="2000" dirty="0"/>
              </a:p>
            </p:txBody>
          </p:sp>
        </p:grpSp>
        <p:grpSp>
          <p:nvGrpSpPr>
            <p:cNvPr id="1145" name="ïS1íḋé"/>
            <p:cNvGrpSpPr/>
            <p:nvPr/>
          </p:nvGrpSpPr>
          <p:grpSpPr>
            <a:xfrm>
              <a:off x="660400" y="1787149"/>
              <a:ext cx="497734" cy="497734"/>
              <a:chOff x="660400" y="1787149"/>
              <a:chExt cx="497734" cy="497734"/>
            </a:xfrm>
          </p:grpSpPr>
          <p:sp>
            <p:nvSpPr>
              <p:cNvPr id="1146"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7"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572" name="iŝļïḓê"/>
          <p:cNvGrpSpPr/>
          <p:nvPr/>
        </p:nvGrpSpPr>
        <p:grpSpPr>
          <a:xfrm>
            <a:off x="660400" y="3994675"/>
            <a:ext cx="8120136" cy="2504143"/>
            <a:chOff x="660400" y="2092935"/>
            <a:chExt cx="8120136" cy="2504143"/>
          </a:xfrm>
        </p:grpSpPr>
        <p:grpSp>
          <p:nvGrpSpPr>
            <p:cNvPr id="574" name="ïṧļïḓe"/>
            <p:cNvGrpSpPr/>
            <p:nvPr/>
          </p:nvGrpSpPr>
          <p:grpSpPr>
            <a:xfrm>
              <a:off x="1296567" y="2092935"/>
              <a:ext cx="7483969" cy="2504143"/>
              <a:chOff x="1296567" y="2092935"/>
              <a:chExt cx="9439156" cy="2504143"/>
            </a:xfrm>
          </p:grpSpPr>
          <p:sp>
            <p:nvSpPr>
              <p:cNvPr id="1142"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嵌入式</a:t>
                </a:r>
                <a:r>
                  <a:rPr lang="en-US" altLang="zh-CN" sz="2400" dirty="0">
                    <a:solidFill>
                      <a:srgbClr val="FF0000"/>
                    </a:solidFill>
                  </a:rPr>
                  <a:t>OS</a:t>
                </a:r>
                <a:r>
                  <a:rPr lang="zh-CN" altLang="en-US" sz="2400" dirty="0"/>
                  <a:t>：用于嵌入式系统的</a:t>
                </a:r>
                <a:r>
                  <a:rPr lang="en-US" altLang="zh-CN" sz="2400" dirty="0"/>
                  <a:t>OS</a:t>
                </a:r>
                <a:endParaRPr lang="en-US" altLang="zh-CN" sz="2400" dirty="0"/>
              </a:p>
            </p:txBody>
          </p:sp>
          <p:sp>
            <p:nvSpPr>
              <p:cNvPr id="1143" name="íşľíḑè"/>
              <p:cNvSpPr/>
              <p:nvPr/>
            </p:nvSpPr>
            <p:spPr bwMode="auto">
              <a:xfrm>
                <a:off x="1312811" y="2588173"/>
                <a:ext cx="6632637" cy="148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buFont typeface="Wingdings" panose="05000000000000000000" pitchFamily="2" charset="2"/>
                  <a:buChar char="Ø"/>
                </a:pPr>
                <a:r>
                  <a:rPr lang="en-US" altLang="zh-CN" sz="2000" dirty="0"/>
                  <a:t>µC/OS-II</a:t>
                </a:r>
                <a:r>
                  <a:rPr lang="zh-CN" altLang="en-US" sz="2000" dirty="0"/>
                  <a:t>、嵌入式</a:t>
                </a:r>
                <a:r>
                  <a:rPr lang="en-US" altLang="zh-CN" sz="2000" dirty="0"/>
                  <a:t>Linux</a:t>
                </a:r>
                <a:r>
                  <a:rPr lang="zh-CN" altLang="en-US" sz="2000" dirty="0"/>
                  <a:t>、</a:t>
                </a:r>
                <a:r>
                  <a:rPr lang="en-US" altLang="zh-CN" sz="2000" dirty="0"/>
                  <a:t>Windows Embedded</a:t>
                </a:r>
                <a:r>
                  <a:rPr lang="zh-CN" altLang="en-US" sz="2000" dirty="0"/>
                  <a:t>、</a:t>
                </a:r>
                <a:r>
                  <a:rPr lang="en-US" altLang="zh-CN" sz="2000" dirty="0" err="1"/>
                  <a:t>VxWorks</a:t>
                </a:r>
                <a:r>
                  <a:rPr lang="zh-CN" altLang="en-US" sz="2000" dirty="0"/>
                  <a:t>、</a:t>
                </a:r>
                <a:r>
                  <a:rPr lang="en-US" altLang="zh-CN" sz="2000" dirty="0"/>
                  <a:t>Android</a:t>
                </a:r>
                <a:r>
                  <a:rPr lang="zh-CN" altLang="en-US" sz="2000" dirty="0"/>
                  <a:t>、</a:t>
                </a:r>
                <a:r>
                  <a:rPr lang="en-US" altLang="zh-CN" sz="2000" dirty="0"/>
                  <a:t>iOS</a:t>
                </a:r>
                <a:r>
                  <a:rPr lang="zh-CN" altLang="en-US" sz="2000" dirty="0"/>
                  <a:t>等</a:t>
                </a:r>
                <a:endParaRPr lang="en-US" altLang="zh-CN" sz="2000" dirty="0"/>
              </a:p>
              <a:p>
                <a:pPr marL="342900" lvl="1" indent="-342900">
                  <a:lnSpc>
                    <a:spcPct val="132000"/>
                  </a:lnSpc>
                  <a:buFont typeface="Wingdings" panose="05000000000000000000" pitchFamily="2" charset="2"/>
                  <a:buChar char="Ø"/>
                </a:pPr>
                <a:r>
                  <a:rPr lang="zh-CN" altLang="en-US" sz="2000" dirty="0">
                    <a:solidFill>
                      <a:srgbClr val="FF0000"/>
                    </a:solidFill>
                  </a:rPr>
                  <a:t>特点</a:t>
                </a:r>
                <a:r>
                  <a:rPr lang="zh-CN" altLang="en-US" sz="2000" dirty="0"/>
                  <a:t>：</a:t>
                </a:r>
                <a:endParaRPr lang="en-US" altLang="zh-CN" sz="2000" dirty="0"/>
              </a:p>
              <a:p>
                <a:pPr marL="800100" lvl="2" indent="-342900">
                  <a:lnSpc>
                    <a:spcPct val="132000"/>
                  </a:lnSpc>
                  <a:buClr>
                    <a:srgbClr val="FF0000"/>
                  </a:buClr>
                  <a:buFont typeface="Wingdings" panose="05000000000000000000" pitchFamily="2" charset="2"/>
                  <a:buChar char="l"/>
                </a:pPr>
                <a:r>
                  <a:rPr lang="zh-CN" altLang="en-US" sz="2000" dirty="0"/>
                  <a:t>系统内核小</a:t>
                </a:r>
                <a:endParaRPr lang="zh-CN" altLang="en-US" sz="2000" dirty="0"/>
              </a:p>
            </p:txBody>
          </p:sp>
          <p:sp>
            <p:nvSpPr>
              <p:cNvPr id="1150" name="íşľíḑè"/>
              <p:cNvSpPr/>
              <p:nvPr/>
            </p:nvSpPr>
            <p:spPr bwMode="auto">
              <a:xfrm>
                <a:off x="3682198" y="3602688"/>
                <a:ext cx="4950084" cy="474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800100" lvl="2" indent="-342900">
                  <a:lnSpc>
                    <a:spcPct val="132000"/>
                  </a:lnSpc>
                  <a:buClr>
                    <a:srgbClr val="FF0000"/>
                  </a:buClr>
                  <a:buFont typeface="Wingdings" panose="05000000000000000000" pitchFamily="2" charset="2"/>
                  <a:buChar char="l"/>
                </a:pPr>
                <a:r>
                  <a:rPr lang="zh-CN" altLang="en-US" sz="2000" dirty="0"/>
                  <a:t>系统精简</a:t>
                </a:r>
                <a:endParaRPr lang="en-US" altLang="zh-CN" sz="2000" dirty="0"/>
              </a:p>
            </p:txBody>
          </p:sp>
          <p:sp>
            <p:nvSpPr>
              <p:cNvPr id="1151" name="íşľíḑè"/>
              <p:cNvSpPr/>
              <p:nvPr/>
            </p:nvSpPr>
            <p:spPr bwMode="auto">
              <a:xfrm>
                <a:off x="1296567" y="4045190"/>
                <a:ext cx="4856624" cy="55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800100" lvl="2" indent="-342900">
                  <a:lnSpc>
                    <a:spcPct val="132000"/>
                  </a:lnSpc>
                  <a:buClr>
                    <a:srgbClr val="FF0000"/>
                  </a:buClr>
                  <a:buFont typeface="Wingdings" panose="05000000000000000000" pitchFamily="2" charset="2"/>
                  <a:buChar char="l"/>
                </a:pPr>
                <a:r>
                  <a:rPr lang="zh-CN" altLang="en-US" sz="2000" dirty="0"/>
                  <a:t>具有可配置性</a:t>
                </a:r>
                <a:endParaRPr lang="zh-CN" altLang="en-US" sz="2000" dirty="0"/>
              </a:p>
              <a:p>
                <a:pPr marL="342900" lvl="1" indent="-342900">
                  <a:buFont typeface="Wingdings" panose="05000000000000000000" pitchFamily="2" charset="2"/>
                  <a:buChar char="Ø"/>
                </a:pPr>
                <a:endParaRPr lang="en-US" altLang="zh-CN" sz="2000" dirty="0"/>
              </a:p>
            </p:txBody>
          </p:sp>
          <p:sp>
            <p:nvSpPr>
              <p:cNvPr id="1152" name="íşľíḑè"/>
              <p:cNvSpPr/>
              <p:nvPr/>
            </p:nvSpPr>
            <p:spPr bwMode="auto">
              <a:xfrm>
                <a:off x="5879100" y="3589809"/>
                <a:ext cx="4856623" cy="55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800100" lvl="2" indent="-342900">
                  <a:lnSpc>
                    <a:spcPct val="132000"/>
                  </a:lnSpc>
                  <a:buClr>
                    <a:srgbClr val="FF0000"/>
                  </a:buClr>
                  <a:buFont typeface="Wingdings" panose="05000000000000000000" pitchFamily="2" charset="2"/>
                  <a:buChar char="l"/>
                </a:pPr>
                <a:r>
                  <a:rPr lang="zh-CN" altLang="en-US" sz="2000" dirty="0"/>
                  <a:t>高实时性</a:t>
                </a:r>
                <a:endParaRPr lang="en-US" altLang="zh-CN" sz="2000" dirty="0"/>
              </a:p>
            </p:txBody>
          </p:sp>
        </p:grpSp>
        <p:grpSp>
          <p:nvGrpSpPr>
            <p:cNvPr id="1139" name="ïŝľídè"/>
            <p:cNvGrpSpPr/>
            <p:nvPr/>
          </p:nvGrpSpPr>
          <p:grpSpPr>
            <a:xfrm>
              <a:off x="660400" y="2096245"/>
              <a:ext cx="497734" cy="497734"/>
              <a:chOff x="660400" y="2096245"/>
              <a:chExt cx="497734" cy="497734"/>
            </a:xfrm>
          </p:grpSpPr>
          <p:sp>
            <p:nvSpPr>
              <p:cNvPr id="1140"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1"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网络操作系统</a:t>
            </a:r>
            <a:endParaRPr lang="zh-CN" altLang="en-US" sz="2800" b="1" dirty="0">
              <a:solidFill>
                <a:schemeClr val="bg1"/>
              </a:solidFill>
            </a:endParaRPr>
          </a:p>
        </p:txBody>
      </p:sp>
      <p:sp>
        <p:nvSpPr>
          <p:cNvPr id="220" name="íšḻîḋè"/>
          <p:cNvSpPr/>
          <p:nvPr/>
        </p:nvSpPr>
        <p:spPr>
          <a:xfrm>
            <a:off x="1746844" y="4120203"/>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硬件独立性</a:t>
            </a:r>
            <a:endParaRPr lang="zh-CN" altLang="en-US" sz="2200" dirty="0"/>
          </a:p>
        </p:txBody>
      </p:sp>
      <p:sp>
        <p:nvSpPr>
          <p:cNvPr id="221" name="i$lîďê"/>
          <p:cNvSpPr/>
          <p:nvPr/>
        </p:nvSpPr>
        <p:spPr>
          <a:xfrm>
            <a:off x="1802479" y="3590034"/>
            <a:ext cx="3696051" cy="392877"/>
          </a:xfrm>
          <a:prstGeom prst="rect">
            <a:avLst/>
          </a:prstGeom>
          <a:noFill/>
          <a:ln>
            <a:noFill/>
          </a:ln>
        </p:spPr>
        <p:txBody>
          <a:bodyPr wrap="square" lIns="91440" tIns="45720" rIns="91440" bIns="45720" anchor="ctr" anchorCtr="0">
            <a:noAutofit/>
          </a:bodyPr>
          <a:lstStyle/>
          <a:p>
            <a:r>
              <a:rPr lang="zh-CN" altLang="en-US" sz="2400" dirty="0"/>
              <a:t>网络</a:t>
            </a:r>
            <a:r>
              <a:rPr lang="en-US" altLang="zh-CN" sz="2400" dirty="0"/>
              <a:t>OS</a:t>
            </a:r>
            <a:r>
              <a:rPr lang="zh-CN" altLang="en-US" sz="2400" dirty="0"/>
              <a:t>的</a:t>
            </a:r>
            <a:r>
              <a:rPr lang="zh-CN" altLang="en-US" sz="2400" dirty="0">
                <a:solidFill>
                  <a:srgbClr val="FF0000"/>
                </a:solidFill>
              </a:rPr>
              <a:t>特征</a:t>
            </a:r>
            <a:r>
              <a:rPr lang="zh-CN" altLang="en-US" sz="2400" dirty="0"/>
              <a:t>：</a:t>
            </a:r>
            <a:endParaRPr lang="zh-CN" altLang="en-US" sz="2400" dirty="0"/>
          </a:p>
        </p:txBody>
      </p:sp>
      <p:sp>
        <p:nvSpPr>
          <p:cNvPr id="222" name="î$ļíḋè"/>
          <p:cNvSpPr/>
          <p:nvPr/>
        </p:nvSpPr>
        <p:spPr>
          <a:xfrm>
            <a:off x="1802481" y="5431648"/>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数据通信、应用互操作、网络管理</a:t>
            </a:r>
            <a:endParaRPr lang="zh-CN" altLang="en-US" sz="2200" dirty="0"/>
          </a:p>
        </p:txBody>
      </p:sp>
      <p:sp>
        <p:nvSpPr>
          <p:cNvPr id="223" name="ïṧḷïḋè"/>
          <p:cNvSpPr/>
          <p:nvPr/>
        </p:nvSpPr>
        <p:spPr>
          <a:xfrm>
            <a:off x="1802481" y="4918873"/>
            <a:ext cx="3696051" cy="415102"/>
          </a:xfrm>
          <a:prstGeom prst="rect">
            <a:avLst/>
          </a:prstGeom>
          <a:noFill/>
          <a:ln>
            <a:noFill/>
          </a:ln>
        </p:spPr>
        <p:txBody>
          <a:bodyPr wrap="square" lIns="91440" tIns="45720" rIns="91440" bIns="45720" anchor="ctr" anchorCtr="0">
            <a:noAutofit/>
          </a:bodyPr>
          <a:lstStyle/>
          <a:p>
            <a:r>
              <a:rPr lang="zh-CN" altLang="en-US" sz="2400" dirty="0"/>
              <a:t>网络</a:t>
            </a:r>
            <a:r>
              <a:rPr lang="en-US" altLang="zh-CN" sz="2400" dirty="0"/>
              <a:t>OS</a:t>
            </a:r>
            <a:r>
              <a:rPr lang="zh-CN" altLang="en-US" sz="2400" dirty="0"/>
              <a:t>的功能：</a:t>
            </a:r>
            <a:endParaRPr lang="zh-CN" altLang="en-US" sz="2400" dirty="0"/>
          </a:p>
        </p:txBody>
      </p:sp>
      <p:sp>
        <p:nvSpPr>
          <p:cNvPr id="224" name="îs1iďé"/>
          <p:cNvSpPr/>
          <p:nvPr/>
        </p:nvSpPr>
        <p:spPr>
          <a:xfrm>
            <a:off x="1821537" y="1720047"/>
            <a:ext cx="9711234" cy="1490610"/>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t>在计算机网络环境下对网络资源进行管理和控制，实现数据通信及对网络资源的共享，为用户提供与网络资源接口的一组软件和规程的集合</a:t>
            </a:r>
            <a:endParaRPr lang="zh-CN" altLang="en-US" sz="2400" dirty="0"/>
          </a:p>
          <a:p>
            <a:pPr marL="342900" indent="-342900">
              <a:lnSpc>
                <a:spcPct val="120000"/>
              </a:lnSpc>
              <a:spcBef>
                <a:spcPts val="800"/>
              </a:spcBef>
              <a:buClr>
                <a:srgbClr val="FF0000"/>
              </a:buClr>
              <a:buFont typeface="Wingdings" panose="05000000000000000000" pitchFamily="2" charset="2"/>
              <a:buChar char="Ø"/>
            </a:pPr>
            <a:r>
              <a:rPr lang="en-US" altLang="zh-CN" sz="2400" dirty="0"/>
              <a:t>UNIX</a:t>
            </a:r>
            <a:r>
              <a:rPr lang="zh-CN" altLang="en-US" sz="2400" dirty="0"/>
              <a:t>、</a:t>
            </a:r>
            <a:r>
              <a:rPr lang="en-US" altLang="zh-CN" sz="2400" dirty="0"/>
              <a:t>Linux</a:t>
            </a:r>
            <a:r>
              <a:rPr lang="zh-CN" altLang="en-US" sz="2400" dirty="0"/>
              <a:t>、</a:t>
            </a:r>
            <a:r>
              <a:rPr lang="en-US" altLang="zh-CN" sz="2400" dirty="0"/>
              <a:t>Window NT/2000/Server</a:t>
            </a:r>
            <a:endParaRPr lang="en-US" altLang="zh-CN" sz="2400" dirty="0"/>
          </a:p>
        </p:txBody>
      </p:sp>
      <p:sp>
        <p:nvSpPr>
          <p:cNvPr id="225" name="íšḻíḑê"/>
          <p:cNvSpPr/>
          <p:nvPr/>
        </p:nvSpPr>
        <p:spPr>
          <a:xfrm>
            <a:off x="1802480" y="1361556"/>
            <a:ext cx="3696051" cy="405747"/>
          </a:xfrm>
          <a:prstGeom prst="rect">
            <a:avLst/>
          </a:prstGeom>
          <a:noFill/>
          <a:ln>
            <a:noFill/>
          </a:ln>
        </p:spPr>
        <p:txBody>
          <a:bodyPr wrap="square" lIns="91440" tIns="45720" rIns="91440" bIns="45720" anchor="ctr" anchorCtr="0">
            <a:noAutofit/>
          </a:bodyPr>
          <a:lstStyle/>
          <a:p>
            <a:r>
              <a:rPr lang="zh-CN" altLang="en-US" sz="2400" dirty="0"/>
              <a:t>网络</a:t>
            </a:r>
            <a:r>
              <a:rPr lang="en-US" altLang="zh-CN" sz="2400" dirty="0"/>
              <a:t>OS</a:t>
            </a:r>
            <a:r>
              <a:rPr lang="zh-CN" altLang="en-US" sz="2400" dirty="0"/>
              <a:t>的概念：</a:t>
            </a:r>
            <a:endParaRPr lang="zh-CN" altLang="en-US" sz="2400" dirty="0"/>
          </a:p>
        </p:txBody>
      </p:sp>
      <p:sp>
        <p:nvSpPr>
          <p:cNvPr id="226"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1118977" y="483627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118977" y="348950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1" y="371152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1338170" y="502573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8" name="íšḻîḋè"/>
          <p:cNvSpPr/>
          <p:nvPr/>
        </p:nvSpPr>
        <p:spPr>
          <a:xfrm>
            <a:off x="3655909" y="4146393"/>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接口一致性</a:t>
            </a:r>
            <a:endParaRPr lang="zh-CN" altLang="en-US" sz="2200" dirty="0"/>
          </a:p>
        </p:txBody>
      </p:sp>
      <p:sp>
        <p:nvSpPr>
          <p:cNvPr id="19" name="íšḻîḋè"/>
          <p:cNvSpPr/>
          <p:nvPr/>
        </p:nvSpPr>
        <p:spPr>
          <a:xfrm>
            <a:off x="5564974" y="4156766"/>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资源透明性</a:t>
            </a:r>
            <a:endParaRPr lang="zh-CN" altLang="en-US" sz="2200" dirty="0"/>
          </a:p>
        </p:txBody>
      </p:sp>
      <p:sp>
        <p:nvSpPr>
          <p:cNvPr id="21" name="íšḻîḋè"/>
          <p:cNvSpPr/>
          <p:nvPr/>
        </p:nvSpPr>
        <p:spPr>
          <a:xfrm>
            <a:off x="7474039" y="4164907"/>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系统可靠性</a:t>
            </a:r>
            <a:endParaRPr lang="zh-CN" altLang="en-US" sz="2200" dirty="0"/>
          </a:p>
        </p:txBody>
      </p:sp>
      <p:sp>
        <p:nvSpPr>
          <p:cNvPr id="22" name="íšḻîḋè"/>
          <p:cNvSpPr/>
          <p:nvPr/>
        </p:nvSpPr>
        <p:spPr>
          <a:xfrm>
            <a:off x="9383102" y="4147817"/>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执行并行性</a:t>
            </a:r>
            <a:endParaRPr lang="zh-CN" alt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网络操作系统</a:t>
            </a:r>
            <a:endParaRPr lang="zh-CN" altLang="en-US" sz="2800" b="1" dirty="0">
              <a:solidFill>
                <a:schemeClr val="bg1"/>
              </a:solidFill>
            </a:endParaRPr>
          </a:p>
        </p:txBody>
      </p:sp>
      <p:sp>
        <p:nvSpPr>
          <p:cNvPr id="220" name="íšḻîḋè"/>
          <p:cNvSpPr/>
          <p:nvPr/>
        </p:nvSpPr>
        <p:spPr>
          <a:xfrm>
            <a:off x="1746844" y="3577516"/>
            <a:ext cx="8388829"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定义：配置在分布式系统上的公用</a:t>
            </a:r>
            <a:r>
              <a:rPr lang="en-US" altLang="zh-CN" sz="2200" dirty="0"/>
              <a:t>OS</a:t>
            </a:r>
            <a:r>
              <a:rPr lang="zh-CN" altLang="en-US" sz="2200" dirty="0"/>
              <a:t>。</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例子：万维网、鸿蒙</a:t>
            </a:r>
            <a:r>
              <a:rPr lang="en-US" altLang="zh-CN" sz="2200" dirty="0"/>
              <a:t>OS</a:t>
            </a:r>
            <a:r>
              <a:rPr lang="zh-CN" altLang="en-US" sz="2200" dirty="0"/>
              <a:t>。</a:t>
            </a:r>
            <a:endParaRPr lang="zh-CN" altLang="en-US" sz="2200" dirty="0"/>
          </a:p>
        </p:txBody>
      </p:sp>
      <p:sp>
        <p:nvSpPr>
          <p:cNvPr id="221" name="i$lîďê"/>
          <p:cNvSpPr/>
          <p:nvPr/>
        </p:nvSpPr>
        <p:spPr>
          <a:xfrm>
            <a:off x="1802479" y="3126390"/>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分布式</a:t>
            </a:r>
            <a:r>
              <a:rPr lang="en-US" altLang="zh-CN" sz="2400" dirty="0">
                <a:solidFill>
                  <a:srgbClr val="0000FF"/>
                </a:solidFill>
              </a:rPr>
              <a:t>OS</a:t>
            </a:r>
            <a:endParaRPr lang="en-US" altLang="zh-CN" sz="2400" dirty="0">
              <a:solidFill>
                <a:srgbClr val="0000FF"/>
              </a:solidFill>
            </a:endParaRPr>
          </a:p>
        </p:txBody>
      </p:sp>
      <p:sp>
        <p:nvSpPr>
          <p:cNvPr id="222" name="î$ļíḋè"/>
          <p:cNvSpPr/>
          <p:nvPr/>
        </p:nvSpPr>
        <p:spPr>
          <a:xfrm>
            <a:off x="1802479" y="5012000"/>
            <a:ext cx="9730290" cy="140541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单处理机</a:t>
            </a:r>
            <a:r>
              <a:rPr lang="en-US" altLang="zh-CN" sz="2200" dirty="0"/>
              <a:t>OS</a:t>
            </a:r>
            <a:r>
              <a:rPr lang="zh-CN" altLang="en-US" sz="2200" dirty="0"/>
              <a:t>的主要功能；</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网络</a:t>
            </a:r>
            <a:r>
              <a:rPr lang="en-US" altLang="zh-CN" sz="2200" dirty="0"/>
              <a:t>OS</a:t>
            </a:r>
            <a:r>
              <a:rPr lang="zh-CN" altLang="en-US" sz="2200" dirty="0"/>
              <a:t>所拥有的全部功能；</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还包括：通信管理功能、资源管理功能、进程管理功能。</a:t>
            </a:r>
            <a:endParaRPr lang="zh-CN" altLang="en-US" sz="2200" dirty="0"/>
          </a:p>
        </p:txBody>
      </p:sp>
      <p:sp>
        <p:nvSpPr>
          <p:cNvPr id="223" name="ïṧḷïḋè"/>
          <p:cNvSpPr/>
          <p:nvPr/>
        </p:nvSpPr>
        <p:spPr>
          <a:xfrm>
            <a:off x="1802481" y="4596898"/>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分布式</a:t>
            </a:r>
            <a:r>
              <a:rPr lang="en-US" altLang="zh-CN" sz="2400" dirty="0">
                <a:solidFill>
                  <a:srgbClr val="0000FF"/>
                </a:solidFill>
              </a:rPr>
              <a:t>OS</a:t>
            </a:r>
            <a:r>
              <a:rPr lang="zh-CN" altLang="en-US" sz="2400" dirty="0">
                <a:solidFill>
                  <a:srgbClr val="0000FF"/>
                </a:solidFill>
              </a:rPr>
              <a:t>的功能</a:t>
            </a:r>
            <a:endParaRPr lang="zh-CN" altLang="en-US" sz="2400" dirty="0">
              <a:solidFill>
                <a:srgbClr val="0000FF"/>
              </a:solidFill>
            </a:endParaRPr>
          </a:p>
        </p:txBody>
      </p:sp>
      <p:sp>
        <p:nvSpPr>
          <p:cNvPr id="224" name="îs1iďé"/>
          <p:cNvSpPr/>
          <p:nvPr/>
        </p:nvSpPr>
        <p:spPr>
          <a:xfrm>
            <a:off x="1821535" y="1637377"/>
            <a:ext cx="9711234" cy="1490610"/>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t>定义：基于软件实现的一种多处理机系统，是多个处理机通过通信线路互连而构成的松耦合系统。</a:t>
            </a:r>
            <a:endParaRPr lang="zh-CN" altLang="en-US" sz="2200" dirty="0"/>
          </a:p>
          <a:p>
            <a:pPr marL="342900" indent="-342900">
              <a:lnSpc>
                <a:spcPct val="120000"/>
              </a:lnSpc>
              <a:spcBef>
                <a:spcPts val="600"/>
              </a:spcBef>
              <a:buClr>
                <a:srgbClr val="FF0000"/>
              </a:buClr>
              <a:buFont typeface="Wingdings" panose="05000000000000000000" pitchFamily="2" charset="2"/>
              <a:buChar char="Ø"/>
            </a:pPr>
            <a:r>
              <a:rPr lang="zh-CN" altLang="en-US" sz="2200" dirty="0"/>
              <a:t>特征：分布性、透明性、同一性、全局性。</a:t>
            </a:r>
            <a:endParaRPr lang="zh-CN" altLang="en-US" sz="2200" dirty="0"/>
          </a:p>
        </p:txBody>
      </p:sp>
      <p:sp>
        <p:nvSpPr>
          <p:cNvPr id="225" name="íšḻíḑê"/>
          <p:cNvSpPr/>
          <p:nvPr/>
        </p:nvSpPr>
        <p:spPr>
          <a:xfrm>
            <a:off x="1802480" y="1232766"/>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分布式系统</a:t>
            </a:r>
            <a:endParaRPr lang="zh-CN" altLang="en-US" sz="2400" dirty="0">
              <a:solidFill>
                <a:srgbClr val="0000FF"/>
              </a:solidFill>
            </a:endParaRPr>
          </a:p>
        </p:txBody>
      </p:sp>
      <p:sp>
        <p:nvSpPr>
          <p:cNvPr id="226" name="îSļiḓè"/>
          <p:cNvSpPr/>
          <p:nvPr/>
        </p:nvSpPr>
        <p:spPr>
          <a:xfrm>
            <a:off x="1118977" y="12192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1118977" y="455293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118977" y="307738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2" y="141534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1" y="3299397"/>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1338170" y="474239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b="1" dirty="0">
                <a:solidFill>
                  <a:srgbClr val="0000FF"/>
                </a:solidFill>
                <a:latin typeface="+mj-ea"/>
              </a:rPr>
              <a:t>1.3 </a:t>
            </a:r>
            <a:r>
              <a:rPr lang="zh-CN" altLang="en-US" sz="2400" b="1" dirty="0">
                <a:solidFill>
                  <a:srgbClr val="0000FF"/>
                </a:solidFill>
                <a:latin typeface="+mj-ea"/>
              </a:rPr>
              <a:t>操作系统的基本特征</a:t>
            </a:r>
            <a:endParaRPr lang="en-US" altLang="zh-CN" sz="2400" b="1" dirty="0">
              <a:solidFill>
                <a:srgbClr val="0000FF"/>
              </a:solidFill>
              <a:latin typeface="+mj-ea"/>
            </a:endParaRPr>
          </a:p>
        </p:txBody>
      </p:sp>
      <p:sp>
        <p:nvSpPr>
          <p:cNvPr id="25" name="矩形 24"/>
          <p:cNvSpPr/>
          <p:nvPr/>
        </p:nvSpPr>
        <p:spPr>
          <a:xfrm>
            <a:off x="1696468" y="3613923"/>
            <a:ext cx="3488967" cy="400110"/>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00110"/>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操作系统的基本特征</a:t>
            </a:r>
            <a:endParaRPr lang="zh-CN" altLang="en-US" sz="2800" b="1" dirty="0">
              <a:solidFill>
                <a:schemeClr val="bg1"/>
              </a:solidFill>
            </a:endParaRPr>
          </a:p>
        </p:txBody>
      </p:sp>
      <p:grpSp>
        <p:nvGrpSpPr>
          <p:cNvPr id="58"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54015" y="1080592"/>
            <a:ext cx="11246982" cy="5160785"/>
            <a:chOff x="673099" y="1260897"/>
            <a:chExt cx="11246982" cy="5160785"/>
          </a:xfrm>
        </p:grpSpPr>
        <p:sp>
          <p:nvSpPr>
            <p:cNvPr id="59"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0"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1"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2"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3"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4" name="ï$1iḍe"/>
            <p:cNvSpPr txBox="1"/>
            <p:nvPr/>
          </p:nvSpPr>
          <p:spPr>
            <a:xfrm>
              <a:off x="738159" y="1491721"/>
              <a:ext cx="2687137" cy="392512"/>
            </a:xfrm>
            <a:prstGeom prst="rect">
              <a:avLst/>
            </a:prstGeom>
            <a:noFill/>
            <a:ln>
              <a:noFill/>
            </a:ln>
          </p:spPr>
          <p:txBody>
            <a:bodyPr wrap="square" lIns="91440" tIns="45720" rIns="91440" bIns="45720" anchor="t" anchorCtr="0">
              <a:noAutofit/>
            </a:bodyPr>
            <a:lstStyle/>
            <a:p>
              <a:pPr algn="r"/>
              <a:r>
                <a:rPr lang="zh-CN" altLang="en-US" sz="2200" b="1" dirty="0">
                  <a:solidFill>
                    <a:srgbClr val="FF0000"/>
                  </a:solidFill>
                </a:rPr>
                <a:t>并发</a:t>
              </a:r>
              <a:r>
                <a:rPr lang="en-US" altLang="zh-CN" sz="2200" b="1" dirty="0"/>
                <a:t>(Concurrence)</a:t>
              </a:r>
              <a:endParaRPr lang="en-US" altLang="zh-CN" sz="2200" b="1" dirty="0"/>
            </a:p>
          </p:txBody>
        </p:sp>
        <p:sp>
          <p:nvSpPr>
            <p:cNvPr id="65" name="isľîdê"/>
            <p:cNvSpPr txBox="1"/>
            <p:nvPr/>
          </p:nvSpPr>
          <p:spPr>
            <a:xfrm>
              <a:off x="673099" y="4123968"/>
              <a:ext cx="2598408"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dirty="0"/>
                <a:t>并行性：两个或多个事件在同一时刻发生</a:t>
              </a:r>
              <a:endParaRPr lang="zh-CN" altLang="en-US" dirty="0"/>
            </a:p>
            <a:p>
              <a:pPr marL="342900" indent="-342900">
                <a:lnSpc>
                  <a:spcPct val="120000"/>
                </a:lnSpc>
                <a:buClr>
                  <a:srgbClr val="FF0000"/>
                </a:buClr>
                <a:buFont typeface="Wingdings" panose="05000000000000000000" pitchFamily="2" charset="2"/>
                <a:buChar char="Ø"/>
              </a:pPr>
              <a:r>
                <a:rPr lang="zh-CN" altLang="en-US" dirty="0"/>
                <a:t>并发性：两个或多个事件在同一时间间隔内发生</a:t>
              </a:r>
              <a:endParaRPr lang="zh-CN" altLang="en-US" dirty="0"/>
            </a:p>
            <a:p>
              <a:pPr marL="342900" indent="-342900">
                <a:lnSpc>
                  <a:spcPct val="120000"/>
                </a:lnSpc>
                <a:buClr>
                  <a:srgbClr val="FF0000"/>
                </a:buClr>
                <a:buFont typeface="Wingdings" panose="05000000000000000000" pitchFamily="2" charset="2"/>
                <a:buChar char="Ø"/>
              </a:pPr>
              <a:r>
                <a:rPr lang="zh-CN" altLang="en-US" dirty="0"/>
                <a:t>引入进程（任务）：动态、并发</a:t>
              </a:r>
              <a:endParaRPr lang="zh-CN" altLang="en-US" dirty="0"/>
            </a:p>
          </p:txBody>
        </p:sp>
        <p:sp>
          <p:nvSpPr>
            <p:cNvPr id="66" name="íṩ1ïḑe"/>
            <p:cNvSpPr txBox="1"/>
            <p:nvPr/>
          </p:nvSpPr>
          <p:spPr>
            <a:xfrm>
              <a:off x="3743577" y="1491721"/>
              <a:ext cx="2204373" cy="392512"/>
            </a:xfrm>
            <a:prstGeom prst="rect">
              <a:avLst/>
            </a:prstGeom>
            <a:noFill/>
            <a:ln>
              <a:noFill/>
            </a:ln>
          </p:spPr>
          <p:txBody>
            <a:bodyPr wrap="square" lIns="91440" tIns="45720" rIns="91440" bIns="45720" anchor="t" anchorCtr="0">
              <a:noAutofit/>
            </a:bodyPr>
            <a:lstStyle/>
            <a:p>
              <a:pPr>
                <a:lnSpc>
                  <a:spcPct val="110000"/>
                </a:lnSpc>
              </a:pPr>
              <a:r>
                <a:rPr lang="zh-CN" altLang="en-US" sz="2400" b="1" dirty="0">
                  <a:solidFill>
                    <a:srgbClr val="FF0000"/>
                  </a:solidFill>
                </a:rPr>
                <a:t>共享</a:t>
              </a:r>
              <a:r>
                <a:rPr lang="en-US" altLang="zh-CN" sz="2400" b="1" dirty="0"/>
                <a:t>(Sharing)</a:t>
              </a:r>
              <a:endParaRPr lang="zh-CN" altLang="en-US" sz="2400" b="1" dirty="0"/>
            </a:p>
          </p:txBody>
        </p:sp>
        <p:sp>
          <p:nvSpPr>
            <p:cNvPr id="67" name="ïsḻiďê"/>
            <p:cNvSpPr txBox="1"/>
            <p:nvPr/>
          </p:nvSpPr>
          <p:spPr>
            <a:xfrm>
              <a:off x="6255660" y="1491721"/>
              <a:ext cx="2356280" cy="392512"/>
            </a:xfrm>
            <a:prstGeom prst="rect">
              <a:avLst/>
            </a:prstGeom>
            <a:noFill/>
            <a:ln>
              <a:noFill/>
            </a:ln>
          </p:spPr>
          <p:txBody>
            <a:bodyPr wrap="square" lIns="91440" tIns="45720" rIns="91440" bIns="45720" anchor="t" anchorCtr="0">
              <a:noAutofit/>
            </a:bodyPr>
            <a:lstStyle/>
            <a:p>
              <a:pPr algn="r"/>
              <a:r>
                <a:rPr lang="zh-CN" altLang="en-US" sz="2400" b="1" dirty="0">
                  <a:solidFill>
                    <a:srgbClr val="0000FF"/>
                  </a:solidFill>
                </a:rPr>
                <a:t>虚拟</a:t>
              </a:r>
              <a:r>
                <a:rPr lang="en-US" altLang="zh-CN" sz="2400" b="1" dirty="0"/>
                <a:t>(Virtual)</a:t>
              </a:r>
              <a:endParaRPr lang="en-US" altLang="zh-CN" sz="2400" b="1" dirty="0"/>
            </a:p>
          </p:txBody>
        </p:sp>
        <p:sp>
          <p:nvSpPr>
            <p:cNvPr id="68" name="isḷiḋé"/>
            <p:cNvSpPr txBox="1"/>
            <p:nvPr/>
          </p:nvSpPr>
          <p:spPr>
            <a:xfrm>
              <a:off x="8833059" y="1260897"/>
              <a:ext cx="3087022"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异步</a:t>
              </a:r>
              <a:br>
                <a:rPr lang="en-US" altLang="zh-CN" sz="2400" b="1" dirty="0">
                  <a:solidFill>
                    <a:srgbClr val="0000FF"/>
                  </a:solidFill>
                </a:rPr>
              </a:br>
              <a:r>
                <a:rPr lang="en-US" altLang="zh-CN" sz="2400" b="1" dirty="0"/>
                <a:t>(Asynchronism)</a:t>
              </a:r>
              <a:endParaRPr lang="en-US" altLang="zh-CN" sz="2400" b="1" dirty="0"/>
            </a:p>
          </p:txBody>
        </p:sp>
        <p:sp>
          <p:nvSpPr>
            <p:cNvPr id="69"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70"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71"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72"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77" name="isľîdê"/>
            <p:cNvSpPr txBox="1"/>
            <p:nvPr/>
          </p:nvSpPr>
          <p:spPr>
            <a:xfrm>
              <a:off x="3458154" y="4151139"/>
              <a:ext cx="2601746" cy="2270543"/>
            </a:xfrm>
            <a:prstGeom prst="rect">
              <a:avLst/>
            </a:prstGeom>
            <a:noFill/>
            <a:ln>
              <a:noFill/>
            </a:ln>
          </p:spPr>
          <p:txBody>
            <a:bodyPr wrap="square" lIns="91440" tIns="45720" rIns="91440" bIns="45720" anchor="t" anchorCtr="0">
              <a:noAutofit/>
            </a:bodyPr>
            <a:lstStyle/>
            <a:p>
              <a:pPr marL="0" lvl="1">
                <a:lnSpc>
                  <a:spcPct val="120000"/>
                </a:lnSpc>
              </a:pPr>
              <a:r>
                <a:rPr lang="zh-CN" altLang="en-US" sz="2000" dirty="0"/>
                <a:t>系统中的资源可供内存中多个并发执行的进程共同使用</a:t>
              </a:r>
              <a:endParaRPr lang="en-US" altLang="zh-CN" sz="2000" dirty="0"/>
            </a:p>
            <a:p>
              <a:pPr marL="342900" indent="-342900">
                <a:lnSpc>
                  <a:spcPct val="120000"/>
                </a:lnSpc>
                <a:buClr>
                  <a:srgbClr val="FF0000"/>
                </a:buClr>
                <a:buFont typeface="Wingdings" panose="05000000000000000000" pitchFamily="2" charset="2"/>
                <a:buChar char="Ø"/>
              </a:pPr>
              <a:r>
                <a:rPr lang="zh-CN" altLang="en-US" sz="2000" dirty="0"/>
                <a:t>互斥共享方式（临界资源）</a:t>
              </a:r>
              <a:endParaRPr lang="zh-CN" altLang="en-US" sz="2000" dirty="0"/>
            </a:p>
            <a:p>
              <a:pPr marL="342900" indent="-342900">
                <a:lnSpc>
                  <a:spcPct val="120000"/>
                </a:lnSpc>
                <a:buClr>
                  <a:srgbClr val="FF0000"/>
                </a:buClr>
                <a:buFont typeface="Wingdings" panose="05000000000000000000" pitchFamily="2" charset="2"/>
                <a:buChar char="Ø"/>
              </a:pPr>
              <a:r>
                <a:rPr lang="zh-CN" altLang="en-US" sz="2000" dirty="0"/>
                <a:t>同时访问方式</a:t>
              </a:r>
              <a:endParaRPr lang="zh-CN" altLang="en-US" sz="2000" dirty="0"/>
            </a:p>
          </p:txBody>
        </p:sp>
        <p:sp>
          <p:nvSpPr>
            <p:cNvPr id="78" name="isľîdê"/>
            <p:cNvSpPr txBox="1"/>
            <p:nvPr/>
          </p:nvSpPr>
          <p:spPr>
            <a:xfrm>
              <a:off x="6212001" y="4199928"/>
              <a:ext cx="2621058"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dirty="0"/>
                <a:t>时分复用技术：虚拟处理机、虚拟设备</a:t>
              </a:r>
              <a:endParaRPr lang="zh-CN" altLang="en-US" dirty="0"/>
            </a:p>
            <a:p>
              <a:pPr marL="342900" indent="-342900">
                <a:lnSpc>
                  <a:spcPct val="120000"/>
                </a:lnSpc>
                <a:buClr>
                  <a:srgbClr val="0000FF"/>
                </a:buClr>
                <a:buFont typeface="Wingdings" panose="05000000000000000000" pitchFamily="2" charset="2"/>
                <a:buChar char="Ø"/>
              </a:pPr>
              <a:r>
                <a:rPr lang="zh-CN" altLang="en-US" dirty="0"/>
                <a:t>空分复用技术：虚拟存储</a:t>
              </a:r>
              <a:endParaRPr lang="zh-CN" altLang="en-US" dirty="0"/>
            </a:p>
          </p:txBody>
        </p:sp>
        <p:sp>
          <p:nvSpPr>
            <p:cNvPr id="79" name="isľîdê"/>
            <p:cNvSpPr txBox="1"/>
            <p:nvPr/>
          </p:nvSpPr>
          <p:spPr>
            <a:xfrm>
              <a:off x="9105653" y="4151140"/>
              <a:ext cx="2565780"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000" dirty="0"/>
                <a:t>进程的异步性：进程是以人们不可预知的速度向前推进的</a:t>
              </a:r>
              <a:endParaRPr lang="zh-CN" altLang="en-US" sz="2000" dirty="0"/>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898207" y="1288288"/>
            <a:ext cx="10720391" cy="497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buClrTx/>
              <a:buSzTx/>
              <a:buFontTx/>
              <a:buNone/>
            </a:pPr>
            <a:r>
              <a:rPr lang="en-US" altLang="zh-CN" sz="2400" dirty="0">
                <a:solidFill>
                  <a:srgbClr val="006600"/>
                </a:solidFill>
                <a:latin typeface="楷体_GB2312" pitchFamily="49" charset="-122"/>
              </a:rPr>
              <a:t>(1)</a:t>
            </a:r>
            <a:r>
              <a:rPr lang="zh-CN" altLang="en-US" sz="2400" dirty="0">
                <a:solidFill>
                  <a:srgbClr val="006600"/>
                </a:solidFill>
                <a:latin typeface="楷体_GB2312" pitchFamily="49" charset="-122"/>
              </a:rPr>
              <a:t>并发性：</a:t>
            </a:r>
            <a:r>
              <a:rPr lang="zh-CN" altLang="en-US" sz="2400" dirty="0">
                <a:latin typeface="楷体_GB2312" pitchFamily="49" charset="-122"/>
              </a:rPr>
              <a:t>是指两个或多个事件在同一时间间隔内发生。</a:t>
            </a:r>
            <a:endParaRPr lang="zh-CN" altLang="en-US" sz="1800" b="0" dirty="0">
              <a:solidFill>
                <a:schemeClr val="tx1"/>
              </a:solidFill>
              <a:ea typeface="隶书" panose="02010509060101010101" pitchFamily="49" charset="-122"/>
            </a:endParaRPr>
          </a:p>
        </p:txBody>
      </p:sp>
      <p:sp>
        <p:nvSpPr>
          <p:cNvPr id="3" name="Text Box 4"/>
          <p:cNvSpPr txBox="1">
            <a:spLocks noChangeArrowheads="1"/>
          </p:cNvSpPr>
          <p:nvPr/>
        </p:nvSpPr>
        <p:spPr bwMode="auto">
          <a:xfrm>
            <a:off x="830516" y="2007616"/>
            <a:ext cx="1061925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buClrTx/>
              <a:buSzTx/>
              <a:buFontTx/>
              <a:buNone/>
            </a:pPr>
            <a:r>
              <a:rPr lang="zh-CN" altLang="en-US" sz="2400">
                <a:latin typeface="楷体_GB2312" pitchFamily="49" charset="-122"/>
              </a:rPr>
              <a:t>在多道程序环境下，</a:t>
            </a:r>
            <a:r>
              <a:rPr lang="zh-CN" altLang="en-US" sz="2400">
                <a:solidFill>
                  <a:srgbClr val="9900CC"/>
                </a:solidFill>
                <a:latin typeface="楷体_GB2312" pitchFamily="49" charset="-122"/>
              </a:rPr>
              <a:t>并发性是指宏观上在一段时间内有多道程序在同时运行。</a:t>
            </a:r>
            <a:r>
              <a:rPr lang="zh-CN" altLang="en-US" sz="2400">
                <a:latin typeface="楷体_GB2312" pitchFamily="49" charset="-122"/>
              </a:rPr>
              <a:t>但在单处理机系统中，每一时刻仅能执行一道程序，故微观上这些程序是在处理机上交替执行。</a:t>
            </a:r>
            <a:endParaRPr lang="zh-CN" altLang="en-US" sz="1800" b="0">
              <a:solidFill>
                <a:schemeClr val="tx1"/>
              </a:solidFill>
              <a:ea typeface="隶书" panose="02010509060101010101" pitchFamily="49" charset="-122"/>
            </a:endParaRPr>
          </a:p>
        </p:txBody>
      </p:sp>
      <p:sp>
        <p:nvSpPr>
          <p:cNvPr id="4" name="Text Box 5"/>
          <p:cNvSpPr txBox="1">
            <a:spLocks noChangeArrowheads="1"/>
          </p:cNvSpPr>
          <p:nvPr/>
        </p:nvSpPr>
        <p:spPr bwMode="auto">
          <a:xfrm>
            <a:off x="820992" y="3417316"/>
            <a:ext cx="10416984"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zh-CN" altLang="en-US" sz="2400">
                <a:latin typeface="楷体_GB2312" pitchFamily="49" charset="-122"/>
              </a:rPr>
              <a:t>并行性是指两个或多个事件在同一时刻发生。</a:t>
            </a:r>
            <a:endParaRPr lang="zh-CN" altLang="en-US" sz="2400">
              <a:latin typeface="楷体_GB2312" pitchFamily="49" charset="-122"/>
            </a:endParaRPr>
          </a:p>
          <a:p>
            <a:pPr eaLnBrk="1" hangingPunct="1">
              <a:buClrTx/>
              <a:buSzTx/>
              <a:buFontTx/>
              <a:buNone/>
            </a:pPr>
            <a:r>
              <a:rPr lang="zh-CN" altLang="en-US" sz="2400">
                <a:latin typeface="楷体_GB2312" pitchFamily="49" charset="-122"/>
              </a:rPr>
              <a:t>并发性是指两个或多个事件在同一时间间隔内发生。     </a:t>
            </a:r>
            <a:endParaRPr lang="zh-CN" altLang="en-US" sz="2400">
              <a:latin typeface="楷体_GB2312" pitchFamily="49" charset="-122"/>
            </a:endParaRPr>
          </a:p>
        </p:txBody>
      </p:sp>
      <p:sp>
        <p:nvSpPr>
          <p:cNvPr id="5" name="Text Box 7"/>
          <p:cNvSpPr txBox="1">
            <a:spLocks noChangeArrowheads="1"/>
          </p:cNvSpPr>
          <p:nvPr/>
        </p:nvSpPr>
        <p:spPr bwMode="auto">
          <a:xfrm>
            <a:off x="833692" y="4506341"/>
            <a:ext cx="10416984"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zh-CN" altLang="en-US" sz="2400">
                <a:solidFill>
                  <a:srgbClr val="9900CC"/>
                </a:solidFill>
              </a:rPr>
              <a:t>引入进程</a:t>
            </a:r>
            <a:r>
              <a:rPr lang="zh-CN" altLang="en-US" sz="2400" b="0">
                <a:solidFill>
                  <a:schemeClr val="tx2"/>
                </a:solidFill>
              </a:rPr>
              <a:t>  </a:t>
            </a:r>
            <a:endParaRPr lang="zh-CN" altLang="en-US" sz="2400">
              <a:latin typeface="楷体_GB2312" pitchFamily="49" charset="-122"/>
            </a:endParaRPr>
          </a:p>
          <a:p>
            <a:pPr eaLnBrk="1" hangingPunct="1">
              <a:buClrTx/>
              <a:buSzTx/>
              <a:buFontTx/>
              <a:buNone/>
            </a:pPr>
            <a:r>
              <a:rPr lang="zh-CN" altLang="en-US" sz="2400">
                <a:solidFill>
                  <a:schemeClr val="hlink"/>
                </a:solidFill>
                <a:latin typeface="楷体_GB2312" pitchFamily="49" charset="-122"/>
              </a:rPr>
              <a:t>进程：</a:t>
            </a:r>
            <a:r>
              <a:rPr lang="zh-CN" altLang="en-US" sz="2400">
                <a:latin typeface="楷体_GB2312" pitchFamily="49" charset="-122"/>
              </a:rPr>
              <a:t>是系统中能独立运行并进行资源分配的基本单位。     </a:t>
            </a:r>
            <a:endParaRPr lang="zh-CN" altLang="en-US" sz="2400">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P spid="5"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p:nvPr/>
        </p:nvSpPr>
        <p:spPr>
          <a:xfrm>
            <a:off x="6553200" y="6019800"/>
            <a:ext cx="2873322"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lnSpc>
                <a:spcPct val="120000"/>
              </a:lnSpc>
              <a:spcBef>
                <a:spcPct val="20000"/>
              </a:spcBef>
              <a:buClr>
                <a:schemeClr val="hlink"/>
              </a:buClr>
              <a:buSzPct val="70000"/>
              <a:buFont typeface="Wingdings" panose="05000000000000000000" pitchFamily="2" charset="2"/>
              <a:buChar char="v"/>
              <a:defRPr sz="3200" kern="1200">
                <a:solidFill>
                  <a:srgbClr val="000099"/>
                </a:solidFill>
                <a:latin typeface="Arial" panose="020B0604020202020204" pitchFamily="34" charset="0"/>
                <a:ea typeface="楷体_GB2312" pitchFamily="49" charset="-122"/>
                <a:cs typeface="+mn-cs"/>
              </a:defRPr>
            </a:lvl1pPr>
            <a:lvl2pPr marL="742950" indent="-285750" algn="l" defTabSz="914400" rtl="0" eaLnBrk="1" latinLnBrk="0" hangingPunct="1">
              <a:spcBef>
                <a:spcPct val="20000"/>
              </a:spcBef>
              <a:buClr>
                <a:schemeClr val="accent2"/>
              </a:buClr>
              <a:buSzPct val="85000"/>
              <a:buFont typeface="Wingdings" panose="05000000000000000000" pitchFamily="2" charset="2"/>
              <a:buChar char=""/>
              <a:defRPr sz="2800" kern="1200">
                <a:solidFill>
                  <a:schemeClr val="tx1"/>
                </a:solidFill>
                <a:latin typeface="Arial" panose="020B0604020202020204" pitchFamily="34" charset="0"/>
                <a:ea typeface="隶书" panose="02010509060101010101" pitchFamily="49" charset="-122"/>
                <a:cs typeface="+mn-cs"/>
              </a:defRPr>
            </a:lvl2pPr>
            <a:lvl3pPr marL="1143000" indent="-228600" algn="l" defTabSz="914400" rtl="0" eaLnBrk="1" latinLnBrk="0" hangingPunct="1">
              <a:lnSpc>
                <a:spcPct val="120000"/>
              </a:lnSpc>
              <a:spcBef>
                <a:spcPct val="20000"/>
              </a:spcBef>
              <a:buClr>
                <a:schemeClr val="hlink"/>
              </a:buClr>
              <a:buSzPct val="80000"/>
              <a:buFont typeface="Wingdings" panose="05000000000000000000" pitchFamily="2" charset="2"/>
              <a:buChar char="•"/>
              <a:defRPr sz="2400" kern="1200">
                <a:solidFill>
                  <a:schemeClr val="tx1"/>
                </a:solidFill>
                <a:latin typeface="Arial" panose="020B0604020202020204" pitchFamily="34" charset="0"/>
                <a:ea typeface="隶书" panose="02010509060101010101" pitchFamily="49" charset="-122"/>
                <a:cs typeface="+mn-cs"/>
              </a:defRPr>
            </a:lvl3pPr>
            <a:lvl4pPr marL="1600200" indent="-228600" algn="l" defTabSz="914400" rtl="0" eaLnBrk="1" latinLnBrk="0" hangingPunct="1">
              <a:spcBef>
                <a:spcPct val="20000"/>
              </a:spcBef>
              <a:buClr>
                <a:schemeClr val="accent2"/>
              </a:buClr>
              <a:buSzPct val="90000"/>
              <a:buFont typeface="Wingdings" panose="05000000000000000000" pitchFamily="2" charset="2"/>
              <a:buChar char=""/>
              <a:defRPr sz="2000" kern="1200">
                <a:solidFill>
                  <a:schemeClr val="tx1"/>
                </a:solidFill>
                <a:latin typeface="Arial" panose="020B0604020202020204" pitchFamily="34" charset="0"/>
                <a:ea typeface="隶书" panose="02010509060101010101" pitchFamily="49" charset="-122"/>
                <a:cs typeface="+mn-cs"/>
              </a:defRPr>
            </a:lvl4pPr>
            <a:lvl5pPr marL="2057400" indent="-228600" algn="l" defTabSz="914400" rtl="0" eaLnBrk="1" latinLnBrk="0" hangingPunct="1">
              <a:spcBef>
                <a:spcPct val="20000"/>
              </a:spcBef>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5pPr>
            <a:lvl6pPr marL="25146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6pPr>
            <a:lvl7pPr marL="29718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7pPr>
            <a:lvl8pPr marL="34290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8pPr>
            <a:lvl9pPr marL="3886200" indent="-228600" algn="l" defTabSz="914400" rtl="0" eaLnBrk="0" fontAlgn="base" latinLnBrk="0"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Arial" panose="020B0604020202020204" pitchFamily="34" charset="0"/>
                <a:ea typeface="隶书" panose="02010509060101010101" pitchFamily="49" charset="-122"/>
                <a:cs typeface="+mn-cs"/>
              </a:defRPr>
            </a:lvl9pPr>
          </a:lstStyle>
          <a:p>
            <a:pPr>
              <a:lnSpc>
                <a:spcPct val="100000"/>
              </a:lnSpc>
              <a:spcBef>
                <a:spcPct val="0"/>
              </a:spcBef>
              <a:buClrTx/>
              <a:buSzTx/>
              <a:buFontTx/>
              <a:buNone/>
            </a:pPr>
            <a:fld id="{A920E68E-262F-4063-B147-75538D1E5B1D}" type="slidenum">
              <a:rPr lang="en-US" altLang="zh-CN" sz="1400" smtClean="0">
                <a:solidFill>
                  <a:schemeClr val="tx1"/>
                </a:solidFill>
                <a:ea typeface="宋体" panose="02010600030101010101" pitchFamily="2" charset="-122"/>
              </a:rPr>
            </a:fld>
            <a:endParaRPr lang="en-US" altLang="zh-CN" sz="1400">
              <a:solidFill>
                <a:schemeClr val="tx1"/>
              </a:solidFill>
              <a:ea typeface="宋体" panose="02010600030101010101" pitchFamily="2" charset="-122"/>
            </a:endParaRPr>
          </a:p>
        </p:txBody>
      </p:sp>
      <p:sp>
        <p:nvSpPr>
          <p:cNvPr id="3" name="Text Box 3"/>
          <p:cNvSpPr txBox="1">
            <a:spLocks noChangeArrowheads="1"/>
          </p:cNvSpPr>
          <p:nvPr/>
        </p:nvSpPr>
        <p:spPr bwMode="auto">
          <a:xfrm>
            <a:off x="695172" y="4529519"/>
            <a:ext cx="9887257"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en-US" altLang="zh-CN" sz="2400" dirty="0">
                <a:solidFill>
                  <a:schemeClr val="hlink"/>
                </a:solidFill>
              </a:rPr>
              <a:t>2. </a:t>
            </a:r>
            <a:r>
              <a:rPr lang="zh-CN" altLang="en-US" sz="2400" dirty="0">
                <a:solidFill>
                  <a:schemeClr val="hlink"/>
                </a:solidFill>
              </a:rPr>
              <a:t>同时访问方式</a:t>
            </a:r>
            <a:br>
              <a:rPr lang="zh-CN" altLang="en-US" sz="2400" dirty="0">
                <a:solidFill>
                  <a:schemeClr val="hlink"/>
                </a:solidFill>
              </a:rPr>
            </a:br>
            <a:r>
              <a:rPr lang="zh-CN" altLang="en-US" sz="2400" dirty="0">
                <a:solidFill>
                  <a:schemeClr val="tx1"/>
                </a:solidFill>
              </a:rPr>
              <a:t>允许在一段时间内由多个进程“同时”对它们进行访问。这里所谓的“同时”，在单处理机环境下是宏观意义上的，而在微观上，这些进程对该资源的访问是交替进行的。</a:t>
            </a:r>
            <a:endParaRPr lang="zh-CN" altLang="en-US" sz="2400" dirty="0">
              <a:solidFill>
                <a:schemeClr val="tx1"/>
              </a:solidFill>
            </a:endParaRPr>
          </a:p>
        </p:txBody>
      </p:sp>
      <p:sp>
        <p:nvSpPr>
          <p:cNvPr id="4" name="Text Box 4"/>
          <p:cNvSpPr txBox="1">
            <a:spLocks noChangeArrowheads="1"/>
          </p:cNvSpPr>
          <p:nvPr/>
        </p:nvSpPr>
        <p:spPr bwMode="auto">
          <a:xfrm>
            <a:off x="674534" y="2635631"/>
            <a:ext cx="9851390" cy="138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en-US" altLang="zh-CN" sz="2400" dirty="0">
                <a:solidFill>
                  <a:schemeClr val="hlink"/>
                </a:solidFill>
              </a:rPr>
              <a:t>1. </a:t>
            </a:r>
            <a:r>
              <a:rPr lang="zh-CN" altLang="en-US" sz="2400" dirty="0">
                <a:solidFill>
                  <a:schemeClr val="hlink"/>
                </a:solidFill>
              </a:rPr>
              <a:t>互斥共享方式</a:t>
            </a:r>
            <a:r>
              <a:rPr lang="zh-CN" altLang="en-US" sz="2400" b="0" dirty="0">
                <a:solidFill>
                  <a:schemeClr val="tx2"/>
                </a:solidFill>
              </a:rPr>
              <a:t>  </a:t>
            </a:r>
            <a:br>
              <a:rPr lang="zh-CN" altLang="en-US" sz="2400" b="0" dirty="0">
                <a:solidFill>
                  <a:schemeClr val="tx2"/>
                </a:solidFill>
              </a:rPr>
            </a:br>
            <a:r>
              <a:rPr lang="zh-CN" altLang="en-US" sz="2400" dirty="0">
                <a:solidFill>
                  <a:schemeClr val="tx1"/>
                </a:solidFill>
              </a:rPr>
              <a:t>在一段时间内，只允许一个进程访问该资源。为此，在系统中应建立一种机制，以保证多个进程对这类资源的互斥访问。</a:t>
            </a:r>
            <a:endParaRPr lang="zh-CN" altLang="en-US" sz="2400" dirty="0">
              <a:solidFill>
                <a:schemeClr val="tx1"/>
              </a:solidFill>
            </a:endParaRPr>
          </a:p>
        </p:txBody>
      </p:sp>
      <p:sp>
        <p:nvSpPr>
          <p:cNvPr id="5" name="Text Box 5"/>
          <p:cNvSpPr txBox="1">
            <a:spLocks noChangeArrowheads="1"/>
          </p:cNvSpPr>
          <p:nvPr/>
        </p:nvSpPr>
        <p:spPr bwMode="auto">
          <a:xfrm>
            <a:off x="603097" y="1073531"/>
            <a:ext cx="9861352"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buClrTx/>
              <a:buSzTx/>
              <a:buFontTx/>
              <a:buNone/>
            </a:pPr>
            <a:r>
              <a:rPr lang="zh-CN" altLang="en-US" sz="2400" dirty="0">
                <a:solidFill>
                  <a:srgbClr val="006600"/>
                </a:solidFill>
                <a:latin typeface="楷体_GB2312" pitchFamily="49" charset="-122"/>
              </a:rPr>
              <a:t>（</a:t>
            </a:r>
            <a:r>
              <a:rPr lang="en-US" altLang="zh-CN" sz="2400" dirty="0">
                <a:solidFill>
                  <a:srgbClr val="006600"/>
                </a:solidFill>
                <a:latin typeface="楷体_GB2312" pitchFamily="49" charset="-122"/>
              </a:rPr>
              <a:t>2</a:t>
            </a:r>
            <a:r>
              <a:rPr lang="zh-CN" altLang="en-US" sz="2400" dirty="0">
                <a:solidFill>
                  <a:srgbClr val="006600"/>
                </a:solidFill>
                <a:latin typeface="楷体_GB2312" pitchFamily="49" charset="-122"/>
              </a:rPr>
              <a:t>）共享性</a:t>
            </a:r>
            <a:endParaRPr lang="zh-CN" altLang="en-US" sz="2400" dirty="0">
              <a:solidFill>
                <a:srgbClr val="006600"/>
              </a:solidFill>
              <a:latin typeface="楷体_GB2312" pitchFamily="49" charset="-122"/>
            </a:endParaRPr>
          </a:p>
          <a:p>
            <a:pPr algn="just" eaLnBrk="1" hangingPunct="1">
              <a:buClrTx/>
              <a:buSzTx/>
              <a:buFontTx/>
              <a:buNone/>
            </a:pPr>
            <a:r>
              <a:rPr lang="zh-CN" altLang="en-US" sz="2400" dirty="0">
                <a:latin typeface="楷体_GB2312" pitchFamily="49" charset="-122"/>
              </a:rPr>
              <a:t>从资源使用的角度来讲，所谓</a:t>
            </a:r>
            <a:r>
              <a:rPr lang="zh-CN" altLang="en-US" sz="2400" dirty="0">
                <a:solidFill>
                  <a:srgbClr val="9900CC"/>
                </a:solidFill>
                <a:latin typeface="楷体_GB2312" pitchFamily="49" charset="-122"/>
              </a:rPr>
              <a:t>共享性是指操作系统程序与多个用户程序共同使用系统中的各种资源</a:t>
            </a:r>
            <a:r>
              <a:rPr lang="zh-CN" altLang="en-US" sz="2400" dirty="0">
                <a:latin typeface="楷体_GB2312" pitchFamily="49" charset="-122"/>
              </a:rPr>
              <a:t>。</a:t>
            </a:r>
            <a:endParaRPr lang="zh-CN" altLang="en-US" sz="1800" b="0" dirty="0">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5"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793750" y="2794000"/>
            <a:ext cx="9677079"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AutoNum type="arabicPeriod"/>
            </a:pPr>
            <a:r>
              <a:rPr lang="zh-CN" altLang="en-US" sz="2400" dirty="0">
                <a:solidFill>
                  <a:schemeClr val="hlink"/>
                </a:solidFill>
              </a:rPr>
              <a:t>时分复用技术</a:t>
            </a:r>
            <a:r>
              <a:rPr lang="en-US" altLang="zh-CN" sz="2400" dirty="0">
                <a:solidFill>
                  <a:schemeClr val="hlink"/>
                </a:solidFill>
              </a:rPr>
              <a:t>——</a:t>
            </a:r>
            <a:r>
              <a:rPr lang="zh-CN" altLang="en-US" sz="2400" dirty="0">
                <a:solidFill>
                  <a:schemeClr val="hlink"/>
                </a:solidFill>
              </a:rPr>
              <a:t>用空间换时间</a:t>
            </a:r>
            <a:br>
              <a:rPr lang="zh-CN" altLang="en-US" sz="2400" dirty="0">
                <a:solidFill>
                  <a:schemeClr val="hlink"/>
                </a:solidFill>
              </a:rPr>
            </a:br>
            <a:r>
              <a:rPr lang="zh-CN" altLang="en-US" sz="2400" dirty="0">
                <a:solidFill>
                  <a:schemeClr val="tx1"/>
                </a:solidFill>
              </a:rPr>
              <a:t>虚拟处理机技术</a:t>
            </a:r>
            <a:endParaRPr lang="zh-CN" altLang="en-US" sz="2400" dirty="0">
              <a:solidFill>
                <a:schemeClr val="tx1"/>
              </a:solidFill>
            </a:endParaRPr>
          </a:p>
          <a:p>
            <a:pPr eaLnBrk="1" hangingPunct="1">
              <a:buClrTx/>
              <a:buSzTx/>
              <a:buFontTx/>
              <a:buNone/>
            </a:pPr>
            <a:r>
              <a:rPr lang="zh-CN" altLang="en-US" sz="2400" dirty="0">
                <a:solidFill>
                  <a:schemeClr val="tx1"/>
                </a:solidFill>
              </a:rPr>
              <a:t>    虚拟设备技术</a:t>
            </a:r>
            <a:r>
              <a:rPr lang="en-US" altLang="zh-CN" sz="2400" dirty="0">
                <a:solidFill>
                  <a:schemeClr val="tx1"/>
                </a:solidFill>
              </a:rPr>
              <a:t>---SPOOLING</a:t>
            </a:r>
            <a:endParaRPr lang="zh-CN" altLang="en-US" sz="2400" dirty="0">
              <a:solidFill>
                <a:schemeClr val="tx1"/>
              </a:solidFill>
            </a:endParaRPr>
          </a:p>
          <a:p>
            <a:pPr eaLnBrk="1" hangingPunct="1">
              <a:buClrTx/>
              <a:buSzTx/>
              <a:buFontTx/>
              <a:buNone/>
            </a:pPr>
            <a:r>
              <a:rPr lang="en-US" altLang="zh-CN" sz="2400" dirty="0">
                <a:solidFill>
                  <a:schemeClr val="hlink"/>
                </a:solidFill>
              </a:rPr>
              <a:t>2. </a:t>
            </a:r>
            <a:r>
              <a:rPr lang="zh-CN" altLang="en-US" sz="2400" dirty="0">
                <a:solidFill>
                  <a:schemeClr val="hlink"/>
                </a:solidFill>
              </a:rPr>
              <a:t>空分复用技术</a:t>
            </a:r>
            <a:r>
              <a:rPr lang="en-US" altLang="zh-CN" sz="2400" dirty="0">
                <a:solidFill>
                  <a:schemeClr val="hlink"/>
                </a:solidFill>
              </a:rPr>
              <a:t>——</a:t>
            </a:r>
            <a:r>
              <a:rPr lang="zh-CN" altLang="en-US" sz="2400" dirty="0">
                <a:solidFill>
                  <a:schemeClr val="hlink"/>
                </a:solidFill>
              </a:rPr>
              <a:t>用时间换空间</a:t>
            </a:r>
            <a:br>
              <a:rPr lang="zh-CN" altLang="en-US" sz="2400" dirty="0">
                <a:solidFill>
                  <a:schemeClr val="tx2"/>
                </a:solidFill>
              </a:rPr>
            </a:br>
            <a:r>
              <a:rPr lang="zh-CN" altLang="en-US" sz="2400" dirty="0">
                <a:solidFill>
                  <a:schemeClr val="tx1"/>
                </a:solidFill>
              </a:rPr>
              <a:t>虚拟存储器</a:t>
            </a:r>
            <a:endParaRPr lang="zh-CN" altLang="en-US" sz="2400" dirty="0">
              <a:solidFill>
                <a:schemeClr val="tx1"/>
              </a:solidFill>
            </a:endParaRPr>
          </a:p>
        </p:txBody>
      </p:sp>
      <p:sp>
        <p:nvSpPr>
          <p:cNvPr id="3" name="Text Box 3"/>
          <p:cNvSpPr txBox="1">
            <a:spLocks noChangeArrowheads="1"/>
          </p:cNvSpPr>
          <p:nvPr/>
        </p:nvSpPr>
        <p:spPr bwMode="auto">
          <a:xfrm>
            <a:off x="636778" y="1258951"/>
            <a:ext cx="9586214" cy="1457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zh-CN" altLang="en-US" sz="2400" dirty="0">
                <a:solidFill>
                  <a:srgbClr val="006600"/>
                </a:solidFill>
                <a:latin typeface="楷体_GB2312" pitchFamily="49" charset="-122"/>
              </a:rPr>
              <a:t>（</a:t>
            </a:r>
            <a:r>
              <a:rPr lang="en-US" altLang="zh-CN" sz="2400" dirty="0">
                <a:solidFill>
                  <a:srgbClr val="006600"/>
                </a:solidFill>
                <a:latin typeface="楷体_GB2312" pitchFamily="49" charset="-122"/>
              </a:rPr>
              <a:t>3</a:t>
            </a:r>
            <a:r>
              <a:rPr lang="zh-CN" altLang="en-US" sz="2400" dirty="0">
                <a:solidFill>
                  <a:srgbClr val="006600"/>
                </a:solidFill>
                <a:latin typeface="楷体_GB2312" pitchFamily="49" charset="-122"/>
              </a:rPr>
              <a:t>）虚拟性</a:t>
            </a:r>
            <a:endParaRPr lang="zh-CN" altLang="en-US" sz="2400" dirty="0">
              <a:solidFill>
                <a:srgbClr val="006600"/>
              </a:solidFill>
              <a:latin typeface="楷体_GB2312" pitchFamily="49" charset="-122"/>
            </a:endParaRPr>
          </a:p>
          <a:p>
            <a:pPr algn="just" eaLnBrk="1" hangingPunct="1">
              <a:buClrTx/>
              <a:buSzTx/>
              <a:buFontTx/>
              <a:buNone/>
            </a:pPr>
            <a:r>
              <a:rPr lang="zh-CN" altLang="en-US" sz="2400" dirty="0">
                <a:latin typeface="楷体_GB2312" pitchFamily="49" charset="-122"/>
              </a:rPr>
              <a:t>    指把一个物理上的实体，变为若干个逻辑上的对应物。前者是实际存在的；而后者是虚的，只是用户的一种感觉。</a:t>
            </a:r>
            <a:endParaRPr lang="zh-CN" altLang="en-US" sz="1800" b="0" dirty="0">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647636" y="1824165"/>
            <a:ext cx="10572051" cy="1457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algn="just" eaLnBrk="1" hangingPunct="1">
              <a:buClrTx/>
              <a:buSzTx/>
              <a:buFontTx/>
              <a:buNone/>
            </a:pPr>
            <a:r>
              <a:rPr lang="zh-CN" altLang="en-US" sz="2400" dirty="0">
                <a:solidFill>
                  <a:srgbClr val="006600"/>
                </a:solidFill>
                <a:latin typeface="楷体_GB2312" pitchFamily="49" charset="-122"/>
              </a:rPr>
              <a:t>（</a:t>
            </a:r>
            <a:r>
              <a:rPr lang="en-US" altLang="zh-CN" sz="2400" dirty="0">
                <a:solidFill>
                  <a:srgbClr val="006600"/>
                </a:solidFill>
                <a:latin typeface="楷体_GB2312" pitchFamily="49" charset="-122"/>
              </a:rPr>
              <a:t>4</a:t>
            </a:r>
            <a:r>
              <a:rPr lang="zh-CN" altLang="en-US" sz="2400" dirty="0">
                <a:solidFill>
                  <a:srgbClr val="006600"/>
                </a:solidFill>
                <a:latin typeface="楷体_GB2312" pitchFamily="49" charset="-122"/>
              </a:rPr>
              <a:t>）异步性</a:t>
            </a:r>
            <a:r>
              <a:rPr lang="en-US" altLang="zh-CN" sz="2400" dirty="0">
                <a:solidFill>
                  <a:srgbClr val="006600"/>
                </a:solidFill>
                <a:latin typeface="楷体_GB2312" pitchFamily="49" charset="-122"/>
              </a:rPr>
              <a:t>(</a:t>
            </a:r>
            <a:r>
              <a:rPr lang="zh-CN" altLang="en-US" sz="2400" dirty="0">
                <a:solidFill>
                  <a:srgbClr val="006600"/>
                </a:solidFill>
                <a:latin typeface="楷体_GB2312" pitchFamily="49" charset="-122"/>
              </a:rPr>
              <a:t>不确定性）</a:t>
            </a:r>
            <a:endParaRPr lang="zh-CN" altLang="en-US" sz="2400" dirty="0">
              <a:solidFill>
                <a:srgbClr val="006600"/>
              </a:solidFill>
              <a:latin typeface="楷体_GB2312" pitchFamily="49" charset="-122"/>
            </a:endParaRPr>
          </a:p>
          <a:p>
            <a:pPr algn="just" eaLnBrk="1" hangingPunct="1">
              <a:buClrTx/>
              <a:buSzTx/>
              <a:buFontTx/>
              <a:buNone/>
            </a:pPr>
            <a:r>
              <a:rPr lang="zh-CN" altLang="en-US" sz="2400" dirty="0">
                <a:solidFill>
                  <a:srgbClr val="660066"/>
                </a:solidFill>
                <a:latin typeface="楷体_GB2312" pitchFamily="49" charset="-122"/>
              </a:rPr>
              <a:t>  </a:t>
            </a:r>
            <a:r>
              <a:rPr lang="zh-CN" altLang="en-US" sz="2400" dirty="0">
                <a:latin typeface="楷体_GB2312" pitchFamily="49" charset="-122"/>
              </a:rPr>
              <a:t>  指在多道程序环境下，程序以异步方式执行。即每道程序在何时执行、各自执行的顺序、完成每道程序所需要的时间都是不确定的，也是不可预知的。</a:t>
            </a:r>
            <a:endParaRPr lang="zh-CN" altLang="en-US" sz="1800" b="0" dirty="0">
              <a:ea typeface="隶书" panose="02010509060101010101" pitchFamily="49" charset="-122"/>
            </a:endParaRPr>
          </a:p>
        </p:txBody>
      </p:sp>
      <p:sp>
        <p:nvSpPr>
          <p:cNvPr id="3" name="Text Box 4"/>
          <p:cNvSpPr txBox="1">
            <a:spLocks noChangeArrowheads="1"/>
          </p:cNvSpPr>
          <p:nvPr/>
        </p:nvSpPr>
        <p:spPr bwMode="auto">
          <a:xfrm>
            <a:off x="719074" y="3984752"/>
            <a:ext cx="7416800" cy="497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hlink"/>
              </a:buClr>
              <a:buSzPct val="70000"/>
              <a:buFont typeface="Wingdings" panose="05000000000000000000" pitchFamily="2" charset="2"/>
              <a:buChar char="v"/>
              <a:defRPr sz="3200">
                <a:solidFill>
                  <a:srgbClr val="000099"/>
                </a:solidFill>
                <a:latin typeface="Arial" panose="020B0604020202020204" pitchFamily="34" charset="0"/>
                <a:ea typeface="楷体_GB2312" pitchFamily="49"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隶书" panose="02010509060101010101" pitchFamily="49" charset="-122"/>
              </a:defRPr>
            </a:lvl2pPr>
            <a:lvl3pPr marL="1143000" indent="-228600">
              <a:lnSpc>
                <a:spcPct val="120000"/>
              </a:lnSpc>
              <a:spcBef>
                <a:spcPct val="20000"/>
              </a:spcBef>
              <a:buClr>
                <a:schemeClr val="hlink"/>
              </a:buClr>
              <a:buSzPct val="80000"/>
              <a:buFont typeface="Wingdings" panose="05000000000000000000" pitchFamily="2" charset="2"/>
              <a:buChar char="•"/>
              <a:defRPr sz="2400">
                <a:solidFill>
                  <a:schemeClr val="tx1"/>
                </a:solidFill>
                <a:latin typeface="Arial" panose="020B0604020202020204" pitchFamily="34" charset="0"/>
                <a:ea typeface="隶书" panose="02010509060101010101" pitchFamily="49"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隶书" panose="02010509060101010101" pitchFamily="49"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隶书" panose="02010509060101010101" pitchFamily="49" charset="-122"/>
              </a:defRPr>
            </a:lvl9pPr>
          </a:lstStyle>
          <a:p>
            <a:pPr eaLnBrk="1" hangingPunct="1">
              <a:buClrTx/>
              <a:buSzTx/>
              <a:buFontTx/>
              <a:buNone/>
            </a:pPr>
            <a:r>
              <a:rPr lang="zh-CN" altLang="en-US" sz="2400" dirty="0">
                <a:solidFill>
                  <a:srgbClr val="05A714"/>
                </a:solidFill>
                <a:latin typeface="楷体_GB2312" pitchFamily="49" charset="-122"/>
              </a:rPr>
              <a:t>并发</a:t>
            </a:r>
            <a:r>
              <a:rPr lang="zh-CN" altLang="en-US" sz="2400" dirty="0">
                <a:solidFill>
                  <a:schemeClr val="tx1"/>
                </a:solidFill>
                <a:latin typeface="楷体_GB2312" pitchFamily="49" charset="-122"/>
              </a:rPr>
              <a:t>和</a:t>
            </a:r>
            <a:r>
              <a:rPr lang="zh-CN" altLang="en-US" sz="2400" dirty="0">
                <a:solidFill>
                  <a:srgbClr val="05A714"/>
                </a:solidFill>
                <a:latin typeface="楷体_GB2312" pitchFamily="49" charset="-122"/>
              </a:rPr>
              <a:t>共享</a:t>
            </a:r>
            <a:r>
              <a:rPr lang="zh-CN" altLang="en-US" sz="2400" dirty="0">
                <a:solidFill>
                  <a:schemeClr val="tx1"/>
                </a:solidFill>
                <a:latin typeface="楷体_GB2312" pitchFamily="49" charset="-122"/>
              </a:rPr>
              <a:t>是操作系统的两个最</a:t>
            </a:r>
            <a:r>
              <a:rPr lang="zh-CN" altLang="en-US" sz="2400" dirty="0">
                <a:solidFill>
                  <a:srgbClr val="05A714"/>
                </a:solidFill>
                <a:latin typeface="楷体_GB2312" pitchFamily="49" charset="-122"/>
              </a:rPr>
              <a:t>基本</a:t>
            </a:r>
            <a:r>
              <a:rPr lang="zh-CN" altLang="en-US" sz="2400" dirty="0">
                <a:solidFill>
                  <a:schemeClr val="tx1"/>
                </a:solidFill>
                <a:latin typeface="楷体_GB2312" pitchFamily="49" charset="-122"/>
              </a:rPr>
              <a:t>的特征</a:t>
            </a:r>
            <a:r>
              <a:rPr lang="zh-CN" altLang="en-US" sz="2400" dirty="0">
                <a:solidFill>
                  <a:schemeClr val="hlink"/>
                </a:solidFill>
                <a:latin typeface="楷体_GB2312" pitchFamily="49" charset="-122"/>
              </a:rPr>
              <a:t>。</a:t>
            </a:r>
            <a:endParaRPr lang="zh-CN" altLang="en-US" sz="1800" b="0" dirty="0">
              <a:solidFill>
                <a:schemeClr val="tx1"/>
              </a:solidFill>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b="1" dirty="0">
                <a:solidFill>
                  <a:srgbClr val="0000FF"/>
                </a:solidFill>
                <a:latin typeface="+mj-ea"/>
              </a:rPr>
              <a:t>1.4 </a:t>
            </a:r>
            <a:r>
              <a:rPr lang="zh-CN" altLang="en-US" sz="2400" b="1" dirty="0">
                <a:solidFill>
                  <a:srgbClr val="0000FF"/>
                </a:solidFill>
                <a:latin typeface="+mj-ea"/>
              </a:rPr>
              <a:t>操作系统的运行环境</a:t>
            </a:r>
            <a:endParaRPr lang="zh-CN" altLang="en-US" sz="2400" b="1" dirty="0">
              <a:solidFill>
                <a:srgbClr val="0000FF"/>
              </a:solidFill>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00110"/>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操作系统的运行环境</a:t>
            </a:r>
            <a:r>
              <a:rPr lang="en-US" altLang="zh-CN" sz="2800" b="1" dirty="0">
                <a:solidFill>
                  <a:schemeClr val="bg1"/>
                </a:solidFill>
              </a:rPr>
              <a:t>——</a:t>
            </a:r>
            <a:r>
              <a:rPr lang="zh-CN" altLang="en-US" sz="2800" b="1" dirty="0">
                <a:solidFill>
                  <a:schemeClr val="bg1"/>
                </a:solidFill>
              </a:rPr>
              <a:t>硬件支持</a:t>
            </a:r>
            <a:endParaRPr lang="zh-CN" altLang="en-US" sz="2800" b="1" dirty="0">
              <a:solidFill>
                <a:schemeClr val="bg1"/>
              </a:solidFill>
            </a:endParaRPr>
          </a:p>
        </p:txBody>
      </p:sp>
      <p:grpSp>
        <p:nvGrpSpPr>
          <p:cNvPr id="39" name="20411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711651"/>
            <a:ext cx="10848976" cy="4000820"/>
            <a:chOff x="669924" y="2239685"/>
            <a:chExt cx="10848976" cy="4000820"/>
          </a:xfrm>
        </p:grpSpPr>
        <p:sp>
          <p:nvSpPr>
            <p:cNvPr id="58" name="ïsḷîde"/>
            <p:cNvSpPr/>
            <p:nvPr/>
          </p:nvSpPr>
          <p:spPr bwMode="auto">
            <a:xfrm>
              <a:off x="673100"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59" name="îSḷïḋe"/>
            <p:cNvSpPr/>
            <p:nvPr/>
          </p:nvSpPr>
          <p:spPr bwMode="auto">
            <a:xfrm>
              <a:off x="2727477" y="2982961"/>
              <a:ext cx="2628292" cy="1311179"/>
            </a:xfrm>
            <a:prstGeom prst="hexagon">
              <a:avLst/>
            </a:prstGeom>
            <a:solidFill>
              <a:schemeClr val="bg1">
                <a:lumMod val="95000"/>
              </a:schemeClr>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60" name="íšļíḍè"/>
            <p:cNvSpPr/>
            <p:nvPr/>
          </p:nvSpPr>
          <p:spPr bwMode="auto">
            <a:xfrm>
              <a:off x="4781854"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61" name="îṧḷíḋé"/>
            <p:cNvSpPr/>
            <p:nvPr/>
          </p:nvSpPr>
          <p:spPr bwMode="auto">
            <a:xfrm>
              <a:off x="6836231" y="2982961"/>
              <a:ext cx="2628292" cy="1311179"/>
            </a:xfrm>
            <a:prstGeom prst="hexagon">
              <a:avLst/>
            </a:prstGeom>
            <a:solidFill>
              <a:schemeClr val="bg1">
                <a:lumMod val="95000"/>
              </a:schemeClr>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62" name="íṣlíḍè"/>
            <p:cNvSpPr/>
            <p:nvPr/>
          </p:nvSpPr>
          <p:spPr bwMode="auto">
            <a:xfrm>
              <a:off x="8890608"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63" name="îṧlîḍe"/>
            <p:cNvSpPr/>
            <p:nvPr/>
          </p:nvSpPr>
          <p:spPr bwMode="auto">
            <a:xfrm>
              <a:off x="7866670" y="3365703"/>
              <a:ext cx="567414" cy="545694"/>
            </a:xfrm>
            <a:custGeom>
              <a:avLst/>
              <a:gdLst>
                <a:gd name="connsiteX0" fmla="*/ 61288 w 609549"/>
                <a:gd name="connsiteY0" fmla="*/ 383285 h 586216"/>
                <a:gd name="connsiteX1" fmla="*/ 71162 w 609549"/>
                <a:gd name="connsiteY1" fmla="*/ 387101 h 586216"/>
                <a:gd name="connsiteX2" fmla="*/ 120018 w 609549"/>
                <a:gd name="connsiteY2" fmla="*/ 435892 h 586216"/>
                <a:gd name="connsiteX3" fmla="*/ 120018 w 609549"/>
                <a:gd name="connsiteY3" fmla="*/ 454200 h 586216"/>
                <a:gd name="connsiteX4" fmla="*/ 56639 w 609549"/>
                <a:gd name="connsiteY4" fmla="*/ 517543 h 586216"/>
                <a:gd name="connsiteX5" fmla="*/ 35592 w 609549"/>
                <a:gd name="connsiteY5" fmla="*/ 513644 h 586216"/>
                <a:gd name="connsiteX6" fmla="*/ 51877 w 609549"/>
                <a:gd name="connsiteY6" fmla="*/ 388099 h 586216"/>
                <a:gd name="connsiteX7" fmla="*/ 61288 w 609549"/>
                <a:gd name="connsiteY7" fmla="*/ 383285 h 586216"/>
                <a:gd name="connsiteX8" fmla="*/ 235245 w 609549"/>
                <a:gd name="connsiteY8" fmla="*/ 302810 h 586216"/>
                <a:gd name="connsiteX9" fmla="*/ 306042 w 609549"/>
                <a:gd name="connsiteY9" fmla="*/ 373466 h 586216"/>
                <a:gd name="connsiteX10" fmla="*/ 258717 w 609549"/>
                <a:gd name="connsiteY10" fmla="*/ 420680 h 586216"/>
                <a:gd name="connsiteX11" fmla="*/ 230246 w 609549"/>
                <a:gd name="connsiteY11" fmla="*/ 550152 h 586216"/>
                <a:gd name="connsiteX12" fmla="*/ 92223 w 609549"/>
                <a:gd name="connsiteY12" fmla="*/ 575305 h 586216"/>
                <a:gd name="connsiteX13" fmla="*/ 88748 w 609549"/>
                <a:gd name="connsiteY13" fmla="*/ 556143 h 586216"/>
                <a:gd name="connsiteX14" fmla="*/ 165115 w 609549"/>
                <a:gd name="connsiteY14" fmla="*/ 479877 h 586216"/>
                <a:gd name="connsiteX15" fmla="*/ 165115 w 609549"/>
                <a:gd name="connsiteY15" fmla="*/ 446308 h 586216"/>
                <a:gd name="connsiteX16" fmla="*/ 88700 w 609549"/>
                <a:gd name="connsiteY16" fmla="*/ 369995 h 586216"/>
                <a:gd name="connsiteX17" fmla="*/ 92128 w 609549"/>
                <a:gd name="connsiteY17" fmla="*/ 350976 h 586216"/>
                <a:gd name="connsiteX18" fmla="*/ 189111 w 609549"/>
                <a:gd name="connsiteY18" fmla="*/ 348884 h 586216"/>
                <a:gd name="connsiteX19" fmla="*/ 257958 w 609549"/>
                <a:gd name="connsiteY19" fmla="*/ 161679 h 586216"/>
                <a:gd name="connsiteX20" fmla="*/ 317251 w 609549"/>
                <a:gd name="connsiteY20" fmla="*/ 220879 h 586216"/>
                <a:gd name="connsiteX21" fmla="*/ 388070 w 609549"/>
                <a:gd name="connsiteY21" fmla="*/ 291586 h 586216"/>
                <a:gd name="connsiteX22" fmla="*/ 604906 w 609549"/>
                <a:gd name="connsiteY22" fmla="*/ 508130 h 586216"/>
                <a:gd name="connsiteX23" fmla="*/ 604906 w 609549"/>
                <a:gd name="connsiteY23" fmla="*/ 530526 h 586216"/>
                <a:gd name="connsiteX24" fmla="*/ 556567 w 609549"/>
                <a:gd name="connsiteY24" fmla="*/ 578789 h 586216"/>
                <a:gd name="connsiteX25" fmla="*/ 545327 w 609549"/>
                <a:gd name="connsiteY25" fmla="*/ 583449 h 586216"/>
                <a:gd name="connsiteX26" fmla="*/ 534135 w 609549"/>
                <a:gd name="connsiteY26" fmla="*/ 578789 h 586216"/>
                <a:gd name="connsiteX27" fmla="*/ 317251 w 609549"/>
                <a:gd name="connsiteY27" fmla="*/ 362293 h 586216"/>
                <a:gd name="connsiteX28" fmla="*/ 246481 w 609549"/>
                <a:gd name="connsiteY28" fmla="*/ 291586 h 586216"/>
                <a:gd name="connsiteX29" fmla="*/ 187140 w 609549"/>
                <a:gd name="connsiteY29" fmla="*/ 232339 h 586216"/>
                <a:gd name="connsiteX30" fmla="*/ 58606 w 609549"/>
                <a:gd name="connsiteY30" fmla="*/ 160814 h 586216"/>
                <a:gd name="connsiteX31" fmla="*/ 126401 w 609549"/>
                <a:gd name="connsiteY31" fmla="*/ 228498 h 586216"/>
                <a:gd name="connsiteX32" fmla="*/ 111975 w 609549"/>
                <a:gd name="connsiteY32" fmla="*/ 242899 h 586216"/>
                <a:gd name="connsiteX33" fmla="*/ 119307 w 609549"/>
                <a:gd name="connsiteY33" fmla="*/ 250219 h 586216"/>
                <a:gd name="connsiteX34" fmla="*/ 119307 w 609549"/>
                <a:gd name="connsiteY34" fmla="*/ 277692 h 586216"/>
                <a:gd name="connsiteX35" fmla="*/ 115641 w 609549"/>
                <a:gd name="connsiteY35" fmla="*/ 281352 h 586216"/>
                <a:gd name="connsiteX36" fmla="*/ 88123 w 609549"/>
                <a:gd name="connsiteY36" fmla="*/ 281352 h 586216"/>
                <a:gd name="connsiteX37" fmla="*/ 5712 w 609549"/>
                <a:gd name="connsiteY37" fmla="*/ 199029 h 586216"/>
                <a:gd name="connsiteX38" fmla="*/ 5712 w 609549"/>
                <a:gd name="connsiteY38" fmla="*/ 171604 h 586216"/>
                <a:gd name="connsiteX39" fmla="*/ 9378 w 609549"/>
                <a:gd name="connsiteY39" fmla="*/ 167944 h 586216"/>
                <a:gd name="connsiteX40" fmla="*/ 36849 w 609549"/>
                <a:gd name="connsiteY40" fmla="*/ 167944 h 586216"/>
                <a:gd name="connsiteX41" fmla="*/ 44180 w 609549"/>
                <a:gd name="connsiteY41" fmla="*/ 175264 h 586216"/>
                <a:gd name="connsiteX42" fmla="*/ 585775 w 609549"/>
                <a:gd name="connsiteY42" fmla="*/ 66370 h 586216"/>
                <a:gd name="connsiteX43" fmla="*/ 595263 w 609549"/>
                <a:gd name="connsiteY43" fmla="*/ 73839 h 586216"/>
                <a:gd name="connsiteX44" fmla="*/ 578978 w 609549"/>
                <a:gd name="connsiteY44" fmla="*/ 199341 h 586216"/>
                <a:gd name="connsiteX45" fmla="*/ 559693 w 609549"/>
                <a:gd name="connsiteY45" fmla="*/ 200387 h 586216"/>
                <a:gd name="connsiteX46" fmla="*/ 510789 w 609549"/>
                <a:gd name="connsiteY46" fmla="*/ 151612 h 586216"/>
                <a:gd name="connsiteX47" fmla="*/ 510789 w 609549"/>
                <a:gd name="connsiteY47" fmla="*/ 133262 h 586216"/>
                <a:gd name="connsiteX48" fmla="*/ 574216 w 609549"/>
                <a:gd name="connsiteY48" fmla="*/ 69988 h 586216"/>
                <a:gd name="connsiteX49" fmla="*/ 585775 w 609549"/>
                <a:gd name="connsiteY49" fmla="*/ 66370 h 586216"/>
                <a:gd name="connsiteX50" fmla="*/ 158702 w 609549"/>
                <a:gd name="connsiteY50" fmla="*/ 26758 h 586216"/>
                <a:gd name="connsiteX51" fmla="*/ 172463 w 609549"/>
                <a:gd name="connsiteY51" fmla="*/ 32464 h 586216"/>
                <a:gd name="connsiteX52" fmla="*/ 179701 w 609549"/>
                <a:gd name="connsiteY52" fmla="*/ 39691 h 586216"/>
                <a:gd name="connsiteX53" fmla="*/ 246935 w 609549"/>
                <a:gd name="connsiteY53" fmla="*/ 106831 h 586216"/>
                <a:gd name="connsiteX54" fmla="*/ 254886 w 609549"/>
                <a:gd name="connsiteY54" fmla="*/ 114819 h 586216"/>
                <a:gd name="connsiteX55" fmla="*/ 257600 w 609549"/>
                <a:gd name="connsiteY55" fmla="*/ 138879 h 586216"/>
                <a:gd name="connsiteX56" fmla="*/ 254886 w 609549"/>
                <a:gd name="connsiteY56" fmla="*/ 142255 h 586216"/>
                <a:gd name="connsiteX57" fmla="*/ 252315 w 609549"/>
                <a:gd name="connsiteY57" fmla="*/ 144823 h 586216"/>
                <a:gd name="connsiteX58" fmla="*/ 246696 w 609549"/>
                <a:gd name="connsiteY58" fmla="*/ 150434 h 586216"/>
                <a:gd name="connsiteX59" fmla="*/ 175892 w 609549"/>
                <a:gd name="connsiteY59" fmla="*/ 221140 h 586216"/>
                <a:gd name="connsiteX60" fmla="*/ 172463 w 609549"/>
                <a:gd name="connsiteY60" fmla="*/ 224611 h 586216"/>
                <a:gd name="connsiteX61" fmla="*/ 170130 w 609549"/>
                <a:gd name="connsiteY61" fmla="*/ 226560 h 586216"/>
                <a:gd name="connsiteX62" fmla="*/ 162274 w 609549"/>
                <a:gd name="connsiteY62" fmla="*/ 229936 h 586216"/>
                <a:gd name="connsiteX63" fmla="*/ 158702 w 609549"/>
                <a:gd name="connsiteY63" fmla="*/ 230269 h 586216"/>
                <a:gd name="connsiteX64" fmla="*/ 144942 w 609549"/>
                <a:gd name="connsiteY64" fmla="*/ 224611 h 586216"/>
                <a:gd name="connsiteX65" fmla="*/ 137609 w 609549"/>
                <a:gd name="connsiteY65" fmla="*/ 217288 h 586216"/>
                <a:gd name="connsiteX66" fmla="*/ 69804 w 609549"/>
                <a:gd name="connsiteY66" fmla="*/ 149578 h 586216"/>
                <a:gd name="connsiteX67" fmla="*/ 62519 w 609549"/>
                <a:gd name="connsiteY67" fmla="*/ 142255 h 586216"/>
                <a:gd name="connsiteX68" fmla="*/ 62519 w 609549"/>
                <a:gd name="connsiteY68" fmla="*/ 114819 h 586216"/>
                <a:gd name="connsiteX69" fmla="*/ 144942 w 609549"/>
                <a:gd name="connsiteY69" fmla="*/ 32464 h 586216"/>
                <a:gd name="connsiteX70" fmla="*/ 158702 w 609549"/>
                <a:gd name="connsiteY70" fmla="*/ 26758 h 586216"/>
                <a:gd name="connsiteX71" fmla="*/ 254809 w 609549"/>
                <a:gd name="connsiteY71" fmla="*/ 6542 h 586216"/>
                <a:gd name="connsiteX72" fmla="*/ 321015 w 609549"/>
                <a:gd name="connsiteY72" fmla="*/ 29913 h 586216"/>
                <a:gd name="connsiteX73" fmla="*/ 260017 w 609549"/>
                <a:gd name="connsiteY73" fmla="*/ 97465 h 586216"/>
                <a:gd name="connsiteX74" fmla="*/ 193067 w 609549"/>
                <a:gd name="connsiteY74" fmla="*/ 30626 h 586216"/>
                <a:gd name="connsiteX75" fmla="*/ 254809 w 609549"/>
                <a:gd name="connsiteY75" fmla="*/ 6542 h 586216"/>
                <a:gd name="connsiteX76" fmla="*/ 503105 w 609549"/>
                <a:gd name="connsiteY76" fmla="*/ 953 h 586216"/>
                <a:gd name="connsiteX77" fmla="*/ 538560 w 609549"/>
                <a:gd name="connsiteY77" fmla="*/ 10911 h 586216"/>
                <a:gd name="connsiteX78" fmla="*/ 542083 w 609549"/>
                <a:gd name="connsiteY78" fmla="*/ 30073 h 586216"/>
                <a:gd name="connsiteX79" fmla="*/ 465709 w 609549"/>
                <a:gd name="connsiteY79" fmla="*/ 106341 h 586216"/>
                <a:gd name="connsiteX80" fmla="*/ 465709 w 609549"/>
                <a:gd name="connsiteY80" fmla="*/ 139911 h 586216"/>
                <a:gd name="connsiteX81" fmla="*/ 542131 w 609549"/>
                <a:gd name="connsiteY81" fmla="*/ 216227 h 586216"/>
                <a:gd name="connsiteX82" fmla="*/ 538655 w 609549"/>
                <a:gd name="connsiteY82" fmla="*/ 235246 h 586216"/>
                <a:gd name="connsiteX83" fmla="*/ 442187 w 609549"/>
                <a:gd name="connsiteY83" fmla="*/ 237528 h 586216"/>
                <a:gd name="connsiteX84" fmla="*/ 399238 w 609549"/>
                <a:gd name="connsiteY84" fmla="*/ 280370 h 586216"/>
                <a:gd name="connsiteX85" fmla="*/ 328482 w 609549"/>
                <a:gd name="connsiteY85" fmla="*/ 209712 h 586216"/>
                <a:gd name="connsiteX86" fmla="*/ 372240 w 609549"/>
                <a:gd name="connsiteY86" fmla="*/ 166015 h 586216"/>
                <a:gd name="connsiteX87" fmla="*/ 400571 w 609549"/>
                <a:gd name="connsiteY87" fmla="*/ 36064 h 586216"/>
                <a:gd name="connsiteX88" fmla="*/ 503105 w 609549"/>
                <a:gd name="connsiteY88" fmla="*/ 953 h 58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9549" h="586216">
                  <a:moveTo>
                    <a:pt x="61288" y="383285"/>
                  </a:moveTo>
                  <a:cubicBezTo>
                    <a:pt x="64829" y="383106"/>
                    <a:pt x="68448" y="384367"/>
                    <a:pt x="71162" y="387101"/>
                  </a:cubicBezTo>
                  <a:lnTo>
                    <a:pt x="120018" y="435892"/>
                  </a:lnTo>
                  <a:cubicBezTo>
                    <a:pt x="125113" y="440933"/>
                    <a:pt x="125113" y="449160"/>
                    <a:pt x="120018" y="454200"/>
                  </a:cubicBezTo>
                  <a:lnTo>
                    <a:pt x="56639" y="517543"/>
                  </a:lnTo>
                  <a:cubicBezTo>
                    <a:pt x="50211" y="523963"/>
                    <a:pt x="39211" y="522013"/>
                    <a:pt x="35592" y="513644"/>
                  </a:cubicBezTo>
                  <a:cubicBezTo>
                    <a:pt x="17783" y="472794"/>
                    <a:pt x="23211" y="424288"/>
                    <a:pt x="51877" y="388099"/>
                  </a:cubicBezTo>
                  <a:cubicBezTo>
                    <a:pt x="54282" y="385079"/>
                    <a:pt x="57746" y="383463"/>
                    <a:pt x="61288" y="383285"/>
                  </a:cubicBezTo>
                  <a:close/>
                  <a:moveTo>
                    <a:pt x="235245" y="302810"/>
                  </a:moveTo>
                  <a:lnTo>
                    <a:pt x="306042" y="373466"/>
                  </a:lnTo>
                  <a:lnTo>
                    <a:pt x="258717" y="420680"/>
                  </a:lnTo>
                  <a:cubicBezTo>
                    <a:pt x="274667" y="464329"/>
                    <a:pt x="265192" y="515300"/>
                    <a:pt x="230246" y="550152"/>
                  </a:cubicBezTo>
                  <a:cubicBezTo>
                    <a:pt x="192919" y="587430"/>
                    <a:pt x="137644" y="595798"/>
                    <a:pt x="92223" y="575305"/>
                  </a:cubicBezTo>
                  <a:cubicBezTo>
                    <a:pt x="84701" y="571882"/>
                    <a:pt x="82892" y="561992"/>
                    <a:pt x="88748" y="556143"/>
                  </a:cubicBezTo>
                  <a:lnTo>
                    <a:pt x="165115" y="479877"/>
                  </a:lnTo>
                  <a:cubicBezTo>
                    <a:pt x="174399" y="470605"/>
                    <a:pt x="174399" y="455580"/>
                    <a:pt x="165115" y="446308"/>
                  </a:cubicBezTo>
                  <a:lnTo>
                    <a:pt x="88700" y="369995"/>
                  </a:lnTo>
                  <a:cubicBezTo>
                    <a:pt x="82844" y="364194"/>
                    <a:pt x="84653" y="354399"/>
                    <a:pt x="92128" y="350976"/>
                  </a:cubicBezTo>
                  <a:cubicBezTo>
                    <a:pt x="122789" y="337092"/>
                    <a:pt x="157973" y="336379"/>
                    <a:pt x="189111" y="348884"/>
                  </a:cubicBezTo>
                  <a:close/>
                  <a:moveTo>
                    <a:pt x="257958" y="161679"/>
                  </a:moveTo>
                  <a:lnTo>
                    <a:pt x="317251" y="220879"/>
                  </a:lnTo>
                  <a:lnTo>
                    <a:pt x="388070" y="291586"/>
                  </a:lnTo>
                  <a:lnTo>
                    <a:pt x="604906" y="508130"/>
                  </a:lnTo>
                  <a:cubicBezTo>
                    <a:pt x="611097" y="514311"/>
                    <a:pt x="611097" y="524344"/>
                    <a:pt x="604906" y="530526"/>
                  </a:cubicBezTo>
                  <a:lnTo>
                    <a:pt x="556567" y="578789"/>
                  </a:lnTo>
                  <a:cubicBezTo>
                    <a:pt x="553471" y="581880"/>
                    <a:pt x="549423" y="583449"/>
                    <a:pt x="545327" y="583449"/>
                  </a:cubicBezTo>
                  <a:cubicBezTo>
                    <a:pt x="541279" y="583449"/>
                    <a:pt x="537231" y="581880"/>
                    <a:pt x="534135" y="578789"/>
                  </a:cubicBezTo>
                  <a:lnTo>
                    <a:pt x="317251" y="362293"/>
                  </a:lnTo>
                  <a:lnTo>
                    <a:pt x="246481" y="291586"/>
                  </a:lnTo>
                  <a:lnTo>
                    <a:pt x="187140" y="232339"/>
                  </a:lnTo>
                  <a:close/>
                  <a:moveTo>
                    <a:pt x="58606" y="160814"/>
                  </a:moveTo>
                  <a:lnTo>
                    <a:pt x="126401" y="228498"/>
                  </a:lnTo>
                  <a:lnTo>
                    <a:pt x="111975" y="242899"/>
                  </a:lnTo>
                  <a:lnTo>
                    <a:pt x="119307" y="250219"/>
                  </a:lnTo>
                  <a:cubicBezTo>
                    <a:pt x="126877" y="257824"/>
                    <a:pt x="126877" y="270087"/>
                    <a:pt x="119307" y="277692"/>
                  </a:cubicBezTo>
                  <a:lnTo>
                    <a:pt x="115641" y="281352"/>
                  </a:lnTo>
                  <a:cubicBezTo>
                    <a:pt x="108024" y="288909"/>
                    <a:pt x="95741" y="288909"/>
                    <a:pt x="88123" y="281352"/>
                  </a:cubicBezTo>
                  <a:lnTo>
                    <a:pt x="5712" y="199029"/>
                  </a:lnTo>
                  <a:cubicBezTo>
                    <a:pt x="-1905" y="191424"/>
                    <a:pt x="-1905" y="179161"/>
                    <a:pt x="5712" y="171604"/>
                  </a:cubicBezTo>
                  <a:lnTo>
                    <a:pt x="9378" y="167944"/>
                  </a:lnTo>
                  <a:cubicBezTo>
                    <a:pt x="16948" y="160339"/>
                    <a:pt x="29231" y="160339"/>
                    <a:pt x="36849" y="167944"/>
                  </a:cubicBezTo>
                  <a:lnTo>
                    <a:pt x="44180" y="175264"/>
                  </a:lnTo>
                  <a:close/>
                  <a:moveTo>
                    <a:pt x="585775" y="66370"/>
                  </a:moveTo>
                  <a:cubicBezTo>
                    <a:pt x="589775" y="67101"/>
                    <a:pt x="593430" y="69680"/>
                    <a:pt x="595263" y="73839"/>
                  </a:cubicBezTo>
                  <a:cubicBezTo>
                    <a:pt x="613072" y="114675"/>
                    <a:pt x="607644" y="163212"/>
                    <a:pt x="578978" y="199341"/>
                  </a:cubicBezTo>
                  <a:cubicBezTo>
                    <a:pt x="574168" y="205379"/>
                    <a:pt x="565121" y="205854"/>
                    <a:pt x="559693" y="200387"/>
                  </a:cubicBezTo>
                  <a:lnTo>
                    <a:pt x="510789" y="151612"/>
                  </a:lnTo>
                  <a:cubicBezTo>
                    <a:pt x="505742" y="146526"/>
                    <a:pt x="505742" y="138349"/>
                    <a:pt x="510789" y="133262"/>
                  </a:cubicBezTo>
                  <a:lnTo>
                    <a:pt x="574216" y="69988"/>
                  </a:lnTo>
                  <a:cubicBezTo>
                    <a:pt x="577430" y="66756"/>
                    <a:pt x="581775" y="65639"/>
                    <a:pt x="585775" y="66370"/>
                  </a:cubicBezTo>
                  <a:close/>
                  <a:moveTo>
                    <a:pt x="158702" y="26758"/>
                  </a:moveTo>
                  <a:cubicBezTo>
                    <a:pt x="163655" y="26758"/>
                    <a:pt x="168654" y="28660"/>
                    <a:pt x="172463" y="32464"/>
                  </a:cubicBezTo>
                  <a:lnTo>
                    <a:pt x="179701" y="39691"/>
                  </a:lnTo>
                  <a:lnTo>
                    <a:pt x="246935" y="106831"/>
                  </a:lnTo>
                  <a:lnTo>
                    <a:pt x="254886" y="114819"/>
                  </a:lnTo>
                  <a:cubicBezTo>
                    <a:pt x="261457" y="121334"/>
                    <a:pt x="262362" y="131414"/>
                    <a:pt x="257600" y="138879"/>
                  </a:cubicBezTo>
                  <a:cubicBezTo>
                    <a:pt x="256839" y="140068"/>
                    <a:pt x="255934" y="141209"/>
                    <a:pt x="254886" y="142255"/>
                  </a:cubicBezTo>
                  <a:lnTo>
                    <a:pt x="252315" y="144823"/>
                  </a:lnTo>
                  <a:lnTo>
                    <a:pt x="246696" y="150434"/>
                  </a:lnTo>
                  <a:lnTo>
                    <a:pt x="175892" y="221140"/>
                  </a:lnTo>
                  <a:lnTo>
                    <a:pt x="172463" y="224611"/>
                  </a:lnTo>
                  <a:cubicBezTo>
                    <a:pt x="171702" y="225324"/>
                    <a:pt x="170940" y="225990"/>
                    <a:pt x="170130" y="226560"/>
                  </a:cubicBezTo>
                  <a:cubicBezTo>
                    <a:pt x="167749" y="228319"/>
                    <a:pt x="165083" y="229413"/>
                    <a:pt x="162274" y="229936"/>
                  </a:cubicBezTo>
                  <a:cubicBezTo>
                    <a:pt x="161083" y="230174"/>
                    <a:pt x="159893" y="230269"/>
                    <a:pt x="158702" y="230269"/>
                  </a:cubicBezTo>
                  <a:cubicBezTo>
                    <a:pt x="153703" y="230269"/>
                    <a:pt x="148751" y="228367"/>
                    <a:pt x="144942" y="224611"/>
                  </a:cubicBezTo>
                  <a:lnTo>
                    <a:pt x="137609" y="217288"/>
                  </a:lnTo>
                  <a:lnTo>
                    <a:pt x="69804" y="149578"/>
                  </a:lnTo>
                  <a:lnTo>
                    <a:pt x="62519" y="142255"/>
                  </a:lnTo>
                  <a:cubicBezTo>
                    <a:pt x="54900" y="134647"/>
                    <a:pt x="54900" y="122380"/>
                    <a:pt x="62519" y="114819"/>
                  </a:cubicBezTo>
                  <a:lnTo>
                    <a:pt x="144942" y="32464"/>
                  </a:lnTo>
                  <a:cubicBezTo>
                    <a:pt x="148751" y="28660"/>
                    <a:pt x="153750" y="26758"/>
                    <a:pt x="158702" y="26758"/>
                  </a:cubicBezTo>
                  <a:close/>
                  <a:moveTo>
                    <a:pt x="254809" y="6542"/>
                  </a:moveTo>
                  <a:cubicBezTo>
                    <a:pt x="277279" y="4029"/>
                    <a:pt x="300492" y="9424"/>
                    <a:pt x="321015" y="29913"/>
                  </a:cubicBezTo>
                  <a:cubicBezTo>
                    <a:pt x="380347" y="89193"/>
                    <a:pt x="337205" y="46124"/>
                    <a:pt x="260017" y="97465"/>
                  </a:cubicBezTo>
                  <a:lnTo>
                    <a:pt x="193067" y="30626"/>
                  </a:lnTo>
                  <a:cubicBezTo>
                    <a:pt x="210614" y="19479"/>
                    <a:pt x="232340" y="9056"/>
                    <a:pt x="254809" y="6542"/>
                  </a:cubicBezTo>
                  <a:close/>
                  <a:moveTo>
                    <a:pt x="503105" y="953"/>
                  </a:moveTo>
                  <a:cubicBezTo>
                    <a:pt x="515252" y="2468"/>
                    <a:pt x="527216" y="5788"/>
                    <a:pt x="538560" y="10911"/>
                  </a:cubicBezTo>
                  <a:cubicBezTo>
                    <a:pt x="546131" y="14334"/>
                    <a:pt x="547940" y="24224"/>
                    <a:pt x="542083" y="30073"/>
                  </a:cubicBezTo>
                  <a:lnTo>
                    <a:pt x="465709" y="106341"/>
                  </a:lnTo>
                  <a:cubicBezTo>
                    <a:pt x="456424" y="115613"/>
                    <a:pt x="456424" y="130639"/>
                    <a:pt x="465709" y="139911"/>
                  </a:cubicBezTo>
                  <a:lnTo>
                    <a:pt x="542131" y="216227"/>
                  </a:lnTo>
                  <a:cubicBezTo>
                    <a:pt x="547940" y="222028"/>
                    <a:pt x="546178" y="231823"/>
                    <a:pt x="538655" y="235246"/>
                  </a:cubicBezTo>
                  <a:cubicBezTo>
                    <a:pt x="508181" y="249035"/>
                    <a:pt x="473184" y="249844"/>
                    <a:pt x="442187" y="237528"/>
                  </a:cubicBezTo>
                  <a:lnTo>
                    <a:pt x="399238" y="280370"/>
                  </a:lnTo>
                  <a:lnTo>
                    <a:pt x="328482" y="209712"/>
                  </a:lnTo>
                  <a:lnTo>
                    <a:pt x="372240" y="166015"/>
                  </a:lnTo>
                  <a:cubicBezTo>
                    <a:pt x="356051" y="122270"/>
                    <a:pt x="365527" y="71060"/>
                    <a:pt x="400571" y="36064"/>
                  </a:cubicBezTo>
                  <a:cubicBezTo>
                    <a:pt x="428569" y="8106"/>
                    <a:pt x="466664" y="-3592"/>
                    <a:pt x="503105" y="953"/>
                  </a:cubicBezTo>
                  <a:close/>
                </a:path>
              </a:pathLst>
            </a:custGeom>
            <a:solidFill>
              <a:schemeClr val="tx1">
                <a:lumMod val="50000"/>
                <a:lumOff val="50000"/>
              </a:schemeClr>
            </a:solidFill>
            <a:ln>
              <a:noFill/>
            </a:ln>
          </p:spPr>
          <p:txBody>
            <a:bodyPr/>
            <a:lstStyle/>
            <a:p>
              <a:endParaRPr lang="zh-CN" altLang="en-US"/>
            </a:p>
          </p:txBody>
        </p:sp>
        <p:sp>
          <p:nvSpPr>
            <p:cNvPr id="64" name="iṥḷíďe"/>
            <p:cNvSpPr/>
            <p:nvPr/>
          </p:nvSpPr>
          <p:spPr bwMode="auto">
            <a:xfrm>
              <a:off x="3757917" y="3365618"/>
              <a:ext cx="567412" cy="545864"/>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tx1">
                <a:lumMod val="50000"/>
                <a:lumOff val="50000"/>
              </a:schemeClr>
            </a:solidFill>
            <a:ln>
              <a:noFill/>
            </a:ln>
          </p:spPr>
          <p:txBody>
            <a:bodyPr/>
            <a:lstStyle/>
            <a:p>
              <a:endParaRPr lang="zh-CN" altLang="en-US"/>
            </a:p>
          </p:txBody>
        </p:sp>
        <p:sp>
          <p:nvSpPr>
            <p:cNvPr id="65" name="iṥḻíḓê"/>
            <p:cNvSpPr/>
            <p:nvPr/>
          </p:nvSpPr>
          <p:spPr bwMode="auto">
            <a:xfrm>
              <a:off x="1703540" y="3355375"/>
              <a:ext cx="567412"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a:bodyPr>
            <a:lstStyle/>
            <a:p>
              <a:endParaRPr lang="zh-CN" altLang="en-US"/>
            </a:p>
          </p:txBody>
        </p:sp>
        <p:sp>
          <p:nvSpPr>
            <p:cNvPr id="66" name="îsḻiḋè"/>
            <p:cNvSpPr/>
            <p:nvPr/>
          </p:nvSpPr>
          <p:spPr bwMode="auto">
            <a:xfrm>
              <a:off x="9921048" y="3390890"/>
              <a:ext cx="567412" cy="49532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a:noFill/>
            </a:ln>
          </p:spPr>
          <p:txBody>
            <a:bodyPr/>
            <a:lstStyle/>
            <a:p>
              <a:endParaRPr lang="zh-CN" altLang="en-US"/>
            </a:p>
          </p:txBody>
        </p:sp>
        <p:sp>
          <p:nvSpPr>
            <p:cNvPr id="67" name="îṥḷiḋè"/>
            <p:cNvSpPr/>
            <p:nvPr/>
          </p:nvSpPr>
          <p:spPr bwMode="auto">
            <a:xfrm>
              <a:off x="5778268" y="3381375"/>
              <a:ext cx="635464" cy="514350"/>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txBody>
            <a:bodyPr vert="horz" wrap="square" lIns="91440" tIns="45720" rIns="91440" bIns="45720" numCol="1" anchor="t" anchorCtr="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grpSp>
          <p:nvGrpSpPr>
            <p:cNvPr id="68" name="ïsḻîde"/>
            <p:cNvGrpSpPr/>
            <p:nvPr/>
          </p:nvGrpSpPr>
          <p:grpSpPr>
            <a:xfrm>
              <a:off x="669924" y="4676797"/>
              <a:ext cx="3313754" cy="1563708"/>
              <a:chOff x="669924" y="4960116"/>
              <a:chExt cx="3313754" cy="1563708"/>
            </a:xfrm>
          </p:grpSpPr>
          <p:sp>
            <p:nvSpPr>
              <p:cNvPr id="81" name="ï$ļidè"/>
              <p:cNvSpPr txBox="1"/>
              <p:nvPr/>
            </p:nvSpPr>
            <p:spPr>
              <a:xfrm>
                <a:off x="903101" y="5472772"/>
                <a:ext cx="2847399" cy="1051052"/>
              </a:xfrm>
              <a:prstGeom prst="rect">
                <a:avLst/>
              </a:prstGeom>
              <a:noFill/>
            </p:spPr>
            <p:txBody>
              <a:bodyPr wrap="square" lIns="91440" tIns="45720" rIns="91440" bIns="45720">
                <a:normAutofit/>
              </a:bodyPr>
              <a:lstStyle/>
              <a:p>
                <a:pPr marL="342900" indent="-342900" algn="ctr">
                  <a:lnSpc>
                    <a:spcPct val="120000"/>
                  </a:lnSpc>
                  <a:buClr>
                    <a:srgbClr val="FF0000"/>
                  </a:buClr>
                  <a:buFont typeface="Wingdings" panose="05000000000000000000" pitchFamily="2" charset="2"/>
                  <a:buChar char="Ø"/>
                </a:pPr>
                <a:r>
                  <a:rPr lang="zh-CN" altLang="en-US" sz="2400" dirty="0"/>
                  <a:t>定位</a:t>
                </a:r>
                <a:r>
                  <a:rPr lang="en-US" altLang="zh-CN" sz="2400" dirty="0"/>
                  <a:t>OS</a:t>
                </a:r>
                <a:r>
                  <a:rPr lang="zh-CN" altLang="en-US" sz="2400" dirty="0"/>
                  <a:t>内核并将其加载到内存中。</a:t>
                </a:r>
                <a:endParaRPr lang="zh-CN" altLang="en-US" sz="2400" dirty="0"/>
              </a:p>
            </p:txBody>
          </p:sp>
          <p:sp>
            <p:nvSpPr>
              <p:cNvPr id="82" name="ïṧļíḋê"/>
              <p:cNvSpPr txBox="1"/>
              <p:nvPr/>
            </p:nvSpPr>
            <p:spPr>
              <a:xfrm>
                <a:off x="669924" y="4960116"/>
                <a:ext cx="3313754" cy="393389"/>
              </a:xfrm>
              <a:prstGeom prst="rect">
                <a:avLst/>
              </a:prstGeom>
              <a:noFill/>
            </p:spPr>
            <p:txBody>
              <a:bodyPr wrap="square" lIns="91440" tIns="45720" rIns="91440" bIns="45720">
                <a:noAutofit/>
              </a:bodyPr>
              <a:lstStyle/>
              <a:p>
                <a:pPr algn="ctr"/>
                <a:r>
                  <a:rPr lang="zh-CN" altLang="en-US" sz="2400" b="1" dirty="0"/>
                  <a:t>引导程序：位于固件</a:t>
                </a:r>
                <a:endParaRPr lang="zh-CN" altLang="en-US" sz="2400" b="1" dirty="0"/>
              </a:p>
            </p:txBody>
          </p:sp>
        </p:grpSp>
        <p:sp>
          <p:nvSpPr>
            <p:cNvPr id="80" name="îşḷíḓè"/>
            <p:cNvSpPr txBox="1"/>
            <p:nvPr/>
          </p:nvSpPr>
          <p:spPr>
            <a:xfrm>
              <a:off x="4848799" y="4644027"/>
              <a:ext cx="2847400" cy="1051052"/>
            </a:xfrm>
            <a:prstGeom prst="rect">
              <a:avLst/>
            </a:prstGeom>
            <a:noFill/>
          </p:spPr>
          <p:txBody>
            <a:bodyPr wrap="square" lIns="91440" tIns="45720" rIns="91440" bIns="45720">
              <a:normAutofit/>
            </a:bodyPr>
            <a:lstStyle/>
            <a:p>
              <a:pPr algn="ctr"/>
              <a:r>
                <a:rPr lang="zh-CN" altLang="en-US" sz="2400" b="1" dirty="0"/>
                <a:t>事件：硬件中断或软件中断引起</a:t>
              </a:r>
              <a:endParaRPr lang="zh-CN" altLang="en-US" sz="2400" b="1" dirty="0"/>
            </a:p>
          </p:txBody>
        </p:sp>
        <p:sp>
          <p:nvSpPr>
            <p:cNvPr id="78" name="íşľiḍé"/>
            <p:cNvSpPr txBox="1"/>
            <p:nvPr/>
          </p:nvSpPr>
          <p:spPr>
            <a:xfrm>
              <a:off x="9009316" y="4643436"/>
              <a:ext cx="2390876" cy="393389"/>
            </a:xfrm>
            <a:prstGeom prst="rect">
              <a:avLst/>
            </a:prstGeom>
            <a:noFill/>
          </p:spPr>
          <p:txBody>
            <a:bodyPr wrap="square" lIns="91440" tIns="45720" rIns="91440" bIns="45720">
              <a:noAutofit/>
            </a:bodyPr>
            <a:lstStyle/>
            <a:p>
              <a:pPr algn="ctr"/>
              <a:r>
                <a:rPr lang="zh-CN" altLang="en-US" sz="2400" b="1" dirty="0"/>
                <a:t>程序：位于外存</a:t>
              </a:r>
              <a:endParaRPr lang="zh-CN" altLang="en-US" sz="2400" b="1" dirty="0"/>
            </a:p>
          </p:txBody>
        </p:sp>
        <p:sp>
          <p:nvSpPr>
            <p:cNvPr id="76" name="í$ḻiḍê"/>
            <p:cNvSpPr txBox="1"/>
            <p:nvPr/>
          </p:nvSpPr>
          <p:spPr>
            <a:xfrm>
              <a:off x="6485639" y="2239685"/>
              <a:ext cx="3414813" cy="393389"/>
            </a:xfrm>
            <a:prstGeom prst="rect">
              <a:avLst/>
            </a:prstGeom>
            <a:noFill/>
          </p:spPr>
          <p:txBody>
            <a:bodyPr wrap="square" lIns="91440" tIns="45720" rIns="91440" bIns="45720">
              <a:noAutofit/>
            </a:bodyPr>
            <a:lstStyle/>
            <a:p>
              <a:pPr algn="ctr"/>
              <a:r>
                <a:rPr lang="zh-CN" altLang="en-US" sz="2400" b="1" dirty="0"/>
                <a:t>执行程序：位于内存</a:t>
              </a:r>
              <a:endParaRPr lang="zh-CN" altLang="en-US" sz="2400" b="1" dirty="0"/>
            </a:p>
          </p:txBody>
        </p:sp>
        <p:sp>
          <p:nvSpPr>
            <p:cNvPr id="74" name="îṥľíḑé"/>
            <p:cNvSpPr txBox="1"/>
            <p:nvPr/>
          </p:nvSpPr>
          <p:spPr>
            <a:xfrm>
              <a:off x="2788240" y="2239685"/>
              <a:ext cx="2390876" cy="393389"/>
            </a:xfrm>
            <a:prstGeom prst="rect">
              <a:avLst/>
            </a:prstGeom>
            <a:noFill/>
          </p:spPr>
          <p:txBody>
            <a:bodyPr wrap="square" lIns="91440" tIns="45720" rIns="91440" bIns="45720">
              <a:noAutofit/>
            </a:bodyPr>
            <a:lstStyle/>
            <a:p>
              <a:pPr algn="ctr"/>
              <a:r>
                <a:rPr lang="zh-CN" altLang="en-US" sz="2400" b="1" dirty="0"/>
                <a:t>指令：</a:t>
              </a:r>
              <a:r>
                <a:rPr lang="en-US" altLang="zh-CN" sz="2400" b="1" dirty="0"/>
                <a:t>CPU</a:t>
              </a:r>
              <a:r>
                <a:rPr lang="zh-CN" altLang="en-US" sz="2400" b="1" dirty="0"/>
                <a:t>执行</a:t>
              </a:r>
              <a:endParaRPr lang="zh-CN" altLang="en-US" sz="2400" b="1" dirty="0"/>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操作系统内核</a:t>
            </a:r>
            <a:endParaRPr lang="zh-CN" altLang="en-US" sz="2800" b="1" dirty="0">
              <a:solidFill>
                <a:schemeClr val="bg1"/>
              </a:solidFill>
            </a:endParaRPr>
          </a:p>
        </p:txBody>
      </p:sp>
      <p:sp>
        <p:nvSpPr>
          <p:cNvPr id="21" name="íšḻîḋè"/>
          <p:cNvSpPr/>
          <p:nvPr/>
        </p:nvSpPr>
        <p:spPr>
          <a:xfrm>
            <a:off x="2146089" y="2796424"/>
            <a:ext cx="8272919" cy="212432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中断处理</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时钟管理</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原语操作</a:t>
            </a:r>
            <a:endParaRPr lang="en-US" altLang="zh-CN" sz="2200" dirty="0"/>
          </a:p>
          <a:p>
            <a:pPr marL="800100" lvl="1" indent="-342900">
              <a:lnSpc>
                <a:spcPct val="120000"/>
              </a:lnSpc>
              <a:buClr>
                <a:srgbClr val="FF0000"/>
              </a:buClr>
              <a:buFont typeface="Wingdings" panose="05000000000000000000" pitchFamily="2" charset="2"/>
              <a:buChar char="p"/>
            </a:pPr>
            <a:r>
              <a:rPr lang="zh-CN" altLang="en-US" sz="2200" dirty="0"/>
              <a:t>由若干条指令组成，用于完成一定功能。</a:t>
            </a:r>
            <a:endParaRPr lang="zh-CN" altLang="en-US" sz="2200" dirty="0"/>
          </a:p>
          <a:p>
            <a:pPr marL="800100" lvl="1" indent="-342900">
              <a:lnSpc>
                <a:spcPct val="120000"/>
              </a:lnSpc>
              <a:buClr>
                <a:srgbClr val="FF0000"/>
              </a:buClr>
              <a:buFont typeface="Wingdings" panose="05000000000000000000" pitchFamily="2" charset="2"/>
              <a:buChar char="p"/>
            </a:pPr>
            <a:r>
              <a:rPr lang="zh-CN" altLang="en-US" sz="2200" dirty="0"/>
              <a:t>原子操作：要么不做，要么全做，不可分割。</a:t>
            </a:r>
            <a:endParaRPr lang="zh-CN" altLang="en-US" sz="2200" dirty="0"/>
          </a:p>
        </p:txBody>
      </p:sp>
      <p:sp>
        <p:nvSpPr>
          <p:cNvPr id="22" name="i$lîďê"/>
          <p:cNvSpPr/>
          <p:nvPr/>
        </p:nvSpPr>
        <p:spPr>
          <a:xfrm>
            <a:off x="2201724" y="2345299"/>
            <a:ext cx="3696051" cy="392877"/>
          </a:xfrm>
          <a:prstGeom prst="rect">
            <a:avLst/>
          </a:prstGeom>
          <a:noFill/>
          <a:ln>
            <a:noFill/>
          </a:ln>
        </p:spPr>
        <p:txBody>
          <a:bodyPr wrap="square" lIns="91440" tIns="45720" rIns="91440" bIns="45720" anchor="ctr" anchorCtr="0">
            <a:noAutofit/>
          </a:bodyPr>
          <a:lstStyle/>
          <a:p>
            <a:r>
              <a:rPr lang="zh-CN" altLang="en-US" sz="2400" dirty="0"/>
              <a:t>支撑功能</a:t>
            </a:r>
            <a:endParaRPr lang="zh-CN" altLang="en-US" sz="2400" dirty="0"/>
          </a:p>
        </p:txBody>
      </p:sp>
      <p:sp>
        <p:nvSpPr>
          <p:cNvPr id="23" name="î$ļíḋè"/>
          <p:cNvSpPr/>
          <p:nvPr/>
        </p:nvSpPr>
        <p:spPr>
          <a:xfrm>
            <a:off x="2201724" y="5604433"/>
            <a:ext cx="5319538" cy="64182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进程管理、存储器管理、设备管理</a:t>
            </a:r>
            <a:endParaRPr lang="zh-CN" altLang="en-US" sz="2200" dirty="0"/>
          </a:p>
        </p:txBody>
      </p:sp>
      <p:sp>
        <p:nvSpPr>
          <p:cNvPr id="24" name="ïṧḷïḋè"/>
          <p:cNvSpPr/>
          <p:nvPr/>
        </p:nvSpPr>
        <p:spPr>
          <a:xfrm>
            <a:off x="2201726" y="5150694"/>
            <a:ext cx="3696051" cy="415102"/>
          </a:xfrm>
          <a:prstGeom prst="rect">
            <a:avLst/>
          </a:prstGeom>
          <a:noFill/>
          <a:ln>
            <a:noFill/>
          </a:ln>
        </p:spPr>
        <p:txBody>
          <a:bodyPr wrap="square" lIns="91440" tIns="45720" rIns="91440" bIns="45720" anchor="ctr" anchorCtr="0">
            <a:noAutofit/>
          </a:bodyPr>
          <a:lstStyle/>
          <a:p>
            <a:r>
              <a:rPr lang="zh-CN" altLang="en-US" sz="2400" dirty="0"/>
              <a:t>资源管理功能</a:t>
            </a:r>
            <a:endParaRPr lang="zh-CN" altLang="en-US" sz="2400" dirty="0"/>
          </a:p>
        </p:txBody>
      </p:sp>
      <p:sp>
        <p:nvSpPr>
          <p:cNvPr id="26" name="íšḻíḑê"/>
          <p:cNvSpPr/>
          <p:nvPr/>
        </p:nvSpPr>
        <p:spPr>
          <a:xfrm>
            <a:off x="2201724" y="1433294"/>
            <a:ext cx="4894534" cy="405747"/>
          </a:xfrm>
          <a:prstGeom prst="rect">
            <a:avLst/>
          </a:prstGeom>
          <a:noFill/>
          <a:ln>
            <a:noFill/>
          </a:ln>
        </p:spPr>
        <p:txBody>
          <a:bodyPr wrap="square" lIns="91440" tIns="45720" rIns="91440" bIns="45720" anchor="ctr" anchorCtr="0">
            <a:noAutofit/>
          </a:bodyPr>
          <a:lstStyle/>
          <a:p>
            <a:r>
              <a:rPr lang="zh-CN" altLang="en-US" sz="2400" dirty="0"/>
              <a:t>常驻内存，通常与硬件紧密相关</a:t>
            </a:r>
            <a:endParaRPr lang="zh-CN" altLang="en-US" sz="2400" dirty="0"/>
          </a:p>
        </p:txBody>
      </p:sp>
      <p:sp>
        <p:nvSpPr>
          <p:cNvPr id="27" name="îSļiḓè"/>
          <p:cNvSpPr/>
          <p:nvPr/>
        </p:nvSpPr>
        <p:spPr>
          <a:xfrm>
            <a:off x="1518222" y="132223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8" name="íṥḻîḓe"/>
          <p:cNvSpPr/>
          <p:nvPr/>
        </p:nvSpPr>
        <p:spPr>
          <a:xfrm>
            <a:off x="1518222" y="510672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9" name="îşļiḓè"/>
          <p:cNvSpPr/>
          <p:nvPr/>
        </p:nvSpPr>
        <p:spPr>
          <a:xfrm>
            <a:off x="1518222" y="229628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0" name="îṡḷíďe"/>
          <p:cNvSpPr/>
          <p:nvPr/>
        </p:nvSpPr>
        <p:spPr>
          <a:xfrm>
            <a:off x="1708477" y="1518373"/>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1" name="íSlíḋe"/>
          <p:cNvSpPr/>
          <p:nvPr/>
        </p:nvSpPr>
        <p:spPr>
          <a:xfrm>
            <a:off x="1708476" y="251830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2" name="ïśḷïḓe"/>
          <p:cNvSpPr/>
          <p:nvPr/>
        </p:nvSpPr>
        <p:spPr>
          <a:xfrm>
            <a:off x="1737415" y="529618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处理机的双重工作模式</a:t>
            </a:r>
            <a:endParaRPr lang="zh-CN" altLang="en-US" sz="2800" b="1" dirty="0">
              <a:solidFill>
                <a:schemeClr val="bg1"/>
              </a:solidFill>
            </a:endParaRPr>
          </a:p>
        </p:txBody>
      </p:sp>
      <p:grpSp>
        <p:nvGrpSpPr>
          <p:cNvPr id="14"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17700" y="1297164"/>
            <a:ext cx="11377235" cy="4148266"/>
            <a:chOff x="542846" y="1464590"/>
            <a:chExt cx="11377235" cy="4148266"/>
          </a:xfrm>
        </p:grpSpPr>
        <p:sp>
          <p:nvSpPr>
            <p:cNvPr id="15"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6"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7"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8"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9"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5" name="ï$1iḍe"/>
            <p:cNvSpPr txBox="1"/>
            <p:nvPr/>
          </p:nvSpPr>
          <p:spPr>
            <a:xfrm>
              <a:off x="542846" y="1491721"/>
              <a:ext cx="2687137" cy="392512"/>
            </a:xfrm>
            <a:prstGeom prst="rect">
              <a:avLst/>
            </a:prstGeom>
            <a:noFill/>
            <a:ln>
              <a:noFill/>
            </a:ln>
          </p:spPr>
          <p:txBody>
            <a:bodyPr wrap="square" lIns="91440" tIns="45720" rIns="91440" bIns="45720" anchor="t" anchorCtr="0">
              <a:noAutofit/>
            </a:bodyPr>
            <a:lstStyle/>
            <a:p>
              <a:pPr algn="ctr"/>
              <a:r>
                <a:rPr lang="zh-CN" altLang="en-US" sz="2200" b="1" dirty="0"/>
                <a:t>特权指令</a:t>
              </a:r>
              <a:endParaRPr lang="zh-CN" altLang="en-US" sz="2200" b="1" dirty="0"/>
            </a:p>
          </p:txBody>
        </p:sp>
        <p:sp>
          <p:nvSpPr>
            <p:cNvPr id="33" name="isľîdê"/>
            <p:cNvSpPr txBox="1"/>
            <p:nvPr/>
          </p:nvSpPr>
          <p:spPr>
            <a:xfrm>
              <a:off x="837271" y="4127645"/>
              <a:ext cx="2287926"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如果误用，有可能引起系统崩溃的指令。</a:t>
              </a:r>
              <a:endParaRPr lang="zh-CN" altLang="en-US" sz="2000" dirty="0"/>
            </a:p>
          </p:txBody>
        </p:sp>
        <p:sp>
          <p:nvSpPr>
            <p:cNvPr id="34" name="íṩ1ïḑe"/>
            <p:cNvSpPr txBox="1"/>
            <p:nvPr/>
          </p:nvSpPr>
          <p:spPr>
            <a:xfrm>
              <a:off x="3077666" y="1464590"/>
              <a:ext cx="3316591" cy="392512"/>
            </a:xfrm>
            <a:prstGeom prst="rect">
              <a:avLst/>
            </a:prstGeom>
            <a:noFill/>
            <a:ln>
              <a:noFill/>
            </a:ln>
          </p:spPr>
          <p:txBody>
            <a:bodyPr wrap="square" lIns="91440" tIns="45720" rIns="91440" bIns="45720" anchor="t" anchorCtr="0">
              <a:noAutofit/>
            </a:bodyPr>
            <a:lstStyle/>
            <a:p>
              <a:pPr>
                <a:lnSpc>
                  <a:spcPct val="110000"/>
                </a:lnSpc>
              </a:pPr>
              <a:r>
                <a:rPr lang="zh-CN" altLang="en-US" sz="2200" b="1" dirty="0">
                  <a:solidFill>
                    <a:srgbClr val="FF0000"/>
                  </a:solidFill>
                </a:rPr>
                <a:t>内核态</a:t>
              </a:r>
              <a:r>
                <a:rPr lang="zh-CN" altLang="en-US" sz="2200" b="1" dirty="0"/>
                <a:t>（管态、系统态）</a:t>
              </a:r>
              <a:endParaRPr lang="zh-CN" altLang="en-US" sz="2200" b="1" dirty="0"/>
            </a:p>
          </p:txBody>
        </p:sp>
        <p:sp>
          <p:nvSpPr>
            <p:cNvPr id="35" name="ïsḻiďê"/>
            <p:cNvSpPr txBox="1"/>
            <p:nvPr/>
          </p:nvSpPr>
          <p:spPr>
            <a:xfrm>
              <a:off x="6366706" y="1478156"/>
              <a:ext cx="2356280" cy="392512"/>
            </a:xfrm>
            <a:prstGeom prst="rect">
              <a:avLst/>
            </a:prstGeom>
            <a:noFill/>
            <a:ln>
              <a:noFill/>
            </a:ln>
          </p:spPr>
          <p:txBody>
            <a:bodyPr wrap="square" lIns="91440" tIns="45720" rIns="91440" bIns="45720" anchor="t" anchorCtr="0">
              <a:noAutofit/>
            </a:bodyPr>
            <a:lstStyle/>
            <a:p>
              <a:pPr algn="r"/>
              <a:r>
                <a:rPr lang="zh-CN" altLang="en-US" sz="2200" b="1" dirty="0">
                  <a:solidFill>
                    <a:srgbClr val="FF0000"/>
                  </a:solidFill>
                </a:rPr>
                <a:t>用户态</a:t>
              </a:r>
              <a:r>
                <a:rPr lang="zh-CN" altLang="en-US" sz="2200" b="1" dirty="0"/>
                <a:t>（目态）</a:t>
              </a:r>
              <a:endParaRPr lang="zh-CN" altLang="en-US" sz="2200" b="1" dirty="0"/>
            </a:p>
          </p:txBody>
        </p:sp>
        <p:sp>
          <p:nvSpPr>
            <p:cNvPr id="36" name="isḷiḋé"/>
            <p:cNvSpPr txBox="1"/>
            <p:nvPr/>
          </p:nvSpPr>
          <p:spPr>
            <a:xfrm>
              <a:off x="8833059" y="1491721"/>
              <a:ext cx="3087022" cy="392512"/>
            </a:xfrm>
            <a:prstGeom prst="rect">
              <a:avLst/>
            </a:prstGeom>
            <a:noFill/>
            <a:ln>
              <a:noFill/>
            </a:ln>
          </p:spPr>
          <p:txBody>
            <a:bodyPr wrap="square" lIns="91440" tIns="45720" rIns="91440" bIns="45720" anchor="t" anchorCtr="0">
              <a:noAutofit/>
            </a:bodyPr>
            <a:lstStyle/>
            <a:p>
              <a:pPr algn="ctr"/>
              <a:r>
                <a:rPr lang="zh-CN" altLang="en-US" sz="2200" b="1" dirty="0"/>
                <a:t>由硬件提供模式位</a:t>
              </a:r>
              <a:endParaRPr lang="zh-CN" altLang="en-US" sz="2200" b="1" dirty="0"/>
            </a:p>
          </p:txBody>
        </p:sp>
        <p:sp>
          <p:nvSpPr>
            <p:cNvPr id="37"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8"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9"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40"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41" name="isľîdê"/>
            <p:cNvSpPr txBox="1"/>
            <p:nvPr/>
          </p:nvSpPr>
          <p:spPr>
            <a:xfrm>
              <a:off x="3540236" y="4127645"/>
              <a:ext cx="2276119" cy="85874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执行包括特权指令在内的一切指令。</a:t>
              </a:r>
              <a:endParaRPr lang="zh-CN" altLang="en-US" sz="2000" dirty="0"/>
            </a:p>
          </p:txBody>
        </p:sp>
        <p:sp>
          <p:nvSpPr>
            <p:cNvPr id="42" name="isľîdê"/>
            <p:cNvSpPr txBox="1"/>
            <p:nvPr/>
          </p:nvSpPr>
          <p:spPr>
            <a:xfrm>
              <a:off x="6469394" y="4151140"/>
              <a:ext cx="2018637" cy="53145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000" dirty="0"/>
                <a:t>不能执行特权指令。</a:t>
              </a:r>
              <a:endParaRPr lang="zh-CN" altLang="en-US" sz="2000" dirty="0"/>
            </a:p>
          </p:txBody>
        </p:sp>
        <p:sp>
          <p:nvSpPr>
            <p:cNvPr id="43" name="isľîdê"/>
            <p:cNvSpPr txBox="1"/>
            <p:nvPr/>
          </p:nvSpPr>
          <p:spPr>
            <a:xfrm>
              <a:off x="8722986" y="4151140"/>
              <a:ext cx="3076602"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000" dirty="0"/>
                <a:t>提供了区分系统正在运行用户代码或内核代码的能力。</a:t>
              </a:r>
              <a:endParaRPr lang="zh-CN" altLang="en-US" sz="2000" dirty="0"/>
            </a:p>
            <a:p>
              <a:pPr marL="342900" indent="-342900">
                <a:lnSpc>
                  <a:spcPct val="120000"/>
                </a:lnSpc>
                <a:buClr>
                  <a:srgbClr val="0000FF"/>
                </a:buClr>
                <a:buFont typeface="Wingdings" panose="05000000000000000000" pitchFamily="2" charset="2"/>
                <a:buChar char="Ø"/>
              </a:pPr>
              <a:r>
                <a:rPr lang="zh-CN" altLang="en-US" sz="2000" dirty="0"/>
                <a:t>系统调用切换运行模式到内核态，并将调用结果返回给用户。</a:t>
              </a:r>
              <a:endParaRPr lang="zh-CN" altLang="en-US" sz="2000" dirty="0"/>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特权指令和非特权指令</a:t>
            </a:r>
            <a:endParaRPr lang="zh-CN" altLang="en-US" sz="2800" b="1" dirty="0">
              <a:solidFill>
                <a:schemeClr val="bg1"/>
              </a:solidFill>
            </a:endParaRPr>
          </a:p>
        </p:txBody>
      </p:sp>
      <p:sp>
        <p:nvSpPr>
          <p:cNvPr id="9" name="ïşľîďè"/>
          <p:cNvSpPr/>
          <p:nvPr/>
        </p:nvSpPr>
        <p:spPr>
          <a:xfrm>
            <a:off x="1588" y="1143000"/>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0"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11" name="í$1iďè"/>
          <p:cNvGrpSpPr/>
          <p:nvPr/>
        </p:nvGrpSpPr>
        <p:grpSpPr>
          <a:xfrm>
            <a:off x="4183062" y="1607317"/>
            <a:ext cx="7381905" cy="1702554"/>
            <a:chOff x="4136995" y="1337039"/>
            <a:chExt cx="7381905" cy="1702554"/>
          </a:xfrm>
        </p:grpSpPr>
        <p:sp>
          <p:nvSpPr>
            <p:cNvPr id="3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9" name="ïSḻiḍé"/>
            <p:cNvSpPr txBox="1"/>
            <p:nvPr/>
          </p:nvSpPr>
          <p:spPr>
            <a:xfrm>
              <a:off x="4882719" y="1337039"/>
              <a:ext cx="6636181" cy="1702554"/>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b="1" dirty="0">
                  <a:solidFill>
                    <a:srgbClr val="FF0000"/>
                  </a:solidFill>
                  <a:latin typeface="+mj-ea"/>
                  <a:ea typeface="+mj-ea"/>
                </a:rPr>
                <a:t>特权指令：在内核态下运行的指令</a:t>
              </a:r>
              <a:endParaRPr lang="en-US" altLang="zh-CN" sz="2400" b="1" dirty="0">
                <a:solidFill>
                  <a:srgbClr val="FF0000"/>
                </a:solidFill>
                <a:latin typeface="+mj-ea"/>
                <a:ea typeface="+mj-ea"/>
              </a:endParaRPr>
            </a:p>
            <a:p>
              <a:pPr marL="342900" indent="-342900" algn="just">
                <a:lnSpc>
                  <a:spcPct val="130000"/>
                </a:lnSpc>
                <a:buFont typeface="Wingdings" panose="05000000000000000000" pitchFamily="2" charset="2"/>
                <a:buChar char="Ø"/>
              </a:pPr>
              <a:r>
                <a:rPr lang="zh-CN" altLang="en-US" sz="2400" dirty="0">
                  <a:latin typeface="+mj-ea"/>
                  <a:ea typeface="+mj-ea"/>
                </a:rPr>
                <a:t>不仅能访问用户空间，还能访问系统空间。</a:t>
              </a:r>
              <a:endParaRPr lang="zh-CN" altLang="en-US" sz="2400" dirty="0">
                <a:latin typeface="+mj-ea"/>
                <a:ea typeface="+mj-ea"/>
              </a:endParaRPr>
            </a:p>
            <a:p>
              <a:pPr marL="342900" indent="-342900" algn="just">
                <a:lnSpc>
                  <a:spcPct val="130000"/>
                </a:lnSpc>
                <a:buFont typeface="Wingdings" panose="05000000000000000000" pitchFamily="2" charset="2"/>
                <a:buChar char="Ø"/>
              </a:pPr>
              <a:r>
                <a:rPr lang="zh-CN" altLang="en-US" sz="2400" dirty="0">
                  <a:latin typeface="+mj-ea"/>
                  <a:ea typeface="+mj-ea"/>
                </a:rPr>
                <a:t>如启动外部设备、设置系统时钟、管中断、切换执行状态、</a:t>
              </a:r>
              <a:r>
                <a:rPr lang="en-US" altLang="zh-CN" sz="2400" dirty="0">
                  <a:latin typeface="+mj-ea"/>
                  <a:ea typeface="+mj-ea"/>
                </a:rPr>
                <a:t>I/O</a:t>
              </a:r>
              <a:r>
                <a:rPr lang="zh-CN" altLang="en-US" sz="2400" dirty="0">
                  <a:latin typeface="+mj-ea"/>
                  <a:ea typeface="+mj-ea"/>
                </a:rPr>
                <a:t>指令。</a:t>
              </a:r>
              <a:endParaRPr lang="zh-CN" altLang="en-US" sz="2400" dirty="0">
                <a:latin typeface="+mj-ea"/>
                <a:ea typeface="+mj-ea"/>
              </a:endParaRPr>
            </a:p>
          </p:txBody>
        </p:sp>
      </p:grpSp>
      <p:grpSp>
        <p:nvGrpSpPr>
          <p:cNvPr id="12" name="išḷîḓé"/>
          <p:cNvGrpSpPr/>
          <p:nvPr/>
        </p:nvGrpSpPr>
        <p:grpSpPr>
          <a:xfrm>
            <a:off x="4183062" y="3800144"/>
            <a:ext cx="7722859" cy="1763616"/>
            <a:chOff x="4136995" y="3233565"/>
            <a:chExt cx="7722859" cy="1763616"/>
          </a:xfrm>
        </p:grpSpPr>
        <p:sp>
          <p:nvSpPr>
            <p:cNvPr id="33"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5" name="îŝľîḓè"/>
            <p:cNvSpPr txBox="1"/>
            <p:nvPr/>
          </p:nvSpPr>
          <p:spPr>
            <a:xfrm>
              <a:off x="4882718" y="3233565"/>
              <a:ext cx="6977136" cy="1763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b="1" dirty="0"/>
                <a:t>非特权指令：在用户态下运行的指令</a:t>
              </a:r>
              <a:endParaRPr lang="en-US" altLang="zh-CN" sz="2400" b="1" dirty="0"/>
            </a:p>
            <a:p>
              <a:pPr marL="342900" indent="-342900">
                <a:lnSpc>
                  <a:spcPct val="130000"/>
                </a:lnSpc>
                <a:buFont typeface="Wingdings" panose="05000000000000000000" pitchFamily="2" charset="2"/>
                <a:buChar char="Ø"/>
              </a:pPr>
              <a:r>
                <a:rPr lang="zh-CN" altLang="en-US" sz="2400" dirty="0"/>
                <a:t>应用程序所使用的都是非特权指令。</a:t>
              </a:r>
              <a:endParaRPr lang="zh-CN" altLang="en-US" sz="2400" dirty="0"/>
            </a:p>
            <a:p>
              <a:pPr marL="342900" indent="-342900">
                <a:lnSpc>
                  <a:spcPct val="130000"/>
                </a:lnSpc>
                <a:buFont typeface="Wingdings" panose="05000000000000000000" pitchFamily="2" charset="2"/>
                <a:buChar char="Ø"/>
              </a:pPr>
              <a:r>
                <a:rPr lang="zh-CN" altLang="en-US" sz="2400" dirty="0"/>
                <a:t>防止应用程序的运行异常对系统造成破坏。</a:t>
              </a:r>
              <a:endParaRPr lang="zh-CN" altLang="en-US" sz="2400" dirty="0"/>
            </a:p>
            <a:p>
              <a:pPr marL="342900" indent="-342900">
                <a:lnSpc>
                  <a:spcPct val="130000"/>
                </a:lnSpc>
                <a:buFont typeface="Wingdings" panose="05000000000000000000" pitchFamily="2" charset="2"/>
                <a:buChar char="Ø"/>
              </a:pPr>
              <a:r>
                <a:rPr lang="zh-CN" altLang="en-US" sz="2400" dirty="0"/>
                <a:t>仅能访问用户空间。</a:t>
              </a:r>
              <a:endParaRPr lang="zh-CN" altLang="en-US" sz="2400" dirty="0"/>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用户态到内核态的切换</a:t>
            </a:r>
            <a:endParaRPr lang="zh-CN" altLang="en-US" sz="2800" b="1" dirty="0">
              <a:solidFill>
                <a:schemeClr val="bg1"/>
              </a:solidFill>
            </a:endParaRPr>
          </a:p>
        </p:txBody>
      </p:sp>
      <p:grpSp>
        <p:nvGrpSpPr>
          <p:cNvPr id="4" name="iṡļiḓe"/>
          <p:cNvGrpSpPr/>
          <p:nvPr/>
        </p:nvGrpSpPr>
        <p:grpSpPr>
          <a:xfrm>
            <a:off x="905099" y="1398189"/>
            <a:ext cx="6345707" cy="1409465"/>
            <a:chOff x="660400" y="1835355"/>
            <a:chExt cx="6345707" cy="1409465"/>
          </a:xfrm>
        </p:grpSpPr>
        <p:grpSp>
          <p:nvGrpSpPr>
            <p:cNvPr id="5" name="iSḻíḓè"/>
            <p:cNvGrpSpPr/>
            <p:nvPr/>
          </p:nvGrpSpPr>
          <p:grpSpPr>
            <a:xfrm>
              <a:off x="1296567" y="1835355"/>
              <a:ext cx="5709540" cy="1409465"/>
              <a:chOff x="1296567" y="1835355"/>
              <a:chExt cx="7201160" cy="1409465"/>
            </a:xfrm>
          </p:grpSpPr>
          <p:sp>
            <p:nvSpPr>
              <p:cNvPr id="9" name="îṧľîḋé"/>
              <p:cNvSpPr txBox="1"/>
              <p:nvPr/>
            </p:nvSpPr>
            <p:spPr>
              <a:xfrm>
                <a:off x="1296567" y="1835355"/>
                <a:ext cx="7201160" cy="84273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t>状态位</a:t>
                </a:r>
                <a:r>
                  <a:rPr lang="en-US" altLang="zh-CN" sz="2400" dirty="0"/>
                  <a:t>(Mode bit) </a:t>
                </a:r>
                <a:r>
                  <a:rPr lang="zh-CN" altLang="en-US" sz="2400" dirty="0"/>
                  <a:t>指示正确的状态：</a:t>
                </a:r>
                <a:endParaRPr lang="en-US" altLang="zh-CN" sz="2400" dirty="0"/>
              </a:p>
              <a:p>
                <a:pPr marL="342900" indent="-342900">
                  <a:lnSpc>
                    <a:spcPct val="132000"/>
                  </a:lnSpc>
                  <a:buClr>
                    <a:srgbClr val="FF0000"/>
                  </a:buClr>
                  <a:buFont typeface="Wingdings" panose="05000000000000000000" pitchFamily="2" charset="2"/>
                  <a:buChar char="Ø"/>
                </a:pPr>
                <a:r>
                  <a:rPr lang="zh-CN" altLang="en-US" sz="2400" dirty="0">
                    <a:solidFill>
                      <a:srgbClr val="FF0000"/>
                    </a:solidFill>
                  </a:rPr>
                  <a:t>内核态（</a:t>
                </a:r>
                <a:r>
                  <a:rPr lang="en-US" altLang="zh-CN" sz="2400" dirty="0">
                    <a:solidFill>
                      <a:srgbClr val="FF0000"/>
                    </a:solidFill>
                  </a:rPr>
                  <a:t>0</a:t>
                </a:r>
                <a:r>
                  <a:rPr lang="zh-CN" altLang="en-US" sz="2400" dirty="0">
                    <a:solidFill>
                      <a:srgbClr val="FF0000"/>
                    </a:solidFill>
                  </a:rPr>
                  <a:t>） ，用户态（</a:t>
                </a:r>
                <a:r>
                  <a:rPr lang="en-US" altLang="zh-CN" sz="2400" dirty="0">
                    <a:solidFill>
                      <a:srgbClr val="FF0000"/>
                    </a:solidFill>
                  </a:rPr>
                  <a:t>1</a:t>
                </a:r>
                <a:r>
                  <a:rPr lang="zh-CN" altLang="en-US" sz="2400" dirty="0">
                    <a:solidFill>
                      <a:srgbClr val="FF0000"/>
                    </a:solidFill>
                  </a:rPr>
                  <a:t>）</a:t>
                </a:r>
                <a:endParaRPr lang="zh-CN" altLang="en-US" sz="2400" dirty="0">
                  <a:solidFill>
                    <a:srgbClr val="FF0000"/>
                  </a:solidFill>
                </a:endParaRPr>
              </a:p>
            </p:txBody>
          </p:sp>
          <p:sp>
            <p:nvSpPr>
              <p:cNvPr id="11" name="îṧľîḋé"/>
              <p:cNvSpPr txBox="1"/>
              <p:nvPr/>
            </p:nvSpPr>
            <p:spPr>
              <a:xfrm>
                <a:off x="1296567" y="2855397"/>
                <a:ext cx="7201160"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t>当中断或错误出现，硬件切换至内核态</a:t>
                </a:r>
                <a:endParaRPr lang="zh-CN" altLang="en-US" sz="2400" dirty="0"/>
              </a:p>
            </p:txBody>
          </p:sp>
        </p:grpSp>
        <p:grpSp>
          <p:nvGrpSpPr>
            <p:cNvPr id="6" name="ïS1íḋé"/>
            <p:cNvGrpSpPr/>
            <p:nvPr/>
          </p:nvGrpSpPr>
          <p:grpSpPr>
            <a:xfrm>
              <a:off x="660400" y="1838665"/>
              <a:ext cx="497734" cy="497734"/>
              <a:chOff x="660400" y="1838665"/>
              <a:chExt cx="497734" cy="497734"/>
            </a:xfrm>
          </p:grpSpPr>
          <p:sp>
            <p:nvSpPr>
              <p:cNvPr id="7" name="islîḋe"/>
              <p:cNvSpPr/>
              <p:nvPr/>
            </p:nvSpPr>
            <p:spPr>
              <a:xfrm>
                <a:off x="660400" y="1838665"/>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8" name="îŝlîďe"/>
              <p:cNvSpPr/>
              <p:nvPr/>
            </p:nvSpPr>
            <p:spPr>
              <a:xfrm>
                <a:off x="779848" y="197010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2" name="Group 5"/>
          <p:cNvGrpSpPr/>
          <p:nvPr/>
        </p:nvGrpSpPr>
        <p:grpSpPr bwMode="auto">
          <a:xfrm>
            <a:off x="7567456" y="1108850"/>
            <a:ext cx="3963988" cy="1685925"/>
            <a:chOff x="1152" y="1816"/>
            <a:chExt cx="2857" cy="1255"/>
          </a:xfrm>
        </p:grpSpPr>
        <p:sp>
          <p:nvSpPr>
            <p:cNvPr id="13" name="Oval 6"/>
            <p:cNvSpPr>
              <a:spLocks noChangeArrowheads="1"/>
            </p:cNvSpPr>
            <p:nvPr/>
          </p:nvSpPr>
          <p:spPr bwMode="auto">
            <a:xfrm>
              <a:off x="1152" y="2256"/>
              <a:ext cx="873" cy="720"/>
            </a:xfrm>
            <a:prstGeom prst="ellipse">
              <a:avLst/>
            </a:prstGeom>
            <a:solidFill>
              <a:srgbClr val="FFFF00"/>
            </a:solidFill>
            <a:ln w="9525">
              <a:solidFill>
                <a:schemeClr val="tx1"/>
              </a:solidFill>
              <a:rou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Tx/>
                <a:buNone/>
              </a:pPr>
              <a:r>
                <a:rPr lang="zh-CN" altLang="en-US" sz="1800" b="1">
                  <a:latin typeface="Arial" panose="020B0604020202020204" pitchFamily="34" charset="0"/>
                </a:rPr>
                <a:t>内核态</a:t>
              </a:r>
              <a:endParaRPr lang="en-US" altLang="zh-CN" sz="1800" b="1">
                <a:latin typeface="Arial" panose="020B0604020202020204" pitchFamily="34" charset="0"/>
              </a:endParaRPr>
            </a:p>
          </p:txBody>
        </p:sp>
        <p:sp>
          <p:nvSpPr>
            <p:cNvPr id="14" name="Oval 7"/>
            <p:cNvSpPr>
              <a:spLocks noChangeArrowheads="1"/>
            </p:cNvSpPr>
            <p:nvPr/>
          </p:nvSpPr>
          <p:spPr bwMode="auto">
            <a:xfrm>
              <a:off x="3163" y="2256"/>
              <a:ext cx="846" cy="720"/>
            </a:xfrm>
            <a:prstGeom prst="ellipse">
              <a:avLst/>
            </a:prstGeom>
            <a:solidFill>
              <a:srgbClr val="FFFF00"/>
            </a:solidFill>
            <a:ln w="9525">
              <a:solidFill>
                <a:schemeClr val="tx1"/>
              </a:solidFill>
              <a:rou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Tx/>
                <a:buNone/>
              </a:pPr>
              <a:r>
                <a:rPr lang="zh-CN" altLang="en-US" sz="1800" b="1">
                  <a:latin typeface="Arial" panose="020B0604020202020204" pitchFamily="34" charset="0"/>
                </a:rPr>
                <a:t>用户态</a:t>
              </a:r>
              <a:endParaRPr lang="en-US" altLang="zh-CN" sz="1800" b="1">
                <a:latin typeface="Arial" panose="020B0604020202020204" pitchFamily="34" charset="0"/>
              </a:endParaRPr>
            </a:p>
          </p:txBody>
        </p:sp>
        <p:cxnSp>
          <p:nvCxnSpPr>
            <p:cNvPr id="15" name="AutoShape 8"/>
            <p:cNvCxnSpPr>
              <a:cxnSpLocks noChangeShapeType="1"/>
              <a:stCxn id="14" idx="0"/>
              <a:endCxn id="13" idx="0"/>
            </p:cNvCxnSpPr>
            <p:nvPr/>
          </p:nvCxnSpPr>
          <p:spPr bwMode="auto">
            <a:xfrm rot="16200000" flipV="1">
              <a:off x="2587" y="1257"/>
              <a:ext cx="9" cy="1998"/>
            </a:xfrm>
            <a:prstGeom prst="curvedConnector3">
              <a:avLst>
                <a:gd name="adj1" fmla="val 1800000"/>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6" name="AutoShape 9"/>
            <p:cNvCxnSpPr>
              <a:cxnSpLocks noChangeShapeType="1"/>
              <a:stCxn id="13" idx="4"/>
              <a:endCxn id="14" idx="4"/>
            </p:cNvCxnSpPr>
            <p:nvPr/>
          </p:nvCxnSpPr>
          <p:spPr bwMode="auto">
            <a:xfrm rot="16200000" flipH="1">
              <a:off x="2587" y="1977"/>
              <a:ext cx="9" cy="1998"/>
            </a:xfrm>
            <a:prstGeom prst="curvedConnector3">
              <a:avLst>
                <a:gd name="adj1" fmla="val 1800000"/>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8" name="Text Box 10"/>
            <p:cNvSpPr txBox="1">
              <a:spLocks noChangeArrowheads="1"/>
            </p:cNvSpPr>
            <p:nvPr/>
          </p:nvSpPr>
          <p:spPr bwMode="auto">
            <a:xfrm>
              <a:off x="2360" y="1816"/>
              <a:ext cx="468"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Tx/>
                <a:buNone/>
              </a:pPr>
              <a:r>
                <a:rPr lang="zh-CN" altLang="en-US" sz="1800" b="1">
                  <a:latin typeface="Arial" panose="020B0604020202020204" pitchFamily="34" charset="0"/>
                </a:rPr>
                <a:t>中断</a:t>
              </a:r>
              <a:endParaRPr lang="zh-CN" altLang="en-US" sz="1800" b="1">
                <a:latin typeface="Arial" panose="020B0604020202020204" pitchFamily="34" charset="0"/>
              </a:endParaRPr>
            </a:p>
          </p:txBody>
        </p:sp>
        <p:sp>
          <p:nvSpPr>
            <p:cNvPr id="19" name="Text Box 11"/>
            <p:cNvSpPr txBox="1">
              <a:spLocks noChangeArrowheads="1"/>
            </p:cNvSpPr>
            <p:nvPr/>
          </p:nvSpPr>
          <p:spPr bwMode="auto">
            <a:xfrm>
              <a:off x="2025" y="2728"/>
              <a:ext cx="1138"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Tx/>
                <a:buNone/>
              </a:pPr>
              <a:r>
                <a:rPr lang="zh-CN" altLang="en-US" sz="1800" b="1" dirty="0">
                  <a:latin typeface="Arial" panose="020B0604020202020204" pitchFamily="34" charset="0"/>
                </a:rPr>
                <a:t>设置用户模式</a:t>
              </a:r>
              <a:endParaRPr lang="en-US" altLang="zh-CN" sz="1800" b="1" dirty="0">
                <a:latin typeface="Arial" panose="020B0604020202020204" pitchFamily="34" charset="0"/>
              </a:endParaRPr>
            </a:p>
          </p:txBody>
        </p:sp>
      </p:grpSp>
      <p:pic>
        <p:nvPicPr>
          <p:cNvPr id="10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8126" y="3118935"/>
            <a:ext cx="9422185" cy="3120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中断与异常</a:t>
            </a:r>
            <a:endParaRPr lang="zh-CN" altLang="en-US" sz="2800" b="1" dirty="0">
              <a:solidFill>
                <a:schemeClr val="bg1"/>
              </a:solidFill>
            </a:endParaRPr>
          </a:p>
        </p:txBody>
      </p:sp>
      <p:grpSp>
        <p:nvGrpSpPr>
          <p:cNvPr id="22"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81131"/>
            <a:ext cx="10838960" cy="4734027"/>
            <a:chOff x="660400" y="1181131"/>
            <a:chExt cx="10838960" cy="4734027"/>
          </a:xfrm>
        </p:grpSpPr>
        <p:sp>
          <p:nvSpPr>
            <p:cNvPr id="23"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5"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171450" indent="-171450">
                <a:lnSpc>
                  <a:spcPct val="150000"/>
                </a:lnSpc>
                <a:buFont typeface="Arial" panose="020B0604020202020204" pitchFamily="34" charset="0"/>
                <a:buChar char="•"/>
              </a:pPr>
              <a:r>
                <a:rPr lang="zh-CN" altLang="en-US" sz="2000" dirty="0">
                  <a:solidFill>
                    <a:schemeClr val="tx1"/>
                  </a:solidFill>
                </a:rPr>
                <a:t>操作系统是中断驱动的，</a:t>
              </a:r>
              <a:r>
                <a:rPr lang="en-US" altLang="zh-CN" sz="2000" dirty="0">
                  <a:solidFill>
                    <a:schemeClr val="tx1"/>
                  </a:solidFill>
                </a:rPr>
                <a:t>OS</a:t>
              </a:r>
              <a:r>
                <a:rPr lang="zh-CN" altLang="en-US" sz="2000" dirty="0">
                  <a:solidFill>
                    <a:schemeClr val="tx1"/>
                  </a:solidFill>
                </a:rPr>
                <a:t>总在等待某个事件的发生，事件总是由中断或异常引起的。</a:t>
              </a:r>
              <a:endParaRPr lang="zh-CN" altLang="en-US" sz="2000" dirty="0">
                <a:solidFill>
                  <a:schemeClr val="tx1"/>
                </a:solidFill>
              </a:endParaRPr>
            </a:p>
          </p:txBody>
        </p:sp>
        <p:sp>
          <p:nvSpPr>
            <p:cNvPr id="26"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8"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marL="171450" indent="-171450">
                <a:lnSpc>
                  <a:spcPct val="150000"/>
                </a:lnSpc>
                <a:buFont typeface="Arial" panose="020B0604020202020204" pitchFamily="34" charset="0"/>
                <a:buChar char="•"/>
              </a:pPr>
              <a:r>
                <a:rPr lang="zh-CN" altLang="en-US" sz="2000" dirty="0">
                  <a:solidFill>
                    <a:srgbClr val="0000FF"/>
                  </a:solidFill>
                </a:rPr>
                <a:t>中断</a:t>
              </a:r>
              <a:r>
                <a:rPr lang="zh-CN" altLang="en-US" sz="2000" dirty="0">
                  <a:solidFill>
                    <a:schemeClr val="tx1"/>
                  </a:solidFill>
                </a:rPr>
                <a:t>（</a:t>
              </a:r>
              <a:r>
                <a:rPr lang="en-US" altLang="zh-CN" sz="2000" dirty="0">
                  <a:solidFill>
                    <a:schemeClr val="tx1"/>
                  </a:solidFill>
                </a:rPr>
                <a:t>interrupt</a:t>
              </a:r>
              <a:r>
                <a:rPr lang="zh-CN" altLang="en-US" sz="2000" dirty="0">
                  <a:solidFill>
                    <a:schemeClr val="tx1"/>
                  </a:solidFill>
                </a:rPr>
                <a:t>）：由</a:t>
              </a:r>
              <a:r>
                <a:rPr lang="zh-CN" altLang="en-US" sz="2000" dirty="0">
                  <a:solidFill>
                    <a:srgbClr val="0000FF"/>
                  </a:solidFill>
                </a:rPr>
                <a:t>硬件</a:t>
              </a:r>
              <a:r>
                <a:rPr lang="zh-CN" altLang="en-US" sz="2000" dirty="0">
                  <a:solidFill>
                    <a:schemeClr val="tx1"/>
                  </a:solidFill>
                </a:rPr>
                <a:t>引起。如：时钟中断、键盘中断</a:t>
              </a:r>
              <a:endParaRPr lang="zh-CN" altLang="en-US" sz="2000" dirty="0">
                <a:solidFill>
                  <a:schemeClr val="tx1"/>
                </a:solidFill>
              </a:endParaRPr>
            </a:p>
          </p:txBody>
        </p:sp>
        <p:sp>
          <p:nvSpPr>
            <p:cNvPr id="29" name="íŝḻiďé"/>
            <p:cNvSpPr/>
            <p:nvPr/>
          </p:nvSpPr>
          <p:spPr>
            <a:xfrm>
              <a:off x="8023305" y="1580300"/>
              <a:ext cx="3476055"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31" name="í$ḷîḋe"/>
            <p:cNvSpPr/>
            <p:nvPr/>
          </p:nvSpPr>
          <p:spPr>
            <a:xfrm>
              <a:off x="8001657" y="4245058"/>
              <a:ext cx="349770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285750" indent="-285750">
                <a:lnSpc>
                  <a:spcPct val="130000"/>
                </a:lnSpc>
                <a:buFont typeface="Wingdings" panose="05000000000000000000" pitchFamily="2" charset="2"/>
                <a:buChar char="l"/>
              </a:pPr>
              <a:r>
                <a:rPr lang="zh-CN" altLang="en-US" sz="2000" dirty="0">
                  <a:solidFill>
                    <a:srgbClr val="FF0000"/>
                  </a:solidFill>
                </a:rPr>
                <a:t>异常</a:t>
              </a:r>
              <a:r>
                <a:rPr lang="en-US" altLang="zh-CN" sz="2000" dirty="0">
                  <a:solidFill>
                    <a:schemeClr val="tx1"/>
                  </a:solidFill>
                </a:rPr>
                <a:t>/</a:t>
              </a:r>
              <a:r>
                <a:rPr lang="zh-CN" altLang="en-US" sz="2000" dirty="0">
                  <a:solidFill>
                    <a:schemeClr val="tx1"/>
                  </a:solidFill>
                </a:rPr>
                <a:t>陷阱（</a:t>
              </a:r>
              <a:r>
                <a:rPr lang="en-US" altLang="zh-CN" sz="2000" dirty="0">
                  <a:solidFill>
                    <a:schemeClr val="tx1"/>
                  </a:solidFill>
                </a:rPr>
                <a:t>trap</a:t>
              </a:r>
              <a:r>
                <a:rPr lang="zh-CN" altLang="en-US" sz="2000" dirty="0">
                  <a:solidFill>
                    <a:schemeClr val="tx1"/>
                  </a:solidFill>
                </a:rPr>
                <a:t>）：由</a:t>
              </a:r>
              <a:r>
                <a:rPr lang="zh-CN" altLang="en-US" sz="2000" dirty="0">
                  <a:solidFill>
                    <a:srgbClr val="FF0000"/>
                  </a:solidFill>
                </a:rPr>
                <a:t>软件</a:t>
              </a:r>
              <a:r>
                <a:rPr lang="zh-CN" altLang="en-US" sz="2000" dirty="0">
                  <a:solidFill>
                    <a:schemeClr val="tx1"/>
                  </a:solidFill>
                </a:rPr>
                <a:t>引起。</a:t>
              </a:r>
              <a:endParaRPr lang="zh-CN" altLang="en-US" sz="2000" dirty="0">
                <a:solidFill>
                  <a:schemeClr val="tx1"/>
                </a:solidFill>
              </a:endParaRPr>
            </a:p>
            <a:p>
              <a:pPr marL="742950" lvl="1" indent="-285750">
                <a:lnSpc>
                  <a:spcPct val="130000"/>
                </a:lnSpc>
                <a:buFont typeface="Wingdings" panose="05000000000000000000" pitchFamily="2" charset="2"/>
                <a:buChar char="Ø"/>
              </a:pPr>
              <a:r>
                <a:rPr lang="zh-CN" altLang="en-US" dirty="0">
                  <a:solidFill>
                    <a:schemeClr val="tx1"/>
                  </a:solidFill>
                </a:rPr>
                <a:t>出错（如除数为零或无效存储访问）。</a:t>
              </a:r>
              <a:endParaRPr lang="zh-CN" altLang="en-US" dirty="0">
                <a:solidFill>
                  <a:schemeClr val="tx1"/>
                </a:solidFill>
              </a:endParaRPr>
            </a:p>
            <a:p>
              <a:pPr marL="742950" lvl="1" indent="-285750">
                <a:lnSpc>
                  <a:spcPct val="130000"/>
                </a:lnSpc>
                <a:buFont typeface="Wingdings" panose="05000000000000000000" pitchFamily="2" charset="2"/>
                <a:buChar char="Ø"/>
              </a:pPr>
              <a:r>
                <a:rPr lang="zh-CN" altLang="en-US" dirty="0">
                  <a:solidFill>
                    <a:schemeClr val="tx1"/>
                  </a:solidFill>
                </a:rPr>
                <a:t>用户程序的特定请求（如执行</a:t>
              </a:r>
              <a:r>
                <a:rPr lang="en-US" altLang="zh-CN" dirty="0">
                  <a:solidFill>
                    <a:schemeClr val="tx1"/>
                  </a:solidFill>
                </a:rPr>
                <a:t>OS</a:t>
              </a:r>
              <a:r>
                <a:rPr lang="zh-CN" altLang="en-US" dirty="0">
                  <a:solidFill>
                    <a:schemeClr val="tx1"/>
                  </a:solidFill>
                </a:rPr>
                <a:t>的某个服务）。</a:t>
              </a:r>
              <a:endParaRPr lang="zh-CN" altLang="en-US" dirty="0">
                <a:solidFill>
                  <a:schemeClr val="tx1"/>
                </a:solidFill>
              </a:endParaRPr>
            </a:p>
          </p:txBody>
        </p:sp>
        <p:sp>
          <p:nvSpPr>
            <p:cNvPr id="32" name="ï$lïďè"/>
            <p:cNvSpPr/>
            <p:nvPr/>
          </p:nvSpPr>
          <p:spPr bwMode="auto">
            <a:xfrm>
              <a:off x="2253506" y="1181131"/>
              <a:ext cx="333138" cy="310404"/>
            </a:xfrm>
            <a:custGeom>
              <a:avLst/>
              <a:gdLst>
                <a:gd name="connsiteX0" fmla="*/ 484855 w 606016"/>
                <a:gd name="connsiteY0" fmla="*/ 473988 h 564664"/>
                <a:gd name="connsiteX1" fmla="*/ 505037 w 606016"/>
                <a:gd name="connsiteY1" fmla="*/ 494170 h 564664"/>
                <a:gd name="connsiteX2" fmla="*/ 484855 w 606016"/>
                <a:gd name="connsiteY2" fmla="*/ 514352 h 564664"/>
                <a:gd name="connsiteX3" fmla="*/ 464673 w 606016"/>
                <a:gd name="connsiteY3" fmla="*/ 494170 h 564664"/>
                <a:gd name="connsiteX4" fmla="*/ 484855 w 606016"/>
                <a:gd name="connsiteY4" fmla="*/ 473988 h 564664"/>
                <a:gd name="connsiteX5" fmla="*/ 121232 w 606016"/>
                <a:gd name="connsiteY5" fmla="*/ 473988 h 564664"/>
                <a:gd name="connsiteX6" fmla="*/ 141414 w 606016"/>
                <a:gd name="connsiteY6" fmla="*/ 494170 h 564664"/>
                <a:gd name="connsiteX7" fmla="*/ 121232 w 606016"/>
                <a:gd name="connsiteY7" fmla="*/ 514352 h 564664"/>
                <a:gd name="connsiteX8" fmla="*/ 101050 w 606016"/>
                <a:gd name="connsiteY8" fmla="*/ 494170 h 564664"/>
                <a:gd name="connsiteX9" fmla="*/ 121232 w 606016"/>
                <a:gd name="connsiteY9" fmla="*/ 473988 h 564664"/>
                <a:gd name="connsiteX10" fmla="*/ 484813 w 606016"/>
                <a:gd name="connsiteY10" fmla="*/ 443658 h 564664"/>
                <a:gd name="connsiteX11" fmla="*/ 434364 w 606016"/>
                <a:gd name="connsiteY11" fmla="*/ 494115 h 564664"/>
                <a:gd name="connsiteX12" fmla="*/ 484813 w 606016"/>
                <a:gd name="connsiteY12" fmla="*/ 544482 h 564664"/>
                <a:gd name="connsiteX13" fmla="*/ 535352 w 606016"/>
                <a:gd name="connsiteY13" fmla="*/ 494115 h 564664"/>
                <a:gd name="connsiteX14" fmla="*/ 484813 w 606016"/>
                <a:gd name="connsiteY14" fmla="*/ 443658 h 564664"/>
                <a:gd name="connsiteX15" fmla="*/ 121293 w 606016"/>
                <a:gd name="connsiteY15" fmla="*/ 443658 h 564664"/>
                <a:gd name="connsiteX16" fmla="*/ 70755 w 606016"/>
                <a:gd name="connsiteY16" fmla="*/ 494115 h 564664"/>
                <a:gd name="connsiteX17" fmla="*/ 121293 w 606016"/>
                <a:gd name="connsiteY17" fmla="*/ 544482 h 564664"/>
                <a:gd name="connsiteX18" fmla="*/ 171742 w 606016"/>
                <a:gd name="connsiteY18" fmla="*/ 494115 h 564664"/>
                <a:gd name="connsiteX19" fmla="*/ 121293 w 606016"/>
                <a:gd name="connsiteY19" fmla="*/ 443658 h 564664"/>
                <a:gd name="connsiteX20" fmla="*/ 303053 w 606016"/>
                <a:gd name="connsiteY20" fmla="*/ 373109 h 564664"/>
                <a:gd name="connsiteX21" fmla="*/ 292945 w 606016"/>
                <a:gd name="connsiteY21" fmla="*/ 383200 h 564664"/>
                <a:gd name="connsiteX22" fmla="*/ 303053 w 606016"/>
                <a:gd name="connsiteY22" fmla="*/ 393292 h 564664"/>
                <a:gd name="connsiteX23" fmla="*/ 343484 w 606016"/>
                <a:gd name="connsiteY23" fmla="*/ 393292 h 564664"/>
                <a:gd name="connsiteX24" fmla="*/ 343484 w 606016"/>
                <a:gd name="connsiteY24" fmla="*/ 403383 h 564664"/>
                <a:gd name="connsiteX25" fmla="*/ 353592 w 606016"/>
                <a:gd name="connsiteY25" fmla="*/ 413474 h 564664"/>
                <a:gd name="connsiteX26" fmla="*/ 363610 w 606016"/>
                <a:gd name="connsiteY26" fmla="*/ 403383 h 564664"/>
                <a:gd name="connsiteX27" fmla="*/ 363610 w 606016"/>
                <a:gd name="connsiteY27" fmla="*/ 383200 h 564664"/>
                <a:gd name="connsiteX28" fmla="*/ 353592 w 606016"/>
                <a:gd name="connsiteY28" fmla="*/ 373109 h 564664"/>
                <a:gd name="connsiteX29" fmla="*/ 313169 w 606016"/>
                <a:gd name="connsiteY29" fmla="*/ 282403 h 564664"/>
                <a:gd name="connsiteX30" fmla="*/ 447018 w 606016"/>
                <a:gd name="connsiteY30" fmla="*/ 282403 h 564664"/>
                <a:gd name="connsiteX31" fmla="*/ 465069 w 606016"/>
                <a:gd name="connsiteY31" fmla="*/ 311699 h 564664"/>
                <a:gd name="connsiteX32" fmla="*/ 473282 w 606016"/>
                <a:gd name="connsiteY32" fmla="*/ 322696 h 564664"/>
                <a:gd name="connsiteX33" fmla="*/ 313169 w 606016"/>
                <a:gd name="connsiteY33" fmla="*/ 322696 h 564664"/>
                <a:gd name="connsiteX34" fmla="*/ 161665 w 606016"/>
                <a:gd name="connsiteY34" fmla="*/ 282403 h 564664"/>
                <a:gd name="connsiteX35" fmla="*/ 292917 w 606016"/>
                <a:gd name="connsiteY35" fmla="*/ 282403 h 564664"/>
                <a:gd name="connsiteX36" fmla="*/ 292917 w 606016"/>
                <a:gd name="connsiteY36" fmla="*/ 322696 h 564664"/>
                <a:gd name="connsiteX37" fmla="*/ 161665 w 606016"/>
                <a:gd name="connsiteY37" fmla="*/ 322696 h 564664"/>
                <a:gd name="connsiteX38" fmla="*/ 191958 w 606016"/>
                <a:gd name="connsiteY38" fmla="*/ 0 h 564664"/>
                <a:gd name="connsiteX39" fmla="*/ 202066 w 606016"/>
                <a:gd name="connsiteY39" fmla="*/ 10092 h 564664"/>
                <a:gd name="connsiteX40" fmla="*/ 202066 w 606016"/>
                <a:gd name="connsiteY40" fmla="*/ 40366 h 564664"/>
                <a:gd name="connsiteX41" fmla="*/ 222281 w 606016"/>
                <a:gd name="connsiteY41" fmla="*/ 40366 h 564664"/>
                <a:gd name="connsiteX42" fmla="*/ 222281 w 606016"/>
                <a:gd name="connsiteY42" fmla="*/ 10092 h 564664"/>
                <a:gd name="connsiteX43" fmla="*/ 232389 w 606016"/>
                <a:gd name="connsiteY43" fmla="*/ 0 h 564664"/>
                <a:gd name="connsiteX44" fmla="*/ 242406 w 606016"/>
                <a:gd name="connsiteY44" fmla="*/ 10092 h 564664"/>
                <a:gd name="connsiteX45" fmla="*/ 242406 w 606016"/>
                <a:gd name="connsiteY45" fmla="*/ 40366 h 564664"/>
                <a:gd name="connsiteX46" fmla="*/ 252514 w 606016"/>
                <a:gd name="connsiteY46" fmla="*/ 50457 h 564664"/>
                <a:gd name="connsiteX47" fmla="*/ 252514 w 606016"/>
                <a:gd name="connsiteY47" fmla="*/ 100823 h 564664"/>
                <a:gd name="connsiteX48" fmla="*/ 242406 w 606016"/>
                <a:gd name="connsiteY48" fmla="*/ 110915 h 564664"/>
                <a:gd name="connsiteX49" fmla="*/ 221379 w 606016"/>
                <a:gd name="connsiteY49" fmla="*/ 110915 h 564664"/>
                <a:gd name="connsiteX50" fmla="*/ 161634 w 606016"/>
                <a:gd name="connsiteY50" fmla="*/ 161371 h 564664"/>
                <a:gd name="connsiteX51" fmla="*/ 101078 w 606016"/>
                <a:gd name="connsiteY51" fmla="*/ 100823 h 564664"/>
                <a:gd name="connsiteX52" fmla="*/ 60647 w 606016"/>
                <a:gd name="connsiteY52" fmla="*/ 60548 h 564664"/>
                <a:gd name="connsiteX53" fmla="*/ 20216 w 606016"/>
                <a:gd name="connsiteY53" fmla="*/ 100823 h 564664"/>
                <a:gd name="connsiteX54" fmla="*/ 20216 w 606016"/>
                <a:gd name="connsiteY54" fmla="*/ 231921 h 564664"/>
                <a:gd name="connsiteX55" fmla="*/ 80862 w 606016"/>
                <a:gd name="connsiteY55" fmla="*/ 292469 h 564664"/>
                <a:gd name="connsiteX56" fmla="*/ 82126 w 606016"/>
                <a:gd name="connsiteY56" fmla="*/ 292649 h 564664"/>
                <a:gd name="connsiteX57" fmla="*/ 105229 w 606016"/>
                <a:gd name="connsiteY57" fmla="*/ 255167 h 564664"/>
                <a:gd name="connsiteX58" fmla="*/ 164883 w 606016"/>
                <a:gd name="connsiteY58" fmla="*/ 221829 h 564664"/>
                <a:gd name="connsiteX59" fmla="*/ 370559 w 606016"/>
                <a:gd name="connsiteY59" fmla="*/ 221829 h 564664"/>
                <a:gd name="connsiteX60" fmla="*/ 430213 w 606016"/>
                <a:gd name="connsiteY60" fmla="*/ 255077 h 564664"/>
                <a:gd name="connsiteX61" fmla="*/ 434545 w 606016"/>
                <a:gd name="connsiteY61" fmla="*/ 262195 h 564664"/>
                <a:gd name="connsiteX62" fmla="*/ 159920 w 606016"/>
                <a:gd name="connsiteY62" fmla="*/ 262195 h 564664"/>
                <a:gd name="connsiteX63" fmla="*/ 141419 w 606016"/>
                <a:gd name="connsiteY63" fmla="*/ 280575 h 564664"/>
                <a:gd name="connsiteX64" fmla="*/ 141419 w 606016"/>
                <a:gd name="connsiteY64" fmla="*/ 324455 h 564664"/>
                <a:gd name="connsiteX65" fmla="*/ 159920 w 606016"/>
                <a:gd name="connsiteY65" fmla="*/ 342835 h 564664"/>
                <a:gd name="connsiteX66" fmla="*/ 498801 w 606016"/>
                <a:gd name="connsiteY66" fmla="*/ 342835 h 564664"/>
                <a:gd name="connsiteX67" fmla="*/ 538962 w 606016"/>
                <a:gd name="connsiteY67" fmla="*/ 352926 h 564664"/>
                <a:gd name="connsiteX68" fmla="*/ 580566 w 606016"/>
                <a:gd name="connsiteY68" fmla="*/ 352926 h 564664"/>
                <a:gd name="connsiteX69" fmla="*/ 606016 w 606016"/>
                <a:gd name="connsiteY69" fmla="*/ 378335 h 564664"/>
                <a:gd name="connsiteX70" fmla="*/ 606016 w 606016"/>
                <a:gd name="connsiteY70" fmla="*/ 403383 h 564664"/>
                <a:gd name="connsiteX71" fmla="*/ 555567 w 606016"/>
                <a:gd name="connsiteY71" fmla="*/ 403383 h 564664"/>
                <a:gd name="connsiteX72" fmla="*/ 545460 w 606016"/>
                <a:gd name="connsiteY72" fmla="*/ 413474 h 564664"/>
                <a:gd name="connsiteX73" fmla="*/ 555567 w 606016"/>
                <a:gd name="connsiteY73" fmla="*/ 423476 h 564664"/>
                <a:gd name="connsiteX74" fmla="*/ 606016 w 606016"/>
                <a:gd name="connsiteY74" fmla="*/ 423476 h 564664"/>
                <a:gd name="connsiteX75" fmla="*/ 606016 w 606016"/>
                <a:gd name="connsiteY75" fmla="*/ 463391 h 564664"/>
                <a:gd name="connsiteX76" fmla="*/ 565224 w 606016"/>
                <a:gd name="connsiteY76" fmla="*/ 504206 h 564664"/>
                <a:gd name="connsiteX77" fmla="*/ 554755 w 606016"/>
                <a:gd name="connsiteY77" fmla="*/ 504206 h 564664"/>
                <a:gd name="connsiteX78" fmla="*/ 484813 w 606016"/>
                <a:gd name="connsiteY78" fmla="*/ 564664 h 564664"/>
                <a:gd name="connsiteX79" fmla="*/ 414961 w 606016"/>
                <a:gd name="connsiteY79" fmla="*/ 504206 h 564664"/>
                <a:gd name="connsiteX80" fmla="*/ 191145 w 606016"/>
                <a:gd name="connsiteY80" fmla="*/ 504206 h 564664"/>
                <a:gd name="connsiteX81" fmla="*/ 121293 w 606016"/>
                <a:gd name="connsiteY81" fmla="*/ 564664 h 564664"/>
                <a:gd name="connsiteX82" fmla="*/ 51351 w 606016"/>
                <a:gd name="connsiteY82" fmla="*/ 504206 h 564664"/>
                <a:gd name="connsiteX83" fmla="*/ 35377 w 606016"/>
                <a:gd name="connsiteY83" fmla="*/ 504206 h 564664"/>
                <a:gd name="connsiteX84" fmla="*/ 90 w 606016"/>
                <a:gd name="connsiteY84" fmla="*/ 468977 h 564664"/>
                <a:gd name="connsiteX85" fmla="*/ 0 w 606016"/>
                <a:gd name="connsiteY85" fmla="*/ 423476 h 564664"/>
                <a:gd name="connsiteX86" fmla="*/ 50539 w 606016"/>
                <a:gd name="connsiteY86" fmla="*/ 423476 h 564664"/>
                <a:gd name="connsiteX87" fmla="*/ 60647 w 606016"/>
                <a:gd name="connsiteY87" fmla="*/ 413474 h 564664"/>
                <a:gd name="connsiteX88" fmla="*/ 50539 w 606016"/>
                <a:gd name="connsiteY88" fmla="*/ 403383 h 564664"/>
                <a:gd name="connsiteX89" fmla="*/ 0 w 606016"/>
                <a:gd name="connsiteY89" fmla="*/ 403383 h 564664"/>
                <a:gd name="connsiteX90" fmla="*/ 0 w 606016"/>
                <a:gd name="connsiteY90" fmla="*/ 378335 h 564664"/>
                <a:gd name="connsiteX91" fmla="*/ 7400 w 606016"/>
                <a:gd name="connsiteY91" fmla="*/ 360405 h 564664"/>
                <a:gd name="connsiteX92" fmla="*/ 25540 w 606016"/>
                <a:gd name="connsiteY92" fmla="*/ 352926 h 564664"/>
                <a:gd name="connsiteX93" fmla="*/ 54961 w 606016"/>
                <a:gd name="connsiteY93" fmla="*/ 336798 h 564664"/>
                <a:gd name="connsiteX94" fmla="*/ 70303 w 606016"/>
                <a:gd name="connsiteY94" fmla="*/ 311840 h 564664"/>
                <a:gd name="connsiteX95" fmla="*/ 90 w 606016"/>
                <a:gd name="connsiteY95" fmla="*/ 231921 h 564664"/>
                <a:gd name="connsiteX96" fmla="*/ 90 w 606016"/>
                <a:gd name="connsiteY96" fmla="*/ 100823 h 564664"/>
                <a:gd name="connsiteX97" fmla="*/ 60647 w 606016"/>
                <a:gd name="connsiteY97" fmla="*/ 40366 h 564664"/>
                <a:gd name="connsiteX98" fmla="*/ 121293 w 606016"/>
                <a:gd name="connsiteY98" fmla="*/ 100823 h 564664"/>
                <a:gd name="connsiteX99" fmla="*/ 161634 w 606016"/>
                <a:gd name="connsiteY99" fmla="*/ 141189 h 564664"/>
                <a:gd name="connsiteX100" fmla="*/ 200622 w 606016"/>
                <a:gd name="connsiteY100" fmla="*/ 110915 h 564664"/>
                <a:gd name="connsiteX101" fmla="*/ 181850 w 606016"/>
                <a:gd name="connsiteY101" fmla="*/ 110915 h 564664"/>
                <a:gd name="connsiteX102" fmla="*/ 171742 w 606016"/>
                <a:gd name="connsiteY102" fmla="*/ 100823 h 564664"/>
                <a:gd name="connsiteX103" fmla="*/ 171742 w 606016"/>
                <a:gd name="connsiteY103" fmla="*/ 50457 h 564664"/>
                <a:gd name="connsiteX104" fmla="*/ 181850 w 606016"/>
                <a:gd name="connsiteY104" fmla="*/ 40366 h 564664"/>
                <a:gd name="connsiteX105" fmla="*/ 181850 w 606016"/>
                <a:gd name="connsiteY105" fmla="*/ 10092 h 564664"/>
                <a:gd name="connsiteX106" fmla="*/ 191958 w 606016"/>
                <a:gd name="connsiteY106" fmla="*/ 0 h 56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6016" h="564664">
                  <a:moveTo>
                    <a:pt x="484855" y="473988"/>
                  </a:moveTo>
                  <a:cubicBezTo>
                    <a:pt x="496001" y="473988"/>
                    <a:pt x="505037" y="483024"/>
                    <a:pt x="505037" y="494170"/>
                  </a:cubicBezTo>
                  <a:cubicBezTo>
                    <a:pt x="505037" y="505316"/>
                    <a:pt x="496001" y="514352"/>
                    <a:pt x="484855" y="514352"/>
                  </a:cubicBezTo>
                  <a:cubicBezTo>
                    <a:pt x="473709" y="514352"/>
                    <a:pt x="464673" y="505316"/>
                    <a:pt x="464673" y="494170"/>
                  </a:cubicBezTo>
                  <a:cubicBezTo>
                    <a:pt x="464673" y="483024"/>
                    <a:pt x="473709" y="473988"/>
                    <a:pt x="484855" y="473988"/>
                  </a:cubicBezTo>
                  <a:close/>
                  <a:moveTo>
                    <a:pt x="121232" y="473988"/>
                  </a:moveTo>
                  <a:cubicBezTo>
                    <a:pt x="132378" y="473988"/>
                    <a:pt x="141414" y="483024"/>
                    <a:pt x="141414" y="494170"/>
                  </a:cubicBezTo>
                  <a:cubicBezTo>
                    <a:pt x="141414" y="505316"/>
                    <a:pt x="132378" y="514352"/>
                    <a:pt x="121232" y="514352"/>
                  </a:cubicBezTo>
                  <a:cubicBezTo>
                    <a:pt x="110086" y="514352"/>
                    <a:pt x="101050" y="505316"/>
                    <a:pt x="101050" y="494170"/>
                  </a:cubicBezTo>
                  <a:cubicBezTo>
                    <a:pt x="101050" y="483024"/>
                    <a:pt x="110086" y="473988"/>
                    <a:pt x="121232" y="473988"/>
                  </a:cubicBezTo>
                  <a:close/>
                  <a:moveTo>
                    <a:pt x="484813" y="443658"/>
                  </a:moveTo>
                  <a:cubicBezTo>
                    <a:pt x="457016" y="443658"/>
                    <a:pt x="434364" y="466274"/>
                    <a:pt x="434364" y="494115"/>
                  </a:cubicBezTo>
                  <a:cubicBezTo>
                    <a:pt x="434364" y="521866"/>
                    <a:pt x="457016" y="544482"/>
                    <a:pt x="484813" y="544482"/>
                  </a:cubicBezTo>
                  <a:cubicBezTo>
                    <a:pt x="512699" y="544482"/>
                    <a:pt x="535352" y="521866"/>
                    <a:pt x="535352" y="494115"/>
                  </a:cubicBezTo>
                  <a:cubicBezTo>
                    <a:pt x="535352" y="466274"/>
                    <a:pt x="512699" y="443658"/>
                    <a:pt x="484813" y="443658"/>
                  </a:cubicBezTo>
                  <a:close/>
                  <a:moveTo>
                    <a:pt x="121293" y="443658"/>
                  </a:moveTo>
                  <a:cubicBezTo>
                    <a:pt x="93407" y="443658"/>
                    <a:pt x="70755" y="466274"/>
                    <a:pt x="70755" y="494115"/>
                  </a:cubicBezTo>
                  <a:cubicBezTo>
                    <a:pt x="70755" y="521866"/>
                    <a:pt x="93407" y="544482"/>
                    <a:pt x="121293" y="544482"/>
                  </a:cubicBezTo>
                  <a:cubicBezTo>
                    <a:pt x="149090" y="544482"/>
                    <a:pt x="171742" y="521866"/>
                    <a:pt x="171742" y="494115"/>
                  </a:cubicBezTo>
                  <a:cubicBezTo>
                    <a:pt x="171742" y="466274"/>
                    <a:pt x="149090" y="443658"/>
                    <a:pt x="121293" y="443658"/>
                  </a:cubicBezTo>
                  <a:close/>
                  <a:moveTo>
                    <a:pt x="303053" y="373109"/>
                  </a:moveTo>
                  <a:cubicBezTo>
                    <a:pt x="297458" y="373109"/>
                    <a:pt x="292945" y="377614"/>
                    <a:pt x="292945" y="383200"/>
                  </a:cubicBezTo>
                  <a:cubicBezTo>
                    <a:pt x="292945" y="388787"/>
                    <a:pt x="297458" y="393292"/>
                    <a:pt x="303053" y="393292"/>
                  </a:cubicBezTo>
                  <a:lnTo>
                    <a:pt x="343484" y="393292"/>
                  </a:lnTo>
                  <a:lnTo>
                    <a:pt x="343484" y="403383"/>
                  </a:lnTo>
                  <a:cubicBezTo>
                    <a:pt x="343484" y="408879"/>
                    <a:pt x="347997" y="413474"/>
                    <a:pt x="353592" y="413474"/>
                  </a:cubicBezTo>
                  <a:cubicBezTo>
                    <a:pt x="359097" y="413474"/>
                    <a:pt x="363610" y="408969"/>
                    <a:pt x="363610" y="403383"/>
                  </a:cubicBezTo>
                  <a:lnTo>
                    <a:pt x="363610" y="383200"/>
                  </a:lnTo>
                  <a:cubicBezTo>
                    <a:pt x="363610" y="377614"/>
                    <a:pt x="359097" y="373109"/>
                    <a:pt x="353592" y="373109"/>
                  </a:cubicBezTo>
                  <a:close/>
                  <a:moveTo>
                    <a:pt x="313169" y="282403"/>
                  </a:moveTo>
                  <a:lnTo>
                    <a:pt x="447018" y="282403"/>
                  </a:lnTo>
                  <a:lnTo>
                    <a:pt x="465069" y="311699"/>
                  </a:lnTo>
                  <a:cubicBezTo>
                    <a:pt x="467506" y="315665"/>
                    <a:pt x="470304" y="319271"/>
                    <a:pt x="473282" y="322696"/>
                  </a:cubicBezTo>
                  <a:lnTo>
                    <a:pt x="313169" y="322696"/>
                  </a:lnTo>
                  <a:close/>
                  <a:moveTo>
                    <a:pt x="161665" y="282403"/>
                  </a:moveTo>
                  <a:lnTo>
                    <a:pt x="292917" y="282403"/>
                  </a:lnTo>
                  <a:lnTo>
                    <a:pt x="292917" y="322696"/>
                  </a:lnTo>
                  <a:lnTo>
                    <a:pt x="161665" y="322696"/>
                  </a:lnTo>
                  <a:close/>
                  <a:moveTo>
                    <a:pt x="191958" y="0"/>
                  </a:moveTo>
                  <a:cubicBezTo>
                    <a:pt x="197553" y="0"/>
                    <a:pt x="202066" y="4505"/>
                    <a:pt x="202066" y="10092"/>
                  </a:cubicBezTo>
                  <a:lnTo>
                    <a:pt x="202066" y="40366"/>
                  </a:lnTo>
                  <a:lnTo>
                    <a:pt x="222281" y="40366"/>
                  </a:lnTo>
                  <a:lnTo>
                    <a:pt x="222281" y="10092"/>
                  </a:lnTo>
                  <a:cubicBezTo>
                    <a:pt x="222281" y="4505"/>
                    <a:pt x="226793" y="0"/>
                    <a:pt x="232389" y="0"/>
                  </a:cubicBezTo>
                  <a:cubicBezTo>
                    <a:pt x="237894" y="0"/>
                    <a:pt x="242406" y="4505"/>
                    <a:pt x="242406" y="10092"/>
                  </a:cubicBezTo>
                  <a:lnTo>
                    <a:pt x="242406" y="40366"/>
                  </a:lnTo>
                  <a:cubicBezTo>
                    <a:pt x="248002" y="40366"/>
                    <a:pt x="252514" y="44871"/>
                    <a:pt x="252514" y="50457"/>
                  </a:cubicBezTo>
                  <a:lnTo>
                    <a:pt x="252514" y="100823"/>
                  </a:lnTo>
                  <a:cubicBezTo>
                    <a:pt x="252514" y="106410"/>
                    <a:pt x="248002" y="110915"/>
                    <a:pt x="242406" y="110915"/>
                  </a:cubicBezTo>
                  <a:lnTo>
                    <a:pt x="221379" y="110915"/>
                  </a:lnTo>
                  <a:cubicBezTo>
                    <a:pt x="216505" y="139477"/>
                    <a:pt x="191597" y="161371"/>
                    <a:pt x="161634" y="161371"/>
                  </a:cubicBezTo>
                  <a:cubicBezTo>
                    <a:pt x="128243" y="161371"/>
                    <a:pt x="101078" y="134251"/>
                    <a:pt x="101078" y="100823"/>
                  </a:cubicBezTo>
                  <a:cubicBezTo>
                    <a:pt x="101078" y="78568"/>
                    <a:pt x="82938" y="60548"/>
                    <a:pt x="60647" y="60548"/>
                  </a:cubicBezTo>
                  <a:cubicBezTo>
                    <a:pt x="38355" y="60548"/>
                    <a:pt x="20216" y="78568"/>
                    <a:pt x="20216" y="100823"/>
                  </a:cubicBezTo>
                  <a:lnTo>
                    <a:pt x="20216" y="231921"/>
                  </a:lnTo>
                  <a:cubicBezTo>
                    <a:pt x="20216" y="265258"/>
                    <a:pt x="47470" y="292469"/>
                    <a:pt x="80862" y="292469"/>
                  </a:cubicBezTo>
                  <a:cubicBezTo>
                    <a:pt x="81314" y="292469"/>
                    <a:pt x="81675" y="292649"/>
                    <a:pt x="82126" y="292649"/>
                  </a:cubicBezTo>
                  <a:lnTo>
                    <a:pt x="105229" y="255167"/>
                  </a:lnTo>
                  <a:cubicBezTo>
                    <a:pt x="117864" y="234624"/>
                    <a:pt x="140697" y="221829"/>
                    <a:pt x="164883" y="221829"/>
                  </a:cubicBezTo>
                  <a:lnTo>
                    <a:pt x="370559" y="221829"/>
                  </a:lnTo>
                  <a:cubicBezTo>
                    <a:pt x="394655" y="221829"/>
                    <a:pt x="417578" y="234624"/>
                    <a:pt x="430213" y="255077"/>
                  </a:cubicBezTo>
                  <a:lnTo>
                    <a:pt x="434545" y="262195"/>
                  </a:lnTo>
                  <a:lnTo>
                    <a:pt x="159920" y="262195"/>
                  </a:lnTo>
                  <a:cubicBezTo>
                    <a:pt x="149722" y="262195"/>
                    <a:pt x="141419" y="270484"/>
                    <a:pt x="141419" y="280575"/>
                  </a:cubicBezTo>
                  <a:lnTo>
                    <a:pt x="141419" y="324455"/>
                  </a:lnTo>
                  <a:cubicBezTo>
                    <a:pt x="141419" y="334546"/>
                    <a:pt x="149722" y="342835"/>
                    <a:pt x="159920" y="342835"/>
                  </a:cubicBezTo>
                  <a:lnTo>
                    <a:pt x="498801" y="342835"/>
                  </a:lnTo>
                  <a:cubicBezTo>
                    <a:pt x="511075" y="349322"/>
                    <a:pt x="524793" y="352926"/>
                    <a:pt x="538962" y="352926"/>
                  </a:cubicBezTo>
                  <a:lnTo>
                    <a:pt x="580566" y="352926"/>
                  </a:lnTo>
                  <a:cubicBezTo>
                    <a:pt x="594645" y="352926"/>
                    <a:pt x="606016" y="364369"/>
                    <a:pt x="606016" y="378335"/>
                  </a:cubicBezTo>
                  <a:lnTo>
                    <a:pt x="606016" y="403383"/>
                  </a:lnTo>
                  <a:lnTo>
                    <a:pt x="555567" y="403383"/>
                  </a:lnTo>
                  <a:cubicBezTo>
                    <a:pt x="549972" y="403383"/>
                    <a:pt x="545460" y="407888"/>
                    <a:pt x="545460" y="413474"/>
                  </a:cubicBezTo>
                  <a:cubicBezTo>
                    <a:pt x="545460" y="418971"/>
                    <a:pt x="549972" y="423476"/>
                    <a:pt x="555567" y="423476"/>
                  </a:cubicBezTo>
                  <a:lnTo>
                    <a:pt x="606016" y="423476"/>
                  </a:lnTo>
                  <a:lnTo>
                    <a:pt x="606016" y="463391"/>
                  </a:lnTo>
                  <a:cubicBezTo>
                    <a:pt x="606016" y="485916"/>
                    <a:pt x="587696" y="504206"/>
                    <a:pt x="565224" y="504206"/>
                  </a:cubicBezTo>
                  <a:lnTo>
                    <a:pt x="554755" y="504206"/>
                  </a:lnTo>
                  <a:cubicBezTo>
                    <a:pt x="549791" y="538355"/>
                    <a:pt x="520371" y="564664"/>
                    <a:pt x="484813" y="564664"/>
                  </a:cubicBezTo>
                  <a:cubicBezTo>
                    <a:pt x="449345" y="564664"/>
                    <a:pt x="419924" y="538355"/>
                    <a:pt x="414961" y="504206"/>
                  </a:cubicBezTo>
                  <a:lnTo>
                    <a:pt x="191145" y="504206"/>
                  </a:lnTo>
                  <a:cubicBezTo>
                    <a:pt x="186182" y="538355"/>
                    <a:pt x="156761" y="564664"/>
                    <a:pt x="121293" y="564664"/>
                  </a:cubicBezTo>
                  <a:cubicBezTo>
                    <a:pt x="85736" y="564664"/>
                    <a:pt x="56315" y="538355"/>
                    <a:pt x="51351" y="504206"/>
                  </a:cubicBezTo>
                  <a:lnTo>
                    <a:pt x="35377" y="504206"/>
                  </a:lnTo>
                  <a:cubicBezTo>
                    <a:pt x="15884" y="504206"/>
                    <a:pt x="90" y="488349"/>
                    <a:pt x="90" y="468977"/>
                  </a:cubicBezTo>
                  <a:lnTo>
                    <a:pt x="0" y="423476"/>
                  </a:lnTo>
                  <a:lnTo>
                    <a:pt x="50539" y="423476"/>
                  </a:lnTo>
                  <a:cubicBezTo>
                    <a:pt x="56134" y="423476"/>
                    <a:pt x="60647" y="418971"/>
                    <a:pt x="60647" y="413474"/>
                  </a:cubicBezTo>
                  <a:cubicBezTo>
                    <a:pt x="60647" y="407888"/>
                    <a:pt x="56134" y="403383"/>
                    <a:pt x="50539" y="403383"/>
                  </a:cubicBezTo>
                  <a:lnTo>
                    <a:pt x="0" y="403383"/>
                  </a:lnTo>
                  <a:lnTo>
                    <a:pt x="0" y="378335"/>
                  </a:lnTo>
                  <a:cubicBezTo>
                    <a:pt x="0" y="371577"/>
                    <a:pt x="2617" y="365180"/>
                    <a:pt x="7400" y="360405"/>
                  </a:cubicBezTo>
                  <a:cubicBezTo>
                    <a:pt x="12274" y="355630"/>
                    <a:pt x="18681" y="352926"/>
                    <a:pt x="25540" y="352926"/>
                  </a:cubicBezTo>
                  <a:cubicBezTo>
                    <a:pt x="37814" y="352926"/>
                    <a:pt x="48824" y="346710"/>
                    <a:pt x="54961" y="336798"/>
                  </a:cubicBezTo>
                  <a:lnTo>
                    <a:pt x="70303" y="311840"/>
                  </a:lnTo>
                  <a:cubicBezTo>
                    <a:pt x="30775" y="306614"/>
                    <a:pt x="90" y="272827"/>
                    <a:pt x="90" y="231921"/>
                  </a:cubicBezTo>
                  <a:lnTo>
                    <a:pt x="90" y="100823"/>
                  </a:lnTo>
                  <a:cubicBezTo>
                    <a:pt x="90" y="67486"/>
                    <a:pt x="27255" y="40366"/>
                    <a:pt x="60647" y="40366"/>
                  </a:cubicBezTo>
                  <a:cubicBezTo>
                    <a:pt x="94039" y="40366"/>
                    <a:pt x="121293" y="67486"/>
                    <a:pt x="121293" y="100823"/>
                  </a:cubicBezTo>
                  <a:cubicBezTo>
                    <a:pt x="121293" y="123078"/>
                    <a:pt x="139343" y="141189"/>
                    <a:pt x="161634" y="141189"/>
                  </a:cubicBezTo>
                  <a:cubicBezTo>
                    <a:pt x="180406" y="141189"/>
                    <a:pt x="196109" y="128304"/>
                    <a:pt x="200622" y="110915"/>
                  </a:cubicBezTo>
                  <a:lnTo>
                    <a:pt x="181850" y="110915"/>
                  </a:lnTo>
                  <a:cubicBezTo>
                    <a:pt x="176255" y="110915"/>
                    <a:pt x="171742" y="106410"/>
                    <a:pt x="171742" y="100823"/>
                  </a:cubicBezTo>
                  <a:lnTo>
                    <a:pt x="171742" y="50457"/>
                  </a:lnTo>
                  <a:cubicBezTo>
                    <a:pt x="171742" y="44871"/>
                    <a:pt x="176255" y="40366"/>
                    <a:pt x="181850" y="40366"/>
                  </a:cubicBezTo>
                  <a:lnTo>
                    <a:pt x="181850" y="10092"/>
                  </a:lnTo>
                  <a:cubicBezTo>
                    <a:pt x="181850" y="4505"/>
                    <a:pt x="186362" y="0"/>
                    <a:pt x="191958"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33" name="iś1îḓê"/>
            <p:cNvSpPr/>
            <p:nvPr/>
          </p:nvSpPr>
          <p:spPr bwMode="auto">
            <a:xfrm>
              <a:off x="5924135" y="1186438"/>
              <a:ext cx="333138" cy="299788"/>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1"/>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34" name="išľíḓé"/>
            <p:cNvSpPr/>
            <p:nvPr/>
          </p:nvSpPr>
          <p:spPr bwMode="auto">
            <a:xfrm>
              <a:off x="9594763" y="1183282"/>
              <a:ext cx="333138" cy="306100"/>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8909" h="559493">
                  <a:moveTo>
                    <a:pt x="470180" y="272856"/>
                  </a:moveTo>
                  <a:lnTo>
                    <a:pt x="476019" y="272856"/>
                  </a:lnTo>
                  <a:lnTo>
                    <a:pt x="481953" y="272856"/>
                  </a:lnTo>
                  <a:cubicBezTo>
                    <a:pt x="509171" y="272856"/>
                    <a:pt x="531210" y="294963"/>
                    <a:pt x="531210" y="322056"/>
                  </a:cubicBezTo>
                  <a:lnTo>
                    <a:pt x="531210" y="376617"/>
                  </a:lnTo>
                  <a:cubicBezTo>
                    <a:pt x="531210" y="385084"/>
                    <a:pt x="526783" y="392609"/>
                    <a:pt x="520096" y="397031"/>
                  </a:cubicBezTo>
                  <a:lnTo>
                    <a:pt x="520096" y="449711"/>
                  </a:lnTo>
                  <a:cubicBezTo>
                    <a:pt x="520096" y="450558"/>
                    <a:pt x="520661" y="451498"/>
                    <a:pt x="521509" y="451875"/>
                  </a:cubicBezTo>
                  <a:cubicBezTo>
                    <a:pt x="528949" y="455450"/>
                    <a:pt x="565492" y="473888"/>
                    <a:pt x="599209" y="501639"/>
                  </a:cubicBezTo>
                  <a:cubicBezTo>
                    <a:pt x="605425" y="506625"/>
                    <a:pt x="608909" y="514150"/>
                    <a:pt x="608909" y="522052"/>
                  </a:cubicBezTo>
                  <a:lnTo>
                    <a:pt x="608909" y="559493"/>
                  </a:lnTo>
                  <a:lnTo>
                    <a:pt x="483083" y="559493"/>
                  </a:lnTo>
                  <a:lnTo>
                    <a:pt x="483083" y="515561"/>
                  </a:lnTo>
                  <a:cubicBezTo>
                    <a:pt x="483083" y="499475"/>
                    <a:pt x="476019" y="484424"/>
                    <a:pt x="463587" y="474264"/>
                  </a:cubicBezTo>
                  <a:cubicBezTo>
                    <a:pt x="453039" y="465609"/>
                    <a:pt x="442302" y="457707"/>
                    <a:pt x="431848" y="450558"/>
                  </a:cubicBezTo>
                  <a:cubicBezTo>
                    <a:pt x="431848" y="450370"/>
                    <a:pt x="431942" y="450087"/>
                    <a:pt x="431942" y="449711"/>
                  </a:cubicBezTo>
                  <a:lnTo>
                    <a:pt x="431942" y="397031"/>
                  </a:lnTo>
                  <a:cubicBezTo>
                    <a:pt x="425350" y="392609"/>
                    <a:pt x="420923" y="385084"/>
                    <a:pt x="420923" y="376617"/>
                  </a:cubicBezTo>
                  <a:lnTo>
                    <a:pt x="420923" y="322056"/>
                  </a:lnTo>
                  <a:cubicBezTo>
                    <a:pt x="420923" y="294775"/>
                    <a:pt x="443056" y="272856"/>
                    <a:pt x="470180" y="272856"/>
                  </a:cubicBezTo>
                  <a:close/>
                  <a:moveTo>
                    <a:pt x="127004" y="272856"/>
                  </a:moveTo>
                  <a:lnTo>
                    <a:pt x="132940" y="272856"/>
                  </a:lnTo>
                  <a:lnTo>
                    <a:pt x="138781" y="272856"/>
                  </a:lnTo>
                  <a:cubicBezTo>
                    <a:pt x="166104" y="272856"/>
                    <a:pt x="188057" y="294963"/>
                    <a:pt x="188057" y="322056"/>
                  </a:cubicBezTo>
                  <a:lnTo>
                    <a:pt x="188057" y="376617"/>
                  </a:lnTo>
                  <a:cubicBezTo>
                    <a:pt x="188057" y="385084"/>
                    <a:pt x="183629" y="392609"/>
                    <a:pt x="177033" y="397031"/>
                  </a:cubicBezTo>
                  <a:lnTo>
                    <a:pt x="177033" y="449711"/>
                  </a:lnTo>
                  <a:cubicBezTo>
                    <a:pt x="177033" y="449993"/>
                    <a:pt x="177128" y="450370"/>
                    <a:pt x="177128" y="450558"/>
                  </a:cubicBezTo>
                  <a:cubicBezTo>
                    <a:pt x="166670" y="457613"/>
                    <a:pt x="155929" y="465609"/>
                    <a:pt x="145376" y="474264"/>
                  </a:cubicBezTo>
                  <a:cubicBezTo>
                    <a:pt x="133034" y="484424"/>
                    <a:pt x="125874" y="499475"/>
                    <a:pt x="125874" y="515561"/>
                  </a:cubicBezTo>
                  <a:lnTo>
                    <a:pt x="125874" y="559493"/>
                  </a:lnTo>
                  <a:lnTo>
                    <a:pt x="0" y="559493"/>
                  </a:lnTo>
                  <a:lnTo>
                    <a:pt x="0" y="522052"/>
                  </a:lnTo>
                  <a:cubicBezTo>
                    <a:pt x="0" y="514150"/>
                    <a:pt x="3486" y="506625"/>
                    <a:pt x="9704" y="501639"/>
                  </a:cubicBezTo>
                  <a:cubicBezTo>
                    <a:pt x="43434" y="473888"/>
                    <a:pt x="79990" y="455450"/>
                    <a:pt x="87433" y="451875"/>
                  </a:cubicBezTo>
                  <a:cubicBezTo>
                    <a:pt x="88281" y="451498"/>
                    <a:pt x="88846" y="450558"/>
                    <a:pt x="88846" y="449711"/>
                  </a:cubicBezTo>
                  <a:lnTo>
                    <a:pt x="88846" y="397031"/>
                  </a:lnTo>
                  <a:cubicBezTo>
                    <a:pt x="82157" y="392609"/>
                    <a:pt x="77729" y="385084"/>
                    <a:pt x="77729" y="376617"/>
                  </a:cubicBezTo>
                  <a:lnTo>
                    <a:pt x="77729" y="322056"/>
                  </a:lnTo>
                  <a:cubicBezTo>
                    <a:pt x="77729" y="294775"/>
                    <a:pt x="99870" y="272856"/>
                    <a:pt x="127004" y="272856"/>
                  </a:cubicBezTo>
                  <a:close/>
                  <a:moveTo>
                    <a:pt x="297600" y="222543"/>
                  </a:moveTo>
                  <a:lnTo>
                    <a:pt x="304477" y="222543"/>
                  </a:lnTo>
                  <a:lnTo>
                    <a:pt x="311260" y="222543"/>
                  </a:lnTo>
                  <a:cubicBezTo>
                    <a:pt x="343291" y="222543"/>
                    <a:pt x="369198" y="248506"/>
                    <a:pt x="369198" y="280395"/>
                  </a:cubicBezTo>
                  <a:lnTo>
                    <a:pt x="369198" y="344455"/>
                  </a:lnTo>
                  <a:cubicBezTo>
                    <a:pt x="369198" y="354520"/>
                    <a:pt x="364017" y="363456"/>
                    <a:pt x="356198" y="368536"/>
                  </a:cubicBezTo>
                  <a:lnTo>
                    <a:pt x="356198" y="430432"/>
                  </a:lnTo>
                  <a:cubicBezTo>
                    <a:pt x="356198" y="431561"/>
                    <a:pt x="356857" y="432502"/>
                    <a:pt x="357893" y="433066"/>
                  </a:cubicBezTo>
                  <a:cubicBezTo>
                    <a:pt x="366655" y="437299"/>
                    <a:pt x="409520" y="459029"/>
                    <a:pt x="449275" y="491576"/>
                  </a:cubicBezTo>
                  <a:cubicBezTo>
                    <a:pt x="456435" y="497502"/>
                    <a:pt x="460580" y="506251"/>
                    <a:pt x="460580" y="515563"/>
                  </a:cubicBezTo>
                  <a:lnTo>
                    <a:pt x="460580" y="559493"/>
                  </a:lnTo>
                  <a:lnTo>
                    <a:pt x="304477" y="559493"/>
                  </a:lnTo>
                  <a:lnTo>
                    <a:pt x="148187" y="559493"/>
                  </a:lnTo>
                  <a:lnTo>
                    <a:pt x="148187" y="515563"/>
                  </a:lnTo>
                  <a:cubicBezTo>
                    <a:pt x="148187" y="506251"/>
                    <a:pt x="152332" y="497502"/>
                    <a:pt x="159492" y="491576"/>
                  </a:cubicBezTo>
                  <a:cubicBezTo>
                    <a:pt x="199342" y="459029"/>
                    <a:pt x="242206" y="437299"/>
                    <a:pt x="250967" y="433066"/>
                  </a:cubicBezTo>
                  <a:cubicBezTo>
                    <a:pt x="252004" y="432502"/>
                    <a:pt x="252569" y="431561"/>
                    <a:pt x="252569" y="430432"/>
                  </a:cubicBezTo>
                  <a:lnTo>
                    <a:pt x="252569" y="368536"/>
                  </a:lnTo>
                  <a:cubicBezTo>
                    <a:pt x="244844" y="363456"/>
                    <a:pt x="239663" y="354520"/>
                    <a:pt x="239663" y="344455"/>
                  </a:cubicBezTo>
                  <a:lnTo>
                    <a:pt x="239663" y="280395"/>
                  </a:lnTo>
                  <a:cubicBezTo>
                    <a:pt x="239663" y="248412"/>
                    <a:pt x="265664" y="222543"/>
                    <a:pt x="297600" y="222543"/>
                  </a:cubicBezTo>
                  <a:close/>
                  <a:moveTo>
                    <a:pt x="492495" y="40775"/>
                  </a:moveTo>
                  <a:cubicBezTo>
                    <a:pt x="488350" y="40775"/>
                    <a:pt x="487596" y="41528"/>
                    <a:pt x="487502" y="45854"/>
                  </a:cubicBezTo>
                  <a:lnTo>
                    <a:pt x="487502" y="51498"/>
                  </a:lnTo>
                  <a:cubicBezTo>
                    <a:pt x="487502" y="57142"/>
                    <a:pt x="487502" y="56953"/>
                    <a:pt x="482038" y="59023"/>
                  </a:cubicBezTo>
                  <a:cubicBezTo>
                    <a:pt x="469036" y="63726"/>
                    <a:pt x="460934" y="72661"/>
                    <a:pt x="460086" y="86864"/>
                  </a:cubicBezTo>
                  <a:cubicBezTo>
                    <a:pt x="459332" y="99374"/>
                    <a:pt x="465833" y="107934"/>
                    <a:pt x="476196" y="114048"/>
                  </a:cubicBezTo>
                  <a:cubicBezTo>
                    <a:pt x="482414" y="117810"/>
                    <a:pt x="489480" y="120068"/>
                    <a:pt x="496264" y="123078"/>
                  </a:cubicBezTo>
                  <a:cubicBezTo>
                    <a:pt x="498902" y="124206"/>
                    <a:pt x="501445" y="125617"/>
                    <a:pt x="503706" y="127310"/>
                  </a:cubicBezTo>
                  <a:cubicBezTo>
                    <a:pt x="510207" y="132578"/>
                    <a:pt x="508982" y="141513"/>
                    <a:pt x="501257" y="144900"/>
                  </a:cubicBezTo>
                  <a:cubicBezTo>
                    <a:pt x="497112" y="146781"/>
                    <a:pt x="492778" y="147157"/>
                    <a:pt x="488350" y="146687"/>
                  </a:cubicBezTo>
                  <a:cubicBezTo>
                    <a:pt x="481472" y="145746"/>
                    <a:pt x="474783" y="144053"/>
                    <a:pt x="468659" y="140761"/>
                  </a:cubicBezTo>
                  <a:cubicBezTo>
                    <a:pt x="464985" y="138880"/>
                    <a:pt x="463949" y="139350"/>
                    <a:pt x="462724" y="143301"/>
                  </a:cubicBezTo>
                  <a:cubicBezTo>
                    <a:pt x="461593" y="146687"/>
                    <a:pt x="460557" y="150167"/>
                    <a:pt x="459709" y="153553"/>
                  </a:cubicBezTo>
                  <a:cubicBezTo>
                    <a:pt x="458484" y="158162"/>
                    <a:pt x="458861" y="159291"/>
                    <a:pt x="463572" y="161548"/>
                  </a:cubicBezTo>
                  <a:cubicBezTo>
                    <a:pt x="469130" y="164370"/>
                    <a:pt x="475160" y="165687"/>
                    <a:pt x="481284" y="166722"/>
                  </a:cubicBezTo>
                  <a:cubicBezTo>
                    <a:pt x="486089" y="167474"/>
                    <a:pt x="486371" y="167568"/>
                    <a:pt x="486371" y="172647"/>
                  </a:cubicBezTo>
                  <a:lnTo>
                    <a:pt x="486371" y="179420"/>
                  </a:lnTo>
                  <a:cubicBezTo>
                    <a:pt x="486371" y="182147"/>
                    <a:pt x="487690" y="183934"/>
                    <a:pt x="490611" y="183934"/>
                  </a:cubicBezTo>
                  <a:cubicBezTo>
                    <a:pt x="493908" y="184029"/>
                    <a:pt x="497300" y="184029"/>
                    <a:pt x="500503" y="183934"/>
                  </a:cubicBezTo>
                  <a:cubicBezTo>
                    <a:pt x="503330" y="183934"/>
                    <a:pt x="504649" y="182430"/>
                    <a:pt x="504649" y="179608"/>
                  </a:cubicBezTo>
                  <a:cubicBezTo>
                    <a:pt x="504649" y="176504"/>
                    <a:pt x="504837" y="173494"/>
                    <a:pt x="504649" y="170390"/>
                  </a:cubicBezTo>
                  <a:cubicBezTo>
                    <a:pt x="504554" y="167192"/>
                    <a:pt x="505968" y="165687"/>
                    <a:pt x="508982" y="164840"/>
                  </a:cubicBezTo>
                  <a:cubicBezTo>
                    <a:pt x="515860" y="162959"/>
                    <a:pt x="521889" y="159197"/>
                    <a:pt x="526412" y="153647"/>
                  </a:cubicBezTo>
                  <a:cubicBezTo>
                    <a:pt x="538942" y="138221"/>
                    <a:pt x="534231" y="115835"/>
                    <a:pt x="516237" y="105865"/>
                  </a:cubicBezTo>
                  <a:cubicBezTo>
                    <a:pt x="510584" y="102761"/>
                    <a:pt x="504554" y="100503"/>
                    <a:pt x="498619" y="97964"/>
                  </a:cubicBezTo>
                  <a:cubicBezTo>
                    <a:pt x="495227" y="96647"/>
                    <a:pt x="492024" y="94860"/>
                    <a:pt x="489104" y="92602"/>
                  </a:cubicBezTo>
                  <a:cubicBezTo>
                    <a:pt x="483451" y="88087"/>
                    <a:pt x="484581" y="80657"/>
                    <a:pt x="491270" y="77835"/>
                  </a:cubicBezTo>
                  <a:cubicBezTo>
                    <a:pt x="493155" y="76894"/>
                    <a:pt x="495133" y="76706"/>
                    <a:pt x="497112" y="76518"/>
                  </a:cubicBezTo>
                  <a:cubicBezTo>
                    <a:pt x="504931" y="76142"/>
                    <a:pt x="512186" y="77553"/>
                    <a:pt x="519252" y="80939"/>
                  </a:cubicBezTo>
                  <a:cubicBezTo>
                    <a:pt x="522643" y="82538"/>
                    <a:pt x="523868" y="82067"/>
                    <a:pt x="524998" y="78399"/>
                  </a:cubicBezTo>
                  <a:cubicBezTo>
                    <a:pt x="526317" y="74543"/>
                    <a:pt x="527260" y="70686"/>
                    <a:pt x="528390" y="66736"/>
                  </a:cubicBezTo>
                  <a:cubicBezTo>
                    <a:pt x="529144" y="64102"/>
                    <a:pt x="528296" y="62503"/>
                    <a:pt x="525752" y="61374"/>
                  </a:cubicBezTo>
                  <a:cubicBezTo>
                    <a:pt x="521230" y="59399"/>
                    <a:pt x="516708" y="57988"/>
                    <a:pt x="511809" y="57236"/>
                  </a:cubicBezTo>
                  <a:cubicBezTo>
                    <a:pt x="505402" y="56201"/>
                    <a:pt x="505402" y="56201"/>
                    <a:pt x="505402" y="49805"/>
                  </a:cubicBezTo>
                  <a:cubicBezTo>
                    <a:pt x="505402" y="40775"/>
                    <a:pt x="505402" y="40775"/>
                    <a:pt x="496358" y="40775"/>
                  </a:cubicBezTo>
                  <a:close/>
                  <a:moveTo>
                    <a:pt x="496111" y="0"/>
                  </a:moveTo>
                  <a:cubicBezTo>
                    <a:pt x="524951" y="0"/>
                    <a:pt x="553781" y="10958"/>
                    <a:pt x="575779" y="32874"/>
                  </a:cubicBezTo>
                  <a:cubicBezTo>
                    <a:pt x="619776" y="76894"/>
                    <a:pt x="619776" y="148192"/>
                    <a:pt x="575779" y="192024"/>
                  </a:cubicBezTo>
                  <a:cubicBezTo>
                    <a:pt x="538754" y="229083"/>
                    <a:pt x="482226" y="234821"/>
                    <a:pt x="438982" y="209519"/>
                  </a:cubicBezTo>
                  <a:lnTo>
                    <a:pt x="438700" y="209237"/>
                  </a:lnTo>
                  <a:cubicBezTo>
                    <a:pt x="421742" y="222029"/>
                    <a:pt x="403559" y="224286"/>
                    <a:pt x="390840" y="222311"/>
                  </a:cubicBezTo>
                  <a:cubicBezTo>
                    <a:pt x="386600" y="221653"/>
                    <a:pt x="385752" y="215915"/>
                    <a:pt x="389615" y="214034"/>
                  </a:cubicBezTo>
                  <a:cubicBezTo>
                    <a:pt x="401297" y="208202"/>
                    <a:pt x="408552" y="196915"/>
                    <a:pt x="412886" y="187791"/>
                  </a:cubicBezTo>
                  <a:lnTo>
                    <a:pt x="411567" y="187038"/>
                  </a:lnTo>
                  <a:cubicBezTo>
                    <a:pt x="372374" y="142736"/>
                    <a:pt x="374070" y="75201"/>
                    <a:pt x="416371" y="32874"/>
                  </a:cubicBezTo>
                  <a:cubicBezTo>
                    <a:pt x="438417" y="10958"/>
                    <a:pt x="467270" y="0"/>
                    <a:pt x="496111"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62316" y="1141052"/>
            <a:ext cx="10013577" cy="2492990"/>
          </a:xfrm>
          <a:prstGeom prst="rect">
            <a:avLst/>
          </a:prstGeom>
          <a:noFill/>
        </p:spPr>
        <p:txBody>
          <a:bodyPr wrap="square" rtlCol="0">
            <a:spAutoFit/>
          </a:bodyPr>
          <a:lstStyle/>
          <a:p>
            <a:pPr>
              <a:lnSpc>
                <a:spcPct val="130000"/>
              </a:lnSpc>
            </a:pPr>
            <a:r>
              <a:rPr lang="zh-CN" altLang="en-US" sz="2400" dirty="0">
                <a:latin typeface="+mn-ea"/>
              </a:rPr>
              <a:t>异常也称为内中断、陷入，中断信号来自</a:t>
            </a:r>
            <a:r>
              <a:rPr lang="en-US" altLang="zh-CN" sz="2400" dirty="0">
                <a:latin typeface="+mn-ea"/>
              </a:rPr>
              <a:t>CPU</a:t>
            </a:r>
            <a:r>
              <a:rPr lang="zh-CN" altLang="en-US" sz="2400" dirty="0">
                <a:latin typeface="+mn-ea"/>
              </a:rPr>
              <a:t>和内存内部的中断，包括程序运算所引起的各种错误，如地址越界、地址非法、校验错、页面失效、指令非法、程序的非法</a:t>
            </a:r>
            <a:r>
              <a:rPr lang="zh-CN" altLang="en-US" sz="2400" dirty="0" smtClean="0">
                <a:latin typeface="+mn-ea"/>
              </a:rPr>
              <a:t>操作码</a:t>
            </a:r>
            <a:r>
              <a:rPr lang="zh-CN" altLang="en-US" sz="2400" dirty="0">
                <a:latin typeface="+mn-ea"/>
              </a:rPr>
              <a:t>、算术溢出、虚存系统缺页、用户程序执行特权指令自行中断 </a:t>
            </a:r>
            <a:r>
              <a:rPr lang="en-US" altLang="zh-CN" sz="2400" dirty="0">
                <a:latin typeface="+mn-ea"/>
              </a:rPr>
              <a:t>(INT)</a:t>
            </a:r>
            <a:r>
              <a:rPr lang="zh-CN" altLang="en-US" sz="2400" dirty="0">
                <a:latin typeface="+mn-ea"/>
              </a:rPr>
              <a:t>、专门的陷入指令和除数为零等，以上错误都是在指令的执行过程中产生的。</a:t>
            </a:r>
            <a:endParaRPr lang="en-US" altLang="zh-CN" sz="2400" dirty="0">
              <a:latin typeface="+mn-ea"/>
            </a:endParaRPr>
          </a:p>
        </p:txBody>
      </p:sp>
      <p:sp>
        <p:nvSpPr>
          <p:cNvPr id="3" name="左大括号 2"/>
          <p:cNvSpPr/>
          <p:nvPr/>
        </p:nvSpPr>
        <p:spPr>
          <a:xfrm>
            <a:off x="2420470" y="4374776"/>
            <a:ext cx="313765" cy="16405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文本框 3"/>
          <p:cNvSpPr txBox="1"/>
          <p:nvPr/>
        </p:nvSpPr>
        <p:spPr>
          <a:xfrm>
            <a:off x="1452282" y="4912659"/>
            <a:ext cx="968188" cy="800219"/>
          </a:xfrm>
          <a:prstGeom prst="rect">
            <a:avLst/>
          </a:prstGeom>
          <a:noFill/>
        </p:spPr>
        <p:txBody>
          <a:bodyPr wrap="square" rtlCol="0">
            <a:spAutoFit/>
          </a:bodyPr>
          <a:lstStyle/>
          <a:p>
            <a:r>
              <a:rPr lang="zh-CN" altLang="en-US" sz="2800" dirty="0"/>
              <a:t>异常</a:t>
            </a:r>
            <a:endParaRPr lang="en-US" altLang="zh-CN" sz="2800" dirty="0"/>
          </a:p>
          <a:p>
            <a:endParaRPr lang="zh-CN" altLang="en-US" dirty="0"/>
          </a:p>
        </p:txBody>
      </p:sp>
      <p:sp>
        <p:nvSpPr>
          <p:cNvPr id="5" name="文本框 4"/>
          <p:cNvSpPr txBox="1"/>
          <p:nvPr/>
        </p:nvSpPr>
        <p:spPr>
          <a:xfrm>
            <a:off x="2734233" y="4280176"/>
            <a:ext cx="6382873" cy="461665"/>
          </a:xfrm>
          <a:prstGeom prst="rect">
            <a:avLst/>
          </a:prstGeom>
          <a:noFill/>
        </p:spPr>
        <p:txBody>
          <a:bodyPr wrap="square" rtlCol="0">
            <a:spAutoFit/>
          </a:bodyPr>
          <a:lstStyle/>
          <a:p>
            <a:r>
              <a:rPr lang="zh-CN" altLang="en-US" sz="2400" dirty="0"/>
              <a:t>陷入：有意识安排的    返回到下一条指令</a:t>
            </a:r>
            <a:endParaRPr lang="zh-CN" altLang="en-US" sz="2400" dirty="0"/>
          </a:p>
        </p:txBody>
      </p:sp>
      <p:sp>
        <p:nvSpPr>
          <p:cNvPr id="6" name="文本框 5"/>
          <p:cNvSpPr txBox="1"/>
          <p:nvPr/>
        </p:nvSpPr>
        <p:spPr>
          <a:xfrm>
            <a:off x="2734234" y="5010381"/>
            <a:ext cx="6669742" cy="461665"/>
          </a:xfrm>
          <a:prstGeom prst="rect">
            <a:avLst/>
          </a:prstGeom>
          <a:noFill/>
        </p:spPr>
        <p:txBody>
          <a:bodyPr wrap="square" rtlCol="0">
            <a:spAutoFit/>
          </a:bodyPr>
          <a:lstStyle/>
          <a:p>
            <a:r>
              <a:rPr lang="zh-CN" altLang="en-US" sz="2400" dirty="0"/>
              <a:t>故障：可恢复的错误    返回到当前指令</a:t>
            </a:r>
            <a:endParaRPr lang="zh-CN" altLang="en-US" sz="2400" dirty="0"/>
          </a:p>
        </p:txBody>
      </p:sp>
      <p:sp>
        <p:nvSpPr>
          <p:cNvPr id="7" name="文本框 6"/>
          <p:cNvSpPr txBox="1"/>
          <p:nvPr/>
        </p:nvSpPr>
        <p:spPr>
          <a:xfrm>
            <a:off x="2761129" y="5702076"/>
            <a:ext cx="6669742" cy="461665"/>
          </a:xfrm>
          <a:prstGeom prst="rect">
            <a:avLst/>
          </a:prstGeom>
          <a:noFill/>
        </p:spPr>
        <p:txBody>
          <a:bodyPr wrap="square" rtlCol="0">
            <a:spAutoFit/>
          </a:bodyPr>
          <a:lstStyle/>
          <a:p>
            <a:r>
              <a:rPr lang="zh-CN" altLang="en-US" sz="2400" dirty="0"/>
              <a:t>终止：不可恢复的错误    不会返回</a:t>
            </a:r>
            <a:endParaRPr lang="zh-CN" alt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09612" y="1352550"/>
            <a:ext cx="10058400" cy="3877508"/>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914" y="67733"/>
            <a:ext cx="12379046" cy="7171267"/>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b="1" dirty="0">
                <a:solidFill>
                  <a:srgbClr val="0000FF"/>
                </a:solidFill>
                <a:latin typeface="+mj-ea"/>
              </a:rPr>
              <a:t>1.5 </a:t>
            </a:r>
            <a:r>
              <a:rPr lang="zh-CN" altLang="en-US" sz="2400" b="1" dirty="0">
                <a:solidFill>
                  <a:srgbClr val="0000FF"/>
                </a:solidFill>
                <a:latin typeface="+mj-ea"/>
              </a:rPr>
              <a:t>操作系统的主要功能</a:t>
            </a:r>
            <a:endParaRPr lang="zh-CN" altLang="en-US" sz="2400" b="1" dirty="0">
              <a:solidFill>
                <a:srgbClr val="0000FF"/>
              </a:solidFill>
              <a:latin typeface="+mj-ea"/>
            </a:endParaRPr>
          </a:p>
        </p:txBody>
      </p:sp>
      <p:sp>
        <p:nvSpPr>
          <p:cNvPr id="28" name="矩形 27"/>
          <p:cNvSpPr/>
          <p:nvPr/>
        </p:nvSpPr>
        <p:spPr>
          <a:xfrm>
            <a:off x="1696468" y="4852173"/>
            <a:ext cx="3682151" cy="400110"/>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30594"/>
          </a:xfrm>
          <a:prstGeom prst="rect">
            <a:avLst/>
          </a:prstGeom>
        </p:spPr>
        <p:txBody>
          <a:bodyPr wrap="square">
            <a:spAutoFit/>
          </a:bodyPr>
          <a:lstStyle/>
          <a:p>
            <a:pPr algn="ctr">
              <a:lnSpc>
                <a:spcPct val="132000"/>
              </a:lnSpc>
            </a:pPr>
            <a:r>
              <a:rPr lang="zh-CN" altLang="en-US" sz="2400" dirty="0">
                <a:solidFill>
                  <a:srgbClr val="002060"/>
                </a:solidFill>
              </a:rPr>
              <a:t>主讲：王红玲    主审：汤小丹</a:t>
            </a: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操作系统的主要功能</a:t>
            </a:r>
            <a:endParaRPr lang="zh-CN" altLang="en-US" sz="2800" b="1" dirty="0">
              <a:solidFill>
                <a:schemeClr val="bg1"/>
              </a:solidFill>
            </a:endParaRPr>
          </a:p>
        </p:txBody>
      </p:sp>
      <p:grpSp>
        <p:nvGrpSpPr>
          <p:cNvPr id="58"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54015" y="1595646"/>
            <a:ext cx="10848974" cy="3733544"/>
            <a:chOff x="665163" y="1557009"/>
            <a:chExt cx="10848974" cy="3733544"/>
          </a:xfrm>
        </p:grpSpPr>
        <p:sp>
          <p:nvSpPr>
            <p:cNvPr id="59" name="íśḷíḋé"/>
            <p:cNvSpPr/>
            <p:nvPr/>
          </p:nvSpPr>
          <p:spPr bwMode="auto">
            <a:xfrm>
              <a:off x="4801181" y="213314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60"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61"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62"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63"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64"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65"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66"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67"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68"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69"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70"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71"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72"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3"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4"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5"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6"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7"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8" name="îṩļiḓè"/>
            <p:cNvSpPr/>
            <p:nvPr/>
          </p:nvSpPr>
          <p:spPr>
            <a:xfrm>
              <a:off x="665163" y="1667557"/>
              <a:ext cx="3486183" cy="467559"/>
            </a:xfrm>
            <a:prstGeom prst="rect">
              <a:avLst/>
            </a:prstGeom>
          </p:spPr>
          <p:txBody>
            <a:bodyPr wrap="square" lIns="91440" tIns="45720" rIns="91440" bIns="45720" anchor="ctr" anchorCtr="0">
              <a:normAutofit/>
            </a:bodyPr>
            <a:lstStyle/>
            <a:p>
              <a:pPr algn="r"/>
              <a:r>
                <a:rPr lang="zh-CN" altLang="en-US" sz="2400" dirty="0">
                  <a:solidFill>
                    <a:srgbClr val="0000FF"/>
                  </a:solidFill>
                </a:rPr>
                <a:t>处理机管理</a:t>
              </a:r>
              <a:r>
                <a:rPr lang="zh-CN" altLang="en-US" sz="2400" dirty="0"/>
                <a:t>功能</a:t>
              </a:r>
              <a:endParaRPr lang="en-US" altLang="zh-CN" sz="2400" dirty="0"/>
            </a:p>
          </p:txBody>
        </p:sp>
        <p:sp>
          <p:nvSpPr>
            <p:cNvPr id="79" name="ïṣľîḋê"/>
            <p:cNvSpPr/>
            <p:nvPr/>
          </p:nvSpPr>
          <p:spPr>
            <a:xfrm>
              <a:off x="8029002" y="1667557"/>
              <a:ext cx="3485135" cy="467559"/>
            </a:xfrm>
            <a:prstGeom prst="rect">
              <a:avLst/>
            </a:prstGeom>
          </p:spPr>
          <p:txBody>
            <a:bodyPr wrap="square" lIns="91440" tIns="45720" rIns="91440" bIns="45720" anchor="ctr" anchorCtr="0">
              <a:normAutofit/>
            </a:bodyPr>
            <a:lstStyle/>
            <a:p>
              <a:r>
                <a:rPr lang="zh-CN" altLang="en-US" sz="2400" dirty="0">
                  <a:solidFill>
                    <a:srgbClr val="0000FF"/>
                  </a:solidFill>
                </a:rPr>
                <a:t>文件管理</a:t>
              </a:r>
              <a:r>
                <a:rPr lang="zh-CN" altLang="en-US" sz="2400" dirty="0"/>
                <a:t>功能</a:t>
              </a:r>
              <a:endParaRPr lang="en-US" altLang="zh-CN" sz="2400" dirty="0"/>
            </a:p>
          </p:txBody>
        </p:sp>
        <p:sp>
          <p:nvSpPr>
            <p:cNvPr id="80" name="išľïḓe"/>
            <p:cNvSpPr/>
            <p:nvPr/>
          </p:nvSpPr>
          <p:spPr>
            <a:xfrm>
              <a:off x="665164" y="3161434"/>
              <a:ext cx="2882020" cy="467559"/>
            </a:xfrm>
            <a:prstGeom prst="rect">
              <a:avLst/>
            </a:prstGeom>
          </p:spPr>
          <p:txBody>
            <a:bodyPr wrap="square" lIns="91440" tIns="45720" rIns="91440" bIns="45720" anchor="ctr" anchorCtr="0">
              <a:normAutofit/>
            </a:bodyPr>
            <a:lstStyle/>
            <a:p>
              <a:pPr algn="r"/>
              <a:r>
                <a:rPr lang="zh-CN" altLang="en-US" sz="2400" dirty="0">
                  <a:solidFill>
                    <a:srgbClr val="0000FF"/>
                  </a:solidFill>
                </a:rPr>
                <a:t>内存管理</a:t>
              </a:r>
              <a:r>
                <a:rPr lang="zh-CN" altLang="en-US" sz="2400" dirty="0"/>
                <a:t>功能</a:t>
              </a:r>
              <a:endParaRPr lang="en-US" altLang="zh-CN" sz="2400" dirty="0"/>
            </a:p>
          </p:txBody>
        </p:sp>
        <p:sp>
          <p:nvSpPr>
            <p:cNvPr id="81" name="îṧľïdè"/>
            <p:cNvSpPr/>
            <p:nvPr/>
          </p:nvSpPr>
          <p:spPr>
            <a:xfrm>
              <a:off x="8602796" y="2904889"/>
              <a:ext cx="2632134" cy="1066230"/>
            </a:xfrm>
            <a:prstGeom prst="rect">
              <a:avLst/>
            </a:prstGeom>
          </p:spPr>
          <p:txBody>
            <a:bodyPr wrap="square" lIns="91440" tIns="45720" rIns="91440" bIns="45720" anchor="ctr" anchorCtr="0">
              <a:normAutofit/>
            </a:bodyPr>
            <a:lstStyle/>
            <a:p>
              <a:pPr>
                <a:lnSpc>
                  <a:spcPct val="132000"/>
                </a:lnSpc>
              </a:pPr>
              <a:r>
                <a:rPr lang="zh-CN" altLang="en-US" sz="2400" dirty="0"/>
                <a:t>操作系统与用户之间的</a:t>
              </a:r>
              <a:r>
                <a:rPr lang="zh-CN" altLang="en-US" sz="2400" dirty="0">
                  <a:solidFill>
                    <a:srgbClr val="0000FF"/>
                  </a:solidFill>
                </a:rPr>
                <a:t>接口</a:t>
              </a:r>
              <a:endParaRPr lang="en-US" altLang="zh-CN" sz="2400" dirty="0"/>
            </a:p>
          </p:txBody>
        </p:sp>
        <p:sp>
          <p:nvSpPr>
            <p:cNvPr id="82" name="işľîḓé"/>
            <p:cNvSpPr/>
            <p:nvPr/>
          </p:nvSpPr>
          <p:spPr>
            <a:xfrm>
              <a:off x="665163" y="4708346"/>
              <a:ext cx="3486183" cy="467559"/>
            </a:xfrm>
            <a:prstGeom prst="rect">
              <a:avLst/>
            </a:prstGeom>
          </p:spPr>
          <p:txBody>
            <a:bodyPr wrap="square" lIns="91440" tIns="45720" rIns="91440" bIns="45720" anchor="ctr" anchorCtr="0">
              <a:normAutofit/>
            </a:bodyPr>
            <a:lstStyle/>
            <a:p>
              <a:pPr algn="r"/>
              <a:r>
                <a:rPr lang="zh-CN" altLang="en-US" sz="2400" dirty="0">
                  <a:solidFill>
                    <a:srgbClr val="0000FF"/>
                  </a:solidFill>
                </a:rPr>
                <a:t>设备管理</a:t>
              </a:r>
              <a:r>
                <a:rPr lang="zh-CN" altLang="en-US" sz="2400" dirty="0"/>
                <a:t>功能</a:t>
              </a:r>
              <a:endParaRPr lang="en-US" altLang="zh-CN" sz="2400" dirty="0"/>
            </a:p>
          </p:txBody>
        </p:sp>
        <p:sp>
          <p:nvSpPr>
            <p:cNvPr id="83" name="ïśļíde"/>
            <p:cNvSpPr/>
            <p:nvPr/>
          </p:nvSpPr>
          <p:spPr>
            <a:xfrm>
              <a:off x="8029002" y="4708346"/>
              <a:ext cx="3485135" cy="467559"/>
            </a:xfrm>
            <a:prstGeom prst="rect">
              <a:avLst/>
            </a:prstGeom>
          </p:spPr>
          <p:txBody>
            <a:bodyPr wrap="square" lIns="91440" tIns="45720" rIns="91440" bIns="45720" anchor="ctr" anchorCtr="0">
              <a:normAutofit/>
            </a:bodyPr>
            <a:lstStyle/>
            <a:p>
              <a:r>
                <a:rPr lang="zh-CN" altLang="en-US" sz="2400" dirty="0"/>
                <a:t>现代</a:t>
              </a:r>
              <a:r>
                <a:rPr lang="en-US" altLang="zh-CN" sz="2400" dirty="0"/>
                <a:t>OS</a:t>
              </a:r>
              <a:r>
                <a:rPr lang="zh-CN" altLang="en-US" sz="2400" dirty="0"/>
                <a:t>的新功能</a:t>
              </a:r>
              <a:endParaRPr lang="en-US" altLang="zh-CN" sz="2400" dirty="0"/>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处理机管理功能</a:t>
            </a:r>
            <a:endParaRPr lang="zh-CN" altLang="en-US" sz="2800" b="1" dirty="0">
              <a:solidFill>
                <a:schemeClr val="bg1"/>
              </a:solidFill>
            </a:endParaRPr>
          </a:p>
        </p:txBody>
      </p:sp>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76743" y="1670651"/>
            <a:ext cx="11246981" cy="4124771"/>
            <a:chOff x="673100" y="1464590"/>
            <a:chExt cx="11246981" cy="4124771"/>
          </a:xfrm>
        </p:grpSpPr>
        <p:sp>
          <p:nvSpPr>
            <p:cNvPr id="30"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1"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2"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3"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4"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5" name="ï$1iḍe"/>
            <p:cNvSpPr txBox="1"/>
            <p:nvPr/>
          </p:nvSpPr>
          <p:spPr>
            <a:xfrm>
              <a:off x="738159" y="1491721"/>
              <a:ext cx="2687137" cy="392512"/>
            </a:xfrm>
            <a:prstGeom prst="rect">
              <a:avLst/>
            </a:prstGeom>
            <a:noFill/>
            <a:ln>
              <a:noFill/>
            </a:ln>
          </p:spPr>
          <p:txBody>
            <a:bodyPr wrap="square" lIns="91440" tIns="45720" rIns="91440" bIns="45720" anchor="t" anchorCtr="0">
              <a:noAutofit/>
            </a:bodyPr>
            <a:lstStyle/>
            <a:p>
              <a:pPr algn="ctr"/>
              <a:r>
                <a:rPr lang="zh-CN" altLang="en-US" sz="2400" b="1" dirty="0"/>
                <a:t>进程控制</a:t>
              </a:r>
              <a:endParaRPr lang="zh-CN" altLang="en-US" sz="2400" b="1" dirty="0"/>
            </a:p>
          </p:txBody>
        </p:sp>
        <p:sp>
          <p:nvSpPr>
            <p:cNvPr id="36" name="isľîdê"/>
            <p:cNvSpPr txBox="1"/>
            <p:nvPr/>
          </p:nvSpPr>
          <p:spPr>
            <a:xfrm>
              <a:off x="837271" y="4127645"/>
              <a:ext cx="2287926"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创建进程、撤消（终止）进程、状态转换</a:t>
              </a:r>
              <a:endParaRPr lang="zh-CN" altLang="en-US" sz="2400" dirty="0"/>
            </a:p>
          </p:txBody>
        </p:sp>
        <p:sp>
          <p:nvSpPr>
            <p:cNvPr id="37" name="íṩ1ïḑe"/>
            <p:cNvSpPr txBox="1"/>
            <p:nvPr/>
          </p:nvSpPr>
          <p:spPr>
            <a:xfrm>
              <a:off x="3077666" y="1464590"/>
              <a:ext cx="3316591"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solidFill>
                    <a:srgbClr val="FF0000"/>
                  </a:solidFill>
                </a:rPr>
                <a:t>进程同步</a:t>
              </a:r>
              <a:endParaRPr lang="zh-CN" altLang="en-US" sz="2400" b="1" dirty="0">
                <a:solidFill>
                  <a:srgbClr val="FF0000"/>
                </a:solidFill>
              </a:endParaRPr>
            </a:p>
          </p:txBody>
        </p:sp>
        <p:sp>
          <p:nvSpPr>
            <p:cNvPr id="38" name="ïsḻiďê"/>
            <p:cNvSpPr txBox="1"/>
            <p:nvPr/>
          </p:nvSpPr>
          <p:spPr>
            <a:xfrm>
              <a:off x="6366706" y="1478156"/>
              <a:ext cx="2356280" cy="392512"/>
            </a:xfrm>
            <a:prstGeom prst="rect">
              <a:avLst/>
            </a:prstGeom>
            <a:noFill/>
            <a:ln>
              <a:noFill/>
            </a:ln>
          </p:spPr>
          <p:txBody>
            <a:bodyPr wrap="square" lIns="91440" tIns="45720" rIns="91440" bIns="45720" anchor="t" anchorCtr="0">
              <a:noAutofit/>
            </a:bodyPr>
            <a:lstStyle/>
            <a:p>
              <a:pPr algn="ctr"/>
              <a:r>
                <a:rPr lang="zh-CN" altLang="en-US" sz="2400" b="1" dirty="0"/>
                <a:t>进程通信</a:t>
              </a:r>
              <a:endParaRPr lang="zh-CN" altLang="en-US" sz="2400" b="1" dirty="0"/>
            </a:p>
          </p:txBody>
        </p:sp>
        <p:sp>
          <p:nvSpPr>
            <p:cNvPr id="39" name="isḷiḋé"/>
            <p:cNvSpPr txBox="1"/>
            <p:nvPr/>
          </p:nvSpPr>
          <p:spPr>
            <a:xfrm>
              <a:off x="8833059" y="1491721"/>
              <a:ext cx="3087022" cy="392512"/>
            </a:xfrm>
            <a:prstGeom prst="rect">
              <a:avLst/>
            </a:prstGeom>
            <a:noFill/>
            <a:ln>
              <a:noFill/>
            </a:ln>
          </p:spPr>
          <p:txBody>
            <a:bodyPr wrap="square" lIns="91440" tIns="45720" rIns="91440" bIns="45720" anchor="t" anchorCtr="0">
              <a:noAutofit/>
            </a:bodyPr>
            <a:lstStyle/>
            <a:p>
              <a:pPr algn="ctr"/>
              <a:r>
                <a:rPr lang="zh-CN" altLang="en-US" sz="2400" b="1" dirty="0"/>
                <a:t>调度</a:t>
              </a:r>
              <a:endParaRPr lang="zh-CN" altLang="en-US" sz="2400" b="1" dirty="0"/>
            </a:p>
          </p:txBody>
        </p:sp>
        <p:sp>
          <p:nvSpPr>
            <p:cNvPr id="40"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41"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42"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43"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44" name="isľîdê"/>
            <p:cNvSpPr txBox="1"/>
            <p:nvPr/>
          </p:nvSpPr>
          <p:spPr>
            <a:xfrm>
              <a:off x="3540236" y="4127645"/>
              <a:ext cx="2276119" cy="85874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信号量机制</a:t>
              </a:r>
              <a:endParaRPr lang="zh-CN" altLang="en-US" sz="2400" dirty="0"/>
            </a:p>
          </p:txBody>
        </p:sp>
        <p:sp>
          <p:nvSpPr>
            <p:cNvPr id="45" name="isľîdê"/>
            <p:cNvSpPr txBox="1"/>
            <p:nvPr/>
          </p:nvSpPr>
          <p:spPr>
            <a:xfrm>
              <a:off x="6469394" y="4151140"/>
              <a:ext cx="2018637" cy="53145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直接通信、间接通信</a:t>
              </a:r>
              <a:endParaRPr lang="zh-CN" altLang="en-US" sz="2400" dirty="0"/>
            </a:p>
          </p:txBody>
        </p:sp>
        <p:sp>
          <p:nvSpPr>
            <p:cNvPr id="46" name="isľîdê"/>
            <p:cNvSpPr txBox="1"/>
            <p:nvPr/>
          </p:nvSpPr>
          <p:spPr>
            <a:xfrm>
              <a:off x="9430508" y="4151140"/>
              <a:ext cx="2369079" cy="835247"/>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作业调度</a:t>
              </a:r>
              <a:endParaRPr lang="zh-CN" altLang="en-US" sz="2400" dirty="0"/>
            </a:p>
            <a:p>
              <a:pPr marL="342900" indent="-342900">
                <a:lnSpc>
                  <a:spcPct val="120000"/>
                </a:lnSpc>
                <a:buClr>
                  <a:srgbClr val="0000FF"/>
                </a:buClr>
                <a:buFont typeface="Wingdings" panose="05000000000000000000" pitchFamily="2" charset="2"/>
                <a:buChar char="Ø"/>
              </a:pPr>
              <a:r>
                <a:rPr lang="zh-CN" altLang="en-US" sz="2400" dirty="0"/>
                <a:t>进程调度</a:t>
              </a:r>
              <a:endParaRPr lang="zh-CN" altLang="en-US" sz="2400" dirty="0"/>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存储器管理功能</a:t>
            </a:r>
            <a:endParaRPr lang="zh-CN" altLang="en-US" sz="2800" b="1" dirty="0">
              <a:solidFill>
                <a:schemeClr val="bg1"/>
              </a:solidFill>
            </a:endParaRPr>
          </a:p>
        </p:txBody>
      </p:sp>
      <p:grpSp>
        <p:nvGrpSpPr>
          <p:cNvPr id="21"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76743" y="1661773"/>
            <a:ext cx="11246981" cy="4124771"/>
            <a:chOff x="673100" y="1464590"/>
            <a:chExt cx="11246981" cy="4124771"/>
          </a:xfrm>
        </p:grpSpPr>
        <p:sp>
          <p:nvSpPr>
            <p:cNvPr id="22"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23"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4"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25"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6"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7" name="ï$1iḍe"/>
            <p:cNvSpPr txBox="1"/>
            <p:nvPr/>
          </p:nvSpPr>
          <p:spPr>
            <a:xfrm>
              <a:off x="738159" y="1491721"/>
              <a:ext cx="2687137" cy="392512"/>
            </a:xfrm>
            <a:prstGeom prst="rect">
              <a:avLst/>
            </a:prstGeom>
            <a:noFill/>
            <a:ln>
              <a:noFill/>
            </a:ln>
          </p:spPr>
          <p:txBody>
            <a:bodyPr wrap="square" lIns="91440" tIns="45720" rIns="91440" bIns="45720" anchor="t" anchorCtr="0">
              <a:noAutofit/>
            </a:bodyPr>
            <a:lstStyle/>
            <a:p>
              <a:pPr algn="ctr"/>
              <a:r>
                <a:rPr lang="zh-CN" altLang="en-US" sz="2400" b="1" dirty="0"/>
                <a:t>内存分配和回收</a:t>
              </a:r>
              <a:endParaRPr lang="zh-CN" altLang="en-US" sz="2400" b="1" dirty="0"/>
            </a:p>
          </p:txBody>
        </p:sp>
        <p:sp>
          <p:nvSpPr>
            <p:cNvPr id="28" name="isľîdê"/>
            <p:cNvSpPr txBox="1"/>
            <p:nvPr/>
          </p:nvSpPr>
          <p:spPr>
            <a:xfrm>
              <a:off x="837271" y="4127645"/>
              <a:ext cx="2287926"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内存分配</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内存分配</a:t>
              </a:r>
              <a:endParaRPr lang="zh-CN" altLang="en-US" sz="2200" dirty="0"/>
            </a:p>
          </p:txBody>
        </p:sp>
        <p:sp>
          <p:nvSpPr>
            <p:cNvPr id="47" name="íṩ1ïḑe"/>
            <p:cNvSpPr txBox="1"/>
            <p:nvPr/>
          </p:nvSpPr>
          <p:spPr>
            <a:xfrm>
              <a:off x="3077666" y="1464590"/>
              <a:ext cx="3316591"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t>内存保护</a:t>
              </a:r>
              <a:endParaRPr lang="zh-CN" altLang="en-US" sz="2400" b="1" dirty="0"/>
            </a:p>
          </p:txBody>
        </p:sp>
        <p:sp>
          <p:nvSpPr>
            <p:cNvPr id="48" name="ïsḻiďê"/>
            <p:cNvSpPr txBox="1"/>
            <p:nvPr/>
          </p:nvSpPr>
          <p:spPr>
            <a:xfrm>
              <a:off x="6366706" y="1478156"/>
              <a:ext cx="2356280" cy="392512"/>
            </a:xfrm>
            <a:prstGeom prst="rect">
              <a:avLst/>
            </a:prstGeom>
            <a:noFill/>
            <a:ln>
              <a:noFill/>
            </a:ln>
          </p:spPr>
          <p:txBody>
            <a:bodyPr wrap="square" lIns="91440" tIns="45720" rIns="91440" bIns="45720" anchor="t" anchorCtr="0">
              <a:noAutofit/>
            </a:bodyPr>
            <a:lstStyle/>
            <a:p>
              <a:pPr algn="ctr"/>
              <a:r>
                <a:rPr lang="zh-CN" altLang="en-US" sz="2400" b="1" dirty="0"/>
                <a:t>地址映射</a:t>
              </a:r>
              <a:endParaRPr lang="zh-CN" altLang="en-US" sz="2400" b="1" dirty="0"/>
            </a:p>
          </p:txBody>
        </p:sp>
        <p:sp>
          <p:nvSpPr>
            <p:cNvPr id="49" name="isḷiḋé"/>
            <p:cNvSpPr txBox="1"/>
            <p:nvPr/>
          </p:nvSpPr>
          <p:spPr>
            <a:xfrm>
              <a:off x="8656120" y="1491721"/>
              <a:ext cx="3263961" cy="392512"/>
            </a:xfrm>
            <a:prstGeom prst="rect">
              <a:avLst/>
            </a:prstGeom>
            <a:noFill/>
            <a:ln>
              <a:noFill/>
            </a:ln>
          </p:spPr>
          <p:txBody>
            <a:bodyPr wrap="square" lIns="91440" tIns="45720" rIns="91440" bIns="45720" anchor="t" anchorCtr="0">
              <a:noAutofit/>
            </a:bodyPr>
            <a:lstStyle/>
            <a:p>
              <a:pPr algn="ctr"/>
              <a:r>
                <a:rPr lang="zh-CN" altLang="en-US" sz="2400" b="1" dirty="0"/>
                <a:t>内存扩充</a:t>
              </a:r>
              <a:br>
                <a:rPr lang="en-US" altLang="zh-CN" sz="2400" b="1" dirty="0"/>
              </a:br>
              <a:r>
                <a:rPr lang="zh-CN" altLang="en-US" sz="2400" b="1" dirty="0">
                  <a:solidFill>
                    <a:srgbClr val="FF0000"/>
                  </a:solidFill>
                </a:rPr>
                <a:t>（虚拟存储技术）</a:t>
              </a:r>
              <a:endParaRPr lang="zh-CN" altLang="en-US" sz="2400" b="1" dirty="0">
                <a:solidFill>
                  <a:srgbClr val="FF0000"/>
                </a:solidFill>
              </a:endParaRPr>
            </a:p>
          </p:txBody>
        </p:sp>
        <p:sp>
          <p:nvSpPr>
            <p:cNvPr id="50"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51"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52"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53"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54" name="isľîdê"/>
            <p:cNvSpPr txBox="1"/>
            <p:nvPr/>
          </p:nvSpPr>
          <p:spPr>
            <a:xfrm>
              <a:off x="2996169" y="4100515"/>
              <a:ext cx="3330521" cy="85874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确保每个用户程序仅在自己的内存空间运行</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绝不允许用户程序访问操作系统的程序和数据</a:t>
              </a:r>
              <a:endParaRPr lang="zh-CN" altLang="en-US" sz="2200" dirty="0"/>
            </a:p>
          </p:txBody>
        </p:sp>
        <p:sp>
          <p:nvSpPr>
            <p:cNvPr id="55" name="isľîdê"/>
            <p:cNvSpPr txBox="1"/>
            <p:nvPr/>
          </p:nvSpPr>
          <p:spPr>
            <a:xfrm>
              <a:off x="6469394" y="4151140"/>
              <a:ext cx="2363665" cy="53145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逻辑地址转换为物理地址</a:t>
              </a:r>
              <a:endParaRPr lang="zh-CN" altLang="en-US" sz="2200" dirty="0"/>
            </a:p>
          </p:txBody>
        </p:sp>
        <p:sp>
          <p:nvSpPr>
            <p:cNvPr id="56" name="isľîdê"/>
            <p:cNvSpPr txBox="1"/>
            <p:nvPr/>
          </p:nvSpPr>
          <p:spPr>
            <a:xfrm>
              <a:off x="9430508" y="4151140"/>
              <a:ext cx="2369079" cy="835247"/>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请求调入功能</a:t>
              </a:r>
              <a:endParaRPr lang="zh-CN" altLang="en-US" sz="2200" dirty="0"/>
            </a:p>
            <a:p>
              <a:pPr marL="342900" indent="-342900">
                <a:lnSpc>
                  <a:spcPct val="120000"/>
                </a:lnSpc>
                <a:buClr>
                  <a:srgbClr val="0000FF"/>
                </a:buClr>
                <a:buFont typeface="Wingdings" panose="05000000000000000000" pitchFamily="2" charset="2"/>
                <a:buChar char="Ø"/>
              </a:pPr>
              <a:r>
                <a:rPr lang="zh-CN" altLang="en-US" sz="2200" dirty="0"/>
                <a:t>置换功能</a:t>
              </a:r>
              <a:endParaRPr lang="zh-CN" altLang="en-US" sz="2200" dirty="0"/>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设备管理功能</a:t>
            </a:r>
            <a:endParaRPr lang="zh-CN" altLang="en-US" sz="2800" b="1" dirty="0">
              <a:solidFill>
                <a:schemeClr val="bg1"/>
              </a:solidFill>
            </a:endParaRPr>
          </a:p>
        </p:txBody>
      </p:sp>
      <p:sp>
        <p:nvSpPr>
          <p:cNvPr id="40" name="ïṣḻïḍe"/>
          <p:cNvSpPr txBox="1"/>
          <p:nvPr/>
        </p:nvSpPr>
        <p:spPr>
          <a:xfrm>
            <a:off x="660400" y="1851367"/>
            <a:ext cx="10858500" cy="648568"/>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buSzPct val="25000"/>
            </a:pPr>
            <a:r>
              <a:rPr lang="zh-CN" altLang="en-US" sz="2400" b="1" dirty="0"/>
              <a:t>主要任务：</a:t>
            </a:r>
            <a:r>
              <a:rPr lang="en-US" altLang="zh-CN" sz="2400" b="1" dirty="0"/>
              <a:t>(1)</a:t>
            </a:r>
            <a:r>
              <a:rPr lang="zh-CN" altLang="en-US" sz="2400" b="1" dirty="0"/>
              <a:t>完成</a:t>
            </a:r>
            <a:r>
              <a:rPr lang="en-US" altLang="zh-CN" sz="2400" b="1" dirty="0"/>
              <a:t>I/O</a:t>
            </a:r>
            <a:r>
              <a:rPr lang="zh-CN" altLang="en-US" sz="2400" b="1" dirty="0"/>
              <a:t>请求；</a:t>
            </a:r>
            <a:r>
              <a:rPr lang="en-US" altLang="zh-CN" sz="2400" b="1" dirty="0"/>
              <a:t>(2)</a:t>
            </a:r>
            <a:r>
              <a:rPr lang="zh-CN" altLang="en-US" sz="2400" b="1" dirty="0"/>
              <a:t>提高</a:t>
            </a:r>
            <a:r>
              <a:rPr lang="en-US" altLang="zh-CN" sz="2400" b="1" dirty="0"/>
              <a:t>CPU</a:t>
            </a:r>
            <a:r>
              <a:rPr lang="zh-CN" altLang="en-US" sz="2400" b="1" dirty="0"/>
              <a:t>和</a:t>
            </a:r>
            <a:r>
              <a:rPr lang="en-US" altLang="zh-CN" sz="2400" b="1" dirty="0"/>
              <a:t>I/O</a:t>
            </a:r>
            <a:r>
              <a:rPr lang="zh-CN" altLang="en-US" sz="2400" b="1" dirty="0"/>
              <a:t>设备的利用率。</a:t>
            </a:r>
            <a:endParaRPr lang="zh-CN" altLang="en-US" sz="2400" b="1" dirty="0"/>
          </a:p>
        </p:txBody>
      </p:sp>
      <p:sp>
        <p:nvSpPr>
          <p:cNvPr id="42" name="ïṩḷiďè"/>
          <p:cNvSpPr/>
          <p:nvPr/>
        </p:nvSpPr>
        <p:spPr>
          <a:xfrm>
            <a:off x="0" y="2858696"/>
            <a:ext cx="12192000" cy="1420426"/>
          </a:xfrm>
          <a:prstGeom prst="rect">
            <a:avLst/>
          </a:prstGeom>
          <a:blipFill>
            <a:blip r:embed="rId1"/>
            <a:srcRect/>
            <a:stretch>
              <a:fillRect t="-193116" b="-189697"/>
            </a:stretch>
          </a:blipFill>
          <a:ln w="12700" cap="flat" cmpd="sng" algn="ctr">
            <a:noFill/>
            <a:prstDash val="solid"/>
            <a:miter lim="800000"/>
          </a:ln>
          <a:effectLst>
            <a:outerShdw dist="38100" dir="5400000" algn="t" rotWithShape="0">
              <a:prstClr val="black">
                <a:alpha val="1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43" name="işḷiḍè"/>
          <p:cNvGrpSpPr/>
          <p:nvPr/>
        </p:nvGrpSpPr>
        <p:grpSpPr>
          <a:xfrm>
            <a:off x="660401" y="2907523"/>
            <a:ext cx="2899546" cy="2669028"/>
            <a:chOff x="660401" y="2173427"/>
            <a:chExt cx="2899546" cy="2669028"/>
          </a:xfrm>
        </p:grpSpPr>
        <p:sp>
          <p:nvSpPr>
            <p:cNvPr id="44" name="iṣḻîďé"/>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01</a:t>
              </a:r>
              <a:endParaRPr lang="zh-CN" altLang="en-US" sz="3200" dirty="0">
                <a:solidFill>
                  <a:schemeClr val="bg1"/>
                </a:solidFill>
              </a:endParaRPr>
            </a:p>
          </p:txBody>
        </p:sp>
        <p:grpSp>
          <p:nvGrpSpPr>
            <p:cNvPr id="45" name="ïSľíḍè"/>
            <p:cNvGrpSpPr/>
            <p:nvPr/>
          </p:nvGrpSpPr>
          <p:grpSpPr>
            <a:xfrm>
              <a:off x="660401" y="3711634"/>
              <a:ext cx="2899546" cy="1130821"/>
              <a:chOff x="1137237" y="3711634"/>
              <a:chExt cx="3492591" cy="1130821"/>
            </a:xfrm>
          </p:grpSpPr>
          <p:sp>
            <p:nvSpPr>
              <p:cNvPr id="46" name="îśľîḍé"/>
              <p:cNvSpPr/>
              <p:nvPr/>
            </p:nvSpPr>
            <p:spPr bwMode="auto">
              <a:xfrm>
                <a:off x="1683430" y="4201332"/>
                <a:ext cx="2400204" cy="64112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2400" dirty="0"/>
                  <a:t>缓冲区机制</a:t>
                </a:r>
                <a:endParaRPr lang="zh-CN" altLang="en-US" sz="2400" dirty="0"/>
              </a:p>
            </p:txBody>
          </p:sp>
          <p:sp>
            <p:nvSpPr>
              <p:cNvPr id="57" name="iṧľiḑé"/>
              <p:cNvSpPr/>
              <p:nvPr/>
            </p:nvSpPr>
            <p:spPr>
              <a:xfrm>
                <a:off x="1137237" y="3711634"/>
                <a:ext cx="3492591"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spcBef>
                    <a:spcPct val="0"/>
                  </a:spcBef>
                </a:pPr>
                <a:r>
                  <a:rPr lang="zh-CN" altLang="en-US" sz="2400" b="1" dirty="0">
                    <a:solidFill>
                      <a:srgbClr val="FF0000"/>
                    </a:solidFill>
                  </a:rPr>
                  <a:t>缓冲管理</a:t>
                </a:r>
                <a:endParaRPr lang="zh-CN" altLang="en-US" sz="2400" b="1" dirty="0">
                  <a:solidFill>
                    <a:srgbClr val="FF0000"/>
                  </a:solidFill>
                </a:endParaRPr>
              </a:p>
            </p:txBody>
          </p:sp>
        </p:grpSp>
      </p:grpSp>
      <p:grpSp>
        <p:nvGrpSpPr>
          <p:cNvPr id="58" name="ïsļïḋê"/>
          <p:cNvGrpSpPr/>
          <p:nvPr/>
        </p:nvGrpSpPr>
        <p:grpSpPr>
          <a:xfrm>
            <a:off x="4639877" y="2907523"/>
            <a:ext cx="2899546" cy="2027907"/>
            <a:chOff x="660401" y="2173427"/>
            <a:chExt cx="2899546" cy="2027907"/>
          </a:xfrm>
        </p:grpSpPr>
        <p:sp>
          <p:nvSpPr>
            <p:cNvPr id="59" name="íSḷiḑê"/>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02</a:t>
              </a:r>
              <a:endParaRPr lang="zh-CN" altLang="en-US" sz="3200" dirty="0">
                <a:solidFill>
                  <a:schemeClr val="bg1"/>
                </a:solidFill>
              </a:endParaRPr>
            </a:p>
          </p:txBody>
        </p:sp>
        <p:sp>
          <p:nvSpPr>
            <p:cNvPr id="62" name="í$ḻïḍe"/>
            <p:cNvSpPr/>
            <p:nvPr/>
          </p:nvSpPr>
          <p:spPr>
            <a:xfrm>
              <a:off x="660401" y="3711634"/>
              <a:ext cx="2899546"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spcBef>
                  <a:spcPct val="0"/>
                </a:spcBef>
              </a:pPr>
              <a:r>
                <a:rPr lang="zh-CN" altLang="en-US" sz="2400" b="1" dirty="0">
                  <a:solidFill>
                    <a:schemeClr val="tx1"/>
                  </a:solidFill>
                </a:rPr>
                <a:t>设备分配</a:t>
              </a:r>
              <a:endParaRPr lang="zh-CN" altLang="en-US" sz="2400" b="1" dirty="0">
                <a:solidFill>
                  <a:schemeClr val="tx1"/>
                </a:solidFill>
              </a:endParaRPr>
            </a:p>
          </p:txBody>
        </p:sp>
      </p:grpSp>
      <p:grpSp>
        <p:nvGrpSpPr>
          <p:cNvPr id="63" name="ísľïḍè"/>
          <p:cNvGrpSpPr/>
          <p:nvPr/>
        </p:nvGrpSpPr>
        <p:grpSpPr>
          <a:xfrm>
            <a:off x="8619354" y="2907523"/>
            <a:ext cx="3439511" cy="2669028"/>
            <a:chOff x="660401" y="2173427"/>
            <a:chExt cx="3439511" cy="2669028"/>
          </a:xfrm>
        </p:grpSpPr>
        <p:sp>
          <p:nvSpPr>
            <p:cNvPr id="64" name="îśḷíḍe"/>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03</a:t>
              </a:r>
              <a:endParaRPr lang="zh-CN" altLang="en-US" sz="3200" dirty="0">
                <a:solidFill>
                  <a:schemeClr val="bg1"/>
                </a:solidFill>
              </a:endParaRPr>
            </a:p>
          </p:txBody>
        </p:sp>
        <p:grpSp>
          <p:nvGrpSpPr>
            <p:cNvPr id="65" name="iṥlîdè"/>
            <p:cNvGrpSpPr/>
            <p:nvPr/>
          </p:nvGrpSpPr>
          <p:grpSpPr>
            <a:xfrm>
              <a:off x="660401" y="3711634"/>
              <a:ext cx="3439511" cy="1130821"/>
              <a:chOff x="1137237" y="3711634"/>
              <a:chExt cx="4142995" cy="1130821"/>
            </a:xfrm>
          </p:grpSpPr>
          <p:sp>
            <p:nvSpPr>
              <p:cNvPr id="66" name="ïṣļiḍe"/>
              <p:cNvSpPr/>
              <p:nvPr/>
            </p:nvSpPr>
            <p:spPr bwMode="auto">
              <a:xfrm>
                <a:off x="1787641" y="4111180"/>
                <a:ext cx="3492591" cy="731275"/>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2400" dirty="0"/>
                  <a:t>设备驱动程序</a:t>
                </a:r>
                <a:endParaRPr lang="zh-CN" altLang="en-US" sz="2400" dirty="0"/>
              </a:p>
            </p:txBody>
          </p:sp>
          <p:sp>
            <p:nvSpPr>
              <p:cNvPr id="67" name="iṧḷiḓê"/>
              <p:cNvSpPr/>
              <p:nvPr/>
            </p:nvSpPr>
            <p:spPr>
              <a:xfrm>
                <a:off x="1137237" y="3711634"/>
                <a:ext cx="3492591"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spcBef>
                    <a:spcPct val="0"/>
                  </a:spcBef>
                </a:pPr>
                <a:r>
                  <a:rPr lang="zh-CN" altLang="en-US" sz="2400" b="1" dirty="0">
                    <a:solidFill>
                      <a:schemeClr val="tx1"/>
                    </a:solidFill>
                  </a:rPr>
                  <a:t>设备处理</a:t>
                </a:r>
                <a:endParaRPr lang="zh-CN" altLang="en-US" sz="2400" b="1" dirty="0">
                  <a:solidFill>
                    <a:schemeClr val="tx1"/>
                  </a:solidFill>
                </a:endParaRPr>
              </a:p>
            </p:txBody>
          </p:sp>
        </p:grpSp>
      </p:grpSp>
      <p:cxnSp>
        <p:nvCxnSpPr>
          <p:cNvPr id="68" name="直接连接符 67"/>
          <p:cNvCxnSpPr/>
          <p:nvPr/>
        </p:nvCxnSpPr>
        <p:spPr>
          <a:xfrm>
            <a:off x="4183062" y="4640624"/>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8066509" y="4640624"/>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文件管理功能</a:t>
            </a:r>
            <a:endParaRPr lang="zh-CN" altLang="en-US" sz="2800" b="1" dirty="0">
              <a:solidFill>
                <a:schemeClr val="bg1"/>
              </a:solidFill>
            </a:endParaRPr>
          </a:p>
        </p:txBody>
      </p:sp>
      <p:grpSp>
        <p:nvGrpSpPr>
          <p:cNvPr id="21"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335678"/>
            <a:ext cx="11075232" cy="4734027"/>
            <a:chOff x="660400" y="1181131"/>
            <a:chExt cx="11075232" cy="4734027"/>
          </a:xfrm>
        </p:grpSpPr>
        <p:sp>
          <p:nvSpPr>
            <p:cNvPr id="22"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3"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171450" indent="-171450">
                <a:lnSpc>
                  <a:spcPct val="150000"/>
                </a:lnSpc>
                <a:buFont typeface="Arial" panose="020B0604020202020204" pitchFamily="34" charset="0"/>
                <a:buChar char="•"/>
              </a:pPr>
              <a:r>
                <a:rPr lang="zh-CN" altLang="en-US" sz="2400" dirty="0">
                  <a:solidFill>
                    <a:schemeClr val="tx1"/>
                  </a:solidFill>
                </a:rPr>
                <a:t>文件存储空间的管理</a:t>
              </a:r>
              <a:endParaRPr lang="zh-CN" altLang="en-US" sz="2400" dirty="0">
                <a:solidFill>
                  <a:schemeClr val="tx1"/>
                </a:solidFill>
              </a:endParaRPr>
            </a:p>
          </p:txBody>
        </p:sp>
        <p:sp>
          <p:nvSpPr>
            <p:cNvPr id="24"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5"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marL="171450" indent="-171450">
                <a:lnSpc>
                  <a:spcPct val="150000"/>
                </a:lnSpc>
                <a:buFont typeface="Arial" panose="020B0604020202020204" pitchFamily="34" charset="0"/>
                <a:buChar char="•"/>
              </a:pPr>
              <a:r>
                <a:rPr lang="zh-CN" altLang="en-US" sz="2400" dirty="0">
                  <a:solidFill>
                    <a:srgbClr val="0000FF"/>
                  </a:solidFill>
                </a:rPr>
                <a:t>目录管理</a:t>
              </a:r>
              <a:endParaRPr lang="en-US" altLang="zh-CN" sz="2400" dirty="0">
                <a:solidFill>
                  <a:srgbClr val="0000FF"/>
                </a:solidFill>
              </a:endParaRPr>
            </a:p>
            <a:p>
              <a:pPr marL="800100" lvl="1" indent="-342900">
                <a:lnSpc>
                  <a:spcPct val="150000"/>
                </a:lnSpc>
                <a:buClr>
                  <a:srgbClr val="0000FF"/>
                </a:buClr>
                <a:buFont typeface="Wingdings" panose="05000000000000000000" pitchFamily="2" charset="2"/>
                <a:buChar char="p"/>
              </a:pPr>
              <a:r>
                <a:rPr lang="zh-CN" altLang="en-US" sz="2400" dirty="0">
                  <a:solidFill>
                    <a:srgbClr val="0000FF"/>
                  </a:solidFill>
                </a:rPr>
                <a:t>按名存取</a:t>
              </a:r>
              <a:endParaRPr lang="zh-CN" altLang="en-US" sz="2400" dirty="0">
                <a:solidFill>
                  <a:srgbClr val="0000FF"/>
                </a:solidFill>
              </a:endParaRPr>
            </a:p>
          </p:txBody>
        </p:sp>
        <p:sp>
          <p:nvSpPr>
            <p:cNvPr id="26" name="íŝḻiďé"/>
            <p:cNvSpPr/>
            <p:nvPr/>
          </p:nvSpPr>
          <p:spPr>
            <a:xfrm>
              <a:off x="8023305" y="1580300"/>
              <a:ext cx="3712327"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7" name="í$ḷîḋe"/>
            <p:cNvSpPr/>
            <p:nvPr/>
          </p:nvSpPr>
          <p:spPr>
            <a:xfrm>
              <a:off x="8001657" y="4245058"/>
              <a:ext cx="3733975"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342900" indent="-342900">
                <a:lnSpc>
                  <a:spcPct val="130000"/>
                </a:lnSpc>
                <a:buClr>
                  <a:srgbClr val="0000FF"/>
                </a:buClr>
                <a:buFont typeface="Arial" panose="020B0604020202020204" pitchFamily="34" charset="0"/>
                <a:buChar char="•"/>
              </a:pPr>
              <a:r>
                <a:rPr lang="zh-CN" altLang="en-US" sz="2400" dirty="0">
                  <a:solidFill>
                    <a:srgbClr val="0000FF"/>
                  </a:solidFill>
                </a:rPr>
                <a:t>文件的读</a:t>
              </a:r>
              <a:r>
                <a:rPr lang="en-US" altLang="zh-CN" sz="2400" dirty="0">
                  <a:solidFill>
                    <a:srgbClr val="0000FF"/>
                  </a:solidFill>
                </a:rPr>
                <a:t>/</a:t>
              </a:r>
              <a:r>
                <a:rPr lang="zh-CN" altLang="en-US" sz="2400" dirty="0">
                  <a:solidFill>
                    <a:srgbClr val="0000FF"/>
                  </a:solidFill>
                </a:rPr>
                <a:t>写管理和保护</a:t>
              </a:r>
              <a:endParaRPr lang="en-US" altLang="zh-CN" sz="2400" dirty="0">
                <a:solidFill>
                  <a:srgbClr val="0000FF"/>
                </a:solidFill>
              </a:endParaRPr>
            </a:p>
            <a:p>
              <a:pPr marL="742950" lvl="1" indent="-285750">
                <a:lnSpc>
                  <a:spcPct val="130000"/>
                </a:lnSpc>
                <a:buClr>
                  <a:srgbClr val="0000FF"/>
                </a:buClr>
                <a:buFont typeface="Wingdings" panose="05000000000000000000" pitchFamily="2" charset="2"/>
                <a:buChar char="p"/>
              </a:pPr>
              <a:r>
                <a:rPr lang="zh-CN" altLang="en-US" sz="2400" dirty="0">
                  <a:solidFill>
                    <a:schemeClr val="tx1"/>
                  </a:solidFill>
                </a:rPr>
                <a:t>文件的读</a:t>
              </a:r>
              <a:r>
                <a:rPr lang="en-US" altLang="zh-CN" sz="2400" dirty="0">
                  <a:solidFill>
                    <a:schemeClr val="tx1"/>
                  </a:solidFill>
                </a:rPr>
                <a:t>/</a:t>
              </a:r>
              <a:r>
                <a:rPr lang="zh-CN" altLang="en-US" sz="2400" dirty="0">
                  <a:solidFill>
                    <a:schemeClr val="tx1"/>
                  </a:solidFill>
                </a:rPr>
                <a:t>写管理</a:t>
              </a:r>
              <a:endParaRPr lang="zh-CN" altLang="en-US" sz="2400" dirty="0">
                <a:solidFill>
                  <a:schemeClr val="tx1"/>
                </a:solidFill>
              </a:endParaRPr>
            </a:p>
            <a:p>
              <a:pPr marL="742950" lvl="1" indent="-285750">
                <a:lnSpc>
                  <a:spcPct val="130000"/>
                </a:lnSpc>
                <a:buClr>
                  <a:srgbClr val="0000FF"/>
                </a:buClr>
                <a:buFont typeface="Wingdings" panose="05000000000000000000" pitchFamily="2" charset="2"/>
                <a:buChar char="p"/>
              </a:pPr>
              <a:r>
                <a:rPr lang="zh-CN" altLang="en-US" sz="2400" dirty="0">
                  <a:solidFill>
                    <a:schemeClr val="tx1"/>
                  </a:solidFill>
                </a:rPr>
                <a:t>文件保护</a:t>
              </a:r>
              <a:endParaRPr lang="zh-CN" altLang="en-US" sz="2400" dirty="0">
                <a:solidFill>
                  <a:schemeClr val="tx1"/>
                </a:solidFill>
              </a:endParaRPr>
            </a:p>
          </p:txBody>
        </p:sp>
        <p:sp>
          <p:nvSpPr>
            <p:cNvPr id="28" name="ï$lïďè"/>
            <p:cNvSpPr/>
            <p:nvPr/>
          </p:nvSpPr>
          <p:spPr bwMode="auto">
            <a:xfrm>
              <a:off x="2253506" y="1181131"/>
              <a:ext cx="333138" cy="310404"/>
            </a:xfrm>
            <a:custGeom>
              <a:avLst/>
              <a:gdLst>
                <a:gd name="connsiteX0" fmla="*/ 484855 w 606016"/>
                <a:gd name="connsiteY0" fmla="*/ 473988 h 564664"/>
                <a:gd name="connsiteX1" fmla="*/ 505037 w 606016"/>
                <a:gd name="connsiteY1" fmla="*/ 494170 h 564664"/>
                <a:gd name="connsiteX2" fmla="*/ 484855 w 606016"/>
                <a:gd name="connsiteY2" fmla="*/ 514352 h 564664"/>
                <a:gd name="connsiteX3" fmla="*/ 464673 w 606016"/>
                <a:gd name="connsiteY3" fmla="*/ 494170 h 564664"/>
                <a:gd name="connsiteX4" fmla="*/ 484855 w 606016"/>
                <a:gd name="connsiteY4" fmla="*/ 473988 h 564664"/>
                <a:gd name="connsiteX5" fmla="*/ 121232 w 606016"/>
                <a:gd name="connsiteY5" fmla="*/ 473988 h 564664"/>
                <a:gd name="connsiteX6" fmla="*/ 141414 w 606016"/>
                <a:gd name="connsiteY6" fmla="*/ 494170 h 564664"/>
                <a:gd name="connsiteX7" fmla="*/ 121232 w 606016"/>
                <a:gd name="connsiteY7" fmla="*/ 514352 h 564664"/>
                <a:gd name="connsiteX8" fmla="*/ 101050 w 606016"/>
                <a:gd name="connsiteY8" fmla="*/ 494170 h 564664"/>
                <a:gd name="connsiteX9" fmla="*/ 121232 w 606016"/>
                <a:gd name="connsiteY9" fmla="*/ 473988 h 564664"/>
                <a:gd name="connsiteX10" fmla="*/ 484813 w 606016"/>
                <a:gd name="connsiteY10" fmla="*/ 443658 h 564664"/>
                <a:gd name="connsiteX11" fmla="*/ 434364 w 606016"/>
                <a:gd name="connsiteY11" fmla="*/ 494115 h 564664"/>
                <a:gd name="connsiteX12" fmla="*/ 484813 w 606016"/>
                <a:gd name="connsiteY12" fmla="*/ 544482 h 564664"/>
                <a:gd name="connsiteX13" fmla="*/ 535352 w 606016"/>
                <a:gd name="connsiteY13" fmla="*/ 494115 h 564664"/>
                <a:gd name="connsiteX14" fmla="*/ 484813 w 606016"/>
                <a:gd name="connsiteY14" fmla="*/ 443658 h 564664"/>
                <a:gd name="connsiteX15" fmla="*/ 121293 w 606016"/>
                <a:gd name="connsiteY15" fmla="*/ 443658 h 564664"/>
                <a:gd name="connsiteX16" fmla="*/ 70755 w 606016"/>
                <a:gd name="connsiteY16" fmla="*/ 494115 h 564664"/>
                <a:gd name="connsiteX17" fmla="*/ 121293 w 606016"/>
                <a:gd name="connsiteY17" fmla="*/ 544482 h 564664"/>
                <a:gd name="connsiteX18" fmla="*/ 171742 w 606016"/>
                <a:gd name="connsiteY18" fmla="*/ 494115 h 564664"/>
                <a:gd name="connsiteX19" fmla="*/ 121293 w 606016"/>
                <a:gd name="connsiteY19" fmla="*/ 443658 h 564664"/>
                <a:gd name="connsiteX20" fmla="*/ 303053 w 606016"/>
                <a:gd name="connsiteY20" fmla="*/ 373109 h 564664"/>
                <a:gd name="connsiteX21" fmla="*/ 292945 w 606016"/>
                <a:gd name="connsiteY21" fmla="*/ 383200 h 564664"/>
                <a:gd name="connsiteX22" fmla="*/ 303053 w 606016"/>
                <a:gd name="connsiteY22" fmla="*/ 393292 h 564664"/>
                <a:gd name="connsiteX23" fmla="*/ 343484 w 606016"/>
                <a:gd name="connsiteY23" fmla="*/ 393292 h 564664"/>
                <a:gd name="connsiteX24" fmla="*/ 343484 w 606016"/>
                <a:gd name="connsiteY24" fmla="*/ 403383 h 564664"/>
                <a:gd name="connsiteX25" fmla="*/ 353592 w 606016"/>
                <a:gd name="connsiteY25" fmla="*/ 413474 h 564664"/>
                <a:gd name="connsiteX26" fmla="*/ 363610 w 606016"/>
                <a:gd name="connsiteY26" fmla="*/ 403383 h 564664"/>
                <a:gd name="connsiteX27" fmla="*/ 363610 w 606016"/>
                <a:gd name="connsiteY27" fmla="*/ 383200 h 564664"/>
                <a:gd name="connsiteX28" fmla="*/ 353592 w 606016"/>
                <a:gd name="connsiteY28" fmla="*/ 373109 h 564664"/>
                <a:gd name="connsiteX29" fmla="*/ 313169 w 606016"/>
                <a:gd name="connsiteY29" fmla="*/ 282403 h 564664"/>
                <a:gd name="connsiteX30" fmla="*/ 447018 w 606016"/>
                <a:gd name="connsiteY30" fmla="*/ 282403 h 564664"/>
                <a:gd name="connsiteX31" fmla="*/ 465069 w 606016"/>
                <a:gd name="connsiteY31" fmla="*/ 311699 h 564664"/>
                <a:gd name="connsiteX32" fmla="*/ 473282 w 606016"/>
                <a:gd name="connsiteY32" fmla="*/ 322696 h 564664"/>
                <a:gd name="connsiteX33" fmla="*/ 313169 w 606016"/>
                <a:gd name="connsiteY33" fmla="*/ 322696 h 564664"/>
                <a:gd name="connsiteX34" fmla="*/ 161665 w 606016"/>
                <a:gd name="connsiteY34" fmla="*/ 282403 h 564664"/>
                <a:gd name="connsiteX35" fmla="*/ 292917 w 606016"/>
                <a:gd name="connsiteY35" fmla="*/ 282403 h 564664"/>
                <a:gd name="connsiteX36" fmla="*/ 292917 w 606016"/>
                <a:gd name="connsiteY36" fmla="*/ 322696 h 564664"/>
                <a:gd name="connsiteX37" fmla="*/ 161665 w 606016"/>
                <a:gd name="connsiteY37" fmla="*/ 322696 h 564664"/>
                <a:gd name="connsiteX38" fmla="*/ 191958 w 606016"/>
                <a:gd name="connsiteY38" fmla="*/ 0 h 564664"/>
                <a:gd name="connsiteX39" fmla="*/ 202066 w 606016"/>
                <a:gd name="connsiteY39" fmla="*/ 10092 h 564664"/>
                <a:gd name="connsiteX40" fmla="*/ 202066 w 606016"/>
                <a:gd name="connsiteY40" fmla="*/ 40366 h 564664"/>
                <a:gd name="connsiteX41" fmla="*/ 222281 w 606016"/>
                <a:gd name="connsiteY41" fmla="*/ 40366 h 564664"/>
                <a:gd name="connsiteX42" fmla="*/ 222281 w 606016"/>
                <a:gd name="connsiteY42" fmla="*/ 10092 h 564664"/>
                <a:gd name="connsiteX43" fmla="*/ 232389 w 606016"/>
                <a:gd name="connsiteY43" fmla="*/ 0 h 564664"/>
                <a:gd name="connsiteX44" fmla="*/ 242406 w 606016"/>
                <a:gd name="connsiteY44" fmla="*/ 10092 h 564664"/>
                <a:gd name="connsiteX45" fmla="*/ 242406 w 606016"/>
                <a:gd name="connsiteY45" fmla="*/ 40366 h 564664"/>
                <a:gd name="connsiteX46" fmla="*/ 252514 w 606016"/>
                <a:gd name="connsiteY46" fmla="*/ 50457 h 564664"/>
                <a:gd name="connsiteX47" fmla="*/ 252514 w 606016"/>
                <a:gd name="connsiteY47" fmla="*/ 100823 h 564664"/>
                <a:gd name="connsiteX48" fmla="*/ 242406 w 606016"/>
                <a:gd name="connsiteY48" fmla="*/ 110915 h 564664"/>
                <a:gd name="connsiteX49" fmla="*/ 221379 w 606016"/>
                <a:gd name="connsiteY49" fmla="*/ 110915 h 564664"/>
                <a:gd name="connsiteX50" fmla="*/ 161634 w 606016"/>
                <a:gd name="connsiteY50" fmla="*/ 161371 h 564664"/>
                <a:gd name="connsiteX51" fmla="*/ 101078 w 606016"/>
                <a:gd name="connsiteY51" fmla="*/ 100823 h 564664"/>
                <a:gd name="connsiteX52" fmla="*/ 60647 w 606016"/>
                <a:gd name="connsiteY52" fmla="*/ 60548 h 564664"/>
                <a:gd name="connsiteX53" fmla="*/ 20216 w 606016"/>
                <a:gd name="connsiteY53" fmla="*/ 100823 h 564664"/>
                <a:gd name="connsiteX54" fmla="*/ 20216 w 606016"/>
                <a:gd name="connsiteY54" fmla="*/ 231921 h 564664"/>
                <a:gd name="connsiteX55" fmla="*/ 80862 w 606016"/>
                <a:gd name="connsiteY55" fmla="*/ 292469 h 564664"/>
                <a:gd name="connsiteX56" fmla="*/ 82126 w 606016"/>
                <a:gd name="connsiteY56" fmla="*/ 292649 h 564664"/>
                <a:gd name="connsiteX57" fmla="*/ 105229 w 606016"/>
                <a:gd name="connsiteY57" fmla="*/ 255167 h 564664"/>
                <a:gd name="connsiteX58" fmla="*/ 164883 w 606016"/>
                <a:gd name="connsiteY58" fmla="*/ 221829 h 564664"/>
                <a:gd name="connsiteX59" fmla="*/ 370559 w 606016"/>
                <a:gd name="connsiteY59" fmla="*/ 221829 h 564664"/>
                <a:gd name="connsiteX60" fmla="*/ 430213 w 606016"/>
                <a:gd name="connsiteY60" fmla="*/ 255077 h 564664"/>
                <a:gd name="connsiteX61" fmla="*/ 434545 w 606016"/>
                <a:gd name="connsiteY61" fmla="*/ 262195 h 564664"/>
                <a:gd name="connsiteX62" fmla="*/ 159920 w 606016"/>
                <a:gd name="connsiteY62" fmla="*/ 262195 h 564664"/>
                <a:gd name="connsiteX63" fmla="*/ 141419 w 606016"/>
                <a:gd name="connsiteY63" fmla="*/ 280575 h 564664"/>
                <a:gd name="connsiteX64" fmla="*/ 141419 w 606016"/>
                <a:gd name="connsiteY64" fmla="*/ 324455 h 564664"/>
                <a:gd name="connsiteX65" fmla="*/ 159920 w 606016"/>
                <a:gd name="connsiteY65" fmla="*/ 342835 h 564664"/>
                <a:gd name="connsiteX66" fmla="*/ 498801 w 606016"/>
                <a:gd name="connsiteY66" fmla="*/ 342835 h 564664"/>
                <a:gd name="connsiteX67" fmla="*/ 538962 w 606016"/>
                <a:gd name="connsiteY67" fmla="*/ 352926 h 564664"/>
                <a:gd name="connsiteX68" fmla="*/ 580566 w 606016"/>
                <a:gd name="connsiteY68" fmla="*/ 352926 h 564664"/>
                <a:gd name="connsiteX69" fmla="*/ 606016 w 606016"/>
                <a:gd name="connsiteY69" fmla="*/ 378335 h 564664"/>
                <a:gd name="connsiteX70" fmla="*/ 606016 w 606016"/>
                <a:gd name="connsiteY70" fmla="*/ 403383 h 564664"/>
                <a:gd name="connsiteX71" fmla="*/ 555567 w 606016"/>
                <a:gd name="connsiteY71" fmla="*/ 403383 h 564664"/>
                <a:gd name="connsiteX72" fmla="*/ 545460 w 606016"/>
                <a:gd name="connsiteY72" fmla="*/ 413474 h 564664"/>
                <a:gd name="connsiteX73" fmla="*/ 555567 w 606016"/>
                <a:gd name="connsiteY73" fmla="*/ 423476 h 564664"/>
                <a:gd name="connsiteX74" fmla="*/ 606016 w 606016"/>
                <a:gd name="connsiteY74" fmla="*/ 423476 h 564664"/>
                <a:gd name="connsiteX75" fmla="*/ 606016 w 606016"/>
                <a:gd name="connsiteY75" fmla="*/ 463391 h 564664"/>
                <a:gd name="connsiteX76" fmla="*/ 565224 w 606016"/>
                <a:gd name="connsiteY76" fmla="*/ 504206 h 564664"/>
                <a:gd name="connsiteX77" fmla="*/ 554755 w 606016"/>
                <a:gd name="connsiteY77" fmla="*/ 504206 h 564664"/>
                <a:gd name="connsiteX78" fmla="*/ 484813 w 606016"/>
                <a:gd name="connsiteY78" fmla="*/ 564664 h 564664"/>
                <a:gd name="connsiteX79" fmla="*/ 414961 w 606016"/>
                <a:gd name="connsiteY79" fmla="*/ 504206 h 564664"/>
                <a:gd name="connsiteX80" fmla="*/ 191145 w 606016"/>
                <a:gd name="connsiteY80" fmla="*/ 504206 h 564664"/>
                <a:gd name="connsiteX81" fmla="*/ 121293 w 606016"/>
                <a:gd name="connsiteY81" fmla="*/ 564664 h 564664"/>
                <a:gd name="connsiteX82" fmla="*/ 51351 w 606016"/>
                <a:gd name="connsiteY82" fmla="*/ 504206 h 564664"/>
                <a:gd name="connsiteX83" fmla="*/ 35377 w 606016"/>
                <a:gd name="connsiteY83" fmla="*/ 504206 h 564664"/>
                <a:gd name="connsiteX84" fmla="*/ 90 w 606016"/>
                <a:gd name="connsiteY84" fmla="*/ 468977 h 564664"/>
                <a:gd name="connsiteX85" fmla="*/ 0 w 606016"/>
                <a:gd name="connsiteY85" fmla="*/ 423476 h 564664"/>
                <a:gd name="connsiteX86" fmla="*/ 50539 w 606016"/>
                <a:gd name="connsiteY86" fmla="*/ 423476 h 564664"/>
                <a:gd name="connsiteX87" fmla="*/ 60647 w 606016"/>
                <a:gd name="connsiteY87" fmla="*/ 413474 h 564664"/>
                <a:gd name="connsiteX88" fmla="*/ 50539 w 606016"/>
                <a:gd name="connsiteY88" fmla="*/ 403383 h 564664"/>
                <a:gd name="connsiteX89" fmla="*/ 0 w 606016"/>
                <a:gd name="connsiteY89" fmla="*/ 403383 h 564664"/>
                <a:gd name="connsiteX90" fmla="*/ 0 w 606016"/>
                <a:gd name="connsiteY90" fmla="*/ 378335 h 564664"/>
                <a:gd name="connsiteX91" fmla="*/ 7400 w 606016"/>
                <a:gd name="connsiteY91" fmla="*/ 360405 h 564664"/>
                <a:gd name="connsiteX92" fmla="*/ 25540 w 606016"/>
                <a:gd name="connsiteY92" fmla="*/ 352926 h 564664"/>
                <a:gd name="connsiteX93" fmla="*/ 54961 w 606016"/>
                <a:gd name="connsiteY93" fmla="*/ 336798 h 564664"/>
                <a:gd name="connsiteX94" fmla="*/ 70303 w 606016"/>
                <a:gd name="connsiteY94" fmla="*/ 311840 h 564664"/>
                <a:gd name="connsiteX95" fmla="*/ 90 w 606016"/>
                <a:gd name="connsiteY95" fmla="*/ 231921 h 564664"/>
                <a:gd name="connsiteX96" fmla="*/ 90 w 606016"/>
                <a:gd name="connsiteY96" fmla="*/ 100823 h 564664"/>
                <a:gd name="connsiteX97" fmla="*/ 60647 w 606016"/>
                <a:gd name="connsiteY97" fmla="*/ 40366 h 564664"/>
                <a:gd name="connsiteX98" fmla="*/ 121293 w 606016"/>
                <a:gd name="connsiteY98" fmla="*/ 100823 h 564664"/>
                <a:gd name="connsiteX99" fmla="*/ 161634 w 606016"/>
                <a:gd name="connsiteY99" fmla="*/ 141189 h 564664"/>
                <a:gd name="connsiteX100" fmla="*/ 200622 w 606016"/>
                <a:gd name="connsiteY100" fmla="*/ 110915 h 564664"/>
                <a:gd name="connsiteX101" fmla="*/ 181850 w 606016"/>
                <a:gd name="connsiteY101" fmla="*/ 110915 h 564664"/>
                <a:gd name="connsiteX102" fmla="*/ 171742 w 606016"/>
                <a:gd name="connsiteY102" fmla="*/ 100823 h 564664"/>
                <a:gd name="connsiteX103" fmla="*/ 171742 w 606016"/>
                <a:gd name="connsiteY103" fmla="*/ 50457 h 564664"/>
                <a:gd name="connsiteX104" fmla="*/ 181850 w 606016"/>
                <a:gd name="connsiteY104" fmla="*/ 40366 h 564664"/>
                <a:gd name="connsiteX105" fmla="*/ 181850 w 606016"/>
                <a:gd name="connsiteY105" fmla="*/ 10092 h 564664"/>
                <a:gd name="connsiteX106" fmla="*/ 191958 w 606016"/>
                <a:gd name="connsiteY106" fmla="*/ 0 h 56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6016" h="564664">
                  <a:moveTo>
                    <a:pt x="484855" y="473988"/>
                  </a:moveTo>
                  <a:cubicBezTo>
                    <a:pt x="496001" y="473988"/>
                    <a:pt x="505037" y="483024"/>
                    <a:pt x="505037" y="494170"/>
                  </a:cubicBezTo>
                  <a:cubicBezTo>
                    <a:pt x="505037" y="505316"/>
                    <a:pt x="496001" y="514352"/>
                    <a:pt x="484855" y="514352"/>
                  </a:cubicBezTo>
                  <a:cubicBezTo>
                    <a:pt x="473709" y="514352"/>
                    <a:pt x="464673" y="505316"/>
                    <a:pt x="464673" y="494170"/>
                  </a:cubicBezTo>
                  <a:cubicBezTo>
                    <a:pt x="464673" y="483024"/>
                    <a:pt x="473709" y="473988"/>
                    <a:pt x="484855" y="473988"/>
                  </a:cubicBezTo>
                  <a:close/>
                  <a:moveTo>
                    <a:pt x="121232" y="473988"/>
                  </a:moveTo>
                  <a:cubicBezTo>
                    <a:pt x="132378" y="473988"/>
                    <a:pt x="141414" y="483024"/>
                    <a:pt x="141414" y="494170"/>
                  </a:cubicBezTo>
                  <a:cubicBezTo>
                    <a:pt x="141414" y="505316"/>
                    <a:pt x="132378" y="514352"/>
                    <a:pt x="121232" y="514352"/>
                  </a:cubicBezTo>
                  <a:cubicBezTo>
                    <a:pt x="110086" y="514352"/>
                    <a:pt x="101050" y="505316"/>
                    <a:pt x="101050" y="494170"/>
                  </a:cubicBezTo>
                  <a:cubicBezTo>
                    <a:pt x="101050" y="483024"/>
                    <a:pt x="110086" y="473988"/>
                    <a:pt x="121232" y="473988"/>
                  </a:cubicBezTo>
                  <a:close/>
                  <a:moveTo>
                    <a:pt x="484813" y="443658"/>
                  </a:moveTo>
                  <a:cubicBezTo>
                    <a:pt x="457016" y="443658"/>
                    <a:pt x="434364" y="466274"/>
                    <a:pt x="434364" y="494115"/>
                  </a:cubicBezTo>
                  <a:cubicBezTo>
                    <a:pt x="434364" y="521866"/>
                    <a:pt x="457016" y="544482"/>
                    <a:pt x="484813" y="544482"/>
                  </a:cubicBezTo>
                  <a:cubicBezTo>
                    <a:pt x="512699" y="544482"/>
                    <a:pt x="535352" y="521866"/>
                    <a:pt x="535352" y="494115"/>
                  </a:cubicBezTo>
                  <a:cubicBezTo>
                    <a:pt x="535352" y="466274"/>
                    <a:pt x="512699" y="443658"/>
                    <a:pt x="484813" y="443658"/>
                  </a:cubicBezTo>
                  <a:close/>
                  <a:moveTo>
                    <a:pt x="121293" y="443658"/>
                  </a:moveTo>
                  <a:cubicBezTo>
                    <a:pt x="93407" y="443658"/>
                    <a:pt x="70755" y="466274"/>
                    <a:pt x="70755" y="494115"/>
                  </a:cubicBezTo>
                  <a:cubicBezTo>
                    <a:pt x="70755" y="521866"/>
                    <a:pt x="93407" y="544482"/>
                    <a:pt x="121293" y="544482"/>
                  </a:cubicBezTo>
                  <a:cubicBezTo>
                    <a:pt x="149090" y="544482"/>
                    <a:pt x="171742" y="521866"/>
                    <a:pt x="171742" y="494115"/>
                  </a:cubicBezTo>
                  <a:cubicBezTo>
                    <a:pt x="171742" y="466274"/>
                    <a:pt x="149090" y="443658"/>
                    <a:pt x="121293" y="443658"/>
                  </a:cubicBezTo>
                  <a:close/>
                  <a:moveTo>
                    <a:pt x="303053" y="373109"/>
                  </a:moveTo>
                  <a:cubicBezTo>
                    <a:pt x="297458" y="373109"/>
                    <a:pt x="292945" y="377614"/>
                    <a:pt x="292945" y="383200"/>
                  </a:cubicBezTo>
                  <a:cubicBezTo>
                    <a:pt x="292945" y="388787"/>
                    <a:pt x="297458" y="393292"/>
                    <a:pt x="303053" y="393292"/>
                  </a:cubicBezTo>
                  <a:lnTo>
                    <a:pt x="343484" y="393292"/>
                  </a:lnTo>
                  <a:lnTo>
                    <a:pt x="343484" y="403383"/>
                  </a:lnTo>
                  <a:cubicBezTo>
                    <a:pt x="343484" y="408879"/>
                    <a:pt x="347997" y="413474"/>
                    <a:pt x="353592" y="413474"/>
                  </a:cubicBezTo>
                  <a:cubicBezTo>
                    <a:pt x="359097" y="413474"/>
                    <a:pt x="363610" y="408969"/>
                    <a:pt x="363610" y="403383"/>
                  </a:cubicBezTo>
                  <a:lnTo>
                    <a:pt x="363610" y="383200"/>
                  </a:lnTo>
                  <a:cubicBezTo>
                    <a:pt x="363610" y="377614"/>
                    <a:pt x="359097" y="373109"/>
                    <a:pt x="353592" y="373109"/>
                  </a:cubicBezTo>
                  <a:close/>
                  <a:moveTo>
                    <a:pt x="313169" y="282403"/>
                  </a:moveTo>
                  <a:lnTo>
                    <a:pt x="447018" y="282403"/>
                  </a:lnTo>
                  <a:lnTo>
                    <a:pt x="465069" y="311699"/>
                  </a:lnTo>
                  <a:cubicBezTo>
                    <a:pt x="467506" y="315665"/>
                    <a:pt x="470304" y="319271"/>
                    <a:pt x="473282" y="322696"/>
                  </a:cubicBezTo>
                  <a:lnTo>
                    <a:pt x="313169" y="322696"/>
                  </a:lnTo>
                  <a:close/>
                  <a:moveTo>
                    <a:pt x="161665" y="282403"/>
                  </a:moveTo>
                  <a:lnTo>
                    <a:pt x="292917" y="282403"/>
                  </a:lnTo>
                  <a:lnTo>
                    <a:pt x="292917" y="322696"/>
                  </a:lnTo>
                  <a:lnTo>
                    <a:pt x="161665" y="322696"/>
                  </a:lnTo>
                  <a:close/>
                  <a:moveTo>
                    <a:pt x="191958" y="0"/>
                  </a:moveTo>
                  <a:cubicBezTo>
                    <a:pt x="197553" y="0"/>
                    <a:pt x="202066" y="4505"/>
                    <a:pt x="202066" y="10092"/>
                  </a:cubicBezTo>
                  <a:lnTo>
                    <a:pt x="202066" y="40366"/>
                  </a:lnTo>
                  <a:lnTo>
                    <a:pt x="222281" y="40366"/>
                  </a:lnTo>
                  <a:lnTo>
                    <a:pt x="222281" y="10092"/>
                  </a:lnTo>
                  <a:cubicBezTo>
                    <a:pt x="222281" y="4505"/>
                    <a:pt x="226793" y="0"/>
                    <a:pt x="232389" y="0"/>
                  </a:cubicBezTo>
                  <a:cubicBezTo>
                    <a:pt x="237894" y="0"/>
                    <a:pt x="242406" y="4505"/>
                    <a:pt x="242406" y="10092"/>
                  </a:cubicBezTo>
                  <a:lnTo>
                    <a:pt x="242406" y="40366"/>
                  </a:lnTo>
                  <a:cubicBezTo>
                    <a:pt x="248002" y="40366"/>
                    <a:pt x="252514" y="44871"/>
                    <a:pt x="252514" y="50457"/>
                  </a:cubicBezTo>
                  <a:lnTo>
                    <a:pt x="252514" y="100823"/>
                  </a:lnTo>
                  <a:cubicBezTo>
                    <a:pt x="252514" y="106410"/>
                    <a:pt x="248002" y="110915"/>
                    <a:pt x="242406" y="110915"/>
                  </a:cubicBezTo>
                  <a:lnTo>
                    <a:pt x="221379" y="110915"/>
                  </a:lnTo>
                  <a:cubicBezTo>
                    <a:pt x="216505" y="139477"/>
                    <a:pt x="191597" y="161371"/>
                    <a:pt x="161634" y="161371"/>
                  </a:cubicBezTo>
                  <a:cubicBezTo>
                    <a:pt x="128243" y="161371"/>
                    <a:pt x="101078" y="134251"/>
                    <a:pt x="101078" y="100823"/>
                  </a:cubicBezTo>
                  <a:cubicBezTo>
                    <a:pt x="101078" y="78568"/>
                    <a:pt x="82938" y="60548"/>
                    <a:pt x="60647" y="60548"/>
                  </a:cubicBezTo>
                  <a:cubicBezTo>
                    <a:pt x="38355" y="60548"/>
                    <a:pt x="20216" y="78568"/>
                    <a:pt x="20216" y="100823"/>
                  </a:cubicBezTo>
                  <a:lnTo>
                    <a:pt x="20216" y="231921"/>
                  </a:lnTo>
                  <a:cubicBezTo>
                    <a:pt x="20216" y="265258"/>
                    <a:pt x="47470" y="292469"/>
                    <a:pt x="80862" y="292469"/>
                  </a:cubicBezTo>
                  <a:cubicBezTo>
                    <a:pt x="81314" y="292469"/>
                    <a:pt x="81675" y="292649"/>
                    <a:pt x="82126" y="292649"/>
                  </a:cubicBezTo>
                  <a:lnTo>
                    <a:pt x="105229" y="255167"/>
                  </a:lnTo>
                  <a:cubicBezTo>
                    <a:pt x="117864" y="234624"/>
                    <a:pt x="140697" y="221829"/>
                    <a:pt x="164883" y="221829"/>
                  </a:cubicBezTo>
                  <a:lnTo>
                    <a:pt x="370559" y="221829"/>
                  </a:lnTo>
                  <a:cubicBezTo>
                    <a:pt x="394655" y="221829"/>
                    <a:pt x="417578" y="234624"/>
                    <a:pt x="430213" y="255077"/>
                  </a:cubicBezTo>
                  <a:lnTo>
                    <a:pt x="434545" y="262195"/>
                  </a:lnTo>
                  <a:lnTo>
                    <a:pt x="159920" y="262195"/>
                  </a:lnTo>
                  <a:cubicBezTo>
                    <a:pt x="149722" y="262195"/>
                    <a:pt x="141419" y="270484"/>
                    <a:pt x="141419" y="280575"/>
                  </a:cubicBezTo>
                  <a:lnTo>
                    <a:pt x="141419" y="324455"/>
                  </a:lnTo>
                  <a:cubicBezTo>
                    <a:pt x="141419" y="334546"/>
                    <a:pt x="149722" y="342835"/>
                    <a:pt x="159920" y="342835"/>
                  </a:cubicBezTo>
                  <a:lnTo>
                    <a:pt x="498801" y="342835"/>
                  </a:lnTo>
                  <a:cubicBezTo>
                    <a:pt x="511075" y="349322"/>
                    <a:pt x="524793" y="352926"/>
                    <a:pt x="538962" y="352926"/>
                  </a:cubicBezTo>
                  <a:lnTo>
                    <a:pt x="580566" y="352926"/>
                  </a:lnTo>
                  <a:cubicBezTo>
                    <a:pt x="594645" y="352926"/>
                    <a:pt x="606016" y="364369"/>
                    <a:pt x="606016" y="378335"/>
                  </a:cubicBezTo>
                  <a:lnTo>
                    <a:pt x="606016" y="403383"/>
                  </a:lnTo>
                  <a:lnTo>
                    <a:pt x="555567" y="403383"/>
                  </a:lnTo>
                  <a:cubicBezTo>
                    <a:pt x="549972" y="403383"/>
                    <a:pt x="545460" y="407888"/>
                    <a:pt x="545460" y="413474"/>
                  </a:cubicBezTo>
                  <a:cubicBezTo>
                    <a:pt x="545460" y="418971"/>
                    <a:pt x="549972" y="423476"/>
                    <a:pt x="555567" y="423476"/>
                  </a:cubicBezTo>
                  <a:lnTo>
                    <a:pt x="606016" y="423476"/>
                  </a:lnTo>
                  <a:lnTo>
                    <a:pt x="606016" y="463391"/>
                  </a:lnTo>
                  <a:cubicBezTo>
                    <a:pt x="606016" y="485916"/>
                    <a:pt x="587696" y="504206"/>
                    <a:pt x="565224" y="504206"/>
                  </a:cubicBezTo>
                  <a:lnTo>
                    <a:pt x="554755" y="504206"/>
                  </a:lnTo>
                  <a:cubicBezTo>
                    <a:pt x="549791" y="538355"/>
                    <a:pt x="520371" y="564664"/>
                    <a:pt x="484813" y="564664"/>
                  </a:cubicBezTo>
                  <a:cubicBezTo>
                    <a:pt x="449345" y="564664"/>
                    <a:pt x="419924" y="538355"/>
                    <a:pt x="414961" y="504206"/>
                  </a:cubicBezTo>
                  <a:lnTo>
                    <a:pt x="191145" y="504206"/>
                  </a:lnTo>
                  <a:cubicBezTo>
                    <a:pt x="186182" y="538355"/>
                    <a:pt x="156761" y="564664"/>
                    <a:pt x="121293" y="564664"/>
                  </a:cubicBezTo>
                  <a:cubicBezTo>
                    <a:pt x="85736" y="564664"/>
                    <a:pt x="56315" y="538355"/>
                    <a:pt x="51351" y="504206"/>
                  </a:cubicBezTo>
                  <a:lnTo>
                    <a:pt x="35377" y="504206"/>
                  </a:lnTo>
                  <a:cubicBezTo>
                    <a:pt x="15884" y="504206"/>
                    <a:pt x="90" y="488349"/>
                    <a:pt x="90" y="468977"/>
                  </a:cubicBezTo>
                  <a:lnTo>
                    <a:pt x="0" y="423476"/>
                  </a:lnTo>
                  <a:lnTo>
                    <a:pt x="50539" y="423476"/>
                  </a:lnTo>
                  <a:cubicBezTo>
                    <a:pt x="56134" y="423476"/>
                    <a:pt x="60647" y="418971"/>
                    <a:pt x="60647" y="413474"/>
                  </a:cubicBezTo>
                  <a:cubicBezTo>
                    <a:pt x="60647" y="407888"/>
                    <a:pt x="56134" y="403383"/>
                    <a:pt x="50539" y="403383"/>
                  </a:cubicBezTo>
                  <a:lnTo>
                    <a:pt x="0" y="403383"/>
                  </a:lnTo>
                  <a:lnTo>
                    <a:pt x="0" y="378335"/>
                  </a:lnTo>
                  <a:cubicBezTo>
                    <a:pt x="0" y="371577"/>
                    <a:pt x="2617" y="365180"/>
                    <a:pt x="7400" y="360405"/>
                  </a:cubicBezTo>
                  <a:cubicBezTo>
                    <a:pt x="12274" y="355630"/>
                    <a:pt x="18681" y="352926"/>
                    <a:pt x="25540" y="352926"/>
                  </a:cubicBezTo>
                  <a:cubicBezTo>
                    <a:pt x="37814" y="352926"/>
                    <a:pt x="48824" y="346710"/>
                    <a:pt x="54961" y="336798"/>
                  </a:cubicBezTo>
                  <a:lnTo>
                    <a:pt x="70303" y="311840"/>
                  </a:lnTo>
                  <a:cubicBezTo>
                    <a:pt x="30775" y="306614"/>
                    <a:pt x="90" y="272827"/>
                    <a:pt x="90" y="231921"/>
                  </a:cubicBezTo>
                  <a:lnTo>
                    <a:pt x="90" y="100823"/>
                  </a:lnTo>
                  <a:cubicBezTo>
                    <a:pt x="90" y="67486"/>
                    <a:pt x="27255" y="40366"/>
                    <a:pt x="60647" y="40366"/>
                  </a:cubicBezTo>
                  <a:cubicBezTo>
                    <a:pt x="94039" y="40366"/>
                    <a:pt x="121293" y="67486"/>
                    <a:pt x="121293" y="100823"/>
                  </a:cubicBezTo>
                  <a:cubicBezTo>
                    <a:pt x="121293" y="123078"/>
                    <a:pt x="139343" y="141189"/>
                    <a:pt x="161634" y="141189"/>
                  </a:cubicBezTo>
                  <a:cubicBezTo>
                    <a:pt x="180406" y="141189"/>
                    <a:pt x="196109" y="128304"/>
                    <a:pt x="200622" y="110915"/>
                  </a:cubicBezTo>
                  <a:lnTo>
                    <a:pt x="181850" y="110915"/>
                  </a:lnTo>
                  <a:cubicBezTo>
                    <a:pt x="176255" y="110915"/>
                    <a:pt x="171742" y="106410"/>
                    <a:pt x="171742" y="100823"/>
                  </a:cubicBezTo>
                  <a:lnTo>
                    <a:pt x="171742" y="50457"/>
                  </a:lnTo>
                  <a:cubicBezTo>
                    <a:pt x="171742" y="44871"/>
                    <a:pt x="176255" y="40366"/>
                    <a:pt x="181850" y="40366"/>
                  </a:cubicBezTo>
                  <a:lnTo>
                    <a:pt x="181850" y="10092"/>
                  </a:lnTo>
                  <a:cubicBezTo>
                    <a:pt x="181850" y="4505"/>
                    <a:pt x="186362" y="0"/>
                    <a:pt x="191958"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29" name="iś1îḓê"/>
            <p:cNvSpPr/>
            <p:nvPr/>
          </p:nvSpPr>
          <p:spPr bwMode="auto">
            <a:xfrm>
              <a:off x="5924135" y="1186438"/>
              <a:ext cx="333138" cy="299788"/>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1"/>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30" name="išľíḓé"/>
            <p:cNvSpPr/>
            <p:nvPr/>
          </p:nvSpPr>
          <p:spPr bwMode="auto">
            <a:xfrm>
              <a:off x="9594763" y="1183282"/>
              <a:ext cx="333138" cy="306100"/>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8909" h="559493">
                  <a:moveTo>
                    <a:pt x="470180" y="272856"/>
                  </a:moveTo>
                  <a:lnTo>
                    <a:pt x="476019" y="272856"/>
                  </a:lnTo>
                  <a:lnTo>
                    <a:pt x="481953" y="272856"/>
                  </a:lnTo>
                  <a:cubicBezTo>
                    <a:pt x="509171" y="272856"/>
                    <a:pt x="531210" y="294963"/>
                    <a:pt x="531210" y="322056"/>
                  </a:cubicBezTo>
                  <a:lnTo>
                    <a:pt x="531210" y="376617"/>
                  </a:lnTo>
                  <a:cubicBezTo>
                    <a:pt x="531210" y="385084"/>
                    <a:pt x="526783" y="392609"/>
                    <a:pt x="520096" y="397031"/>
                  </a:cubicBezTo>
                  <a:lnTo>
                    <a:pt x="520096" y="449711"/>
                  </a:lnTo>
                  <a:cubicBezTo>
                    <a:pt x="520096" y="450558"/>
                    <a:pt x="520661" y="451498"/>
                    <a:pt x="521509" y="451875"/>
                  </a:cubicBezTo>
                  <a:cubicBezTo>
                    <a:pt x="528949" y="455450"/>
                    <a:pt x="565492" y="473888"/>
                    <a:pt x="599209" y="501639"/>
                  </a:cubicBezTo>
                  <a:cubicBezTo>
                    <a:pt x="605425" y="506625"/>
                    <a:pt x="608909" y="514150"/>
                    <a:pt x="608909" y="522052"/>
                  </a:cubicBezTo>
                  <a:lnTo>
                    <a:pt x="608909" y="559493"/>
                  </a:lnTo>
                  <a:lnTo>
                    <a:pt x="483083" y="559493"/>
                  </a:lnTo>
                  <a:lnTo>
                    <a:pt x="483083" y="515561"/>
                  </a:lnTo>
                  <a:cubicBezTo>
                    <a:pt x="483083" y="499475"/>
                    <a:pt x="476019" y="484424"/>
                    <a:pt x="463587" y="474264"/>
                  </a:cubicBezTo>
                  <a:cubicBezTo>
                    <a:pt x="453039" y="465609"/>
                    <a:pt x="442302" y="457707"/>
                    <a:pt x="431848" y="450558"/>
                  </a:cubicBezTo>
                  <a:cubicBezTo>
                    <a:pt x="431848" y="450370"/>
                    <a:pt x="431942" y="450087"/>
                    <a:pt x="431942" y="449711"/>
                  </a:cubicBezTo>
                  <a:lnTo>
                    <a:pt x="431942" y="397031"/>
                  </a:lnTo>
                  <a:cubicBezTo>
                    <a:pt x="425350" y="392609"/>
                    <a:pt x="420923" y="385084"/>
                    <a:pt x="420923" y="376617"/>
                  </a:cubicBezTo>
                  <a:lnTo>
                    <a:pt x="420923" y="322056"/>
                  </a:lnTo>
                  <a:cubicBezTo>
                    <a:pt x="420923" y="294775"/>
                    <a:pt x="443056" y="272856"/>
                    <a:pt x="470180" y="272856"/>
                  </a:cubicBezTo>
                  <a:close/>
                  <a:moveTo>
                    <a:pt x="127004" y="272856"/>
                  </a:moveTo>
                  <a:lnTo>
                    <a:pt x="132940" y="272856"/>
                  </a:lnTo>
                  <a:lnTo>
                    <a:pt x="138781" y="272856"/>
                  </a:lnTo>
                  <a:cubicBezTo>
                    <a:pt x="166104" y="272856"/>
                    <a:pt x="188057" y="294963"/>
                    <a:pt x="188057" y="322056"/>
                  </a:cubicBezTo>
                  <a:lnTo>
                    <a:pt x="188057" y="376617"/>
                  </a:lnTo>
                  <a:cubicBezTo>
                    <a:pt x="188057" y="385084"/>
                    <a:pt x="183629" y="392609"/>
                    <a:pt x="177033" y="397031"/>
                  </a:cubicBezTo>
                  <a:lnTo>
                    <a:pt x="177033" y="449711"/>
                  </a:lnTo>
                  <a:cubicBezTo>
                    <a:pt x="177033" y="449993"/>
                    <a:pt x="177128" y="450370"/>
                    <a:pt x="177128" y="450558"/>
                  </a:cubicBezTo>
                  <a:cubicBezTo>
                    <a:pt x="166670" y="457613"/>
                    <a:pt x="155929" y="465609"/>
                    <a:pt x="145376" y="474264"/>
                  </a:cubicBezTo>
                  <a:cubicBezTo>
                    <a:pt x="133034" y="484424"/>
                    <a:pt x="125874" y="499475"/>
                    <a:pt x="125874" y="515561"/>
                  </a:cubicBezTo>
                  <a:lnTo>
                    <a:pt x="125874" y="559493"/>
                  </a:lnTo>
                  <a:lnTo>
                    <a:pt x="0" y="559493"/>
                  </a:lnTo>
                  <a:lnTo>
                    <a:pt x="0" y="522052"/>
                  </a:lnTo>
                  <a:cubicBezTo>
                    <a:pt x="0" y="514150"/>
                    <a:pt x="3486" y="506625"/>
                    <a:pt x="9704" y="501639"/>
                  </a:cubicBezTo>
                  <a:cubicBezTo>
                    <a:pt x="43434" y="473888"/>
                    <a:pt x="79990" y="455450"/>
                    <a:pt x="87433" y="451875"/>
                  </a:cubicBezTo>
                  <a:cubicBezTo>
                    <a:pt x="88281" y="451498"/>
                    <a:pt x="88846" y="450558"/>
                    <a:pt x="88846" y="449711"/>
                  </a:cubicBezTo>
                  <a:lnTo>
                    <a:pt x="88846" y="397031"/>
                  </a:lnTo>
                  <a:cubicBezTo>
                    <a:pt x="82157" y="392609"/>
                    <a:pt x="77729" y="385084"/>
                    <a:pt x="77729" y="376617"/>
                  </a:cubicBezTo>
                  <a:lnTo>
                    <a:pt x="77729" y="322056"/>
                  </a:lnTo>
                  <a:cubicBezTo>
                    <a:pt x="77729" y="294775"/>
                    <a:pt x="99870" y="272856"/>
                    <a:pt x="127004" y="272856"/>
                  </a:cubicBezTo>
                  <a:close/>
                  <a:moveTo>
                    <a:pt x="297600" y="222543"/>
                  </a:moveTo>
                  <a:lnTo>
                    <a:pt x="304477" y="222543"/>
                  </a:lnTo>
                  <a:lnTo>
                    <a:pt x="311260" y="222543"/>
                  </a:lnTo>
                  <a:cubicBezTo>
                    <a:pt x="343291" y="222543"/>
                    <a:pt x="369198" y="248506"/>
                    <a:pt x="369198" y="280395"/>
                  </a:cubicBezTo>
                  <a:lnTo>
                    <a:pt x="369198" y="344455"/>
                  </a:lnTo>
                  <a:cubicBezTo>
                    <a:pt x="369198" y="354520"/>
                    <a:pt x="364017" y="363456"/>
                    <a:pt x="356198" y="368536"/>
                  </a:cubicBezTo>
                  <a:lnTo>
                    <a:pt x="356198" y="430432"/>
                  </a:lnTo>
                  <a:cubicBezTo>
                    <a:pt x="356198" y="431561"/>
                    <a:pt x="356857" y="432502"/>
                    <a:pt x="357893" y="433066"/>
                  </a:cubicBezTo>
                  <a:cubicBezTo>
                    <a:pt x="366655" y="437299"/>
                    <a:pt x="409520" y="459029"/>
                    <a:pt x="449275" y="491576"/>
                  </a:cubicBezTo>
                  <a:cubicBezTo>
                    <a:pt x="456435" y="497502"/>
                    <a:pt x="460580" y="506251"/>
                    <a:pt x="460580" y="515563"/>
                  </a:cubicBezTo>
                  <a:lnTo>
                    <a:pt x="460580" y="559493"/>
                  </a:lnTo>
                  <a:lnTo>
                    <a:pt x="304477" y="559493"/>
                  </a:lnTo>
                  <a:lnTo>
                    <a:pt x="148187" y="559493"/>
                  </a:lnTo>
                  <a:lnTo>
                    <a:pt x="148187" y="515563"/>
                  </a:lnTo>
                  <a:cubicBezTo>
                    <a:pt x="148187" y="506251"/>
                    <a:pt x="152332" y="497502"/>
                    <a:pt x="159492" y="491576"/>
                  </a:cubicBezTo>
                  <a:cubicBezTo>
                    <a:pt x="199342" y="459029"/>
                    <a:pt x="242206" y="437299"/>
                    <a:pt x="250967" y="433066"/>
                  </a:cubicBezTo>
                  <a:cubicBezTo>
                    <a:pt x="252004" y="432502"/>
                    <a:pt x="252569" y="431561"/>
                    <a:pt x="252569" y="430432"/>
                  </a:cubicBezTo>
                  <a:lnTo>
                    <a:pt x="252569" y="368536"/>
                  </a:lnTo>
                  <a:cubicBezTo>
                    <a:pt x="244844" y="363456"/>
                    <a:pt x="239663" y="354520"/>
                    <a:pt x="239663" y="344455"/>
                  </a:cubicBezTo>
                  <a:lnTo>
                    <a:pt x="239663" y="280395"/>
                  </a:lnTo>
                  <a:cubicBezTo>
                    <a:pt x="239663" y="248412"/>
                    <a:pt x="265664" y="222543"/>
                    <a:pt x="297600" y="222543"/>
                  </a:cubicBezTo>
                  <a:close/>
                  <a:moveTo>
                    <a:pt x="492495" y="40775"/>
                  </a:moveTo>
                  <a:cubicBezTo>
                    <a:pt x="488350" y="40775"/>
                    <a:pt x="487596" y="41528"/>
                    <a:pt x="487502" y="45854"/>
                  </a:cubicBezTo>
                  <a:lnTo>
                    <a:pt x="487502" y="51498"/>
                  </a:lnTo>
                  <a:cubicBezTo>
                    <a:pt x="487502" y="57142"/>
                    <a:pt x="487502" y="56953"/>
                    <a:pt x="482038" y="59023"/>
                  </a:cubicBezTo>
                  <a:cubicBezTo>
                    <a:pt x="469036" y="63726"/>
                    <a:pt x="460934" y="72661"/>
                    <a:pt x="460086" y="86864"/>
                  </a:cubicBezTo>
                  <a:cubicBezTo>
                    <a:pt x="459332" y="99374"/>
                    <a:pt x="465833" y="107934"/>
                    <a:pt x="476196" y="114048"/>
                  </a:cubicBezTo>
                  <a:cubicBezTo>
                    <a:pt x="482414" y="117810"/>
                    <a:pt x="489480" y="120068"/>
                    <a:pt x="496264" y="123078"/>
                  </a:cubicBezTo>
                  <a:cubicBezTo>
                    <a:pt x="498902" y="124206"/>
                    <a:pt x="501445" y="125617"/>
                    <a:pt x="503706" y="127310"/>
                  </a:cubicBezTo>
                  <a:cubicBezTo>
                    <a:pt x="510207" y="132578"/>
                    <a:pt x="508982" y="141513"/>
                    <a:pt x="501257" y="144900"/>
                  </a:cubicBezTo>
                  <a:cubicBezTo>
                    <a:pt x="497112" y="146781"/>
                    <a:pt x="492778" y="147157"/>
                    <a:pt x="488350" y="146687"/>
                  </a:cubicBezTo>
                  <a:cubicBezTo>
                    <a:pt x="481472" y="145746"/>
                    <a:pt x="474783" y="144053"/>
                    <a:pt x="468659" y="140761"/>
                  </a:cubicBezTo>
                  <a:cubicBezTo>
                    <a:pt x="464985" y="138880"/>
                    <a:pt x="463949" y="139350"/>
                    <a:pt x="462724" y="143301"/>
                  </a:cubicBezTo>
                  <a:cubicBezTo>
                    <a:pt x="461593" y="146687"/>
                    <a:pt x="460557" y="150167"/>
                    <a:pt x="459709" y="153553"/>
                  </a:cubicBezTo>
                  <a:cubicBezTo>
                    <a:pt x="458484" y="158162"/>
                    <a:pt x="458861" y="159291"/>
                    <a:pt x="463572" y="161548"/>
                  </a:cubicBezTo>
                  <a:cubicBezTo>
                    <a:pt x="469130" y="164370"/>
                    <a:pt x="475160" y="165687"/>
                    <a:pt x="481284" y="166722"/>
                  </a:cubicBezTo>
                  <a:cubicBezTo>
                    <a:pt x="486089" y="167474"/>
                    <a:pt x="486371" y="167568"/>
                    <a:pt x="486371" y="172647"/>
                  </a:cubicBezTo>
                  <a:lnTo>
                    <a:pt x="486371" y="179420"/>
                  </a:lnTo>
                  <a:cubicBezTo>
                    <a:pt x="486371" y="182147"/>
                    <a:pt x="487690" y="183934"/>
                    <a:pt x="490611" y="183934"/>
                  </a:cubicBezTo>
                  <a:cubicBezTo>
                    <a:pt x="493908" y="184029"/>
                    <a:pt x="497300" y="184029"/>
                    <a:pt x="500503" y="183934"/>
                  </a:cubicBezTo>
                  <a:cubicBezTo>
                    <a:pt x="503330" y="183934"/>
                    <a:pt x="504649" y="182430"/>
                    <a:pt x="504649" y="179608"/>
                  </a:cubicBezTo>
                  <a:cubicBezTo>
                    <a:pt x="504649" y="176504"/>
                    <a:pt x="504837" y="173494"/>
                    <a:pt x="504649" y="170390"/>
                  </a:cubicBezTo>
                  <a:cubicBezTo>
                    <a:pt x="504554" y="167192"/>
                    <a:pt x="505968" y="165687"/>
                    <a:pt x="508982" y="164840"/>
                  </a:cubicBezTo>
                  <a:cubicBezTo>
                    <a:pt x="515860" y="162959"/>
                    <a:pt x="521889" y="159197"/>
                    <a:pt x="526412" y="153647"/>
                  </a:cubicBezTo>
                  <a:cubicBezTo>
                    <a:pt x="538942" y="138221"/>
                    <a:pt x="534231" y="115835"/>
                    <a:pt x="516237" y="105865"/>
                  </a:cubicBezTo>
                  <a:cubicBezTo>
                    <a:pt x="510584" y="102761"/>
                    <a:pt x="504554" y="100503"/>
                    <a:pt x="498619" y="97964"/>
                  </a:cubicBezTo>
                  <a:cubicBezTo>
                    <a:pt x="495227" y="96647"/>
                    <a:pt x="492024" y="94860"/>
                    <a:pt x="489104" y="92602"/>
                  </a:cubicBezTo>
                  <a:cubicBezTo>
                    <a:pt x="483451" y="88087"/>
                    <a:pt x="484581" y="80657"/>
                    <a:pt x="491270" y="77835"/>
                  </a:cubicBezTo>
                  <a:cubicBezTo>
                    <a:pt x="493155" y="76894"/>
                    <a:pt x="495133" y="76706"/>
                    <a:pt x="497112" y="76518"/>
                  </a:cubicBezTo>
                  <a:cubicBezTo>
                    <a:pt x="504931" y="76142"/>
                    <a:pt x="512186" y="77553"/>
                    <a:pt x="519252" y="80939"/>
                  </a:cubicBezTo>
                  <a:cubicBezTo>
                    <a:pt x="522643" y="82538"/>
                    <a:pt x="523868" y="82067"/>
                    <a:pt x="524998" y="78399"/>
                  </a:cubicBezTo>
                  <a:cubicBezTo>
                    <a:pt x="526317" y="74543"/>
                    <a:pt x="527260" y="70686"/>
                    <a:pt x="528390" y="66736"/>
                  </a:cubicBezTo>
                  <a:cubicBezTo>
                    <a:pt x="529144" y="64102"/>
                    <a:pt x="528296" y="62503"/>
                    <a:pt x="525752" y="61374"/>
                  </a:cubicBezTo>
                  <a:cubicBezTo>
                    <a:pt x="521230" y="59399"/>
                    <a:pt x="516708" y="57988"/>
                    <a:pt x="511809" y="57236"/>
                  </a:cubicBezTo>
                  <a:cubicBezTo>
                    <a:pt x="505402" y="56201"/>
                    <a:pt x="505402" y="56201"/>
                    <a:pt x="505402" y="49805"/>
                  </a:cubicBezTo>
                  <a:cubicBezTo>
                    <a:pt x="505402" y="40775"/>
                    <a:pt x="505402" y="40775"/>
                    <a:pt x="496358" y="40775"/>
                  </a:cubicBezTo>
                  <a:close/>
                  <a:moveTo>
                    <a:pt x="496111" y="0"/>
                  </a:moveTo>
                  <a:cubicBezTo>
                    <a:pt x="524951" y="0"/>
                    <a:pt x="553781" y="10958"/>
                    <a:pt x="575779" y="32874"/>
                  </a:cubicBezTo>
                  <a:cubicBezTo>
                    <a:pt x="619776" y="76894"/>
                    <a:pt x="619776" y="148192"/>
                    <a:pt x="575779" y="192024"/>
                  </a:cubicBezTo>
                  <a:cubicBezTo>
                    <a:pt x="538754" y="229083"/>
                    <a:pt x="482226" y="234821"/>
                    <a:pt x="438982" y="209519"/>
                  </a:cubicBezTo>
                  <a:lnTo>
                    <a:pt x="438700" y="209237"/>
                  </a:lnTo>
                  <a:cubicBezTo>
                    <a:pt x="421742" y="222029"/>
                    <a:pt x="403559" y="224286"/>
                    <a:pt x="390840" y="222311"/>
                  </a:cubicBezTo>
                  <a:cubicBezTo>
                    <a:pt x="386600" y="221653"/>
                    <a:pt x="385752" y="215915"/>
                    <a:pt x="389615" y="214034"/>
                  </a:cubicBezTo>
                  <a:cubicBezTo>
                    <a:pt x="401297" y="208202"/>
                    <a:pt x="408552" y="196915"/>
                    <a:pt x="412886" y="187791"/>
                  </a:cubicBezTo>
                  <a:lnTo>
                    <a:pt x="411567" y="187038"/>
                  </a:lnTo>
                  <a:cubicBezTo>
                    <a:pt x="372374" y="142736"/>
                    <a:pt x="374070" y="75201"/>
                    <a:pt x="416371" y="32874"/>
                  </a:cubicBezTo>
                  <a:cubicBezTo>
                    <a:pt x="438417" y="10958"/>
                    <a:pt x="467270" y="0"/>
                    <a:pt x="496111"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操作系统与用户之间的接口</a:t>
            </a:r>
            <a:endParaRPr lang="zh-CN" altLang="en-US" sz="2800" b="1" dirty="0">
              <a:solidFill>
                <a:schemeClr val="bg1"/>
              </a:solidFill>
            </a:endParaRPr>
          </a:p>
        </p:txBody>
      </p:sp>
      <p:sp>
        <p:nvSpPr>
          <p:cNvPr id="13"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4"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5" name="îṧľîdé"/>
          <p:cNvSpPr/>
          <p:nvPr/>
        </p:nvSpPr>
        <p:spPr>
          <a:xfrm>
            <a:off x="3612380" y="192482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6" name="内容占位符 2"/>
          <p:cNvSpPr txBox="1"/>
          <p:nvPr/>
        </p:nvSpPr>
        <p:spPr>
          <a:xfrm>
            <a:off x="894703" y="2556676"/>
            <a:ext cx="430836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None/>
              <a:defRPr/>
            </a:pPr>
            <a:r>
              <a:rPr lang="zh-CN" altLang="en-US" sz="2500" dirty="0">
                <a:solidFill>
                  <a:srgbClr val="FF0000"/>
                </a:solidFill>
              </a:rPr>
              <a:t>用户接口</a:t>
            </a:r>
            <a:endParaRPr lang="zh-CN" altLang="en-US" sz="2500" dirty="0">
              <a:solidFill>
                <a:srgbClr val="FF0000"/>
              </a:solidFill>
            </a:endParaRPr>
          </a:p>
          <a:p>
            <a:pPr marL="342900" lvl="1" indent="-342900">
              <a:lnSpc>
                <a:spcPct val="132000"/>
              </a:lnSpc>
              <a:spcBef>
                <a:spcPts val="30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联机用户接口</a:t>
            </a:r>
            <a:endParaRPr lang="zh-CN" altLang="en-US" sz="24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命令行方式</a:t>
            </a:r>
            <a:r>
              <a:rPr lang="en-US" altLang="zh-CN" sz="2200" dirty="0">
                <a:solidFill>
                  <a:schemeClr val="tx1">
                    <a:lumMod val="65000"/>
                    <a:lumOff val="35000"/>
                  </a:schemeClr>
                </a:solidFill>
              </a:rPr>
              <a:t>CLI</a:t>
            </a:r>
            <a:r>
              <a:rPr lang="zh-CN" altLang="en-US" sz="2200" dirty="0">
                <a:solidFill>
                  <a:schemeClr val="tx1">
                    <a:lumMod val="65000"/>
                    <a:lumOff val="35000"/>
                  </a:schemeClr>
                </a:solidFill>
              </a:rPr>
              <a:t>。</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脱机用户接口</a:t>
            </a:r>
            <a:endParaRPr lang="zh-CN" altLang="en-US" sz="24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批处理系统：作业说明书（作业控制语言</a:t>
            </a:r>
            <a:r>
              <a:rPr lang="en-US" altLang="zh-CN" sz="2200" dirty="0">
                <a:solidFill>
                  <a:schemeClr val="tx1">
                    <a:lumMod val="65000"/>
                    <a:lumOff val="35000"/>
                  </a:schemeClr>
                </a:solidFill>
              </a:rPr>
              <a:t>JCL</a:t>
            </a:r>
            <a:r>
              <a:rPr lang="zh-CN" altLang="en-US" sz="2200" dirty="0">
                <a:solidFill>
                  <a:schemeClr val="tx1">
                    <a:lumMod val="65000"/>
                    <a:lumOff val="35000"/>
                  </a:schemeClr>
                </a:solidFill>
              </a:rPr>
              <a:t>）。</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图形用户接口</a:t>
            </a:r>
            <a:r>
              <a:rPr lang="en-US" altLang="zh-CN" sz="2400" dirty="0">
                <a:solidFill>
                  <a:schemeClr val="tx1">
                    <a:lumMod val="65000"/>
                    <a:lumOff val="35000"/>
                  </a:schemeClr>
                </a:solidFill>
              </a:rPr>
              <a:t>GUI</a:t>
            </a:r>
            <a:endParaRPr lang="en-US" altLang="zh-CN" sz="2400" dirty="0">
              <a:solidFill>
                <a:schemeClr val="tx1">
                  <a:lumMod val="65000"/>
                  <a:lumOff val="35000"/>
                </a:schemeClr>
              </a:solidFill>
            </a:endParaRPr>
          </a:p>
        </p:txBody>
      </p:sp>
      <p:sp>
        <p:nvSpPr>
          <p:cNvPr id="17" name="内容占位符 2"/>
          <p:cNvSpPr txBox="1"/>
          <p:nvPr/>
        </p:nvSpPr>
        <p:spPr>
          <a:xfrm>
            <a:off x="8129918" y="3209288"/>
            <a:ext cx="3216369"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500" dirty="0">
                <a:solidFill>
                  <a:srgbClr val="FF0000"/>
                </a:solidFill>
              </a:rPr>
              <a:t>程序接口</a:t>
            </a:r>
            <a:endParaRPr lang="zh-CN" altLang="en-US" sz="2500" dirty="0">
              <a:solidFill>
                <a:srgbClr val="FF0000"/>
              </a:solidFill>
            </a:endParaRP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系统调用：能完成特定功能的子程序。</a:t>
            </a:r>
            <a:endParaRPr lang="zh-CN" altLang="en-US" sz="2400" dirty="0">
              <a:solidFill>
                <a:schemeClr val="tx1">
                  <a:lumMod val="65000"/>
                  <a:lumOff val="35000"/>
                </a:schemeClr>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现代操作系统的新功能</a:t>
            </a:r>
            <a:endParaRPr lang="zh-CN" altLang="en-US" sz="2800" b="1" dirty="0">
              <a:solidFill>
                <a:schemeClr val="bg1"/>
              </a:solidFill>
            </a:endParaRPr>
          </a:p>
        </p:txBody>
      </p:sp>
      <p:sp>
        <p:nvSpPr>
          <p:cNvPr id="39" name="îśḻiďé"/>
          <p:cNvSpPr/>
          <p:nvPr/>
        </p:nvSpPr>
        <p:spPr bwMode="auto">
          <a:xfrm>
            <a:off x="2335862" y="178882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40" name="išľiďe"/>
          <p:cNvSpPr/>
          <p:nvPr/>
        </p:nvSpPr>
        <p:spPr bwMode="auto">
          <a:xfrm>
            <a:off x="2938745" y="323061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43" name="íśľîḋé"/>
          <p:cNvSpPr/>
          <p:nvPr/>
        </p:nvSpPr>
        <p:spPr bwMode="auto">
          <a:xfrm>
            <a:off x="2341979" y="467497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44" name="ïṡḷidè"/>
          <p:cNvSpPr/>
          <p:nvPr/>
        </p:nvSpPr>
        <p:spPr bwMode="auto">
          <a:xfrm>
            <a:off x="3190088" y="348173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5" name="iṡļîḍé"/>
          <p:cNvSpPr/>
          <p:nvPr/>
        </p:nvSpPr>
        <p:spPr bwMode="auto">
          <a:xfrm>
            <a:off x="2592839" y="492658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8" name="ïslíḓé"/>
          <p:cNvSpPr/>
          <p:nvPr/>
        </p:nvSpPr>
        <p:spPr bwMode="auto">
          <a:xfrm>
            <a:off x="2587350" y="204221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51" name="ïṣľîḋê"/>
          <p:cNvSpPr/>
          <p:nvPr/>
        </p:nvSpPr>
        <p:spPr>
          <a:xfrm>
            <a:off x="3255701" y="1637882"/>
            <a:ext cx="8051950" cy="1271414"/>
          </a:xfrm>
          <a:prstGeom prst="rect">
            <a:avLst/>
          </a:prstGeom>
        </p:spPr>
        <p:txBody>
          <a:bodyPr wrap="square" lIns="91440" tIns="45720" rIns="91440" bIns="45720" anchor="ctr" anchorCtr="0">
            <a:normAutofit/>
          </a:bodyPr>
          <a:lstStyle/>
          <a:p>
            <a:pPr>
              <a:lnSpc>
                <a:spcPct val="150000"/>
              </a:lnSpc>
            </a:pPr>
            <a:r>
              <a:rPr lang="zh-CN" altLang="en-US" sz="2400" dirty="0">
                <a:solidFill>
                  <a:srgbClr val="0000FF"/>
                </a:solidFill>
              </a:rPr>
              <a:t>系统安全</a:t>
            </a:r>
            <a:endParaRPr lang="en-US" altLang="zh-CN" sz="2400" dirty="0">
              <a:solidFill>
                <a:srgbClr val="0000FF"/>
              </a:solidFill>
            </a:endParaRPr>
          </a:p>
          <a:p>
            <a:pPr marL="342900" indent="-342900">
              <a:lnSpc>
                <a:spcPct val="150000"/>
              </a:lnSpc>
              <a:buClr>
                <a:schemeClr val="tx1"/>
              </a:buClr>
              <a:buFont typeface="Wingdings" panose="05000000000000000000" pitchFamily="2" charset="2"/>
              <a:buChar char="Ø"/>
            </a:pPr>
            <a:r>
              <a:rPr lang="zh-CN" altLang="en-US" sz="2400" dirty="0"/>
              <a:t>认证技术、密码技术、访问控制技术、反病毒技术。</a:t>
            </a:r>
            <a:endParaRPr lang="zh-CN" altLang="en-US" sz="2400" dirty="0"/>
          </a:p>
        </p:txBody>
      </p:sp>
      <p:sp>
        <p:nvSpPr>
          <p:cNvPr id="53" name="îṧľïdè"/>
          <p:cNvSpPr/>
          <p:nvPr/>
        </p:nvSpPr>
        <p:spPr>
          <a:xfrm>
            <a:off x="3829495" y="3136709"/>
            <a:ext cx="6512240" cy="1066230"/>
          </a:xfrm>
          <a:prstGeom prst="rect">
            <a:avLst/>
          </a:prstGeom>
        </p:spPr>
        <p:txBody>
          <a:bodyPr wrap="square" lIns="91440" tIns="45720" rIns="91440" bIns="45720" anchor="ctr" anchorCtr="0">
            <a:normAutofit/>
          </a:bodyPr>
          <a:lstStyle/>
          <a:p>
            <a:pPr>
              <a:lnSpc>
                <a:spcPct val="132000"/>
              </a:lnSpc>
            </a:pPr>
            <a:r>
              <a:rPr lang="zh-CN" altLang="en-US" sz="2400" dirty="0">
                <a:solidFill>
                  <a:srgbClr val="0000FF"/>
                </a:solidFill>
              </a:rPr>
              <a:t>网络功能和服务</a:t>
            </a:r>
            <a:endParaRPr lang="en-US" altLang="zh-CN" sz="2400" dirty="0">
              <a:solidFill>
                <a:srgbClr val="0000FF"/>
              </a:solidFill>
            </a:endParaRPr>
          </a:p>
          <a:p>
            <a:pPr marL="342900" indent="-342900">
              <a:lnSpc>
                <a:spcPct val="132000"/>
              </a:lnSpc>
              <a:buFont typeface="Wingdings" panose="05000000000000000000" pitchFamily="2" charset="2"/>
              <a:buChar char="Ø"/>
            </a:pPr>
            <a:r>
              <a:rPr lang="zh-CN" altLang="en-US" sz="2400" dirty="0"/>
              <a:t>网络通信、资源管理、应用互操作。</a:t>
            </a:r>
            <a:endParaRPr lang="zh-CN" altLang="en-US" sz="2400" dirty="0"/>
          </a:p>
        </p:txBody>
      </p:sp>
      <p:sp>
        <p:nvSpPr>
          <p:cNvPr id="55" name="ïśļíde"/>
          <p:cNvSpPr/>
          <p:nvPr/>
        </p:nvSpPr>
        <p:spPr>
          <a:xfrm>
            <a:off x="3336536" y="4672403"/>
            <a:ext cx="7498158" cy="883466"/>
          </a:xfrm>
          <a:prstGeom prst="rect">
            <a:avLst/>
          </a:prstGeom>
        </p:spPr>
        <p:txBody>
          <a:bodyPr wrap="square" lIns="91440" tIns="45720" rIns="91440" bIns="45720" anchor="ctr" anchorCtr="0">
            <a:normAutofit lnSpcReduction="10000"/>
          </a:bodyPr>
          <a:lstStyle/>
          <a:p>
            <a:r>
              <a:rPr lang="zh-CN" altLang="en-US" sz="2400" dirty="0">
                <a:solidFill>
                  <a:srgbClr val="0000FF"/>
                </a:solidFill>
              </a:rPr>
              <a:t>支持多媒体</a:t>
            </a:r>
            <a:endParaRPr lang="en-US" altLang="zh-CN" sz="2400" dirty="0">
              <a:solidFill>
                <a:srgbClr val="0000FF"/>
              </a:solidFill>
            </a:endParaRPr>
          </a:p>
          <a:p>
            <a:pPr marL="342900" indent="-342900">
              <a:lnSpc>
                <a:spcPct val="132000"/>
              </a:lnSpc>
              <a:buFont typeface="Wingdings" panose="05000000000000000000" pitchFamily="2" charset="2"/>
              <a:buChar char="Ø"/>
            </a:pPr>
            <a:r>
              <a:rPr lang="zh-CN" altLang="en-US" sz="2400" dirty="0"/>
              <a:t>接纳控制技术、实时调度、多媒体文件的存储。</a:t>
            </a:r>
            <a:endParaRPr lang="zh-CN" alt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b="1" dirty="0">
                <a:solidFill>
                  <a:srgbClr val="0000FF"/>
                </a:solidFill>
                <a:latin typeface="+mj-ea"/>
              </a:rPr>
              <a:t>1.6 </a:t>
            </a:r>
            <a:r>
              <a:rPr lang="zh-CN" altLang="en-US" sz="2400" b="1" dirty="0">
                <a:solidFill>
                  <a:srgbClr val="0000FF"/>
                </a:solidFill>
                <a:latin typeface="+mj-ea"/>
              </a:rPr>
              <a:t>操作系统的结构设计</a:t>
            </a:r>
            <a:endParaRPr lang="zh-CN" altLang="en-US" sz="2400" b="1" dirty="0">
              <a:solidFill>
                <a:srgbClr val="0000FF"/>
              </a:solidFill>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30594"/>
          </a:xfrm>
          <a:prstGeom prst="rect">
            <a:avLst/>
          </a:prstGeom>
        </p:spPr>
        <p:txBody>
          <a:bodyPr wrap="square">
            <a:spAutoFit/>
          </a:bodyPr>
          <a:lstStyle/>
          <a:p>
            <a:pPr algn="ctr">
              <a:lnSpc>
                <a:spcPct val="132000"/>
              </a:lnSpc>
            </a:pPr>
            <a:r>
              <a:rPr lang="zh-CN" altLang="en-US" sz="2400" dirty="0">
                <a:solidFill>
                  <a:srgbClr val="002060"/>
                </a:solidFill>
              </a:rPr>
              <a:t>主讲：王红玲    主审：汤小丹</a:t>
            </a: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操作系统结构设计</a:t>
            </a:r>
            <a:endParaRPr lang="zh-CN" altLang="en-US" sz="2800" b="1" dirty="0">
              <a:solidFill>
                <a:schemeClr val="bg1"/>
              </a:solidFill>
            </a:endParaRPr>
          </a:p>
        </p:txBody>
      </p:sp>
      <p:sp>
        <p:nvSpPr>
          <p:cNvPr id="13" name="iṥḷîdé"/>
          <p:cNvSpPr/>
          <p:nvPr/>
        </p:nvSpPr>
        <p:spPr bwMode="auto">
          <a:xfrm rot="610268">
            <a:off x="4224180" y="3695598"/>
            <a:ext cx="1187744" cy="1497020"/>
          </a:xfrm>
          <a:prstGeom prst="rtTriangle">
            <a:avLst/>
          </a:prstGeom>
          <a:solidFill>
            <a:schemeClr val="bg1">
              <a:lumMod val="65000"/>
            </a:schemeClr>
          </a:solidFill>
          <a:ln w="19050">
            <a:noFill/>
            <a:round/>
          </a:ln>
        </p:spPr>
        <p:txBody>
          <a:bodyPr wrap="square" lIns="91440" tIns="45720" rIns="91440" bIns="45720" anchor="ctr">
            <a:normAutofit/>
          </a:bodyPr>
          <a:lstStyle/>
          <a:p>
            <a:pPr algn="ctr"/>
          </a:p>
        </p:txBody>
      </p:sp>
      <p:sp>
        <p:nvSpPr>
          <p:cNvPr id="14" name="ïš1iďe"/>
          <p:cNvSpPr/>
          <p:nvPr/>
        </p:nvSpPr>
        <p:spPr bwMode="auto">
          <a:xfrm rot="16200000">
            <a:off x="1772352" y="1064207"/>
            <a:ext cx="1296144" cy="2052228"/>
          </a:xfrm>
          <a:prstGeom prst="triangle">
            <a:avLst/>
          </a:prstGeom>
          <a:solidFill>
            <a:schemeClr val="bg1">
              <a:lumMod val="65000"/>
            </a:schemeClr>
          </a:solidFill>
          <a:ln w="19050">
            <a:noFill/>
            <a:round/>
          </a:ln>
        </p:spPr>
        <p:txBody>
          <a:bodyPr wrap="square" lIns="91440" tIns="45720" rIns="91440" bIns="45720" anchor="ctr">
            <a:normAutofit/>
          </a:bodyPr>
          <a:lstStyle/>
          <a:p>
            <a:pPr algn="ctr"/>
          </a:p>
        </p:txBody>
      </p:sp>
      <p:sp>
        <p:nvSpPr>
          <p:cNvPr id="15" name="ïṥliḋe"/>
          <p:cNvSpPr/>
          <p:nvPr/>
        </p:nvSpPr>
        <p:spPr bwMode="auto">
          <a:xfrm rot="3712223">
            <a:off x="855993" y="1330709"/>
            <a:ext cx="4066498" cy="4482407"/>
          </a:xfrm>
          <a:custGeom>
            <a:avLst/>
            <a:gdLst>
              <a:gd name="connsiteX0" fmla="*/ 0 w 4066498"/>
              <a:gd name="connsiteY0" fmla="*/ 2863075 h 4482407"/>
              <a:gd name="connsiteX1" fmla="*/ 1937533 w 4066498"/>
              <a:gd name="connsiteY1" fmla="*/ 0 h 4482407"/>
              <a:gd name="connsiteX2" fmla="*/ 4066498 w 4066498"/>
              <a:gd name="connsiteY2" fmla="*/ 1138176 h 4482407"/>
              <a:gd name="connsiteX3" fmla="*/ 3028971 w 4066498"/>
              <a:gd name="connsiteY3" fmla="*/ 4482407 h 4482407"/>
              <a:gd name="connsiteX4" fmla="*/ 0 w 4066498"/>
              <a:gd name="connsiteY4" fmla="*/ 2863075 h 4482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6498" h="4482407">
                <a:moveTo>
                  <a:pt x="0" y="2863075"/>
                </a:moveTo>
                <a:lnTo>
                  <a:pt x="1937533" y="0"/>
                </a:lnTo>
                <a:lnTo>
                  <a:pt x="4066498" y="1138176"/>
                </a:lnTo>
                <a:lnTo>
                  <a:pt x="3028971" y="4482407"/>
                </a:lnTo>
                <a:lnTo>
                  <a:pt x="0" y="2863075"/>
                </a:lnTo>
                <a:close/>
              </a:path>
            </a:pathLst>
          </a:custGeom>
          <a:solidFill>
            <a:schemeClr val="bg1">
              <a:lumMod val="95000"/>
            </a:schemeClr>
          </a:solidFill>
          <a:ln w="19050">
            <a:noFill/>
            <a:round/>
          </a:ln>
        </p:spPr>
        <p:txBody>
          <a:bodyPr wrap="square" lIns="91440" tIns="45720" rIns="91440" bIns="45720" anchor="ctr">
            <a:normAutofit/>
          </a:bodyPr>
          <a:lstStyle/>
          <a:p>
            <a:pPr algn="ctr"/>
          </a:p>
        </p:txBody>
      </p:sp>
      <p:sp>
        <p:nvSpPr>
          <p:cNvPr id="16" name="íṧḷiḍe"/>
          <p:cNvSpPr/>
          <p:nvPr/>
        </p:nvSpPr>
        <p:spPr>
          <a:xfrm rot="10800000" flipV="1">
            <a:off x="1510436" y="3209926"/>
            <a:ext cx="2972566" cy="823924"/>
          </a:xfrm>
          <a:prstGeom prst="rect">
            <a:avLst/>
          </a:prstGeom>
        </p:spPr>
        <p:txBody>
          <a:bodyPr vert="horz" wrap="square" lIns="91440" tIns="45720" rIns="91440" bIns="45720" anchor="ctr">
            <a:normAutofit/>
          </a:bodyPr>
          <a:lstStyle/>
          <a:p>
            <a:pPr algn="ctr"/>
            <a:r>
              <a:rPr lang="en-US" altLang="zh-CN" sz="2800" b="1" i="1" dirty="0"/>
              <a:t>/CONTENT/</a:t>
            </a:r>
            <a:endParaRPr lang="en-US" altLang="zh-CN" sz="2800" b="1" i="1" dirty="0"/>
          </a:p>
        </p:txBody>
      </p:sp>
      <p:sp>
        <p:nvSpPr>
          <p:cNvPr id="17" name="îşļïďè"/>
          <p:cNvSpPr/>
          <p:nvPr/>
        </p:nvSpPr>
        <p:spPr>
          <a:xfrm>
            <a:off x="5747289" y="4824638"/>
            <a:ext cx="1113511" cy="111351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a:solidFill>
                  <a:schemeClr val="bg1"/>
                </a:solidFill>
                <a:latin typeface="+mj-lt"/>
              </a:rPr>
              <a:t>05</a:t>
            </a:r>
            <a:endParaRPr lang="en-US" altLang="zh-CN" sz="2400">
              <a:solidFill>
                <a:schemeClr val="bg1"/>
              </a:solidFill>
              <a:latin typeface="+mj-lt"/>
            </a:endParaRPr>
          </a:p>
        </p:txBody>
      </p:sp>
      <p:sp>
        <p:nvSpPr>
          <p:cNvPr id="18" name="îšḷîḑé"/>
          <p:cNvSpPr txBox="1"/>
          <p:nvPr/>
        </p:nvSpPr>
        <p:spPr>
          <a:xfrm>
            <a:off x="7002468" y="5147923"/>
            <a:ext cx="4659689" cy="430545"/>
          </a:xfrm>
          <a:prstGeom prst="rect">
            <a:avLst/>
          </a:prstGeom>
          <a:noFill/>
        </p:spPr>
        <p:txBody>
          <a:bodyPr wrap="square" lIns="91440" tIns="45720" rIns="91440" bIns="45720" anchor="b" anchorCtr="0">
            <a:noAutofit/>
          </a:bodyPr>
          <a:lstStyle/>
          <a:p>
            <a:pPr>
              <a:buClr>
                <a:srgbClr val="E71101"/>
              </a:buClr>
            </a:pPr>
            <a:r>
              <a:rPr lang="zh-CN" altLang="en-US" sz="2400" dirty="0">
                <a:solidFill>
                  <a:srgbClr val="0000FF"/>
                </a:solidFill>
              </a:rPr>
              <a:t>外核结构</a:t>
            </a:r>
            <a:endParaRPr lang="zh-CN" altLang="en-US" sz="2400" dirty="0">
              <a:solidFill>
                <a:srgbClr val="0000FF"/>
              </a:solidFill>
            </a:endParaRPr>
          </a:p>
        </p:txBody>
      </p:sp>
      <p:sp>
        <p:nvSpPr>
          <p:cNvPr id="21" name="işlíḋé"/>
          <p:cNvSpPr/>
          <p:nvPr/>
        </p:nvSpPr>
        <p:spPr>
          <a:xfrm>
            <a:off x="5752728" y="3946062"/>
            <a:ext cx="1113511" cy="1113511"/>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a:solidFill>
                  <a:schemeClr val="bg1"/>
                </a:solidFill>
                <a:latin typeface="+mj-lt"/>
              </a:rPr>
              <a:t>04</a:t>
            </a:r>
            <a:endParaRPr lang="en-US" altLang="zh-CN" sz="2400">
              <a:solidFill>
                <a:schemeClr val="bg1"/>
              </a:solidFill>
              <a:latin typeface="+mj-lt"/>
            </a:endParaRPr>
          </a:p>
        </p:txBody>
      </p:sp>
      <p:sp>
        <p:nvSpPr>
          <p:cNvPr id="22" name="iṥlïḋè"/>
          <p:cNvSpPr txBox="1"/>
          <p:nvPr/>
        </p:nvSpPr>
        <p:spPr>
          <a:xfrm>
            <a:off x="7002468" y="4269347"/>
            <a:ext cx="4659689" cy="430545"/>
          </a:xfrm>
          <a:prstGeom prst="rect">
            <a:avLst/>
          </a:prstGeom>
          <a:noFill/>
        </p:spPr>
        <p:txBody>
          <a:bodyPr wrap="square" lIns="91440" tIns="45720" rIns="91440" bIns="45720" anchor="b" anchorCtr="0">
            <a:normAutofit lnSpcReduction="10000"/>
          </a:bodyPr>
          <a:lstStyle/>
          <a:p>
            <a:pPr>
              <a:buClr>
                <a:srgbClr val="E71101"/>
              </a:buClr>
            </a:pPr>
            <a:r>
              <a:rPr lang="zh-CN" altLang="en-US" sz="2400" dirty="0">
                <a:solidFill>
                  <a:srgbClr val="0000FF"/>
                </a:solidFill>
              </a:rPr>
              <a:t>微内核结构</a:t>
            </a:r>
            <a:endParaRPr lang="en-US" altLang="zh-CN" sz="2400" dirty="0">
              <a:solidFill>
                <a:srgbClr val="0000FF"/>
              </a:solidFill>
            </a:endParaRPr>
          </a:p>
        </p:txBody>
      </p:sp>
      <p:sp>
        <p:nvSpPr>
          <p:cNvPr id="24" name="i$1îḑe"/>
          <p:cNvSpPr/>
          <p:nvPr/>
        </p:nvSpPr>
        <p:spPr>
          <a:xfrm>
            <a:off x="5752728" y="3067486"/>
            <a:ext cx="1113511" cy="111351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a:solidFill>
                  <a:schemeClr val="bg1"/>
                </a:solidFill>
                <a:latin typeface="+mj-lt"/>
              </a:rPr>
              <a:t>03</a:t>
            </a:r>
            <a:endParaRPr lang="en-US" altLang="zh-CN" sz="2400">
              <a:solidFill>
                <a:schemeClr val="bg1"/>
              </a:solidFill>
              <a:latin typeface="+mj-lt"/>
            </a:endParaRPr>
          </a:p>
        </p:txBody>
      </p:sp>
      <p:sp>
        <p:nvSpPr>
          <p:cNvPr id="25" name="í$1îḍe"/>
          <p:cNvSpPr txBox="1"/>
          <p:nvPr/>
        </p:nvSpPr>
        <p:spPr>
          <a:xfrm>
            <a:off x="7002468" y="3390771"/>
            <a:ext cx="4659689" cy="430545"/>
          </a:xfrm>
          <a:prstGeom prst="rect">
            <a:avLst/>
          </a:prstGeom>
          <a:noFill/>
        </p:spPr>
        <p:txBody>
          <a:bodyPr wrap="square" lIns="91440" tIns="45720" rIns="91440" bIns="45720" anchor="b" anchorCtr="0">
            <a:normAutofit lnSpcReduction="10000"/>
          </a:bodyPr>
          <a:lstStyle/>
          <a:p>
            <a:pPr>
              <a:buClr>
                <a:srgbClr val="E71101"/>
              </a:buClr>
            </a:pPr>
            <a:r>
              <a:rPr lang="zh-CN" altLang="en-US" sz="2400" dirty="0">
                <a:solidFill>
                  <a:srgbClr val="0000FF"/>
                </a:solidFill>
              </a:rPr>
              <a:t>模块化结构</a:t>
            </a:r>
            <a:endParaRPr lang="en-US" altLang="zh-CN" sz="2400" dirty="0">
              <a:solidFill>
                <a:srgbClr val="0000FF"/>
              </a:solidFill>
            </a:endParaRPr>
          </a:p>
        </p:txBody>
      </p:sp>
      <p:sp>
        <p:nvSpPr>
          <p:cNvPr id="27" name="ïSļïḓè"/>
          <p:cNvSpPr/>
          <p:nvPr/>
        </p:nvSpPr>
        <p:spPr>
          <a:xfrm>
            <a:off x="5752728" y="2188910"/>
            <a:ext cx="1113511" cy="1113511"/>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a:solidFill>
                  <a:schemeClr val="bg1"/>
                </a:solidFill>
                <a:latin typeface="+mj-lt"/>
              </a:rPr>
              <a:t>02</a:t>
            </a:r>
            <a:endParaRPr lang="en-US" altLang="zh-CN" sz="2400">
              <a:solidFill>
                <a:schemeClr val="bg1"/>
              </a:solidFill>
              <a:latin typeface="+mj-lt"/>
            </a:endParaRPr>
          </a:p>
        </p:txBody>
      </p:sp>
      <p:sp>
        <p:nvSpPr>
          <p:cNvPr id="28" name="iŝļíďè"/>
          <p:cNvSpPr txBox="1"/>
          <p:nvPr/>
        </p:nvSpPr>
        <p:spPr>
          <a:xfrm>
            <a:off x="7002468" y="2512195"/>
            <a:ext cx="4659689" cy="430545"/>
          </a:xfrm>
          <a:prstGeom prst="rect">
            <a:avLst/>
          </a:prstGeom>
          <a:noFill/>
        </p:spPr>
        <p:txBody>
          <a:bodyPr wrap="square" lIns="91440" tIns="45720" rIns="91440" bIns="45720" anchor="b" anchorCtr="0">
            <a:normAutofit lnSpcReduction="10000"/>
          </a:bodyPr>
          <a:lstStyle/>
          <a:p>
            <a:pPr>
              <a:buClr>
                <a:srgbClr val="E71101"/>
              </a:buClr>
            </a:pPr>
            <a:r>
              <a:rPr lang="zh-CN" altLang="en-US" sz="2400" dirty="0">
                <a:solidFill>
                  <a:srgbClr val="0000FF"/>
                </a:solidFill>
              </a:rPr>
              <a:t>模块化结构</a:t>
            </a:r>
            <a:endParaRPr lang="en-US" altLang="zh-CN" sz="2400" dirty="0">
              <a:solidFill>
                <a:srgbClr val="0000FF"/>
              </a:solidFill>
            </a:endParaRPr>
          </a:p>
        </p:txBody>
      </p:sp>
      <p:sp>
        <p:nvSpPr>
          <p:cNvPr id="30" name="ïśľiďe"/>
          <p:cNvSpPr/>
          <p:nvPr/>
        </p:nvSpPr>
        <p:spPr>
          <a:xfrm>
            <a:off x="5752730" y="1310334"/>
            <a:ext cx="1113511" cy="1113511"/>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a:solidFill>
                  <a:schemeClr val="bg1"/>
                </a:solidFill>
                <a:latin typeface="+mj-lt"/>
              </a:rPr>
              <a:t>01</a:t>
            </a:r>
            <a:endParaRPr lang="en-US" altLang="zh-CN" sz="2400">
              <a:solidFill>
                <a:schemeClr val="bg1"/>
              </a:solidFill>
              <a:latin typeface="+mj-lt"/>
            </a:endParaRPr>
          </a:p>
        </p:txBody>
      </p:sp>
      <p:sp>
        <p:nvSpPr>
          <p:cNvPr id="31" name="îṡ1ide"/>
          <p:cNvSpPr txBox="1"/>
          <p:nvPr/>
        </p:nvSpPr>
        <p:spPr>
          <a:xfrm>
            <a:off x="7002468" y="1633619"/>
            <a:ext cx="4659689" cy="430545"/>
          </a:xfrm>
          <a:prstGeom prst="rect">
            <a:avLst/>
          </a:prstGeom>
          <a:noFill/>
        </p:spPr>
        <p:txBody>
          <a:bodyPr wrap="square" lIns="91440" tIns="45720" rIns="91440" bIns="45720" anchor="b" anchorCtr="0">
            <a:noAutofit/>
          </a:bodyPr>
          <a:lstStyle/>
          <a:p>
            <a:pPr>
              <a:buClr>
                <a:srgbClr val="E71101"/>
              </a:buClr>
            </a:pPr>
            <a:r>
              <a:rPr lang="zh-CN" altLang="en-US" sz="2400" dirty="0">
                <a:solidFill>
                  <a:srgbClr val="0000FF"/>
                </a:solidFill>
              </a:rPr>
              <a:t>简单结构</a:t>
            </a:r>
            <a:endParaRPr lang="en-US" altLang="zh-CN" sz="2400" dirty="0">
              <a:solidFill>
                <a:srgbClr val="0000FF"/>
              </a:solidFill>
            </a:endParaRPr>
          </a:p>
        </p:txBody>
      </p:sp>
      <p:cxnSp>
        <p:nvCxnSpPr>
          <p:cNvPr id="33" name="直接连接符 32"/>
          <p:cNvCxnSpPr/>
          <p:nvPr/>
        </p:nvCxnSpPr>
        <p:spPr>
          <a:xfrm>
            <a:off x="6860799" y="2216515"/>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860799" y="310461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6860799" y="399996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6860799" y="489531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简单结构</a:t>
            </a:r>
            <a:endParaRPr lang="zh-CN" altLang="en-US" sz="2800" b="1" dirty="0">
              <a:solidFill>
                <a:schemeClr val="bg1"/>
              </a:solidFill>
            </a:endParaRPr>
          </a:p>
        </p:txBody>
      </p:sp>
      <p:pic>
        <p:nvPicPr>
          <p:cNvPr id="23" name="Picture 4"/>
          <p:cNvPicPr>
            <a:picLocks noChangeAspect="1" noChangeArrowheads="1"/>
          </p:cNvPicPr>
          <p:nvPr/>
        </p:nvPicPr>
        <p:blipFill>
          <a:blip r:embed="rId1">
            <a:extLst>
              <a:ext uri="{28A0092B-C50C-407E-A947-70E740481C1C}">
                <a14:useLocalDpi xmlns:a14="http://schemas.microsoft.com/office/drawing/2010/main" val="0"/>
              </a:ext>
            </a:extLst>
          </a:blip>
          <a:srcRect l="11720" t="757" r="11531" b="757"/>
          <a:stretch>
            <a:fillRect/>
          </a:stretch>
        </p:blipFill>
        <p:spPr bwMode="auto">
          <a:xfrm>
            <a:off x="6471453" y="1133931"/>
            <a:ext cx="5156200" cy="4962525"/>
          </a:xfrm>
          <a:prstGeom prst="rect">
            <a:avLst/>
          </a:prstGeom>
          <a:noFill/>
          <a:ln w="38100" cmpd="dbl">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6" name="îśḻiďé"/>
          <p:cNvSpPr/>
          <p:nvPr/>
        </p:nvSpPr>
        <p:spPr bwMode="auto">
          <a:xfrm>
            <a:off x="829034" y="1750193"/>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29" name="išľiďe"/>
          <p:cNvSpPr/>
          <p:nvPr/>
        </p:nvSpPr>
        <p:spPr bwMode="auto">
          <a:xfrm>
            <a:off x="829034" y="3191980"/>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32" name="íśľîḋé"/>
          <p:cNvSpPr/>
          <p:nvPr/>
        </p:nvSpPr>
        <p:spPr bwMode="auto">
          <a:xfrm>
            <a:off x="829034" y="4636341"/>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37" name="ïṡḷidè"/>
          <p:cNvSpPr/>
          <p:nvPr/>
        </p:nvSpPr>
        <p:spPr bwMode="auto">
          <a:xfrm>
            <a:off x="1061275" y="3459093"/>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8" name="iṡļîḍé"/>
          <p:cNvSpPr/>
          <p:nvPr/>
        </p:nvSpPr>
        <p:spPr bwMode="auto">
          <a:xfrm>
            <a:off x="1061275" y="4887944"/>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9" name="ïslíḓé"/>
          <p:cNvSpPr/>
          <p:nvPr/>
        </p:nvSpPr>
        <p:spPr bwMode="auto">
          <a:xfrm>
            <a:off x="1099508" y="2003577"/>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0" name="ïṣľîḋê"/>
          <p:cNvSpPr/>
          <p:nvPr/>
        </p:nvSpPr>
        <p:spPr>
          <a:xfrm>
            <a:off x="1748389" y="1546388"/>
            <a:ext cx="4650138" cy="1254040"/>
          </a:xfrm>
          <a:prstGeom prst="rect">
            <a:avLst/>
          </a:prstGeom>
        </p:spPr>
        <p:txBody>
          <a:bodyPr wrap="square" lIns="91440" tIns="45720" rIns="91440" bIns="45720" anchor="ctr" anchorCtr="0">
            <a:normAutofit/>
          </a:bodyPr>
          <a:lstStyle/>
          <a:p>
            <a:pPr>
              <a:lnSpc>
                <a:spcPct val="132000"/>
              </a:lnSpc>
              <a:buClr>
                <a:schemeClr val="tx1"/>
              </a:buClr>
            </a:pPr>
            <a:r>
              <a:rPr lang="en-US" altLang="zh-CN" sz="2400" dirty="0"/>
              <a:t>OS</a:t>
            </a:r>
            <a:r>
              <a:rPr lang="zh-CN" altLang="en-US" sz="2400" dirty="0"/>
              <a:t>是无结构的，是为数众多的一组过程的集合，内部复杂、混乱</a:t>
            </a:r>
            <a:endParaRPr lang="zh-CN" altLang="en-US" sz="2400" dirty="0"/>
          </a:p>
        </p:txBody>
      </p:sp>
      <p:sp>
        <p:nvSpPr>
          <p:cNvPr id="41" name="îṧľïdè"/>
          <p:cNvSpPr/>
          <p:nvPr/>
        </p:nvSpPr>
        <p:spPr>
          <a:xfrm>
            <a:off x="1748873" y="3098073"/>
            <a:ext cx="3271368" cy="1066230"/>
          </a:xfrm>
          <a:prstGeom prst="rect">
            <a:avLst/>
          </a:prstGeom>
        </p:spPr>
        <p:txBody>
          <a:bodyPr wrap="square" lIns="91440" tIns="45720" rIns="91440" bIns="45720" anchor="ctr" anchorCtr="0">
            <a:normAutofit/>
          </a:bodyPr>
          <a:lstStyle/>
          <a:p>
            <a:pPr>
              <a:lnSpc>
                <a:spcPct val="132000"/>
              </a:lnSpc>
            </a:pPr>
            <a:r>
              <a:rPr lang="zh-CN" altLang="en-US" sz="2400" dirty="0"/>
              <a:t>也称整体系统结构</a:t>
            </a:r>
            <a:endParaRPr lang="zh-CN" altLang="en-US" sz="2400" dirty="0"/>
          </a:p>
        </p:txBody>
      </p:sp>
      <p:sp>
        <p:nvSpPr>
          <p:cNvPr id="42" name="ïśļíde"/>
          <p:cNvSpPr/>
          <p:nvPr/>
        </p:nvSpPr>
        <p:spPr>
          <a:xfrm>
            <a:off x="1748873" y="4633767"/>
            <a:ext cx="4455182" cy="883466"/>
          </a:xfrm>
          <a:prstGeom prst="rect">
            <a:avLst/>
          </a:prstGeom>
        </p:spPr>
        <p:txBody>
          <a:bodyPr wrap="square" lIns="91440" tIns="45720" rIns="91440" bIns="45720" anchor="ctr" anchorCtr="0">
            <a:normAutofit/>
          </a:bodyPr>
          <a:lstStyle/>
          <a:p>
            <a:pPr>
              <a:lnSpc>
                <a:spcPct val="132000"/>
              </a:lnSpc>
            </a:pPr>
            <a:r>
              <a:rPr lang="zh-CN" altLang="en-US" sz="2400" dirty="0"/>
              <a:t>例子：</a:t>
            </a:r>
            <a:r>
              <a:rPr lang="en-US" altLang="zh-CN" sz="2400" dirty="0"/>
              <a:t>MS-DOS</a:t>
            </a:r>
            <a:r>
              <a:rPr lang="zh-CN" altLang="en-US" sz="2400" dirty="0"/>
              <a:t>，早期的</a:t>
            </a:r>
            <a:r>
              <a:rPr lang="en-US" altLang="zh-CN" sz="2400" dirty="0"/>
              <a:t>UNIX</a:t>
            </a:r>
            <a:endParaRPr lang="en-US" altLang="zh-CN"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模块化结构</a:t>
            </a:r>
            <a:endParaRPr lang="zh-CN" altLang="en-US" sz="2800" b="1" dirty="0">
              <a:solidFill>
                <a:schemeClr val="bg1"/>
              </a:solidFill>
            </a:endParaRPr>
          </a:p>
        </p:txBody>
      </p:sp>
      <p:sp>
        <p:nvSpPr>
          <p:cNvPr id="15" name="îŝļiḋe"/>
          <p:cNvSpPr/>
          <p:nvPr/>
        </p:nvSpPr>
        <p:spPr>
          <a:xfrm>
            <a:off x="883141" y="1323483"/>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16" name="í$1iďè"/>
          <p:cNvGrpSpPr/>
          <p:nvPr/>
        </p:nvGrpSpPr>
        <p:grpSpPr>
          <a:xfrm>
            <a:off x="1007429" y="1482069"/>
            <a:ext cx="10507661" cy="582314"/>
            <a:chOff x="4136995" y="1556469"/>
            <a:chExt cx="10507661" cy="582314"/>
          </a:xfrm>
        </p:grpSpPr>
        <p:sp>
          <p:nvSpPr>
            <p:cNvPr id="50" name="îslîďê"/>
            <p:cNvSpPr/>
            <p:nvPr/>
          </p:nvSpPr>
          <p:spPr>
            <a:xfrm>
              <a:off x="4136995" y="158382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52" name="ïSḻiḍé"/>
            <p:cNvSpPr txBox="1"/>
            <p:nvPr/>
          </p:nvSpPr>
          <p:spPr>
            <a:xfrm>
              <a:off x="4882719" y="1556469"/>
              <a:ext cx="9761937" cy="58231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将</a:t>
              </a:r>
              <a:r>
                <a:rPr lang="en-US" altLang="zh-CN" sz="2400" dirty="0">
                  <a:solidFill>
                    <a:srgbClr val="FF0000"/>
                  </a:solidFill>
                </a:rPr>
                <a:t>OS</a:t>
              </a:r>
              <a:r>
                <a:rPr lang="zh-CN" altLang="en-US" sz="2400" dirty="0">
                  <a:solidFill>
                    <a:srgbClr val="FF0000"/>
                  </a:solidFill>
                </a:rPr>
                <a:t>按功能划分成若干个模块</a:t>
              </a:r>
              <a:r>
                <a:rPr lang="zh-CN" altLang="en-US" sz="2400" dirty="0"/>
                <a:t>，并规定好各模块间的接口，称为“模块</a:t>
              </a:r>
              <a:r>
                <a:rPr lang="en-US" altLang="zh-CN" sz="2400" dirty="0"/>
                <a:t>-</a:t>
              </a:r>
              <a:r>
                <a:rPr lang="zh-CN" altLang="en-US" sz="2400" dirty="0"/>
                <a:t>接口法”</a:t>
              </a:r>
              <a:endParaRPr lang="zh-CN" altLang="en-US" sz="2400" dirty="0"/>
            </a:p>
          </p:txBody>
        </p:sp>
      </p:grpSp>
      <p:grpSp>
        <p:nvGrpSpPr>
          <p:cNvPr id="17" name="išḷîḓé"/>
          <p:cNvGrpSpPr/>
          <p:nvPr/>
        </p:nvGrpSpPr>
        <p:grpSpPr>
          <a:xfrm>
            <a:off x="1007429" y="2356673"/>
            <a:ext cx="10132796" cy="1481627"/>
            <a:chOff x="4136995" y="2564791"/>
            <a:chExt cx="10132796" cy="1481627"/>
          </a:xfrm>
        </p:grpSpPr>
        <p:sp>
          <p:nvSpPr>
            <p:cNvPr id="46" name="íśľïḋé"/>
            <p:cNvSpPr/>
            <p:nvPr/>
          </p:nvSpPr>
          <p:spPr>
            <a:xfrm>
              <a:off x="4136995" y="3050991"/>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47" name="îśľíḍe"/>
            <p:cNvGrpSpPr/>
            <p:nvPr/>
          </p:nvGrpSpPr>
          <p:grpSpPr>
            <a:xfrm>
              <a:off x="4882719" y="2564791"/>
              <a:ext cx="9387072" cy="1481627"/>
              <a:chOff x="5523309" y="2034654"/>
              <a:chExt cx="8559454" cy="1481627"/>
            </a:xfrm>
          </p:grpSpPr>
          <p:sp>
            <p:nvSpPr>
              <p:cNvPr id="48" name="îŝľîḓè"/>
              <p:cNvSpPr txBox="1"/>
              <p:nvPr/>
            </p:nvSpPr>
            <p:spPr>
              <a:xfrm>
                <a:off x="5523309" y="2034654"/>
                <a:ext cx="2784667" cy="41762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b="1" dirty="0">
                    <a:solidFill>
                      <a:srgbClr val="0000FF"/>
                    </a:solidFill>
                  </a:rPr>
                  <a:t>优点：</a:t>
                </a:r>
                <a:endParaRPr lang="zh-CN" altLang="en-US" sz="2400" b="1" dirty="0">
                  <a:solidFill>
                    <a:srgbClr val="0000FF"/>
                  </a:solidFill>
                </a:endParaRPr>
              </a:p>
            </p:txBody>
          </p:sp>
          <p:sp>
            <p:nvSpPr>
              <p:cNvPr id="49" name="iṥlîde"/>
              <p:cNvSpPr/>
              <p:nvPr/>
            </p:nvSpPr>
            <p:spPr bwMode="auto">
              <a:xfrm>
                <a:off x="5523309" y="2405353"/>
                <a:ext cx="8559454"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indent="-342900">
                  <a:lnSpc>
                    <a:spcPct val="132000"/>
                  </a:lnSpc>
                  <a:buFont typeface="Wingdings" panose="05000000000000000000" pitchFamily="2" charset="2"/>
                  <a:buChar char="Ø"/>
                </a:pPr>
                <a:r>
                  <a:rPr lang="zh-CN" altLang="en-US" sz="2000" dirty="0"/>
                  <a:t>提高</a:t>
                </a:r>
                <a:r>
                  <a:rPr lang="en-US" altLang="zh-CN" sz="2000" dirty="0"/>
                  <a:t>OS</a:t>
                </a:r>
                <a:r>
                  <a:rPr lang="zh-CN" altLang="en-US" sz="2000" dirty="0"/>
                  <a:t>设计的正确性、可理解性和易维护性</a:t>
                </a:r>
                <a:endParaRPr lang="zh-CN" altLang="en-US" sz="2000" dirty="0"/>
              </a:p>
              <a:p>
                <a:pPr marL="342900" indent="-342900">
                  <a:lnSpc>
                    <a:spcPct val="132000"/>
                  </a:lnSpc>
                  <a:buFont typeface="Wingdings" panose="05000000000000000000" pitchFamily="2" charset="2"/>
                  <a:buChar char="Ø"/>
                </a:pPr>
                <a:r>
                  <a:rPr lang="zh-CN" altLang="en-US" sz="2000" dirty="0"/>
                  <a:t>增强</a:t>
                </a:r>
                <a:r>
                  <a:rPr lang="en-US" altLang="zh-CN" sz="2000" dirty="0"/>
                  <a:t>OS</a:t>
                </a:r>
                <a:r>
                  <a:rPr lang="zh-CN" altLang="en-US" sz="2000" dirty="0"/>
                  <a:t>的可适应性</a:t>
                </a:r>
                <a:endParaRPr lang="zh-CN" altLang="en-US" sz="2000" dirty="0"/>
              </a:p>
              <a:p>
                <a:pPr marL="342900" indent="-342900">
                  <a:lnSpc>
                    <a:spcPct val="132000"/>
                  </a:lnSpc>
                  <a:buFont typeface="Wingdings" panose="05000000000000000000" pitchFamily="2" charset="2"/>
                  <a:buChar char="Ø"/>
                </a:pPr>
                <a:r>
                  <a:rPr lang="zh-CN" altLang="en-US" sz="2000" dirty="0"/>
                  <a:t>加速</a:t>
                </a:r>
                <a:r>
                  <a:rPr lang="en-US" altLang="zh-CN" sz="2000" dirty="0"/>
                  <a:t>OS</a:t>
                </a:r>
                <a:r>
                  <a:rPr lang="zh-CN" altLang="en-US" sz="2000" dirty="0"/>
                  <a:t>的开发过程</a:t>
                </a:r>
                <a:endParaRPr lang="zh-CN" altLang="en-US" sz="2000" dirty="0"/>
              </a:p>
            </p:txBody>
          </p:sp>
        </p:grpSp>
      </p:grpSp>
      <p:grpSp>
        <p:nvGrpSpPr>
          <p:cNvPr id="18" name="ïSlíḍê"/>
          <p:cNvGrpSpPr/>
          <p:nvPr/>
        </p:nvGrpSpPr>
        <p:grpSpPr>
          <a:xfrm>
            <a:off x="1007429" y="4191034"/>
            <a:ext cx="10596435" cy="1541433"/>
            <a:chOff x="4136995" y="4296450"/>
            <a:chExt cx="10596435" cy="1541433"/>
          </a:xfrm>
        </p:grpSpPr>
        <p:sp>
          <p:nvSpPr>
            <p:cNvPr id="36" name="ïsľíḓê"/>
            <p:cNvSpPr/>
            <p:nvPr/>
          </p:nvSpPr>
          <p:spPr>
            <a:xfrm>
              <a:off x="4136995" y="4943159"/>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43" name="ïṩḷíḍê"/>
            <p:cNvGrpSpPr/>
            <p:nvPr/>
          </p:nvGrpSpPr>
          <p:grpSpPr>
            <a:xfrm>
              <a:off x="4882719" y="4296450"/>
              <a:ext cx="9850711" cy="1541433"/>
              <a:chOff x="5523309" y="2028690"/>
              <a:chExt cx="8982216" cy="1541433"/>
            </a:xfrm>
          </p:grpSpPr>
          <p:sp>
            <p:nvSpPr>
              <p:cNvPr id="44" name="íṧļîḋê"/>
              <p:cNvSpPr txBox="1"/>
              <p:nvPr/>
            </p:nvSpPr>
            <p:spPr>
              <a:xfrm>
                <a:off x="5523309" y="2028690"/>
                <a:ext cx="8982216" cy="41762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 大部分现代</a:t>
                </a:r>
                <a:r>
                  <a:rPr lang="en-US" altLang="zh-CN" sz="2400" dirty="0"/>
                  <a:t>OS</a:t>
                </a:r>
                <a:r>
                  <a:rPr lang="zh-CN" altLang="en-US" sz="2400" dirty="0"/>
                  <a:t>采用可加载的内核模块来设计</a:t>
                </a:r>
                <a:endParaRPr lang="zh-CN" altLang="en-US" sz="2400" dirty="0"/>
              </a:p>
            </p:txBody>
          </p:sp>
          <p:sp>
            <p:nvSpPr>
              <p:cNvPr id="45" name="îṧ1ïḑe"/>
              <p:cNvSpPr/>
              <p:nvPr/>
            </p:nvSpPr>
            <p:spPr bwMode="auto">
              <a:xfrm>
                <a:off x="5582027" y="2459195"/>
                <a:ext cx="7960541"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32000"/>
                  </a:lnSpc>
                  <a:buFont typeface="Wingdings" panose="05000000000000000000" pitchFamily="2" charset="2"/>
                  <a:buChar char="Ø"/>
                </a:pPr>
                <a:r>
                  <a:rPr lang="zh-CN" altLang="en-US" sz="2000" dirty="0"/>
                  <a:t>内核有一组核心组件，提供核心服务</a:t>
                </a:r>
                <a:endParaRPr lang="zh-CN" altLang="en-US" sz="2000" dirty="0"/>
              </a:p>
              <a:p>
                <a:pPr marL="171450" indent="-171450">
                  <a:lnSpc>
                    <a:spcPct val="132000"/>
                  </a:lnSpc>
                  <a:buFont typeface="Wingdings" panose="05000000000000000000" pitchFamily="2" charset="2"/>
                  <a:buChar char="Ø"/>
                </a:pPr>
                <a:r>
                  <a:rPr lang="zh-CN" altLang="en-US" sz="2000" dirty="0"/>
                  <a:t>其他服务可在内核运行时动态实现（动态链接）</a:t>
                </a:r>
                <a:endParaRPr lang="zh-CN" altLang="en-US" sz="2000" dirty="0"/>
              </a:p>
              <a:p>
                <a:pPr marL="171450" indent="-171450">
                  <a:lnSpc>
                    <a:spcPct val="132000"/>
                  </a:lnSpc>
                  <a:buFont typeface="Wingdings" panose="05000000000000000000" pitchFamily="2" charset="2"/>
                  <a:buChar char="Ø"/>
                </a:pPr>
                <a:r>
                  <a:rPr lang="zh-CN" altLang="en-US" sz="2000" dirty="0"/>
                  <a:t>每个组件在需要时被加载到内核</a:t>
                </a:r>
                <a:endParaRPr lang="zh-CN" altLang="en-US" sz="2000" dirty="0"/>
              </a:p>
              <a:p>
                <a:pPr marL="171450" indent="-171450">
                  <a:lnSpc>
                    <a:spcPct val="132000"/>
                  </a:lnSpc>
                  <a:buFont typeface="Wingdings" panose="05000000000000000000" pitchFamily="2" charset="2"/>
                  <a:buChar char="Ø"/>
                </a:pPr>
                <a:r>
                  <a:rPr lang="zh-CN" altLang="en-US" sz="2000" dirty="0"/>
                  <a:t>例子：</a:t>
                </a:r>
                <a:r>
                  <a:rPr lang="en-US" altLang="zh-CN" sz="2000" dirty="0"/>
                  <a:t>Linux</a:t>
                </a:r>
                <a:r>
                  <a:rPr lang="zh-CN" altLang="en-US" sz="2000" dirty="0"/>
                  <a:t>、</a:t>
                </a:r>
                <a:r>
                  <a:rPr lang="en-US" altLang="zh-CN" sz="2000" dirty="0"/>
                  <a:t>Mac OS X</a:t>
                </a:r>
                <a:r>
                  <a:rPr lang="zh-CN" altLang="en-US" sz="2000" dirty="0"/>
                  <a:t>、</a:t>
                </a:r>
                <a:r>
                  <a:rPr lang="en-US" altLang="zh-CN" sz="2000" dirty="0"/>
                  <a:t>Solaris</a:t>
                </a:r>
                <a:r>
                  <a:rPr lang="zh-CN" altLang="en-US" sz="2000" dirty="0"/>
                  <a:t>以及</a:t>
                </a:r>
                <a:r>
                  <a:rPr lang="en-US" altLang="zh-CN" sz="2000" dirty="0"/>
                  <a:t>Windows</a:t>
                </a:r>
                <a:endParaRPr lang="en-US" altLang="zh-CN" sz="2000" dirty="0"/>
              </a:p>
            </p:txBody>
          </p:sp>
        </p:grpSp>
      </p:grpSp>
      <p:cxnSp>
        <p:nvCxnSpPr>
          <p:cNvPr id="22" name="直接连接符 21"/>
          <p:cNvCxnSpPr/>
          <p:nvPr/>
        </p:nvCxnSpPr>
        <p:spPr>
          <a:xfrm>
            <a:off x="1841929" y="2157246"/>
            <a:ext cx="976193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841929" y="4083512"/>
            <a:ext cx="976193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Solaris </a:t>
            </a:r>
            <a:r>
              <a:rPr lang="zh-CN" altLang="en-US" sz="2800" b="1" dirty="0">
                <a:solidFill>
                  <a:schemeClr val="bg1"/>
                </a:solidFill>
              </a:rPr>
              <a:t>模块</a:t>
            </a:r>
            <a:endParaRPr lang="zh-CN" altLang="en-US" sz="2800" b="1" dirty="0">
              <a:solidFill>
                <a:schemeClr val="bg1"/>
              </a:solidFill>
            </a:endParaRPr>
          </a:p>
        </p:txBody>
      </p:sp>
      <p:pic>
        <p:nvPicPr>
          <p:cNvPr id="19" name="Picture 4"/>
          <p:cNvPicPr>
            <a:picLocks noChangeAspect="1" noChangeArrowheads="1"/>
          </p:cNvPicPr>
          <p:nvPr/>
        </p:nvPicPr>
        <p:blipFill>
          <a:blip r:embed="rId1">
            <a:extLst>
              <a:ext uri="{28A0092B-C50C-407E-A947-70E740481C1C}">
                <a14:useLocalDpi xmlns:a14="http://schemas.microsoft.com/office/drawing/2010/main" val="0"/>
              </a:ext>
            </a:extLst>
          </a:blip>
          <a:srcRect l="528" t="18747" r="351" b="19215"/>
          <a:stretch>
            <a:fillRect/>
          </a:stretch>
        </p:blipFill>
        <p:spPr bwMode="auto">
          <a:xfrm>
            <a:off x="1611468" y="1447755"/>
            <a:ext cx="8877933" cy="4167434"/>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分层式结构</a:t>
            </a:r>
            <a:endParaRPr lang="zh-CN" altLang="en-US" sz="2800" b="1" dirty="0">
              <a:solidFill>
                <a:schemeClr val="bg1"/>
              </a:solidFill>
            </a:endParaRPr>
          </a:p>
        </p:txBody>
      </p:sp>
      <p:sp>
        <p:nvSpPr>
          <p:cNvPr id="4" name="íšḻîḋè"/>
          <p:cNvSpPr/>
          <p:nvPr/>
        </p:nvSpPr>
        <p:spPr>
          <a:xfrm>
            <a:off x="2055936" y="3525448"/>
            <a:ext cx="7178215" cy="99605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易保证系统的准确性。</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可保证系统的易维护性和可扩充性。</a:t>
            </a:r>
            <a:endParaRPr lang="zh-CN" altLang="en-US" sz="2200" dirty="0"/>
          </a:p>
        </p:txBody>
      </p:sp>
      <p:sp>
        <p:nvSpPr>
          <p:cNvPr id="5" name="i$lîďê"/>
          <p:cNvSpPr/>
          <p:nvPr/>
        </p:nvSpPr>
        <p:spPr>
          <a:xfrm>
            <a:off x="2111572" y="2995279"/>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优点：</a:t>
            </a:r>
            <a:endParaRPr lang="en-US" altLang="zh-CN" sz="2400" dirty="0">
              <a:solidFill>
                <a:srgbClr val="FF0000"/>
              </a:solidFill>
            </a:endParaRPr>
          </a:p>
        </p:txBody>
      </p:sp>
      <p:sp>
        <p:nvSpPr>
          <p:cNvPr id="6" name="î$ļíḋè"/>
          <p:cNvSpPr/>
          <p:nvPr/>
        </p:nvSpPr>
        <p:spPr>
          <a:xfrm>
            <a:off x="2111574" y="5109674"/>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系统效率低。</a:t>
            </a:r>
            <a:endParaRPr lang="zh-CN" altLang="en-US" sz="2200" dirty="0"/>
          </a:p>
        </p:txBody>
      </p:sp>
      <p:sp>
        <p:nvSpPr>
          <p:cNvPr id="7" name="ïṧḷïḋè"/>
          <p:cNvSpPr/>
          <p:nvPr/>
        </p:nvSpPr>
        <p:spPr>
          <a:xfrm>
            <a:off x="2111574" y="4596899"/>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缺点：</a:t>
            </a:r>
            <a:endParaRPr lang="zh-CN" altLang="en-US" sz="2400" dirty="0">
              <a:solidFill>
                <a:srgbClr val="FF0000"/>
              </a:solidFill>
            </a:endParaRPr>
          </a:p>
        </p:txBody>
      </p:sp>
      <p:sp>
        <p:nvSpPr>
          <p:cNvPr id="8" name="îs1iďé"/>
          <p:cNvSpPr/>
          <p:nvPr/>
        </p:nvSpPr>
        <p:spPr>
          <a:xfrm>
            <a:off x="2130630" y="1804361"/>
            <a:ext cx="9711234" cy="1169374"/>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高层仅依赖于紧邻它的底层。</a:t>
            </a:r>
            <a:endParaRPr lang="zh-CN" altLang="en-US" sz="2200" dirty="0"/>
          </a:p>
          <a:p>
            <a:pPr marL="342900" indent="-342900">
              <a:lnSpc>
                <a:spcPct val="120000"/>
              </a:lnSpc>
              <a:spcBef>
                <a:spcPts val="800"/>
              </a:spcBef>
              <a:buClr>
                <a:srgbClr val="FF0000"/>
              </a:buClr>
              <a:buFont typeface="Wingdings" panose="05000000000000000000" pitchFamily="2" charset="2"/>
              <a:buChar char="Ø"/>
            </a:pPr>
            <a:r>
              <a:rPr lang="zh-CN" altLang="en-US" sz="2200" dirty="0"/>
              <a:t>底层（</a:t>
            </a:r>
            <a:r>
              <a:rPr lang="en-US" altLang="zh-CN" sz="2200" dirty="0"/>
              <a:t>0</a:t>
            </a:r>
            <a:r>
              <a:rPr lang="zh-CN" altLang="en-US" sz="2200" dirty="0"/>
              <a:t>层）为硬件；最高层（ </a:t>
            </a:r>
            <a:r>
              <a:rPr lang="en-US" altLang="zh-CN" sz="2200" dirty="0"/>
              <a:t>N</a:t>
            </a:r>
            <a:r>
              <a:rPr lang="zh-CN" altLang="en-US" sz="2200" dirty="0"/>
              <a:t>层）为用户层。</a:t>
            </a:r>
            <a:endParaRPr lang="zh-CN" altLang="en-US" sz="2200" dirty="0"/>
          </a:p>
        </p:txBody>
      </p:sp>
      <p:sp>
        <p:nvSpPr>
          <p:cNvPr id="9" name="íšḻíḑê"/>
          <p:cNvSpPr/>
          <p:nvPr/>
        </p:nvSpPr>
        <p:spPr>
          <a:xfrm>
            <a:off x="2111573" y="1271404"/>
            <a:ext cx="7264247" cy="405747"/>
          </a:xfrm>
          <a:prstGeom prst="rect">
            <a:avLst/>
          </a:prstGeom>
          <a:noFill/>
          <a:ln>
            <a:noFill/>
          </a:ln>
        </p:spPr>
        <p:txBody>
          <a:bodyPr wrap="square" lIns="91440" tIns="45720" rIns="91440" bIns="45720" anchor="ctr" anchorCtr="0">
            <a:noAutofit/>
          </a:bodyPr>
          <a:lstStyle/>
          <a:p>
            <a:r>
              <a:rPr lang="zh-CN" altLang="en-US" sz="2400" dirty="0"/>
              <a:t>操作系统划分为若干层，在低层上构建高层。</a:t>
            </a:r>
            <a:endParaRPr lang="zh-CN" altLang="en-US" sz="2400" dirty="0"/>
          </a:p>
        </p:txBody>
      </p:sp>
      <p:sp>
        <p:nvSpPr>
          <p:cNvPr id="24" name="íšḻíḑê"/>
          <p:cNvSpPr/>
          <p:nvPr/>
        </p:nvSpPr>
        <p:spPr>
          <a:xfrm>
            <a:off x="2111573" y="5816070"/>
            <a:ext cx="7264247" cy="405747"/>
          </a:xfrm>
          <a:prstGeom prst="rect">
            <a:avLst/>
          </a:prstGeom>
          <a:noFill/>
          <a:ln>
            <a:noFill/>
          </a:ln>
        </p:spPr>
        <p:txBody>
          <a:bodyPr wrap="square" lIns="91440" tIns="45720" rIns="91440" bIns="45720" anchor="ctr" anchorCtr="0">
            <a:noAutofit/>
          </a:bodyPr>
          <a:lstStyle/>
          <a:p>
            <a:r>
              <a:rPr lang="zh-CN" altLang="en-US" sz="2400" dirty="0"/>
              <a:t>例子：</a:t>
            </a:r>
            <a:r>
              <a:rPr lang="en-US" altLang="zh-CN" sz="2400" dirty="0"/>
              <a:t>THE</a:t>
            </a:r>
            <a:r>
              <a:rPr lang="zh-CN" altLang="en-US" sz="2400" dirty="0"/>
              <a:t>、</a:t>
            </a:r>
            <a:r>
              <a:rPr lang="en-US" altLang="zh-CN" sz="2400" dirty="0" err="1"/>
              <a:t>Multics</a:t>
            </a:r>
            <a:endParaRPr lang="zh-CN" altLang="en-US" sz="2400" dirty="0"/>
          </a:p>
        </p:txBody>
      </p:sp>
      <p:sp>
        <p:nvSpPr>
          <p:cNvPr id="10" name="îSļiḓè"/>
          <p:cNvSpPr/>
          <p:nvPr/>
        </p:nvSpPr>
        <p:spPr>
          <a:xfrm>
            <a:off x="1428070" y="125784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íṥḻîḓe"/>
          <p:cNvSpPr/>
          <p:nvPr/>
        </p:nvSpPr>
        <p:spPr>
          <a:xfrm>
            <a:off x="1428070" y="451429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îşļiḓè"/>
          <p:cNvSpPr/>
          <p:nvPr/>
        </p:nvSpPr>
        <p:spPr>
          <a:xfrm>
            <a:off x="1428070" y="289475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ṡḷíďe"/>
          <p:cNvSpPr/>
          <p:nvPr/>
        </p:nvSpPr>
        <p:spPr>
          <a:xfrm>
            <a:off x="1618325" y="145398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4" name="íSlíḋe"/>
          <p:cNvSpPr/>
          <p:nvPr/>
        </p:nvSpPr>
        <p:spPr>
          <a:xfrm>
            <a:off x="1618324" y="3116770"/>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ïśḷïḓe"/>
          <p:cNvSpPr/>
          <p:nvPr/>
        </p:nvSpPr>
        <p:spPr>
          <a:xfrm>
            <a:off x="1647263" y="470375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5" name="îSļiḓè"/>
          <p:cNvSpPr/>
          <p:nvPr/>
        </p:nvSpPr>
        <p:spPr>
          <a:xfrm>
            <a:off x="1428070" y="569947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6" name="îṡḷíďe"/>
          <p:cNvSpPr/>
          <p:nvPr/>
        </p:nvSpPr>
        <p:spPr>
          <a:xfrm>
            <a:off x="1618325" y="5895614"/>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分层操作系统</a:t>
            </a:r>
            <a:endParaRPr lang="zh-CN" altLang="en-US" sz="2800" b="1" dirty="0">
              <a:solidFill>
                <a:schemeClr val="bg1"/>
              </a:solidFill>
            </a:endParaRPr>
          </a:p>
        </p:txBody>
      </p:sp>
      <p:pic>
        <p:nvPicPr>
          <p:cNvPr id="19" name="Picture 3"/>
          <p:cNvPicPr>
            <a:picLocks noChangeAspect="1" noChangeArrowheads="1"/>
          </p:cNvPicPr>
          <p:nvPr/>
        </p:nvPicPr>
        <p:blipFill>
          <a:blip r:embed="rId1">
            <a:extLst>
              <a:ext uri="{28A0092B-C50C-407E-A947-70E740481C1C}">
                <a14:useLocalDpi xmlns:a14="http://schemas.microsoft.com/office/drawing/2010/main" val="0"/>
              </a:ext>
            </a:extLst>
          </a:blip>
          <a:srcRect l="13089" t="708" r="13089" b="708"/>
          <a:stretch>
            <a:fillRect/>
          </a:stretch>
        </p:blipFill>
        <p:spPr bwMode="auto">
          <a:xfrm>
            <a:off x="3747215" y="1135178"/>
            <a:ext cx="5087691" cy="5095309"/>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微内核</a:t>
            </a:r>
            <a:r>
              <a:rPr lang="en-US" altLang="zh-CN" sz="2800" b="1" dirty="0">
                <a:solidFill>
                  <a:schemeClr val="bg1"/>
                </a:solidFill>
              </a:rPr>
              <a:t>OS</a:t>
            </a:r>
            <a:r>
              <a:rPr lang="zh-CN" altLang="en-US" sz="2800" b="1" dirty="0">
                <a:solidFill>
                  <a:schemeClr val="bg1"/>
                </a:solidFill>
              </a:rPr>
              <a:t>结构</a:t>
            </a:r>
            <a:endParaRPr lang="zh-CN" altLang="en-US" sz="2800" b="1" dirty="0">
              <a:solidFill>
                <a:schemeClr val="bg1"/>
              </a:solidFill>
            </a:endParaRPr>
          </a:p>
        </p:txBody>
      </p:sp>
      <p:sp>
        <p:nvSpPr>
          <p:cNvPr id="4" name="íšḻîḋè"/>
          <p:cNvSpPr/>
          <p:nvPr/>
        </p:nvSpPr>
        <p:spPr>
          <a:xfrm>
            <a:off x="1849875" y="4167296"/>
            <a:ext cx="7178215" cy="45733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进程管理、低级存储器管理、中断和陷入处理</a:t>
            </a:r>
            <a:endParaRPr lang="zh-CN" altLang="en-US" sz="2200" dirty="0"/>
          </a:p>
        </p:txBody>
      </p:sp>
      <p:sp>
        <p:nvSpPr>
          <p:cNvPr id="5" name="i$lîďê"/>
          <p:cNvSpPr/>
          <p:nvPr/>
        </p:nvSpPr>
        <p:spPr>
          <a:xfrm>
            <a:off x="1905511" y="3637127"/>
            <a:ext cx="3696051" cy="392877"/>
          </a:xfrm>
          <a:prstGeom prst="rect">
            <a:avLst/>
          </a:prstGeom>
          <a:noFill/>
          <a:ln>
            <a:noFill/>
          </a:ln>
        </p:spPr>
        <p:txBody>
          <a:bodyPr wrap="square" lIns="91440" tIns="45720" rIns="91440" bIns="45720" anchor="ctr" anchorCtr="0">
            <a:noAutofit/>
          </a:bodyPr>
          <a:lstStyle/>
          <a:p>
            <a:r>
              <a:rPr lang="zh-CN" altLang="en-US" sz="2400" dirty="0"/>
              <a:t>基本功能</a:t>
            </a:r>
            <a:endParaRPr lang="zh-CN" altLang="en-US" sz="2400" dirty="0"/>
          </a:p>
        </p:txBody>
      </p:sp>
      <p:sp>
        <p:nvSpPr>
          <p:cNvPr id="7" name="ïṧḷïḋè"/>
          <p:cNvSpPr/>
          <p:nvPr/>
        </p:nvSpPr>
        <p:spPr>
          <a:xfrm>
            <a:off x="1905512" y="5047660"/>
            <a:ext cx="6066511" cy="415102"/>
          </a:xfrm>
          <a:prstGeom prst="rect">
            <a:avLst/>
          </a:prstGeom>
          <a:noFill/>
          <a:ln>
            <a:noFill/>
          </a:ln>
        </p:spPr>
        <p:txBody>
          <a:bodyPr wrap="square" lIns="91440" tIns="45720" rIns="91440" bIns="45720" anchor="ctr" anchorCtr="0">
            <a:noAutofit/>
          </a:bodyPr>
          <a:lstStyle/>
          <a:p>
            <a:r>
              <a:rPr lang="zh-CN" altLang="en-US" sz="2400" dirty="0"/>
              <a:t>实例：</a:t>
            </a:r>
            <a:r>
              <a:rPr lang="en-US" altLang="zh-CN" sz="2400" dirty="0"/>
              <a:t>Mach OS, Windows 2000/XP</a:t>
            </a:r>
            <a:endParaRPr lang="en-US" altLang="zh-CN" sz="2400" dirty="0"/>
          </a:p>
        </p:txBody>
      </p:sp>
      <p:sp>
        <p:nvSpPr>
          <p:cNvPr id="8" name="îs1iďé"/>
          <p:cNvSpPr/>
          <p:nvPr/>
        </p:nvSpPr>
        <p:spPr>
          <a:xfrm>
            <a:off x="1924568" y="2216485"/>
            <a:ext cx="4069722" cy="1169374"/>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足够小的内核</a:t>
            </a:r>
            <a:endParaRPr lang="zh-CN" altLang="en-US" sz="2200" dirty="0"/>
          </a:p>
          <a:p>
            <a:pPr marL="342900" indent="-342900">
              <a:lnSpc>
                <a:spcPct val="120000"/>
              </a:lnSpc>
              <a:spcBef>
                <a:spcPts val="800"/>
              </a:spcBef>
              <a:buClr>
                <a:srgbClr val="FF0000"/>
              </a:buClr>
              <a:buFont typeface="Wingdings" panose="05000000000000000000" pitchFamily="2" charset="2"/>
              <a:buChar char="Ø"/>
            </a:pPr>
            <a:r>
              <a:rPr lang="zh-CN" altLang="en-US" sz="2200" dirty="0"/>
              <a:t>基于客户</a:t>
            </a:r>
            <a:r>
              <a:rPr lang="en-US" altLang="zh-CN" sz="2200" dirty="0"/>
              <a:t>/</a:t>
            </a:r>
            <a:r>
              <a:rPr lang="zh-CN" altLang="en-US" sz="2200" dirty="0"/>
              <a:t>服务器模式</a:t>
            </a:r>
            <a:endParaRPr lang="zh-CN" altLang="en-US" sz="2200" dirty="0"/>
          </a:p>
        </p:txBody>
      </p:sp>
      <p:sp>
        <p:nvSpPr>
          <p:cNvPr id="9" name="íšḻíḑê"/>
          <p:cNvSpPr/>
          <p:nvPr/>
        </p:nvSpPr>
        <p:spPr>
          <a:xfrm>
            <a:off x="1905511" y="1683528"/>
            <a:ext cx="7264247"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基本概念</a:t>
            </a:r>
            <a:endParaRPr lang="zh-CN" altLang="en-US" sz="2400" dirty="0">
              <a:solidFill>
                <a:srgbClr val="FF0000"/>
              </a:solidFill>
            </a:endParaRPr>
          </a:p>
        </p:txBody>
      </p:sp>
      <p:sp>
        <p:nvSpPr>
          <p:cNvPr id="10" name="îSļiḓè"/>
          <p:cNvSpPr/>
          <p:nvPr/>
        </p:nvSpPr>
        <p:spPr>
          <a:xfrm>
            <a:off x="1222008" y="166996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íṥḻîḓe"/>
          <p:cNvSpPr/>
          <p:nvPr/>
        </p:nvSpPr>
        <p:spPr>
          <a:xfrm>
            <a:off x="1222008" y="492642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îşļiḓè"/>
          <p:cNvSpPr/>
          <p:nvPr/>
        </p:nvSpPr>
        <p:spPr>
          <a:xfrm>
            <a:off x="1222009" y="353660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ṡḷíďe"/>
          <p:cNvSpPr/>
          <p:nvPr/>
        </p:nvSpPr>
        <p:spPr>
          <a:xfrm>
            <a:off x="1412263" y="1866104"/>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4" name="íSlíḋe"/>
          <p:cNvSpPr/>
          <p:nvPr/>
        </p:nvSpPr>
        <p:spPr>
          <a:xfrm>
            <a:off x="1412263" y="375861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ïśḷïḓe"/>
          <p:cNvSpPr/>
          <p:nvPr/>
        </p:nvSpPr>
        <p:spPr>
          <a:xfrm>
            <a:off x="1441201" y="511588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6" name="îs1iďé"/>
          <p:cNvSpPr/>
          <p:nvPr/>
        </p:nvSpPr>
        <p:spPr>
          <a:xfrm>
            <a:off x="6068983" y="2215200"/>
            <a:ext cx="4798205" cy="1169374"/>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应用“机制与策略分离”原理</a:t>
            </a:r>
            <a:endParaRPr lang="zh-CN" altLang="en-US" sz="2200" dirty="0"/>
          </a:p>
          <a:p>
            <a:pPr marL="342900" indent="-342900">
              <a:lnSpc>
                <a:spcPct val="120000"/>
              </a:lnSpc>
              <a:spcBef>
                <a:spcPts val="800"/>
              </a:spcBef>
              <a:buClr>
                <a:srgbClr val="FF0000"/>
              </a:buClr>
              <a:buFont typeface="Wingdings" panose="05000000000000000000" pitchFamily="2" charset="2"/>
              <a:buChar char="Ø"/>
            </a:pPr>
            <a:r>
              <a:rPr lang="zh-CN" altLang="en-US" sz="2200" dirty="0"/>
              <a:t>采用面向对象技术</a:t>
            </a:r>
            <a:endParaRPr lang="zh-CN" altLang="en-US" sz="2200" dirty="0"/>
          </a:p>
        </p:txBody>
      </p:sp>
      <p:cxnSp>
        <p:nvCxnSpPr>
          <p:cNvPr id="3" name="直接连接符 2"/>
          <p:cNvCxnSpPr/>
          <p:nvPr/>
        </p:nvCxnSpPr>
        <p:spPr>
          <a:xfrm>
            <a:off x="1924568" y="3384574"/>
            <a:ext cx="86103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905511" y="4788371"/>
            <a:ext cx="86103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924568" y="5831560"/>
            <a:ext cx="861035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微内核结构示意图</a:t>
            </a:r>
            <a:endParaRPr lang="zh-CN" altLang="en-US" sz="2800" b="1" dirty="0">
              <a:solidFill>
                <a:schemeClr val="bg1"/>
              </a:solidFill>
            </a:endParaRPr>
          </a:p>
        </p:txBody>
      </p:sp>
      <p:pic>
        <p:nvPicPr>
          <p:cNvPr id="18" name="图片 17"/>
          <p:cNvPicPr>
            <a:picLocks noChangeAspect="1"/>
          </p:cNvPicPr>
          <p:nvPr/>
        </p:nvPicPr>
        <p:blipFill>
          <a:blip r:embed="rId1"/>
          <a:stretch>
            <a:fillRect/>
          </a:stretch>
        </p:blipFill>
        <p:spPr>
          <a:xfrm>
            <a:off x="460646" y="2326322"/>
            <a:ext cx="11510645" cy="220535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微内核系统的优点和存在问题</a:t>
            </a:r>
            <a:endParaRPr lang="zh-CN" altLang="en-US" sz="2800" b="1" dirty="0">
              <a:solidFill>
                <a:schemeClr val="bg1"/>
              </a:solidFill>
            </a:endParaRPr>
          </a:p>
        </p:txBody>
      </p:sp>
      <p:sp>
        <p:nvSpPr>
          <p:cNvPr id="6" name="îṧľîdé"/>
          <p:cNvSpPr/>
          <p:nvPr/>
        </p:nvSpPr>
        <p:spPr>
          <a:xfrm>
            <a:off x="4021874" y="1444531"/>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7" name="内容占位符 2"/>
          <p:cNvSpPr txBox="1"/>
          <p:nvPr/>
        </p:nvSpPr>
        <p:spPr>
          <a:xfrm>
            <a:off x="946219" y="1839430"/>
            <a:ext cx="430836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400" dirty="0"/>
              <a:t>微内核系统</a:t>
            </a:r>
            <a:r>
              <a:rPr lang="zh-CN" altLang="en-US" sz="2400" dirty="0">
                <a:solidFill>
                  <a:srgbClr val="FF0000"/>
                </a:solidFill>
              </a:rPr>
              <a:t>优点：</a:t>
            </a:r>
            <a:endParaRPr lang="en-US" altLang="zh-CN" sz="2400" dirty="0"/>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提高了系统的可扩展性</a:t>
            </a:r>
            <a:endParaRPr lang="zh-CN" altLang="en-US"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增强了系统的可靠性</a:t>
            </a:r>
            <a:endParaRPr lang="zh-CN" altLang="en-US"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可移植性强</a:t>
            </a:r>
            <a:endParaRPr lang="zh-CN" altLang="en-US"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提供了对分布式系统的支持</a:t>
            </a:r>
            <a:endParaRPr lang="zh-CN" altLang="en-US"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融入了面向对象技术</a:t>
            </a:r>
            <a:endParaRPr lang="zh-CN" altLang="en-US" sz="2200" dirty="0">
              <a:solidFill>
                <a:schemeClr val="tx1">
                  <a:lumMod val="65000"/>
                  <a:lumOff val="35000"/>
                </a:schemeClr>
              </a:solidFill>
            </a:endParaRPr>
          </a:p>
        </p:txBody>
      </p:sp>
      <p:sp>
        <p:nvSpPr>
          <p:cNvPr id="8" name="内容占位符 2"/>
          <p:cNvSpPr txBox="1"/>
          <p:nvPr/>
        </p:nvSpPr>
        <p:spPr>
          <a:xfrm>
            <a:off x="7807946" y="2584896"/>
            <a:ext cx="3551220"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微内核系统</a:t>
            </a:r>
            <a:r>
              <a:rPr lang="zh-CN" altLang="en-US" sz="2400" dirty="0">
                <a:solidFill>
                  <a:srgbClr val="FF0000"/>
                </a:solidFill>
              </a:rPr>
              <a:t>存在的问题：</a:t>
            </a:r>
            <a:endParaRPr lang="en-US" altLang="zh-CN" sz="2400" dirty="0"/>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运行效率有所降低</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主要原因：在完成一次客户对操作系统提出的服务请求时，需要利用消息实现多次交互和进行用户</a:t>
            </a:r>
            <a:r>
              <a:rPr lang="en-US" altLang="zh-CN" sz="2200" dirty="0">
                <a:solidFill>
                  <a:schemeClr val="tx1">
                    <a:lumMod val="65000"/>
                    <a:lumOff val="35000"/>
                  </a:schemeClr>
                </a:solidFill>
              </a:rPr>
              <a:t>/</a:t>
            </a:r>
            <a:r>
              <a:rPr lang="zh-CN" altLang="en-US" sz="2200" dirty="0">
                <a:solidFill>
                  <a:schemeClr val="tx1">
                    <a:lumMod val="65000"/>
                    <a:lumOff val="35000"/>
                  </a:schemeClr>
                </a:solidFill>
              </a:rPr>
              <a:t>内核模型与上下文的多次切换</a:t>
            </a:r>
            <a:endParaRPr lang="zh-CN" altLang="en-US" sz="2200" dirty="0">
              <a:solidFill>
                <a:schemeClr val="tx1">
                  <a:lumMod val="65000"/>
                  <a:lumOff val="35000"/>
                </a:schemeClr>
              </a:solidFill>
            </a:endParaRPr>
          </a:p>
        </p:txBody>
      </p:sp>
      <p:sp>
        <p:nvSpPr>
          <p:cNvPr id="9" name="íSľïdé"/>
          <p:cNvSpPr/>
          <p:nvPr/>
        </p:nvSpPr>
        <p:spPr>
          <a:xfrm>
            <a:off x="4919214" y="1879387"/>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0" name="ïŝļíḓê"/>
          <p:cNvSpPr/>
          <p:nvPr/>
        </p:nvSpPr>
        <p:spPr bwMode="auto">
          <a:xfrm>
            <a:off x="6001738" y="2827961"/>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外核结构</a:t>
            </a:r>
            <a:endParaRPr lang="zh-CN" altLang="en-US" sz="2800" b="1" dirty="0">
              <a:solidFill>
                <a:schemeClr val="bg1"/>
              </a:solidFill>
            </a:endParaRPr>
          </a:p>
        </p:txBody>
      </p:sp>
      <p:sp>
        <p:nvSpPr>
          <p:cNvPr id="7" name="内容占位符 2"/>
          <p:cNvSpPr txBox="1"/>
          <p:nvPr/>
        </p:nvSpPr>
        <p:spPr>
          <a:xfrm>
            <a:off x="1475122" y="1620491"/>
            <a:ext cx="4468969" cy="300302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zh-CN" altLang="en-US" sz="2400" dirty="0">
                <a:solidFill>
                  <a:srgbClr val="FF0000"/>
                </a:solidFill>
              </a:rPr>
              <a:t>基本思想</a:t>
            </a:r>
            <a:r>
              <a:rPr lang="zh-CN" altLang="en-US" sz="2400" dirty="0"/>
              <a:t>：</a:t>
            </a:r>
            <a:r>
              <a:rPr lang="zh-CN" altLang="zh-CN" sz="2400" dirty="0"/>
              <a:t>内核不提供传统</a:t>
            </a:r>
            <a:r>
              <a:rPr lang="en-US" altLang="zh-CN" sz="2400" dirty="0"/>
              <a:t>OS</a:t>
            </a:r>
            <a:r>
              <a:rPr lang="zh-CN" altLang="zh-CN" sz="2400" dirty="0"/>
              <a:t>中的进程、虚拟存储器等抽象，而是专注于物理资源的隔离（保护）与复用。</a:t>
            </a:r>
            <a:endParaRPr lang="en-US" altLang="zh-CN" sz="2400" dirty="0"/>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内核非常小，负责保护系统资源；</a:t>
            </a:r>
            <a:endParaRPr lang="zh-CN" altLang="en-US"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应用程序管理硬件资源。</a:t>
            </a:r>
            <a:endParaRPr lang="zh-CN" altLang="en-US" sz="2200" dirty="0">
              <a:solidFill>
                <a:schemeClr val="tx1">
                  <a:lumMod val="65000"/>
                  <a:lumOff val="35000"/>
                </a:schemeClr>
              </a:solidFill>
            </a:endParaRPr>
          </a:p>
        </p:txBody>
      </p:sp>
      <p:grpSp>
        <p:nvGrpSpPr>
          <p:cNvPr id="2" name="组合 1"/>
          <p:cNvGrpSpPr/>
          <p:nvPr/>
        </p:nvGrpSpPr>
        <p:grpSpPr>
          <a:xfrm>
            <a:off x="589878" y="1775039"/>
            <a:ext cx="712277" cy="418475"/>
            <a:chOff x="673100" y="2982961"/>
            <a:chExt cx="1597850" cy="938764"/>
          </a:xfrm>
        </p:grpSpPr>
        <p:sp>
          <p:nvSpPr>
            <p:cNvPr id="11"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2"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13" name="组合 12"/>
          <p:cNvGrpSpPr/>
          <p:nvPr/>
        </p:nvGrpSpPr>
        <p:grpSpPr>
          <a:xfrm>
            <a:off x="654272" y="4893976"/>
            <a:ext cx="712277" cy="418475"/>
            <a:chOff x="673100" y="2982961"/>
            <a:chExt cx="1597850" cy="938764"/>
          </a:xfrm>
        </p:grpSpPr>
        <p:sp>
          <p:nvSpPr>
            <p:cNvPr id="14"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5"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
        <p:nvSpPr>
          <p:cNvPr id="16" name="内容占位符 2"/>
          <p:cNvSpPr txBox="1"/>
          <p:nvPr/>
        </p:nvSpPr>
        <p:spPr>
          <a:xfrm>
            <a:off x="1475122" y="4891728"/>
            <a:ext cx="3013657" cy="5108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实例</a:t>
            </a:r>
            <a:r>
              <a:rPr lang="zh-CN" altLang="en-US" sz="2400" dirty="0"/>
              <a:t>：</a:t>
            </a:r>
            <a:r>
              <a:rPr lang="en-US" altLang="zh-CN" sz="2400" dirty="0"/>
              <a:t>Aegis</a:t>
            </a:r>
            <a:r>
              <a:rPr lang="zh-CN" altLang="zh-CN" sz="2400" dirty="0"/>
              <a:t>系统。</a:t>
            </a:r>
            <a:endParaRPr lang="zh-CN" altLang="en-US" sz="2400" dirty="0"/>
          </a:p>
        </p:txBody>
      </p:sp>
      <p:pic>
        <p:nvPicPr>
          <p:cNvPr id="17" name="图片 16"/>
          <p:cNvPicPr>
            <a:picLocks noChangeAspect="1"/>
          </p:cNvPicPr>
          <p:nvPr/>
        </p:nvPicPr>
        <p:blipFill>
          <a:blip r:embed="rId1"/>
          <a:stretch>
            <a:fillRect/>
          </a:stretch>
        </p:blipFill>
        <p:spPr>
          <a:xfrm>
            <a:off x="6271606" y="1612630"/>
            <a:ext cx="5744210" cy="390588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61665"/>
          </a:xfrm>
          <a:prstGeom prst="rect">
            <a:avLst/>
          </a:prstGeom>
        </p:spPr>
        <p:txBody>
          <a:bodyPr wrap="square">
            <a:spAutoFit/>
          </a:bodyPr>
          <a:lstStyle/>
          <a:p>
            <a:r>
              <a:rPr lang="en-US" altLang="zh-CN" sz="2400" b="1" dirty="0">
                <a:solidFill>
                  <a:srgbClr val="0000FF"/>
                </a:solidFill>
                <a:latin typeface="+mj-ea"/>
              </a:rPr>
              <a:t>1.7 </a:t>
            </a:r>
            <a:r>
              <a:rPr lang="zh-CN" altLang="en-US" sz="2400" b="1" dirty="0">
                <a:solidFill>
                  <a:srgbClr val="0000FF"/>
                </a:solidFill>
                <a:latin typeface="+mj-ea"/>
              </a:rPr>
              <a:t>系统调用</a:t>
            </a:r>
            <a:endParaRPr lang="zh-CN" altLang="en-US" sz="2400" b="1" dirty="0">
              <a:solidFill>
                <a:srgbClr val="0000FF"/>
              </a:solidFill>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361663" y="3247028"/>
            <a:ext cx="4329575" cy="530594"/>
          </a:xfrm>
          <a:prstGeom prst="rect">
            <a:avLst/>
          </a:prstGeom>
        </p:spPr>
        <p:txBody>
          <a:bodyPr wrap="square">
            <a:spAutoFit/>
          </a:bodyPr>
          <a:lstStyle/>
          <a:p>
            <a:pPr algn="ctr">
              <a:lnSpc>
                <a:spcPct val="132000"/>
              </a:lnSpc>
            </a:pPr>
            <a:r>
              <a:rPr lang="zh-CN" altLang="en-US" sz="2400" dirty="0">
                <a:solidFill>
                  <a:srgbClr val="002060"/>
                </a:solidFill>
              </a:rPr>
              <a:t>主讲：王红玲    主审：汤小丹</a:t>
            </a: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系统调用的基本概念</a:t>
            </a:r>
            <a:endParaRPr lang="zh-CN" altLang="en-US" sz="2800" b="1" dirty="0">
              <a:solidFill>
                <a:schemeClr val="bg1"/>
              </a:solidFill>
            </a:endParaRPr>
          </a:p>
        </p:txBody>
      </p:sp>
      <p:sp>
        <p:nvSpPr>
          <p:cNvPr id="4" name="íšḻîḋè"/>
          <p:cNvSpPr/>
          <p:nvPr/>
        </p:nvSpPr>
        <p:spPr>
          <a:xfrm>
            <a:off x="2055936" y="3048930"/>
            <a:ext cx="7178215" cy="99605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应用程序请求</a:t>
            </a:r>
            <a:r>
              <a:rPr lang="en-US" altLang="zh-CN" sz="2200" dirty="0"/>
              <a:t>OS</a:t>
            </a:r>
            <a:r>
              <a:rPr lang="zh-CN" altLang="en-US" sz="2200" dirty="0"/>
              <a:t>内核完成某功能时的一种过程调用；</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用户与内核的接口。</a:t>
            </a:r>
            <a:endParaRPr lang="zh-CN" altLang="en-US" sz="2200" dirty="0"/>
          </a:p>
        </p:txBody>
      </p:sp>
      <p:sp>
        <p:nvSpPr>
          <p:cNvPr id="5" name="i$lîďê"/>
          <p:cNvSpPr/>
          <p:nvPr/>
        </p:nvSpPr>
        <p:spPr>
          <a:xfrm>
            <a:off x="2111572" y="2518761"/>
            <a:ext cx="3696051" cy="392877"/>
          </a:xfrm>
          <a:prstGeom prst="rect">
            <a:avLst/>
          </a:prstGeom>
          <a:noFill/>
          <a:ln>
            <a:noFill/>
          </a:ln>
        </p:spPr>
        <p:txBody>
          <a:bodyPr wrap="square" lIns="91440" tIns="45720" rIns="91440" bIns="45720" anchor="ctr" anchorCtr="0">
            <a:noAutofit/>
          </a:bodyPr>
          <a:lstStyle/>
          <a:p>
            <a:r>
              <a:rPr lang="zh-CN" altLang="en-US" sz="2400" dirty="0"/>
              <a:t>系统调用</a:t>
            </a:r>
            <a:r>
              <a:rPr lang="zh-CN" altLang="en-US" sz="2400" dirty="0">
                <a:solidFill>
                  <a:srgbClr val="FF0000"/>
                </a:solidFill>
              </a:rPr>
              <a:t>概念：</a:t>
            </a:r>
            <a:endParaRPr lang="zh-CN" altLang="en-US" sz="2400" dirty="0">
              <a:solidFill>
                <a:srgbClr val="FF0000"/>
              </a:solidFill>
            </a:endParaRPr>
          </a:p>
        </p:txBody>
      </p:sp>
      <p:sp>
        <p:nvSpPr>
          <p:cNvPr id="6" name="î$ļíḋè"/>
          <p:cNvSpPr/>
          <p:nvPr/>
        </p:nvSpPr>
        <p:spPr>
          <a:xfrm>
            <a:off x="2111574" y="4633156"/>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运行在不同的系统状态</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状态的转换</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返回问题</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嵌套调用</a:t>
            </a:r>
            <a:endParaRPr lang="zh-CN" altLang="en-US" sz="2200" dirty="0"/>
          </a:p>
        </p:txBody>
      </p:sp>
      <p:sp>
        <p:nvSpPr>
          <p:cNvPr id="7" name="ïṧḷïḋè"/>
          <p:cNvSpPr/>
          <p:nvPr/>
        </p:nvSpPr>
        <p:spPr>
          <a:xfrm>
            <a:off x="2111574" y="4120381"/>
            <a:ext cx="3696051" cy="415102"/>
          </a:xfrm>
          <a:prstGeom prst="rect">
            <a:avLst/>
          </a:prstGeom>
          <a:noFill/>
          <a:ln>
            <a:noFill/>
          </a:ln>
        </p:spPr>
        <p:txBody>
          <a:bodyPr wrap="square" lIns="91440" tIns="45720" rIns="91440" bIns="45720" anchor="ctr" anchorCtr="0">
            <a:noAutofit/>
          </a:bodyPr>
          <a:lstStyle/>
          <a:p>
            <a:r>
              <a:rPr lang="zh-CN" altLang="en-US" sz="2400" dirty="0"/>
              <a:t>与一般过程调用的区别：</a:t>
            </a:r>
            <a:endParaRPr lang="zh-CN" altLang="en-US" sz="2400" dirty="0"/>
          </a:p>
        </p:txBody>
      </p:sp>
      <p:sp>
        <p:nvSpPr>
          <p:cNvPr id="8" name="îs1iďé"/>
          <p:cNvSpPr/>
          <p:nvPr/>
        </p:nvSpPr>
        <p:spPr>
          <a:xfrm>
            <a:off x="2130630" y="1804361"/>
            <a:ext cx="9711234" cy="602746"/>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使应用程序可以通过它间接调用</a:t>
            </a:r>
            <a:r>
              <a:rPr lang="en-US" altLang="zh-CN" sz="2200" dirty="0"/>
              <a:t>OS</a:t>
            </a:r>
            <a:r>
              <a:rPr lang="zh-CN" altLang="en-US" sz="2200" dirty="0"/>
              <a:t>内核中的相关过程，取得相应的服务。</a:t>
            </a:r>
            <a:endParaRPr lang="zh-CN" altLang="en-US" sz="2200" dirty="0"/>
          </a:p>
        </p:txBody>
      </p:sp>
      <p:sp>
        <p:nvSpPr>
          <p:cNvPr id="9" name="íšḻíḑê"/>
          <p:cNvSpPr/>
          <p:nvPr/>
        </p:nvSpPr>
        <p:spPr>
          <a:xfrm>
            <a:off x="2111573" y="1271404"/>
            <a:ext cx="7264247" cy="405747"/>
          </a:xfrm>
          <a:prstGeom prst="rect">
            <a:avLst/>
          </a:prstGeom>
          <a:noFill/>
          <a:ln>
            <a:noFill/>
          </a:ln>
        </p:spPr>
        <p:txBody>
          <a:bodyPr wrap="square" lIns="91440" tIns="45720" rIns="91440" bIns="45720" anchor="ctr" anchorCtr="0">
            <a:noAutofit/>
          </a:bodyPr>
          <a:lstStyle/>
          <a:p>
            <a:r>
              <a:rPr lang="zh-CN" altLang="en-US" sz="2400" dirty="0"/>
              <a:t>系统调用目的：</a:t>
            </a:r>
            <a:endParaRPr lang="zh-CN" altLang="en-US" sz="2400" dirty="0"/>
          </a:p>
        </p:txBody>
      </p:sp>
      <p:sp>
        <p:nvSpPr>
          <p:cNvPr id="10" name="îSļiḓè"/>
          <p:cNvSpPr/>
          <p:nvPr/>
        </p:nvSpPr>
        <p:spPr>
          <a:xfrm>
            <a:off x="1428070" y="125784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íṥḻîḓe"/>
          <p:cNvSpPr/>
          <p:nvPr/>
        </p:nvSpPr>
        <p:spPr>
          <a:xfrm>
            <a:off x="1428070" y="403777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îşļiḓè"/>
          <p:cNvSpPr/>
          <p:nvPr/>
        </p:nvSpPr>
        <p:spPr>
          <a:xfrm>
            <a:off x="1428070" y="241823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ṡḷíďe"/>
          <p:cNvSpPr/>
          <p:nvPr/>
        </p:nvSpPr>
        <p:spPr>
          <a:xfrm>
            <a:off x="1618325" y="145398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4" name="íSlíḋe"/>
          <p:cNvSpPr/>
          <p:nvPr/>
        </p:nvSpPr>
        <p:spPr>
          <a:xfrm>
            <a:off x="1618324" y="2640252"/>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ïśḷïḓe"/>
          <p:cNvSpPr/>
          <p:nvPr/>
        </p:nvSpPr>
        <p:spPr>
          <a:xfrm>
            <a:off x="1647263" y="422723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系统调用的类型</a:t>
            </a:r>
            <a:endParaRPr lang="zh-CN" altLang="en-US" sz="2800" b="1" dirty="0">
              <a:solidFill>
                <a:schemeClr val="bg1"/>
              </a:solidFill>
            </a:endParaRPr>
          </a:p>
        </p:txBody>
      </p:sp>
      <p:grpSp>
        <p:nvGrpSpPr>
          <p:cNvPr id="16" name="20420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59456" y="1271069"/>
            <a:ext cx="11102932" cy="5155984"/>
            <a:chOff x="659456" y="1271069"/>
            <a:chExt cx="11102932" cy="5155984"/>
          </a:xfrm>
        </p:grpSpPr>
        <p:sp>
          <p:nvSpPr>
            <p:cNvPr id="17" name="iśḷíḑe"/>
            <p:cNvSpPr/>
            <p:nvPr/>
          </p:nvSpPr>
          <p:spPr>
            <a:xfrm>
              <a:off x="3262313" y="4730620"/>
              <a:ext cx="723900" cy="7239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defTabSz="1218565">
                <a:defRPr/>
              </a:pPr>
              <a:r>
                <a:rPr lang="en-US" altLang="zh-CN" sz="2300" b="1" kern="0" dirty="0">
                  <a:solidFill>
                    <a:prstClr val="white"/>
                  </a:solidFill>
                </a:rPr>
                <a:t>01</a:t>
              </a:r>
              <a:endParaRPr lang="zh-CN" altLang="en-US" sz="2300" b="1" kern="0" dirty="0">
                <a:solidFill>
                  <a:prstClr val="white"/>
                </a:solidFill>
              </a:endParaRPr>
            </a:p>
          </p:txBody>
        </p:sp>
        <p:sp>
          <p:nvSpPr>
            <p:cNvPr id="18" name="ïś1ïḑè"/>
            <p:cNvSpPr/>
            <p:nvPr/>
          </p:nvSpPr>
          <p:spPr>
            <a:xfrm>
              <a:off x="4243388" y="3225670"/>
              <a:ext cx="723900" cy="7239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defTabSz="1218565">
                <a:defRPr/>
              </a:pPr>
              <a:r>
                <a:rPr lang="en-US" altLang="zh-CN" sz="2300" b="1" kern="0" dirty="0">
                  <a:solidFill>
                    <a:prstClr val="white"/>
                  </a:solidFill>
                </a:rPr>
                <a:t>02</a:t>
              </a:r>
              <a:endParaRPr lang="zh-CN" altLang="en-US" sz="2300" b="1" kern="0" dirty="0">
                <a:solidFill>
                  <a:prstClr val="white"/>
                </a:solidFill>
              </a:endParaRPr>
            </a:p>
          </p:txBody>
        </p:sp>
        <p:cxnSp>
          <p:nvCxnSpPr>
            <p:cNvPr id="19" name="直接箭头连接符 18"/>
            <p:cNvCxnSpPr>
              <a:endCxn id="17" idx="6"/>
            </p:cNvCxnSpPr>
            <p:nvPr/>
          </p:nvCxnSpPr>
          <p:spPr>
            <a:xfrm flipH="1" flipV="1">
              <a:off x="3986213" y="5092570"/>
              <a:ext cx="1528762" cy="462953"/>
            </a:xfrm>
            <a:prstGeom prst="straightConnector1">
              <a:avLst/>
            </a:prstGeom>
            <a:ln w="31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22" idx="1"/>
              <a:endCxn id="18" idx="5"/>
            </p:cNvCxnSpPr>
            <p:nvPr/>
          </p:nvCxnSpPr>
          <p:spPr>
            <a:xfrm flipH="1" flipV="1">
              <a:off x="4861275" y="3843557"/>
              <a:ext cx="823878" cy="1301119"/>
            </a:xfrm>
            <a:prstGeom prst="straightConnector1">
              <a:avLst/>
            </a:prstGeom>
            <a:ln w="31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ïṥlîďe"/>
            <p:cNvSpPr/>
            <p:nvPr/>
          </p:nvSpPr>
          <p:spPr>
            <a:xfrm>
              <a:off x="5514975" y="4974498"/>
              <a:ext cx="1162050" cy="1162050"/>
            </a:xfrm>
            <a:prstGeom prst="donut">
              <a:avLst/>
            </a:prstGeom>
            <a:pattFill prst="pct5">
              <a:fgClr>
                <a:srgbClr val="E4E6EA"/>
              </a:fgClr>
              <a:bgClr>
                <a:srgbClr val="ADB5BF"/>
              </a:bgClr>
            </a:pattFill>
            <a:ln w="12700" cap="flat" cmpd="sng" algn="ctr">
              <a:noFill/>
              <a:prstDash val="solid"/>
              <a:miter lim="800000"/>
            </a:ln>
            <a:effectLst/>
            <a:extLst>
              <a:ext uri="{91240B29-F687-4F45-9708-019B960494DF}">
                <a14:hiddenLine xmlns:a14="http://schemas.microsoft.com/office/drawing/2010/main" w="12700">
                  <a:solidFill>
                    <a:srgbClr val="D1DADD"/>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defTabSz="914400"/>
              <a:r>
                <a:rPr lang="en-US" altLang="zh-CN" sz="1400" b="1" dirty="0">
                  <a:solidFill>
                    <a:schemeClr val="tx1"/>
                  </a:solidFill>
                </a:rPr>
                <a:t>Text</a:t>
              </a:r>
              <a:endParaRPr lang="zh-CN" altLang="en-US" sz="1400" b="1" dirty="0">
                <a:solidFill>
                  <a:schemeClr val="tx1"/>
                </a:solidFill>
              </a:endParaRPr>
            </a:p>
          </p:txBody>
        </p:sp>
        <p:sp>
          <p:nvSpPr>
            <p:cNvPr id="23" name="ïṧľîdê"/>
            <p:cNvSpPr/>
            <p:nvPr/>
          </p:nvSpPr>
          <p:spPr>
            <a:xfrm>
              <a:off x="5734050" y="2361349"/>
              <a:ext cx="723900" cy="7239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defTabSz="1218565"/>
              <a:r>
                <a:rPr lang="en-US" altLang="zh-CN" sz="2300" b="1" kern="0" dirty="0">
                  <a:solidFill>
                    <a:prstClr val="white"/>
                  </a:solidFill>
                </a:rPr>
                <a:t>03</a:t>
              </a:r>
              <a:endParaRPr lang="zh-CN" altLang="en-US" sz="2300" b="1" kern="0" dirty="0">
                <a:solidFill>
                  <a:prstClr val="white"/>
                </a:solidFill>
              </a:endParaRPr>
            </a:p>
          </p:txBody>
        </p:sp>
        <p:cxnSp>
          <p:nvCxnSpPr>
            <p:cNvPr id="24" name="直接箭头连接符 23"/>
            <p:cNvCxnSpPr>
              <a:stCxn id="22" idx="0"/>
              <a:endCxn id="23" idx="4"/>
            </p:cNvCxnSpPr>
            <p:nvPr/>
          </p:nvCxnSpPr>
          <p:spPr>
            <a:xfrm flipV="1">
              <a:off x="6096000" y="3085249"/>
              <a:ext cx="0" cy="1889249"/>
            </a:xfrm>
            <a:prstGeom prst="straightConnector1">
              <a:avLst/>
            </a:prstGeom>
            <a:ln w="31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ï$1ïdé"/>
            <p:cNvSpPr/>
            <p:nvPr/>
          </p:nvSpPr>
          <p:spPr>
            <a:xfrm>
              <a:off x="7224712" y="3225670"/>
              <a:ext cx="723900" cy="7239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defTabSz="1218565">
                <a:defRPr/>
              </a:pPr>
              <a:r>
                <a:rPr lang="en-US" altLang="zh-CN" sz="2300" b="1" kern="0" dirty="0">
                  <a:solidFill>
                    <a:prstClr val="white"/>
                  </a:solidFill>
                </a:rPr>
                <a:t>04</a:t>
              </a:r>
              <a:endParaRPr lang="zh-CN" altLang="en-US" sz="2300" b="1" kern="0" dirty="0">
                <a:solidFill>
                  <a:prstClr val="white"/>
                </a:solidFill>
              </a:endParaRPr>
            </a:p>
          </p:txBody>
        </p:sp>
        <p:sp>
          <p:nvSpPr>
            <p:cNvPr id="26" name="îṥ1ïḍé"/>
            <p:cNvSpPr/>
            <p:nvPr/>
          </p:nvSpPr>
          <p:spPr>
            <a:xfrm>
              <a:off x="8205787" y="4730620"/>
              <a:ext cx="723900" cy="7239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defTabSz="1218565"/>
              <a:r>
                <a:rPr lang="en-US" altLang="zh-CN" sz="2300" b="1" kern="0" dirty="0">
                  <a:solidFill>
                    <a:prstClr val="white"/>
                  </a:solidFill>
                </a:rPr>
                <a:t>05</a:t>
              </a:r>
              <a:endParaRPr lang="zh-CN" altLang="en-US" sz="2300" b="1" kern="0" dirty="0">
                <a:solidFill>
                  <a:prstClr val="white"/>
                </a:solidFill>
              </a:endParaRPr>
            </a:p>
          </p:txBody>
        </p:sp>
        <p:cxnSp>
          <p:nvCxnSpPr>
            <p:cNvPr id="27" name="直接箭头连接符 26"/>
            <p:cNvCxnSpPr>
              <a:stCxn id="22" idx="7"/>
              <a:endCxn id="25" idx="3"/>
            </p:cNvCxnSpPr>
            <p:nvPr/>
          </p:nvCxnSpPr>
          <p:spPr>
            <a:xfrm flipV="1">
              <a:off x="6506847" y="3843557"/>
              <a:ext cx="823878" cy="1301119"/>
            </a:xfrm>
            <a:prstGeom prst="straightConnector1">
              <a:avLst/>
            </a:prstGeom>
            <a:ln w="31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26" idx="2"/>
            </p:cNvCxnSpPr>
            <p:nvPr/>
          </p:nvCxnSpPr>
          <p:spPr>
            <a:xfrm flipV="1">
              <a:off x="6677025" y="5092570"/>
              <a:ext cx="1528762" cy="462953"/>
            </a:xfrm>
            <a:prstGeom prst="straightConnector1">
              <a:avLst/>
            </a:prstGeom>
            <a:ln w="31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işľïdé"/>
            <p:cNvSpPr/>
            <p:nvPr/>
          </p:nvSpPr>
          <p:spPr bwMode="auto">
            <a:xfrm>
              <a:off x="659456" y="5011775"/>
              <a:ext cx="2506663" cy="71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gn="r">
                <a:lnSpc>
                  <a:spcPct val="120000"/>
                </a:lnSpc>
              </a:pPr>
              <a:r>
                <a:rPr lang="zh-CN" altLang="en-US" sz="2000" dirty="0"/>
                <a:t>创建和终止进程、获得和设置进程属性、等待某事件出现的系统调用。</a:t>
              </a:r>
              <a:endParaRPr lang="zh-CN" altLang="en-US" sz="2000" dirty="0"/>
            </a:p>
          </p:txBody>
        </p:sp>
        <p:sp>
          <p:nvSpPr>
            <p:cNvPr id="30" name="ïṧ1îḋê"/>
            <p:cNvSpPr txBox="1"/>
            <p:nvPr/>
          </p:nvSpPr>
          <p:spPr bwMode="auto">
            <a:xfrm>
              <a:off x="708025" y="4494116"/>
              <a:ext cx="25066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p>
              <a:pPr algn="r"/>
              <a:r>
                <a:rPr lang="zh-CN" altLang="en-US" sz="2400" b="1" dirty="0">
                  <a:solidFill>
                    <a:srgbClr val="0000FF"/>
                  </a:solidFill>
                </a:rPr>
                <a:t>进程控制类</a:t>
              </a:r>
              <a:endParaRPr lang="en-US" altLang="zh-CN" sz="2400" b="1" dirty="0">
                <a:solidFill>
                  <a:srgbClr val="0000FF"/>
                </a:solidFill>
              </a:endParaRPr>
            </a:p>
          </p:txBody>
        </p:sp>
        <p:sp>
          <p:nvSpPr>
            <p:cNvPr id="31" name="ïśľïdè"/>
            <p:cNvSpPr/>
            <p:nvPr/>
          </p:nvSpPr>
          <p:spPr bwMode="auto">
            <a:xfrm>
              <a:off x="1493949" y="3346116"/>
              <a:ext cx="2664759" cy="1043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gn="r">
                <a:lnSpc>
                  <a:spcPct val="120000"/>
                </a:lnSpc>
              </a:pPr>
              <a:r>
                <a:rPr lang="zh-CN" altLang="en-US" sz="2000" dirty="0"/>
                <a:t>用于进程之间通信的系统调用。</a:t>
              </a:r>
              <a:endParaRPr lang="zh-CN" altLang="en-US" sz="2000" dirty="0"/>
            </a:p>
          </p:txBody>
        </p:sp>
        <p:sp>
          <p:nvSpPr>
            <p:cNvPr id="32" name="ïṥlïḍè"/>
            <p:cNvSpPr txBox="1"/>
            <p:nvPr/>
          </p:nvSpPr>
          <p:spPr bwMode="auto">
            <a:xfrm>
              <a:off x="1676399" y="2877701"/>
              <a:ext cx="25066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p>
              <a:pPr algn="r"/>
              <a:r>
                <a:rPr lang="zh-CN" altLang="en-US" sz="2400" b="1" dirty="0">
                  <a:solidFill>
                    <a:srgbClr val="0000FF"/>
                  </a:solidFill>
                </a:rPr>
                <a:t>进程通信类</a:t>
              </a:r>
              <a:endParaRPr lang="zh-CN" altLang="en-US" sz="2400" b="1" dirty="0">
                <a:solidFill>
                  <a:srgbClr val="0000FF"/>
                </a:solidFill>
              </a:endParaRPr>
            </a:p>
          </p:txBody>
        </p:sp>
        <p:grpSp>
          <p:nvGrpSpPr>
            <p:cNvPr id="33" name="íśļïdè"/>
            <p:cNvGrpSpPr/>
            <p:nvPr/>
          </p:nvGrpSpPr>
          <p:grpSpPr>
            <a:xfrm>
              <a:off x="2929730" y="1271069"/>
              <a:ext cx="7328078" cy="1032538"/>
              <a:chOff x="-915120" y="4518964"/>
              <a:chExt cx="6403890" cy="1032538"/>
            </a:xfrm>
          </p:grpSpPr>
          <p:sp>
            <p:nvSpPr>
              <p:cNvPr id="38" name="iṧlîḋe"/>
              <p:cNvSpPr/>
              <p:nvPr/>
            </p:nvSpPr>
            <p:spPr bwMode="auto">
              <a:xfrm>
                <a:off x="-915120" y="4990880"/>
                <a:ext cx="6403890" cy="560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gn="ctr">
                  <a:lnSpc>
                    <a:spcPct val="140000"/>
                  </a:lnSpc>
                </a:pPr>
                <a:r>
                  <a:rPr lang="zh-CN" altLang="en-US" sz="2000" dirty="0"/>
                  <a:t>打开和关闭文件、创建和删除文件、读写文件的系统调用。</a:t>
                </a:r>
                <a:endParaRPr lang="zh-CN" altLang="en-US" sz="2000" dirty="0"/>
              </a:p>
            </p:txBody>
          </p:sp>
          <p:sp>
            <p:nvSpPr>
              <p:cNvPr id="39" name="íš1îḑê"/>
              <p:cNvSpPr txBox="1"/>
              <p:nvPr/>
            </p:nvSpPr>
            <p:spPr bwMode="auto">
              <a:xfrm>
                <a:off x="676104" y="4518964"/>
                <a:ext cx="2287617"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p>
                <a:pPr algn="ctr"/>
                <a:r>
                  <a:rPr lang="zh-CN" altLang="en-US" sz="2400" b="1" dirty="0">
                    <a:solidFill>
                      <a:srgbClr val="0000FF"/>
                    </a:solidFill>
                  </a:rPr>
                  <a:t>文件操纵类</a:t>
                </a:r>
                <a:endParaRPr lang="zh-CN" altLang="en-US" sz="2400" b="1" dirty="0">
                  <a:solidFill>
                    <a:srgbClr val="0000FF"/>
                  </a:solidFill>
                </a:endParaRPr>
              </a:p>
            </p:txBody>
          </p:sp>
        </p:grpSp>
        <p:sp>
          <p:nvSpPr>
            <p:cNvPr id="34" name="ïşḷïḓè"/>
            <p:cNvSpPr/>
            <p:nvPr/>
          </p:nvSpPr>
          <p:spPr bwMode="auto">
            <a:xfrm>
              <a:off x="8008938" y="2955287"/>
              <a:ext cx="3475038" cy="1122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nSpc>
                  <a:spcPct val="130000"/>
                </a:lnSpc>
              </a:pPr>
              <a:r>
                <a:rPr lang="zh-CN" altLang="en-US" sz="2000" dirty="0"/>
                <a:t>申请设备、释放设备、设备</a:t>
              </a:r>
              <a:r>
                <a:rPr lang="en-US" altLang="zh-CN" sz="2000" dirty="0"/>
                <a:t>I/O</a:t>
              </a:r>
              <a:r>
                <a:rPr lang="zh-CN" altLang="en-US" sz="2000" dirty="0"/>
                <a:t>重定向、获得和设置设备属性等系统调用。</a:t>
              </a:r>
              <a:endParaRPr lang="zh-CN" altLang="en-US" sz="2000" dirty="0"/>
            </a:p>
          </p:txBody>
        </p:sp>
        <p:sp>
          <p:nvSpPr>
            <p:cNvPr id="35" name="ïṡḻiḋê"/>
            <p:cNvSpPr txBox="1"/>
            <p:nvPr/>
          </p:nvSpPr>
          <p:spPr bwMode="auto">
            <a:xfrm>
              <a:off x="7245565" y="2483364"/>
              <a:ext cx="24939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p>
              <a:r>
                <a:rPr lang="zh-CN" altLang="en-US" sz="2400" b="1" dirty="0">
                  <a:solidFill>
                    <a:srgbClr val="0000FF"/>
                  </a:solidFill>
                </a:rPr>
                <a:t>设备管理类</a:t>
              </a:r>
              <a:endParaRPr lang="zh-CN" altLang="en-US" sz="2400" b="1" dirty="0">
                <a:solidFill>
                  <a:srgbClr val="0000FF"/>
                </a:solidFill>
              </a:endParaRPr>
            </a:p>
          </p:txBody>
        </p:sp>
        <p:sp>
          <p:nvSpPr>
            <p:cNvPr id="36" name="iŝľîdê"/>
            <p:cNvSpPr/>
            <p:nvPr/>
          </p:nvSpPr>
          <p:spPr bwMode="auto">
            <a:xfrm>
              <a:off x="8919585" y="4802217"/>
              <a:ext cx="2842803" cy="1624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nSpc>
                  <a:spcPct val="120000"/>
                </a:lnSpc>
              </a:pPr>
              <a:r>
                <a:rPr lang="zh-CN" altLang="en-US" sz="2000" dirty="0"/>
                <a:t>获得包括有关系统和文件的时间信息、</a:t>
              </a:r>
              <a:r>
                <a:rPr lang="en-US" altLang="zh-CN" sz="2000" dirty="0"/>
                <a:t>OS</a:t>
              </a:r>
              <a:r>
                <a:rPr lang="zh-CN" altLang="en-US" sz="2000" dirty="0"/>
                <a:t>版本、当前用户、空闲内存、磁盘等。</a:t>
              </a:r>
              <a:endParaRPr lang="zh-CN" altLang="en-US" sz="2000" dirty="0"/>
            </a:p>
          </p:txBody>
        </p:sp>
        <p:sp>
          <p:nvSpPr>
            <p:cNvPr id="37" name="ísļiḓè"/>
            <p:cNvSpPr txBox="1"/>
            <p:nvPr/>
          </p:nvSpPr>
          <p:spPr bwMode="auto">
            <a:xfrm>
              <a:off x="8859487" y="4389337"/>
              <a:ext cx="24939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p>
              <a:r>
                <a:rPr lang="zh-CN" altLang="en-US" sz="2400" b="1" dirty="0">
                  <a:solidFill>
                    <a:srgbClr val="0000FF"/>
                  </a:solidFill>
                </a:rPr>
                <a:t>信息维护类</a:t>
              </a:r>
              <a:endParaRPr lang="zh-CN" altLang="en-US" sz="2400" b="1" dirty="0">
                <a:solidFill>
                  <a:srgbClr val="0000FF"/>
                </a:solidFill>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0" name="矩形 19"/>
          <p:cNvSpPr/>
          <p:nvPr/>
        </p:nvSpPr>
        <p:spPr>
          <a:xfrm>
            <a:off x="771525" y="257830"/>
            <a:ext cx="4334841" cy="523220"/>
          </a:xfrm>
          <a:prstGeom prst="rect">
            <a:avLst/>
          </a:prstGeom>
        </p:spPr>
        <p:txBody>
          <a:bodyPr wrap="none">
            <a:spAutoFit/>
          </a:bodyPr>
          <a:lstStyle/>
          <a:p>
            <a:r>
              <a:rPr lang="zh-CN" altLang="en-US" sz="2800" b="1" dirty="0">
                <a:solidFill>
                  <a:schemeClr val="bg1"/>
                </a:solidFill>
              </a:rPr>
              <a:t>学而时习之（第</a:t>
            </a:r>
            <a:r>
              <a:rPr lang="en-US" altLang="zh-CN" sz="2800" b="1" dirty="0">
                <a:solidFill>
                  <a:schemeClr val="bg1"/>
                </a:solidFill>
              </a:rPr>
              <a:t>1</a:t>
            </a:r>
            <a:r>
              <a:rPr lang="zh-CN" altLang="en-US" sz="2800" b="1" dirty="0">
                <a:solidFill>
                  <a:schemeClr val="bg1"/>
                </a:solidFill>
              </a:rPr>
              <a:t>章总结）</a:t>
            </a:r>
            <a:endParaRPr lang="zh-CN" altLang="en-US" sz="2800" b="1" dirty="0">
              <a:solidFill>
                <a:schemeClr val="bg1"/>
              </a:solidFill>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1章 知识导图"/>
          <p:cNvPicPr>
            <a:picLocks noChangeAspect="1"/>
          </p:cNvPicPr>
          <p:nvPr/>
        </p:nvPicPr>
        <p:blipFill>
          <a:blip r:embed="rId2"/>
          <a:stretch>
            <a:fillRect/>
          </a:stretch>
        </p:blipFill>
        <p:spPr>
          <a:xfrm>
            <a:off x="771525" y="1028065"/>
            <a:ext cx="9048750" cy="582993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1069419" y="110944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zh-CN" sz="2400" dirty="0">
                <a:solidFill>
                  <a:srgbClr val="0000FF"/>
                </a:solidFill>
                <a:latin typeface="+mn-ea"/>
                <a:cs typeface="黑体" panose="02010609060101010101" charset="-122"/>
              </a:rPr>
              <a:t>Windows应用初期，Linux问世之际，国产操作系统发展何如？</a:t>
            </a:r>
            <a:endParaRPr lang="zh-CN" altLang="zh-CN" sz="2400" dirty="0">
              <a:solidFill>
                <a:srgbClr val="0000FF"/>
              </a:solidFill>
              <a:latin typeface="+mn-ea"/>
              <a:cs typeface="黑体" panose="02010609060101010101" charset="-122"/>
            </a:endParaRPr>
          </a:p>
          <a:p>
            <a:pPr marL="0" indent="0" algn="just">
              <a:lnSpc>
                <a:spcPct val="125000"/>
              </a:lnSpc>
              <a:spcBef>
                <a:spcPts val="300"/>
              </a:spcBef>
              <a:spcAft>
                <a:spcPts val="300"/>
              </a:spcAft>
              <a:buFont typeface="Arial" panose="020B0604020202020204" pitchFamily="34" charset="0"/>
              <a:buNone/>
            </a:pPr>
            <a:r>
              <a:rPr lang="zh-CN" altLang="zh-CN" sz="2400" dirty="0">
                <a:latin typeface="+mn-ea"/>
                <a:cs typeface="Times New Roman" panose="02020603050405020304" charset="0"/>
                <a:sym typeface="+mn-ea"/>
              </a:rPr>
              <a:t>        </a:t>
            </a:r>
            <a:r>
              <a:rPr lang="zh-CN" sz="2400" dirty="0">
                <a:latin typeface="+mn-ea"/>
                <a:cs typeface="Times New Roman" panose="02020603050405020304" charset="0"/>
              </a:rPr>
              <a:t>纵观操作系统的发展史，可谓源远流长。</a:t>
            </a:r>
            <a:endParaRPr lang="zh-CN" sz="2400" dirty="0">
              <a:latin typeface="+mn-ea"/>
              <a:cs typeface="Times New Roman" panose="02020603050405020304" charset="0"/>
            </a:endParaRPr>
          </a:p>
          <a:p>
            <a:pPr marL="0" indent="0" algn="just">
              <a:lnSpc>
                <a:spcPct val="125000"/>
              </a:lnSpc>
              <a:spcBef>
                <a:spcPts val="300"/>
              </a:spcBef>
              <a:spcAft>
                <a:spcPts val="300"/>
              </a:spcAft>
              <a:buFont typeface="Arial" panose="020B0604020202020204" pitchFamily="34" charset="0"/>
              <a:buNone/>
            </a:pPr>
            <a:r>
              <a:rPr lang="zh-CN" altLang="zh-CN" sz="2400" dirty="0">
                <a:latin typeface="+mn-ea"/>
                <a:cs typeface="Times New Roman" panose="02020603050405020304" charset="0"/>
                <a:sym typeface="+mn-ea"/>
              </a:rPr>
              <a:t>        </a:t>
            </a:r>
            <a:r>
              <a:rPr lang="zh-CN" sz="2400" dirty="0">
                <a:latin typeface="+mn-ea"/>
                <a:cs typeface="Times New Roman" panose="02020603050405020304" charset="0"/>
              </a:rPr>
              <a:t>早在20世纪40年代中期，便出现了世界上第一台真正的“电子计算机”，即电子数字计算机（electronic numerical integrator and computer，ENIAC）。此后，便逐步产生了对计算机操作系统的紧迫需求。</a:t>
            </a:r>
            <a:endParaRPr lang="zh-CN" sz="2400" dirty="0">
              <a:latin typeface="+mn-ea"/>
              <a:cs typeface="Times New Roman" panose="02020603050405020304" charset="0"/>
            </a:endParaRPr>
          </a:p>
          <a:p>
            <a:pPr marL="0" indent="0" algn="just">
              <a:lnSpc>
                <a:spcPct val="125000"/>
              </a:lnSpc>
              <a:spcBef>
                <a:spcPts val="300"/>
              </a:spcBef>
              <a:spcAft>
                <a:spcPts val="300"/>
              </a:spcAft>
              <a:buFont typeface="Arial" panose="020B0604020202020204" pitchFamily="34" charset="0"/>
              <a:buNone/>
            </a:pPr>
            <a:r>
              <a:rPr lang="zh-CN" altLang="zh-CN" sz="2400" dirty="0">
                <a:latin typeface="+mn-ea"/>
                <a:cs typeface="Times New Roman" panose="02020603050405020304" charset="0"/>
                <a:sym typeface="+mn-ea"/>
              </a:rPr>
              <a:t>        </a:t>
            </a:r>
            <a:r>
              <a:rPr lang="zh-CN" sz="2400" dirty="0">
                <a:latin typeface="+mn-ea"/>
                <a:cs typeface="Times New Roman" panose="02020603050405020304" charset="0"/>
              </a:rPr>
              <a:t>在此背景下，各类操作系统不断涌现，其中较为成功的（早期）操作系统当属UNIX系统，其面向使用者提供了多任务、多层次的软件计算环境，并逐步发展成为主机时代的操作系统。UNIX系统由于较为成功且代码公开，在高校实验教学过程中应用较多。随后，在众多教育工作者和操作系统爱好者的努力下，由UNIX系统教学代码衍生出了UNIX系统的多个发行版本，如伯克利软件套件（Berkeley software distribution，BSD）等。</a:t>
            </a:r>
            <a:endParaRPr lang="zh-CN" sz="2400" dirty="0">
              <a:latin typeface="+mn-ea"/>
              <a:cs typeface="Times New Roman" panose="0202060305040502030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1068849" y="1473430"/>
            <a:ext cx="10054301" cy="44124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zh-CN" sz="2400" dirty="0">
                <a:solidFill>
                  <a:srgbClr val="0000FF"/>
                </a:solidFill>
                <a:latin typeface="+mn-ea"/>
                <a:cs typeface="黑体" panose="02010609060101010101" charset="-122"/>
              </a:rPr>
              <a:t>Windows应用初期，Linux问世之际，国产操作系统发展何如？</a:t>
            </a:r>
            <a:endParaRPr lang="zh-CN" altLang="zh-CN" sz="2400" dirty="0">
              <a:solidFill>
                <a:srgbClr val="0000FF"/>
              </a:solidFill>
              <a:latin typeface="+mn-ea"/>
              <a:cs typeface="黑体" panose="02010609060101010101" charset="-122"/>
            </a:endParaRPr>
          </a:p>
          <a:p>
            <a:pPr marL="0" indent="0" algn="just">
              <a:lnSpc>
                <a:spcPct val="125000"/>
              </a:lnSpc>
              <a:spcBef>
                <a:spcPts val="300"/>
              </a:spcBef>
              <a:spcAft>
                <a:spcPts val="300"/>
              </a:spcAft>
              <a:buFont typeface="Arial" panose="020B0604020202020204" pitchFamily="34" charset="0"/>
              <a:buNone/>
            </a:pPr>
            <a:r>
              <a:rPr lang="en-US" altLang="zh-CN" sz="2400" dirty="0">
                <a:latin typeface="+mn-ea"/>
                <a:cs typeface="Times New Roman" panose="02020603050405020304" charset="0"/>
              </a:rPr>
              <a:t>	</a:t>
            </a:r>
            <a:r>
              <a:rPr lang="zh-CN" sz="2400" dirty="0">
                <a:latin typeface="+mn-ea"/>
                <a:cs typeface="Times New Roman" panose="02020603050405020304" charset="0"/>
              </a:rPr>
              <a:t>1991年10月5日，林纳斯·托瓦兹（Linux Torvalds）对外发布了其独立开发的类UNIX操作系统内核，当该内核与GNU计划（自由软件集体协作计划）相结合时，便形成了我们现在所熟知的开源（开放源代码）Linux系统。至此，Linux问世。</a:t>
            </a:r>
            <a:endParaRPr lang="en-US" altLang="zh-CN" sz="2400" dirty="0">
              <a:latin typeface="+mn-ea"/>
              <a:cs typeface="Times New Roman" panose="02020603050405020304" charset="0"/>
            </a:endParaRPr>
          </a:p>
          <a:p>
            <a:pPr marL="0" indent="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charset="0"/>
              </a:rPr>
              <a:t> </a:t>
            </a:r>
            <a:r>
              <a:rPr lang="en-US" altLang="zh-CN" sz="2400" dirty="0">
                <a:latin typeface="+mn-ea"/>
                <a:cs typeface="Times New Roman" panose="02020603050405020304" charset="0"/>
              </a:rPr>
              <a:t>	</a:t>
            </a:r>
            <a:r>
              <a:rPr lang="zh-CN" altLang="en-US" sz="2400" dirty="0">
                <a:latin typeface="+mn-ea"/>
                <a:cs typeface="Times New Roman" panose="02020603050405020304" charset="0"/>
              </a:rPr>
              <a:t>与</a:t>
            </a:r>
            <a:r>
              <a:rPr lang="en-US" altLang="zh-CN" sz="2400" dirty="0">
                <a:latin typeface="+mn-ea"/>
                <a:cs typeface="Times New Roman" panose="02020603050405020304" charset="0"/>
              </a:rPr>
              <a:t>Linux</a:t>
            </a:r>
            <a:r>
              <a:rPr lang="zh-CN" altLang="en-US" sz="2400" dirty="0">
                <a:latin typeface="+mn-ea"/>
                <a:cs typeface="Times New Roman" panose="02020603050405020304" charset="0"/>
              </a:rPr>
              <a:t>发展完全不同的另一个典型操作系统，便是由微软公司研发的</a:t>
            </a:r>
            <a:r>
              <a:rPr lang="en-US" altLang="zh-CN" sz="2400" dirty="0">
                <a:latin typeface="+mn-ea"/>
                <a:cs typeface="Times New Roman" panose="02020603050405020304" charset="0"/>
              </a:rPr>
              <a:t>Windows</a:t>
            </a:r>
            <a:r>
              <a:rPr lang="zh-CN" altLang="en-US" sz="2400" dirty="0">
                <a:latin typeface="+mn-ea"/>
                <a:cs typeface="Times New Roman" panose="02020603050405020304" charset="0"/>
              </a:rPr>
              <a:t>系统，其于</a:t>
            </a:r>
            <a:r>
              <a:rPr lang="en-US" altLang="zh-CN" sz="2400" dirty="0">
                <a:latin typeface="+mn-ea"/>
                <a:cs typeface="Times New Roman" panose="02020603050405020304" charset="0"/>
              </a:rPr>
              <a:t>1985</a:t>
            </a:r>
            <a:r>
              <a:rPr lang="zh-CN" altLang="en-US" sz="2400" dirty="0">
                <a:latin typeface="+mn-ea"/>
                <a:cs typeface="Times New Roman" panose="02020603050405020304" charset="0"/>
              </a:rPr>
              <a:t>问世之初仅是</a:t>
            </a:r>
            <a:r>
              <a:rPr lang="en-US" altLang="zh-CN" sz="2400" dirty="0">
                <a:latin typeface="+mn-ea"/>
                <a:cs typeface="Times New Roman" panose="02020603050405020304" charset="0"/>
              </a:rPr>
              <a:t>Microsoft-DOS</a:t>
            </a:r>
            <a:r>
              <a:rPr lang="zh-CN" altLang="en-US" sz="2400" dirty="0">
                <a:latin typeface="+mn-ea"/>
                <a:cs typeface="Times New Roman" panose="02020603050405020304" charset="0"/>
              </a:rPr>
              <a:t>模拟环境，之后经过不断完善系统体验、丰富图形用户界面，逐步变为目前全世界使用最广泛的计算机操作系统。</a:t>
            </a:r>
            <a:endParaRPr lang="zh-CN" sz="2400" dirty="0">
              <a:latin typeface="+mn-ea"/>
              <a:cs typeface="Times New Roman" panose="0202060305040502030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4" name="内容占位符 3"/>
          <p:cNvSpPr txBox="1"/>
          <p:nvPr/>
        </p:nvSpPr>
        <p:spPr>
          <a:xfrm>
            <a:off x="1237525" y="1610725"/>
            <a:ext cx="9716949" cy="42060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500"/>
              </a:spcBef>
              <a:spcAft>
                <a:spcPts val="600"/>
              </a:spcAft>
              <a:buFont typeface="Arial" panose="020B0604020202020204" pitchFamily="34" charset="0"/>
              <a:buNone/>
            </a:pPr>
            <a:r>
              <a:rPr lang="zh-CN" altLang="zh-CN" sz="2400" dirty="0">
                <a:solidFill>
                  <a:srgbClr val="0000FF"/>
                </a:solidFill>
                <a:latin typeface="+mn-ea"/>
                <a:cs typeface="黑体" panose="02010609060101010101" charset="-122"/>
              </a:rPr>
              <a:t>Windows应用初期，Linux问世之际，国产操作系统发展何如？</a:t>
            </a:r>
            <a:endParaRPr lang="zh-CN" altLang="zh-CN" sz="2400" dirty="0">
              <a:latin typeface="+mn-ea"/>
              <a:cs typeface="Times New Roman" panose="02020603050405020304" charset="0"/>
              <a:sym typeface="+mn-ea"/>
            </a:endParaRPr>
          </a:p>
          <a:p>
            <a:pPr marL="0" indent="0" algn="just">
              <a:lnSpc>
                <a:spcPct val="125000"/>
              </a:lnSpc>
              <a:buFont typeface="Arial" panose="020B0604020202020204" pitchFamily="34" charset="0"/>
              <a:buNone/>
            </a:pPr>
            <a:r>
              <a:rPr lang="en-US" altLang="zh-CN" sz="2400" dirty="0">
                <a:latin typeface="+mn-ea"/>
                <a:cs typeface="Times New Roman" panose="02020603050405020304" charset="0"/>
              </a:rPr>
              <a:t>	</a:t>
            </a:r>
            <a:r>
              <a:rPr lang="zh-CN" sz="2400" dirty="0">
                <a:latin typeface="+mn-ea"/>
                <a:cs typeface="Times New Roman" panose="02020603050405020304" charset="0"/>
              </a:rPr>
              <a:t>值得一提的是，在Windows应用初期/Linux问世之际的几乎同一时间，即20世纪90年代初，我国出于操作系统本质安全和国家信息产业安全的考虑，便开始倡导自主研发国产操作系统（知识产权归属于我国）。</a:t>
            </a:r>
            <a:endParaRPr lang="zh-CN" sz="2400" dirty="0">
              <a:latin typeface="+mn-ea"/>
              <a:cs typeface="Times New Roman" panose="02020603050405020304" charset="0"/>
            </a:endParaRPr>
          </a:p>
          <a:p>
            <a:pPr marL="0" indent="0" algn="just">
              <a:lnSpc>
                <a:spcPct val="125000"/>
              </a:lnSpc>
              <a:buFont typeface="Arial" panose="020B0604020202020204" pitchFamily="34" charset="0"/>
              <a:buNone/>
            </a:pPr>
            <a:r>
              <a:rPr lang="zh-CN" altLang="zh-CN" sz="2400" dirty="0">
                <a:latin typeface="+mn-ea"/>
                <a:cs typeface="Times New Roman" panose="02020603050405020304" charset="0"/>
                <a:sym typeface="+mn-ea"/>
              </a:rPr>
              <a:t>        </a:t>
            </a:r>
            <a:r>
              <a:rPr lang="zh-CN" sz="2400" u="sng" dirty="0">
                <a:latin typeface="+mn-ea"/>
                <a:cs typeface="Times New Roman" panose="02020603050405020304" charset="0"/>
              </a:rPr>
              <a:t>由此可见，国家对自主可控的国产操作系统研发工作历来尤为重视。</a:t>
            </a:r>
            <a:r>
              <a:rPr lang="zh-CN" sz="2400" dirty="0">
                <a:latin typeface="+mn-ea"/>
                <a:cs typeface="Times New Roman" panose="02020603050405020304" charset="0"/>
              </a:rPr>
              <a:t>那么，作为社会进步与国家发展的中流砥柱——知识分子与科技人才又当何以作为，每每发人深思！</a:t>
            </a:r>
            <a:endParaRPr lang="zh-CN" sz="2400" dirty="0">
              <a:latin typeface="+mn-ea"/>
              <a:cs typeface="Times New Roman" panose="0202060305040502030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标题 4"/>
          <p:cNvSpPr>
            <a:spLocks noGrp="1"/>
          </p:cNvSpPr>
          <p:nvPr>
            <p:ph type="ctrTitle"/>
          </p:nvPr>
        </p:nvSpPr>
        <p:spPr>
          <a:xfrm>
            <a:off x="4895761" y="2739021"/>
            <a:ext cx="6536871" cy="2390427"/>
          </a:xfrm>
        </p:spPr>
        <p:txBody>
          <a:bodyPr>
            <a:normAutofit/>
          </a:bodyPr>
          <a:lstStyle/>
          <a:p>
            <a:r>
              <a:rPr lang="zh-CN" altLang="en-US" sz="6600" dirty="0"/>
              <a:t>学 习 进 步 ！</a:t>
            </a:r>
            <a:endParaRPr lang="zh-CN" altLang="en-US" sz="4000" dirty="0"/>
          </a:p>
        </p:txBody>
      </p:sp>
      <p:sp>
        <p:nvSpPr>
          <p:cNvPr id="8" name="任意多边形: 形状 7"/>
          <p:cNvSpPr/>
          <p:nvPr/>
        </p:nvSpPr>
        <p:spPr>
          <a:xfrm>
            <a:off x="669925" y="2344255"/>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744076" y="6241020"/>
            <a:ext cx="4366476"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作者：汤小丹、王红玲、姜华、汤子瀛</a:t>
            </a:r>
            <a:endParaRPr lang="zh-CN" altLang="en-US" b="1" dirty="0">
              <a:solidFill>
                <a:schemeClr val="tx1"/>
              </a:solidFill>
            </a:endParaRPr>
          </a:p>
        </p:txBody>
      </p:sp>
      <p:sp>
        <p:nvSpPr>
          <p:cNvPr id="11" name="矩形 10"/>
          <p:cNvSpPr/>
          <p:nvPr/>
        </p:nvSpPr>
        <p:spPr>
          <a:xfrm>
            <a:off x="1243012" y="602297"/>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2"/>
          <a:stretch>
            <a:fillRect/>
          </a:stretch>
        </p:blipFill>
        <p:spPr>
          <a:xfrm>
            <a:off x="1673475" y="2592475"/>
            <a:ext cx="2508000" cy="3554241"/>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406400" y="522760"/>
            <a:ext cx="527050" cy="527050"/>
          </a:xfrm>
          <a:prstGeom prst="rect">
            <a:avLst/>
          </a:prstGeom>
        </p:spPr>
      </p:pic>
    </p:spTree>
  </p:cSld>
  <p:clrMapOvr>
    <a:masterClrMapping/>
  </p:clrMapOvr>
</p:sld>
</file>

<file path=ppt/tags/tag1.xml><?xml version="1.0" encoding="utf-8"?>
<p:tagLst xmlns:p="http://schemas.openxmlformats.org/presentationml/2006/main">
  <p:tag name="THINKCELLSHAPEDONOTDELETE" val="tA6S0wzOvQ8a50SA42PUNRg"/>
</p:tagLst>
</file>

<file path=ppt/tags/tag2.xml><?xml version="1.0" encoding="utf-8"?>
<p:tagLst xmlns:p="http://schemas.openxmlformats.org/presentationml/2006/main">
  <p:tag name="KSO_WM_UNIT_PLACING_PICTURE_USER_VIEWPORT" val="{&quot;height&quot;:7601,&quot;width&quot;:5942}"/>
</p:tagLst>
</file>

<file path=ppt/tags/tag3.xml><?xml version="1.0" encoding="utf-8"?>
<p:tagLst xmlns:p="http://schemas.openxmlformats.org/presentationml/2006/main">
  <p:tag name="THINKCELLSHAPEDONOTDELETE" val="tA6S0wzOvQ8a50SA42PUNRg"/>
</p:tagLst>
</file>

<file path=ppt/tags/tag4.xml><?xml version="1.0" encoding="utf-8"?>
<p:tagLst xmlns:p="http://schemas.openxmlformats.org/presentationml/2006/main">
  <p:tag name="KSO_WM_UNIT_TABLE_BEAUTIFY" val="smartTable{58a06314-7e72-4d48-85a8-7253ed818c17}"/>
</p:tagLst>
</file>

<file path=ppt/tags/tag5.xml><?xml version="1.0" encoding="utf-8"?>
<p:tagLst xmlns:p="http://schemas.openxmlformats.org/presentationml/2006/main">
  <p:tag name="ISLIDE.DIAGRAM" val="272399"/>
</p:tagLst>
</file>

<file path=ppt/tags/tag6.xml><?xml version="1.0" encoding="utf-8"?>
<p:tagLst xmlns:p="http://schemas.openxmlformats.org/presentationml/2006/main">
  <p:tag name="ISLIDE.DIAGRAM" val="224405"/>
</p:tagLst>
</file>

<file path=ppt/tags/tag7.xml><?xml version="1.0" encoding="utf-8"?>
<p:tagLst xmlns:p="http://schemas.openxmlformats.org/presentationml/2006/main">
  <p:tag name="ISLIDE.DIAGRAM" val="217641"/>
</p:tagLst>
</file>

<file path=ppt/tags/tag8.xml><?xml version="1.0" encoding="utf-8"?>
<p:tagLst xmlns:p="http://schemas.openxmlformats.org/presentationml/2006/main">
  <p:tag name="ISLIDE.DIAGRAM" val="217641"/>
</p:tagLst>
</file>

<file path=ppt/tags/tag9.xml><?xml version="1.0" encoding="utf-8"?>
<p:tagLst xmlns:p="http://schemas.openxmlformats.org/presentationml/2006/main">
  <p:tag name="ISLIDE.DIAGRAM" val="204110"/>
</p:tagLst>
</file>

<file path=ppt/tags/tag10.xml><?xml version="1.0" encoding="utf-8"?>
<p:tagLst xmlns:p="http://schemas.openxmlformats.org/presentationml/2006/main">
  <p:tag name="ISLIDE.DIAGRAM" val="217641"/>
</p:tagLst>
</file>

<file path=ppt/tags/tag11.xml><?xml version="1.0" encoding="utf-8"?>
<p:tagLst xmlns:p="http://schemas.openxmlformats.org/presentationml/2006/main">
  <p:tag name="ISLIDE.DIAGRAM" val="185926"/>
</p:tagLst>
</file>

<file path=ppt/tags/tag12.xml><?xml version="1.0" encoding="utf-8"?>
<p:tagLst xmlns:p="http://schemas.openxmlformats.org/presentationml/2006/main">
  <p:tag name="ISLIDE.DIAGRAM" val="224405"/>
</p:tagLst>
</file>

<file path=ppt/tags/tag13.xml><?xml version="1.0" encoding="utf-8"?>
<p:tagLst xmlns:p="http://schemas.openxmlformats.org/presentationml/2006/main">
  <p:tag name="ISLIDE.DIAGRAM" val="217641"/>
</p:tagLst>
</file>

<file path=ppt/tags/tag14.xml><?xml version="1.0" encoding="utf-8"?>
<p:tagLst xmlns:p="http://schemas.openxmlformats.org/presentationml/2006/main">
  <p:tag name="ISLIDE.DIAGRAM" val="217641"/>
</p:tagLst>
</file>

<file path=ppt/tags/tag15.xml><?xml version="1.0" encoding="utf-8"?>
<p:tagLst xmlns:p="http://schemas.openxmlformats.org/presentationml/2006/main">
  <p:tag name="ISLIDE.DIAGRAM" val="185926"/>
</p:tagLst>
</file>

<file path=ppt/tags/tag16.xml><?xml version="1.0" encoding="utf-8"?>
<p:tagLst xmlns:p="http://schemas.openxmlformats.org/presentationml/2006/main">
  <p:tag name="ISLIDE.DIAGRAM" val="204206"/>
</p:tagLst>
</file>

<file path=ppt/tags/tag17.xml><?xml version="1.0" encoding="utf-8"?>
<p:tagLst xmlns:p="http://schemas.openxmlformats.org/presentationml/2006/main">
  <p:tag name="THINKCELLSHAPEDONOTDELETE" val="t1Smkff3fSzGMOuItfjj3Fw"/>
</p:tagLst>
</file>

<file path=ppt/tags/tag18.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9721</Words>
  <Application>WPS 演示</Application>
  <PresentationFormat>宽屏</PresentationFormat>
  <Paragraphs>1313</Paragraphs>
  <Slides>85</Slides>
  <Notes>1</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3</vt:i4>
      </vt:variant>
      <vt:variant>
        <vt:lpstr>幻灯片标题</vt:lpstr>
      </vt:variant>
      <vt:variant>
        <vt:i4>85</vt:i4>
      </vt:variant>
    </vt:vector>
  </HeadingPairs>
  <TitlesOfParts>
    <vt:vector size="110" baseType="lpstr">
      <vt:lpstr>Arial</vt:lpstr>
      <vt:lpstr>宋体</vt:lpstr>
      <vt:lpstr>Wingdings</vt:lpstr>
      <vt:lpstr>微软雅黑</vt:lpstr>
      <vt:lpstr>Times New Roman</vt:lpstr>
      <vt:lpstr>楷体_GB2312</vt:lpstr>
      <vt:lpstr>新宋体</vt:lpstr>
      <vt:lpstr>隶书</vt:lpstr>
      <vt:lpstr>微软雅黑 (正文)</vt:lpstr>
      <vt:lpstr>黑体</vt:lpstr>
      <vt:lpstr>华文楷体</vt:lpstr>
      <vt:lpstr>Arial Unicode MS</vt:lpstr>
      <vt:lpstr>Calibri</vt:lpstr>
      <vt:lpstr>Impact</vt:lpstr>
      <vt:lpstr>-apple-system</vt:lpstr>
      <vt:lpstr>Segoe Print</vt:lpstr>
      <vt:lpstr>Wingdings 2</vt:lpstr>
      <vt:lpstr>Perpetua</vt:lpstr>
      <vt:lpstr>Monotype Sorts</vt:lpstr>
      <vt:lpstr>Wingdings</vt:lpstr>
      <vt:lpstr>Webdings</vt:lpstr>
      <vt:lpstr>主题5</vt:lpstr>
      <vt:lpstr>Visio.Drawing.4</vt:lpstr>
      <vt:lpstr>Paint.Picture</vt:lpstr>
      <vt:lpstr>Visio.Drawing.4</vt:lpstr>
      <vt:lpstr>计算机操作系统</vt:lpstr>
      <vt:lpstr>PowerPoint 演示文稿</vt:lpstr>
      <vt:lpstr>重要性</vt:lpstr>
      <vt:lpstr>研究内容</vt:lpstr>
      <vt:lpstr>PowerPoint 演示文稿</vt:lpstr>
      <vt:lpstr>PowerPoint 演示文稿</vt:lpstr>
      <vt:lpstr> 第1章 操作系统引论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学 习 进 步 ！</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肖继海</cp:lastModifiedBy>
  <cp:revision>132</cp:revision>
  <cp:lastPrinted>2019-04-18T16:00:00Z</cp:lastPrinted>
  <dcterms:created xsi:type="dcterms:W3CDTF">2019-04-18T16:00:00Z</dcterms:created>
  <dcterms:modified xsi:type="dcterms:W3CDTF">2024-12-05T08:08:47Z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F550D6099EDE423F9644FD0920CD3DFA</vt:lpwstr>
  </property>
  <property fmtid="{D5CDD505-2E9C-101B-9397-08002B2CF9AE}" pid="4" name="KSOProductBuildVer">
    <vt:lpwstr>2052-12.1.0.18912</vt:lpwstr>
  </property>
</Properties>
</file>