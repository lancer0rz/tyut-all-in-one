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62.svg" ContentType="image/svg+xml"/>
  <Override PartName="/ppt/media/image71.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0"/>
  </p:handoutMasterIdLst>
  <p:sldIdLst>
    <p:sldId id="1036" r:id="rId3"/>
    <p:sldId id="1056" r:id="rId5"/>
    <p:sldId id="1064" r:id="rId6"/>
    <p:sldId id="1071" r:id="rId7"/>
    <p:sldId id="1078" r:id="rId8"/>
    <p:sldId id="998" r:id="rId9"/>
    <p:sldId id="1826" r:id="rId10"/>
    <p:sldId id="1827" r:id="rId11"/>
    <p:sldId id="1126" r:id="rId12"/>
    <p:sldId id="1138" r:id="rId13"/>
    <p:sldId id="1141" r:id="rId14"/>
    <p:sldId id="1146" r:id="rId15"/>
    <p:sldId id="1158" r:id="rId16"/>
    <p:sldId id="1162" r:id="rId17"/>
    <p:sldId id="1168" r:id="rId18"/>
    <p:sldId id="1169" r:id="rId19"/>
    <p:sldId id="1174" r:id="rId20"/>
    <p:sldId id="1177" r:id="rId21"/>
    <p:sldId id="1180" r:id="rId22"/>
    <p:sldId id="1195" r:id="rId23"/>
    <p:sldId id="1201" r:id="rId24"/>
    <p:sldId id="1205" r:id="rId25"/>
    <p:sldId id="1215" r:id="rId26"/>
    <p:sldId id="1223" r:id="rId27"/>
    <p:sldId id="1229" r:id="rId28"/>
    <p:sldId id="1235" r:id="rId29"/>
    <p:sldId id="1240" r:id="rId30"/>
    <p:sldId id="1242" r:id="rId31"/>
    <p:sldId id="1243" r:id="rId32"/>
    <p:sldId id="1248" r:id="rId33"/>
    <p:sldId id="1268" r:id="rId34"/>
    <p:sldId id="1269" r:id="rId35"/>
    <p:sldId id="1274" r:id="rId36"/>
    <p:sldId id="1278" r:id="rId37"/>
    <p:sldId id="1286" r:id="rId38"/>
    <p:sldId id="1287" r:id="rId39"/>
    <p:sldId id="1288" r:id="rId40"/>
    <p:sldId id="1296" r:id="rId41"/>
    <p:sldId id="1308" r:id="rId42"/>
    <p:sldId id="1314" r:id="rId43"/>
    <p:sldId id="1317" r:id="rId44"/>
    <p:sldId id="1323" r:id="rId45"/>
    <p:sldId id="1828" r:id="rId46"/>
    <p:sldId id="1343" r:id="rId47"/>
    <p:sldId id="1344" r:id="rId48"/>
    <p:sldId id="1351" r:id="rId49"/>
    <p:sldId id="1362" r:id="rId50"/>
    <p:sldId id="1370" r:id="rId51"/>
    <p:sldId id="1373" r:id="rId52"/>
    <p:sldId id="1396" r:id="rId53"/>
    <p:sldId id="1398" r:id="rId54"/>
    <p:sldId id="1402" r:id="rId55"/>
    <p:sldId id="1408" r:id="rId56"/>
    <p:sldId id="1410" r:id="rId57"/>
    <p:sldId id="1439" r:id="rId58"/>
    <p:sldId id="1441" r:id="rId59"/>
    <p:sldId id="1451" r:id="rId60"/>
    <p:sldId id="1460" r:id="rId61"/>
    <p:sldId id="1465" r:id="rId62"/>
    <p:sldId id="1467" r:id="rId63"/>
    <p:sldId id="1476" r:id="rId64"/>
    <p:sldId id="1480" r:id="rId65"/>
    <p:sldId id="1486" r:id="rId66"/>
    <p:sldId id="1493" r:id="rId67"/>
    <p:sldId id="1503" r:id="rId68"/>
    <p:sldId id="1506" r:id="rId69"/>
    <p:sldId id="1524" r:id="rId70"/>
    <p:sldId id="1525" r:id="rId71"/>
    <p:sldId id="1528" r:id="rId72"/>
    <p:sldId id="1532" r:id="rId73"/>
    <p:sldId id="1537" r:id="rId74"/>
    <p:sldId id="1541" r:id="rId75"/>
    <p:sldId id="1547" r:id="rId76"/>
    <p:sldId id="1549" r:id="rId77"/>
    <p:sldId id="1580" r:id="rId78"/>
    <p:sldId id="1586" r:id="rId79"/>
    <p:sldId id="1589" r:id="rId80"/>
    <p:sldId id="1591" r:id="rId81"/>
    <p:sldId id="1598" r:id="rId82"/>
    <p:sldId id="1601" r:id="rId83"/>
    <p:sldId id="1604" r:id="rId84"/>
    <p:sldId id="1608" r:id="rId85"/>
    <p:sldId id="1613" r:id="rId86"/>
    <p:sldId id="1621" r:id="rId87"/>
    <p:sldId id="1627" r:id="rId88"/>
    <p:sldId id="1639" r:id="rId89"/>
    <p:sldId id="1650" r:id="rId90"/>
    <p:sldId id="1653" r:id="rId91"/>
    <p:sldId id="1661" r:id="rId92"/>
    <p:sldId id="1667" r:id="rId93"/>
    <p:sldId id="1676" r:id="rId94"/>
    <p:sldId id="1677" r:id="rId95"/>
    <p:sldId id="1693" r:id="rId96"/>
    <p:sldId id="1702" r:id="rId97"/>
    <p:sldId id="1703" r:id="rId98"/>
    <p:sldId id="1715" r:id="rId99"/>
    <p:sldId id="1716" r:id="rId100"/>
    <p:sldId id="1730" r:id="rId101"/>
    <p:sldId id="1741" r:id="rId102"/>
    <p:sldId id="1748" r:id="rId103"/>
    <p:sldId id="1765" r:id="rId104"/>
    <p:sldId id="1754" r:id="rId105"/>
    <p:sldId id="1763" r:id="rId106"/>
    <p:sldId id="1764" r:id="rId107"/>
    <p:sldId id="1768" r:id="rId108"/>
    <p:sldId id="1769" r:id="rId109"/>
    <p:sldId id="1771" r:id="rId110"/>
    <p:sldId id="1792" r:id="rId111"/>
    <p:sldId id="1794" r:id="rId112"/>
    <p:sldId id="1796" r:id="rId113"/>
    <p:sldId id="1807" r:id="rId114"/>
    <p:sldId id="1808" r:id="rId115"/>
    <p:sldId id="1814" r:id="rId116"/>
    <p:sldId id="1816" r:id="rId117"/>
    <p:sldId id="1817" r:id="rId118"/>
    <p:sldId id="1829" r:id="rId119"/>
  </p:sldIdLst>
  <p:sldSz cx="12192000" cy="6858000"/>
  <p:notesSz cx="6858000" cy="9144000"/>
  <p:custDataLst>
    <p:tags r:id="rId1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422" userDrawn="1">
          <p15:clr>
            <a:srgbClr val="A4A3A4"/>
          </p15:clr>
        </p15:guide>
        <p15:guide id="4" orient="horz" pos="431" userDrawn="1">
          <p15:clr>
            <a:srgbClr val="A4A3A4"/>
          </p15:clr>
        </p15:guide>
        <p15:guide id="5" pos="36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 initials="" lastIdx="1" clrIdx="0"/>
  <p:cmAuthor id="0" name="admin" initials="a" lastIdx="0" clrIdx="0"/>
  <p:cmAuthor id="2" name="yyllhj" initials="y" lastIdx="1" clrIdx="1"/>
  <p:cmAuthor id="3" name="liu jiayu" initials="lj" lastIdx="1" clrIdx="2"/>
  <p:cmAuthor id="4" name="86138" initials="8" lastIdx="1" clrIdx="3"/>
  <p:cmAuthor id="7" name="Microsoft Office User" initials="Office [7]" lastIdx="1" clrIdx="6"/>
  <p:cmAuthor id="8" name="XIAO XINWEN" initials="XX" lastIdx="11" clrIdx="7"/>
  <p:cmAuthor id="5" name="Karri Alexion-Tiernan" initials="K" lastIdx="2" clrIdx="4"/>
  <p:cmAuthor id="6" name="ming qiu" initials="m" lastIdx="17" clrIdx="1"/>
  <p:cmAuthor id="9" name="陈盛伟" initials="陈盛伟" lastIdx="1" clrIdx="0"/>
  <p:cmAuthor id="10" name="Windows" initials="W" lastIdx="2" clrIdx="9"/>
  <p:cmAuthor id="11" name="lizhan" initials="l" lastIdx="3" clrIdx="10"/>
  <p:cmAuthor id="12" name="JYW" initials="W" lastIdx="2" clrIdx="11"/>
  <p:cmAuthor id="13" name="马云飞10014438" initials="马" lastIdx="4" clrIdx="0"/>
  <p:cmAuthor id="14" name="谢银创10184115" initials="谢银创10184115" lastIdx="6" clrIdx="12"/>
  <p:cmAuthor id="15" name="10025093" initials="1" lastIdx="51" clrIdx="14"/>
  <p:cmAuthor id="16" name="企鹅" initials="企" lastIdx="1" clrIdx="15"/>
  <p:cmAuthor id="17" name="李 里" initials="李" lastIdx="1" clrIdx="17"/>
  <p:cmAuthor id="18" name="郭雨婷" initials="郭" lastIdx="1" clrIdx="17"/>
  <p:cmAuthor id="19" name="Saku Uchikawa" initials="S" lastIdx="11" clrIdx="0"/>
  <p:cmAuthor id="20" name="00065088" initials="0" lastIdx="2" clrIdx="19"/>
  <p:cmAuthor id="21" name="10066351" initials="1" lastIdx="2" clrIdx="0"/>
  <p:cmAuthor id="22" name="蔡建楠" initials="caijianna" lastIdx="15" clrIdx="17"/>
  <p:cmAuthor id="2001" name="骆倩怡_Znauj26B" initials="authorId_382814100" lastIdx="0" clrIdx="0"/>
  <p:cmAuthor id="23" name="未知用户1" initials="未" lastIdx="7" clrIdx="19"/>
  <p:cmAuthor id="24" name="10288631" initials="1" lastIdx="10" clrIdx="23"/>
  <p:cmAuthor id="25" name="wyz" initials="w" lastIdx="1" clrIdx="24"/>
  <p:cmAuthor id="26" name="10270945" initials="1" lastIdx="2" clrIdx="25"/>
  <p:cmAuthor id="27" name="10295142" initials="1" lastIdx="1" clrIdx="26"/>
  <p:cmAuthor id="28" name="Hou Yingfeng" initials="H" lastIdx="10" clrIdx="23"/>
  <p:cmAuthor id="29" name="张馨玲" initials="张" lastIdx="1" clrIdx="28"/>
  <p:cmAuthor id="30" name="Q" initials="Q" lastIdx="1" clrIdx="29"/>
  <p:cmAuthor id="31" name="Author" initials="A" lastIdx="0" clrIdx="30"/>
  <p:cmAuthor id="32" name="李楠10047711" initials="李楠10047711" lastIdx="2" clrIdx="31"/>
  <p:cmAuthor id="33" name="610007" initials="6" lastIdx="0" clrIdx="32"/>
  <p:cmAuthor id="34" name="guoliru@cmii.cmcc" initials="GLR" lastIdx="3" clrIdx="33"/>
  <p:cmAuthor id="36" name="song chengxu" initials="sc" lastIdx="1" clrIdx="36"/>
  <p:cmAuthor id="37" name="周 文杰" initials="周" lastIdx="1" clrIdx="37"/>
  <p:cmAuthor id="38" name="世珍" initials="世珍" lastIdx="1" clrIdx="38"/>
  <p:cmAuthor id="278619316" name="Danny" initials="D" lastIdx="1" clrIdx="0"/>
  <p:cmAuthor id="1483810881" name="WPS_1679281038" initials="W" lastIdx="1" clrIdx="2"/>
  <p:cmAuthor id="42" name="微软用户" initials="微" lastIdx="0" clrIdx="41"/>
  <p:cmAuthor id="43" name="作者" initials="A" lastIdx="0" clrIdx="42"/>
  <p:cmAuthor id="44" name="Lindsay Berg" initials="L" lastIdx="0" clrIdx="43"/>
  <p:cmAuthor id="45" name="Chris Wells" initials="C" lastIdx="0" clrIdx="44"/>
  <p:cmAuthor id="46" name="Yanxia Hao" initials="YH" lastIdx="0" clrIdx="45"/>
  <p:cmAuthor id="47" name="Allen" initials="A" lastIdx="0" clrIdx="46"/>
  <p:cmAuthor id="48" name="自强 王" initials="自强" lastIdx="0" clrIdx="47"/>
  <p:cmAuthor id="49" name="DELL" initials="D" lastIdx="0" clrIdx="48"/>
  <p:cmAuthor id="50" name="rccq_ln" initials="r" lastIdx="0" clrIdx="49"/>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74B63"/>
    <a:srgbClr val="401BC0"/>
    <a:srgbClr val="2D61B7"/>
    <a:srgbClr val="38516D"/>
    <a:srgbClr val="FEBE00"/>
    <a:srgbClr val="944E72"/>
    <a:srgbClr val="DF4F21"/>
    <a:srgbClr val="F6A42E"/>
    <a:srgbClr val="5DBE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24" autoAdjust="0"/>
    <p:restoredTop sz="93201" autoAdjust="0"/>
  </p:normalViewPr>
  <p:slideViewPr>
    <p:cSldViewPr snapToGrid="0" showGuides="1">
      <p:cViewPr varScale="1">
        <p:scale>
          <a:sx n="92" d="100"/>
          <a:sy n="92" d="100"/>
        </p:scale>
        <p:origin x="404" y="80"/>
      </p:cViewPr>
      <p:guideLst>
        <p:guide pos="3422"/>
        <p:guide orient="horz" pos="431"/>
        <p:guide pos="365"/>
      </p:guideLst>
    </p:cSldViewPr>
  </p:slideViewPr>
  <p:outlineViewPr>
    <p:cViewPr>
      <p:scale>
        <a:sx n="33" d="100"/>
        <a:sy n="33" d="100"/>
      </p:scale>
      <p:origin x="0" y="-768"/>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5" Type="http://schemas.openxmlformats.org/officeDocument/2006/relationships/tags" Target="tags/tag191.xml"/><Relationship Id="rId124" Type="http://schemas.openxmlformats.org/officeDocument/2006/relationships/commentAuthors" Target="commentAuthors.xml"/><Relationship Id="rId123" Type="http://schemas.openxmlformats.org/officeDocument/2006/relationships/tableStyles" Target="tableStyles.xml"/><Relationship Id="rId122" Type="http://schemas.openxmlformats.org/officeDocument/2006/relationships/viewProps" Target="viewProps.xml"/><Relationship Id="rId121" Type="http://schemas.openxmlformats.org/officeDocument/2006/relationships/presProps" Target="presProps.xml"/><Relationship Id="rId120" Type="http://schemas.openxmlformats.org/officeDocument/2006/relationships/handoutMaster" Target="handoutMasters/handoutMaster1.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8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8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4E96B3-64D9-4A8F-8A05-F01D3CB199B8}" type="datetimeFigureOut">
              <a:rPr lang="en-US" smtClean="0"/>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22650A-3B22-4C48-85CF-E0840227AD0A}" type="slidenum">
              <a:rPr lang="en-US" smtClean="0"/>
            </a:fld>
            <a:endParaRPr 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p:sp>
      <p:sp>
        <p:nvSpPr>
          <p:cNvPr id="2519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8B22650A-3B22-4C48-85CF-E0840227AD0A}"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8B22650A-3B22-4C48-85CF-E0840227AD0A}"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8B22650A-3B22-4C48-85CF-E0840227AD0A}"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kern="0" dirty="0">
                <a:solidFill>
                  <a:srgbClr val="000000"/>
                </a:solidFill>
                <a:effectLst/>
                <a:latin typeface="微软雅黑" panose="020B0503020204020204" pitchFamily="34" charset="-122"/>
                <a:ea typeface="微软雅黑" panose="020B0503020204020204" pitchFamily="34" charset="-122"/>
                <a:cs typeface="TT7ADF8o00536922991"/>
              </a:rPr>
              <a:t>签名过程原理</a:t>
            </a:r>
            <a:endParaRPr lang="en-US" altLang="zh-CN" sz="1400" kern="0" dirty="0">
              <a:solidFill>
                <a:srgbClr val="000000"/>
              </a:solidFill>
              <a:latin typeface="微软雅黑" panose="020B0503020204020204" pitchFamily="34" charset="-122"/>
              <a:ea typeface="微软雅黑" panose="020B0503020204020204" pitchFamily="34" charset="-122"/>
              <a:cs typeface="TT7ADF8o00536922991"/>
            </a:endParaRPr>
          </a:p>
          <a:p>
            <a:endPar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在域名服务器收到域名注册数据后，用散列函数将要回复 </a:t>
            </a:r>
            <a:r>
              <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rPr>
              <a:t>DNS </a:t>
            </a:r>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报文的内容进行散列运算， 得到 “内容摘要”，然后使用私钥对其加密，并将加密后的信息附加到</a:t>
            </a:r>
            <a:r>
              <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rPr>
              <a:t>DNS </a:t>
            </a:r>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报文中</a:t>
            </a:r>
            <a:endPar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endPar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r>
              <a:rPr lang="zh-CN" altLang="en-US" sz="1400" kern="0" dirty="0">
                <a:solidFill>
                  <a:srgbClr val="000000"/>
                </a:solidFill>
                <a:effectLst/>
                <a:latin typeface="微软雅黑" panose="020B0503020204020204" pitchFamily="34" charset="-122"/>
                <a:ea typeface="微软雅黑" panose="020B0503020204020204" pitchFamily="34" charset="-122"/>
                <a:cs typeface="TT7ADF8o00536922991"/>
              </a:rPr>
              <a:t>验证过程原理</a:t>
            </a:r>
            <a:endParaRPr lang="en-US" altLang="zh-CN" sz="1400" kern="0" dirty="0">
              <a:solidFill>
                <a:srgbClr val="000000"/>
              </a:solidFill>
              <a:effectLst/>
              <a:latin typeface="微软雅黑" panose="020B0503020204020204" pitchFamily="34" charset="-122"/>
              <a:ea typeface="微软雅黑" panose="020B0503020204020204" pitchFamily="34" charset="-122"/>
              <a:cs typeface="TT7ADF8o00536922991"/>
            </a:endParaRPr>
          </a:p>
          <a:p>
            <a:endPar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递归服务器收到 </a:t>
            </a:r>
            <a:r>
              <a:rPr lang="en-US" altLang="zh-CN" sz="1200" kern="0" dirty="0">
                <a:solidFill>
                  <a:srgbClr val="000000"/>
                </a:solidFill>
                <a:effectLst/>
                <a:latin typeface="微软雅黑" panose="020B0503020204020204" pitchFamily="34" charset="-122"/>
                <a:ea typeface="微软雅黑" panose="020B0503020204020204" pitchFamily="34" charset="-122"/>
                <a:cs typeface="TT7ADF8o00536922991"/>
              </a:rPr>
              <a:t>DNSSEC </a:t>
            </a:r>
            <a:r>
              <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rPr>
              <a:t>报文，利用散列函数计算报文 “内容摘要”，利用公钥解密收到加密 “内容摘要”。 对比 “摘要”内容，相同则确认收到的 数据正确</a:t>
            </a:r>
            <a:endPar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endParaRPr lang="zh-CN" altLang="en-US" sz="1200" kern="0" dirty="0">
              <a:solidFill>
                <a:srgbClr val="000000"/>
              </a:solidFill>
              <a:effectLst/>
              <a:latin typeface="微软雅黑" panose="020B0503020204020204" pitchFamily="34" charset="-122"/>
              <a:ea typeface="微软雅黑" panose="020B0503020204020204" pitchFamily="34" charset="-122"/>
              <a:cs typeface="TT7ADF8o00536922991"/>
            </a:endParaRPr>
          </a:p>
          <a:p>
            <a:endParaRPr lang="zh-CN" altLang="en-US" dirty="0"/>
          </a:p>
        </p:txBody>
      </p:sp>
      <p:sp>
        <p:nvSpPr>
          <p:cNvPr id="4" name="灯片编号占位符 3"/>
          <p:cNvSpPr>
            <a:spLocks noGrp="1"/>
          </p:cNvSpPr>
          <p:nvPr>
            <p:ph type="sldNum" sz="quarter" idx="5"/>
          </p:nvPr>
        </p:nvSpPr>
        <p:spPr/>
        <p:txBody>
          <a:bodyPr/>
          <a:lstStyle/>
          <a:p>
            <a:fld id="{DFFFF58A-9BE3-E64E-8A3D-8C1B4E5228D0}"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koppt.cn/index/"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
        <p:nvSpPr>
          <p:cNvPr id="30" name="矩形 29"/>
          <p:cNvSpPr/>
          <p:nvPr userDrawn="1"/>
        </p:nvSpPr>
        <p:spPr>
          <a:xfrm>
            <a:off x="-635" y="0"/>
            <a:ext cx="12193270" cy="1027430"/>
          </a:xfrm>
          <a:prstGeom prst="rect">
            <a:avLst/>
          </a:prstGeom>
          <a:solidFill>
            <a:schemeClr val="accent1"/>
          </a:solidFill>
          <a:ln>
            <a:noFill/>
          </a:ln>
          <a:effectLst>
            <a:outerShdw blurRad="1524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solidFill>
                <a:schemeClr val="bg1"/>
              </a:solidFill>
            </a:endParaRPr>
          </a:p>
        </p:txBody>
      </p:sp>
      <p:sp>
        <p:nvSpPr>
          <p:cNvPr id="2" name="标题 1"/>
          <p:cNvSpPr>
            <a:spLocks noGrp="1"/>
          </p:cNvSpPr>
          <p:nvPr>
            <p:ph type="title" hasCustomPrompt="1"/>
          </p:nvPr>
        </p:nvSpPr>
        <p:spPr>
          <a:xfrm>
            <a:off x="152400" y="298480"/>
            <a:ext cx="5613400" cy="583503"/>
          </a:xfrm>
          <a:prstGeom prst="rect">
            <a:avLst/>
          </a:prstGeom>
        </p:spPr>
        <p:txBody>
          <a:bodyPr/>
          <a:lstStyle>
            <a:lvl1pPr>
              <a:defRPr sz="3200" b="1">
                <a:solidFill>
                  <a:schemeClr val="bg1"/>
                </a:solidFill>
              </a:defRPr>
            </a:lvl1pPr>
          </a:lstStyle>
          <a:p>
            <a:r>
              <a:rPr lang="zh-CN" altLang="en-US" dirty="0"/>
              <a:t>单击此处添加幻灯片标题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OPPT 版权">
    <p:spTree>
      <p:nvGrpSpPr>
        <p:cNvPr id="1" name=""/>
        <p:cNvGrpSpPr/>
        <p:nvPr/>
      </p:nvGrpSpPr>
      <p:grpSpPr>
        <a:xfrm>
          <a:off x="0" y="0"/>
          <a:ext cx="0" cy="0"/>
          <a:chOff x="0" y="0"/>
          <a:chExt cx="0" cy="0"/>
        </a:xfrm>
      </p:grpSpPr>
      <p:sp>
        <p:nvSpPr>
          <p:cNvPr id="4" name="koppt-矩形"/>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p>
        </p:txBody>
      </p:sp>
      <p:sp>
        <p:nvSpPr>
          <p:cNvPr id="17" name="koppt-圆角矩形"/>
          <p:cNvSpPr/>
          <p:nvPr userDrawn="1"/>
        </p:nvSpPr>
        <p:spPr>
          <a:xfrm>
            <a:off x="4911129" y="3244334"/>
            <a:ext cx="2369742" cy="369332"/>
          </a:xfrm>
          <a:prstGeom prst="rect">
            <a:avLst/>
          </a:prstGeom>
        </p:spPr>
        <p:txBody>
          <a:bodyPr wrap="square">
            <a:spAutoFit/>
          </a:bodyPr>
          <a:lstStyle/>
          <a:p>
            <a:endParaRPr lang="en-US" dirty="0">
              <a:latin typeface="微软雅黑" panose="020B0503020204020204" pitchFamily="34" charset="-122"/>
              <a:ea typeface="微软雅黑" panose="020B0503020204020204" pitchFamily="34" charset="-122"/>
              <a:cs typeface="Segoe UI Light" panose="020B0502040204020203" pitchFamily="34" charset="0"/>
            </a:endParaRPr>
          </a:p>
        </p:txBody>
      </p:sp>
      <p:sp>
        <p:nvSpPr>
          <p:cNvPr id="18" name="koppt-圆角矩形框"/>
          <p:cNvSpPr/>
          <p:nvPr userDrawn="1"/>
        </p:nvSpPr>
        <p:spPr>
          <a:xfrm>
            <a:off x="2132781" y="2938463"/>
            <a:ext cx="8231238" cy="1285874"/>
          </a:xfrm>
          <a:prstGeom prst="roundRect">
            <a:avLst>
              <a:gd name="adj" fmla="val 0"/>
            </a:avLst>
          </a:prstGeom>
          <a:noFill/>
          <a:ln w="38100">
            <a:solidFill>
              <a:srgbClr val="FFFFFF"/>
            </a:solid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4400">
              <a:solidFill>
                <a:schemeClr val="bg2"/>
              </a:solidFill>
            </a:endParaRPr>
          </a:p>
        </p:txBody>
      </p:sp>
      <p:sp>
        <p:nvSpPr>
          <p:cNvPr id="19" name="koppt-圆角矩形"/>
          <p:cNvSpPr/>
          <p:nvPr userDrawn="1"/>
        </p:nvSpPr>
        <p:spPr>
          <a:xfrm>
            <a:off x="8758723" y="2938463"/>
            <a:ext cx="1605296" cy="1285875"/>
          </a:xfrm>
          <a:prstGeom prst="roundRect">
            <a:avLst>
              <a:gd name="adj" fmla="val 0"/>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0" name="koppt-文本框"/>
          <p:cNvSpPr/>
          <p:nvPr userDrawn="1"/>
        </p:nvSpPr>
        <p:spPr>
          <a:xfrm>
            <a:off x="3002166" y="3196680"/>
            <a:ext cx="4887172" cy="769441"/>
          </a:xfrm>
          <a:prstGeom prst="rect">
            <a:avLst/>
          </a:prstGeom>
        </p:spPr>
        <p:txBody>
          <a:bodyPr wrap="none">
            <a:spAutoFit/>
          </a:bodyPr>
          <a:lstStyle/>
          <a:p>
            <a:pPr algn="ctr"/>
            <a:r>
              <a:rPr lang="en-US" sz="4400" dirty="0">
                <a:solidFill>
                  <a:srgbClr val="FFFFFF"/>
                </a:solidFill>
              </a:rPr>
              <a:t>WWW.KOPPT.CN</a:t>
            </a:r>
            <a:endParaRPr lang="en-US" dirty="0">
              <a:solidFill>
                <a:srgbClr val="FFFFFF"/>
              </a:solidFill>
            </a:endParaRPr>
          </a:p>
        </p:txBody>
      </p:sp>
      <p:grpSp>
        <p:nvGrpSpPr>
          <p:cNvPr id="21" name="koppt-图标"/>
          <p:cNvGrpSpPr>
            <a:grpSpLocks noChangeAspect="1"/>
          </p:cNvGrpSpPr>
          <p:nvPr userDrawn="1"/>
        </p:nvGrpSpPr>
        <p:grpSpPr>
          <a:xfrm>
            <a:off x="9110056" y="3130085"/>
            <a:ext cx="902629" cy="902629"/>
            <a:chOff x="5207806" y="4161042"/>
            <a:chExt cx="499165" cy="499165"/>
          </a:xfrm>
          <a:solidFill>
            <a:schemeClr val="accent1"/>
          </a:solidFill>
        </p:grpSpPr>
        <p:sp>
          <p:nvSpPr>
            <p:cNvPr id="22" name="Freeform 228"/>
            <p:cNvSpPr>
              <a:spLocks noEditPoints="1"/>
            </p:cNvSpPr>
            <p:nvPr/>
          </p:nvSpPr>
          <p:spPr bwMode="auto">
            <a:xfrm>
              <a:off x="5207806" y="4161042"/>
              <a:ext cx="499165" cy="499165"/>
            </a:xfrm>
            <a:custGeom>
              <a:avLst/>
              <a:gdLst>
                <a:gd name="T0" fmla="*/ 225 w 236"/>
                <a:gd name="T1" fmla="*/ 204 h 236"/>
                <a:gd name="T2" fmla="*/ 173 w 236"/>
                <a:gd name="T3" fmla="*/ 151 h 236"/>
                <a:gd name="T4" fmla="*/ 191 w 236"/>
                <a:gd name="T5" fmla="*/ 95 h 236"/>
                <a:gd name="T6" fmla="*/ 96 w 236"/>
                <a:gd name="T7" fmla="*/ 0 h 236"/>
                <a:gd name="T8" fmla="*/ 0 w 236"/>
                <a:gd name="T9" fmla="*/ 95 h 236"/>
                <a:gd name="T10" fmla="*/ 96 w 236"/>
                <a:gd name="T11" fmla="*/ 190 h 236"/>
                <a:gd name="T12" fmla="*/ 152 w 236"/>
                <a:gd name="T13" fmla="*/ 172 h 236"/>
                <a:gd name="T14" fmla="*/ 205 w 236"/>
                <a:gd name="T15" fmla="*/ 225 h 236"/>
                <a:gd name="T16" fmla="*/ 230 w 236"/>
                <a:gd name="T17" fmla="*/ 230 h 236"/>
                <a:gd name="T18" fmla="*/ 225 w 236"/>
                <a:gd name="T19" fmla="*/ 204 h 236"/>
                <a:gd name="T20" fmla="*/ 95 w 236"/>
                <a:gd name="T21" fmla="*/ 168 h 236"/>
                <a:gd name="T22" fmla="*/ 67 w 236"/>
                <a:gd name="T23" fmla="*/ 162 h 236"/>
                <a:gd name="T24" fmla="*/ 43 w 236"/>
                <a:gd name="T25" fmla="*/ 146 h 236"/>
                <a:gd name="T26" fmla="*/ 21 w 236"/>
                <a:gd name="T27" fmla="*/ 93 h 236"/>
                <a:gd name="T28" fmla="*/ 95 w 236"/>
                <a:gd name="T29" fmla="*/ 20 h 236"/>
                <a:gd name="T30" fmla="*/ 146 w 236"/>
                <a:gd name="T31" fmla="*/ 41 h 236"/>
                <a:gd name="T32" fmla="*/ 168 w 236"/>
                <a:gd name="T33" fmla="*/ 93 h 236"/>
                <a:gd name="T34" fmla="*/ 152 w 236"/>
                <a:gd name="T35" fmla="*/ 139 h 236"/>
                <a:gd name="T36" fmla="*/ 146 w 236"/>
                <a:gd name="T37" fmla="*/ 146 h 236"/>
                <a:gd name="T38" fmla="*/ 140 w 236"/>
                <a:gd name="T39" fmla="*/ 151 h 236"/>
                <a:gd name="T40" fmla="*/ 95 w 236"/>
                <a:gd name="T41" fmla="*/ 16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6" h="236">
                  <a:moveTo>
                    <a:pt x="225" y="204"/>
                  </a:moveTo>
                  <a:cubicBezTo>
                    <a:pt x="173" y="151"/>
                    <a:pt x="173" y="151"/>
                    <a:pt x="173" y="151"/>
                  </a:cubicBezTo>
                  <a:cubicBezTo>
                    <a:pt x="184" y="136"/>
                    <a:pt x="191" y="116"/>
                    <a:pt x="191" y="95"/>
                  </a:cubicBezTo>
                  <a:cubicBezTo>
                    <a:pt x="191" y="43"/>
                    <a:pt x="148" y="0"/>
                    <a:pt x="96" y="0"/>
                  </a:cubicBezTo>
                  <a:cubicBezTo>
                    <a:pt x="43" y="0"/>
                    <a:pt x="0" y="43"/>
                    <a:pt x="0" y="95"/>
                  </a:cubicBezTo>
                  <a:cubicBezTo>
                    <a:pt x="0" y="148"/>
                    <a:pt x="43" y="190"/>
                    <a:pt x="96" y="190"/>
                  </a:cubicBezTo>
                  <a:cubicBezTo>
                    <a:pt x="117" y="190"/>
                    <a:pt x="136" y="184"/>
                    <a:pt x="152" y="172"/>
                  </a:cubicBezTo>
                  <a:cubicBezTo>
                    <a:pt x="205" y="225"/>
                    <a:pt x="205" y="225"/>
                    <a:pt x="205" y="225"/>
                  </a:cubicBezTo>
                  <a:cubicBezTo>
                    <a:pt x="213" y="233"/>
                    <a:pt x="225" y="236"/>
                    <a:pt x="230" y="230"/>
                  </a:cubicBezTo>
                  <a:cubicBezTo>
                    <a:pt x="236" y="224"/>
                    <a:pt x="234" y="213"/>
                    <a:pt x="225" y="204"/>
                  </a:cubicBezTo>
                  <a:close/>
                  <a:moveTo>
                    <a:pt x="95" y="168"/>
                  </a:moveTo>
                  <a:cubicBezTo>
                    <a:pt x="85" y="168"/>
                    <a:pt x="75" y="166"/>
                    <a:pt x="67" y="162"/>
                  </a:cubicBezTo>
                  <a:cubicBezTo>
                    <a:pt x="58" y="158"/>
                    <a:pt x="50" y="152"/>
                    <a:pt x="43" y="146"/>
                  </a:cubicBezTo>
                  <a:cubicBezTo>
                    <a:pt x="29" y="132"/>
                    <a:pt x="21" y="113"/>
                    <a:pt x="21" y="93"/>
                  </a:cubicBezTo>
                  <a:cubicBezTo>
                    <a:pt x="21" y="53"/>
                    <a:pt x="54" y="20"/>
                    <a:pt x="95" y="20"/>
                  </a:cubicBezTo>
                  <a:cubicBezTo>
                    <a:pt x="114" y="20"/>
                    <a:pt x="133" y="27"/>
                    <a:pt x="146" y="41"/>
                  </a:cubicBezTo>
                  <a:cubicBezTo>
                    <a:pt x="160" y="55"/>
                    <a:pt x="168" y="73"/>
                    <a:pt x="168" y="93"/>
                  </a:cubicBezTo>
                  <a:cubicBezTo>
                    <a:pt x="168" y="109"/>
                    <a:pt x="162" y="126"/>
                    <a:pt x="152" y="139"/>
                  </a:cubicBezTo>
                  <a:cubicBezTo>
                    <a:pt x="150" y="142"/>
                    <a:pt x="148" y="144"/>
                    <a:pt x="146" y="146"/>
                  </a:cubicBezTo>
                  <a:cubicBezTo>
                    <a:pt x="144" y="148"/>
                    <a:pt x="142" y="150"/>
                    <a:pt x="140" y="151"/>
                  </a:cubicBezTo>
                  <a:cubicBezTo>
                    <a:pt x="127" y="162"/>
                    <a:pt x="111" y="168"/>
                    <a:pt x="95" y="168"/>
                  </a:cubicBezTo>
                  <a:close/>
                </a:path>
              </a:pathLst>
            </a:custGeom>
            <a:grpFill/>
            <a:ln>
              <a:noFill/>
            </a:ln>
          </p:spPr>
          <p:txBody>
            <a:bodyPr vert="horz" wrap="square" lIns="91440" tIns="45720" rIns="91440" bIns="45720" numCol="1" anchor="t" anchorCtr="0" compatLnSpc="1"/>
            <a:lstStyle/>
            <a:p>
              <a:endParaRPr lang="en-US"/>
            </a:p>
          </p:txBody>
        </p:sp>
        <p:sp>
          <p:nvSpPr>
            <p:cNvPr id="23" name="Freeform 229"/>
            <p:cNvSpPr/>
            <p:nvPr/>
          </p:nvSpPr>
          <p:spPr bwMode="auto">
            <a:xfrm>
              <a:off x="5284497" y="4232351"/>
              <a:ext cx="247564" cy="247564"/>
            </a:xfrm>
            <a:custGeom>
              <a:avLst/>
              <a:gdLst>
                <a:gd name="T0" fmla="*/ 100 w 117"/>
                <a:gd name="T1" fmla="*/ 17 h 117"/>
                <a:gd name="T2" fmla="*/ 59 w 117"/>
                <a:gd name="T3" fmla="*/ 0 h 117"/>
                <a:gd name="T4" fmla="*/ 0 w 117"/>
                <a:gd name="T5" fmla="*/ 59 h 117"/>
                <a:gd name="T6" fmla="*/ 17 w 117"/>
                <a:gd name="T7" fmla="*/ 100 h 117"/>
                <a:gd name="T8" fmla="*/ 59 w 117"/>
                <a:gd name="T9" fmla="*/ 117 h 117"/>
                <a:gd name="T10" fmla="*/ 100 w 117"/>
                <a:gd name="T11" fmla="*/ 100 h 117"/>
                <a:gd name="T12" fmla="*/ 117 w 117"/>
                <a:gd name="T13" fmla="*/ 59 h 117"/>
                <a:gd name="T14" fmla="*/ 100 w 117"/>
                <a:gd name="T15" fmla="*/ 17 h 1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17">
                  <a:moveTo>
                    <a:pt x="100" y="17"/>
                  </a:moveTo>
                  <a:cubicBezTo>
                    <a:pt x="89" y="6"/>
                    <a:pt x="74" y="0"/>
                    <a:pt x="59" y="0"/>
                  </a:cubicBezTo>
                  <a:cubicBezTo>
                    <a:pt x="26" y="0"/>
                    <a:pt x="0" y="26"/>
                    <a:pt x="0" y="59"/>
                  </a:cubicBezTo>
                  <a:cubicBezTo>
                    <a:pt x="0" y="74"/>
                    <a:pt x="6" y="89"/>
                    <a:pt x="17" y="100"/>
                  </a:cubicBezTo>
                  <a:cubicBezTo>
                    <a:pt x="28" y="111"/>
                    <a:pt x="43" y="117"/>
                    <a:pt x="59" y="117"/>
                  </a:cubicBezTo>
                  <a:cubicBezTo>
                    <a:pt x="74" y="117"/>
                    <a:pt x="89" y="111"/>
                    <a:pt x="100" y="100"/>
                  </a:cubicBezTo>
                  <a:cubicBezTo>
                    <a:pt x="111" y="89"/>
                    <a:pt x="117" y="74"/>
                    <a:pt x="117" y="59"/>
                  </a:cubicBezTo>
                  <a:cubicBezTo>
                    <a:pt x="117" y="43"/>
                    <a:pt x="111" y="28"/>
                    <a:pt x="100" y="17"/>
                  </a:cubicBezTo>
                  <a:close/>
                </a:path>
              </a:pathLst>
            </a:custGeom>
            <a:grpFill/>
            <a:ln>
              <a:noFill/>
            </a:ln>
          </p:spPr>
          <p:txBody>
            <a:bodyPr vert="horz" wrap="square" lIns="91440" tIns="45720" rIns="91440" bIns="45720" numCol="1" anchor="t" anchorCtr="0" compatLnSpc="1"/>
            <a:lstStyle/>
            <a:p>
              <a:endParaRPr lang="en-US"/>
            </a:p>
          </p:txBody>
        </p:sp>
      </p:grpSp>
      <p:sp>
        <p:nvSpPr>
          <p:cNvPr id="24" name="koppt-文本框"/>
          <p:cNvSpPr txBox="1"/>
          <p:nvPr userDrawn="1"/>
        </p:nvSpPr>
        <p:spPr>
          <a:xfrm>
            <a:off x="4012018" y="7996200"/>
            <a:ext cx="738965" cy="307928"/>
          </a:xfrm>
          <a:prstGeom prst="rect">
            <a:avLst/>
          </a:prstGeom>
          <a:noFill/>
        </p:spPr>
        <p:txBody>
          <a:bodyPr wrap="none" lIns="61109" tIns="30555" rIns="61109" bIns="30555" rtlCol="0">
            <a:spAutoFit/>
          </a:bodyPr>
          <a:lstStyle/>
          <a:p>
            <a:r>
              <a:rPr lang="zh-CN" altLang="en-US" dirty="0"/>
              <a:t>延迟符</a:t>
            </a:r>
            <a:endParaRPr lang="zh-CN" altLang="en-US" dirty="0"/>
          </a:p>
        </p:txBody>
      </p:sp>
      <p:sp>
        <p:nvSpPr>
          <p:cNvPr id="25" name="koppt-文本框"/>
          <p:cNvSpPr txBox="1"/>
          <p:nvPr userDrawn="1"/>
        </p:nvSpPr>
        <p:spPr>
          <a:xfrm>
            <a:off x="4946416" y="7996200"/>
            <a:ext cx="738965" cy="307928"/>
          </a:xfrm>
          <a:prstGeom prst="rect">
            <a:avLst/>
          </a:prstGeom>
          <a:noFill/>
        </p:spPr>
        <p:txBody>
          <a:bodyPr wrap="none" lIns="61109" tIns="30555" rIns="61109" bIns="30555" rtlCol="0">
            <a:spAutoFit/>
          </a:bodyPr>
          <a:lstStyle/>
          <a:p>
            <a:r>
              <a:rPr lang="zh-CN" altLang="en-US" dirty="0"/>
              <a:t>延迟符</a:t>
            </a:r>
            <a:endParaRPr lang="zh-CN" altLang="en-US" dirty="0"/>
          </a:p>
        </p:txBody>
      </p:sp>
      <p:sp>
        <p:nvSpPr>
          <p:cNvPr id="26" name="koppt-文本框"/>
          <p:cNvSpPr txBox="1"/>
          <p:nvPr userDrawn="1"/>
        </p:nvSpPr>
        <p:spPr>
          <a:xfrm>
            <a:off x="5880814" y="7996200"/>
            <a:ext cx="738965" cy="307928"/>
          </a:xfrm>
          <a:prstGeom prst="rect">
            <a:avLst/>
          </a:prstGeom>
          <a:noFill/>
        </p:spPr>
        <p:txBody>
          <a:bodyPr wrap="none" lIns="61109" tIns="30555" rIns="61109" bIns="30555" rtlCol="0">
            <a:spAutoFit/>
          </a:bodyPr>
          <a:lstStyle/>
          <a:p>
            <a:r>
              <a:rPr lang="zh-CN" altLang="en-US" dirty="0"/>
              <a:t>延迟符</a:t>
            </a:r>
            <a:endParaRPr lang="zh-CN" altLang="en-US" dirty="0"/>
          </a:p>
        </p:txBody>
      </p:sp>
      <p:sp>
        <p:nvSpPr>
          <p:cNvPr id="27" name="koppt-文本框"/>
          <p:cNvSpPr txBox="1"/>
          <p:nvPr userDrawn="1"/>
        </p:nvSpPr>
        <p:spPr>
          <a:xfrm>
            <a:off x="6815212" y="7996200"/>
            <a:ext cx="738965" cy="307928"/>
          </a:xfrm>
          <a:prstGeom prst="rect">
            <a:avLst/>
          </a:prstGeom>
          <a:noFill/>
        </p:spPr>
        <p:txBody>
          <a:bodyPr wrap="none" lIns="61109" tIns="30555" rIns="61109" bIns="30555" rtlCol="0">
            <a:spAutoFit/>
          </a:bodyPr>
          <a:lstStyle/>
          <a:p>
            <a:r>
              <a:rPr lang="zh-CN" altLang="en-US" dirty="0"/>
              <a:t>延迟符</a:t>
            </a:r>
            <a:endParaRPr lang="zh-CN" altLang="en-US" dirty="0"/>
          </a:p>
        </p:txBody>
      </p:sp>
      <p:sp>
        <p:nvSpPr>
          <p:cNvPr id="28" name="koppt-文本框"/>
          <p:cNvSpPr txBox="1"/>
          <p:nvPr userDrawn="1"/>
        </p:nvSpPr>
        <p:spPr>
          <a:xfrm>
            <a:off x="7749610" y="7996200"/>
            <a:ext cx="738965" cy="307928"/>
          </a:xfrm>
          <a:prstGeom prst="rect">
            <a:avLst/>
          </a:prstGeom>
          <a:noFill/>
        </p:spPr>
        <p:txBody>
          <a:bodyPr wrap="none" lIns="61109" tIns="30555" rIns="61109" bIns="30555" rtlCol="0">
            <a:spAutoFit/>
          </a:bodyPr>
          <a:lstStyle/>
          <a:p>
            <a:r>
              <a:rPr lang="zh-CN" altLang="en-US" dirty="0"/>
              <a:t>延迟符</a:t>
            </a:r>
            <a:endParaRPr lang="zh-CN" altLang="en-US" dirty="0"/>
          </a:p>
        </p:txBody>
      </p:sp>
      <p:sp>
        <p:nvSpPr>
          <p:cNvPr id="30" name="koppt-矩形">
            <a:hlinkClick r:id="rId2"/>
          </p:cNvPr>
          <p:cNvSpPr/>
          <p:nvPr userDrawn="1"/>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0"/>
                                        </p:tgtEl>
                                        <p:attrNameLst>
                                          <p:attrName>ppt_y</p:attrName>
                                        </p:attrNameLst>
                                      </p:cBhvr>
                                      <p:tavLst>
                                        <p:tav tm="0">
                                          <p:val>
                                            <p:strVal val="#ppt_y"/>
                                          </p:val>
                                        </p:tav>
                                        <p:tav tm="100000">
                                          <p:val>
                                            <p:strVal val="#ppt_y"/>
                                          </p:val>
                                        </p:tav>
                                      </p:tavLst>
                                    </p:anim>
                                    <p:anim calcmode="lin" valueType="num">
                                      <p:cBhvr>
                                        <p:cTn id="9"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0"/>
                                        </p:tgtEl>
                                      </p:cBhvr>
                                    </p:animEffect>
                                  </p:childTnLst>
                                </p:cTn>
                              </p:par>
                            </p:childTnLst>
                          </p:cTn>
                        </p:par>
                        <p:par>
                          <p:cTn id="12" fill="hold">
                            <p:stCondLst>
                              <p:cond delay="1049"/>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26" presetClass="emph" presetSubtype="0" repeatCount="indefinite" fill="hold" nodeType="withEffect">
                                  <p:stCondLst>
                                    <p:cond delay="0"/>
                                  </p:stCondLst>
                                  <p:endCondLst>
                                    <p:cond evt="onNext" delay="0">
                                      <p:tgtEl>
                                        <p:sldTgt/>
                                      </p:tgtEl>
                                    </p:cond>
                                  </p:endCondLst>
                                  <p:childTnLst>
                                    <p:animEffect transition="out" filter="fade">
                                      <p:cBhvr>
                                        <p:cTn id="17" dur="500" tmFilter="0, 0; .2, .5; .8, .5; 1, 0"/>
                                        <p:tgtEl>
                                          <p:spTgt spid="21"/>
                                        </p:tgtEl>
                                      </p:cBhvr>
                                    </p:animEffect>
                                    <p:animScale>
                                      <p:cBhvr>
                                        <p:cTn id="18" dur="250" autoRev="1" fill="hold"/>
                                        <p:tgtEl>
                                          <p:spTgt spid="21"/>
                                        </p:tgtEl>
                                      </p:cBhvr>
                                      <p:by x="105000" y="105000"/>
                                    </p:animScale>
                                  </p:childTnLst>
                                </p:cTn>
                              </p:par>
                            </p:childTnLst>
                          </p:cTn>
                        </p:par>
                        <p:par>
                          <p:cTn id="19" fill="hold">
                            <p:stCondLst>
                              <p:cond delay="1549"/>
                            </p:stCondLst>
                            <p:childTnLst>
                              <p:par>
                                <p:cTn id="20" presetID="10" presetClass="entr" presetSubtype="0"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0"/>
                                        <p:tgtEl>
                                          <p:spTgt spid="24"/>
                                        </p:tgtEl>
                                      </p:cBhvr>
                                    </p:animEffect>
                                  </p:childTnLst>
                                </p:cTn>
                              </p:par>
                            </p:childTnLst>
                          </p:cTn>
                        </p:par>
                        <p:par>
                          <p:cTn id="23" fill="hold">
                            <p:stCondLst>
                              <p:cond delay="6549"/>
                            </p:stCondLst>
                            <p:childTnLst>
                              <p:par>
                                <p:cTn id="24" presetID="10" presetClass="entr" presetSubtype="0"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0"/>
                                        <p:tgtEl>
                                          <p:spTgt spid="25"/>
                                        </p:tgtEl>
                                      </p:cBhvr>
                                    </p:animEffect>
                                  </p:childTnLst>
                                </p:cTn>
                              </p:par>
                            </p:childTnLst>
                          </p:cTn>
                        </p:par>
                        <p:par>
                          <p:cTn id="27" fill="hold">
                            <p:stCondLst>
                              <p:cond delay="11549"/>
                            </p:stCondLst>
                            <p:childTnLst>
                              <p:par>
                                <p:cTn id="28" presetID="10" presetClass="entr" presetSubtype="0" fill="hold" grpId="0"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0"/>
                                        <p:tgtEl>
                                          <p:spTgt spid="26"/>
                                        </p:tgtEl>
                                      </p:cBhvr>
                                    </p:animEffect>
                                  </p:childTnLst>
                                </p:cTn>
                              </p:par>
                            </p:childTnLst>
                          </p:cTn>
                        </p:par>
                        <p:par>
                          <p:cTn id="31" fill="hold">
                            <p:stCondLst>
                              <p:cond delay="16549"/>
                            </p:stCondLst>
                            <p:childTnLst>
                              <p:par>
                                <p:cTn id="32" presetID="10" presetClass="entr" presetSubtype="0" fill="hold" grpId="0"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0"/>
                                        <p:tgtEl>
                                          <p:spTgt spid="27"/>
                                        </p:tgtEl>
                                      </p:cBhvr>
                                    </p:animEffect>
                                  </p:childTnLst>
                                </p:cTn>
                              </p:par>
                            </p:childTnLst>
                          </p:cTn>
                        </p:par>
                        <p:par>
                          <p:cTn id="35" fill="hold">
                            <p:stCondLst>
                              <p:cond delay="21549"/>
                            </p:stCondLst>
                            <p:childTnLst>
                              <p:par>
                                <p:cTn id="36" presetID="10" presetClass="entr" presetSubtype="0" fill="hold" grpId="0" nodeType="after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p:bldP spid="25" grpId="0"/>
      <p:bldP spid="26" grpId="0"/>
      <p:bldP spid="27" grpId="0"/>
      <p:bldP spid="28" grpId="0"/>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629392" y="282447"/>
            <a:ext cx="8933213" cy="553998"/>
          </a:xfrm>
        </p:spPr>
        <p:txBody>
          <a:bodyPr lIns="0" tIns="0" rIns="0" bIns="0"/>
          <a:lstStyle>
            <a:lvl1pPr>
              <a:defRPr sz="3600" b="1">
                <a:solidFill>
                  <a:schemeClr val="bg1"/>
                </a:solidFill>
                <a:latin typeface="黑体" panose="02010609060101010101" charset="-122"/>
                <a:cs typeface="黑体" panose="02010609060101010101" charset="-122"/>
              </a:defRPr>
            </a:lvl1pPr>
          </a:lstStyle>
          <a:p>
            <a:endParaRPr dirty="0"/>
          </a:p>
        </p:txBody>
      </p:sp>
      <p:sp>
        <p:nvSpPr>
          <p:cNvPr id="3" name="Holder 3"/>
          <p:cNvSpPr>
            <a:spLocks noGrp="1"/>
          </p:cNvSpPr>
          <p:nvPr>
            <p:ph type="body" idx="1"/>
          </p:nvPr>
        </p:nvSpPr>
        <p:spPr/>
        <p:txBody>
          <a:bodyPr lIns="0" tIns="0" rIns="0" bIns="0"/>
          <a:lstStyle>
            <a:lvl1pPr>
              <a:defRPr sz="1600">
                <a:latin typeface="宋体" panose="02010600030101010101" pitchFamily="2" charset="-122"/>
                <a:cs typeface="宋体" panose="02010600030101010101" pitchFamily="2" charset="-122"/>
              </a:defRPr>
            </a:lvl1pPr>
          </a:lstStyle>
          <a:p>
            <a:endParaRPr dirty="0"/>
          </a:p>
        </p:txBody>
      </p:sp>
      <p:sp>
        <p:nvSpPr>
          <p:cNvPr id="5" name="日期占位符 4"/>
          <p:cNvSpPr>
            <a:spLocks noGrp="1"/>
          </p:cNvSpPr>
          <p:nvPr>
            <p:ph type="dt" sz="half" idx="10"/>
          </p:nvPr>
        </p:nvSpPr>
        <p:spPr/>
        <p:txBody>
          <a:bodyPr/>
          <a:lstStyle/>
          <a:p>
            <a:pPr marL="12700"/>
            <a:endParaRPr lang="zh-CN" altLang="en-US" dirty="0"/>
          </a:p>
        </p:txBody>
      </p:sp>
      <p:sp>
        <p:nvSpPr>
          <p:cNvPr id="9" name="Holder 6"/>
          <p:cNvSpPr>
            <a:spLocks noGrp="1"/>
          </p:cNvSpPr>
          <p:nvPr>
            <p:ph type="sldNum" sz="quarter" idx="4"/>
          </p:nvPr>
        </p:nvSpPr>
        <p:spPr>
          <a:xfrm>
            <a:off x="10911840" y="6591300"/>
            <a:ext cx="1076960" cy="266700"/>
          </a:xfrm>
          <a:prstGeom prst="rect">
            <a:avLst/>
          </a:prstGeom>
        </p:spPr>
        <p:txBody>
          <a:bodyPr lIns="0" tIns="0" rIns="0" bIns="0"/>
          <a:lstStyle>
            <a:lvl1pPr algn="ctr">
              <a:defRPr>
                <a:solidFill>
                  <a:schemeClr val="bg1"/>
                </a:solidFill>
              </a:defRPr>
            </a:lvl1pPr>
          </a:lstStyle>
          <a:p>
            <a:fld id="{B6F15528-21DE-4FAA-801E-634DDDAF4B2B}" type="slidenum">
              <a:rPr lang="en-US" altLang="zh-CN" smtClean="0"/>
            </a:fld>
            <a:r>
              <a:rPr lang="en-US" altLang="zh-CN" dirty="0"/>
              <a:t>/30</a:t>
            </a:r>
            <a:endParaRPr lang="zh-CN" altLang="en-US" dirty="0"/>
          </a:p>
        </p:txBody>
      </p:sp>
      <p:sp>
        <p:nvSpPr>
          <p:cNvPr id="4" name="矩形 3"/>
          <p:cNvSpPr/>
          <p:nvPr userDrawn="1"/>
        </p:nvSpPr>
        <p:spPr>
          <a:xfrm>
            <a:off x="-635" y="0"/>
            <a:ext cx="12193270" cy="1027430"/>
          </a:xfrm>
          <a:prstGeom prst="rect">
            <a:avLst/>
          </a:prstGeom>
          <a:solidFill>
            <a:schemeClr val="accent1"/>
          </a:solidFill>
          <a:ln>
            <a:noFill/>
          </a:ln>
          <a:effectLst>
            <a:outerShdw blurRad="1524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目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过渡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内容页">
    <p:spTree>
      <p:nvGrpSpPr>
        <p:cNvPr id="1" name=""/>
        <p:cNvGrpSpPr/>
        <p:nvPr/>
      </p:nvGrpSpPr>
      <p:grpSpPr>
        <a:xfrm>
          <a:off x="0" y="0"/>
          <a:ext cx="0" cy="0"/>
          <a:chOff x="0" y="0"/>
          <a:chExt cx="0" cy="0"/>
        </a:xfrm>
      </p:grpSpPr>
      <p:sp>
        <p:nvSpPr>
          <p:cNvPr id="30" name="矩形 29"/>
          <p:cNvSpPr/>
          <p:nvPr userDrawn="1"/>
        </p:nvSpPr>
        <p:spPr>
          <a:xfrm>
            <a:off x="-600" y="-1"/>
            <a:ext cx="9750887" cy="1027498"/>
          </a:xfrm>
          <a:prstGeom prst="rect">
            <a:avLst/>
          </a:prstGeom>
          <a:solidFill>
            <a:schemeClr val="accent1"/>
          </a:solidFill>
          <a:ln>
            <a:noFill/>
          </a:ln>
          <a:effectLst>
            <a:outerShdw blurRad="1524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solidFill>
                <a:schemeClr val="bg1"/>
              </a:solidFill>
            </a:endParaRPr>
          </a:p>
        </p:txBody>
      </p:sp>
      <p:sp>
        <p:nvSpPr>
          <p:cNvPr id="2" name="标题 1"/>
          <p:cNvSpPr>
            <a:spLocks noGrp="1"/>
          </p:cNvSpPr>
          <p:nvPr>
            <p:ph type="title" hasCustomPrompt="1"/>
          </p:nvPr>
        </p:nvSpPr>
        <p:spPr>
          <a:xfrm>
            <a:off x="1358900" y="298480"/>
            <a:ext cx="5613400" cy="583503"/>
          </a:xfrm>
          <a:prstGeom prst="rect">
            <a:avLst/>
          </a:prstGeom>
        </p:spPr>
        <p:txBody>
          <a:bodyPr/>
          <a:lstStyle>
            <a:lvl1pPr>
              <a:defRPr sz="3200" b="1">
                <a:solidFill>
                  <a:schemeClr val="bg1"/>
                </a:solidFill>
              </a:defRPr>
            </a:lvl1pPr>
          </a:lstStyle>
          <a:p>
            <a:r>
              <a:rPr lang="zh-CN" altLang="en-US" dirty="0"/>
              <a:t>单击此处添加幻灯片标题</a:t>
            </a:r>
            <a:endParaRPr lang="zh-CN" altLang="en-US" dirty="0"/>
          </a:p>
        </p:txBody>
      </p:sp>
      <p:pic>
        <p:nvPicPr>
          <p:cNvPr id="4" name="图片 3"/>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tretch>
            <a:fillRect/>
          </a:stretch>
        </p:blipFill>
        <p:spPr>
          <a:xfrm>
            <a:off x="244657" y="126098"/>
            <a:ext cx="848521" cy="8227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封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35" y="-635"/>
            <a:ext cx="12191365" cy="981075"/>
          </a:xfrm>
          <a:solidFill>
            <a:schemeClr val="tx1"/>
          </a:solidFill>
        </p:spPr>
        <p:txBody>
          <a:bodyPr anchor="b" anchorCtr="0"/>
          <a:lstStyle>
            <a:lvl1pPr marL="0" indent="0" algn="ctr" eaLnBrk="1" fontAlgn="auto" latinLnBrk="0" hangingPunct="1">
              <a:defRPr b="1">
                <a:solidFill>
                  <a:srgbClr val="333399"/>
                </a:solidFill>
                <a:latin typeface="+mn-lt"/>
                <a:ea typeface="黑体" panose="02010609060101010101" charset="-122"/>
              </a:defRPr>
            </a:lvl1pPr>
          </a:lstStyle>
          <a:p>
            <a:endParaRPr lang="zh-CN" altLang="en-US"/>
          </a:p>
        </p:txBody>
      </p:sp>
      <p:sp>
        <p:nvSpPr>
          <p:cNvPr id="3" name="日期占位符 2"/>
          <p:cNvSpPr>
            <a:spLocks noGrp="1"/>
          </p:cNvSpPr>
          <p:nvPr>
            <p:ph type="dt" sz="half" idx="10"/>
          </p:nvPr>
        </p:nvSpPr>
        <p:spPr>
          <a:xfrm>
            <a:off x="609600" y="6356176"/>
            <a:ext cx="28448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4165600" y="6356176"/>
            <a:ext cx="38608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356176"/>
            <a:ext cx="2844800" cy="457200"/>
          </a:xfrm>
        </p:spPr>
        <p:txBody>
          <a:bodyPr/>
          <a:lstStyle>
            <a:lvl1pPr>
              <a:defRPr/>
            </a:lvl1pPr>
          </a:lstStyle>
          <a:p>
            <a:fld id="{14338B79-8FD5-46F1-8A19-651A319ADB19}"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背景" hidden="1"/>
          <p:cNvSpPr txBox="1"/>
          <p:nvPr userDrawn="1"/>
        </p:nvSpPr>
        <p:spPr>
          <a:xfrm>
            <a:off x="4716167" y="13663974"/>
            <a:ext cx="2759666" cy="276999"/>
          </a:xfrm>
          <a:prstGeom prst="rect">
            <a:avLst/>
          </a:prstGeom>
          <a:noFill/>
        </p:spPr>
        <p:txBody>
          <a:bodyPr wrap="none" rtlCol="0">
            <a:spAutoFit/>
          </a:bodyPr>
          <a:lstStyle/>
          <a:p>
            <a:r>
              <a:rPr lang="zh-CN" altLang="en-US" sz="1200">
                <a:solidFill>
                  <a:srgbClr val="E6E6E6"/>
                </a:solidFill>
              </a:rPr>
              <a:t>版权所有：</a:t>
            </a:r>
            <a:r>
              <a:rPr lang="en-US" altLang="zh-CN" sz="1200">
                <a:solidFill>
                  <a:srgbClr val="E6E6E6"/>
                </a:solidFill>
              </a:rPr>
              <a:t>KOPPT WWW.KOPPT.CN</a:t>
            </a:r>
            <a:endParaRPr lang="en-US" sz="1200">
              <a:solidFill>
                <a:srgbClr val="E6E6E6"/>
              </a:solidFill>
            </a:endParaRPr>
          </a:p>
        </p:txBody>
      </p:sp>
      <p:sp>
        <p:nvSpPr>
          <p:cNvPr id="3" name="背景"/>
          <p:cNvSpPr/>
          <p:nvPr userDrawn="1"/>
        </p:nvSpPr>
        <p:spPr>
          <a:xfrm>
            <a:off x="5303155" y="3244334"/>
            <a:ext cx="1608197" cy="369332"/>
          </a:xfrm>
          <a:prstGeom prst="rect">
            <a:avLst/>
          </a:prstGeom>
        </p:spPr>
        <p:txBody>
          <a:bodyPr wrap="none">
            <a:spAutoFit/>
          </a:bodyPr>
          <a:lstStyle/>
          <a:p>
            <a:r>
              <a:rPr lang="zh-CN" altLang="en-US">
                <a:solidFill>
                  <a:srgbClr val="FFFFFF"/>
                </a:solidFill>
              </a:rPr>
              <a:t>www.koppt.cn​​</a:t>
            </a:r>
            <a:endParaRPr lang="zh-CN" altLang="en-US"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mc:AlternateContent xmlns:mc="http://schemas.openxmlformats.org/markup-compatibility/2006">
    <mc:Choice xmlns:p14="http://schemas.microsoft.com/office/powerpoint/2010/main" Requires="p14">
      <p:transition p14:dur="10"/>
    </mc:Choice>
    <mc:Fallback>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notesSlide" Target="../notesSlides/notesSlide1.xml"/><Relationship Id="rId11" Type="http://schemas.openxmlformats.org/officeDocument/2006/relationships/slideLayout" Target="../slideLayouts/slideLayout4.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8.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8" Type="http://schemas.openxmlformats.org/officeDocument/2006/relationships/slideLayout" Target="../slideLayouts/slideLayout4.xml"/><Relationship Id="rId27" Type="http://schemas.openxmlformats.org/officeDocument/2006/relationships/tags" Target="../tags/tag37.xml"/><Relationship Id="rId26" Type="http://schemas.openxmlformats.org/officeDocument/2006/relationships/tags" Target="../tags/tag36.xml"/><Relationship Id="rId25" Type="http://schemas.openxmlformats.org/officeDocument/2006/relationships/tags" Target="../tags/tag35.xml"/><Relationship Id="rId24" Type="http://schemas.openxmlformats.org/officeDocument/2006/relationships/tags" Target="../tags/tag34.xml"/><Relationship Id="rId23" Type="http://schemas.openxmlformats.org/officeDocument/2006/relationships/tags" Target="../tags/tag33.xml"/><Relationship Id="rId22" Type="http://schemas.openxmlformats.org/officeDocument/2006/relationships/tags" Target="../tags/tag32.xml"/><Relationship Id="rId21" Type="http://schemas.openxmlformats.org/officeDocument/2006/relationships/tags" Target="../tags/tag31.xml"/><Relationship Id="rId20" Type="http://schemas.openxmlformats.org/officeDocument/2006/relationships/tags" Target="../tags/tag30.xml"/><Relationship Id="rId2" Type="http://schemas.openxmlformats.org/officeDocument/2006/relationships/tags" Target="../tags/tag12.xml"/><Relationship Id="rId19" Type="http://schemas.openxmlformats.org/officeDocument/2006/relationships/tags" Target="../tags/tag29.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6.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6" Type="http://schemas.openxmlformats.org/officeDocument/2006/relationships/slideLayout" Target="../slideLayouts/slideLayout4.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38.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53.xml"/><Relationship Id="rId7" Type="http://schemas.openxmlformats.org/officeDocument/2006/relationships/image" Target="../media/image13.svg"/><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6" Type="http://schemas.openxmlformats.org/officeDocument/2006/relationships/slideLayout" Target="../slideLayouts/slideLayout4.xml"/><Relationship Id="rId15" Type="http://schemas.openxmlformats.org/officeDocument/2006/relationships/tags" Target="../tags/tag68.xml"/><Relationship Id="rId14" Type="http://schemas.openxmlformats.org/officeDocument/2006/relationships/tags" Target="../tags/tag67.xml"/><Relationship Id="rId13" Type="http://schemas.openxmlformats.org/officeDocument/2006/relationships/tags" Target="../tags/tag66.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tags" Target="../tags/tag54.xml"/></Relationships>
</file>

<file path=ppt/slides/_rels/slide14.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6" Type="http://schemas.openxmlformats.org/officeDocument/2006/relationships/slideLayout" Target="../slideLayouts/slideLayout4.xml"/><Relationship Id="rId15" Type="http://schemas.openxmlformats.org/officeDocument/2006/relationships/tags" Target="../tags/tag83.xml"/><Relationship Id="rId14" Type="http://schemas.openxmlformats.org/officeDocument/2006/relationships/tags" Target="../tags/tag82.xml"/><Relationship Id="rId13" Type="http://schemas.openxmlformats.org/officeDocument/2006/relationships/tags" Target="../tags/tag81.xml"/><Relationship Id="rId12" Type="http://schemas.openxmlformats.org/officeDocument/2006/relationships/tags" Target="../tags/tag80.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tags" Target="../tags/tag69.xml"/></Relationships>
</file>

<file path=ppt/slides/_rels/slide15.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6" Type="http://schemas.openxmlformats.org/officeDocument/2006/relationships/slideLayout" Target="../slideLayouts/slideLayout4.xml"/><Relationship Id="rId15" Type="http://schemas.openxmlformats.org/officeDocument/2006/relationships/tags" Target="../tags/tag98.xml"/><Relationship Id="rId14" Type="http://schemas.openxmlformats.org/officeDocument/2006/relationships/tags" Target="../tags/tag97.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4.xml"/></Relationships>
</file>

<file path=ppt/slides/_rels/slide1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0" Type="http://schemas.openxmlformats.org/officeDocument/2006/relationships/slideLayout" Target="../slideLayouts/slideLayout4.xml"/><Relationship Id="rId2" Type="http://schemas.openxmlformats.org/officeDocument/2006/relationships/tags" Target="../tags/tag100.xml"/><Relationship Id="rId19" Type="http://schemas.openxmlformats.org/officeDocument/2006/relationships/tags" Target="../tags/tag117.xml"/><Relationship Id="rId18" Type="http://schemas.openxmlformats.org/officeDocument/2006/relationships/tags" Target="../tags/tag116.xml"/><Relationship Id="rId17" Type="http://schemas.openxmlformats.org/officeDocument/2006/relationships/tags" Target="../tags/tag115.xml"/><Relationship Id="rId16" Type="http://schemas.openxmlformats.org/officeDocument/2006/relationships/tags" Target="../tags/tag114.xml"/><Relationship Id="rId15" Type="http://schemas.openxmlformats.org/officeDocument/2006/relationships/tags" Target="../tags/tag113.xml"/><Relationship Id="rId14" Type="http://schemas.openxmlformats.org/officeDocument/2006/relationships/tags" Target="../tags/tag112.xml"/><Relationship Id="rId13" Type="http://schemas.openxmlformats.org/officeDocument/2006/relationships/tags" Target="../tags/tag111.xml"/><Relationship Id="rId12" Type="http://schemas.openxmlformats.org/officeDocument/2006/relationships/tags" Target="../tags/tag110.xml"/><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tags" Target="../tags/tag9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6" Type="http://schemas.openxmlformats.org/officeDocument/2006/relationships/slideLayout" Target="../slideLayouts/slideLayout4.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tags" Target="../tags/tag1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emf"/></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e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9.e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20.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1.em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2.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3.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emf"/></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6.png"/><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3" Type="http://schemas.openxmlformats.org/officeDocument/2006/relationships/slideLayout" Target="../slideLayouts/slideLayout4.xml"/><Relationship Id="rId12" Type="http://schemas.openxmlformats.org/officeDocument/2006/relationships/tags" Target="../tags/tag14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tags" Target="../tags/tag1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4.xml"/><Relationship Id="rId2" Type="http://schemas.openxmlformats.org/officeDocument/2006/relationships/image" Target="../media/image30.emf"/><Relationship Id="rId1" Type="http://schemas.openxmlformats.org/officeDocument/2006/relationships/oleObject" Target="../embeddings/oleObject2.bin"/></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145.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32.jpeg"/><Relationship Id="rId1"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34.png"/><Relationship Id="rId1" Type="http://schemas.openxmlformats.org/officeDocument/2006/relationships/image" Target="../media/image3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5.png"/></Relationships>
</file>

<file path=ppt/slides/_rels/slide50.xml.rels><?xml version="1.0" encoding="UTF-8" standalone="yes"?>
<Relationships xmlns="http://schemas.openxmlformats.org/package/2006/relationships"><Relationship Id="rId9" Type="http://schemas.openxmlformats.org/officeDocument/2006/relationships/image" Target="../media/image44.emf"/><Relationship Id="rId8" Type="http://schemas.openxmlformats.org/officeDocument/2006/relationships/image" Target="../media/image43.emf"/><Relationship Id="rId7" Type="http://schemas.openxmlformats.org/officeDocument/2006/relationships/image" Target="../media/image42.emf"/><Relationship Id="rId6" Type="http://schemas.openxmlformats.org/officeDocument/2006/relationships/image" Target="../media/image41.emf"/><Relationship Id="rId5" Type="http://schemas.openxmlformats.org/officeDocument/2006/relationships/image" Target="../media/image40.emf"/><Relationship Id="rId4" Type="http://schemas.openxmlformats.org/officeDocument/2006/relationships/image" Target="../media/image39.emf"/><Relationship Id="rId3" Type="http://schemas.openxmlformats.org/officeDocument/2006/relationships/image" Target="../media/image38.emf"/><Relationship Id="rId2" Type="http://schemas.openxmlformats.org/officeDocument/2006/relationships/image" Target="../media/image37.emf"/><Relationship Id="rId12" Type="http://schemas.openxmlformats.org/officeDocument/2006/relationships/slideLayout" Target="../slideLayouts/slideLayout17.xml"/><Relationship Id="rId11" Type="http://schemas.openxmlformats.org/officeDocument/2006/relationships/image" Target="../media/image46.emf"/><Relationship Id="rId10" Type="http://schemas.openxmlformats.org/officeDocument/2006/relationships/image" Target="../media/image45.emf"/><Relationship Id="rId1" Type="http://schemas.openxmlformats.org/officeDocument/2006/relationships/image" Target="../media/image36.emf"/></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3.vml"/><Relationship Id="rId3" Type="http://schemas.openxmlformats.org/officeDocument/2006/relationships/slideLayout" Target="../slideLayouts/slideLayout4.xml"/><Relationship Id="rId2" Type="http://schemas.openxmlformats.org/officeDocument/2006/relationships/image" Target="../media/image47.emf"/><Relationship Id="rId1" Type="http://schemas.openxmlformats.org/officeDocument/2006/relationships/oleObject" Target="../embeddings/oleObject3.bin"/></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4.vml"/><Relationship Id="rId3" Type="http://schemas.openxmlformats.org/officeDocument/2006/relationships/slideLayout" Target="../slideLayouts/slideLayout4.xml"/><Relationship Id="rId2" Type="http://schemas.openxmlformats.org/officeDocument/2006/relationships/image" Target="../media/image48.emf"/><Relationship Id="rId1" Type="http://schemas.openxmlformats.org/officeDocument/2006/relationships/oleObject" Target="../embeddings/oleObject4.bin"/></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4.xml"/><Relationship Id="rId2" Type="http://schemas.openxmlformats.org/officeDocument/2006/relationships/image" Target="../media/image49.emf"/><Relationship Id="rId1" Type="http://schemas.openxmlformats.org/officeDocument/2006/relationships/oleObject" Target="../embeddings/oleObject5.bin"/></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1.png"/><Relationship Id="rId1" Type="http://schemas.openxmlformats.org/officeDocument/2006/relationships/image" Target="../media/image50.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6.vml"/><Relationship Id="rId3" Type="http://schemas.openxmlformats.org/officeDocument/2006/relationships/slideLayout" Target="../slideLayouts/slideLayout4.xml"/><Relationship Id="rId2" Type="http://schemas.openxmlformats.org/officeDocument/2006/relationships/image" Target="../media/image52.emf"/><Relationship Id="rId1" Type="http://schemas.openxmlformats.org/officeDocument/2006/relationships/oleObject" Target="../embeddings/oleObject6.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3.png"/></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7.vml"/><Relationship Id="rId3" Type="http://schemas.openxmlformats.org/officeDocument/2006/relationships/slideLayout" Target="../slideLayouts/slideLayout4.xml"/><Relationship Id="rId2" Type="http://schemas.openxmlformats.org/officeDocument/2006/relationships/image" Target="../media/image54.emf"/><Relationship Id="rId1" Type="http://schemas.openxmlformats.org/officeDocument/2006/relationships/oleObject" Target="../embeddings/oleObject7.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4.xml"/><Relationship Id="rId2" Type="http://schemas.openxmlformats.org/officeDocument/2006/relationships/image" Target="../media/image55.emf"/><Relationship Id="rId1" Type="http://schemas.openxmlformats.org/officeDocument/2006/relationships/oleObject" Target="../embeddings/oleObject8.bin"/></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4.xml"/><Relationship Id="rId2" Type="http://schemas.openxmlformats.org/officeDocument/2006/relationships/image" Target="../media/image56.emf"/><Relationship Id="rId1" Type="http://schemas.openxmlformats.org/officeDocument/2006/relationships/oleObject" Target="../embeddings/oleObject9.bin"/></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46.xml"/><Relationship Id="rId1" Type="http://schemas.openxmlformats.org/officeDocument/2006/relationships/image" Target="../media/image58.png"/></Relationships>
</file>

<file path=ppt/slides/_rels/slide68.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tags" Target="../tags/tag154.xml"/><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3" Type="http://schemas.openxmlformats.org/officeDocument/2006/relationships/slideLayout" Target="../slideLayouts/slideLayout4.xml"/><Relationship Id="rId12" Type="http://schemas.openxmlformats.org/officeDocument/2006/relationships/tags" Target="../tags/tag158.xml"/><Relationship Id="rId11" Type="http://schemas.openxmlformats.org/officeDocument/2006/relationships/tags" Target="../tags/tag157.xml"/><Relationship Id="rId10" Type="http://schemas.openxmlformats.org/officeDocument/2006/relationships/tags" Target="../tags/tag156.xml"/><Relationship Id="rId1" Type="http://schemas.openxmlformats.org/officeDocument/2006/relationships/tags" Target="../tags/tag147.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5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4.xml"/><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8.svg"/><Relationship Id="rId1" Type="http://schemas.openxmlformats.org/officeDocument/2006/relationships/image" Target="../media/image7.png"/></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8.svg"/><Relationship Id="rId1" Type="http://schemas.openxmlformats.org/officeDocument/2006/relationships/image" Target="../media/image63.png"/></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8.svg"/><Relationship Id="rId1" Type="http://schemas.openxmlformats.org/officeDocument/2006/relationships/image" Target="../media/image6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8.svg"/><Relationship Id="rId1" Type="http://schemas.openxmlformats.org/officeDocument/2006/relationships/image" Target="../media/image63.png"/></Relationships>
</file>

<file path=ppt/slides/_rels/slide83.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8.svg"/><Relationship Id="rId1" Type="http://schemas.openxmlformats.org/officeDocument/2006/relationships/image" Target="../media/image63.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4.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5.png"/></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68.jpeg"/><Relationship Id="rId2" Type="http://schemas.openxmlformats.org/officeDocument/2006/relationships/image" Target="../media/image67.png"/><Relationship Id="rId1" Type="http://schemas.openxmlformats.org/officeDocument/2006/relationships/image" Target="../media/image66.png"/></Relationships>
</file>

<file path=ppt/slides/_rels/slide87.xml.rels><?xml version="1.0" encoding="UTF-8" standalone="yes"?>
<Relationships xmlns="http://schemas.openxmlformats.org/package/2006/relationships"><Relationship Id="rId9" Type="http://schemas.openxmlformats.org/officeDocument/2006/relationships/tags" Target="../tags/tag168.xml"/><Relationship Id="rId8" Type="http://schemas.openxmlformats.org/officeDocument/2006/relationships/tags" Target="../tags/tag167.xml"/><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0" Type="http://schemas.openxmlformats.org/officeDocument/2006/relationships/slideLayout" Target="../slideLayouts/slideLayout4.xml"/><Relationship Id="rId2" Type="http://schemas.openxmlformats.org/officeDocument/2006/relationships/tags" Target="../tags/tag161.xml"/><Relationship Id="rId19" Type="http://schemas.openxmlformats.org/officeDocument/2006/relationships/tags" Target="../tags/tag178.xml"/><Relationship Id="rId18" Type="http://schemas.openxmlformats.org/officeDocument/2006/relationships/tags" Target="../tags/tag177.xml"/><Relationship Id="rId17" Type="http://schemas.openxmlformats.org/officeDocument/2006/relationships/tags" Target="../tags/tag176.xml"/><Relationship Id="rId16" Type="http://schemas.openxmlformats.org/officeDocument/2006/relationships/tags" Target="../tags/tag175.xml"/><Relationship Id="rId15" Type="http://schemas.openxmlformats.org/officeDocument/2006/relationships/tags" Target="../tags/tag174.xml"/><Relationship Id="rId14" Type="http://schemas.openxmlformats.org/officeDocument/2006/relationships/tags" Target="../tags/tag173.xml"/><Relationship Id="rId13" Type="http://schemas.openxmlformats.org/officeDocument/2006/relationships/tags" Target="../tags/tag172.xml"/><Relationship Id="rId12" Type="http://schemas.openxmlformats.org/officeDocument/2006/relationships/tags" Target="../tags/tag171.xml"/><Relationship Id="rId11" Type="http://schemas.openxmlformats.org/officeDocument/2006/relationships/tags" Target="../tags/tag170.xml"/><Relationship Id="rId10" Type="http://schemas.openxmlformats.org/officeDocument/2006/relationships/tags" Target="../tags/tag169.xml"/><Relationship Id="rId1" Type="http://schemas.openxmlformats.org/officeDocument/2006/relationships/tags" Target="../tags/tag160.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79.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8.svg"/><Relationship Id="rId3"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70.png"/></Relationships>
</file>

<file path=ppt/slides/_rels/slide92.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4.xml"/><Relationship Id="rId2" Type="http://schemas.openxmlformats.org/officeDocument/2006/relationships/image" Target="../media/image73.emf"/><Relationship Id="rId1" Type="http://schemas.openxmlformats.org/officeDocument/2006/relationships/oleObject" Target="../embeddings/oleObject10.bin"/></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vmlDrawing" Target="../drawings/vmlDrawing11.vml"/><Relationship Id="rId4" Type="http://schemas.openxmlformats.org/officeDocument/2006/relationships/slideLayout" Target="../slideLayouts/slideLayout17.xml"/><Relationship Id="rId3" Type="http://schemas.openxmlformats.org/officeDocument/2006/relationships/image" Target="../media/image75.emf"/><Relationship Id="rId2" Type="http://schemas.openxmlformats.org/officeDocument/2006/relationships/oleObject" Target="../embeddings/oleObject11.bin"/><Relationship Id="rId1" Type="http://schemas.openxmlformats.org/officeDocument/2006/relationships/image" Target="../media/image74.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77.png"/><Relationship Id="rId1" Type="http://schemas.openxmlformats.org/officeDocument/2006/relationships/image" Target="../media/image76.png"/></Relationships>
</file>

<file path=ppt/slides/_rels/slide97.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4.xml"/><Relationship Id="rId2" Type="http://schemas.openxmlformats.org/officeDocument/2006/relationships/image" Target="../media/image78.emf"/><Relationship Id="rId1" Type="http://schemas.openxmlformats.org/officeDocument/2006/relationships/oleObject" Target="../embeddings/oleObject12.bin"/></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image" Target="../media/image86.svg"/><Relationship Id="rId7" Type="http://schemas.openxmlformats.org/officeDocument/2006/relationships/image" Target="../media/image85.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2.svg"/><Relationship Id="rId3" Type="http://schemas.openxmlformats.org/officeDocument/2006/relationships/image" Target="../media/image81.png"/><Relationship Id="rId2" Type="http://schemas.openxmlformats.org/officeDocument/2006/relationships/image" Target="../media/image80.svg"/><Relationship Id="rId10" Type="http://schemas.openxmlformats.org/officeDocument/2006/relationships/slideLayout" Target="../slideLayouts/slideLayout4.xml"/><Relationship Id="rId1" Type="http://schemas.openxmlformats.org/officeDocument/2006/relationships/image" Target="../media/image79.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4.xml"/><Relationship Id="rId2" Type="http://schemas.openxmlformats.org/officeDocument/2006/relationships/image" Target="../media/image89.emf"/><Relationship Id="rId1" Type="http://schemas.openxmlformats.org/officeDocument/2006/relationships/oleObject" Target="../embeddings/oleObject13.bin"/></Relationships>
</file>

<file path=ppt/slides/_rels/slide106.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4.xml"/><Relationship Id="rId2" Type="http://schemas.openxmlformats.org/officeDocument/2006/relationships/image" Target="../media/image89.emf"/><Relationship Id="rId1" Type="http://schemas.openxmlformats.org/officeDocument/2006/relationships/oleObject" Target="../embeddings/oleObject14.bin"/></Relationships>
</file>

<file path=ppt/slides/_rels/slide107.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image" Target="../media/image90.emf"/><Relationship Id="rId14" Type="http://schemas.openxmlformats.org/officeDocument/2006/relationships/vmlDrawing" Target="../drawings/vmlDrawing15.vml"/><Relationship Id="rId13" Type="http://schemas.openxmlformats.org/officeDocument/2006/relationships/slideLayout" Target="../slideLayouts/slideLayout4.xml"/><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oleObject" Target="../embeddings/oleObject15.bin"/></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custDataLst>
              <p:tags r:id="rId1"/>
            </p:custDataLst>
          </p:nvPr>
        </p:nvSpPr>
        <p:spPr>
          <a:xfrm>
            <a:off x="123824" y="51000"/>
            <a:ext cx="7597140" cy="860425"/>
          </a:xfrm>
          <a:prstGeom prst="rect">
            <a:avLst/>
          </a:prstGeom>
          <a:noFill/>
        </p:spPr>
        <p:txBody>
          <a:bodyPr wrap="none" lIns="91440" tIns="45720" rIns="91440" bIns="45720">
            <a:spAutoFit/>
          </a:bodyPr>
          <a:p>
            <a:pPr algn="ctr">
              <a:lnSpc>
                <a:spcPct val="125000"/>
              </a:lnSpc>
            </a:pP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第一章</a:t>
            </a:r>
            <a:r>
              <a:rPr lang="en-US" altLang="zh-CN"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  </a:t>
            </a: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计算机网络协议安全概述</a:t>
            </a:r>
            <a:endPar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endParaRPr>
          </a:p>
        </p:txBody>
      </p:sp>
      <p:grpSp>
        <p:nvGrpSpPr>
          <p:cNvPr id="3" name="组合 2"/>
          <p:cNvGrpSpPr/>
          <p:nvPr>
            <p:custDataLst>
              <p:tags r:id="rId2"/>
            </p:custDataLst>
          </p:nvPr>
        </p:nvGrpSpPr>
        <p:grpSpPr>
          <a:xfrm>
            <a:off x="3189605" y="1605915"/>
            <a:ext cx="6791325" cy="4483735"/>
            <a:chOff x="310416" y="1325560"/>
            <a:chExt cx="5636475" cy="3223831"/>
          </a:xfrm>
        </p:grpSpPr>
        <p:grpSp>
          <p:nvGrpSpPr>
            <p:cNvPr id="22" name="组合 21"/>
            <p:cNvGrpSpPr/>
            <p:nvPr/>
          </p:nvGrpSpPr>
          <p:grpSpPr>
            <a:xfrm>
              <a:off x="310416" y="1325560"/>
              <a:ext cx="5636475" cy="499963"/>
              <a:chOff x="1592243" y="802566"/>
              <a:chExt cx="5636475" cy="499963"/>
            </a:xfrm>
          </p:grpSpPr>
          <p:sp>
            <p:nvSpPr>
              <p:cNvPr id="5" name="矩形 4"/>
              <p:cNvSpPr/>
              <p:nvPr>
                <p:custDataLst>
                  <p:tags r:id="rId3"/>
                </p:custDataLst>
              </p:nvPr>
            </p:nvSpPr>
            <p:spPr>
              <a:xfrm>
                <a:off x="1592243" y="802567"/>
                <a:ext cx="1027894" cy="499962"/>
              </a:xfrm>
              <a:prstGeom prst="rect">
                <a:avLst/>
              </a:prstGeom>
              <a:solidFill>
                <a:schemeClr val="accent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1.1</a:t>
                </a:r>
                <a:endParaRPr lang="en-US" altLang="zh-CN" sz="2800" b="1" spc="300" dirty="0">
                  <a:latin typeface="Impact" panose="020B0806030902050204" pitchFamily="34" charset="0"/>
                </a:endParaRPr>
              </a:p>
            </p:txBody>
          </p:sp>
          <p:sp>
            <p:nvSpPr>
              <p:cNvPr id="6" name="矩形 5"/>
              <p:cNvSpPr/>
              <p:nvPr>
                <p:custDataLst>
                  <p:tags r:id="rId4"/>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计算机网络概述</a:t>
                </a:r>
                <a:endParaRPr lang="zh-CN" altLang="en-US" sz="2800" b="1" spc="300" dirty="0">
                  <a:solidFill>
                    <a:schemeClr val="tx1"/>
                  </a:solidFill>
                  <a:latin typeface="Impact" panose="020B0806030902050204" pitchFamily="34" charset="0"/>
                </a:endParaRPr>
              </a:p>
            </p:txBody>
          </p:sp>
        </p:grpSp>
        <p:grpSp>
          <p:nvGrpSpPr>
            <p:cNvPr id="42" name="组合 41"/>
            <p:cNvGrpSpPr/>
            <p:nvPr/>
          </p:nvGrpSpPr>
          <p:grpSpPr>
            <a:xfrm>
              <a:off x="310416" y="2233516"/>
              <a:ext cx="5636475" cy="499963"/>
              <a:chOff x="1592243" y="802566"/>
              <a:chExt cx="5636475" cy="499963"/>
            </a:xfrm>
          </p:grpSpPr>
          <p:sp>
            <p:nvSpPr>
              <p:cNvPr id="43" name="矩形 42"/>
              <p:cNvSpPr/>
              <p:nvPr>
                <p:custDataLst>
                  <p:tags r:id="rId5"/>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1.2</a:t>
                </a:r>
                <a:endParaRPr lang="en-US" altLang="zh-CN" sz="2800" b="1" spc="300" dirty="0">
                  <a:latin typeface="Impact" panose="020B0806030902050204" pitchFamily="34" charset="0"/>
                </a:endParaRPr>
              </a:p>
            </p:txBody>
          </p:sp>
          <p:sp>
            <p:nvSpPr>
              <p:cNvPr id="44" name="矩形 43"/>
              <p:cNvSpPr/>
              <p:nvPr>
                <p:custDataLst>
                  <p:tags r:id="rId6"/>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zh-CN" altLang="en-US" sz="2800" b="1" spc="300" dirty="0">
                    <a:solidFill>
                      <a:schemeClr val="tx1"/>
                    </a:solidFill>
                    <a:latin typeface="+mn-ea"/>
                  </a:rPr>
                  <a:t>计算机网络安全概述</a:t>
                </a:r>
                <a:endParaRPr lang="zh-CN" altLang="en-US" sz="2800" b="1" spc="300" dirty="0">
                  <a:solidFill>
                    <a:schemeClr val="tx1"/>
                  </a:solidFill>
                  <a:latin typeface="+mn-ea"/>
                </a:endParaRPr>
              </a:p>
            </p:txBody>
          </p:sp>
        </p:grpSp>
        <p:grpSp>
          <p:nvGrpSpPr>
            <p:cNvPr id="45" name="组合 44"/>
            <p:cNvGrpSpPr/>
            <p:nvPr/>
          </p:nvGrpSpPr>
          <p:grpSpPr>
            <a:xfrm>
              <a:off x="310416" y="3141472"/>
              <a:ext cx="5636475" cy="499963"/>
              <a:chOff x="1592243" y="802566"/>
              <a:chExt cx="5636475" cy="499963"/>
            </a:xfrm>
          </p:grpSpPr>
          <p:sp>
            <p:nvSpPr>
              <p:cNvPr id="46" name="矩形 45"/>
              <p:cNvSpPr/>
              <p:nvPr>
                <p:custDataLst>
                  <p:tags r:id="rId7"/>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1.3</a:t>
                </a:r>
                <a:endParaRPr lang="en-US" altLang="zh-CN" sz="2800" b="1" spc="300" dirty="0">
                  <a:latin typeface="Impact" panose="020B0806030902050204" pitchFamily="34" charset="0"/>
                </a:endParaRPr>
              </a:p>
            </p:txBody>
          </p:sp>
          <p:sp>
            <p:nvSpPr>
              <p:cNvPr id="47" name="矩形 46"/>
              <p:cNvSpPr/>
              <p:nvPr>
                <p:custDataLst>
                  <p:tags r:id="rId8"/>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计算机网络安全威胁</a:t>
                </a:r>
                <a:endParaRPr lang="zh-CN" altLang="en-US" sz="2800" b="1" spc="300" dirty="0">
                  <a:solidFill>
                    <a:schemeClr val="tx1"/>
                  </a:solidFill>
                  <a:latin typeface="Impact" panose="020B0806030902050204" pitchFamily="34" charset="0"/>
                </a:endParaRPr>
              </a:p>
            </p:txBody>
          </p:sp>
        </p:grpSp>
        <p:grpSp>
          <p:nvGrpSpPr>
            <p:cNvPr id="48" name="组合 47"/>
            <p:cNvGrpSpPr/>
            <p:nvPr/>
          </p:nvGrpSpPr>
          <p:grpSpPr>
            <a:xfrm>
              <a:off x="310416" y="4049428"/>
              <a:ext cx="5636475" cy="499963"/>
              <a:chOff x="1592243" y="802566"/>
              <a:chExt cx="5636475" cy="499963"/>
            </a:xfrm>
          </p:grpSpPr>
          <p:sp>
            <p:nvSpPr>
              <p:cNvPr id="49" name="矩形 48"/>
              <p:cNvSpPr/>
              <p:nvPr>
                <p:custDataLst>
                  <p:tags r:id="rId9"/>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1.4</a:t>
                </a:r>
                <a:endParaRPr lang="en-US" altLang="zh-CN" sz="2800" b="1" spc="300" dirty="0">
                  <a:latin typeface="Impact" panose="020B0806030902050204" pitchFamily="34" charset="0"/>
                </a:endParaRPr>
              </a:p>
            </p:txBody>
          </p:sp>
          <p:sp>
            <p:nvSpPr>
              <p:cNvPr id="50" name="矩形 49"/>
              <p:cNvSpPr/>
              <p:nvPr>
                <p:custDataLst>
                  <p:tags r:id="rId10"/>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计算机网络协议安全威胁</a:t>
                </a:r>
                <a:endParaRPr lang="zh-CN" altLang="en-US" sz="2800" b="1" spc="300" dirty="0">
                  <a:solidFill>
                    <a:schemeClr val="tx1"/>
                  </a:solidFill>
                  <a:latin typeface="Impact" panose="020B0806030902050204" pitchFamily="34" charset="0"/>
                </a:endParaRPr>
              </a:p>
            </p:txBody>
          </p:sp>
        </p:gr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zh-CN" altLang="en-US" sz="4000" dirty="0">
                <a:latin typeface="+mj-ea"/>
                <a:sym typeface="+mn-ea"/>
              </a:rPr>
              <a:t>1.1</a:t>
            </a:r>
            <a:r>
              <a:rPr lang="zh-CN" altLang="en-US" sz="4000" dirty="0">
                <a:latin typeface="+mj-ea"/>
                <a:sym typeface="+mn-ea"/>
              </a:rPr>
              <a:t>.1</a:t>
            </a:r>
            <a:r>
              <a:rPr lang="zh-CN" altLang="en-US" sz="4000" dirty="0">
                <a:latin typeface="+mj-ea"/>
                <a:sym typeface="+mn-ea"/>
              </a:rPr>
              <a:t> 计算机网络的定义</a:t>
            </a:r>
            <a:endParaRPr lang="zh-CN" altLang="en-US" sz="4000" dirty="0">
              <a:latin typeface="+mj-ea"/>
              <a:sym typeface="+mn-ea"/>
            </a:endParaRPr>
          </a:p>
        </p:txBody>
      </p:sp>
      <p:sp>
        <p:nvSpPr>
          <p:cNvPr id="3" name="文本框 2"/>
          <p:cNvSpPr txBox="1"/>
          <p:nvPr/>
        </p:nvSpPr>
        <p:spPr>
          <a:xfrm>
            <a:off x="295910" y="1156335"/>
            <a:ext cx="11545570" cy="4923155"/>
          </a:xfrm>
          <a:prstGeom prst="rect">
            <a:avLst/>
          </a:prstGeom>
          <a:noFill/>
        </p:spPr>
        <p:txBody>
          <a:bodyPr wrap="square" rtlCol="0" anchor="t">
            <a:spAutoFit/>
          </a:bodyPr>
          <a:p>
            <a:pPr marL="342900" indent="-342900" algn="l" latinLnBrk="0">
              <a:lnSpc>
                <a:spcPct val="150000"/>
              </a:lnSpc>
              <a:spcBef>
                <a:spcPts val="0"/>
              </a:spcBef>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以共享资源的目的互连起来的自治计算机系统的集合。</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914400" lvl="1" indent="-457200" algn="l" defTabSz="914400" fontAlgn="base" latinLnBrk="0">
              <a:lnSpc>
                <a:spcPct val="150000"/>
              </a:lnSpc>
              <a:spcBef>
                <a:spcPts val="600"/>
              </a:spcBef>
              <a:buClr>
                <a:schemeClr val="accent2"/>
              </a:buClr>
              <a:buSzPct val="70000"/>
              <a:buFont typeface="Wingdings" panose="05000000000000000000" charset="0"/>
              <a:buChar char="Ø"/>
            </a:pP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目的：实现计算机资源的共享。资源包括硬件与软件，如程序、数据、存储、打印机等；</a:t>
            </a:r>
            <a:endParaRPr lang="zh-CN" altLang="zh-CN" sz="2800" b="1" kern="0" dirty="0">
              <a:latin typeface="Times New Roman" panose="02020603050405020304" charset="0"/>
              <a:ea typeface="宋体" panose="02010600030101010101" pitchFamily="2" charset="-122"/>
              <a:cs typeface="Times New Roman" panose="02020603050405020304" charset="0"/>
            </a:endParaRPr>
          </a:p>
          <a:p>
            <a:pPr marL="914400" lvl="1" indent="-457200" algn="l" defTabSz="914400" fontAlgn="base" latinLnBrk="0">
              <a:lnSpc>
                <a:spcPct val="150000"/>
              </a:lnSpc>
              <a:spcBef>
                <a:spcPts val="600"/>
              </a:spcBef>
              <a:buClr>
                <a:schemeClr val="accent2"/>
              </a:buClr>
              <a:buSzPct val="70000"/>
              <a:buFont typeface="Wingdings" panose="05000000000000000000" charset="0"/>
              <a:buChar char="Ø"/>
            </a:pP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形态：分布在不同地理位置的</a:t>
            </a: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计算机</a:t>
            </a: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，通过通信线路互连；</a:t>
            </a:r>
            <a:endParaRPr lang="zh-CN" altLang="zh-CN" sz="2800" b="1" kern="0" dirty="0">
              <a:latin typeface="Times New Roman" panose="02020603050405020304" charset="0"/>
              <a:ea typeface="宋体" panose="02010600030101010101" pitchFamily="2" charset="-122"/>
              <a:cs typeface="Times New Roman" panose="02020603050405020304" charset="0"/>
            </a:endParaRPr>
          </a:p>
          <a:p>
            <a:pPr marL="914400" lvl="1" indent="-457200" algn="l" defTabSz="914400" fontAlgn="base" latinLnBrk="0">
              <a:lnSpc>
                <a:spcPct val="150000"/>
              </a:lnSpc>
              <a:spcBef>
                <a:spcPts val="600"/>
              </a:spcBef>
              <a:buClr>
                <a:schemeClr val="accent2"/>
              </a:buClr>
              <a:buSzPct val="70000"/>
              <a:buFont typeface="Wingdings" panose="05000000000000000000" charset="0"/>
              <a:buChar char="Ø"/>
            </a:pP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关系：互连的计算机是独立或“自治”的，即相互之间不存在依赖关系。</a:t>
            </a:r>
            <a:endParaRPr lang="zh-CN" altLang="zh-CN" sz="2800" b="1" kern="0" dirty="0">
              <a:latin typeface="Times New Roman" panose="02020603050405020304" charset="0"/>
              <a:ea typeface="宋体" panose="02010600030101010101" pitchFamily="2" charset="-122"/>
              <a:cs typeface="Times New Roman" panose="02020603050405020304" charset="0"/>
            </a:endParaRPr>
          </a:p>
          <a:p>
            <a:pPr marL="914400" lvl="1" indent="-457200" algn="l" defTabSz="914400" fontAlgn="base" latinLnBrk="0">
              <a:lnSpc>
                <a:spcPct val="150000"/>
              </a:lnSpc>
              <a:spcBef>
                <a:spcPts val="600"/>
              </a:spcBef>
              <a:buClr>
                <a:schemeClr val="accent2"/>
              </a:buClr>
              <a:buSzPct val="70000"/>
              <a:buFont typeface="Wingdings" panose="05000000000000000000" charset="0"/>
              <a:buChar char="Ø"/>
            </a:pP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关键：互连的计算机必须遵循相同的网络协议。</a:t>
            </a:r>
            <a:endParaRPr lang="zh-CN" altLang="zh-CN" sz="2800" b="1" kern="0" dirty="0">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p:cNvSpPr>
            <a:spLocks noGrp="1" noChangeArrowheads="1"/>
          </p:cNvSpPr>
          <p:nvPr>
            <p:ph idx="1"/>
          </p:nvPr>
        </p:nvSpPr>
        <p:spPr>
          <a:xfrm>
            <a:off x="609600" y="1280795"/>
            <a:ext cx="11338560" cy="4933950"/>
          </a:xfrm>
        </p:spPr>
        <p:txBody>
          <a:bodyPr/>
          <a:lstStyle/>
          <a:p>
            <a:pPr marL="0" indent="0">
              <a:lnSpc>
                <a:spcPct val="130000"/>
              </a:lnSpc>
              <a:spcBef>
                <a:spcPts val="1000"/>
              </a:spcBef>
              <a:spcAft>
                <a:spcPts val="0"/>
              </a:spcAft>
              <a:buFont typeface="Wingdings" panose="05000000000000000000" charset="0"/>
              <a:buNone/>
            </a:pPr>
            <a:r>
              <a:rPr lang="zh-CN" altLang="zh-CN" sz="2800" b="1" dirty="0">
                <a:solidFill>
                  <a:srgbClr val="FF0000"/>
                </a:solidFill>
                <a:latin typeface="Times New Roman" panose="02020603050405020304" charset="0"/>
                <a:ea typeface="宋体" panose="02010600030101010101" pitchFamily="2" charset="-122"/>
                <a:cs typeface="Times New Roman" panose="02020603050405020304" charset="0"/>
              </a:rPr>
              <a:t>① </a:t>
            </a:r>
            <a:r>
              <a:rPr lang="zh-CN" altLang="zh-CN" sz="2800" b="1" dirty="0" smtClean="0">
                <a:solidFill>
                  <a:srgbClr val="FF0000"/>
                </a:solidFill>
                <a:latin typeface="Times New Roman" panose="02020603050405020304" charset="0"/>
                <a:ea typeface="宋体" panose="02010600030101010101" pitchFamily="2" charset="-122"/>
                <a:cs typeface="Times New Roman" panose="02020603050405020304" charset="0"/>
              </a:rPr>
              <a:t>差错控制</a:t>
            </a:r>
            <a:r>
              <a:rPr lang="zh-CN" altLang="en-US" sz="2800" b="1" dirty="0" smtClean="0">
                <a:solidFill>
                  <a:srgbClr val="FF0000"/>
                </a:solidFill>
                <a:latin typeface="Times New Roman" panose="02020603050405020304" charset="0"/>
                <a:ea typeface="宋体" panose="02010600030101010101" pitchFamily="2" charset="-122"/>
                <a:cs typeface="Times New Roman" panose="02020603050405020304" charset="0"/>
              </a:rPr>
              <a:t>：</a:t>
            </a:r>
            <a:r>
              <a:rPr lang="zh-CN" altLang="zh-CN" sz="2800" b="1" dirty="0" smtClean="0">
                <a:latin typeface="Times New Roman" panose="02020603050405020304" charset="0"/>
                <a:ea typeface="宋体" panose="02010600030101010101" pitchFamily="2" charset="-122"/>
                <a:cs typeface="Times New Roman" panose="02020603050405020304" charset="0"/>
              </a:rPr>
              <a:t>使</a:t>
            </a:r>
            <a:r>
              <a:rPr lang="zh-CN" altLang="zh-CN" sz="2800" b="1" dirty="0">
                <a:latin typeface="Times New Roman" panose="02020603050405020304" charset="0"/>
                <a:ea typeface="宋体" panose="02010600030101010101" pitchFamily="2" charset="-122"/>
                <a:cs typeface="Times New Roman" panose="02020603050405020304" charset="0"/>
              </a:rPr>
              <a:t>相应层次对等方的通信更加可靠。</a:t>
            </a:r>
            <a:endParaRPr lang="zh-CN" altLang="zh-CN" sz="2800" b="1" dirty="0">
              <a:latin typeface="Times New Roman" panose="02020603050405020304" charset="0"/>
              <a:ea typeface="宋体" panose="02010600030101010101" pitchFamily="2" charset="-122"/>
              <a:cs typeface="Times New Roman" panose="02020603050405020304" charset="0"/>
            </a:endParaRPr>
          </a:p>
          <a:p>
            <a:pPr marL="0" indent="0">
              <a:lnSpc>
                <a:spcPct val="130000"/>
              </a:lnSpc>
              <a:spcBef>
                <a:spcPts val="1000"/>
              </a:spcBef>
              <a:spcAft>
                <a:spcPts val="0"/>
              </a:spcAft>
              <a:buFont typeface="Wingdings" panose="05000000000000000000" charset="0"/>
              <a:buNone/>
            </a:pPr>
            <a:r>
              <a:rPr lang="zh-CN" altLang="zh-CN" sz="2800" b="1" dirty="0">
                <a:solidFill>
                  <a:srgbClr val="FF0000"/>
                </a:solidFill>
                <a:latin typeface="Times New Roman" panose="02020603050405020304" charset="0"/>
                <a:ea typeface="宋体" panose="02010600030101010101" pitchFamily="2" charset="-122"/>
                <a:cs typeface="Times New Roman" panose="02020603050405020304" charset="0"/>
              </a:rPr>
              <a:t>② 流量控制</a:t>
            </a:r>
            <a:r>
              <a:rPr lang="zh-CN" altLang="en-US" sz="2800" b="1" dirty="0">
                <a:solidFill>
                  <a:srgbClr val="FF0000"/>
                </a:solidFill>
                <a:latin typeface="Times New Roman" panose="02020603050405020304" charset="0"/>
                <a:ea typeface="宋体" panose="02010600030101010101" pitchFamily="2" charset="-122"/>
                <a:cs typeface="Times New Roman" panose="02020603050405020304" charset="0"/>
              </a:rPr>
              <a:t>：</a:t>
            </a:r>
            <a:r>
              <a:rPr lang="zh-CN" altLang="zh-CN" sz="2800" b="1" dirty="0" smtClean="0">
                <a:latin typeface="Times New Roman" panose="02020603050405020304" charset="0"/>
                <a:ea typeface="宋体" panose="02010600030101010101" pitchFamily="2" charset="-122"/>
                <a:cs typeface="Times New Roman" panose="02020603050405020304" charset="0"/>
              </a:rPr>
              <a:t>发送</a:t>
            </a:r>
            <a:r>
              <a:rPr lang="zh-CN" altLang="zh-CN" sz="2800" b="1" dirty="0">
                <a:latin typeface="Times New Roman" panose="02020603050405020304" charset="0"/>
                <a:ea typeface="宋体" panose="02010600030101010101" pitchFamily="2" charset="-122"/>
                <a:cs typeface="Times New Roman" panose="02020603050405020304" charset="0"/>
              </a:rPr>
              <a:t>端的发送速率必须使接收端来得及接收，不要太快。</a:t>
            </a:r>
            <a:endParaRPr lang="zh-CN" altLang="zh-CN" sz="2800" b="1" dirty="0">
              <a:latin typeface="Times New Roman" panose="02020603050405020304" charset="0"/>
              <a:ea typeface="宋体" panose="02010600030101010101" pitchFamily="2" charset="-122"/>
              <a:cs typeface="Times New Roman" panose="02020603050405020304" charset="0"/>
            </a:endParaRPr>
          </a:p>
          <a:p>
            <a:pPr marL="0" indent="0">
              <a:lnSpc>
                <a:spcPct val="130000"/>
              </a:lnSpc>
              <a:spcBef>
                <a:spcPts val="1000"/>
              </a:spcBef>
              <a:spcAft>
                <a:spcPts val="0"/>
              </a:spcAft>
              <a:buFont typeface="Wingdings" panose="05000000000000000000" charset="0"/>
              <a:buNone/>
            </a:pPr>
            <a:r>
              <a:rPr lang="zh-CN" altLang="zh-CN" sz="2800" b="1" dirty="0">
                <a:solidFill>
                  <a:srgbClr val="FF0000"/>
                </a:solidFill>
                <a:latin typeface="Times New Roman" panose="02020603050405020304" charset="0"/>
                <a:ea typeface="宋体" panose="02010600030101010101" pitchFamily="2" charset="-122"/>
                <a:cs typeface="Times New Roman" panose="02020603050405020304" charset="0"/>
              </a:rPr>
              <a:t>③ 分段和重装</a:t>
            </a:r>
            <a:r>
              <a:rPr lang="en-US" altLang="zh-CN" sz="2800" b="1" dirty="0">
                <a:solidFill>
                  <a:srgbClr val="FF0000"/>
                </a:solidFill>
                <a:latin typeface="Times New Roman" panose="02020603050405020304" charset="0"/>
                <a:ea typeface="宋体" panose="02010600030101010101" pitchFamily="2" charset="-122"/>
                <a:cs typeface="Times New Roman" panose="02020603050405020304" charset="0"/>
              </a:rPr>
              <a:t> </a:t>
            </a:r>
            <a:r>
              <a:rPr lang="zh-CN" altLang="en-US" sz="2800" b="1" dirty="0">
                <a:solidFill>
                  <a:srgbClr val="FF0000"/>
                </a:solidFill>
                <a:latin typeface="Times New Roman" panose="02020603050405020304" charset="0"/>
                <a:ea typeface="宋体" panose="02010600030101010101" pitchFamily="2" charset="-122"/>
                <a:cs typeface="Times New Roman" panose="02020603050405020304" charset="0"/>
              </a:rPr>
              <a:t>：</a:t>
            </a:r>
            <a:r>
              <a:rPr lang="zh-CN" altLang="zh-CN" sz="2800" b="1" dirty="0" smtClean="0">
                <a:latin typeface="Times New Roman" panose="02020603050405020304" charset="0"/>
                <a:ea typeface="宋体" panose="02010600030101010101" pitchFamily="2" charset="-122"/>
                <a:cs typeface="Times New Roman" panose="02020603050405020304" charset="0"/>
              </a:rPr>
              <a:t>发送</a:t>
            </a:r>
            <a:r>
              <a:rPr lang="zh-CN" altLang="zh-CN" sz="2800" b="1" dirty="0">
                <a:latin typeface="Times New Roman" panose="02020603050405020304" charset="0"/>
                <a:ea typeface="宋体" panose="02010600030101010101" pitchFamily="2" charset="-122"/>
                <a:cs typeface="Times New Roman" panose="02020603050405020304" charset="0"/>
              </a:rPr>
              <a:t>端将要发送的数据块划分为更小的单位，在接收端将其还原。</a:t>
            </a:r>
            <a:endParaRPr lang="zh-CN" altLang="zh-CN" sz="2800" b="1" dirty="0">
              <a:latin typeface="Times New Roman" panose="02020603050405020304" charset="0"/>
              <a:ea typeface="宋体" panose="02010600030101010101" pitchFamily="2" charset="-122"/>
              <a:cs typeface="Times New Roman" panose="02020603050405020304" charset="0"/>
            </a:endParaRPr>
          </a:p>
          <a:p>
            <a:pPr marL="0" indent="0">
              <a:lnSpc>
                <a:spcPct val="130000"/>
              </a:lnSpc>
              <a:spcBef>
                <a:spcPts val="1000"/>
              </a:spcBef>
              <a:spcAft>
                <a:spcPts val="0"/>
              </a:spcAft>
              <a:buFont typeface="Wingdings" panose="05000000000000000000" charset="0"/>
              <a:buNone/>
            </a:pPr>
            <a:r>
              <a:rPr lang="zh-CN" altLang="zh-CN" sz="2800" b="1" dirty="0">
                <a:solidFill>
                  <a:srgbClr val="FF0000"/>
                </a:solidFill>
                <a:latin typeface="Times New Roman" panose="02020603050405020304" charset="0"/>
                <a:ea typeface="宋体" panose="02010600030101010101" pitchFamily="2" charset="-122"/>
                <a:cs typeface="Times New Roman" panose="02020603050405020304" charset="0"/>
              </a:rPr>
              <a:t>④ 复用和分用</a:t>
            </a:r>
            <a:r>
              <a:rPr lang="zh-CN" altLang="en-US" sz="2800" b="1" dirty="0">
                <a:solidFill>
                  <a:srgbClr val="FF0000"/>
                </a:solidFill>
                <a:latin typeface="Times New Roman" panose="02020603050405020304" charset="0"/>
                <a:ea typeface="宋体" panose="02010600030101010101" pitchFamily="2" charset="-122"/>
                <a:cs typeface="Times New Roman" panose="02020603050405020304" charset="0"/>
              </a:rPr>
              <a:t>：</a:t>
            </a:r>
            <a:r>
              <a:rPr lang="zh-CN" altLang="zh-CN" sz="2800" b="1" dirty="0" smtClean="0">
                <a:latin typeface="Times New Roman" panose="02020603050405020304" charset="0"/>
                <a:ea typeface="宋体" panose="02010600030101010101" pitchFamily="2" charset="-122"/>
                <a:cs typeface="Times New Roman" panose="02020603050405020304" charset="0"/>
              </a:rPr>
              <a:t>发送</a:t>
            </a:r>
            <a:r>
              <a:rPr lang="zh-CN" altLang="zh-CN" sz="2800" b="1" dirty="0">
                <a:latin typeface="Times New Roman" panose="02020603050405020304" charset="0"/>
                <a:ea typeface="宋体" panose="02010600030101010101" pitchFamily="2" charset="-122"/>
                <a:cs typeface="Times New Roman" panose="02020603050405020304" charset="0"/>
              </a:rPr>
              <a:t>端几个高层会话复用一条低层的连接，在接收端再进行分用。</a:t>
            </a:r>
            <a:endParaRPr lang="zh-CN" altLang="zh-CN" sz="2800" b="1" dirty="0">
              <a:latin typeface="Times New Roman" panose="02020603050405020304" charset="0"/>
              <a:ea typeface="宋体" panose="02010600030101010101" pitchFamily="2" charset="-122"/>
              <a:cs typeface="Times New Roman" panose="02020603050405020304" charset="0"/>
            </a:endParaRPr>
          </a:p>
          <a:p>
            <a:pPr marL="0" indent="0">
              <a:lnSpc>
                <a:spcPct val="130000"/>
              </a:lnSpc>
              <a:spcBef>
                <a:spcPts val="1000"/>
              </a:spcBef>
              <a:spcAft>
                <a:spcPts val="0"/>
              </a:spcAft>
              <a:buFont typeface="Wingdings" panose="05000000000000000000" charset="0"/>
              <a:buNone/>
            </a:pPr>
            <a:r>
              <a:rPr lang="zh-CN" altLang="zh-CN" sz="2800" b="1" dirty="0">
                <a:solidFill>
                  <a:srgbClr val="FF0000"/>
                </a:solidFill>
                <a:latin typeface="Times New Roman" panose="02020603050405020304" charset="0"/>
                <a:ea typeface="宋体" panose="02010600030101010101" pitchFamily="2" charset="-122"/>
                <a:cs typeface="Times New Roman" panose="02020603050405020304" charset="0"/>
              </a:rPr>
              <a:t>⑤ 连接建立和释放</a:t>
            </a:r>
            <a:r>
              <a:rPr lang="zh-CN" altLang="en-US" sz="2800" b="1" dirty="0">
                <a:solidFill>
                  <a:srgbClr val="FF0000"/>
                </a:solidFill>
                <a:latin typeface="Times New Roman" panose="02020603050405020304" charset="0"/>
                <a:ea typeface="宋体" panose="02010600030101010101" pitchFamily="2" charset="-122"/>
                <a:cs typeface="Times New Roman" panose="02020603050405020304" charset="0"/>
              </a:rPr>
              <a:t>：</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交换</a:t>
            </a:r>
            <a:r>
              <a:rPr lang="zh-CN" altLang="zh-CN" sz="2800" b="1" dirty="0">
                <a:latin typeface="Times New Roman" panose="02020603050405020304" charset="0"/>
                <a:ea typeface="宋体" panose="02010600030101010101" pitchFamily="2" charset="-122"/>
                <a:cs typeface="Times New Roman" panose="02020603050405020304" charset="0"/>
              </a:rPr>
              <a:t>数据前先建立一条逻辑连接，数据传送结束后释放连接。</a:t>
            </a:r>
            <a:endParaRPr lang="zh-CN" altLang="zh-CN" sz="2800" b="1" dirty="0">
              <a:latin typeface="Times New Roman" panose="02020603050405020304" charset="0"/>
              <a:ea typeface="宋体" panose="02010600030101010101" pitchFamily="2" charset="-122"/>
              <a:cs typeface="Times New Roman" panose="02020603050405020304" charset="0"/>
            </a:endParaRPr>
          </a:p>
          <a:p>
            <a:endParaRPr lang="zh-CN" altLang="en-US" sz="2800" b="1" dirty="0">
              <a:latin typeface="Times New Roman" panose="02020603050405020304" charset="0"/>
              <a:ea typeface="宋体" panose="02010600030101010101" pitchFamily="2" charset="-122"/>
              <a:cs typeface="Times New Roman" panose="02020603050405020304" charset="0"/>
            </a:endParaRPr>
          </a:p>
        </p:txBody>
      </p:sp>
      <p:sp>
        <p:nvSpPr>
          <p:cNvPr id="4" name="标题 1"/>
          <p:cNvSpPr>
            <a:spLocks noGrp="1"/>
          </p:cNvSpPr>
          <p:nvPr/>
        </p:nvSpPr>
        <p:spPr>
          <a:xfrm>
            <a:off x="83820" y="314325"/>
            <a:ext cx="8226425" cy="583565"/>
          </a:xfrm>
          <a:prstGeom prst="rect">
            <a:avLst/>
          </a:prstGeom>
        </p:spPr>
        <p:txBody>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l">
              <a:buClrTx/>
              <a:buSzTx/>
              <a:buFontTx/>
            </a:pPr>
            <a:r>
              <a:rPr lang="zh-CN" altLang="en-US" sz="4000" dirty="0">
                <a:latin typeface="+mj-ea"/>
                <a:sym typeface="+mn-ea"/>
              </a:rPr>
              <a:t>1.1.3 计算机网络的体系结构</a:t>
            </a:r>
            <a:endParaRPr lang="zh-CN" altLang="en-US" sz="4000" dirty="0">
              <a:latin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204450" y="6654800"/>
            <a:ext cx="167640" cy="16637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D2D2D2"/>
                </a:solidFill>
                <a:latin typeface="Arial" panose="020B0604020202020204"/>
                <a:cs typeface="Arial" panose="020B0604020202020204"/>
              </a:rPr>
              <a:t>15</a:t>
            </a:r>
            <a:endParaRPr sz="1000">
              <a:latin typeface="Arial" panose="020B0604020202020204"/>
              <a:cs typeface="Arial" panose="020B0604020202020204"/>
            </a:endParaRPr>
          </a:p>
        </p:txBody>
      </p:sp>
      <p:sp>
        <p:nvSpPr>
          <p:cNvPr id="6" name="object 6"/>
          <p:cNvSpPr txBox="1">
            <a:spLocks noGrp="1"/>
          </p:cNvSpPr>
          <p:nvPr>
            <p:ph type="title"/>
          </p:nvPr>
        </p:nvSpPr>
        <p:spPr>
          <a:xfrm>
            <a:off x="389255" y="320675"/>
            <a:ext cx="6152515" cy="572770"/>
          </a:xfrm>
          <a:prstGeom prst="rect">
            <a:avLst/>
          </a:prstGeom>
        </p:spPr>
        <p:txBody>
          <a:bodyPr vert="horz" wrap="square" lIns="0" tIns="74295" rIns="0" bIns="0" rtlCol="0">
            <a:spAutoFit/>
          </a:bodyPr>
          <a:lstStyle/>
          <a:p>
            <a:pPr marL="12700" marR="5080">
              <a:lnSpc>
                <a:spcPts val="3890"/>
              </a:lnSpc>
              <a:spcBef>
                <a:spcPts val="585"/>
              </a:spcBef>
              <a:tabLst>
                <a:tab pos="5330825" algn="l"/>
                <a:tab pos="5972175" algn="l"/>
              </a:tabLst>
            </a:pPr>
            <a:r>
              <a:rPr lang="zh-CN" spc="305" dirty="0">
                <a:sym typeface="+mn-ea"/>
              </a:rPr>
              <a:t>相关概念</a:t>
            </a:r>
            <a:r>
              <a:rPr lang="en-US" altLang="zh-CN" spc="305" dirty="0">
                <a:sym typeface="+mn-ea"/>
              </a:rPr>
              <a:t>——</a:t>
            </a:r>
            <a:r>
              <a:rPr sz="3600" spc="280" dirty="0">
                <a:latin typeface="黑体" panose="02010609060101010101" charset="-122"/>
                <a:cs typeface="黑体" panose="02010609060101010101" charset="-122"/>
              </a:rPr>
              <a:t>实</a:t>
            </a:r>
            <a:r>
              <a:rPr sz="3600" spc="-15" dirty="0">
                <a:latin typeface="黑体" panose="02010609060101010101" charset="-122"/>
                <a:cs typeface="黑体" panose="02010609060101010101" charset="-122"/>
              </a:rPr>
              <a:t>体&amp;</a:t>
            </a:r>
            <a:r>
              <a:rPr sz="3600" spc="280" dirty="0">
                <a:latin typeface="黑体" panose="02010609060101010101" charset="-122"/>
                <a:cs typeface="黑体" panose="02010609060101010101" charset="-122"/>
              </a:rPr>
              <a:t>对等</a:t>
            </a:r>
            <a:r>
              <a:rPr sz="3600" spc="-15" dirty="0">
                <a:latin typeface="黑体" panose="02010609060101010101" charset="-122"/>
                <a:cs typeface="黑体" panose="02010609060101010101" charset="-122"/>
              </a:rPr>
              <a:t>实</a:t>
            </a:r>
            <a:r>
              <a:rPr sz="3600" spc="-3650" dirty="0">
                <a:latin typeface="黑体" panose="02010609060101010101" charset="-122"/>
                <a:cs typeface="黑体" panose="02010609060101010101" charset="-122"/>
              </a:rPr>
              <a:t>体</a:t>
            </a:r>
            <a:endParaRPr sz="3600">
              <a:latin typeface="黑体" panose="02010609060101010101" charset="-122"/>
              <a:cs typeface="黑体" panose="02010609060101010101" charset="-122"/>
            </a:endParaRPr>
          </a:p>
        </p:txBody>
      </p:sp>
      <p:sp>
        <p:nvSpPr>
          <p:cNvPr id="9" name="object 9"/>
          <p:cNvSpPr txBox="1"/>
          <p:nvPr/>
        </p:nvSpPr>
        <p:spPr>
          <a:xfrm>
            <a:off x="738505" y="3614420"/>
            <a:ext cx="10725785" cy="2427605"/>
          </a:xfrm>
          <a:prstGeom prst="rect">
            <a:avLst/>
          </a:prstGeom>
        </p:spPr>
        <p:txBody>
          <a:bodyPr vert="horz" wrap="square" lIns="0" tIns="212090" rIns="0" bIns="0" rtlCol="0">
            <a:spAutoFit/>
          </a:bodyPr>
          <a:lstStyle/>
          <a:p>
            <a:pPr marL="342900" indent="-342900" algn="l" defTabSz="914400" latinLnBrk="0">
              <a:lnSpc>
                <a:spcPct val="150000"/>
              </a:lnSpc>
              <a:spcBef>
                <a:spcPts val="0"/>
              </a:spcBef>
              <a:buClr>
                <a:srgbClr val="DF4F21"/>
              </a:buClr>
              <a:buSzTx/>
              <a:buFont typeface="Wingdings" panose="05000000000000000000" charset="0"/>
              <a:buChar char="p"/>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实体：每一层上的活动元素，包括实现该层功能的所有硬件</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（如网卡）</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与软件</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（如进程）</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indent="-342900" algn="l" defTabSz="914400" latinLnBrk="0">
              <a:lnSpc>
                <a:spcPct val="150000"/>
              </a:lnSpc>
              <a:spcBef>
                <a:spcPts val="0"/>
              </a:spcBef>
              <a:buClr>
                <a:srgbClr val="DF4F21"/>
              </a:buClr>
              <a:buSzTx/>
              <a:buFont typeface="Wingdings" panose="05000000000000000000" charset="0"/>
              <a:buChar char="p"/>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对等实体 ：相互通信的两个不同节点 ( 即源节点和目标节点 ) 上位于同一层次</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、完成相同功能的实体</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2" name="object 9"/>
          <p:cNvSpPr/>
          <p:nvPr/>
        </p:nvSpPr>
        <p:spPr>
          <a:xfrm>
            <a:off x="3648075" y="1196975"/>
            <a:ext cx="5507355" cy="2417445"/>
          </a:xfrm>
          <a:prstGeom prst="rect">
            <a:avLst/>
          </a:prstGeom>
          <a:blipFill>
            <a:blip r:embed="rId1" cstate="print"/>
            <a:stretch>
              <a:fillRect/>
            </a:stretch>
          </a:blipFill>
        </p:spPr>
        <p:txBody>
          <a:bodyPr wrap="square" lIns="0" tIns="0" rIns="0" bIns="0" rtlCol="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93700" y="262255"/>
            <a:ext cx="6730365" cy="635635"/>
          </a:xfrm>
          <a:prstGeom prst="rect">
            <a:avLst/>
          </a:prstGeom>
        </p:spPr>
        <p:txBody>
          <a:bodyPr vert="horz" wrap="square" lIns="0" tIns="81915" rIns="0" bIns="0" rtlCol="0">
            <a:spAutoFit/>
          </a:bodyPr>
          <a:lstStyle/>
          <a:p>
            <a:pPr marL="12700" marR="5080">
              <a:lnSpc>
                <a:spcPts val="4320"/>
              </a:lnSpc>
              <a:spcBef>
                <a:spcPts val="645"/>
              </a:spcBef>
            </a:pPr>
            <a:r>
              <a:rPr spc="305" dirty="0">
                <a:latin typeface="黑体" panose="02010609060101010101" charset="-122"/>
                <a:cs typeface="黑体" panose="02010609060101010101" charset="-122"/>
              </a:rPr>
              <a:t>对协</a:t>
            </a:r>
            <a:r>
              <a:rPr spc="-20" dirty="0">
                <a:latin typeface="黑体" panose="02010609060101010101" charset="-122"/>
                <a:cs typeface="黑体" panose="02010609060101010101" charset="-122"/>
              </a:rPr>
              <a:t>议</a:t>
            </a:r>
            <a:r>
              <a:rPr spc="305" dirty="0">
                <a:latin typeface="黑体" panose="02010609060101010101" charset="-122"/>
                <a:cs typeface="黑体" panose="02010609060101010101" charset="-122"/>
              </a:rPr>
              <a:t>三</a:t>
            </a:r>
            <a:r>
              <a:rPr spc="315" dirty="0">
                <a:latin typeface="黑体" panose="02010609060101010101" charset="-122"/>
                <a:cs typeface="黑体" panose="02010609060101010101" charset="-122"/>
              </a:rPr>
              <a:t>要</a:t>
            </a:r>
            <a:r>
              <a:rPr spc="305" dirty="0">
                <a:latin typeface="黑体" panose="02010609060101010101" charset="-122"/>
                <a:cs typeface="黑体" panose="02010609060101010101" charset="-122"/>
              </a:rPr>
              <a:t>素</a:t>
            </a:r>
            <a:r>
              <a:rPr spc="-20" dirty="0">
                <a:latin typeface="黑体" panose="02010609060101010101" charset="-122"/>
                <a:cs typeface="黑体" panose="02010609060101010101" charset="-122"/>
              </a:rPr>
              <a:t>的</a:t>
            </a:r>
            <a:r>
              <a:rPr lang="zh-CN" spc="-20" dirty="0">
                <a:latin typeface="黑体" panose="02010609060101010101" charset="-122"/>
                <a:cs typeface="黑体" panose="02010609060101010101" charset="-122"/>
              </a:rPr>
              <a:t>理解</a:t>
            </a:r>
            <a:endParaRPr lang="zh-CN" spc="-20" dirty="0">
              <a:latin typeface="黑体" panose="02010609060101010101" charset="-122"/>
              <a:cs typeface="黑体" panose="02010609060101010101" charset="-122"/>
            </a:endParaRPr>
          </a:p>
        </p:txBody>
      </p:sp>
      <p:sp>
        <p:nvSpPr>
          <p:cNvPr id="6" name="object 6"/>
          <p:cNvSpPr txBox="1"/>
          <p:nvPr/>
        </p:nvSpPr>
        <p:spPr>
          <a:xfrm>
            <a:off x="393700" y="1068705"/>
            <a:ext cx="11482705" cy="3025140"/>
          </a:xfrm>
          <a:prstGeom prst="rect">
            <a:avLst/>
          </a:prstGeom>
        </p:spPr>
        <p:txBody>
          <a:bodyPr vert="horz" wrap="square" lIns="0" tIns="53975" rIns="0" bIns="0" rtlCol="0">
            <a:spAutoFit/>
          </a:bodyPr>
          <a:lstStyle/>
          <a:p>
            <a:pPr marL="342900" indent="-342900" algn="l">
              <a:lnSpc>
                <a:spcPct val="150000"/>
              </a:lnSpc>
              <a:spcBef>
                <a:spcPts val="0"/>
              </a:spcBef>
              <a:buClr>
                <a:srgbClr val="DF4F21"/>
              </a:buClr>
              <a:buSzTx/>
              <a:buFont typeface="Wingdings" panose="05000000000000000000" charset="0"/>
              <a:buChar char="p"/>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协议须具备三大要素：</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914400" lvl="1" indent="-457200" algn="l" defTabSz="914400" fontAlgn="base">
              <a:lnSpc>
                <a:spcPct val="150000"/>
              </a:lnSpc>
              <a:spcBef>
                <a:spcPts val="600"/>
              </a:spcBef>
              <a:buClr>
                <a:schemeClr val="accent2"/>
              </a:buClr>
              <a:buSzPct val="70000"/>
              <a:buFont typeface="Wingdings" panose="05000000000000000000" charset="0"/>
              <a:buChar char="Ø"/>
            </a:pPr>
            <a:r>
              <a:rPr lang="zh-CN" altLang="zh-CN" sz="2400" b="1" kern="0" dirty="0">
                <a:latin typeface="Times New Roman" panose="02020603050405020304" charset="0"/>
                <a:ea typeface="宋体" panose="02010600030101010101" pitchFamily="2" charset="-122"/>
                <a:cs typeface="Times New Roman" panose="02020603050405020304" charset="0"/>
                <a:sym typeface="+mn-ea"/>
              </a:rPr>
              <a:t>语法：数据与控制信息的结构或格式</a:t>
            </a:r>
            <a:endParaRPr lang="zh-CN" altLang="zh-CN" sz="2400" b="1" kern="0" dirty="0">
              <a:latin typeface="Times New Roman" panose="02020603050405020304" charset="0"/>
              <a:ea typeface="宋体" panose="02010600030101010101" pitchFamily="2" charset="-122"/>
              <a:cs typeface="Times New Roman" panose="02020603050405020304" charset="0"/>
            </a:endParaRPr>
          </a:p>
          <a:p>
            <a:pPr marL="914400" lvl="1" indent="-457200" algn="l" defTabSz="914400" fontAlgn="base">
              <a:lnSpc>
                <a:spcPct val="150000"/>
              </a:lnSpc>
              <a:spcBef>
                <a:spcPts val="600"/>
              </a:spcBef>
              <a:buClr>
                <a:schemeClr val="accent2"/>
              </a:buClr>
              <a:buSzPct val="70000"/>
              <a:buFont typeface="Wingdings" panose="05000000000000000000" charset="0"/>
              <a:buChar char="Ø"/>
            </a:pPr>
            <a:r>
              <a:rPr lang="zh-CN" altLang="zh-CN" sz="2400" b="1" kern="0" dirty="0">
                <a:latin typeface="Times New Roman" panose="02020603050405020304" charset="0"/>
                <a:ea typeface="宋体" panose="02010600030101010101" pitchFamily="2" charset="-122"/>
                <a:cs typeface="Times New Roman" panose="02020603050405020304" charset="0"/>
                <a:sym typeface="+mn-ea"/>
              </a:rPr>
              <a:t>语义：需要发出何种控制信息，完成何种动作以及做出何种响应</a:t>
            </a:r>
            <a:endParaRPr lang="zh-CN" altLang="zh-CN" sz="2400" b="1" kern="0" dirty="0">
              <a:latin typeface="Times New Roman" panose="02020603050405020304" charset="0"/>
              <a:ea typeface="宋体" panose="02010600030101010101" pitchFamily="2" charset="-122"/>
              <a:cs typeface="Times New Roman" panose="02020603050405020304" charset="0"/>
            </a:endParaRPr>
          </a:p>
          <a:p>
            <a:pPr marL="914400" lvl="1" indent="-457200" algn="l" defTabSz="914400" fontAlgn="base">
              <a:lnSpc>
                <a:spcPct val="150000"/>
              </a:lnSpc>
              <a:spcBef>
                <a:spcPts val="600"/>
              </a:spcBef>
              <a:buClr>
                <a:schemeClr val="accent2"/>
              </a:buClr>
              <a:buSzPct val="70000"/>
              <a:buFont typeface="Wingdings" panose="05000000000000000000" charset="0"/>
              <a:buChar char="Ø"/>
            </a:pPr>
            <a:r>
              <a:rPr lang="zh-CN" altLang="zh-CN" sz="2400" b="1" kern="0" dirty="0">
                <a:latin typeface="Times New Roman" panose="02020603050405020304" charset="0"/>
                <a:ea typeface="宋体" panose="02010600030101010101" pitchFamily="2" charset="-122"/>
                <a:cs typeface="Times New Roman" panose="02020603050405020304" charset="0"/>
                <a:sym typeface="+mn-ea"/>
              </a:rPr>
              <a:t>同步：事件实现顺序的详细说明。</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 </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252730" indent="-240665">
              <a:lnSpc>
                <a:spcPct val="100000"/>
              </a:lnSpc>
              <a:spcBef>
                <a:spcPts val="1210"/>
              </a:spcBef>
              <a:buSzPct val="96000"/>
              <a:buFont typeface="Wingdings" panose="05000000000000000000"/>
              <a:buChar char=""/>
              <a:tabLst>
                <a:tab pos="253365" algn="l"/>
              </a:tabLst>
            </a:pPr>
            <a:endParaRPr lang="zh-CN" altLang="en-US" sz="2400" b="1" dirty="0">
              <a:solidFill>
                <a:schemeClr val="tx1"/>
              </a:solidFill>
              <a:latin typeface="黑体" panose="02010609060101010101" charset="-122"/>
              <a:ea typeface="黑体" panose="02010609060101010101" charset="-122"/>
              <a:cs typeface="黑体" panose="02010609060101010101" charset="-122"/>
            </a:endParaRPr>
          </a:p>
        </p:txBody>
      </p:sp>
      <p:sp>
        <p:nvSpPr>
          <p:cNvPr id="7" name="object 7"/>
          <p:cNvSpPr/>
          <p:nvPr/>
        </p:nvSpPr>
        <p:spPr>
          <a:xfrm>
            <a:off x="4866640" y="4103370"/>
            <a:ext cx="5181600" cy="2438400"/>
          </a:xfrm>
          <a:custGeom>
            <a:avLst/>
            <a:gdLst/>
            <a:ahLst/>
            <a:cxnLst/>
            <a:rect l="l" t="t" r="r" b="b"/>
            <a:pathLst>
              <a:path w="5181600" h="2438400">
                <a:moveTo>
                  <a:pt x="5181600" y="0"/>
                </a:moveTo>
                <a:lnTo>
                  <a:pt x="0" y="0"/>
                </a:lnTo>
                <a:lnTo>
                  <a:pt x="0" y="2438399"/>
                </a:lnTo>
                <a:lnTo>
                  <a:pt x="5181600" y="2438399"/>
                </a:lnTo>
                <a:lnTo>
                  <a:pt x="5181600" y="0"/>
                </a:lnTo>
                <a:close/>
              </a:path>
            </a:pathLst>
          </a:custGeom>
          <a:solidFill>
            <a:srgbClr val="007F7F"/>
          </a:solidFill>
        </p:spPr>
        <p:txBody>
          <a:bodyPr wrap="square" lIns="0" tIns="0" rIns="0" bIns="0" rtlCol="0"/>
          <a:lstStyle/>
          <a:p/>
        </p:txBody>
      </p:sp>
      <p:sp>
        <p:nvSpPr>
          <p:cNvPr id="8" name="object 8"/>
          <p:cNvSpPr/>
          <p:nvPr/>
        </p:nvSpPr>
        <p:spPr>
          <a:xfrm>
            <a:off x="5090159" y="4428490"/>
            <a:ext cx="222250" cy="217170"/>
          </a:xfrm>
          <a:custGeom>
            <a:avLst/>
            <a:gdLst/>
            <a:ahLst/>
            <a:cxnLst/>
            <a:rect l="l" t="t" r="r" b="b"/>
            <a:pathLst>
              <a:path w="222250" h="217170">
                <a:moveTo>
                  <a:pt x="222250" y="0"/>
                </a:moveTo>
                <a:lnTo>
                  <a:pt x="0" y="0"/>
                </a:lnTo>
                <a:lnTo>
                  <a:pt x="0" y="217170"/>
                </a:lnTo>
                <a:lnTo>
                  <a:pt x="222250" y="217170"/>
                </a:lnTo>
                <a:lnTo>
                  <a:pt x="222250" y="0"/>
                </a:lnTo>
                <a:close/>
              </a:path>
            </a:pathLst>
          </a:custGeom>
          <a:solidFill>
            <a:srgbClr val="FFFFFF"/>
          </a:solidFill>
        </p:spPr>
        <p:txBody>
          <a:bodyPr wrap="square" lIns="0" tIns="0" rIns="0" bIns="0" rtlCol="0"/>
          <a:lstStyle/>
          <a:p/>
        </p:txBody>
      </p:sp>
      <p:sp>
        <p:nvSpPr>
          <p:cNvPr id="9" name="object 9"/>
          <p:cNvSpPr/>
          <p:nvPr/>
        </p:nvSpPr>
        <p:spPr>
          <a:xfrm>
            <a:off x="5090159" y="4428490"/>
            <a:ext cx="222250" cy="217170"/>
          </a:xfrm>
          <a:custGeom>
            <a:avLst/>
            <a:gdLst/>
            <a:ahLst/>
            <a:cxnLst/>
            <a:rect l="l" t="t" r="r" b="b"/>
            <a:pathLst>
              <a:path w="222250" h="217170">
                <a:moveTo>
                  <a:pt x="111760" y="217170"/>
                </a:moveTo>
                <a:lnTo>
                  <a:pt x="0" y="217170"/>
                </a:lnTo>
                <a:lnTo>
                  <a:pt x="0" y="0"/>
                </a:lnTo>
                <a:lnTo>
                  <a:pt x="222250" y="0"/>
                </a:lnTo>
                <a:lnTo>
                  <a:pt x="222250" y="217170"/>
                </a:lnTo>
                <a:lnTo>
                  <a:pt x="111760" y="217170"/>
                </a:lnTo>
                <a:close/>
              </a:path>
            </a:pathLst>
          </a:custGeom>
          <a:ln w="9344">
            <a:solidFill>
              <a:srgbClr val="0082B6"/>
            </a:solidFill>
          </a:ln>
        </p:spPr>
        <p:txBody>
          <a:bodyPr wrap="square" lIns="0" tIns="0" rIns="0" bIns="0" rtlCol="0"/>
          <a:lstStyle/>
          <a:p/>
        </p:txBody>
      </p:sp>
      <p:sp>
        <p:nvSpPr>
          <p:cNvPr id="10" name="object 10"/>
          <p:cNvSpPr/>
          <p:nvPr/>
        </p:nvSpPr>
        <p:spPr>
          <a:xfrm>
            <a:off x="5368290" y="4428490"/>
            <a:ext cx="222250" cy="217170"/>
          </a:xfrm>
          <a:custGeom>
            <a:avLst/>
            <a:gdLst/>
            <a:ahLst/>
            <a:cxnLst/>
            <a:rect l="l" t="t" r="r" b="b"/>
            <a:pathLst>
              <a:path w="222250" h="217170">
                <a:moveTo>
                  <a:pt x="222250" y="0"/>
                </a:moveTo>
                <a:lnTo>
                  <a:pt x="0" y="0"/>
                </a:lnTo>
                <a:lnTo>
                  <a:pt x="0" y="217170"/>
                </a:lnTo>
                <a:lnTo>
                  <a:pt x="222250" y="217170"/>
                </a:lnTo>
                <a:lnTo>
                  <a:pt x="222250" y="0"/>
                </a:lnTo>
                <a:close/>
              </a:path>
            </a:pathLst>
          </a:custGeom>
          <a:solidFill>
            <a:srgbClr val="FFFFFF"/>
          </a:solidFill>
        </p:spPr>
        <p:txBody>
          <a:bodyPr wrap="square" lIns="0" tIns="0" rIns="0" bIns="0" rtlCol="0"/>
          <a:lstStyle/>
          <a:p/>
        </p:txBody>
      </p:sp>
      <p:sp>
        <p:nvSpPr>
          <p:cNvPr id="11" name="object 11"/>
          <p:cNvSpPr/>
          <p:nvPr/>
        </p:nvSpPr>
        <p:spPr>
          <a:xfrm>
            <a:off x="5368290" y="4428490"/>
            <a:ext cx="222250" cy="217170"/>
          </a:xfrm>
          <a:custGeom>
            <a:avLst/>
            <a:gdLst/>
            <a:ahLst/>
            <a:cxnLst/>
            <a:rect l="l" t="t" r="r" b="b"/>
            <a:pathLst>
              <a:path w="222250" h="217170">
                <a:moveTo>
                  <a:pt x="111760" y="217170"/>
                </a:moveTo>
                <a:lnTo>
                  <a:pt x="0" y="217170"/>
                </a:lnTo>
                <a:lnTo>
                  <a:pt x="0" y="0"/>
                </a:lnTo>
                <a:lnTo>
                  <a:pt x="222250" y="0"/>
                </a:lnTo>
                <a:lnTo>
                  <a:pt x="222250" y="217170"/>
                </a:lnTo>
                <a:lnTo>
                  <a:pt x="111760" y="217170"/>
                </a:lnTo>
                <a:close/>
              </a:path>
            </a:pathLst>
          </a:custGeom>
          <a:ln w="9344">
            <a:solidFill>
              <a:srgbClr val="0082B6"/>
            </a:solidFill>
          </a:ln>
        </p:spPr>
        <p:txBody>
          <a:bodyPr wrap="square" lIns="0" tIns="0" rIns="0" bIns="0" rtlCol="0"/>
          <a:lstStyle/>
          <a:p/>
        </p:txBody>
      </p:sp>
      <p:sp>
        <p:nvSpPr>
          <p:cNvPr id="12" name="object 12"/>
          <p:cNvSpPr/>
          <p:nvPr/>
        </p:nvSpPr>
        <p:spPr>
          <a:xfrm>
            <a:off x="5647690" y="4428490"/>
            <a:ext cx="222250" cy="217170"/>
          </a:xfrm>
          <a:custGeom>
            <a:avLst/>
            <a:gdLst/>
            <a:ahLst/>
            <a:cxnLst/>
            <a:rect l="l" t="t" r="r" b="b"/>
            <a:pathLst>
              <a:path w="222250" h="217170">
                <a:moveTo>
                  <a:pt x="222250" y="0"/>
                </a:moveTo>
                <a:lnTo>
                  <a:pt x="0" y="0"/>
                </a:lnTo>
                <a:lnTo>
                  <a:pt x="0" y="217170"/>
                </a:lnTo>
                <a:lnTo>
                  <a:pt x="222250" y="217170"/>
                </a:lnTo>
                <a:lnTo>
                  <a:pt x="222250" y="0"/>
                </a:lnTo>
                <a:close/>
              </a:path>
            </a:pathLst>
          </a:custGeom>
          <a:solidFill>
            <a:srgbClr val="FFFFFF"/>
          </a:solidFill>
        </p:spPr>
        <p:txBody>
          <a:bodyPr wrap="square" lIns="0" tIns="0" rIns="0" bIns="0" rtlCol="0"/>
          <a:lstStyle/>
          <a:p/>
        </p:txBody>
      </p:sp>
      <p:sp>
        <p:nvSpPr>
          <p:cNvPr id="13" name="object 13"/>
          <p:cNvSpPr/>
          <p:nvPr/>
        </p:nvSpPr>
        <p:spPr>
          <a:xfrm>
            <a:off x="5647690" y="4428490"/>
            <a:ext cx="222250" cy="217170"/>
          </a:xfrm>
          <a:custGeom>
            <a:avLst/>
            <a:gdLst/>
            <a:ahLst/>
            <a:cxnLst/>
            <a:rect l="l" t="t" r="r" b="b"/>
            <a:pathLst>
              <a:path w="222250" h="217170">
                <a:moveTo>
                  <a:pt x="110489" y="217170"/>
                </a:moveTo>
                <a:lnTo>
                  <a:pt x="0" y="217170"/>
                </a:lnTo>
                <a:lnTo>
                  <a:pt x="0" y="0"/>
                </a:lnTo>
                <a:lnTo>
                  <a:pt x="222250" y="0"/>
                </a:lnTo>
                <a:lnTo>
                  <a:pt x="222250" y="217170"/>
                </a:lnTo>
                <a:lnTo>
                  <a:pt x="110489" y="217170"/>
                </a:lnTo>
                <a:close/>
              </a:path>
            </a:pathLst>
          </a:custGeom>
          <a:ln w="9344">
            <a:solidFill>
              <a:srgbClr val="0082B6"/>
            </a:solidFill>
          </a:ln>
        </p:spPr>
        <p:txBody>
          <a:bodyPr wrap="square" lIns="0" tIns="0" rIns="0" bIns="0" rtlCol="0"/>
          <a:lstStyle/>
          <a:p/>
        </p:txBody>
      </p:sp>
      <p:sp>
        <p:nvSpPr>
          <p:cNvPr id="14" name="object 14"/>
          <p:cNvSpPr/>
          <p:nvPr/>
        </p:nvSpPr>
        <p:spPr>
          <a:xfrm>
            <a:off x="5925820" y="4428490"/>
            <a:ext cx="222250" cy="217170"/>
          </a:xfrm>
          <a:custGeom>
            <a:avLst/>
            <a:gdLst/>
            <a:ahLst/>
            <a:cxnLst/>
            <a:rect l="l" t="t" r="r" b="b"/>
            <a:pathLst>
              <a:path w="222250" h="217170">
                <a:moveTo>
                  <a:pt x="222250" y="0"/>
                </a:moveTo>
                <a:lnTo>
                  <a:pt x="0" y="0"/>
                </a:lnTo>
                <a:lnTo>
                  <a:pt x="0" y="217170"/>
                </a:lnTo>
                <a:lnTo>
                  <a:pt x="222250" y="217170"/>
                </a:lnTo>
                <a:lnTo>
                  <a:pt x="222250" y="0"/>
                </a:lnTo>
                <a:close/>
              </a:path>
            </a:pathLst>
          </a:custGeom>
          <a:solidFill>
            <a:srgbClr val="FFFFFF"/>
          </a:solidFill>
        </p:spPr>
        <p:txBody>
          <a:bodyPr wrap="square" lIns="0" tIns="0" rIns="0" bIns="0" rtlCol="0"/>
          <a:lstStyle/>
          <a:p/>
        </p:txBody>
      </p:sp>
      <p:sp>
        <p:nvSpPr>
          <p:cNvPr id="15" name="object 15"/>
          <p:cNvSpPr/>
          <p:nvPr/>
        </p:nvSpPr>
        <p:spPr>
          <a:xfrm>
            <a:off x="5925820" y="4428490"/>
            <a:ext cx="222250" cy="217170"/>
          </a:xfrm>
          <a:custGeom>
            <a:avLst/>
            <a:gdLst/>
            <a:ahLst/>
            <a:cxnLst/>
            <a:rect l="l" t="t" r="r" b="b"/>
            <a:pathLst>
              <a:path w="222250" h="217170">
                <a:moveTo>
                  <a:pt x="111759" y="217170"/>
                </a:moveTo>
                <a:lnTo>
                  <a:pt x="0" y="217170"/>
                </a:lnTo>
                <a:lnTo>
                  <a:pt x="0" y="0"/>
                </a:lnTo>
                <a:lnTo>
                  <a:pt x="222250" y="0"/>
                </a:lnTo>
                <a:lnTo>
                  <a:pt x="222250" y="217170"/>
                </a:lnTo>
                <a:lnTo>
                  <a:pt x="111759" y="217170"/>
                </a:lnTo>
                <a:close/>
              </a:path>
            </a:pathLst>
          </a:custGeom>
          <a:ln w="9344">
            <a:solidFill>
              <a:srgbClr val="0082B6"/>
            </a:solidFill>
          </a:ln>
        </p:spPr>
        <p:txBody>
          <a:bodyPr wrap="square" lIns="0" tIns="0" rIns="0" bIns="0" rtlCol="0"/>
          <a:lstStyle/>
          <a:p/>
        </p:txBody>
      </p:sp>
      <p:sp>
        <p:nvSpPr>
          <p:cNvPr id="16" name="object 16"/>
          <p:cNvSpPr/>
          <p:nvPr/>
        </p:nvSpPr>
        <p:spPr>
          <a:xfrm>
            <a:off x="6203950" y="4428490"/>
            <a:ext cx="223520" cy="217170"/>
          </a:xfrm>
          <a:custGeom>
            <a:avLst/>
            <a:gdLst/>
            <a:ahLst/>
            <a:cxnLst/>
            <a:rect l="l" t="t" r="r" b="b"/>
            <a:pathLst>
              <a:path w="223520" h="217170">
                <a:moveTo>
                  <a:pt x="223520" y="0"/>
                </a:moveTo>
                <a:lnTo>
                  <a:pt x="0" y="0"/>
                </a:lnTo>
                <a:lnTo>
                  <a:pt x="0" y="217170"/>
                </a:lnTo>
                <a:lnTo>
                  <a:pt x="223520" y="217170"/>
                </a:lnTo>
                <a:lnTo>
                  <a:pt x="223520" y="0"/>
                </a:lnTo>
                <a:close/>
              </a:path>
            </a:pathLst>
          </a:custGeom>
          <a:solidFill>
            <a:srgbClr val="FFFFFF"/>
          </a:solidFill>
        </p:spPr>
        <p:txBody>
          <a:bodyPr wrap="square" lIns="0" tIns="0" rIns="0" bIns="0" rtlCol="0"/>
          <a:lstStyle/>
          <a:p/>
        </p:txBody>
      </p:sp>
      <p:sp>
        <p:nvSpPr>
          <p:cNvPr id="17" name="object 17"/>
          <p:cNvSpPr/>
          <p:nvPr/>
        </p:nvSpPr>
        <p:spPr>
          <a:xfrm>
            <a:off x="6203950" y="4428490"/>
            <a:ext cx="223520" cy="217170"/>
          </a:xfrm>
          <a:custGeom>
            <a:avLst/>
            <a:gdLst/>
            <a:ahLst/>
            <a:cxnLst/>
            <a:rect l="l" t="t" r="r" b="b"/>
            <a:pathLst>
              <a:path w="223520" h="217170">
                <a:moveTo>
                  <a:pt x="111760" y="217170"/>
                </a:moveTo>
                <a:lnTo>
                  <a:pt x="0" y="217170"/>
                </a:lnTo>
                <a:lnTo>
                  <a:pt x="0" y="0"/>
                </a:lnTo>
                <a:lnTo>
                  <a:pt x="223520" y="0"/>
                </a:lnTo>
                <a:lnTo>
                  <a:pt x="223520" y="217170"/>
                </a:lnTo>
                <a:lnTo>
                  <a:pt x="111760" y="217170"/>
                </a:lnTo>
                <a:close/>
              </a:path>
            </a:pathLst>
          </a:custGeom>
          <a:ln w="9344">
            <a:solidFill>
              <a:srgbClr val="0082B6"/>
            </a:solidFill>
          </a:ln>
        </p:spPr>
        <p:txBody>
          <a:bodyPr wrap="square" lIns="0" tIns="0" rIns="0" bIns="0" rtlCol="0"/>
          <a:lstStyle/>
          <a:p/>
        </p:txBody>
      </p:sp>
      <p:sp>
        <p:nvSpPr>
          <p:cNvPr id="18" name="object 18"/>
          <p:cNvSpPr/>
          <p:nvPr/>
        </p:nvSpPr>
        <p:spPr>
          <a:xfrm>
            <a:off x="6483350" y="4428490"/>
            <a:ext cx="222250" cy="217170"/>
          </a:xfrm>
          <a:custGeom>
            <a:avLst/>
            <a:gdLst/>
            <a:ahLst/>
            <a:cxnLst/>
            <a:rect l="l" t="t" r="r" b="b"/>
            <a:pathLst>
              <a:path w="222250" h="217170">
                <a:moveTo>
                  <a:pt x="222250" y="0"/>
                </a:moveTo>
                <a:lnTo>
                  <a:pt x="0" y="0"/>
                </a:lnTo>
                <a:lnTo>
                  <a:pt x="0" y="217170"/>
                </a:lnTo>
                <a:lnTo>
                  <a:pt x="222250" y="217170"/>
                </a:lnTo>
                <a:lnTo>
                  <a:pt x="222250" y="0"/>
                </a:lnTo>
                <a:close/>
              </a:path>
            </a:pathLst>
          </a:custGeom>
          <a:solidFill>
            <a:srgbClr val="FFFFFF"/>
          </a:solidFill>
        </p:spPr>
        <p:txBody>
          <a:bodyPr wrap="square" lIns="0" tIns="0" rIns="0" bIns="0" rtlCol="0"/>
          <a:lstStyle/>
          <a:p/>
        </p:txBody>
      </p:sp>
      <p:sp>
        <p:nvSpPr>
          <p:cNvPr id="19" name="object 19"/>
          <p:cNvSpPr/>
          <p:nvPr/>
        </p:nvSpPr>
        <p:spPr>
          <a:xfrm>
            <a:off x="6483350" y="4428490"/>
            <a:ext cx="222250" cy="217170"/>
          </a:xfrm>
          <a:custGeom>
            <a:avLst/>
            <a:gdLst/>
            <a:ahLst/>
            <a:cxnLst/>
            <a:rect l="l" t="t" r="r" b="b"/>
            <a:pathLst>
              <a:path w="222250" h="217170">
                <a:moveTo>
                  <a:pt x="110489" y="217170"/>
                </a:moveTo>
                <a:lnTo>
                  <a:pt x="0" y="217170"/>
                </a:lnTo>
                <a:lnTo>
                  <a:pt x="0" y="0"/>
                </a:lnTo>
                <a:lnTo>
                  <a:pt x="222250" y="0"/>
                </a:lnTo>
                <a:lnTo>
                  <a:pt x="222250" y="217170"/>
                </a:lnTo>
                <a:lnTo>
                  <a:pt x="110489" y="217170"/>
                </a:lnTo>
                <a:close/>
              </a:path>
            </a:pathLst>
          </a:custGeom>
          <a:ln w="9344">
            <a:solidFill>
              <a:srgbClr val="0082B6"/>
            </a:solidFill>
          </a:ln>
        </p:spPr>
        <p:txBody>
          <a:bodyPr wrap="square" lIns="0" tIns="0" rIns="0" bIns="0" rtlCol="0"/>
          <a:lstStyle/>
          <a:p/>
        </p:txBody>
      </p:sp>
      <p:sp>
        <p:nvSpPr>
          <p:cNvPr id="20" name="object 20"/>
          <p:cNvSpPr/>
          <p:nvPr/>
        </p:nvSpPr>
        <p:spPr>
          <a:xfrm>
            <a:off x="8488680" y="6108700"/>
            <a:ext cx="222250" cy="215900"/>
          </a:xfrm>
          <a:custGeom>
            <a:avLst/>
            <a:gdLst/>
            <a:ahLst/>
            <a:cxnLst/>
            <a:rect l="l" t="t" r="r" b="b"/>
            <a:pathLst>
              <a:path w="222250" h="215900">
                <a:moveTo>
                  <a:pt x="222250" y="0"/>
                </a:moveTo>
                <a:lnTo>
                  <a:pt x="0" y="0"/>
                </a:lnTo>
                <a:lnTo>
                  <a:pt x="0" y="215900"/>
                </a:lnTo>
                <a:lnTo>
                  <a:pt x="222250" y="215900"/>
                </a:lnTo>
                <a:lnTo>
                  <a:pt x="222250" y="0"/>
                </a:lnTo>
                <a:close/>
              </a:path>
            </a:pathLst>
          </a:custGeom>
          <a:solidFill>
            <a:srgbClr val="FFFFFF"/>
          </a:solidFill>
        </p:spPr>
        <p:txBody>
          <a:bodyPr wrap="square" lIns="0" tIns="0" rIns="0" bIns="0" rtlCol="0"/>
          <a:lstStyle/>
          <a:p/>
        </p:txBody>
      </p:sp>
      <p:sp>
        <p:nvSpPr>
          <p:cNvPr id="21" name="object 21"/>
          <p:cNvSpPr/>
          <p:nvPr/>
        </p:nvSpPr>
        <p:spPr>
          <a:xfrm>
            <a:off x="8488680" y="6108700"/>
            <a:ext cx="222250" cy="215900"/>
          </a:xfrm>
          <a:custGeom>
            <a:avLst/>
            <a:gdLst/>
            <a:ahLst/>
            <a:cxnLst/>
            <a:rect l="l" t="t" r="r" b="b"/>
            <a:pathLst>
              <a:path w="222250" h="215900">
                <a:moveTo>
                  <a:pt x="111760" y="215900"/>
                </a:moveTo>
                <a:lnTo>
                  <a:pt x="0" y="215900"/>
                </a:lnTo>
                <a:lnTo>
                  <a:pt x="0" y="0"/>
                </a:lnTo>
                <a:lnTo>
                  <a:pt x="222250" y="0"/>
                </a:lnTo>
                <a:lnTo>
                  <a:pt x="222250" y="215900"/>
                </a:lnTo>
                <a:lnTo>
                  <a:pt x="111760" y="215900"/>
                </a:lnTo>
                <a:close/>
              </a:path>
            </a:pathLst>
          </a:custGeom>
          <a:ln w="9344">
            <a:solidFill>
              <a:srgbClr val="0082B6"/>
            </a:solidFill>
          </a:ln>
        </p:spPr>
        <p:txBody>
          <a:bodyPr wrap="square" lIns="0" tIns="0" rIns="0" bIns="0" rtlCol="0"/>
          <a:lstStyle/>
          <a:p/>
        </p:txBody>
      </p:sp>
      <p:sp>
        <p:nvSpPr>
          <p:cNvPr id="22" name="object 22"/>
          <p:cNvSpPr/>
          <p:nvPr/>
        </p:nvSpPr>
        <p:spPr>
          <a:xfrm>
            <a:off x="8209280" y="6108700"/>
            <a:ext cx="223520" cy="215900"/>
          </a:xfrm>
          <a:custGeom>
            <a:avLst/>
            <a:gdLst/>
            <a:ahLst/>
            <a:cxnLst/>
            <a:rect l="l" t="t" r="r" b="b"/>
            <a:pathLst>
              <a:path w="223520" h="215900">
                <a:moveTo>
                  <a:pt x="223520" y="0"/>
                </a:moveTo>
                <a:lnTo>
                  <a:pt x="0" y="0"/>
                </a:lnTo>
                <a:lnTo>
                  <a:pt x="0" y="215900"/>
                </a:lnTo>
                <a:lnTo>
                  <a:pt x="223520" y="215900"/>
                </a:lnTo>
                <a:lnTo>
                  <a:pt x="223520" y="0"/>
                </a:lnTo>
                <a:close/>
              </a:path>
            </a:pathLst>
          </a:custGeom>
          <a:solidFill>
            <a:srgbClr val="FFFFFF"/>
          </a:solidFill>
        </p:spPr>
        <p:txBody>
          <a:bodyPr wrap="square" lIns="0" tIns="0" rIns="0" bIns="0" rtlCol="0"/>
          <a:lstStyle/>
          <a:p/>
        </p:txBody>
      </p:sp>
      <p:sp>
        <p:nvSpPr>
          <p:cNvPr id="23" name="object 23"/>
          <p:cNvSpPr/>
          <p:nvPr/>
        </p:nvSpPr>
        <p:spPr>
          <a:xfrm>
            <a:off x="8209280" y="6108700"/>
            <a:ext cx="223520" cy="215900"/>
          </a:xfrm>
          <a:custGeom>
            <a:avLst/>
            <a:gdLst/>
            <a:ahLst/>
            <a:cxnLst/>
            <a:rect l="l" t="t" r="r" b="b"/>
            <a:pathLst>
              <a:path w="223520" h="215900">
                <a:moveTo>
                  <a:pt x="111760" y="215900"/>
                </a:moveTo>
                <a:lnTo>
                  <a:pt x="0" y="215900"/>
                </a:lnTo>
                <a:lnTo>
                  <a:pt x="0" y="0"/>
                </a:lnTo>
                <a:lnTo>
                  <a:pt x="223520" y="0"/>
                </a:lnTo>
                <a:lnTo>
                  <a:pt x="223520" y="215900"/>
                </a:lnTo>
                <a:lnTo>
                  <a:pt x="111760" y="215900"/>
                </a:lnTo>
                <a:close/>
              </a:path>
            </a:pathLst>
          </a:custGeom>
          <a:ln w="9344">
            <a:solidFill>
              <a:srgbClr val="0082B6"/>
            </a:solidFill>
          </a:ln>
        </p:spPr>
        <p:txBody>
          <a:bodyPr wrap="square" lIns="0" tIns="0" rIns="0" bIns="0" rtlCol="0"/>
          <a:lstStyle/>
          <a:p/>
        </p:txBody>
      </p:sp>
      <p:sp>
        <p:nvSpPr>
          <p:cNvPr id="24" name="object 24"/>
          <p:cNvSpPr/>
          <p:nvPr/>
        </p:nvSpPr>
        <p:spPr>
          <a:xfrm>
            <a:off x="9602469" y="6108700"/>
            <a:ext cx="223520" cy="215900"/>
          </a:xfrm>
          <a:custGeom>
            <a:avLst/>
            <a:gdLst/>
            <a:ahLst/>
            <a:cxnLst/>
            <a:rect l="l" t="t" r="r" b="b"/>
            <a:pathLst>
              <a:path w="223520" h="215900">
                <a:moveTo>
                  <a:pt x="223520" y="0"/>
                </a:moveTo>
                <a:lnTo>
                  <a:pt x="0" y="0"/>
                </a:lnTo>
                <a:lnTo>
                  <a:pt x="0" y="215900"/>
                </a:lnTo>
                <a:lnTo>
                  <a:pt x="223520" y="215900"/>
                </a:lnTo>
                <a:lnTo>
                  <a:pt x="223520" y="0"/>
                </a:lnTo>
                <a:close/>
              </a:path>
            </a:pathLst>
          </a:custGeom>
          <a:solidFill>
            <a:srgbClr val="FFFFFF"/>
          </a:solidFill>
        </p:spPr>
        <p:txBody>
          <a:bodyPr wrap="square" lIns="0" tIns="0" rIns="0" bIns="0" rtlCol="0"/>
          <a:lstStyle/>
          <a:p/>
        </p:txBody>
      </p:sp>
      <p:sp>
        <p:nvSpPr>
          <p:cNvPr id="25" name="object 25"/>
          <p:cNvSpPr/>
          <p:nvPr/>
        </p:nvSpPr>
        <p:spPr>
          <a:xfrm>
            <a:off x="9602469" y="6108700"/>
            <a:ext cx="223520" cy="215900"/>
          </a:xfrm>
          <a:custGeom>
            <a:avLst/>
            <a:gdLst/>
            <a:ahLst/>
            <a:cxnLst/>
            <a:rect l="l" t="t" r="r" b="b"/>
            <a:pathLst>
              <a:path w="223520" h="215900">
                <a:moveTo>
                  <a:pt x="111759" y="215900"/>
                </a:moveTo>
                <a:lnTo>
                  <a:pt x="0" y="215900"/>
                </a:lnTo>
                <a:lnTo>
                  <a:pt x="0" y="0"/>
                </a:lnTo>
                <a:lnTo>
                  <a:pt x="223520" y="0"/>
                </a:lnTo>
                <a:lnTo>
                  <a:pt x="223520" y="215900"/>
                </a:lnTo>
                <a:lnTo>
                  <a:pt x="111759" y="215900"/>
                </a:lnTo>
                <a:close/>
              </a:path>
            </a:pathLst>
          </a:custGeom>
          <a:ln w="9344">
            <a:solidFill>
              <a:srgbClr val="0082B6"/>
            </a:solidFill>
          </a:ln>
        </p:spPr>
        <p:txBody>
          <a:bodyPr wrap="square" lIns="0" tIns="0" rIns="0" bIns="0" rtlCol="0"/>
          <a:lstStyle/>
          <a:p/>
        </p:txBody>
      </p:sp>
      <p:sp>
        <p:nvSpPr>
          <p:cNvPr id="26" name="object 26"/>
          <p:cNvSpPr/>
          <p:nvPr/>
        </p:nvSpPr>
        <p:spPr>
          <a:xfrm>
            <a:off x="9324340" y="6108700"/>
            <a:ext cx="222250" cy="215900"/>
          </a:xfrm>
          <a:custGeom>
            <a:avLst/>
            <a:gdLst/>
            <a:ahLst/>
            <a:cxnLst/>
            <a:rect l="l" t="t" r="r" b="b"/>
            <a:pathLst>
              <a:path w="222250" h="215900">
                <a:moveTo>
                  <a:pt x="222250" y="0"/>
                </a:moveTo>
                <a:lnTo>
                  <a:pt x="0" y="0"/>
                </a:lnTo>
                <a:lnTo>
                  <a:pt x="0" y="215900"/>
                </a:lnTo>
                <a:lnTo>
                  <a:pt x="222250" y="215900"/>
                </a:lnTo>
                <a:lnTo>
                  <a:pt x="222250" y="0"/>
                </a:lnTo>
                <a:close/>
              </a:path>
            </a:pathLst>
          </a:custGeom>
          <a:solidFill>
            <a:srgbClr val="FFFFFF"/>
          </a:solidFill>
        </p:spPr>
        <p:txBody>
          <a:bodyPr wrap="square" lIns="0" tIns="0" rIns="0" bIns="0" rtlCol="0"/>
          <a:lstStyle/>
          <a:p/>
        </p:txBody>
      </p:sp>
      <p:sp>
        <p:nvSpPr>
          <p:cNvPr id="27" name="object 27"/>
          <p:cNvSpPr/>
          <p:nvPr/>
        </p:nvSpPr>
        <p:spPr>
          <a:xfrm>
            <a:off x="9324340" y="6108700"/>
            <a:ext cx="222250" cy="215900"/>
          </a:xfrm>
          <a:custGeom>
            <a:avLst/>
            <a:gdLst/>
            <a:ahLst/>
            <a:cxnLst/>
            <a:rect l="l" t="t" r="r" b="b"/>
            <a:pathLst>
              <a:path w="222250" h="215900">
                <a:moveTo>
                  <a:pt x="111759" y="215900"/>
                </a:moveTo>
                <a:lnTo>
                  <a:pt x="0" y="215900"/>
                </a:lnTo>
                <a:lnTo>
                  <a:pt x="0" y="0"/>
                </a:lnTo>
                <a:lnTo>
                  <a:pt x="222250" y="0"/>
                </a:lnTo>
                <a:lnTo>
                  <a:pt x="222250" y="215900"/>
                </a:lnTo>
                <a:lnTo>
                  <a:pt x="111759" y="215900"/>
                </a:lnTo>
                <a:close/>
              </a:path>
            </a:pathLst>
          </a:custGeom>
          <a:ln w="9344">
            <a:solidFill>
              <a:srgbClr val="0082B6"/>
            </a:solidFill>
          </a:ln>
        </p:spPr>
        <p:txBody>
          <a:bodyPr wrap="square" lIns="0" tIns="0" rIns="0" bIns="0" rtlCol="0"/>
          <a:lstStyle/>
          <a:p/>
        </p:txBody>
      </p:sp>
      <p:sp>
        <p:nvSpPr>
          <p:cNvPr id="28" name="object 28"/>
          <p:cNvSpPr/>
          <p:nvPr/>
        </p:nvSpPr>
        <p:spPr>
          <a:xfrm>
            <a:off x="9044940" y="6108700"/>
            <a:ext cx="223520" cy="215900"/>
          </a:xfrm>
          <a:custGeom>
            <a:avLst/>
            <a:gdLst/>
            <a:ahLst/>
            <a:cxnLst/>
            <a:rect l="l" t="t" r="r" b="b"/>
            <a:pathLst>
              <a:path w="223520" h="215900">
                <a:moveTo>
                  <a:pt x="223519" y="0"/>
                </a:moveTo>
                <a:lnTo>
                  <a:pt x="0" y="0"/>
                </a:lnTo>
                <a:lnTo>
                  <a:pt x="0" y="215900"/>
                </a:lnTo>
                <a:lnTo>
                  <a:pt x="223519" y="215900"/>
                </a:lnTo>
                <a:lnTo>
                  <a:pt x="223519" y="0"/>
                </a:lnTo>
                <a:close/>
              </a:path>
            </a:pathLst>
          </a:custGeom>
          <a:solidFill>
            <a:srgbClr val="FFFFFF"/>
          </a:solidFill>
        </p:spPr>
        <p:txBody>
          <a:bodyPr wrap="square" lIns="0" tIns="0" rIns="0" bIns="0" rtlCol="0"/>
          <a:lstStyle/>
          <a:p/>
        </p:txBody>
      </p:sp>
      <p:sp>
        <p:nvSpPr>
          <p:cNvPr id="29" name="object 29"/>
          <p:cNvSpPr/>
          <p:nvPr/>
        </p:nvSpPr>
        <p:spPr>
          <a:xfrm>
            <a:off x="9044940" y="6108700"/>
            <a:ext cx="223520" cy="215900"/>
          </a:xfrm>
          <a:custGeom>
            <a:avLst/>
            <a:gdLst/>
            <a:ahLst/>
            <a:cxnLst/>
            <a:rect l="l" t="t" r="r" b="b"/>
            <a:pathLst>
              <a:path w="223520" h="215900">
                <a:moveTo>
                  <a:pt x="111759" y="215900"/>
                </a:moveTo>
                <a:lnTo>
                  <a:pt x="0" y="215900"/>
                </a:lnTo>
                <a:lnTo>
                  <a:pt x="0" y="0"/>
                </a:lnTo>
                <a:lnTo>
                  <a:pt x="223519" y="0"/>
                </a:lnTo>
                <a:lnTo>
                  <a:pt x="223519" y="215900"/>
                </a:lnTo>
                <a:lnTo>
                  <a:pt x="111759" y="215900"/>
                </a:lnTo>
                <a:close/>
              </a:path>
            </a:pathLst>
          </a:custGeom>
          <a:ln w="9344">
            <a:solidFill>
              <a:srgbClr val="0082B6"/>
            </a:solidFill>
          </a:ln>
        </p:spPr>
        <p:txBody>
          <a:bodyPr wrap="square" lIns="0" tIns="0" rIns="0" bIns="0" rtlCol="0"/>
          <a:lstStyle/>
          <a:p/>
        </p:txBody>
      </p:sp>
      <p:sp>
        <p:nvSpPr>
          <p:cNvPr id="30" name="object 30"/>
          <p:cNvSpPr/>
          <p:nvPr/>
        </p:nvSpPr>
        <p:spPr>
          <a:xfrm>
            <a:off x="8766809" y="6108700"/>
            <a:ext cx="222250" cy="215900"/>
          </a:xfrm>
          <a:custGeom>
            <a:avLst/>
            <a:gdLst/>
            <a:ahLst/>
            <a:cxnLst/>
            <a:rect l="l" t="t" r="r" b="b"/>
            <a:pathLst>
              <a:path w="222250" h="215900">
                <a:moveTo>
                  <a:pt x="222250" y="0"/>
                </a:moveTo>
                <a:lnTo>
                  <a:pt x="0" y="0"/>
                </a:lnTo>
                <a:lnTo>
                  <a:pt x="0" y="215900"/>
                </a:lnTo>
                <a:lnTo>
                  <a:pt x="222250" y="215900"/>
                </a:lnTo>
                <a:lnTo>
                  <a:pt x="222250" y="0"/>
                </a:lnTo>
                <a:close/>
              </a:path>
            </a:pathLst>
          </a:custGeom>
          <a:solidFill>
            <a:srgbClr val="FFFFFF"/>
          </a:solidFill>
        </p:spPr>
        <p:txBody>
          <a:bodyPr wrap="square" lIns="0" tIns="0" rIns="0" bIns="0" rtlCol="0"/>
          <a:lstStyle/>
          <a:p/>
        </p:txBody>
      </p:sp>
      <p:sp>
        <p:nvSpPr>
          <p:cNvPr id="31" name="object 31"/>
          <p:cNvSpPr/>
          <p:nvPr/>
        </p:nvSpPr>
        <p:spPr>
          <a:xfrm>
            <a:off x="8766809" y="6108700"/>
            <a:ext cx="222250" cy="215900"/>
          </a:xfrm>
          <a:custGeom>
            <a:avLst/>
            <a:gdLst/>
            <a:ahLst/>
            <a:cxnLst/>
            <a:rect l="l" t="t" r="r" b="b"/>
            <a:pathLst>
              <a:path w="222250" h="215900">
                <a:moveTo>
                  <a:pt x="111760" y="215900"/>
                </a:moveTo>
                <a:lnTo>
                  <a:pt x="0" y="215900"/>
                </a:lnTo>
                <a:lnTo>
                  <a:pt x="0" y="0"/>
                </a:lnTo>
                <a:lnTo>
                  <a:pt x="222250" y="0"/>
                </a:lnTo>
                <a:lnTo>
                  <a:pt x="222250" y="215900"/>
                </a:lnTo>
                <a:lnTo>
                  <a:pt x="111760" y="215900"/>
                </a:lnTo>
                <a:close/>
              </a:path>
            </a:pathLst>
          </a:custGeom>
          <a:ln w="9344">
            <a:solidFill>
              <a:srgbClr val="0082B6"/>
            </a:solidFill>
          </a:ln>
        </p:spPr>
        <p:txBody>
          <a:bodyPr wrap="square" lIns="0" tIns="0" rIns="0" bIns="0" rtlCol="0"/>
          <a:lstStyle/>
          <a:p/>
        </p:txBody>
      </p:sp>
      <p:sp>
        <p:nvSpPr>
          <p:cNvPr id="32" name="object 32"/>
          <p:cNvSpPr/>
          <p:nvPr/>
        </p:nvSpPr>
        <p:spPr>
          <a:xfrm>
            <a:off x="5981700" y="5078729"/>
            <a:ext cx="2061210" cy="0"/>
          </a:xfrm>
          <a:custGeom>
            <a:avLst/>
            <a:gdLst/>
            <a:ahLst/>
            <a:cxnLst/>
            <a:rect l="l" t="t" r="r" b="b"/>
            <a:pathLst>
              <a:path w="2061209">
                <a:moveTo>
                  <a:pt x="0" y="0"/>
                </a:moveTo>
                <a:lnTo>
                  <a:pt x="2061209" y="0"/>
                </a:lnTo>
              </a:path>
            </a:pathLst>
          </a:custGeom>
          <a:ln w="28575" cmpd="sng">
            <a:solidFill>
              <a:srgbClr val="FF0000"/>
            </a:solidFill>
            <a:prstDash val="solid"/>
          </a:ln>
        </p:spPr>
        <p:txBody>
          <a:bodyPr wrap="square" lIns="0" tIns="0" rIns="0" bIns="0" rtlCol="0"/>
          <a:lstStyle/>
          <a:p/>
        </p:txBody>
      </p:sp>
      <p:sp>
        <p:nvSpPr>
          <p:cNvPr id="33" name="object 33"/>
          <p:cNvSpPr/>
          <p:nvPr/>
        </p:nvSpPr>
        <p:spPr>
          <a:xfrm>
            <a:off x="6315709" y="5458459"/>
            <a:ext cx="2061210" cy="0"/>
          </a:xfrm>
          <a:custGeom>
            <a:avLst/>
            <a:gdLst/>
            <a:ahLst/>
            <a:cxnLst/>
            <a:rect l="l" t="t" r="r" b="b"/>
            <a:pathLst>
              <a:path w="2061209">
                <a:moveTo>
                  <a:pt x="0" y="0"/>
                </a:moveTo>
                <a:lnTo>
                  <a:pt x="2061210" y="0"/>
                </a:lnTo>
              </a:path>
            </a:pathLst>
          </a:custGeom>
          <a:ln w="25400">
            <a:solidFill>
              <a:srgbClr val="FF0000"/>
            </a:solidFill>
          </a:ln>
        </p:spPr>
        <p:txBody>
          <a:bodyPr wrap="square" lIns="0" tIns="0" rIns="0" bIns="0" rtlCol="0"/>
          <a:lstStyle/>
          <a:p/>
        </p:txBody>
      </p:sp>
      <p:sp>
        <p:nvSpPr>
          <p:cNvPr id="34" name="object 34"/>
          <p:cNvSpPr/>
          <p:nvPr/>
        </p:nvSpPr>
        <p:spPr>
          <a:xfrm>
            <a:off x="8210550" y="6000750"/>
            <a:ext cx="1615440" cy="0"/>
          </a:xfrm>
          <a:custGeom>
            <a:avLst/>
            <a:gdLst/>
            <a:ahLst/>
            <a:cxnLst/>
            <a:rect l="l" t="t" r="r" b="b"/>
            <a:pathLst>
              <a:path w="1615440">
                <a:moveTo>
                  <a:pt x="0" y="0"/>
                </a:moveTo>
                <a:lnTo>
                  <a:pt x="1615440" y="0"/>
                </a:lnTo>
              </a:path>
            </a:pathLst>
          </a:custGeom>
          <a:ln w="25400">
            <a:solidFill>
              <a:srgbClr val="FF0000">
                <a:alpha val="99000"/>
              </a:srgbClr>
            </a:solidFill>
          </a:ln>
        </p:spPr>
        <p:txBody>
          <a:bodyPr wrap="square" lIns="0" tIns="0" rIns="0" bIns="0" rtlCol="0"/>
          <a:lstStyle/>
          <a:p/>
        </p:txBody>
      </p:sp>
      <p:sp>
        <p:nvSpPr>
          <p:cNvPr id="35" name="object 35"/>
          <p:cNvSpPr/>
          <p:nvPr/>
        </p:nvSpPr>
        <p:spPr>
          <a:xfrm>
            <a:off x="8766809" y="4320540"/>
            <a:ext cx="835660" cy="758190"/>
          </a:xfrm>
          <a:custGeom>
            <a:avLst/>
            <a:gdLst/>
            <a:ahLst/>
            <a:cxnLst/>
            <a:rect l="l" t="t" r="r" b="b"/>
            <a:pathLst>
              <a:path w="835659" h="758189">
                <a:moveTo>
                  <a:pt x="835660" y="0"/>
                </a:moveTo>
                <a:lnTo>
                  <a:pt x="0" y="0"/>
                </a:lnTo>
                <a:lnTo>
                  <a:pt x="0" y="758190"/>
                </a:lnTo>
                <a:lnTo>
                  <a:pt x="835660" y="758190"/>
                </a:lnTo>
                <a:lnTo>
                  <a:pt x="835660" y="0"/>
                </a:lnTo>
                <a:close/>
              </a:path>
            </a:pathLst>
          </a:custGeom>
          <a:solidFill>
            <a:srgbClr val="007F7F"/>
          </a:solidFill>
          <a:ln w="25400" cmpd="sng">
            <a:solidFill>
              <a:srgbClr val="FF0000"/>
            </a:solidFill>
            <a:prstDash val="solid"/>
          </a:ln>
        </p:spPr>
        <p:txBody>
          <a:bodyPr wrap="square" lIns="0" tIns="0" rIns="0" bIns="0" rtlCol="0"/>
          <a:lstStyle/>
          <a:p/>
        </p:txBody>
      </p:sp>
      <p:sp>
        <p:nvSpPr>
          <p:cNvPr id="36" name="object 36"/>
          <p:cNvSpPr/>
          <p:nvPr/>
        </p:nvSpPr>
        <p:spPr>
          <a:xfrm>
            <a:off x="8766809" y="4320540"/>
            <a:ext cx="835660" cy="758190"/>
          </a:xfrm>
          <a:custGeom>
            <a:avLst/>
            <a:gdLst/>
            <a:ahLst/>
            <a:cxnLst/>
            <a:rect l="l" t="t" r="r" b="b"/>
            <a:pathLst>
              <a:path w="835659" h="758189">
                <a:moveTo>
                  <a:pt x="417830" y="758190"/>
                </a:moveTo>
                <a:lnTo>
                  <a:pt x="0" y="758190"/>
                </a:lnTo>
                <a:lnTo>
                  <a:pt x="0" y="0"/>
                </a:lnTo>
                <a:lnTo>
                  <a:pt x="835660" y="0"/>
                </a:lnTo>
                <a:lnTo>
                  <a:pt x="835660" y="758190"/>
                </a:lnTo>
                <a:lnTo>
                  <a:pt x="417830" y="758190"/>
                </a:lnTo>
                <a:close/>
              </a:path>
            </a:pathLst>
          </a:custGeom>
          <a:ln w="9344">
            <a:solidFill>
              <a:srgbClr val="0082B6"/>
            </a:solidFill>
          </a:ln>
        </p:spPr>
        <p:txBody>
          <a:bodyPr wrap="square" lIns="0" tIns="0" rIns="0" bIns="0" rtlCol="0"/>
          <a:lstStyle/>
          <a:p/>
        </p:txBody>
      </p:sp>
      <p:sp>
        <p:nvSpPr>
          <p:cNvPr id="37" name="object 37"/>
          <p:cNvSpPr/>
          <p:nvPr/>
        </p:nvSpPr>
        <p:spPr>
          <a:xfrm>
            <a:off x="1860550" y="3651250"/>
            <a:ext cx="2434590" cy="1554480"/>
          </a:xfrm>
          <a:custGeom>
            <a:avLst/>
            <a:gdLst/>
            <a:ahLst/>
            <a:cxnLst/>
            <a:rect l="l" t="t" r="r" b="b"/>
            <a:pathLst>
              <a:path w="2434590" h="1554479">
                <a:moveTo>
                  <a:pt x="1557678" y="1403350"/>
                </a:moveTo>
                <a:lnTo>
                  <a:pt x="924560" y="1403350"/>
                </a:lnTo>
                <a:lnTo>
                  <a:pt x="957802" y="1440913"/>
                </a:lnTo>
                <a:lnTo>
                  <a:pt x="996109" y="1473855"/>
                </a:lnTo>
                <a:lnTo>
                  <a:pt x="1038793" y="1501754"/>
                </a:lnTo>
                <a:lnTo>
                  <a:pt x="1085165" y="1524188"/>
                </a:lnTo>
                <a:lnTo>
                  <a:pt x="1134535" y="1540735"/>
                </a:lnTo>
                <a:lnTo>
                  <a:pt x="1186217" y="1550973"/>
                </a:lnTo>
                <a:lnTo>
                  <a:pt x="1239520" y="1554480"/>
                </a:lnTo>
                <a:lnTo>
                  <a:pt x="1289193" y="1551602"/>
                </a:lnTo>
                <a:lnTo>
                  <a:pt x="1337289" y="1543192"/>
                </a:lnTo>
                <a:lnTo>
                  <a:pt x="1383297" y="1529585"/>
                </a:lnTo>
                <a:lnTo>
                  <a:pt x="1426707" y="1511117"/>
                </a:lnTo>
                <a:lnTo>
                  <a:pt x="1467008" y="1488122"/>
                </a:lnTo>
                <a:lnTo>
                  <a:pt x="1503690" y="1460936"/>
                </a:lnTo>
                <a:lnTo>
                  <a:pt x="1536241" y="1429895"/>
                </a:lnTo>
                <a:lnTo>
                  <a:pt x="1557678" y="1403350"/>
                </a:lnTo>
                <a:close/>
              </a:path>
              <a:path w="2434590" h="1554479">
                <a:moveTo>
                  <a:pt x="593090" y="140969"/>
                </a:moveTo>
                <a:lnTo>
                  <a:pt x="544826" y="144115"/>
                </a:lnTo>
                <a:lnTo>
                  <a:pt x="497218" y="153241"/>
                </a:lnTo>
                <a:lnTo>
                  <a:pt x="450966" y="167877"/>
                </a:lnTo>
                <a:lnTo>
                  <a:pt x="406771" y="187557"/>
                </a:lnTo>
                <a:lnTo>
                  <a:pt x="365333" y="211811"/>
                </a:lnTo>
                <a:lnTo>
                  <a:pt x="327354" y="240172"/>
                </a:lnTo>
                <a:lnTo>
                  <a:pt x="293533" y="272171"/>
                </a:lnTo>
                <a:lnTo>
                  <a:pt x="264571" y="307340"/>
                </a:lnTo>
                <a:lnTo>
                  <a:pt x="241168" y="345211"/>
                </a:lnTo>
                <a:lnTo>
                  <a:pt x="224026" y="385316"/>
                </a:lnTo>
                <a:lnTo>
                  <a:pt x="213846" y="427186"/>
                </a:lnTo>
                <a:lnTo>
                  <a:pt x="211326" y="470353"/>
                </a:lnTo>
                <a:lnTo>
                  <a:pt x="217170" y="514350"/>
                </a:lnTo>
                <a:lnTo>
                  <a:pt x="166351" y="524369"/>
                </a:lnTo>
                <a:lnTo>
                  <a:pt x="120242" y="542875"/>
                </a:lnTo>
                <a:lnTo>
                  <a:pt x="79976" y="568867"/>
                </a:lnTo>
                <a:lnTo>
                  <a:pt x="46686" y="601346"/>
                </a:lnTo>
                <a:lnTo>
                  <a:pt x="21504" y="639313"/>
                </a:lnTo>
                <a:lnTo>
                  <a:pt x="5565" y="681767"/>
                </a:lnTo>
                <a:lnTo>
                  <a:pt x="0" y="727710"/>
                </a:lnTo>
                <a:lnTo>
                  <a:pt x="4988" y="773419"/>
                </a:lnTo>
                <a:lnTo>
                  <a:pt x="19791" y="815411"/>
                </a:lnTo>
                <a:lnTo>
                  <a:pt x="44165" y="852708"/>
                </a:lnTo>
                <a:lnTo>
                  <a:pt x="77866" y="884336"/>
                </a:lnTo>
                <a:lnTo>
                  <a:pt x="120650" y="909319"/>
                </a:lnTo>
                <a:lnTo>
                  <a:pt x="92114" y="941407"/>
                </a:lnTo>
                <a:lnTo>
                  <a:pt x="71437" y="976471"/>
                </a:lnTo>
                <a:lnTo>
                  <a:pt x="58856" y="1014154"/>
                </a:lnTo>
                <a:lnTo>
                  <a:pt x="54610" y="1054100"/>
                </a:lnTo>
                <a:lnTo>
                  <a:pt x="58891" y="1097128"/>
                </a:lnTo>
                <a:lnTo>
                  <a:pt x="71715" y="1137106"/>
                </a:lnTo>
                <a:lnTo>
                  <a:pt x="93052" y="1173244"/>
                </a:lnTo>
                <a:lnTo>
                  <a:pt x="122872" y="1204753"/>
                </a:lnTo>
                <a:lnTo>
                  <a:pt x="161146" y="1230845"/>
                </a:lnTo>
                <a:lnTo>
                  <a:pt x="207843" y="1250731"/>
                </a:lnTo>
                <a:lnTo>
                  <a:pt x="262934" y="1263622"/>
                </a:lnTo>
                <a:lnTo>
                  <a:pt x="326390" y="1268730"/>
                </a:lnTo>
                <a:lnTo>
                  <a:pt x="354209" y="1306370"/>
                </a:lnTo>
                <a:lnTo>
                  <a:pt x="386576" y="1340403"/>
                </a:lnTo>
                <a:lnTo>
                  <a:pt x="423051" y="1370612"/>
                </a:lnTo>
                <a:lnTo>
                  <a:pt x="463194" y="1396775"/>
                </a:lnTo>
                <a:lnTo>
                  <a:pt x="506567" y="1418673"/>
                </a:lnTo>
                <a:lnTo>
                  <a:pt x="552732" y="1436087"/>
                </a:lnTo>
                <a:lnTo>
                  <a:pt x="601248" y="1448798"/>
                </a:lnTo>
                <a:lnTo>
                  <a:pt x="651677" y="1456585"/>
                </a:lnTo>
                <a:lnTo>
                  <a:pt x="703580" y="1459230"/>
                </a:lnTo>
                <a:lnTo>
                  <a:pt x="781508" y="1457560"/>
                </a:lnTo>
                <a:lnTo>
                  <a:pt x="830862" y="1452644"/>
                </a:lnTo>
                <a:lnTo>
                  <a:pt x="860742" y="1444625"/>
                </a:lnTo>
                <a:lnTo>
                  <a:pt x="880251" y="1433641"/>
                </a:lnTo>
                <a:lnTo>
                  <a:pt x="898489" y="1419836"/>
                </a:lnTo>
                <a:lnTo>
                  <a:pt x="924560" y="1403350"/>
                </a:lnTo>
                <a:lnTo>
                  <a:pt x="1557678" y="1403350"/>
                </a:lnTo>
                <a:lnTo>
                  <a:pt x="1564152" y="1395333"/>
                </a:lnTo>
                <a:lnTo>
                  <a:pt x="1586911" y="1357586"/>
                </a:lnTo>
                <a:lnTo>
                  <a:pt x="1604010" y="1316989"/>
                </a:lnTo>
                <a:lnTo>
                  <a:pt x="1951410" y="1316989"/>
                </a:lnTo>
                <a:lnTo>
                  <a:pt x="2006917" y="1279525"/>
                </a:lnTo>
                <a:lnTo>
                  <a:pt x="2039345" y="1246774"/>
                </a:lnTo>
                <a:lnTo>
                  <a:pt x="2065708" y="1209847"/>
                </a:lnTo>
                <a:lnTo>
                  <a:pt x="2085350" y="1169294"/>
                </a:lnTo>
                <a:lnTo>
                  <a:pt x="2097615" y="1125661"/>
                </a:lnTo>
                <a:lnTo>
                  <a:pt x="2101850" y="1079500"/>
                </a:lnTo>
                <a:lnTo>
                  <a:pt x="2151678" y="1070151"/>
                </a:lnTo>
                <a:lnTo>
                  <a:pt x="2199016" y="1055529"/>
                </a:lnTo>
                <a:lnTo>
                  <a:pt x="2243389" y="1036029"/>
                </a:lnTo>
                <a:lnTo>
                  <a:pt x="2284321" y="1012047"/>
                </a:lnTo>
                <a:lnTo>
                  <a:pt x="2321337" y="983978"/>
                </a:lnTo>
                <a:lnTo>
                  <a:pt x="2353962" y="952215"/>
                </a:lnTo>
                <a:lnTo>
                  <a:pt x="2381721" y="917155"/>
                </a:lnTo>
                <a:lnTo>
                  <a:pt x="2404138" y="879193"/>
                </a:lnTo>
                <a:lnTo>
                  <a:pt x="2420739" y="838722"/>
                </a:lnTo>
                <a:lnTo>
                  <a:pt x="2431048" y="796140"/>
                </a:lnTo>
                <a:lnTo>
                  <a:pt x="2434590" y="751839"/>
                </a:lnTo>
                <a:lnTo>
                  <a:pt x="2430719" y="708660"/>
                </a:lnTo>
                <a:lnTo>
                  <a:pt x="2419471" y="666394"/>
                </a:lnTo>
                <a:lnTo>
                  <a:pt x="2401397" y="625652"/>
                </a:lnTo>
                <a:lnTo>
                  <a:pt x="2377043" y="587044"/>
                </a:lnTo>
                <a:lnTo>
                  <a:pt x="2346960" y="551180"/>
                </a:lnTo>
                <a:lnTo>
                  <a:pt x="2358965" y="525978"/>
                </a:lnTo>
                <a:lnTo>
                  <a:pt x="2366803" y="500062"/>
                </a:lnTo>
                <a:lnTo>
                  <a:pt x="2371070" y="473670"/>
                </a:lnTo>
                <a:lnTo>
                  <a:pt x="2372360" y="447039"/>
                </a:lnTo>
                <a:lnTo>
                  <a:pt x="2368180" y="403572"/>
                </a:lnTo>
                <a:lnTo>
                  <a:pt x="2356068" y="362188"/>
                </a:lnTo>
                <a:lnTo>
                  <a:pt x="2336663" y="323542"/>
                </a:lnTo>
                <a:lnTo>
                  <a:pt x="2310606" y="288289"/>
                </a:lnTo>
                <a:lnTo>
                  <a:pt x="2278536" y="257085"/>
                </a:lnTo>
                <a:lnTo>
                  <a:pt x="2241093" y="230584"/>
                </a:lnTo>
                <a:lnTo>
                  <a:pt x="2198918" y="209440"/>
                </a:lnTo>
                <a:lnTo>
                  <a:pt x="2152650" y="194310"/>
                </a:lnTo>
                <a:lnTo>
                  <a:pt x="2150316" y="186689"/>
                </a:lnTo>
                <a:lnTo>
                  <a:pt x="784860" y="186689"/>
                </a:lnTo>
                <a:lnTo>
                  <a:pt x="740787" y="167580"/>
                </a:lnTo>
                <a:lnTo>
                  <a:pt x="693261" y="152876"/>
                </a:lnTo>
                <a:lnTo>
                  <a:pt x="643592" y="143648"/>
                </a:lnTo>
                <a:lnTo>
                  <a:pt x="593090" y="140969"/>
                </a:lnTo>
                <a:close/>
              </a:path>
              <a:path w="2434590" h="1554479">
                <a:moveTo>
                  <a:pt x="1951410" y="1316989"/>
                </a:moveTo>
                <a:lnTo>
                  <a:pt x="1604010" y="1316989"/>
                </a:lnTo>
                <a:lnTo>
                  <a:pt x="1644213" y="1336258"/>
                </a:lnTo>
                <a:lnTo>
                  <a:pt x="1686560" y="1350168"/>
                </a:lnTo>
                <a:lnTo>
                  <a:pt x="1730811" y="1358602"/>
                </a:lnTo>
                <a:lnTo>
                  <a:pt x="1776730" y="1361439"/>
                </a:lnTo>
                <a:lnTo>
                  <a:pt x="1829655" y="1357797"/>
                </a:lnTo>
                <a:lnTo>
                  <a:pt x="1879793" y="1347236"/>
                </a:lnTo>
                <a:lnTo>
                  <a:pt x="1926485" y="1330304"/>
                </a:lnTo>
                <a:lnTo>
                  <a:pt x="1951410" y="1316989"/>
                </a:lnTo>
                <a:close/>
              </a:path>
              <a:path w="2434590" h="1554479">
                <a:moveTo>
                  <a:pt x="1052830" y="45719"/>
                </a:moveTo>
                <a:lnTo>
                  <a:pt x="997526" y="50076"/>
                </a:lnTo>
                <a:lnTo>
                  <a:pt x="945256" y="62794"/>
                </a:lnTo>
                <a:lnTo>
                  <a:pt x="896937" y="83343"/>
                </a:lnTo>
                <a:lnTo>
                  <a:pt x="853487" y="111195"/>
                </a:lnTo>
                <a:lnTo>
                  <a:pt x="815822" y="145820"/>
                </a:lnTo>
                <a:lnTo>
                  <a:pt x="784860" y="186689"/>
                </a:lnTo>
                <a:lnTo>
                  <a:pt x="2150316" y="186689"/>
                </a:lnTo>
                <a:lnTo>
                  <a:pt x="2140044" y="153144"/>
                </a:lnTo>
                <a:lnTo>
                  <a:pt x="2123239" y="121919"/>
                </a:lnTo>
                <a:lnTo>
                  <a:pt x="1262380" y="121919"/>
                </a:lnTo>
                <a:lnTo>
                  <a:pt x="1226322" y="96194"/>
                </a:lnTo>
                <a:lnTo>
                  <a:pt x="1186058" y="75529"/>
                </a:lnTo>
                <a:lnTo>
                  <a:pt x="1142867" y="60106"/>
                </a:lnTo>
                <a:lnTo>
                  <a:pt x="1098031" y="50109"/>
                </a:lnTo>
                <a:lnTo>
                  <a:pt x="1052830" y="45719"/>
                </a:lnTo>
                <a:close/>
              </a:path>
              <a:path w="2434590" h="1554479">
                <a:moveTo>
                  <a:pt x="1482089" y="0"/>
                </a:moveTo>
                <a:lnTo>
                  <a:pt x="1427540" y="5242"/>
                </a:lnTo>
                <a:lnTo>
                  <a:pt x="1376405" y="20604"/>
                </a:lnTo>
                <a:lnTo>
                  <a:pt x="1330573" y="45537"/>
                </a:lnTo>
                <a:lnTo>
                  <a:pt x="1291935" y="79491"/>
                </a:lnTo>
                <a:lnTo>
                  <a:pt x="1262380" y="121919"/>
                </a:lnTo>
                <a:lnTo>
                  <a:pt x="2123239" y="121919"/>
                </a:lnTo>
                <a:lnTo>
                  <a:pt x="2119907" y="115728"/>
                </a:lnTo>
                <a:lnTo>
                  <a:pt x="2093044" y="82599"/>
                </a:lnTo>
                <a:lnTo>
                  <a:pt x="1675130" y="82550"/>
                </a:lnTo>
                <a:lnTo>
                  <a:pt x="1637109" y="48220"/>
                </a:lnTo>
                <a:lnTo>
                  <a:pt x="1590992" y="22225"/>
                </a:lnTo>
                <a:lnTo>
                  <a:pt x="1538684" y="5754"/>
                </a:lnTo>
                <a:lnTo>
                  <a:pt x="1482089" y="0"/>
                </a:lnTo>
                <a:close/>
              </a:path>
              <a:path w="2434590" h="1554479">
                <a:moveTo>
                  <a:pt x="1885950" y="0"/>
                </a:moveTo>
                <a:lnTo>
                  <a:pt x="1837811" y="3586"/>
                </a:lnTo>
                <a:lnTo>
                  <a:pt x="1791624" y="14061"/>
                </a:lnTo>
                <a:lnTo>
                  <a:pt x="1748424" y="30998"/>
                </a:lnTo>
                <a:lnTo>
                  <a:pt x="1709247" y="53969"/>
                </a:lnTo>
                <a:lnTo>
                  <a:pt x="1675130" y="82550"/>
                </a:lnTo>
                <a:lnTo>
                  <a:pt x="2092986" y="82550"/>
                </a:lnTo>
                <a:lnTo>
                  <a:pt x="2060257" y="54292"/>
                </a:lnTo>
                <a:lnTo>
                  <a:pt x="2022350" y="31343"/>
                </a:lnTo>
                <a:lnTo>
                  <a:pt x="1980128" y="14287"/>
                </a:lnTo>
                <a:lnTo>
                  <a:pt x="1934393" y="3661"/>
                </a:lnTo>
                <a:lnTo>
                  <a:pt x="1885950" y="0"/>
                </a:lnTo>
                <a:close/>
              </a:path>
            </a:pathLst>
          </a:custGeom>
          <a:solidFill>
            <a:srgbClr val="CC99FF">
              <a:alpha val="23999"/>
            </a:srgbClr>
          </a:solidFill>
        </p:spPr>
        <p:txBody>
          <a:bodyPr wrap="square" lIns="0" tIns="0" rIns="0" bIns="0" rtlCol="0"/>
          <a:lstStyle/>
          <a:p/>
        </p:txBody>
      </p:sp>
      <p:sp>
        <p:nvSpPr>
          <p:cNvPr id="38" name="object 38"/>
          <p:cNvSpPr/>
          <p:nvPr/>
        </p:nvSpPr>
        <p:spPr>
          <a:xfrm>
            <a:off x="1860550" y="3651250"/>
            <a:ext cx="2434590" cy="1554480"/>
          </a:xfrm>
          <a:custGeom>
            <a:avLst/>
            <a:gdLst/>
            <a:ahLst/>
            <a:cxnLst/>
            <a:rect l="l" t="t" r="r" b="b"/>
            <a:pathLst>
              <a:path w="2434590" h="1554479">
                <a:moveTo>
                  <a:pt x="217170" y="514350"/>
                </a:moveTo>
                <a:lnTo>
                  <a:pt x="211326" y="470353"/>
                </a:lnTo>
                <a:lnTo>
                  <a:pt x="213846" y="427186"/>
                </a:lnTo>
                <a:lnTo>
                  <a:pt x="224026" y="385316"/>
                </a:lnTo>
                <a:lnTo>
                  <a:pt x="241168" y="345211"/>
                </a:lnTo>
                <a:lnTo>
                  <a:pt x="264571" y="307340"/>
                </a:lnTo>
                <a:lnTo>
                  <a:pt x="293533" y="272171"/>
                </a:lnTo>
                <a:lnTo>
                  <a:pt x="327354" y="240172"/>
                </a:lnTo>
                <a:lnTo>
                  <a:pt x="365333" y="211811"/>
                </a:lnTo>
                <a:lnTo>
                  <a:pt x="406771" y="187557"/>
                </a:lnTo>
                <a:lnTo>
                  <a:pt x="450966" y="167877"/>
                </a:lnTo>
                <a:lnTo>
                  <a:pt x="497218" y="153241"/>
                </a:lnTo>
                <a:lnTo>
                  <a:pt x="544826" y="144115"/>
                </a:lnTo>
                <a:lnTo>
                  <a:pt x="593090" y="140969"/>
                </a:lnTo>
                <a:lnTo>
                  <a:pt x="643592" y="143648"/>
                </a:lnTo>
                <a:lnTo>
                  <a:pt x="693261" y="152876"/>
                </a:lnTo>
                <a:lnTo>
                  <a:pt x="740787" y="167580"/>
                </a:lnTo>
                <a:lnTo>
                  <a:pt x="784860" y="186689"/>
                </a:lnTo>
                <a:lnTo>
                  <a:pt x="815822" y="145820"/>
                </a:lnTo>
                <a:lnTo>
                  <a:pt x="853487" y="111195"/>
                </a:lnTo>
                <a:lnTo>
                  <a:pt x="896937" y="83343"/>
                </a:lnTo>
                <a:lnTo>
                  <a:pt x="945256" y="62794"/>
                </a:lnTo>
                <a:lnTo>
                  <a:pt x="997526" y="50076"/>
                </a:lnTo>
                <a:lnTo>
                  <a:pt x="1052830" y="45719"/>
                </a:lnTo>
                <a:lnTo>
                  <a:pt x="1098031" y="50109"/>
                </a:lnTo>
                <a:lnTo>
                  <a:pt x="1142867" y="60106"/>
                </a:lnTo>
                <a:lnTo>
                  <a:pt x="1186058" y="75529"/>
                </a:lnTo>
                <a:lnTo>
                  <a:pt x="1226322" y="96194"/>
                </a:lnTo>
                <a:lnTo>
                  <a:pt x="1262380" y="121919"/>
                </a:lnTo>
                <a:lnTo>
                  <a:pt x="1291935" y="79491"/>
                </a:lnTo>
                <a:lnTo>
                  <a:pt x="1330573" y="45537"/>
                </a:lnTo>
                <a:lnTo>
                  <a:pt x="1376405" y="20604"/>
                </a:lnTo>
                <a:lnTo>
                  <a:pt x="1427540" y="5242"/>
                </a:lnTo>
                <a:lnTo>
                  <a:pt x="1482089" y="0"/>
                </a:lnTo>
                <a:lnTo>
                  <a:pt x="1538684" y="5754"/>
                </a:lnTo>
                <a:lnTo>
                  <a:pt x="1590992" y="22225"/>
                </a:lnTo>
                <a:lnTo>
                  <a:pt x="1637109" y="48220"/>
                </a:lnTo>
                <a:lnTo>
                  <a:pt x="1675130" y="82550"/>
                </a:lnTo>
                <a:lnTo>
                  <a:pt x="1709247" y="53969"/>
                </a:lnTo>
                <a:lnTo>
                  <a:pt x="1748424" y="30998"/>
                </a:lnTo>
                <a:lnTo>
                  <a:pt x="1791624" y="14061"/>
                </a:lnTo>
                <a:lnTo>
                  <a:pt x="1837811" y="3586"/>
                </a:lnTo>
                <a:lnTo>
                  <a:pt x="1885950" y="0"/>
                </a:lnTo>
                <a:lnTo>
                  <a:pt x="1934393" y="3661"/>
                </a:lnTo>
                <a:lnTo>
                  <a:pt x="1980128" y="14287"/>
                </a:lnTo>
                <a:lnTo>
                  <a:pt x="2022350" y="31343"/>
                </a:lnTo>
                <a:lnTo>
                  <a:pt x="2060257" y="54292"/>
                </a:lnTo>
                <a:lnTo>
                  <a:pt x="2093044" y="82599"/>
                </a:lnTo>
                <a:lnTo>
                  <a:pt x="2119907" y="115728"/>
                </a:lnTo>
                <a:lnTo>
                  <a:pt x="2140044" y="153144"/>
                </a:lnTo>
                <a:lnTo>
                  <a:pt x="2152650" y="194310"/>
                </a:lnTo>
                <a:lnTo>
                  <a:pt x="2198918" y="209440"/>
                </a:lnTo>
                <a:lnTo>
                  <a:pt x="2241093" y="230584"/>
                </a:lnTo>
                <a:lnTo>
                  <a:pt x="2278536" y="257085"/>
                </a:lnTo>
                <a:lnTo>
                  <a:pt x="2310606" y="288289"/>
                </a:lnTo>
                <a:lnTo>
                  <a:pt x="2336663" y="323542"/>
                </a:lnTo>
                <a:lnTo>
                  <a:pt x="2356068" y="362188"/>
                </a:lnTo>
                <a:lnTo>
                  <a:pt x="2368180" y="403572"/>
                </a:lnTo>
                <a:lnTo>
                  <a:pt x="2372360" y="447039"/>
                </a:lnTo>
                <a:lnTo>
                  <a:pt x="2371070" y="473670"/>
                </a:lnTo>
                <a:lnTo>
                  <a:pt x="2366803" y="500062"/>
                </a:lnTo>
                <a:lnTo>
                  <a:pt x="2358965" y="525978"/>
                </a:lnTo>
                <a:lnTo>
                  <a:pt x="2346960" y="551180"/>
                </a:lnTo>
                <a:lnTo>
                  <a:pt x="2377043" y="587044"/>
                </a:lnTo>
                <a:lnTo>
                  <a:pt x="2401397" y="625652"/>
                </a:lnTo>
                <a:lnTo>
                  <a:pt x="2419471" y="666394"/>
                </a:lnTo>
                <a:lnTo>
                  <a:pt x="2430719" y="708660"/>
                </a:lnTo>
                <a:lnTo>
                  <a:pt x="2434590" y="751839"/>
                </a:lnTo>
                <a:lnTo>
                  <a:pt x="2431048" y="796140"/>
                </a:lnTo>
                <a:lnTo>
                  <a:pt x="2420739" y="838722"/>
                </a:lnTo>
                <a:lnTo>
                  <a:pt x="2404138" y="879193"/>
                </a:lnTo>
                <a:lnTo>
                  <a:pt x="2381721" y="917155"/>
                </a:lnTo>
                <a:lnTo>
                  <a:pt x="2353962" y="952215"/>
                </a:lnTo>
                <a:lnTo>
                  <a:pt x="2321337" y="983978"/>
                </a:lnTo>
                <a:lnTo>
                  <a:pt x="2284321" y="1012047"/>
                </a:lnTo>
                <a:lnTo>
                  <a:pt x="2243389" y="1036029"/>
                </a:lnTo>
                <a:lnTo>
                  <a:pt x="2199016" y="1055529"/>
                </a:lnTo>
                <a:lnTo>
                  <a:pt x="2151678" y="1070151"/>
                </a:lnTo>
                <a:lnTo>
                  <a:pt x="2101850" y="1079500"/>
                </a:lnTo>
                <a:lnTo>
                  <a:pt x="2097615" y="1125661"/>
                </a:lnTo>
                <a:lnTo>
                  <a:pt x="2085350" y="1169294"/>
                </a:lnTo>
                <a:lnTo>
                  <a:pt x="2065708" y="1209847"/>
                </a:lnTo>
                <a:lnTo>
                  <a:pt x="2039345" y="1246774"/>
                </a:lnTo>
                <a:lnTo>
                  <a:pt x="2006917" y="1279525"/>
                </a:lnTo>
                <a:lnTo>
                  <a:pt x="1969079" y="1307551"/>
                </a:lnTo>
                <a:lnTo>
                  <a:pt x="1926485" y="1330304"/>
                </a:lnTo>
                <a:lnTo>
                  <a:pt x="1879793" y="1347236"/>
                </a:lnTo>
                <a:lnTo>
                  <a:pt x="1829655" y="1357797"/>
                </a:lnTo>
                <a:lnTo>
                  <a:pt x="1776730" y="1361439"/>
                </a:lnTo>
                <a:lnTo>
                  <a:pt x="1730811" y="1358602"/>
                </a:lnTo>
                <a:lnTo>
                  <a:pt x="1686560" y="1350168"/>
                </a:lnTo>
                <a:lnTo>
                  <a:pt x="1644213" y="1336258"/>
                </a:lnTo>
                <a:lnTo>
                  <a:pt x="1604010" y="1316989"/>
                </a:lnTo>
                <a:lnTo>
                  <a:pt x="1586911" y="1357586"/>
                </a:lnTo>
                <a:lnTo>
                  <a:pt x="1564152" y="1395333"/>
                </a:lnTo>
                <a:lnTo>
                  <a:pt x="1536241" y="1429895"/>
                </a:lnTo>
                <a:lnTo>
                  <a:pt x="1503690" y="1460936"/>
                </a:lnTo>
                <a:lnTo>
                  <a:pt x="1467008" y="1488122"/>
                </a:lnTo>
                <a:lnTo>
                  <a:pt x="1426707" y="1511117"/>
                </a:lnTo>
                <a:lnTo>
                  <a:pt x="1383297" y="1529585"/>
                </a:lnTo>
                <a:lnTo>
                  <a:pt x="1337289" y="1543192"/>
                </a:lnTo>
                <a:lnTo>
                  <a:pt x="1289193" y="1551602"/>
                </a:lnTo>
                <a:lnTo>
                  <a:pt x="1239520" y="1554480"/>
                </a:lnTo>
                <a:lnTo>
                  <a:pt x="1186217" y="1550973"/>
                </a:lnTo>
                <a:lnTo>
                  <a:pt x="1134535" y="1540735"/>
                </a:lnTo>
                <a:lnTo>
                  <a:pt x="1085165" y="1524188"/>
                </a:lnTo>
                <a:lnTo>
                  <a:pt x="1038793" y="1501754"/>
                </a:lnTo>
                <a:lnTo>
                  <a:pt x="996109" y="1473855"/>
                </a:lnTo>
                <a:lnTo>
                  <a:pt x="957802" y="1440913"/>
                </a:lnTo>
                <a:lnTo>
                  <a:pt x="924560" y="1403350"/>
                </a:lnTo>
                <a:lnTo>
                  <a:pt x="898489" y="1419836"/>
                </a:lnTo>
                <a:lnTo>
                  <a:pt x="860742" y="1444625"/>
                </a:lnTo>
                <a:lnTo>
                  <a:pt x="781508" y="1457560"/>
                </a:lnTo>
                <a:lnTo>
                  <a:pt x="703580" y="1459230"/>
                </a:lnTo>
                <a:lnTo>
                  <a:pt x="651677" y="1456585"/>
                </a:lnTo>
                <a:lnTo>
                  <a:pt x="601248" y="1448798"/>
                </a:lnTo>
                <a:lnTo>
                  <a:pt x="552732" y="1436087"/>
                </a:lnTo>
                <a:lnTo>
                  <a:pt x="506567" y="1418673"/>
                </a:lnTo>
                <a:lnTo>
                  <a:pt x="463194" y="1396775"/>
                </a:lnTo>
                <a:lnTo>
                  <a:pt x="423051" y="1370612"/>
                </a:lnTo>
                <a:lnTo>
                  <a:pt x="386576" y="1340403"/>
                </a:lnTo>
                <a:lnTo>
                  <a:pt x="354209" y="1306370"/>
                </a:lnTo>
                <a:lnTo>
                  <a:pt x="326390" y="1268730"/>
                </a:lnTo>
                <a:lnTo>
                  <a:pt x="262934" y="1263622"/>
                </a:lnTo>
                <a:lnTo>
                  <a:pt x="207843" y="1250731"/>
                </a:lnTo>
                <a:lnTo>
                  <a:pt x="161146" y="1230845"/>
                </a:lnTo>
                <a:lnTo>
                  <a:pt x="122872" y="1204753"/>
                </a:lnTo>
                <a:lnTo>
                  <a:pt x="93052" y="1173244"/>
                </a:lnTo>
                <a:lnTo>
                  <a:pt x="71715" y="1137106"/>
                </a:lnTo>
                <a:lnTo>
                  <a:pt x="58891" y="1097128"/>
                </a:lnTo>
                <a:lnTo>
                  <a:pt x="54610" y="1054100"/>
                </a:lnTo>
                <a:lnTo>
                  <a:pt x="58856" y="1014154"/>
                </a:lnTo>
                <a:lnTo>
                  <a:pt x="71437" y="976471"/>
                </a:lnTo>
                <a:lnTo>
                  <a:pt x="92114" y="941407"/>
                </a:lnTo>
                <a:lnTo>
                  <a:pt x="120650" y="909319"/>
                </a:lnTo>
                <a:lnTo>
                  <a:pt x="77866" y="884336"/>
                </a:lnTo>
                <a:lnTo>
                  <a:pt x="44165" y="852708"/>
                </a:lnTo>
                <a:lnTo>
                  <a:pt x="19791" y="815411"/>
                </a:lnTo>
                <a:lnTo>
                  <a:pt x="4988" y="773419"/>
                </a:lnTo>
                <a:lnTo>
                  <a:pt x="0" y="727710"/>
                </a:lnTo>
                <a:lnTo>
                  <a:pt x="5565" y="681767"/>
                </a:lnTo>
                <a:lnTo>
                  <a:pt x="21504" y="639313"/>
                </a:lnTo>
                <a:lnTo>
                  <a:pt x="46686" y="601346"/>
                </a:lnTo>
                <a:lnTo>
                  <a:pt x="79976" y="568867"/>
                </a:lnTo>
                <a:lnTo>
                  <a:pt x="120242" y="542875"/>
                </a:lnTo>
                <a:lnTo>
                  <a:pt x="166351" y="524369"/>
                </a:lnTo>
                <a:lnTo>
                  <a:pt x="217170" y="514350"/>
                </a:lnTo>
                <a:close/>
              </a:path>
            </a:pathLst>
          </a:custGeom>
          <a:ln w="9344">
            <a:solidFill>
              <a:srgbClr val="CC99FF"/>
            </a:solidFill>
          </a:ln>
        </p:spPr>
        <p:txBody>
          <a:bodyPr wrap="square" lIns="0" tIns="0" rIns="0" bIns="0" rtlCol="0"/>
          <a:lstStyle/>
          <a:p/>
        </p:txBody>
      </p:sp>
      <p:sp>
        <p:nvSpPr>
          <p:cNvPr id="39" name="object 39"/>
          <p:cNvSpPr/>
          <p:nvPr/>
        </p:nvSpPr>
        <p:spPr>
          <a:xfrm>
            <a:off x="2077719" y="4165600"/>
            <a:ext cx="17780" cy="54610"/>
          </a:xfrm>
          <a:custGeom>
            <a:avLst/>
            <a:gdLst/>
            <a:ahLst/>
            <a:cxnLst/>
            <a:rect l="l" t="t" r="r" b="b"/>
            <a:pathLst>
              <a:path w="17779" h="54610">
                <a:moveTo>
                  <a:pt x="0" y="0"/>
                </a:moveTo>
                <a:lnTo>
                  <a:pt x="3135" y="13712"/>
                </a:lnTo>
                <a:lnTo>
                  <a:pt x="7937" y="27781"/>
                </a:lnTo>
                <a:lnTo>
                  <a:pt x="13215" y="41612"/>
                </a:lnTo>
                <a:lnTo>
                  <a:pt x="17779" y="54610"/>
                </a:lnTo>
              </a:path>
            </a:pathLst>
          </a:custGeom>
          <a:ln w="9344">
            <a:solidFill>
              <a:srgbClr val="CC99FF"/>
            </a:solidFill>
          </a:ln>
        </p:spPr>
        <p:txBody>
          <a:bodyPr wrap="square" lIns="0" tIns="0" rIns="0" bIns="0" rtlCol="0"/>
          <a:lstStyle/>
          <a:p/>
        </p:txBody>
      </p:sp>
      <p:sp>
        <p:nvSpPr>
          <p:cNvPr id="40" name="object 40"/>
          <p:cNvSpPr/>
          <p:nvPr/>
        </p:nvSpPr>
        <p:spPr>
          <a:xfrm>
            <a:off x="2645410" y="3837940"/>
            <a:ext cx="78740" cy="50800"/>
          </a:xfrm>
          <a:custGeom>
            <a:avLst/>
            <a:gdLst/>
            <a:ahLst/>
            <a:cxnLst/>
            <a:rect l="l" t="t" r="r" b="b"/>
            <a:pathLst>
              <a:path w="78740" h="50800">
                <a:moveTo>
                  <a:pt x="0" y="0"/>
                </a:moveTo>
                <a:lnTo>
                  <a:pt x="20697" y="11152"/>
                </a:lnTo>
                <a:lnTo>
                  <a:pt x="41751" y="23495"/>
                </a:lnTo>
                <a:lnTo>
                  <a:pt x="61614" y="36790"/>
                </a:lnTo>
                <a:lnTo>
                  <a:pt x="78740" y="50800"/>
                </a:lnTo>
              </a:path>
            </a:pathLst>
          </a:custGeom>
          <a:ln w="9344">
            <a:solidFill>
              <a:srgbClr val="CC99FF"/>
            </a:solidFill>
          </a:ln>
        </p:spPr>
        <p:txBody>
          <a:bodyPr wrap="square" lIns="0" tIns="0" rIns="0" bIns="0" rtlCol="0"/>
          <a:lstStyle/>
          <a:p/>
        </p:txBody>
      </p:sp>
      <p:sp>
        <p:nvSpPr>
          <p:cNvPr id="41" name="object 41"/>
          <p:cNvSpPr/>
          <p:nvPr/>
        </p:nvSpPr>
        <p:spPr>
          <a:xfrm>
            <a:off x="3103880" y="3773170"/>
            <a:ext cx="19050" cy="49530"/>
          </a:xfrm>
          <a:custGeom>
            <a:avLst/>
            <a:gdLst/>
            <a:ahLst/>
            <a:cxnLst/>
            <a:rect l="l" t="t" r="r" b="b"/>
            <a:pathLst>
              <a:path w="19050" h="49529">
                <a:moveTo>
                  <a:pt x="19050" y="0"/>
                </a:moveTo>
                <a:lnTo>
                  <a:pt x="13037" y="11846"/>
                </a:lnTo>
                <a:lnTo>
                  <a:pt x="8096" y="24288"/>
                </a:lnTo>
                <a:lnTo>
                  <a:pt x="3869" y="36968"/>
                </a:lnTo>
                <a:lnTo>
                  <a:pt x="0" y="49529"/>
                </a:lnTo>
              </a:path>
            </a:pathLst>
          </a:custGeom>
          <a:ln w="9344">
            <a:solidFill>
              <a:srgbClr val="CC99FF"/>
            </a:solidFill>
          </a:ln>
        </p:spPr>
        <p:txBody>
          <a:bodyPr wrap="square" lIns="0" tIns="0" rIns="0" bIns="0" rtlCol="0"/>
          <a:lstStyle/>
          <a:p/>
        </p:txBody>
      </p:sp>
      <p:sp>
        <p:nvSpPr>
          <p:cNvPr id="42" name="object 42"/>
          <p:cNvSpPr/>
          <p:nvPr/>
        </p:nvSpPr>
        <p:spPr>
          <a:xfrm>
            <a:off x="3498850" y="3733800"/>
            <a:ext cx="36830" cy="60960"/>
          </a:xfrm>
          <a:custGeom>
            <a:avLst/>
            <a:gdLst/>
            <a:ahLst/>
            <a:cxnLst/>
            <a:rect l="l" t="t" r="r" b="b"/>
            <a:pathLst>
              <a:path w="36830" h="60960">
                <a:moveTo>
                  <a:pt x="36830" y="0"/>
                </a:moveTo>
                <a:lnTo>
                  <a:pt x="25717" y="14168"/>
                </a:lnTo>
                <a:lnTo>
                  <a:pt x="16510" y="29527"/>
                </a:lnTo>
                <a:lnTo>
                  <a:pt x="8255" y="45362"/>
                </a:lnTo>
                <a:lnTo>
                  <a:pt x="0" y="60960"/>
                </a:lnTo>
              </a:path>
            </a:pathLst>
          </a:custGeom>
          <a:ln w="9344">
            <a:solidFill>
              <a:srgbClr val="CC99FF"/>
            </a:solidFill>
          </a:ln>
        </p:spPr>
        <p:txBody>
          <a:bodyPr wrap="square" lIns="0" tIns="0" rIns="0" bIns="0" rtlCol="0"/>
          <a:lstStyle/>
          <a:p/>
        </p:txBody>
      </p:sp>
      <p:sp>
        <p:nvSpPr>
          <p:cNvPr id="43" name="object 43"/>
          <p:cNvSpPr/>
          <p:nvPr/>
        </p:nvSpPr>
        <p:spPr>
          <a:xfrm>
            <a:off x="4013200" y="3845559"/>
            <a:ext cx="10795" cy="48260"/>
          </a:xfrm>
          <a:custGeom>
            <a:avLst/>
            <a:gdLst/>
            <a:ahLst/>
            <a:cxnLst/>
            <a:rect l="l" t="t" r="r" b="b"/>
            <a:pathLst>
              <a:path w="10794" h="48260">
                <a:moveTo>
                  <a:pt x="0" y="0"/>
                </a:moveTo>
                <a:lnTo>
                  <a:pt x="3194" y="12005"/>
                </a:lnTo>
                <a:lnTo>
                  <a:pt x="7461" y="26511"/>
                </a:lnTo>
                <a:lnTo>
                  <a:pt x="10537" y="39826"/>
                </a:lnTo>
                <a:lnTo>
                  <a:pt x="10160" y="48259"/>
                </a:lnTo>
              </a:path>
            </a:pathLst>
          </a:custGeom>
          <a:ln w="9344">
            <a:solidFill>
              <a:srgbClr val="CC99FF"/>
            </a:solidFill>
          </a:ln>
        </p:spPr>
        <p:txBody>
          <a:bodyPr wrap="square" lIns="0" tIns="0" rIns="0" bIns="0" rtlCol="0"/>
          <a:lstStyle/>
          <a:p/>
        </p:txBody>
      </p:sp>
      <p:sp>
        <p:nvSpPr>
          <p:cNvPr id="44" name="object 44"/>
          <p:cNvSpPr/>
          <p:nvPr/>
        </p:nvSpPr>
        <p:spPr>
          <a:xfrm>
            <a:off x="4126229" y="4202429"/>
            <a:ext cx="81280" cy="95250"/>
          </a:xfrm>
          <a:custGeom>
            <a:avLst/>
            <a:gdLst/>
            <a:ahLst/>
            <a:cxnLst/>
            <a:rect l="l" t="t" r="r" b="b"/>
            <a:pathLst>
              <a:path w="81280" h="95250">
                <a:moveTo>
                  <a:pt x="81280" y="0"/>
                </a:moveTo>
                <a:lnTo>
                  <a:pt x="65722" y="26670"/>
                </a:lnTo>
                <a:lnTo>
                  <a:pt x="47307" y="51435"/>
                </a:lnTo>
                <a:lnTo>
                  <a:pt x="25558" y="74295"/>
                </a:lnTo>
                <a:lnTo>
                  <a:pt x="0" y="95250"/>
                </a:lnTo>
              </a:path>
            </a:pathLst>
          </a:custGeom>
          <a:ln w="9344">
            <a:solidFill>
              <a:srgbClr val="CC99FF"/>
            </a:solidFill>
          </a:ln>
        </p:spPr>
        <p:txBody>
          <a:bodyPr wrap="square" lIns="0" tIns="0" rIns="0" bIns="0" rtlCol="0"/>
          <a:lstStyle/>
          <a:p/>
        </p:txBody>
      </p:sp>
      <p:sp>
        <p:nvSpPr>
          <p:cNvPr id="45" name="object 45"/>
          <p:cNvSpPr/>
          <p:nvPr/>
        </p:nvSpPr>
        <p:spPr>
          <a:xfrm>
            <a:off x="3775710" y="4474209"/>
            <a:ext cx="187325" cy="256540"/>
          </a:xfrm>
          <a:custGeom>
            <a:avLst/>
            <a:gdLst/>
            <a:ahLst/>
            <a:cxnLst/>
            <a:rect l="l" t="t" r="r" b="b"/>
            <a:pathLst>
              <a:path w="187325" h="256539">
                <a:moveTo>
                  <a:pt x="186689" y="256539"/>
                </a:moveTo>
                <a:lnTo>
                  <a:pt x="179447" y="189685"/>
                </a:lnTo>
                <a:lnTo>
                  <a:pt x="163063" y="148238"/>
                </a:lnTo>
                <a:lnTo>
                  <a:pt x="137459" y="105502"/>
                </a:lnTo>
                <a:lnTo>
                  <a:pt x="102103" y="64521"/>
                </a:lnTo>
                <a:lnTo>
                  <a:pt x="56461" y="28339"/>
                </a:lnTo>
                <a:lnTo>
                  <a:pt x="0" y="0"/>
                </a:lnTo>
              </a:path>
            </a:pathLst>
          </a:custGeom>
          <a:ln w="9344">
            <a:solidFill>
              <a:srgbClr val="CC99FF"/>
            </a:solidFill>
          </a:ln>
        </p:spPr>
        <p:txBody>
          <a:bodyPr wrap="square" lIns="0" tIns="0" rIns="0" bIns="0" rtlCol="0"/>
          <a:lstStyle/>
          <a:p/>
        </p:txBody>
      </p:sp>
      <p:sp>
        <p:nvSpPr>
          <p:cNvPr id="46" name="object 46"/>
          <p:cNvSpPr/>
          <p:nvPr/>
        </p:nvSpPr>
        <p:spPr>
          <a:xfrm>
            <a:off x="3464560" y="4899659"/>
            <a:ext cx="15240" cy="68580"/>
          </a:xfrm>
          <a:custGeom>
            <a:avLst/>
            <a:gdLst/>
            <a:ahLst/>
            <a:cxnLst/>
            <a:rect l="l" t="t" r="r" b="b"/>
            <a:pathLst>
              <a:path w="15239" h="68579">
                <a:moveTo>
                  <a:pt x="0" y="68579"/>
                </a:moveTo>
                <a:lnTo>
                  <a:pt x="6310" y="50899"/>
                </a:lnTo>
                <a:lnTo>
                  <a:pt x="10477" y="33813"/>
                </a:lnTo>
                <a:lnTo>
                  <a:pt x="13215" y="16966"/>
                </a:lnTo>
                <a:lnTo>
                  <a:pt x="15239" y="0"/>
                </a:lnTo>
              </a:path>
            </a:pathLst>
          </a:custGeom>
          <a:ln w="9344">
            <a:solidFill>
              <a:srgbClr val="CC99FF"/>
            </a:solidFill>
          </a:ln>
        </p:spPr>
        <p:txBody>
          <a:bodyPr wrap="square" lIns="0" tIns="0" rIns="0" bIns="0" rtlCol="0"/>
          <a:lstStyle/>
          <a:p/>
        </p:txBody>
      </p:sp>
      <p:sp>
        <p:nvSpPr>
          <p:cNvPr id="47" name="object 47"/>
          <p:cNvSpPr/>
          <p:nvPr/>
        </p:nvSpPr>
        <p:spPr>
          <a:xfrm>
            <a:off x="2745739" y="4992370"/>
            <a:ext cx="40640" cy="62230"/>
          </a:xfrm>
          <a:custGeom>
            <a:avLst/>
            <a:gdLst/>
            <a:ahLst/>
            <a:cxnLst/>
            <a:rect l="l" t="t" r="r" b="b"/>
            <a:pathLst>
              <a:path w="40640" h="62229">
                <a:moveTo>
                  <a:pt x="40640" y="62229"/>
                </a:moveTo>
                <a:lnTo>
                  <a:pt x="28396" y="47505"/>
                </a:lnTo>
                <a:lnTo>
                  <a:pt x="17938" y="32067"/>
                </a:lnTo>
                <a:lnTo>
                  <a:pt x="8671" y="16152"/>
                </a:lnTo>
                <a:lnTo>
                  <a:pt x="0" y="0"/>
                </a:lnTo>
              </a:path>
            </a:pathLst>
          </a:custGeom>
          <a:ln w="9344">
            <a:solidFill>
              <a:srgbClr val="CC99FF"/>
            </a:solidFill>
          </a:ln>
        </p:spPr>
        <p:txBody>
          <a:bodyPr wrap="square" lIns="0" tIns="0" rIns="0" bIns="0" rtlCol="0"/>
          <a:lstStyle/>
          <a:p/>
        </p:txBody>
      </p:sp>
      <p:sp>
        <p:nvSpPr>
          <p:cNvPr id="48" name="object 48"/>
          <p:cNvSpPr/>
          <p:nvPr/>
        </p:nvSpPr>
        <p:spPr>
          <a:xfrm>
            <a:off x="2186940" y="4906009"/>
            <a:ext cx="63500" cy="13970"/>
          </a:xfrm>
          <a:custGeom>
            <a:avLst/>
            <a:gdLst/>
            <a:ahLst/>
            <a:cxnLst/>
            <a:rect l="l" t="t" r="r" b="b"/>
            <a:pathLst>
              <a:path w="63500" h="13970">
                <a:moveTo>
                  <a:pt x="0" y="13969"/>
                </a:moveTo>
                <a:lnTo>
                  <a:pt x="16172" y="11608"/>
                </a:lnTo>
                <a:lnTo>
                  <a:pt x="32226" y="8413"/>
                </a:lnTo>
                <a:lnTo>
                  <a:pt x="48041" y="4504"/>
                </a:lnTo>
                <a:lnTo>
                  <a:pt x="63500" y="0"/>
                </a:lnTo>
              </a:path>
            </a:pathLst>
          </a:custGeom>
          <a:ln w="9344">
            <a:solidFill>
              <a:srgbClr val="CC99FF"/>
            </a:solidFill>
          </a:ln>
        </p:spPr>
        <p:txBody>
          <a:bodyPr wrap="square" lIns="0" tIns="0" rIns="0" bIns="0" rtlCol="0"/>
          <a:lstStyle/>
          <a:p/>
        </p:txBody>
      </p:sp>
      <p:sp>
        <p:nvSpPr>
          <p:cNvPr id="49" name="object 49"/>
          <p:cNvSpPr/>
          <p:nvPr/>
        </p:nvSpPr>
        <p:spPr>
          <a:xfrm>
            <a:off x="1981200" y="4560570"/>
            <a:ext cx="142240" cy="29209"/>
          </a:xfrm>
          <a:custGeom>
            <a:avLst/>
            <a:gdLst/>
            <a:ahLst/>
            <a:cxnLst/>
            <a:rect l="l" t="t" r="r" b="b"/>
            <a:pathLst>
              <a:path w="142240" h="29210">
                <a:moveTo>
                  <a:pt x="0" y="0"/>
                </a:moveTo>
                <a:lnTo>
                  <a:pt x="29011" y="12759"/>
                </a:lnTo>
                <a:lnTo>
                  <a:pt x="61594" y="23018"/>
                </a:lnTo>
                <a:lnTo>
                  <a:pt x="98940" y="28753"/>
                </a:lnTo>
                <a:lnTo>
                  <a:pt x="142240" y="27939"/>
                </a:lnTo>
              </a:path>
            </a:pathLst>
          </a:custGeom>
          <a:ln w="9344">
            <a:solidFill>
              <a:srgbClr val="CC99FF"/>
            </a:solidFill>
          </a:ln>
        </p:spPr>
        <p:txBody>
          <a:bodyPr wrap="square" lIns="0" tIns="0" rIns="0" bIns="0" rtlCol="0"/>
          <a:lstStyle/>
          <a:p/>
        </p:txBody>
      </p:sp>
      <p:sp>
        <p:nvSpPr>
          <p:cNvPr id="50" name="object 50"/>
          <p:cNvSpPr/>
          <p:nvPr/>
        </p:nvSpPr>
        <p:spPr>
          <a:xfrm>
            <a:off x="4122420" y="4578350"/>
            <a:ext cx="405130" cy="259079"/>
          </a:xfrm>
          <a:custGeom>
            <a:avLst/>
            <a:gdLst/>
            <a:ahLst/>
            <a:cxnLst/>
            <a:rect l="l" t="t" r="r" b="b"/>
            <a:pathLst>
              <a:path w="405130" h="259079">
                <a:moveTo>
                  <a:pt x="201930" y="0"/>
                </a:moveTo>
                <a:lnTo>
                  <a:pt x="147284" y="4568"/>
                </a:lnTo>
                <a:lnTo>
                  <a:pt x="98777" y="17497"/>
                </a:lnTo>
                <a:lnTo>
                  <a:pt x="58102" y="37623"/>
                </a:lnTo>
                <a:lnTo>
                  <a:pt x="26952" y="63782"/>
                </a:lnTo>
                <a:lnTo>
                  <a:pt x="0" y="129539"/>
                </a:lnTo>
                <a:lnTo>
                  <a:pt x="7020" y="164711"/>
                </a:lnTo>
                <a:lnTo>
                  <a:pt x="58102" y="221932"/>
                </a:lnTo>
                <a:lnTo>
                  <a:pt x="98777" y="241864"/>
                </a:lnTo>
                <a:lnTo>
                  <a:pt x="147284" y="254599"/>
                </a:lnTo>
                <a:lnTo>
                  <a:pt x="201930" y="259080"/>
                </a:lnTo>
                <a:lnTo>
                  <a:pt x="256669" y="254599"/>
                </a:lnTo>
                <a:lnTo>
                  <a:pt x="305411" y="241864"/>
                </a:lnTo>
                <a:lnTo>
                  <a:pt x="346392" y="221932"/>
                </a:lnTo>
                <a:lnTo>
                  <a:pt x="377848" y="195862"/>
                </a:lnTo>
                <a:lnTo>
                  <a:pt x="405130" y="129539"/>
                </a:lnTo>
                <a:lnTo>
                  <a:pt x="398015" y="94809"/>
                </a:lnTo>
                <a:lnTo>
                  <a:pt x="346392" y="37623"/>
                </a:lnTo>
                <a:lnTo>
                  <a:pt x="305411" y="17497"/>
                </a:lnTo>
                <a:lnTo>
                  <a:pt x="256669" y="4568"/>
                </a:lnTo>
                <a:lnTo>
                  <a:pt x="201930" y="0"/>
                </a:lnTo>
                <a:close/>
              </a:path>
            </a:pathLst>
          </a:custGeom>
          <a:solidFill>
            <a:srgbClr val="CC99FF">
              <a:alpha val="23999"/>
            </a:srgbClr>
          </a:solidFill>
        </p:spPr>
        <p:txBody>
          <a:bodyPr wrap="square" lIns="0" tIns="0" rIns="0" bIns="0" rtlCol="0"/>
          <a:lstStyle/>
          <a:p/>
        </p:txBody>
      </p:sp>
      <p:sp>
        <p:nvSpPr>
          <p:cNvPr id="51" name="object 51"/>
          <p:cNvSpPr/>
          <p:nvPr/>
        </p:nvSpPr>
        <p:spPr>
          <a:xfrm>
            <a:off x="4122420" y="4578350"/>
            <a:ext cx="405130" cy="259079"/>
          </a:xfrm>
          <a:custGeom>
            <a:avLst/>
            <a:gdLst/>
            <a:ahLst/>
            <a:cxnLst/>
            <a:rect l="l" t="t" r="r" b="b"/>
            <a:pathLst>
              <a:path w="405130" h="259079">
                <a:moveTo>
                  <a:pt x="201930" y="0"/>
                </a:moveTo>
                <a:lnTo>
                  <a:pt x="256669" y="4568"/>
                </a:lnTo>
                <a:lnTo>
                  <a:pt x="305411" y="17497"/>
                </a:lnTo>
                <a:lnTo>
                  <a:pt x="346392" y="37623"/>
                </a:lnTo>
                <a:lnTo>
                  <a:pt x="377848" y="63782"/>
                </a:lnTo>
                <a:lnTo>
                  <a:pt x="405130" y="129539"/>
                </a:lnTo>
                <a:lnTo>
                  <a:pt x="398015" y="164711"/>
                </a:lnTo>
                <a:lnTo>
                  <a:pt x="346392" y="221932"/>
                </a:lnTo>
                <a:lnTo>
                  <a:pt x="305411" y="241864"/>
                </a:lnTo>
                <a:lnTo>
                  <a:pt x="256669" y="254599"/>
                </a:lnTo>
                <a:lnTo>
                  <a:pt x="201930" y="259080"/>
                </a:lnTo>
                <a:lnTo>
                  <a:pt x="147284" y="254599"/>
                </a:lnTo>
                <a:lnTo>
                  <a:pt x="98777" y="241864"/>
                </a:lnTo>
                <a:lnTo>
                  <a:pt x="58102" y="221932"/>
                </a:lnTo>
                <a:lnTo>
                  <a:pt x="26952" y="195862"/>
                </a:lnTo>
                <a:lnTo>
                  <a:pt x="0" y="129539"/>
                </a:lnTo>
                <a:lnTo>
                  <a:pt x="7020" y="94809"/>
                </a:lnTo>
                <a:lnTo>
                  <a:pt x="58102" y="37623"/>
                </a:lnTo>
                <a:lnTo>
                  <a:pt x="98777" y="17497"/>
                </a:lnTo>
                <a:lnTo>
                  <a:pt x="147284" y="4568"/>
                </a:lnTo>
                <a:lnTo>
                  <a:pt x="201930" y="0"/>
                </a:lnTo>
                <a:close/>
              </a:path>
            </a:pathLst>
          </a:custGeom>
          <a:ln w="9344">
            <a:solidFill>
              <a:srgbClr val="CC99FF"/>
            </a:solidFill>
          </a:ln>
        </p:spPr>
        <p:txBody>
          <a:bodyPr wrap="square" lIns="0" tIns="0" rIns="0" bIns="0" rtlCol="0"/>
          <a:lstStyle/>
          <a:p/>
        </p:txBody>
      </p:sp>
      <p:sp>
        <p:nvSpPr>
          <p:cNvPr id="52" name="object 52"/>
          <p:cNvSpPr/>
          <p:nvPr/>
        </p:nvSpPr>
        <p:spPr>
          <a:xfrm>
            <a:off x="4480560" y="4687570"/>
            <a:ext cx="270510" cy="171450"/>
          </a:xfrm>
          <a:custGeom>
            <a:avLst/>
            <a:gdLst/>
            <a:ahLst/>
            <a:cxnLst/>
            <a:rect l="l" t="t" r="r" b="b"/>
            <a:pathLst>
              <a:path w="270510" h="171450">
                <a:moveTo>
                  <a:pt x="135889" y="0"/>
                </a:moveTo>
                <a:lnTo>
                  <a:pt x="82510" y="6508"/>
                </a:lnTo>
                <a:lnTo>
                  <a:pt x="39369" y="24447"/>
                </a:lnTo>
                <a:lnTo>
                  <a:pt x="10517" y="51434"/>
                </a:lnTo>
                <a:lnTo>
                  <a:pt x="0" y="85089"/>
                </a:lnTo>
                <a:lnTo>
                  <a:pt x="10517" y="119479"/>
                </a:lnTo>
                <a:lnTo>
                  <a:pt x="39369" y="146843"/>
                </a:lnTo>
                <a:lnTo>
                  <a:pt x="82510" y="164921"/>
                </a:lnTo>
                <a:lnTo>
                  <a:pt x="135889" y="171449"/>
                </a:lnTo>
                <a:lnTo>
                  <a:pt x="189071" y="164921"/>
                </a:lnTo>
                <a:lnTo>
                  <a:pt x="231774" y="146843"/>
                </a:lnTo>
                <a:lnTo>
                  <a:pt x="260191" y="119479"/>
                </a:lnTo>
                <a:lnTo>
                  <a:pt x="270509" y="85089"/>
                </a:lnTo>
                <a:lnTo>
                  <a:pt x="260191" y="51434"/>
                </a:lnTo>
                <a:lnTo>
                  <a:pt x="231775" y="24447"/>
                </a:lnTo>
                <a:lnTo>
                  <a:pt x="189071" y="6508"/>
                </a:lnTo>
                <a:lnTo>
                  <a:pt x="135889" y="0"/>
                </a:lnTo>
                <a:close/>
              </a:path>
            </a:pathLst>
          </a:custGeom>
          <a:solidFill>
            <a:srgbClr val="CC99FF">
              <a:alpha val="23999"/>
            </a:srgbClr>
          </a:solidFill>
        </p:spPr>
        <p:txBody>
          <a:bodyPr wrap="square" lIns="0" tIns="0" rIns="0" bIns="0" rtlCol="0"/>
          <a:lstStyle/>
          <a:p/>
        </p:txBody>
      </p:sp>
      <p:sp>
        <p:nvSpPr>
          <p:cNvPr id="53" name="object 53"/>
          <p:cNvSpPr/>
          <p:nvPr/>
        </p:nvSpPr>
        <p:spPr>
          <a:xfrm>
            <a:off x="4480560" y="4687570"/>
            <a:ext cx="270510" cy="171450"/>
          </a:xfrm>
          <a:custGeom>
            <a:avLst/>
            <a:gdLst/>
            <a:ahLst/>
            <a:cxnLst/>
            <a:rect l="l" t="t" r="r" b="b"/>
            <a:pathLst>
              <a:path w="270510" h="171450">
                <a:moveTo>
                  <a:pt x="135889" y="0"/>
                </a:moveTo>
                <a:lnTo>
                  <a:pt x="189071" y="6508"/>
                </a:lnTo>
                <a:lnTo>
                  <a:pt x="231775" y="24447"/>
                </a:lnTo>
                <a:lnTo>
                  <a:pt x="260191" y="51434"/>
                </a:lnTo>
                <a:lnTo>
                  <a:pt x="270509" y="85089"/>
                </a:lnTo>
                <a:lnTo>
                  <a:pt x="260191" y="119479"/>
                </a:lnTo>
                <a:lnTo>
                  <a:pt x="231774" y="146843"/>
                </a:lnTo>
                <a:lnTo>
                  <a:pt x="189071" y="164921"/>
                </a:lnTo>
                <a:lnTo>
                  <a:pt x="135889" y="171449"/>
                </a:lnTo>
                <a:lnTo>
                  <a:pt x="82510" y="164921"/>
                </a:lnTo>
                <a:lnTo>
                  <a:pt x="39369" y="146843"/>
                </a:lnTo>
                <a:lnTo>
                  <a:pt x="10517" y="119479"/>
                </a:lnTo>
                <a:lnTo>
                  <a:pt x="0" y="85089"/>
                </a:lnTo>
                <a:lnTo>
                  <a:pt x="10517" y="51434"/>
                </a:lnTo>
                <a:lnTo>
                  <a:pt x="39369" y="24447"/>
                </a:lnTo>
                <a:lnTo>
                  <a:pt x="82510" y="6508"/>
                </a:lnTo>
                <a:lnTo>
                  <a:pt x="135889" y="0"/>
                </a:lnTo>
                <a:close/>
              </a:path>
            </a:pathLst>
          </a:custGeom>
          <a:ln w="9344">
            <a:solidFill>
              <a:srgbClr val="CC99FF"/>
            </a:solidFill>
          </a:ln>
        </p:spPr>
        <p:txBody>
          <a:bodyPr wrap="square" lIns="0" tIns="0" rIns="0" bIns="0" rtlCol="0"/>
          <a:lstStyle/>
          <a:p/>
        </p:txBody>
      </p:sp>
      <p:sp>
        <p:nvSpPr>
          <p:cNvPr id="54" name="object 54"/>
          <p:cNvSpPr/>
          <p:nvPr/>
        </p:nvSpPr>
        <p:spPr>
          <a:xfrm>
            <a:off x="4728617" y="4762907"/>
            <a:ext cx="165554" cy="108404"/>
          </a:xfrm>
          <a:prstGeom prst="rect">
            <a:avLst/>
          </a:prstGeom>
          <a:blipFill>
            <a:blip r:embed="rId1" cstate="print"/>
            <a:stretch>
              <a:fillRect/>
            </a:stretch>
          </a:blipFill>
        </p:spPr>
        <p:txBody>
          <a:bodyPr wrap="square" lIns="0" tIns="0" rIns="0" bIns="0" rtlCol="0"/>
          <a:lstStyle/>
          <a:p/>
        </p:txBody>
      </p:sp>
      <p:sp>
        <p:nvSpPr>
          <p:cNvPr id="55" name="object 55"/>
          <p:cNvSpPr txBox="1"/>
          <p:nvPr/>
        </p:nvSpPr>
        <p:spPr>
          <a:xfrm>
            <a:off x="2372360" y="3923029"/>
            <a:ext cx="1242695" cy="997585"/>
          </a:xfrm>
          <a:prstGeom prst="rect">
            <a:avLst/>
          </a:prstGeom>
        </p:spPr>
        <p:txBody>
          <a:bodyPr vert="horz" wrap="square" lIns="0" tIns="12700" rIns="0" bIns="0" rtlCol="0">
            <a:spAutoFit/>
          </a:bodyPr>
          <a:lstStyle/>
          <a:p>
            <a:pPr marL="12700" marR="5080" algn="just">
              <a:lnSpc>
                <a:spcPct val="100000"/>
              </a:lnSpc>
              <a:spcBef>
                <a:spcPts val="100"/>
              </a:spcBef>
            </a:pPr>
            <a:r>
              <a:rPr sz="1600" b="1" dirty="0">
                <a:latin typeface="等线" panose="02010600030101010101" charset="-122"/>
                <a:cs typeface="等线" panose="02010600030101010101" charset="-122"/>
              </a:rPr>
              <a:t>信封</a:t>
            </a:r>
            <a:r>
              <a:rPr sz="1600" b="1" spc="-10" dirty="0">
                <a:latin typeface="等线" panose="02010600030101010101" charset="-122"/>
                <a:cs typeface="等线" panose="02010600030101010101" charset="-122"/>
              </a:rPr>
              <a:t>里</a:t>
            </a:r>
            <a:r>
              <a:rPr sz="1600" b="1" dirty="0">
                <a:latin typeface="等线" panose="02010600030101010101" charset="-122"/>
                <a:cs typeface="等线" panose="02010600030101010101" charset="-122"/>
              </a:rPr>
              <a:t>面</a:t>
            </a:r>
            <a:r>
              <a:rPr sz="1600" b="1" spc="-10" dirty="0">
                <a:latin typeface="等线" panose="02010600030101010101" charset="-122"/>
                <a:cs typeface="等线" panose="02010600030101010101" charset="-122"/>
              </a:rPr>
              <a:t>是</a:t>
            </a:r>
            <a:r>
              <a:rPr sz="1600" b="1" dirty="0">
                <a:latin typeface="等线" panose="02010600030101010101" charset="-122"/>
                <a:cs typeface="等线" panose="02010600030101010101" charset="-122"/>
              </a:rPr>
              <a:t>数 据，</a:t>
            </a:r>
            <a:r>
              <a:rPr sz="1600" b="1" spc="-10" dirty="0">
                <a:latin typeface="等线" panose="02010600030101010101" charset="-122"/>
                <a:cs typeface="等线" panose="02010600030101010101" charset="-122"/>
              </a:rPr>
              <a:t>信</a:t>
            </a:r>
            <a:r>
              <a:rPr sz="1600" b="1" dirty="0">
                <a:latin typeface="等线" panose="02010600030101010101" charset="-122"/>
                <a:cs typeface="等线" panose="02010600030101010101" charset="-122"/>
              </a:rPr>
              <a:t>封</a:t>
            </a:r>
            <a:r>
              <a:rPr sz="1600" b="1" spc="-10" dirty="0">
                <a:latin typeface="等线" panose="02010600030101010101" charset="-122"/>
                <a:cs typeface="等线" panose="02010600030101010101" charset="-122"/>
              </a:rPr>
              <a:t>外</a:t>
            </a:r>
            <a:r>
              <a:rPr sz="1600" b="1" dirty="0">
                <a:latin typeface="等线" panose="02010600030101010101" charset="-122"/>
                <a:cs typeface="等线" panose="02010600030101010101" charset="-122"/>
              </a:rPr>
              <a:t>部 是数</a:t>
            </a:r>
            <a:r>
              <a:rPr sz="1600" b="1" spc="-10" dirty="0">
                <a:latin typeface="等线" panose="02010600030101010101" charset="-122"/>
                <a:cs typeface="等线" panose="02010600030101010101" charset="-122"/>
              </a:rPr>
              <a:t>据</a:t>
            </a:r>
            <a:r>
              <a:rPr sz="1600" b="1" dirty="0">
                <a:latin typeface="等线" panose="02010600030101010101" charset="-122"/>
                <a:cs typeface="等线" panose="02010600030101010101" charset="-122"/>
              </a:rPr>
              <a:t>传</a:t>
            </a:r>
            <a:r>
              <a:rPr sz="1600" b="1" spc="-10" dirty="0">
                <a:latin typeface="等线" panose="02010600030101010101" charset="-122"/>
                <a:cs typeface="等线" panose="02010600030101010101" charset="-122"/>
              </a:rPr>
              <a:t>输</a:t>
            </a:r>
            <a:r>
              <a:rPr sz="1600" b="1" dirty="0">
                <a:latin typeface="等线" panose="02010600030101010101" charset="-122"/>
                <a:cs typeface="等线" panose="02010600030101010101" charset="-122"/>
              </a:rPr>
              <a:t>所 需的</a:t>
            </a:r>
            <a:r>
              <a:rPr sz="1600" b="1" spc="-10" dirty="0">
                <a:latin typeface="等线" panose="02010600030101010101" charset="-122"/>
                <a:cs typeface="等线" panose="02010600030101010101" charset="-122"/>
              </a:rPr>
              <a:t>控</a:t>
            </a:r>
            <a:r>
              <a:rPr sz="1600" b="1" dirty="0">
                <a:latin typeface="等线" panose="02010600030101010101" charset="-122"/>
                <a:cs typeface="等线" panose="02010600030101010101" charset="-122"/>
              </a:rPr>
              <a:t>制</a:t>
            </a:r>
            <a:r>
              <a:rPr sz="1600" b="1" spc="-10" dirty="0">
                <a:latin typeface="等线" panose="02010600030101010101" charset="-122"/>
                <a:cs typeface="等线" panose="02010600030101010101" charset="-122"/>
              </a:rPr>
              <a:t>信</a:t>
            </a:r>
            <a:r>
              <a:rPr sz="1600" b="1" dirty="0">
                <a:latin typeface="等线" panose="02010600030101010101" charset="-122"/>
                <a:cs typeface="等线" panose="02010600030101010101" charset="-122"/>
              </a:rPr>
              <a:t>息</a:t>
            </a:r>
            <a:endParaRPr sz="1600">
              <a:latin typeface="等线" panose="02010600030101010101" charset="-122"/>
              <a:cs typeface="等线" panose="02010600030101010101" charset="-122"/>
            </a:endParaRPr>
          </a:p>
        </p:txBody>
      </p:sp>
      <p:sp>
        <p:nvSpPr>
          <p:cNvPr id="56" name="object 56"/>
          <p:cNvSpPr/>
          <p:nvPr/>
        </p:nvSpPr>
        <p:spPr>
          <a:xfrm>
            <a:off x="1935480" y="5248909"/>
            <a:ext cx="2284730" cy="1503680"/>
          </a:xfrm>
          <a:custGeom>
            <a:avLst/>
            <a:gdLst/>
            <a:ahLst/>
            <a:cxnLst/>
            <a:rect l="l" t="t" r="r" b="b"/>
            <a:pathLst>
              <a:path w="2284730" h="1503679">
                <a:moveTo>
                  <a:pt x="1462725" y="1357630"/>
                </a:moveTo>
                <a:lnTo>
                  <a:pt x="867410" y="1357630"/>
                </a:lnTo>
                <a:lnTo>
                  <a:pt x="898797" y="1393712"/>
                </a:lnTo>
                <a:lnTo>
                  <a:pt x="934849" y="1425462"/>
                </a:lnTo>
                <a:lnTo>
                  <a:pt x="974945" y="1452435"/>
                </a:lnTo>
                <a:lnTo>
                  <a:pt x="1018462" y="1474188"/>
                </a:lnTo>
                <a:lnTo>
                  <a:pt x="1064778" y="1490276"/>
                </a:lnTo>
                <a:lnTo>
                  <a:pt x="1113271" y="1500255"/>
                </a:lnTo>
                <a:lnTo>
                  <a:pt x="1163320" y="1503680"/>
                </a:lnTo>
                <a:lnTo>
                  <a:pt x="1215092" y="1500228"/>
                </a:lnTo>
                <a:lnTo>
                  <a:pt x="1264982" y="1490182"/>
                </a:lnTo>
                <a:lnTo>
                  <a:pt x="1312333" y="1473999"/>
                </a:lnTo>
                <a:lnTo>
                  <a:pt x="1356485" y="1452141"/>
                </a:lnTo>
                <a:lnTo>
                  <a:pt x="1396780" y="1425067"/>
                </a:lnTo>
                <a:lnTo>
                  <a:pt x="1432559" y="1393237"/>
                </a:lnTo>
                <a:lnTo>
                  <a:pt x="1462725" y="1357630"/>
                </a:lnTo>
                <a:close/>
              </a:path>
              <a:path w="2284730" h="1503679">
                <a:moveTo>
                  <a:pt x="557530" y="135889"/>
                </a:moveTo>
                <a:lnTo>
                  <a:pt x="511919" y="138947"/>
                </a:lnTo>
                <a:lnTo>
                  <a:pt x="466964" y="147814"/>
                </a:lnTo>
                <a:lnTo>
                  <a:pt x="423319" y="162032"/>
                </a:lnTo>
                <a:lnTo>
                  <a:pt x="381642" y="181145"/>
                </a:lnTo>
                <a:lnTo>
                  <a:pt x="342586" y="204693"/>
                </a:lnTo>
                <a:lnTo>
                  <a:pt x="306808" y="232220"/>
                </a:lnTo>
                <a:lnTo>
                  <a:pt x="274963" y="263267"/>
                </a:lnTo>
                <a:lnTo>
                  <a:pt x="247670" y="297439"/>
                </a:lnTo>
                <a:lnTo>
                  <a:pt x="225695" y="334091"/>
                </a:lnTo>
                <a:lnTo>
                  <a:pt x="209583" y="372952"/>
                </a:lnTo>
                <a:lnTo>
                  <a:pt x="200026" y="413503"/>
                </a:lnTo>
                <a:lnTo>
                  <a:pt x="197680" y="455284"/>
                </a:lnTo>
                <a:lnTo>
                  <a:pt x="203200" y="497839"/>
                </a:lnTo>
                <a:lnTo>
                  <a:pt x="155554" y="507237"/>
                </a:lnTo>
                <a:lnTo>
                  <a:pt x="112374" y="524965"/>
                </a:lnTo>
                <a:lnTo>
                  <a:pt x="74704" y="550024"/>
                </a:lnTo>
                <a:lnTo>
                  <a:pt x="43587" y="581415"/>
                </a:lnTo>
                <a:lnTo>
                  <a:pt x="20068" y="618138"/>
                </a:lnTo>
                <a:lnTo>
                  <a:pt x="5191" y="659192"/>
                </a:lnTo>
                <a:lnTo>
                  <a:pt x="0" y="703579"/>
                </a:lnTo>
                <a:lnTo>
                  <a:pt x="4683" y="747897"/>
                </a:lnTo>
                <a:lnTo>
                  <a:pt x="18572" y="788680"/>
                </a:lnTo>
                <a:lnTo>
                  <a:pt x="41422" y="824829"/>
                </a:lnTo>
                <a:lnTo>
                  <a:pt x="72989" y="855248"/>
                </a:lnTo>
                <a:lnTo>
                  <a:pt x="113029" y="878839"/>
                </a:lnTo>
                <a:lnTo>
                  <a:pt x="86161" y="910510"/>
                </a:lnTo>
                <a:lnTo>
                  <a:pt x="66675" y="944562"/>
                </a:lnTo>
                <a:lnTo>
                  <a:pt x="54808" y="980995"/>
                </a:lnTo>
                <a:lnTo>
                  <a:pt x="50800" y="1019809"/>
                </a:lnTo>
                <a:lnTo>
                  <a:pt x="54840" y="1061419"/>
                </a:lnTo>
                <a:lnTo>
                  <a:pt x="66932" y="1100038"/>
                </a:lnTo>
                <a:lnTo>
                  <a:pt x="87032" y="1134935"/>
                </a:lnTo>
                <a:lnTo>
                  <a:pt x="115093" y="1165383"/>
                </a:lnTo>
                <a:lnTo>
                  <a:pt x="151072" y="1190652"/>
                </a:lnTo>
                <a:lnTo>
                  <a:pt x="194925" y="1210012"/>
                </a:lnTo>
                <a:lnTo>
                  <a:pt x="246605" y="1222734"/>
                </a:lnTo>
                <a:lnTo>
                  <a:pt x="306070" y="1228089"/>
                </a:lnTo>
                <a:lnTo>
                  <a:pt x="332100" y="1264174"/>
                </a:lnTo>
                <a:lnTo>
                  <a:pt x="362479" y="1296913"/>
                </a:lnTo>
                <a:lnTo>
                  <a:pt x="396757" y="1326068"/>
                </a:lnTo>
                <a:lnTo>
                  <a:pt x="434484" y="1351396"/>
                </a:lnTo>
                <a:lnTo>
                  <a:pt x="475211" y="1372659"/>
                </a:lnTo>
                <a:lnTo>
                  <a:pt x="518489" y="1389615"/>
                </a:lnTo>
                <a:lnTo>
                  <a:pt x="563867" y="1402024"/>
                </a:lnTo>
                <a:lnTo>
                  <a:pt x="610897" y="1409645"/>
                </a:lnTo>
                <a:lnTo>
                  <a:pt x="659130" y="1412239"/>
                </a:lnTo>
                <a:lnTo>
                  <a:pt x="732413" y="1410576"/>
                </a:lnTo>
                <a:lnTo>
                  <a:pt x="778886" y="1405701"/>
                </a:lnTo>
                <a:lnTo>
                  <a:pt x="807084" y="1397793"/>
                </a:lnTo>
                <a:lnTo>
                  <a:pt x="825547" y="1387028"/>
                </a:lnTo>
                <a:lnTo>
                  <a:pt x="842809" y="1373581"/>
                </a:lnTo>
                <a:lnTo>
                  <a:pt x="867410" y="1357630"/>
                </a:lnTo>
                <a:lnTo>
                  <a:pt x="1462725" y="1357630"/>
                </a:lnTo>
                <a:lnTo>
                  <a:pt x="1463165" y="1357110"/>
                </a:lnTo>
                <a:lnTo>
                  <a:pt x="1487938" y="1317148"/>
                </a:lnTo>
                <a:lnTo>
                  <a:pt x="1506220" y="1273809"/>
                </a:lnTo>
                <a:lnTo>
                  <a:pt x="1831944" y="1273809"/>
                </a:lnTo>
                <a:lnTo>
                  <a:pt x="1883727" y="1237614"/>
                </a:lnTo>
                <a:lnTo>
                  <a:pt x="1914032" y="1205890"/>
                </a:lnTo>
                <a:lnTo>
                  <a:pt x="1938637" y="1170127"/>
                </a:lnTo>
                <a:lnTo>
                  <a:pt x="1956948" y="1130858"/>
                </a:lnTo>
                <a:lnTo>
                  <a:pt x="1968370" y="1088618"/>
                </a:lnTo>
                <a:lnTo>
                  <a:pt x="1972309" y="1043939"/>
                </a:lnTo>
                <a:lnTo>
                  <a:pt x="2023645" y="1033816"/>
                </a:lnTo>
                <a:lnTo>
                  <a:pt x="2072101" y="1017513"/>
                </a:lnTo>
                <a:lnTo>
                  <a:pt x="2117082" y="995556"/>
                </a:lnTo>
                <a:lnTo>
                  <a:pt x="2157994" y="968471"/>
                </a:lnTo>
                <a:lnTo>
                  <a:pt x="2194242" y="936783"/>
                </a:lnTo>
                <a:lnTo>
                  <a:pt x="2225233" y="901019"/>
                </a:lnTo>
                <a:lnTo>
                  <a:pt x="2250371" y="861703"/>
                </a:lnTo>
                <a:lnTo>
                  <a:pt x="2269063" y="819363"/>
                </a:lnTo>
                <a:lnTo>
                  <a:pt x="2280714" y="774523"/>
                </a:lnTo>
                <a:lnTo>
                  <a:pt x="2284730" y="727709"/>
                </a:lnTo>
                <a:lnTo>
                  <a:pt x="2278995" y="675540"/>
                </a:lnTo>
                <a:lnTo>
                  <a:pt x="2262663" y="624681"/>
                </a:lnTo>
                <a:lnTo>
                  <a:pt x="2237045" y="576441"/>
                </a:lnTo>
                <a:lnTo>
                  <a:pt x="2203450" y="532129"/>
                </a:lnTo>
                <a:lnTo>
                  <a:pt x="2214721" y="508059"/>
                </a:lnTo>
                <a:lnTo>
                  <a:pt x="2222182" y="483393"/>
                </a:lnTo>
                <a:lnTo>
                  <a:pt x="2226310" y="458013"/>
                </a:lnTo>
                <a:lnTo>
                  <a:pt x="2227580" y="431799"/>
                </a:lnTo>
                <a:lnTo>
                  <a:pt x="2222377" y="383902"/>
                </a:lnTo>
                <a:lnTo>
                  <a:pt x="2207422" y="338804"/>
                </a:lnTo>
                <a:lnTo>
                  <a:pt x="2183692" y="297439"/>
                </a:lnTo>
                <a:lnTo>
                  <a:pt x="2152164" y="260738"/>
                </a:lnTo>
                <a:lnTo>
                  <a:pt x="2113816" y="229636"/>
                </a:lnTo>
                <a:lnTo>
                  <a:pt x="2069626" y="205066"/>
                </a:lnTo>
                <a:lnTo>
                  <a:pt x="2020570" y="187959"/>
                </a:lnTo>
                <a:lnTo>
                  <a:pt x="2018177" y="180339"/>
                </a:lnTo>
                <a:lnTo>
                  <a:pt x="736600" y="180339"/>
                </a:lnTo>
                <a:lnTo>
                  <a:pt x="695404" y="161964"/>
                </a:lnTo>
                <a:lnTo>
                  <a:pt x="650875" y="147637"/>
                </a:lnTo>
                <a:lnTo>
                  <a:pt x="604440" y="138549"/>
                </a:lnTo>
                <a:lnTo>
                  <a:pt x="557530" y="135889"/>
                </a:lnTo>
                <a:close/>
              </a:path>
              <a:path w="2284730" h="1503679">
                <a:moveTo>
                  <a:pt x="1831944" y="1273809"/>
                </a:moveTo>
                <a:lnTo>
                  <a:pt x="1506220" y="1273809"/>
                </a:lnTo>
                <a:lnTo>
                  <a:pt x="1543565" y="1292344"/>
                </a:lnTo>
                <a:lnTo>
                  <a:pt x="1583054" y="1305877"/>
                </a:lnTo>
                <a:lnTo>
                  <a:pt x="1624449" y="1314172"/>
                </a:lnTo>
                <a:lnTo>
                  <a:pt x="1667509" y="1316989"/>
                </a:lnTo>
                <a:lnTo>
                  <a:pt x="1717398" y="1313459"/>
                </a:lnTo>
                <a:lnTo>
                  <a:pt x="1764558" y="1303223"/>
                </a:lnTo>
                <a:lnTo>
                  <a:pt x="1808396" y="1286814"/>
                </a:lnTo>
                <a:lnTo>
                  <a:pt x="1831944" y="1273809"/>
                </a:lnTo>
                <a:close/>
              </a:path>
              <a:path w="2284730" h="1503679">
                <a:moveTo>
                  <a:pt x="988060" y="44449"/>
                </a:moveTo>
                <a:lnTo>
                  <a:pt x="935919" y="48695"/>
                </a:lnTo>
                <a:lnTo>
                  <a:pt x="886742" y="61054"/>
                </a:lnTo>
                <a:lnTo>
                  <a:pt x="841375" y="80962"/>
                </a:lnTo>
                <a:lnTo>
                  <a:pt x="800664" y="107855"/>
                </a:lnTo>
                <a:lnTo>
                  <a:pt x="765457" y="141169"/>
                </a:lnTo>
                <a:lnTo>
                  <a:pt x="736600" y="180339"/>
                </a:lnTo>
                <a:lnTo>
                  <a:pt x="2018177" y="180339"/>
                </a:lnTo>
                <a:lnTo>
                  <a:pt x="2006377" y="142758"/>
                </a:lnTo>
                <a:lnTo>
                  <a:pt x="1992155" y="118109"/>
                </a:lnTo>
                <a:lnTo>
                  <a:pt x="1184910" y="118109"/>
                </a:lnTo>
                <a:lnTo>
                  <a:pt x="1142007" y="87669"/>
                </a:lnTo>
                <a:lnTo>
                  <a:pt x="1093152" y="65087"/>
                </a:lnTo>
                <a:lnTo>
                  <a:pt x="1040963" y="50601"/>
                </a:lnTo>
                <a:lnTo>
                  <a:pt x="988060" y="44449"/>
                </a:lnTo>
                <a:close/>
              </a:path>
              <a:path w="2284730" h="1503679">
                <a:moveTo>
                  <a:pt x="1390650" y="0"/>
                </a:moveTo>
                <a:lnTo>
                  <a:pt x="1339748" y="5090"/>
                </a:lnTo>
                <a:lnTo>
                  <a:pt x="1291894" y="19994"/>
                </a:lnTo>
                <a:lnTo>
                  <a:pt x="1248917" y="44165"/>
                </a:lnTo>
                <a:lnTo>
                  <a:pt x="1212646" y="77053"/>
                </a:lnTo>
                <a:lnTo>
                  <a:pt x="1184910" y="118109"/>
                </a:lnTo>
                <a:lnTo>
                  <a:pt x="1992155" y="118109"/>
                </a:lnTo>
                <a:lnTo>
                  <a:pt x="1983077" y="102377"/>
                </a:lnTo>
                <a:lnTo>
                  <a:pt x="1962978" y="80009"/>
                </a:lnTo>
                <a:lnTo>
                  <a:pt x="1572259" y="80009"/>
                </a:lnTo>
                <a:lnTo>
                  <a:pt x="1536382" y="47148"/>
                </a:lnTo>
                <a:lnTo>
                  <a:pt x="1492884" y="21907"/>
                </a:lnTo>
                <a:lnTo>
                  <a:pt x="1443672" y="5714"/>
                </a:lnTo>
                <a:lnTo>
                  <a:pt x="1390650" y="0"/>
                </a:lnTo>
                <a:close/>
              </a:path>
              <a:path w="2284730" h="1503679">
                <a:moveTo>
                  <a:pt x="1770380" y="0"/>
                </a:moveTo>
                <a:lnTo>
                  <a:pt x="1714063" y="5536"/>
                </a:lnTo>
                <a:lnTo>
                  <a:pt x="1660842" y="21431"/>
                </a:lnTo>
                <a:lnTo>
                  <a:pt x="1612860" y="46612"/>
                </a:lnTo>
                <a:lnTo>
                  <a:pt x="1572259" y="80009"/>
                </a:lnTo>
                <a:lnTo>
                  <a:pt x="1962978" y="80009"/>
                </a:lnTo>
                <a:lnTo>
                  <a:pt x="1913771" y="39188"/>
                </a:lnTo>
                <a:lnTo>
                  <a:pt x="1870076" y="17935"/>
                </a:lnTo>
                <a:lnTo>
                  <a:pt x="1821894" y="4613"/>
                </a:lnTo>
                <a:lnTo>
                  <a:pt x="1770380" y="0"/>
                </a:lnTo>
                <a:close/>
              </a:path>
            </a:pathLst>
          </a:custGeom>
          <a:solidFill>
            <a:srgbClr val="33CCCC">
              <a:alpha val="50000"/>
            </a:srgbClr>
          </a:solidFill>
        </p:spPr>
        <p:txBody>
          <a:bodyPr wrap="square" lIns="0" tIns="0" rIns="0" bIns="0" rtlCol="0"/>
          <a:lstStyle/>
          <a:p/>
        </p:txBody>
      </p:sp>
      <p:sp>
        <p:nvSpPr>
          <p:cNvPr id="57" name="object 57"/>
          <p:cNvSpPr/>
          <p:nvPr/>
        </p:nvSpPr>
        <p:spPr>
          <a:xfrm>
            <a:off x="1935480" y="5248909"/>
            <a:ext cx="2284730" cy="1503680"/>
          </a:xfrm>
          <a:custGeom>
            <a:avLst/>
            <a:gdLst/>
            <a:ahLst/>
            <a:cxnLst/>
            <a:rect l="l" t="t" r="r" b="b"/>
            <a:pathLst>
              <a:path w="2284730" h="1503679">
                <a:moveTo>
                  <a:pt x="203200" y="497839"/>
                </a:moveTo>
                <a:lnTo>
                  <a:pt x="197680" y="455284"/>
                </a:lnTo>
                <a:lnTo>
                  <a:pt x="200026" y="413503"/>
                </a:lnTo>
                <a:lnTo>
                  <a:pt x="209583" y="372952"/>
                </a:lnTo>
                <a:lnTo>
                  <a:pt x="225695" y="334091"/>
                </a:lnTo>
                <a:lnTo>
                  <a:pt x="247707" y="297377"/>
                </a:lnTo>
                <a:lnTo>
                  <a:pt x="274963" y="263267"/>
                </a:lnTo>
                <a:lnTo>
                  <a:pt x="306808" y="232220"/>
                </a:lnTo>
                <a:lnTo>
                  <a:pt x="342586" y="204693"/>
                </a:lnTo>
                <a:lnTo>
                  <a:pt x="381642" y="181145"/>
                </a:lnTo>
                <a:lnTo>
                  <a:pt x="423319" y="162032"/>
                </a:lnTo>
                <a:lnTo>
                  <a:pt x="466964" y="147814"/>
                </a:lnTo>
                <a:lnTo>
                  <a:pt x="511919" y="138947"/>
                </a:lnTo>
                <a:lnTo>
                  <a:pt x="557530" y="135889"/>
                </a:lnTo>
                <a:lnTo>
                  <a:pt x="604440" y="138549"/>
                </a:lnTo>
                <a:lnTo>
                  <a:pt x="650875" y="147637"/>
                </a:lnTo>
                <a:lnTo>
                  <a:pt x="695404" y="161964"/>
                </a:lnTo>
                <a:lnTo>
                  <a:pt x="736600" y="180339"/>
                </a:lnTo>
                <a:lnTo>
                  <a:pt x="765457" y="141169"/>
                </a:lnTo>
                <a:lnTo>
                  <a:pt x="800664" y="107855"/>
                </a:lnTo>
                <a:lnTo>
                  <a:pt x="841375" y="80962"/>
                </a:lnTo>
                <a:lnTo>
                  <a:pt x="886742" y="61054"/>
                </a:lnTo>
                <a:lnTo>
                  <a:pt x="935919" y="48695"/>
                </a:lnTo>
                <a:lnTo>
                  <a:pt x="988060" y="44449"/>
                </a:lnTo>
                <a:lnTo>
                  <a:pt x="1040963" y="50601"/>
                </a:lnTo>
                <a:lnTo>
                  <a:pt x="1093152" y="65087"/>
                </a:lnTo>
                <a:lnTo>
                  <a:pt x="1142007" y="87669"/>
                </a:lnTo>
                <a:lnTo>
                  <a:pt x="1184910" y="118109"/>
                </a:lnTo>
                <a:lnTo>
                  <a:pt x="1212646" y="77053"/>
                </a:lnTo>
                <a:lnTo>
                  <a:pt x="1248917" y="44165"/>
                </a:lnTo>
                <a:lnTo>
                  <a:pt x="1291894" y="19994"/>
                </a:lnTo>
                <a:lnTo>
                  <a:pt x="1339748" y="5090"/>
                </a:lnTo>
                <a:lnTo>
                  <a:pt x="1390650" y="0"/>
                </a:lnTo>
                <a:lnTo>
                  <a:pt x="1443672" y="5714"/>
                </a:lnTo>
                <a:lnTo>
                  <a:pt x="1492884" y="21907"/>
                </a:lnTo>
                <a:lnTo>
                  <a:pt x="1536382" y="47148"/>
                </a:lnTo>
                <a:lnTo>
                  <a:pt x="1572259" y="80009"/>
                </a:lnTo>
                <a:lnTo>
                  <a:pt x="1612860" y="46612"/>
                </a:lnTo>
                <a:lnTo>
                  <a:pt x="1660842" y="21431"/>
                </a:lnTo>
                <a:lnTo>
                  <a:pt x="1714063" y="5536"/>
                </a:lnTo>
                <a:lnTo>
                  <a:pt x="1770380" y="0"/>
                </a:lnTo>
                <a:lnTo>
                  <a:pt x="1821894" y="4613"/>
                </a:lnTo>
                <a:lnTo>
                  <a:pt x="1870076" y="17935"/>
                </a:lnTo>
                <a:lnTo>
                  <a:pt x="1913771" y="39188"/>
                </a:lnTo>
                <a:lnTo>
                  <a:pt x="1951823" y="67595"/>
                </a:lnTo>
                <a:lnTo>
                  <a:pt x="1983077" y="102377"/>
                </a:lnTo>
                <a:lnTo>
                  <a:pt x="2006377" y="142758"/>
                </a:lnTo>
                <a:lnTo>
                  <a:pt x="2020570" y="187959"/>
                </a:lnTo>
                <a:lnTo>
                  <a:pt x="2069626" y="205066"/>
                </a:lnTo>
                <a:lnTo>
                  <a:pt x="2113816" y="229636"/>
                </a:lnTo>
                <a:lnTo>
                  <a:pt x="2152164" y="260738"/>
                </a:lnTo>
                <a:lnTo>
                  <a:pt x="2183692" y="297439"/>
                </a:lnTo>
                <a:lnTo>
                  <a:pt x="2207422" y="338804"/>
                </a:lnTo>
                <a:lnTo>
                  <a:pt x="2222377" y="383902"/>
                </a:lnTo>
                <a:lnTo>
                  <a:pt x="2227580" y="431799"/>
                </a:lnTo>
                <a:lnTo>
                  <a:pt x="2226310" y="458013"/>
                </a:lnTo>
                <a:lnTo>
                  <a:pt x="2222182" y="483393"/>
                </a:lnTo>
                <a:lnTo>
                  <a:pt x="2214721" y="508059"/>
                </a:lnTo>
                <a:lnTo>
                  <a:pt x="2203450" y="532129"/>
                </a:lnTo>
                <a:lnTo>
                  <a:pt x="2237045" y="576441"/>
                </a:lnTo>
                <a:lnTo>
                  <a:pt x="2262663" y="624681"/>
                </a:lnTo>
                <a:lnTo>
                  <a:pt x="2278995" y="675540"/>
                </a:lnTo>
                <a:lnTo>
                  <a:pt x="2284730" y="727709"/>
                </a:lnTo>
                <a:lnTo>
                  <a:pt x="2280714" y="774523"/>
                </a:lnTo>
                <a:lnTo>
                  <a:pt x="2269063" y="819363"/>
                </a:lnTo>
                <a:lnTo>
                  <a:pt x="2250371" y="861703"/>
                </a:lnTo>
                <a:lnTo>
                  <a:pt x="2225233" y="901019"/>
                </a:lnTo>
                <a:lnTo>
                  <a:pt x="2194242" y="936783"/>
                </a:lnTo>
                <a:lnTo>
                  <a:pt x="2157994" y="968471"/>
                </a:lnTo>
                <a:lnTo>
                  <a:pt x="2117082" y="995556"/>
                </a:lnTo>
                <a:lnTo>
                  <a:pt x="2072101" y="1017513"/>
                </a:lnTo>
                <a:lnTo>
                  <a:pt x="2023645" y="1033816"/>
                </a:lnTo>
                <a:lnTo>
                  <a:pt x="1972309" y="1043939"/>
                </a:lnTo>
                <a:lnTo>
                  <a:pt x="1968370" y="1088618"/>
                </a:lnTo>
                <a:lnTo>
                  <a:pt x="1956948" y="1130858"/>
                </a:lnTo>
                <a:lnTo>
                  <a:pt x="1938637" y="1170127"/>
                </a:lnTo>
                <a:lnTo>
                  <a:pt x="1914032" y="1205890"/>
                </a:lnTo>
                <a:lnTo>
                  <a:pt x="1883727" y="1237614"/>
                </a:lnTo>
                <a:lnTo>
                  <a:pt x="1848317" y="1264767"/>
                </a:lnTo>
                <a:lnTo>
                  <a:pt x="1808396" y="1286814"/>
                </a:lnTo>
                <a:lnTo>
                  <a:pt x="1764558" y="1303223"/>
                </a:lnTo>
                <a:lnTo>
                  <a:pt x="1717398" y="1313459"/>
                </a:lnTo>
                <a:lnTo>
                  <a:pt x="1667509" y="1316989"/>
                </a:lnTo>
                <a:lnTo>
                  <a:pt x="1624449" y="1314172"/>
                </a:lnTo>
                <a:lnTo>
                  <a:pt x="1583054" y="1305877"/>
                </a:lnTo>
                <a:lnTo>
                  <a:pt x="1543565" y="1292344"/>
                </a:lnTo>
                <a:lnTo>
                  <a:pt x="1506220" y="1273809"/>
                </a:lnTo>
                <a:lnTo>
                  <a:pt x="1487938" y="1317148"/>
                </a:lnTo>
                <a:lnTo>
                  <a:pt x="1463165" y="1357110"/>
                </a:lnTo>
                <a:lnTo>
                  <a:pt x="1432559" y="1393237"/>
                </a:lnTo>
                <a:lnTo>
                  <a:pt x="1396780" y="1425067"/>
                </a:lnTo>
                <a:lnTo>
                  <a:pt x="1356485" y="1452141"/>
                </a:lnTo>
                <a:lnTo>
                  <a:pt x="1312333" y="1473999"/>
                </a:lnTo>
                <a:lnTo>
                  <a:pt x="1264982" y="1490182"/>
                </a:lnTo>
                <a:lnTo>
                  <a:pt x="1215092" y="1500228"/>
                </a:lnTo>
                <a:lnTo>
                  <a:pt x="1163320" y="1503680"/>
                </a:lnTo>
                <a:lnTo>
                  <a:pt x="1113271" y="1500255"/>
                </a:lnTo>
                <a:lnTo>
                  <a:pt x="1064778" y="1490276"/>
                </a:lnTo>
                <a:lnTo>
                  <a:pt x="1018462" y="1474188"/>
                </a:lnTo>
                <a:lnTo>
                  <a:pt x="974945" y="1452435"/>
                </a:lnTo>
                <a:lnTo>
                  <a:pt x="934849" y="1425462"/>
                </a:lnTo>
                <a:lnTo>
                  <a:pt x="898797" y="1393712"/>
                </a:lnTo>
                <a:lnTo>
                  <a:pt x="867410" y="1357630"/>
                </a:lnTo>
                <a:lnTo>
                  <a:pt x="842809" y="1373581"/>
                </a:lnTo>
                <a:lnTo>
                  <a:pt x="807084" y="1397793"/>
                </a:lnTo>
                <a:lnTo>
                  <a:pt x="732413" y="1410576"/>
                </a:lnTo>
                <a:lnTo>
                  <a:pt x="659130" y="1412239"/>
                </a:lnTo>
                <a:lnTo>
                  <a:pt x="610897" y="1409645"/>
                </a:lnTo>
                <a:lnTo>
                  <a:pt x="563867" y="1402024"/>
                </a:lnTo>
                <a:lnTo>
                  <a:pt x="518489" y="1389615"/>
                </a:lnTo>
                <a:lnTo>
                  <a:pt x="475211" y="1372659"/>
                </a:lnTo>
                <a:lnTo>
                  <a:pt x="434484" y="1351396"/>
                </a:lnTo>
                <a:lnTo>
                  <a:pt x="396757" y="1326068"/>
                </a:lnTo>
                <a:lnTo>
                  <a:pt x="362479" y="1296913"/>
                </a:lnTo>
                <a:lnTo>
                  <a:pt x="332100" y="1264174"/>
                </a:lnTo>
                <a:lnTo>
                  <a:pt x="306070" y="1228089"/>
                </a:lnTo>
                <a:lnTo>
                  <a:pt x="246605" y="1222734"/>
                </a:lnTo>
                <a:lnTo>
                  <a:pt x="194925" y="1210012"/>
                </a:lnTo>
                <a:lnTo>
                  <a:pt x="151072" y="1190652"/>
                </a:lnTo>
                <a:lnTo>
                  <a:pt x="115093" y="1165383"/>
                </a:lnTo>
                <a:lnTo>
                  <a:pt x="87032" y="1134935"/>
                </a:lnTo>
                <a:lnTo>
                  <a:pt x="66932" y="1100038"/>
                </a:lnTo>
                <a:lnTo>
                  <a:pt x="54840" y="1061419"/>
                </a:lnTo>
                <a:lnTo>
                  <a:pt x="50800" y="1019809"/>
                </a:lnTo>
                <a:lnTo>
                  <a:pt x="54808" y="980995"/>
                </a:lnTo>
                <a:lnTo>
                  <a:pt x="66675" y="944562"/>
                </a:lnTo>
                <a:lnTo>
                  <a:pt x="86161" y="910510"/>
                </a:lnTo>
                <a:lnTo>
                  <a:pt x="113029" y="878839"/>
                </a:lnTo>
                <a:lnTo>
                  <a:pt x="72989" y="855248"/>
                </a:lnTo>
                <a:lnTo>
                  <a:pt x="41422" y="824829"/>
                </a:lnTo>
                <a:lnTo>
                  <a:pt x="18572" y="788680"/>
                </a:lnTo>
                <a:lnTo>
                  <a:pt x="4683" y="747897"/>
                </a:lnTo>
                <a:lnTo>
                  <a:pt x="0" y="703579"/>
                </a:lnTo>
                <a:lnTo>
                  <a:pt x="5191" y="659192"/>
                </a:lnTo>
                <a:lnTo>
                  <a:pt x="20068" y="618138"/>
                </a:lnTo>
                <a:lnTo>
                  <a:pt x="43587" y="581415"/>
                </a:lnTo>
                <a:lnTo>
                  <a:pt x="74704" y="550024"/>
                </a:lnTo>
                <a:lnTo>
                  <a:pt x="112374" y="524965"/>
                </a:lnTo>
                <a:lnTo>
                  <a:pt x="155554" y="507237"/>
                </a:lnTo>
                <a:lnTo>
                  <a:pt x="203200" y="497839"/>
                </a:lnTo>
                <a:close/>
              </a:path>
            </a:pathLst>
          </a:custGeom>
          <a:ln w="9344">
            <a:solidFill>
              <a:srgbClr val="000000"/>
            </a:solidFill>
          </a:ln>
        </p:spPr>
        <p:txBody>
          <a:bodyPr wrap="square" lIns="0" tIns="0" rIns="0" bIns="0" rtlCol="0"/>
          <a:lstStyle/>
          <a:p/>
        </p:txBody>
      </p:sp>
      <p:sp>
        <p:nvSpPr>
          <p:cNvPr id="58" name="object 58"/>
          <p:cNvSpPr/>
          <p:nvPr/>
        </p:nvSpPr>
        <p:spPr>
          <a:xfrm>
            <a:off x="2138680" y="5746750"/>
            <a:ext cx="17780" cy="53340"/>
          </a:xfrm>
          <a:custGeom>
            <a:avLst/>
            <a:gdLst/>
            <a:ahLst/>
            <a:cxnLst/>
            <a:rect l="l" t="t" r="r" b="b"/>
            <a:pathLst>
              <a:path w="17779" h="53339">
                <a:moveTo>
                  <a:pt x="0" y="0"/>
                </a:moveTo>
                <a:lnTo>
                  <a:pt x="3135" y="13513"/>
                </a:lnTo>
                <a:lnTo>
                  <a:pt x="7937" y="27146"/>
                </a:lnTo>
                <a:lnTo>
                  <a:pt x="13215" y="40540"/>
                </a:lnTo>
                <a:lnTo>
                  <a:pt x="17779" y="53340"/>
                </a:lnTo>
              </a:path>
            </a:pathLst>
          </a:custGeom>
          <a:ln w="9344">
            <a:solidFill>
              <a:srgbClr val="000000"/>
            </a:solidFill>
          </a:ln>
        </p:spPr>
        <p:txBody>
          <a:bodyPr wrap="square" lIns="0" tIns="0" rIns="0" bIns="0" rtlCol="0"/>
          <a:lstStyle/>
          <a:p/>
        </p:txBody>
      </p:sp>
      <p:sp>
        <p:nvSpPr>
          <p:cNvPr id="59" name="object 59"/>
          <p:cNvSpPr/>
          <p:nvPr/>
        </p:nvSpPr>
        <p:spPr>
          <a:xfrm>
            <a:off x="2672080" y="5429250"/>
            <a:ext cx="73660" cy="49530"/>
          </a:xfrm>
          <a:custGeom>
            <a:avLst/>
            <a:gdLst/>
            <a:ahLst/>
            <a:cxnLst/>
            <a:rect l="l" t="t" r="r" b="b"/>
            <a:pathLst>
              <a:path w="73659" h="49529">
                <a:moveTo>
                  <a:pt x="0" y="0"/>
                </a:moveTo>
                <a:lnTo>
                  <a:pt x="18831" y="10596"/>
                </a:lnTo>
                <a:lnTo>
                  <a:pt x="38258" y="22859"/>
                </a:lnTo>
                <a:lnTo>
                  <a:pt x="56971" y="36075"/>
                </a:lnTo>
                <a:lnTo>
                  <a:pt x="73659" y="49530"/>
                </a:lnTo>
              </a:path>
            </a:pathLst>
          </a:custGeom>
          <a:ln w="9344">
            <a:solidFill>
              <a:srgbClr val="000000"/>
            </a:solidFill>
          </a:ln>
        </p:spPr>
        <p:txBody>
          <a:bodyPr wrap="square" lIns="0" tIns="0" rIns="0" bIns="0" rtlCol="0"/>
          <a:lstStyle/>
          <a:p/>
        </p:txBody>
      </p:sp>
      <p:sp>
        <p:nvSpPr>
          <p:cNvPr id="60" name="object 60"/>
          <p:cNvSpPr/>
          <p:nvPr/>
        </p:nvSpPr>
        <p:spPr>
          <a:xfrm>
            <a:off x="3101339" y="5367020"/>
            <a:ext cx="19050" cy="48260"/>
          </a:xfrm>
          <a:custGeom>
            <a:avLst/>
            <a:gdLst/>
            <a:ahLst/>
            <a:cxnLst/>
            <a:rect l="l" t="t" r="r" b="b"/>
            <a:pathLst>
              <a:path w="19050" h="48260">
                <a:moveTo>
                  <a:pt x="19050" y="0"/>
                </a:moveTo>
                <a:lnTo>
                  <a:pt x="13573" y="11112"/>
                </a:lnTo>
                <a:lnTo>
                  <a:pt x="8572" y="23177"/>
                </a:lnTo>
                <a:lnTo>
                  <a:pt x="4048" y="35718"/>
                </a:lnTo>
                <a:lnTo>
                  <a:pt x="0" y="48259"/>
                </a:lnTo>
              </a:path>
            </a:pathLst>
          </a:custGeom>
          <a:ln w="9344">
            <a:solidFill>
              <a:srgbClr val="000000"/>
            </a:solidFill>
          </a:ln>
        </p:spPr>
        <p:txBody>
          <a:bodyPr wrap="square" lIns="0" tIns="0" rIns="0" bIns="0" rtlCol="0"/>
          <a:lstStyle/>
          <a:p/>
        </p:txBody>
      </p:sp>
      <p:sp>
        <p:nvSpPr>
          <p:cNvPr id="61" name="object 61"/>
          <p:cNvSpPr/>
          <p:nvPr/>
        </p:nvSpPr>
        <p:spPr>
          <a:xfrm>
            <a:off x="3473450" y="5328920"/>
            <a:ext cx="34290" cy="59690"/>
          </a:xfrm>
          <a:custGeom>
            <a:avLst/>
            <a:gdLst/>
            <a:ahLst/>
            <a:cxnLst/>
            <a:rect l="l" t="t" r="r" b="b"/>
            <a:pathLst>
              <a:path w="34289" h="59689">
                <a:moveTo>
                  <a:pt x="34289" y="0"/>
                </a:moveTo>
                <a:lnTo>
                  <a:pt x="23931" y="13434"/>
                </a:lnTo>
                <a:lnTo>
                  <a:pt x="15240" y="28416"/>
                </a:lnTo>
                <a:lnTo>
                  <a:pt x="7500" y="44112"/>
                </a:lnTo>
                <a:lnTo>
                  <a:pt x="0" y="59689"/>
                </a:lnTo>
              </a:path>
            </a:pathLst>
          </a:custGeom>
          <a:ln w="9344">
            <a:solidFill>
              <a:srgbClr val="000000"/>
            </a:solidFill>
          </a:ln>
        </p:spPr>
        <p:txBody>
          <a:bodyPr wrap="square" lIns="0" tIns="0" rIns="0" bIns="0" rtlCol="0"/>
          <a:lstStyle/>
          <a:p/>
        </p:txBody>
      </p:sp>
      <p:sp>
        <p:nvSpPr>
          <p:cNvPr id="62" name="object 62"/>
          <p:cNvSpPr/>
          <p:nvPr/>
        </p:nvSpPr>
        <p:spPr>
          <a:xfrm>
            <a:off x="3956050" y="5436870"/>
            <a:ext cx="9525" cy="46990"/>
          </a:xfrm>
          <a:custGeom>
            <a:avLst/>
            <a:gdLst/>
            <a:ahLst/>
            <a:cxnLst/>
            <a:rect l="l" t="t" r="r" b="b"/>
            <a:pathLst>
              <a:path w="9525" h="46989">
                <a:moveTo>
                  <a:pt x="0" y="0"/>
                </a:moveTo>
                <a:lnTo>
                  <a:pt x="2996" y="11807"/>
                </a:lnTo>
                <a:lnTo>
                  <a:pt x="6826" y="25876"/>
                </a:lnTo>
                <a:lnTo>
                  <a:pt x="9465" y="38754"/>
                </a:lnTo>
                <a:lnTo>
                  <a:pt x="8889" y="46989"/>
                </a:lnTo>
              </a:path>
            </a:pathLst>
          </a:custGeom>
          <a:ln w="9344">
            <a:solidFill>
              <a:srgbClr val="000000"/>
            </a:solidFill>
          </a:ln>
        </p:spPr>
        <p:txBody>
          <a:bodyPr wrap="square" lIns="0" tIns="0" rIns="0" bIns="0" rtlCol="0"/>
          <a:lstStyle/>
          <a:p/>
        </p:txBody>
      </p:sp>
      <p:sp>
        <p:nvSpPr>
          <p:cNvPr id="63" name="object 63"/>
          <p:cNvSpPr/>
          <p:nvPr/>
        </p:nvSpPr>
        <p:spPr>
          <a:xfrm>
            <a:off x="4062729" y="5781040"/>
            <a:ext cx="76200" cy="92710"/>
          </a:xfrm>
          <a:custGeom>
            <a:avLst/>
            <a:gdLst/>
            <a:ahLst/>
            <a:cxnLst/>
            <a:rect l="l" t="t" r="r" b="b"/>
            <a:pathLst>
              <a:path w="76200" h="92710">
                <a:moveTo>
                  <a:pt x="76200" y="0"/>
                </a:moveTo>
                <a:lnTo>
                  <a:pt x="60900" y="25915"/>
                </a:lnTo>
                <a:lnTo>
                  <a:pt x="43338" y="50165"/>
                </a:lnTo>
                <a:lnTo>
                  <a:pt x="23157" y="72509"/>
                </a:lnTo>
                <a:lnTo>
                  <a:pt x="0" y="92710"/>
                </a:lnTo>
              </a:path>
            </a:pathLst>
          </a:custGeom>
          <a:ln w="9344">
            <a:solidFill>
              <a:srgbClr val="000000"/>
            </a:solidFill>
          </a:ln>
        </p:spPr>
        <p:txBody>
          <a:bodyPr wrap="square" lIns="0" tIns="0" rIns="0" bIns="0" rtlCol="0"/>
          <a:lstStyle/>
          <a:p/>
        </p:txBody>
      </p:sp>
      <p:sp>
        <p:nvSpPr>
          <p:cNvPr id="64" name="object 64"/>
          <p:cNvSpPr/>
          <p:nvPr/>
        </p:nvSpPr>
        <p:spPr>
          <a:xfrm>
            <a:off x="3733800" y="6045200"/>
            <a:ext cx="175260" cy="247650"/>
          </a:xfrm>
          <a:custGeom>
            <a:avLst/>
            <a:gdLst/>
            <a:ahLst/>
            <a:cxnLst/>
            <a:rect l="l" t="t" r="r" b="b"/>
            <a:pathLst>
              <a:path w="175260" h="247650">
                <a:moveTo>
                  <a:pt x="175260" y="247650"/>
                </a:moveTo>
                <a:lnTo>
                  <a:pt x="167395" y="183224"/>
                </a:lnTo>
                <a:lnTo>
                  <a:pt x="151866" y="143113"/>
                </a:lnTo>
                <a:lnTo>
                  <a:pt x="127896" y="101736"/>
                </a:lnTo>
                <a:lnTo>
                  <a:pt x="94950" y="62093"/>
                </a:lnTo>
                <a:lnTo>
                  <a:pt x="52495" y="27180"/>
                </a:lnTo>
                <a:lnTo>
                  <a:pt x="0" y="0"/>
                </a:lnTo>
              </a:path>
            </a:pathLst>
          </a:custGeom>
          <a:ln w="9344">
            <a:solidFill>
              <a:srgbClr val="000000"/>
            </a:solidFill>
          </a:ln>
        </p:spPr>
        <p:txBody>
          <a:bodyPr wrap="square" lIns="0" tIns="0" rIns="0" bIns="0" rtlCol="0"/>
          <a:lstStyle/>
          <a:p/>
        </p:txBody>
      </p:sp>
      <p:sp>
        <p:nvSpPr>
          <p:cNvPr id="65" name="object 65"/>
          <p:cNvSpPr/>
          <p:nvPr/>
        </p:nvSpPr>
        <p:spPr>
          <a:xfrm>
            <a:off x="3441700" y="6456679"/>
            <a:ext cx="13970" cy="66040"/>
          </a:xfrm>
          <a:custGeom>
            <a:avLst/>
            <a:gdLst/>
            <a:ahLst/>
            <a:cxnLst/>
            <a:rect l="l" t="t" r="r" b="b"/>
            <a:pathLst>
              <a:path w="13969" h="66040">
                <a:moveTo>
                  <a:pt x="0" y="66040"/>
                </a:moveTo>
                <a:lnTo>
                  <a:pt x="5040" y="49291"/>
                </a:lnTo>
                <a:lnTo>
                  <a:pt x="8889" y="33020"/>
                </a:lnTo>
                <a:lnTo>
                  <a:pt x="11787" y="16748"/>
                </a:lnTo>
                <a:lnTo>
                  <a:pt x="13969" y="0"/>
                </a:lnTo>
              </a:path>
            </a:pathLst>
          </a:custGeom>
          <a:ln w="9344">
            <a:solidFill>
              <a:srgbClr val="000000"/>
            </a:solidFill>
          </a:ln>
        </p:spPr>
        <p:txBody>
          <a:bodyPr wrap="square" lIns="0" tIns="0" rIns="0" bIns="0" rtlCol="0"/>
          <a:lstStyle/>
          <a:p/>
        </p:txBody>
      </p:sp>
      <p:sp>
        <p:nvSpPr>
          <p:cNvPr id="66" name="object 66"/>
          <p:cNvSpPr/>
          <p:nvPr/>
        </p:nvSpPr>
        <p:spPr>
          <a:xfrm>
            <a:off x="2766060" y="6545580"/>
            <a:ext cx="38100" cy="60960"/>
          </a:xfrm>
          <a:custGeom>
            <a:avLst/>
            <a:gdLst/>
            <a:ahLst/>
            <a:cxnLst/>
            <a:rect l="l" t="t" r="r" b="b"/>
            <a:pathLst>
              <a:path w="38100" h="60959">
                <a:moveTo>
                  <a:pt x="38100" y="60960"/>
                </a:moveTo>
                <a:lnTo>
                  <a:pt x="26610" y="46970"/>
                </a:lnTo>
                <a:lnTo>
                  <a:pt x="16668" y="31908"/>
                </a:lnTo>
                <a:lnTo>
                  <a:pt x="7917" y="16132"/>
                </a:lnTo>
                <a:lnTo>
                  <a:pt x="0" y="0"/>
                </a:lnTo>
              </a:path>
            </a:pathLst>
          </a:custGeom>
          <a:ln w="9344">
            <a:solidFill>
              <a:srgbClr val="000000"/>
            </a:solidFill>
          </a:ln>
        </p:spPr>
        <p:txBody>
          <a:bodyPr wrap="square" lIns="0" tIns="0" rIns="0" bIns="0" rtlCol="0"/>
          <a:lstStyle/>
          <a:p/>
        </p:txBody>
      </p:sp>
      <p:sp>
        <p:nvSpPr>
          <p:cNvPr id="67" name="object 67"/>
          <p:cNvSpPr/>
          <p:nvPr/>
        </p:nvSpPr>
        <p:spPr>
          <a:xfrm>
            <a:off x="2241550" y="6463029"/>
            <a:ext cx="59690" cy="13970"/>
          </a:xfrm>
          <a:custGeom>
            <a:avLst/>
            <a:gdLst/>
            <a:ahLst/>
            <a:cxnLst/>
            <a:rect l="l" t="t" r="r" b="b"/>
            <a:pathLst>
              <a:path w="59690" h="13970">
                <a:moveTo>
                  <a:pt x="0" y="13970"/>
                </a:moveTo>
                <a:lnTo>
                  <a:pt x="15220" y="11072"/>
                </a:lnTo>
                <a:lnTo>
                  <a:pt x="30321" y="7937"/>
                </a:lnTo>
                <a:lnTo>
                  <a:pt x="45184" y="4325"/>
                </a:lnTo>
                <a:lnTo>
                  <a:pt x="59690" y="0"/>
                </a:lnTo>
              </a:path>
            </a:pathLst>
          </a:custGeom>
          <a:ln w="9344">
            <a:solidFill>
              <a:srgbClr val="000000"/>
            </a:solidFill>
          </a:ln>
        </p:spPr>
        <p:txBody>
          <a:bodyPr wrap="square" lIns="0" tIns="0" rIns="0" bIns="0" rtlCol="0"/>
          <a:lstStyle/>
          <a:p/>
        </p:txBody>
      </p:sp>
      <p:sp>
        <p:nvSpPr>
          <p:cNvPr id="68" name="object 68"/>
          <p:cNvSpPr/>
          <p:nvPr/>
        </p:nvSpPr>
        <p:spPr>
          <a:xfrm>
            <a:off x="2048509" y="6127750"/>
            <a:ext cx="133350" cy="29209"/>
          </a:xfrm>
          <a:custGeom>
            <a:avLst/>
            <a:gdLst/>
            <a:ahLst/>
            <a:cxnLst/>
            <a:rect l="l" t="t" r="r" b="b"/>
            <a:pathLst>
              <a:path w="133350" h="29210">
                <a:moveTo>
                  <a:pt x="0" y="0"/>
                </a:moveTo>
                <a:lnTo>
                  <a:pt x="27086" y="13295"/>
                </a:lnTo>
                <a:lnTo>
                  <a:pt x="57626" y="23495"/>
                </a:lnTo>
                <a:lnTo>
                  <a:pt x="92690" y="28932"/>
                </a:lnTo>
                <a:lnTo>
                  <a:pt x="133350" y="27940"/>
                </a:lnTo>
              </a:path>
            </a:pathLst>
          </a:custGeom>
          <a:ln w="9344">
            <a:solidFill>
              <a:srgbClr val="000000"/>
            </a:solidFill>
          </a:ln>
        </p:spPr>
        <p:txBody>
          <a:bodyPr wrap="square" lIns="0" tIns="0" rIns="0" bIns="0" rtlCol="0"/>
          <a:lstStyle/>
          <a:p/>
        </p:txBody>
      </p:sp>
      <p:sp>
        <p:nvSpPr>
          <p:cNvPr id="69" name="object 69"/>
          <p:cNvSpPr/>
          <p:nvPr/>
        </p:nvSpPr>
        <p:spPr>
          <a:xfrm>
            <a:off x="4048760" y="5496559"/>
            <a:ext cx="379730" cy="250190"/>
          </a:xfrm>
          <a:custGeom>
            <a:avLst/>
            <a:gdLst/>
            <a:ahLst/>
            <a:cxnLst/>
            <a:rect l="l" t="t" r="r" b="b"/>
            <a:pathLst>
              <a:path w="379730" h="250189">
                <a:moveTo>
                  <a:pt x="190500" y="0"/>
                </a:moveTo>
                <a:lnTo>
                  <a:pt x="129235" y="6116"/>
                </a:lnTo>
                <a:lnTo>
                  <a:pt x="76809" y="23327"/>
                </a:lnTo>
                <a:lnTo>
                  <a:pt x="35966" y="49926"/>
                </a:lnTo>
                <a:lnTo>
                  <a:pt x="9448" y="84206"/>
                </a:lnTo>
                <a:lnTo>
                  <a:pt x="0" y="124459"/>
                </a:lnTo>
                <a:lnTo>
                  <a:pt x="9448" y="164845"/>
                </a:lnTo>
                <a:lnTo>
                  <a:pt x="35966" y="199440"/>
                </a:lnTo>
                <a:lnTo>
                  <a:pt x="76809" y="226415"/>
                </a:lnTo>
                <a:lnTo>
                  <a:pt x="129235" y="243941"/>
                </a:lnTo>
                <a:lnTo>
                  <a:pt x="190500" y="250189"/>
                </a:lnTo>
                <a:lnTo>
                  <a:pt x="251145" y="243941"/>
                </a:lnTo>
                <a:lnTo>
                  <a:pt x="303194" y="226415"/>
                </a:lnTo>
                <a:lnTo>
                  <a:pt x="343844" y="199440"/>
                </a:lnTo>
                <a:lnTo>
                  <a:pt x="370291" y="164845"/>
                </a:lnTo>
                <a:lnTo>
                  <a:pt x="379729" y="124459"/>
                </a:lnTo>
                <a:lnTo>
                  <a:pt x="370291" y="84206"/>
                </a:lnTo>
                <a:lnTo>
                  <a:pt x="343844" y="49926"/>
                </a:lnTo>
                <a:lnTo>
                  <a:pt x="303194" y="23327"/>
                </a:lnTo>
                <a:lnTo>
                  <a:pt x="251145" y="6116"/>
                </a:lnTo>
                <a:lnTo>
                  <a:pt x="190500" y="0"/>
                </a:lnTo>
                <a:close/>
              </a:path>
            </a:pathLst>
          </a:custGeom>
          <a:solidFill>
            <a:srgbClr val="33CCCC">
              <a:alpha val="50000"/>
            </a:srgbClr>
          </a:solidFill>
        </p:spPr>
        <p:txBody>
          <a:bodyPr wrap="square" lIns="0" tIns="0" rIns="0" bIns="0" rtlCol="0"/>
          <a:lstStyle/>
          <a:p/>
        </p:txBody>
      </p:sp>
      <p:sp>
        <p:nvSpPr>
          <p:cNvPr id="70" name="object 70"/>
          <p:cNvSpPr/>
          <p:nvPr/>
        </p:nvSpPr>
        <p:spPr>
          <a:xfrm>
            <a:off x="4048760" y="5496559"/>
            <a:ext cx="379730" cy="250190"/>
          </a:xfrm>
          <a:custGeom>
            <a:avLst/>
            <a:gdLst/>
            <a:ahLst/>
            <a:cxnLst/>
            <a:rect l="l" t="t" r="r" b="b"/>
            <a:pathLst>
              <a:path w="379730" h="250189">
                <a:moveTo>
                  <a:pt x="190500" y="0"/>
                </a:moveTo>
                <a:lnTo>
                  <a:pt x="251145" y="6116"/>
                </a:lnTo>
                <a:lnTo>
                  <a:pt x="303194" y="23327"/>
                </a:lnTo>
                <a:lnTo>
                  <a:pt x="343844" y="49926"/>
                </a:lnTo>
                <a:lnTo>
                  <a:pt x="370291" y="84206"/>
                </a:lnTo>
                <a:lnTo>
                  <a:pt x="379729" y="124459"/>
                </a:lnTo>
                <a:lnTo>
                  <a:pt x="370291" y="164845"/>
                </a:lnTo>
                <a:lnTo>
                  <a:pt x="343844" y="199440"/>
                </a:lnTo>
                <a:lnTo>
                  <a:pt x="303194" y="226415"/>
                </a:lnTo>
                <a:lnTo>
                  <a:pt x="251145" y="243941"/>
                </a:lnTo>
                <a:lnTo>
                  <a:pt x="190500" y="250189"/>
                </a:lnTo>
                <a:lnTo>
                  <a:pt x="129235" y="243941"/>
                </a:lnTo>
                <a:lnTo>
                  <a:pt x="76809" y="226415"/>
                </a:lnTo>
                <a:lnTo>
                  <a:pt x="35966" y="199440"/>
                </a:lnTo>
                <a:lnTo>
                  <a:pt x="9448" y="164845"/>
                </a:lnTo>
                <a:lnTo>
                  <a:pt x="0" y="124459"/>
                </a:lnTo>
                <a:lnTo>
                  <a:pt x="9448" y="84206"/>
                </a:lnTo>
                <a:lnTo>
                  <a:pt x="35966" y="49926"/>
                </a:lnTo>
                <a:lnTo>
                  <a:pt x="76809" y="23327"/>
                </a:lnTo>
                <a:lnTo>
                  <a:pt x="129235" y="6116"/>
                </a:lnTo>
                <a:lnTo>
                  <a:pt x="190500" y="0"/>
                </a:lnTo>
                <a:close/>
              </a:path>
            </a:pathLst>
          </a:custGeom>
          <a:ln w="9344">
            <a:solidFill>
              <a:srgbClr val="000000"/>
            </a:solidFill>
          </a:ln>
        </p:spPr>
        <p:txBody>
          <a:bodyPr wrap="square" lIns="0" tIns="0" rIns="0" bIns="0" rtlCol="0"/>
          <a:lstStyle/>
          <a:p/>
        </p:txBody>
      </p:sp>
      <p:sp>
        <p:nvSpPr>
          <p:cNvPr id="71" name="object 71"/>
          <p:cNvSpPr/>
          <p:nvPr/>
        </p:nvSpPr>
        <p:spPr>
          <a:xfrm>
            <a:off x="4420870" y="5436870"/>
            <a:ext cx="252730" cy="166370"/>
          </a:xfrm>
          <a:prstGeom prst="rect">
            <a:avLst/>
          </a:prstGeom>
          <a:blipFill>
            <a:blip r:embed="rId2" cstate="print"/>
            <a:stretch>
              <a:fillRect/>
            </a:stretch>
          </a:blipFill>
        </p:spPr>
        <p:txBody>
          <a:bodyPr wrap="square" lIns="0" tIns="0" rIns="0" bIns="0" rtlCol="0"/>
          <a:lstStyle/>
          <a:p/>
        </p:txBody>
      </p:sp>
      <p:sp>
        <p:nvSpPr>
          <p:cNvPr id="72" name="object 72"/>
          <p:cNvSpPr/>
          <p:nvPr/>
        </p:nvSpPr>
        <p:spPr>
          <a:xfrm>
            <a:off x="4420870" y="5436870"/>
            <a:ext cx="252729" cy="166370"/>
          </a:xfrm>
          <a:custGeom>
            <a:avLst/>
            <a:gdLst/>
            <a:ahLst/>
            <a:cxnLst/>
            <a:rect l="l" t="t" r="r" b="b"/>
            <a:pathLst>
              <a:path w="252730" h="166370">
                <a:moveTo>
                  <a:pt x="127000" y="0"/>
                </a:moveTo>
                <a:lnTo>
                  <a:pt x="176649" y="6488"/>
                </a:lnTo>
                <a:lnTo>
                  <a:pt x="216535" y="24288"/>
                </a:lnTo>
                <a:lnTo>
                  <a:pt x="243085" y="50899"/>
                </a:lnTo>
                <a:lnTo>
                  <a:pt x="252730" y="83819"/>
                </a:lnTo>
                <a:lnTo>
                  <a:pt x="243085" y="116542"/>
                </a:lnTo>
                <a:lnTo>
                  <a:pt x="216534" y="142716"/>
                </a:lnTo>
                <a:lnTo>
                  <a:pt x="176649" y="160079"/>
                </a:lnTo>
                <a:lnTo>
                  <a:pt x="127000" y="166369"/>
                </a:lnTo>
                <a:lnTo>
                  <a:pt x="76616" y="160079"/>
                </a:lnTo>
                <a:lnTo>
                  <a:pt x="36353" y="142716"/>
                </a:lnTo>
                <a:lnTo>
                  <a:pt x="9663" y="116542"/>
                </a:lnTo>
                <a:lnTo>
                  <a:pt x="0" y="83819"/>
                </a:lnTo>
                <a:lnTo>
                  <a:pt x="9663" y="50899"/>
                </a:lnTo>
                <a:lnTo>
                  <a:pt x="36353" y="24288"/>
                </a:lnTo>
                <a:lnTo>
                  <a:pt x="76616" y="6488"/>
                </a:lnTo>
                <a:lnTo>
                  <a:pt x="127000" y="0"/>
                </a:lnTo>
                <a:close/>
              </a:path>
            </a:pathLst>
          </a:custGeom>
          <a:ln w="9344">
            <a:solidFill>
              <a:srgbClr val="000000"/>
            </a:solidFill>
          </a:ln>
        </p:spPr>
        <p:txBody>
          <a:bodyPr wrap="square" lIns="0" tIns="0" rIns="0" bIns="0" rtlCol="0"/>
          <a:lstStyle/>
          <a:p/>
        </p:txBody>
      </p:sp>
      <p:sp>
        <p:nvSpPr>
          <p:cNvPr id="73" name="object 73"/>
          <p:cNvSpPr/>
          <p:nvPr/>
        </p:nvSpPr>
        <p:spPr>
          <a:xfrm>
            <a:off x="4691787" y="5394097"/>
            <a:ext cx="156664" cy="107134"/>
          </a:xfrm>
          <a:prstGeom prst="rect">
            <a:avLst/>
          </a:prstGeom>
          <a:blipFill>
            <a:blip r:embed="rId3" cstate="print"/>
            <a:stretch>
              <a:fillRect/>
            </a:stretch>
          </a:blipFill>
        </p:spPr>
        <p:txBody>
          <a:bodyPr wrap="square" lIns="0" tIns="0" rIns="0" bIns="0" rtlCol="0"/>
          <a:lstStyle/>
          <a:p/>
        </p:txBody>
      </p:sp>
      <p:sp>
        <p:nvSpPr>
          <p:cNvPr id="74" name="object 74"/>
          <p:cNvSpPr txBox="1"/>
          <p:nvPr/>
        </p:nvSpPr>
        <p:spPr>
          <a:xfrm>
            <a:off x="2377439" y="5513070"/>
            <a:ext cx="1242695" cy="997585"/>
          </a:xfrm>
          <a:prstGeom prst="rect">
            <a:avLst/>
          </a:prstGeom>
        </p:spPr>
        <p:txBody>
          <a:bodyPr vert="horz" wrap="square" lIns="0" tIns="12700" rIns="0" bIns="0" rtlCol="0">
            <a:spAutoFit/>
          </a:bodyPr>
          <a:lstStyle/>
          <a:p>
            <a:pPr marL="12700" marR="5080" algn="just">
              <a:lnSpc>
                <a:spcPct val="100000"/>
              </a:lnSpc>
              <a:spcBef>
                <a:spcPts val="100"/>
              </a:spcBef>
            </a:pPr>
            <a:r>
              <a:rPr sz="1600" b="1" dirty="0">
                <a:solidFill>
                  <a:srgbClr val="FF0000"/>
                </a:solidFill>
                <a:latin typeface="等线" panose="02010600030101010101" charset="-122"/>
                <a:cs typeface="等线" panose="02010600030101010101" charset="-122"/>
              </a:rPr>
              <a:t>信</a:t>
            </a:r>
            <a:r>
              <a:rPr sz="1600" b="1" spc="-10" dirty="0">
                <a:solidFill>
                  <a:srgbClr val="FF0000"/>
                </a:solidFill>
                <a:latin typeface="等线" panose="02010600030101010101" charset="-122"/>
                <a:cs typeface="等线" panose="02010600030101010101" charset="-122"/>
              </a:rPr>
              <a:t>封</a:t>
            </a:r>
            <a:r>
              <a:rPr sz="1600" b="1" dirty="0">
                <a:solidFill>
                  <a:srgbClr val="FF0000"/>
                </a:solidFill>
                <a:latin typeface="等线" panose="02010600030101010101" charset="-122"/>
                <a:cs typeface="等线" panose="02010600030101010101" charset="-122"/>
              </a:rPr>
              <a:t>的格</a:t>
            </a:r>
            <a:r>
              <a:rPr sz="1600" b="1" spc="-10" dirty="0">
                <a:solidFill>
                  <a:srgbClr val="FF0000"/>
                </a:solidFill>
                <a:latin typeface="等线" panose="02010600030101010101" charset="-122"/>
                <a:cs typeface="等线" panose="02010600030101010101" charset="-122"/>
              </a:rPr>
              <a:t>式</a:t>
            </a:r>
            <a:r>
              <a:rPr sz="1600" b="1" dirty="0">
                <a:solidFill>
                  <a:srgbClr val="FF0000"/>
                </a:solidFill>
                <a:latin typeface="等线" panose="02010600030101010101" charset="-122"/>
                <a:cs typeface="等线" panose="02010600030101010101" charset="-122"/>
              </a:rPr>
              <a:t>由 语</a:t>
            </a:r>
            <a:r>
              <a:rPr sz="1600" b="1" spc="-10" dirty="0">
                <a:solidFill>
                  <a:srgbClr val="FF0000"/>
                </a:solidFill>
                <a:latin typeface="等线" panose="02010600030101010101" charset="-122"/>
                <a:cs typeface="等线" panose="02010600030101010101" charset="-122"/>
              </a:rPr>
              <a:t>法</a:t>
            </a:r>
            <a:r>
              <a:rPr sz="1600" b="1" dirty="0">
                <a:solidFill>
                  <a:srgbClr val="FF0000"/>
                </a:solidFill>
                <a:latin typeface="等线" panose="02010600030101010101" charset="-122"/>
                <a:cs typeface="等线" panose="02010600030101010101" charset="-122"/>
              </a:rPr>
              <a:t>来定</a:t>
            </a:r>
            <a:r>
              <a:rPr sz="1600" b="1" spc="-10" dirty="0">
                <a:solidFill>
                  <a:srgbClr val="FF0000"/>
                </a:solidFill>
                <a:latin typeface="等线" panose="02010600030101010101" charset="-122"/>
                <a:cs typeface="等线" panose="02010600030101010101" charset="-122"/>
              </a:rPr>
              <a:t>义</a:t>
            </a:r>
            <a:r>
              <a:rPr sz="1600" b="1" dirty="0">
                <a:solidFill>
                  <a:srgbClr val="FF0000"/>
                </a:solidFill>
                <a:latin typeface="等线" panose="02010600030101010101" charset="-122"/>
                <a:cs typeface="等线" panose="02010600030101010101" charset="-122"/>
              </a:rPr>
              <a:t>， 而</a:t>
            </a:r>
            <a:r>
              <a:rPr sz="1600" b="1" spc="-10" dirty="0">
                <a:solidFill>
                  <a:srgbClr val="FF0000"/>
                </a:solidFill>
                <a:latin typeface="等线" panose="02010600030101010101" charset="-122"/>
                <a:cs typeface="等线" panose="02010600030101010101" charset="-122"/>
              </a:rPr>
              <a:t>格</a:t>
            </a:r>
            <a:r>
              <a:rPr sz="1600" b="1" dirty="0">
                <a:solidFill>
                  <a:srgbClr val="FF0000"/>
                </a:solidFill>
                <a:latin typeface="等线" panose="02010600030101010101" charset="-122"/>
                <a:cs typeface="等线" panose="02010600030101010101" charset="-122"/>
              </a:rPr>
              <a:t>式的</a:t>
            </a:r>
            <a:r>
              <a:rPr sz="1600" b="1" spc="-10" dirty="0">
                <a:solidFill>
                  <a:srgbClr val="FF0000"/>
                </a:solidFill>
                <a:latin typeface="等线" panose="02010600030101010101" charset="-122"/>
                <a:cs typeface="等线" panose="02010600030101010101" charset="-122"/>
              </a:rPr>
              <a:t>含</a:t>
            </a:r>
            <a:r>
              <a:rPr sz="1600" b="1" dirty="0">
                <a:solidFill>
                  <a:srgbClr val="FF0000"/>
                </a:solidFill>
                <a:latin typeface="等线" panose="02010600030101010101" charset="-122"/>
                <a:cs typeface="等线" panose="02010600030101010101" charset="-122"/>
              </a:rPr>
              <a:t>义 由</a:t>
            </a:r>
            <a:r>
              <a:rPr sz="1600" b="1" spc="-10" dirty="0">
                <a:solidFill>
                  <a:srgbClr val="FF0000"/>
                </a:solidFill>
                <a:latin typeface="等线" panose="02010600030101010101" charset="-122"/>
                <a:cs typeface="等线" panose="02010600030101010101" charset="-122"/>
              </a:rPr>
              <a:t>语</a:t>
            </a:r>
            <a:r>
              <a:rPr sz="1600" b="1" dirty="0">
                <a:solidFill>
                  <a:srgbClr val="FF0000"/>
                </a:solidFill>
                <a:latin typeface="等线" panose="02010600030101010101" charset="-122"/>
                <a:cs typeface="等线" panose="02010600030101010101" charset="-122"/>
              </a:rPr>
              <a:t>义来</a:t>
            </a:r>
            <a:r>
              <a:rPr sz="1600" b="1" spc="-10" dirty="0">
                <a:solidFill>
                  <a:srgbClr val="FF0000"/>
                </a:solidFill>
                <a:latin typeface="等线" panose="02010600030101010101" charset="-122"/>
                <a:cs typeface="等线" panose="02010600030101010101" charset="-122"/>
              </a:rPr>
              <a:t>规</a:t>
            </a:r>
            <a:r>
              <a:rPr sz="1600" b="1" dirty="0">
                <a:solidFill>
                  <a:srgbClr val="FF0000"/>
                </a:solidFill>
                <a:latin typeface="等线" panose="02010600030101010101" charset="-122"/>
                <a:cs typeface="等线" panose="02010600030101010101" charset="-122"/>
              </a:rPr>
              <a:t>定</a:t>
            </a:r>
            <a:endParaRPr sz="1600">
              <a:latin typeface="等线" panose="02010600030101010101" charset="-122"/>
              <a:cs typeface="等线"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zh-CN" altLang="en-US" sz="4000" dirty="0">
                <a:latin typeface="+mj-ea"/>
                <a:sym typeface="+mn-ea"/>
              </a:rPr>
              <a:t>1.</a:t>
            </a:r>
            <a:r>
              <a:rPr lang="en-US" altLang="zh-CN" sz="4000" dirty="0">
                <a:latin typeface="+mj-ea"/>
                <a:sym typeface="+mn-ea"/>
              </a:rPr>
              <a:t>2</a:t>
            </a:r>
            <a:r>
              <a:rPr lang="zh-CN" altLang="en-US" sz="4000" dirty="0">
                <a:latin typeface="+mj-ea"/>
                <a:sym typeface="+mn-ea"/>
              </a:rPr>
              <a:t>.1</a:t>
            </a:r>
            <a:r>
              <a:rPr lang="zh-CN" altLang="en-US" sz="4000" dirty="0">
                <a:latin typeface="+mj-ea"/>
                <a:sym typeface="+mn-ea"/>
              </a:rPr>
              <a:t> 计算机网络安全的定义</a:t>
            </a:r>
            <a:endParaRPr lang="zh-CN" altLang="en-US" sz="4000" dirty="0">
              <a:latin typeface="+mj-ea"/>
              <a:sym typeface="+mn-ea"/>
            </a:endParaRPr>
          </a:p>
        </p:txBody>
      </p:sp>
      <p:sp>
        <p:nvSpPr>
          <p:cNvPr id="3" name="文本框 2"/>
          <p:cNvSpPr txBox="1"/>
          <p:nvPr/>
        </p:nvSpPr>
        <p:spPr>
          <a:xfrm>
            <a:off x="168275" y="1156335"/>
            <a:ext cx="11716385" cy="4769485"/>
          </a:xfrm>
          <a:prstGeom prst="rect">
            <a:avLst/>
          </a:prstGeom>
          <a:noFill/>
        </p:spPr>
        <p:txBody>
          <a:bodyPr wrap="square" rtlCol="0" anchor="t">
            <a:spAutoFit/>
          </a:bodyPr>
          <a:p>
            <a:pPr marL="342900" indent="-342900" algn="l">
              <a:lnSpc>
                <a:spcPct val="150000"/>
              </a:lnSpc>
              <a:buClr>
                <a:srgbClr val="DF4F21"/>
              </a:buClr>
              <a:buSzTx/>
              <a:buFont typeface="Wingdings" panose="05000000000000000000" charset="0"/>
              <a:buChar char="p"/>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计算机网络安全是指基于计算机、密码学、信息安全以及通信网络管理等技术，保护信息的</a:t>
            </a:r>
            <a:r>
              <a:rPr kumimoji="1" lang="zh-CN" altLang="en-US" sz="28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保密性、完整性、可用性、可控性和不可否认性</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lang="zh-CN" altLang="en-US" sz="2800" b="1" kern="0" dirty="0">
                <a:latin typeface="Times New Roman" panose="02020603050405020304" charset="0"/>
                <a:ea typeface="宋体" panose="02010600030101010101" pitchFamily="2" charset="-122"/>
                <a:cs typeface="Times New Roman" panose="02020603050405020304" charset="0"/>
                <a:sym typeface="+mn-ea"/>
              </a:rPr>
              <a:t>在狭义层面上，计算机网络安全是指信息资源和网络系统资源不受有害因素的威胁和危害。</a:t>
            </a:r>
            <a:endParaRPr lang="zh-CN" altLang="zh-CN" sz="2800" b="1" kern="0" dirty="0">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在广义层面上，凡是涉及与计算机网络安全目标相关的技术、管理和过程控制，都属于计算机网络安全领域的范畴。</a:t>
            </a:r>
            <a:endParaRPr lang="zh-CN" altLang="zh-CN" sz="2800" b="1" kern="0" dirty="0">
              <a:latin typeface="Times New Roman" panose="02020603050405020304" charset="0"/>
              <a:ea typeface="宋体" panose="02010600030101010101" pitchFamily="2" charset="-122"/>
              <a:cs typeface="Times New Roman" panose="02020603050405020304" charset="0"/>
              <a:sym typeface="+mn-ea"/>
            </a:endParaRPr>
          </a:p>
          <a:p>
            <a:pPr indent="0" algn="l">
              <a:lnSpc>
                <a:spcPct val="150000"/>
              </a:lnSpc>
              <a:buClr>
                <a:srgbClr val="DF4F21"/>
              </a:buClr>
              <a:buSzTx/>
              <a:buFont typeface="Wingdings" panose="05000000000000000000" charset="0"/>
              <a:buNone/>
            </a:pP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400" y="298450"/>
            <a:ext cx="8496300" cy="583565"/>
          </a:xfrm>
        </p:spPr>
        <p:txBody>
          <a:bodyPr/>
          <a:p>
            <a:pPr algn="l">
              <a:buClrTx/>
              <a:buSzTx/>
              <a:buFontTx/>
            </a:pPr>
            <a:r>
              <a:rPr lang="zh-CN" altLang="en-US" sz="4000" dirty="0">
                <a:latin typeface="+mj-ea"/>
                <a:sym typeface="+mn-ea"/>
              </a:rPr>
              <a:t>1.3.1 </a:t>
            </a:r>
            <a:r>
              <a:rPr lang="zh-CN" altLang="en-US" sz="4000" dirty="0">
                <a:latin typeface="+mj-ea"/>
                <a:sym typeface="+mn-ea"/>
              </a:rPr>
              <a:t>计算机网络安全威胁的类型</a:t>
            </a:r>
            <a:endParaRPr lang="zh-CN" altLang="en-US" sz="4000" dirty="0">
              <a:latin typeface="+mj-ea"/>
            </a:endParaRPr>
          </a:p>
        </p:txBody>
      </p:sp>
      <p:grpSp>
        <p:nvGrpSpPr>
          <p:cNvPr id="17" name="组合 16"/>
          <p:cNvGrpSpPr/>
          <p:nvPr>
            <p:custDataLst>
              <p:tags r:id="rId1"/>
            </p:custDataLst>
          </p:nvPr>
        </p:nvGrpSpPr>
        <p:grpSpPr>
          <a:xfrm>
            <a:off x="660400" y="1943100"/>
            <a:ext cx="10858500" cy="504190"/>
            <a:chOff x="1040" y="3830"/>
            <a:chExt cx="17100" cy="794"/>
          </a:xfrm>
        </p:grpSpPr>
        <p:sp>
          <p:nvSpPr>
            <p:cNvPr id="3" name="标题 1"/>
            <p:cNvSpPr txBox="1"/>
            <p:nvPr>
              <p:custDataLst>
                <p:tags r:id="rId2"/>
              </p:custDataLst>
            </p:nvPr>
          </p:nvSpPr>
          <p:spPr>
            <a:xfrm>
              <a:off x="11204" y="3830"/>
              <a:ext cx="6936" cy="794"/>
            </a:xfrm>
            <a:prstGeom prst="rect">
              <a:avLst/>
            </a:prstGeom>
            <a:solidFill>
              <a:schemeClr val="accent1">
                <a:lumMod val="20000"/>
                <a:lumOff val="80000"/>
                <a:alpha val="3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custDataLst>
                <p:tags r:id="rId3"/>
              </p:custDataLst>
            </p:nvPr>
          </p:nvSpPr>
          <p:spPr>
            <a:xfrm>
              <a:off x="10203" y="3830"/>
              <a:ext cx="1020" cy="794"/>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custDataLst>
                <p:tags r:id="rId4"/>
              </p:custDataLst>
            </p:nvPr>
          </p:nvSpPr>
          <p:spPr>
            <a:xfrm>
              <a:off x="2041" y="3830"/>
              <a:ext cx="6936" cy="794"/>
            </a:xfrm>
            <a:prstGeom prst="rect">
              <a:avLst/>
            </a:prstGeom>
            <a:solidFill>
              <a:schemeClr val="accent1">
                <a:lumMod val="20000"/>
                <a:lumOff val="80000"/>
                <a:alpha val="3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custDataLst>
                <p:tags r:id="rId5"/>
              </p:custDataLst>
            </p:nvPr>
          </p:nvSpPr>
          <p:spPr>
            <a:xfrm>
              <a:off x="1040" y="3830"/>
              <a:ext cx="1020" cy="794"/>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custDataLst>
                <p:tags r:id="rId6"/>
              </p:custDataLst>
            </p:nvPr>
          </p:nvSpPr>
          <p:spPr>
            <a:xfrm>
              <a:off x="2391" y="3943"/>
              <a:ext cx="6236" cy="567"/>
            </a:xfrm>
            <a:prstGeom prst="rect">
              <a:avLst/>
            </a:prstGeom>
            <a:noFill/>
            <a:ln>
              <a:noFill/>
            </a:ln>
          </p:spPr>
          <p:txBody>
            <a:bodyPr vert="horz" wrap="square" lIns="0" tIns="0" rIns="0" bIns="0" rtlCol="0" anchor="ctr"/>
            <a:lstStyle/>
            <a:p>
              <a:pPr algn="ctr">
                <a:lnSpc>
                  <a:spcPct val="130000"/>
                </a:lnSpc>
              </a:pPr>
              <a:r>
                <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rPr>
                <a:t>非授权访问危害</a:t>
              </a:r>
              <a:endPar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9" name="标题 1"/>
            <p:cNvSpPr txBox="1"/>
            <p:nvPr>
              <p:custDataLst>
                <p:tags r:id="rId7"/>
              </p:custDataLst>
            </p:nvPr>
          </p:nvSpPr>
          <p:spPr>
            <a:xfrm>
              <a:off x="1125" y="4000"/>
              <a:ext cx="850" cy="454"/>
            </a:xfrm>
            <a:prstGeom prst="rect">
              <a:avLst/>
            </a:prstGeom>
            <a:noFill/>
            <a:ln>
              <a:noFill/>
            </a:ln>
          </p:spPr>
          <p:txBody>
            <a:bodyPr vert="horz" wrap="square" lIns="0" tIns="0" rIns="0" bIns="0" rtlCol="0" anchor="ctr"/>
            <a:lstStyle/>
            <a:p>
              <a:pPr algn="ctr">
                <a:lnSpc>
                  <a:spcPct val="110000"/>
                </a:lnSpc>
              </a:pPr>
              <a:r>
                <a:rPr kumimoji="1" lang="en-US" altLang="zh-CN" sz="2800" b="1">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01</a:t>
              </a:r>
              <a:endParaRPr kumimoji="1" lang="en-US" altLang="zh-CN" sz="2800" b="1">
                <a:ln w="12700">
                  <a:noFill/>
                </a:ln>
                <a:solidFill>
                  <a:srgbClr val="FFFFFF">
                    <a:alpha val="100000"/>
                  </a:srgbClr>
                </a:solidFill>
                <a:latin typeface="OPPOSans H" panose="00020600040101010101" charset="-122"/>
                <a:ea typeface="OPPOSans H" panose="00020600040101010101" charset="-122"/>
                <a:cs typeface="OPPOSans H" panose="00020600040101010101" charset="-122"/>
              </a:endParaRPr>
            </a:p>
          </p:txBody>
        </p:sp>
        <p:sp>
          <p:nvSpPr>
            <p:cNvPr id="11" name="标题 1"/>
            <p:cNvSpPr txBox="1"/>
            <p:nvPr>
              <p:custDataLst>
                <p:tags r:id="rId8"/>
              </p:custDataLst>
            </p:nvPr>
          </p:nvSpPr>
          <p:spPr>
            <a:xfrm>
              <a:off x="11554" y="3943"/>
              <a:ext cx="6236" cy="567"/>
            </a:xfrm>
            <a:prstGeom prst="rect">
              <a:avLst/>
            </a:prstGeom>
            <a:noFill/>
            <a:ln>
              <a:noFill/>
            </a:ln>
          </p:spPr>
          <p:txBody>
            <a:bodyPr vert="horz" wrap="square" lIns="0" tIns="0" rIns="0" bIns="0" rtlCol="0" anchor="ctr"/>
            <a:lstStyle/>
            <a:p>
              <a:pPr algn="ctr">
                <a:lnSpc>
                  <a:spcPct val="130000"/>
                </a:lnSpc>
                <a:buClrTx/>
                <a:buSzTx/>
                <a:buFontTx/>
              </a:pPr>
              <a:r>
                <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rPr>
                <a:t>信息泄漏风险</a:t>
              </a:r>
              <a:endPar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12" name="标题 1"/>
            <p:cNvSpPr txBox="1"/>
            <p:nvPr>
              <p:custDataLst>
                <p:tags r:id="rId9"/>
              </p:custDataLst>
            </p:nvPr>
          </p:nvSpPr>
          <p:spPr>
            <a:xfrm>
              <a:off x="10288" y="4000"/>
              <a:ext cx="850" cy="454"/>
            </a:xfrm>
            <a:prstGeom prst="rect">
              <a:avLst/>
            </a:prstGeom>
            <a:noFill/>
            <a:ln>
              <a:noFill/>
            </a:ln>
          </p:spPr>
          <p:txBody>
            <a:bodyPr vert="horz" wrap="square" lIns="0" tIns="0" rIns="0" bIns="0" rtlCol="0" anchor="ctr"/>
            <a:lstStyle/>
            <a:p>
              <a:pPr algn="ctr">
                <a:lnSpc>
                  <a:spcPct val="110000"/>
                </a:lnSpc>
              </a:pPr>
              <a:r>
                <a:rPr kumimoji="1" lang="en-US" altLang="zh-CN" sz="2800" b="1">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02</a:t>
              </a:r>
              <a:endParaRPr kumimoji="1" lang="zh-CN" altLang="en-US" sz="2800" b="1"/>
            </a:p>
          </p:txBody>
        </p:sp>
      </p:grpSp>
      <p:grpSp>
        <p:nvGrpSpPr>
          <p:cNvPr id="13" name="组合 12"/>
          <p:cNvGrpSpPr/>
          <p:nvPr>
            <p:custDataLst>
              <p:tags r:id="rId10"/>
            </p:custDataLst>
          </p:nvPr>
        </p:nvGrpSpPr>
        <p:grpSpPr>
          <a:xfrm>
            <a:off x="633730" y="3006090"/>
            <a:ext cx="10858500" cy="504190"/>
            <a:chOff x="1040" y="3830"/>
            <a:chExt cx="17100" cy="794"/>
          </a:xfrm>
        </p:grpSpPr>
        <p:sp>
          <p:nvSpPr>
            <p:cNvPr id="14" name="标题 1"/>
            <p:cNvSpPr txBox="1"/>
            <p:nvPr>
              <p:custDataLst>
                <p:tags r:id="rId11"/>
              </p:custDataLst>
            </p:nvPr>
          </p:nvSpPr>
          <p:spPr>
            <a:xfrm>
              <a:off x="11204" y="3830"/>
              <a:ext cx="6936" cy="794"/>
            </a:xfrm>
            <a:prstGeom prst="rect">
              <a:avLst/>
            </a:prstGeom>
            <a:solidFill>
              <a:schemeClr val="accent1">
                <a:lumMod val="20000"/>
                <a:lumOff val="80000"/>
                <a:alpha val="30000"/>
              </a:schemeClr>
            </a:solidFill>
            <a:ln cap="sq">
              <a:noFill/>
              <a:prstDash val="solid"/>
              <a:miter/>
            </a:ln>
          </p:spPr>
          <p:txBody>
            <a:bodyPr vert="horz" wrap="square" lIns="91440" tIns="45720" rIns="91440" bIns="45720" rtlCol="0" anchor="ctr"/>
            <a:p>
              <a:pPr algn="ctr">
                <a:lnSpc>
                  <a:spcPct val="110000"/>
                </a:lnSpc>
              </a:pPr>
              <a:endParaRPr kumimoji="1" lang="zh-CN" altLang="en-US"/>
            </a:p>
          </p:txBody>
        </p:sp>
        <p:sp>
          <p:nvSpPr>
            <p:cNvPr id="15" name="标题 1"/>
            <p:cNvSpPr txBox="1"/>
            <p:nvPr>
              <p:custDataLst>
                <p:tags r:id="rId12"/>
              </p:custDataLst>
            </p:nvPr>
          </p:nvSpPr>
          <p:spPr>
            <a:xfrm>
              <a:off x="10203" y="3830"/>
              <a:ext cx="1020" cy="794"/>
            </a:xfrm>
            <a:prstGeom prst="rect">
              <a:avLst/>
            </a:prstGeom>
            <a:solidFill>
              <a:schemeClr val="accent1"/>
            </a:solidFill>
            <a:ln cap="sq">
              <a:noFill/>
              <a:prstDash val="solid"/>
              <a:miter/>
            </a:ln>
          </p:spPr>
          <p:txBody>
            <a:bodyPr vert="horz" wrap="square" lIns="91440" tIns="45720" rIns="91440" bIns="45720" rtlCol="0" anchor="ctr"/>
            <a:p>
              <a:pPr algn="ctr">
                <a:lnSpc>
                  <a:spcPct val="110000"/>
                </a:lnSpc>
              </a:pPr>
              <a:endParaRPr kumimoji="1" lang="zh-CN" altLang="en-US"/>
            </a:p>
          </p:txBody>
        </p:sp>
        <p:sp>
          <p:nvSpPr>
            <p:cNvPr id="16" name="标题 1"/>
            <p:cNvSpPr txBox="1"/>
            <p:nvPr>
              <p:custDataLst>
                <p:tags r:id="rId13"/>
              </p:custDataLst>
            </p:nvPr>
          </p:nvSpPr>
          <p:spPr>
            <a:xfrm>
              <a:off x="2041" y="3830"/>
              <a:ext cx="6936" cy="794"/>
            </a:xfrm>
            <a:prstGeom prst="rect">
              <a:avLst/>
            </a:prstGeom>
            <a:solidFill>
              <a:schemeClr val="accent1">
                <a:lumMod val="20000"/>
                <a:lumOff val="80000"/>
                <a:alpha val="30000"/>
              </a:schemeClr>
            </a:solidFill>
            <a:ln cap="sq">
              <a:noFill/>
              <a:prstDash val="solid"/>
              <a:miter/>
            </a:ln>
          </p:spPr>
          <p:txBody>
            <a:bodyPr vert="horz" wrap="square" lIns="91440" tIns="45720" rIns="91440" bIns="45720" rtlCol="0" anchor="ctr"/>
            <a:p>
              <a:pPr algn="ctr">
                <a:lnSpc>
                  <a:spcPct val="110000"/>
                </a:lnSpc>
              </a:pPr>
              <a:endParaRPr kumimoji="1" lang="zh-CN" altLang="en-US"/>
            </a:p>
          </p:txBody>
        </p:sp>
        <p:sp>
          <p:nvSpPr>
            <p:cNvPr id="18" name="标题 1"/>
            <p:cNvSpPr txBox="1"/>
            <p:nvPr>
              <p:custDataLst>
                <p:tags r:id="rId14"/>
              </p:custDataLst>
            </p:nvPr>
          </p:nvSpPr>
          <p:spPr>
            <a:xfrm>
              <a:off x="1040" y="3830"/>
              <a:ext cx="1020" cy="794"/>
            </a:xfrm>
            <a:prstGeom prst="rect">
              <a:avLst/>
            </a:prstGeom>
            <a:solidFill>
              <a:schemeClr val="accent1"/>
            </a:solidFill>
            <a:ln cap="sq">
              <a:noFill/>
              <a:prstDash val="solid"/>
              <a:miter/>
            </a:ln>
          </p:spPr>
          <p:txBody>
            <a:bodyPr vert="horz" wrap="square" lIns="91440" tIns="45720" rIns="91440" bIns="45720" rtlCol="0" anchor="ctr"/>
            <a:p>
              <a:pPr algn="ctr">
                <a:lnSpc>
                  <a:spcPct val="110000"/>
                </a:lnSpc>
              </a:pPr>
              <a:endParaRPr kumimoji="1" lang="zh-CN" altLang="en-US"/>
            </a:p>
          </p:txBody>
        </p:sp>
        <p:sp>
          <p:nvSpPr>
            <p:cNvPr id="19" name="标题 1"/>
            <p:cNvSpPr txBox="1"/>
            <p:nvPr>
              <p:custDataLst>
                <p:tags r:id="rId15"/>
              </p:custDataLst>
            </p:nvPr>
          </p:nvSpPr>
          <p:spPr>
            <a:xfrm>
              <a:off x="2391" y="3943"/>
              <a:ext cx="6236" cy="567"/>
            </a:xfrm>
            <a:prstGeom prst="rect">
              <a:avLst/>
            </a:prstGeom>
            <a:noFill/>
            <a:ln>
              <a:noFill/>
            </a:ln>
          </p:spPr>
          <p:txBody>
            <a:bodyPr vert="horz" wrap="square" lIns="0" tIns="0" rIns="0" bIns="0" rtlCol="0" anchor="ctr"/>
            <a:p>
              <a:pPr algn="ctr">
                <a:lnSpc>
                  <a:spcPct val="130000"/>
                </a:lnSpc>
                <a:buClrTx/>
                <a:buSzTx/>
                <a:buFontTx/>
              </a:pPr>
              <a:r>
                <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sym typeface="+mn-ea"/>
                </a:rPr>
                <a:t>完整性破坏影响</a:t>
              </a:r>
              <a:endPar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20" name="标题 1"/>
            <p:cNvSpPr txBox="1"/>
            <p:nvPr>
              <p:custDataLst>
                <p:tags r:id="rId16"/>
              </p:custDataLst>
            </p:nvPr>
          </p:nvSpPr>
          <p:spPr>
            <a:xfrm>
              <a:off x="1125" y="4000"/>
              <a:ext cx="850" cy="454"/>
            </a:xfrm>
            <a:prstGeom prst="rect">
              <a:avLst/>
            </a:prstGeom>
            <a:noFill/>
            <a:ln>
              <a:noFill/>
            </a:ln>
          </p:spPr>
          <p:txBody>
            <a:bodyPr vert="horz" wrap="square" lIns="0" tIns="0" rIns="0" bIns="0" rtlCol="0" anchor="ctr"/>
            <a:p>
              <a:pPr algn="ctr">
                <a:lnSpc>
                  <a:spcPct val="110000"/>
                </a:lnSpc>
              </a:pPr>
              <a:r>
                <a:rPr kumimoji="1" lang="en-US" altLang="zh-CN" sz="2800" b="1">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03</a:t>
              </a:r>
              <a:endParaRPr kumimoji="1" lang="en-US" altLang="zh-CN" sz="2800" b="1">
                <a:ln w="12700">
                  <a:noFill/>
                </a:ln>
                <a:solidFill>
                  <a:srgbClr val="FFFFFF">
                    <a:alpha val="100000"/>
                  </a:srgbClr>
                </a:solidFill>
                <a:latin typeface="OPPOSans H" panose="00020600040101010101" charset="-122"/>
                <a:ea typeface="OPPOSans H" panose="00020600040101010101" charset="-122"/>
                <a:cs typeface="OPPOSans H" panose="00020600040101010101" charset="-122"/>
              </a:endParaRPr>
            </a:p>
          </p:txBody>
        </p:sp>
        <p:sp>
          <p:nvSpPr>
            <p:cNvPr id="21" name="标题 1"/>
            <p:cNvSpPr txBox="1"/>
            <p:nvPr>
              <p:custDataLst>
                <p:tags r:id="rId17"/>
              </p:custDataLst>
            </p:nvPr>
          </p:nvSpPr>
          <p:spPr>
            <a:xfrm>
              <a:off x="11554" y="3943"/>
              <a:ext cx="6236" cy="567"/>
            </a:xfrm>
            <a:prstGeom prst="rect">
              <a:avLst/>
            </a:prstGeom>
            <a:noFill/>
            <a:ln>
              <a:noFill/>
            </a:ln>
          </p:spPr>
          <p:txBody>
            <a:bodyPr vert="horz" wrap="square" lIns="0" tIns="0" rIns="0" bIns="0" rtlCol="0" anchor="ctr"/>
            <a:p>
              <a:pPr algn="ctr">
                <a:lnSpc>
                  <a:spcPct val="130000"/>
                </a:lnSpc>
                <a:buClrTx/>
                <a:buSzTx/>
                <a:buFontTx/>
              </a:pPr>
              <a:r>
                <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sym typeface="+mn-ea"/>
                </a:rPr>
                <a:t>拒绝服务攻击</a:t>
              </a:r>
              <a:endPar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22" name="标题 1"/>
            <p:cNvSpPr txBox="1"/>
            <p:nvPr>
              <p:custDataLst>
                <p:tags r:id="rId18"/>
              </p:custDataLst>
            </p:nvPr>
          </p:nvSpPr>
          <p:spPr>
            <a:xfrm>
              <a:off x="10288" y="4000"/>
              <a:ext cx="850" cy="454"/>
            </a:xfrm>
            <a:prstGeom prst="rect">
              <a:avLst/>
            </a:prstGeom>
            <a:noFill/>
            <a:ln>
              <a:noFill/>
            </a:ln>
          </p:spPr>
          <p:txBody>
            <a:bodyPr vert="horz" wrap="square" lIns="0" tIns="0" rIns="0" bIns="0" rtlCol="0" anchor="ctr"/>
            <a:p>
              <a:pPr algn="ctr">
                <a:lnSpc>
                  <a:spcPct val="110000"/>
                </a:lnSpc>
              </a:pPr>
              <a:r>
                <a:rPr kumimoji="1" lang="en-US" altLang="zh-CN" sz="2800" b="1">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04</a:t>
              </a:r>
              <a:endParaRPr kumimoji="1" lang="zh-CN" altLang="en-US" sz="2800" b="1"/>
            </a:p>
          </p:txBody>
        </p:sp>
      </p:grpSp>
      <p:grpSp>
        <p:nvGrpSpPr>
          <p:cNvPr id="23" name="组合 22"/>
          <p:cNvGrpSpPr/>
          <p:nvPr>
            <p:custDataLst>
              <p:tags r:id="rId19"/>
            </p:custDataLst>
          </p:nvPr>
        </p:nvGrpSpPr>
        <p:grpSpPr>
          <a:xfrm>
            <a:off x="675640" y="4207510"/>
            <a:ext cx="10858500" cy="504190"/>
            <a:chOff x="1040" y="3830"/>
            <a:chExt cx="17100" cy="794"/>
          </a:xfrm>
        </p:grpSpPr>
        <p:sp>
          <p:nvSpPr>
            <p:cNvPr id="24" name="标题 1"/>
            <p:cNvSpPr txBox="1"/>
            <p:nvPr>
              <p:custDataLst>
                <p:tags r:id="rId20"/>
              </p:custDataLst>
            </p:nvPr>
          </p:nvSpPr>
          <p:spPr>
            <a:xfrm>
              <a:off x="11204" y="3830"/>
              <a:ext cx="6936" cy="794"/>
            </a:xfrm>
            <a:prstGeom prst="rect">
              <a:avLst/>
            </a:prstGeom>
            <a:solidFill>
              <a:schemeClr val="accent1">
                <a:lumMod val="20000"/>
                <a:lumOff val="80000"/>
                <a:alpha val="30000"/>
              </a:schemeClr>
            </a:solidFill>
            <a:ln cap="sq">
              <a:noFill/>
              <a:prstDash val="solid"/>
              <a:miter/>
            </a:ln>
          </p:spPr>
          <p:txBody>
            <a:bodyPr vert="horz" wrap="square" lIns="91440" tIns="45720" rIns="91440" bIns="45720" rtlCol="0" anchor="ctr"/>
            <a:p>
              <a:pPr algn="ctr">
                <a:lnSpc>
                  <a:spcPct val="110000"/>
                </a:lnSpc>
              </a:pPr>
              <a:endParaRPr kumimoji="1" lang="zh-CN" altLang="en-US"/>
            </a:p>
          </p:txBody>
        </p:sp>
        <p:sp>
          <p:nvSpPr>
            <p:cNvPr id="25" name="标题 1"/>
            <p:cNvSpPr txBox="1"/>
            <p:nvPr>
              <p:custDataLst>
                <p:tags r:id="rId21"/>
              </p:custDataLst>
            </p:nvPr>
          </p:nvSpPr>
          <p:spPr>
            <a:xfrm>
              <a:off x="10203" y="3830"/>
              <a:ext cx="1020" cy="794"/>
            </a:xfrm>
            <a:prstGeom prst="rect">
              <a:avLst/>
            </a:prstGeom>
            <a:solidFill>
              <a:schemeClr val="accent1"/>
            </a:solidFill>
            <a:ln cap="sq">
              <a:noFill/>
              <a:prstDash val="solid"/>
              <a:miter/>
            </a:ln>
          </p:spPr>
          <p:txBody>
            <a:bodyPr vert="horz" wrap="square" lIns="91440" tIns="45720" rIns="91440" bIns="45720" rtlCol="0" anchor="ctr"/>
            <a:p>
              <a:pPr algn="ctr">
                <a:lnSpc>
                  <a:spcPct val="110000"/>
                </a:lnSpc>
              </a:pPr>
              <a:endParaRPr kumimoji="1" lang="zh-CN" altLang="en-US"/>
            </a:p>
          </p:txBody>
        </p:sp>
        <p:sp>
          <p:nvSpPr>
            <p:cNvPr id="26" name="标题 1"/>
            <p:cNvSpPr txBox="1"/>
            <p:nvPr>
              <p:custDataLst>
                <p:tags r:id="rId22"/>
              </p:custDataLst>
            </p:nvPr>
          </p:nvSpPr>
          <p:spPr>
            <a:xfrm>
              <a:off x="2041" y="3830"/>
              <a:ext cx="6936" cy="794"/>
            </a:xfrm>
            <a:prstGeom prst="rect">
              <a:avLst/>
            </a:prstGeom>
            <a:solidFill>
              <a:schemeClr val="accent1">
                <a:lumMod val="20000"/>
                <a:lumOff val="80000"/>
                <a:alpha val="30000"/>
              </a:schemeClr>
            </a:solidFill>
            <a:ln cap="sq">
              <a:noFill/>
              <a:prstDash val="solid"/>
              <a:miter/>
            </a:ln>
          </p:spPr>
          <p:txBody>
            <a:bodyPr vert="horz" wrap="square" lIns="91440" tIns="45720" rIns="91440" bIns="45720" rtlCol="0" anchor="ctr"/>
            <a:p>
              <a:pPr algn="ctr">
                <a:lnSpc>
                  <a:spcPct val="110000"/>
                </a:lnSpc>
              </a:pPr>
              <a:endParaRPr kumimoji="1" lang="zh-CN" altLang="en-US"/>
            </a:p>
          </p:txBody>
        </p:sp>
        <p:sp>
          <p:nvSpPr>
            <p:cNvPr id="27" name="标题 1"/>
            <p:cNvSpPr txBox="1"/>
            <p:nvPr>
              <p:custDataLst>
                <p:tags r:id="rId23"/>
              </p:custDataLst>
            </p:nvPr>
          </p:nvSpPr>
          <p:spPr>
            <a:xfrm>
              <a:off x="1040" y="3830"/>
              <a:ext cx="1020" cy="794"/>
            </a:xfrm>
            <a:prstGeom prst="rect">
              <a:avLst/>
            </a:prstGeom>
            <a:solidFill>
              <a:schemeClr val="accent1"/>
            </a:solidFill>
            <a:ln cap="sq">
              <a:noFill/>
              <a:prstDash val="solid"/>
              <a:miter/>
            </a:ln>
          </p:spPr>
          <p:txBody>
            <a:bodyPr vert="horz" wrap="square" lIns="91440" tIns="45720" rIns="91440" bIns="45720" rtlCol="0" anchor="ctr"/>
            <a:p>
              <a:pPr algn="ctr">
                <a:lnSpc>
                  <a:spcPct val="110000"/>
                </a:lnSpc>
              </a:pPr>
              <a:endParaRPr kumimoji="1" lang="zh-CN" altLang="en-US"/>
            </a:p>
          </p:txBody>
        </p:sp>
        <p:sp>
          <p:nvSpPr>
            <p:cNvPr id="28" name="标题 1"/>
            <p:cNvSpPr txBox="1"/>
            <p:nvPr>
              <p:custDataLst>
                <p:tags r:id="rId24"/>
              </p:custDataLst>
            </p:nvPr>
          </p:nvSpPr>
          <p:spPr>
            <a:xfrm>
              <a:off x="2391" y="3943"/>
              <a:ext cx="6236" cy="567"/>
            </a:xfrm>
            <a:prstGeom prst="rect">
              <a:avLst/>
            </a:prstGeom>
            <a:noFill/>
            <a:ln>
              <a:noFill/>
            </a:ln>
          </p:spPr>
          <p:txBody>
            <a:bodyPr vert="horz" wrap="square" lIns="0" tIns="0" rIns="0" bIns="0" rtlCol="0" anchor="ctr"/>
            <a:p>
              <a:pPr algn="ctr">
                <a:lnSpc>
                  <a:spcPct val="130000"/>
                </a:lnSpc>
                <a:buClrTx/>
                <a:buSzTx/>
                <a:buFontTx/>
              </a:pPr>
              <a:r>
                <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sym typeface="+mn-ea"/>
                </a:rPr>
                <a:t>零日漏洞威胁</a:t>
              </a:r>
              <a:endPar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29" name="标题 1"/>
            <p:cNvSpPr txBox="1"/>
            <p:nvPr>
              <p:custDataLst>
                <p:tags r:id="rId25"/>
              </p:custDataLst>
            </p:nvPr>
          </p:nvSpPr>
          <p:spPr>
            <a:xfrm>
              <a:off x="1125" y="4000"/>
              <a:ext cx="850" cy="454"/>
            </a:xfrm>
            <a:prstGeom prst="rect">
              <a:avLst/>
            </a:prstGeom>
            <a:noFill/>
            <a:ln>
              <a:noFill/>
            </a:ln>
          </p:spPr>
          <p:txBody>
            <a:bodyPr vert="horz" wrap="square" lIns="0" tIns="0" rIns="0" bIns="0" rtlCol="0" anchor="ctr"/>
            <a:p>
              <a:pPr algn="ctr">
                <a:lnSpc>
                  <a:spcPct val="110000"/>
                </a:lnSpc>
              </a:pPr>
              <a:r>
                <a:rPr kumimoji="1" lang="en-US" altLang="zh-CN" sz="2800" b="1">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05</a:t>
              </a:r>
              <a:endParaRPr kumimoji="1" lang="en-US" altLang="zh-CN" sz="2800" b="1">
                <a:ln w="12700">
                  <a:noFill/>
                </a:ln>
                <a:solidFill>
                  <a:srgbClr val="FFFFFF">
                    <a:alpha val="100000"/>
                  </a:srgbClr>
                </a:solidFill>
                <a:latin typeface="OPPOSans H" panose="00020600040101010101" charset="-122"/>
                <a:ea typeface="OPPOSans H" panose="00020600040101010101" charset="-122"/>
                <a:cs typeface="OPPOSans H" panose="00020600040101010101" charset="-122"/>
              </a:endParaRPr>
            </a:p>
          </p:txBody>
        </p:sp>
        <p:sp>
          <p:nvSpPr>
            <p:cNvPr id="30" name="标题 1"/>
            <p:cNvSpPr txBox="1"/>
            <p:nvPr>
              <p:custDataLst>
                <p:tags r:id="rId26"/>
              </p:custDataLst>
            </p:nvPr>
          </p:nvSpPr>
          <p:spPr>
            <a:xfrm>
              <a:off x="11554" y="3943"/>
              <a:ext cx="6236" cy="567"/>
            </a:xfrm>
            <a:prstGeom prst="rect">
              <a:avLst/>
            </a:prstGeom>
            <a:noFill/>
            <a:ln>
              <a:noFill/>
            </a:ln>
          </p:spPr>
          <p:txBody>
            <a:bodyPr vert="horz" wrap="square" lIns="0" tIns="0" rIns="0" bIns="0" rtlCol="0" anchor="ctr"/>
            <a:p>
              <a:pPr algn="ctr">
                <a:lnSpc>
                  <a:spcPct val="130000"/>
                </a:lnSpc>
                <a:buClrTx/>
                <a:buSzTx/>
                <a:buFontTx/>
              </a:pPr>
              <a:r>
                <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rPr>
                <a:t>社会工程学</a:t>
              </a:r>
              <a:endParaRPr kumimoji="1" lang="en-US" altLang="zh-CN" sz="2400" b="1">
                <a:ln w="12700">
                  <a:noFill/>
                </a:ln>
                <a:solidFill>
                  <a:schemeClr val="tx1">
                    <a:alpha val="100000"/>
                  </a:scheme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31" name="标题 1"/>
            <p:cNvSpPr txBox="1"/>
            <p:nvPr>
              <p:custDataLst>
                <p:tags r:id="rId27"/>
              </p:custDataLst>
            </p:nvPr>
          </p:nvSpPr>
          <p:spPr>
            <a:xfrm>
              <a:off x="10288" y="4000"/>
              <a:ext cx="850" cy="454"/>
            </a:xfrm>
            <a:prstGeom prst="rect">
              <a:avLst/>
            </a:prstGeom>
            <a:noFill/>
            <a:ln>
              <a:noFill/>
            </a:ln>
          </p:spPr>
          <p:txBody>
            <a:bodyPr vert="horz" wrap="square" lIns="0" tIns="0" rIns="0" bIns="0" rtlCol="0" anchor="ctr"/>
            <a:p>
              <a:pPr algn="ctr">
                <a:lnSpc>
                  <a:spcPct val="110000"/>
                </a:lnSpc>
              </a:pPr>
              <a:r>
                <a:rPr kumimoji="1" lang="en-US" altLang="zh-CN" sz="2800" b="1">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06</a:t>
              </a:r>
              <a:endParaRPr kumimoji="1" lang="zh-CN" altLang="en-US" sz="2800" b="1"/>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400" y="298450"/>
            <a:ext cx="11278870" cy="583565"/>
          </a:xfrm>
        </p:spPr>
        <p:txBody>
          <a:bodyPr/>
          <a:p>
            <a:pPr algn="l">
              <a:buClrTx/>
              <a:buSzTx/>
              <a:buFontTx/>
            </a:pPr>
            <a:r>
              <a:rPr lang="zh-CN" altLang="en-US" sz="4000" dirty="0">
                <a:latin typeface="+mj-ea"/>
                <a:sym typeface="+mn-ea"/>
              </a:rPr>
              <a:t>1.3.2 </a:t>
            </a:r>
            <a:r>
              <a:rPr lang="zh-CN" altLang="en-US" sz="4000" dirty="0">
                <a:latin typeface="+mj-ea"/>
                <a:sym typeface="+mn-ea"/>
              </a:rPr>
              <a:t>计算机网络安全风险的因素</a:t>
            </a:r>
            <a:endParaRPr lang="zh-CN" altLang="en-US" sz="4000" dirty="0">
              <a:latin typeface="+mj-ea"/>
            </a:endParaRPr>
          </a:p>
        </p:txBody>
      </p:sp>
      <p:grpSp>
        <p:nvGrpSpPr>
          <p:cNvPr id="9" name="组合 8"/>
          <p:cNvGrpSpPr/>
          <p:nvPr/>
        </p:nvGrpSpPr>
        <p:grpSpPr>
          <a:xfrm>
            <a:off x="814705" y="1788160"/>
            <a:ext cx="4867910" cy="976630"/>
            <a:chOff x="1371" y="3097"/>
            <a:chExt cx="7666" cy="1538"/>
          </a:xfrm>
        </p:grpSpPr>
        <p:sp>
          <p:nvSpPr>
            <p:cNvPr id="7" name="标题 1"/>
            <p:cNvSpPr txBox="1"/>
            <p:nvPr/>
          </p:nvSpPr>
          <p:spPr>
            <a:xfrm rot="16200000">
              <a:off x="4435" y="33"/>
              <a:ext cx="1539" cy="7667"/>
            </a:xfrm>
            <a:prstGeom prst="round2SameRect">
              <a:avLst>
                <a:gd name="adj1" fmla="val 50000"/>
                <a:gd name="adj2" fmla="val 0"/>
              </a:avLst>
            </a:prstGeom>
            <a:solidFill>
              <a:schemeClr val="accent1"/>
            </a:solidFill>
            <a:ln cap="sq">
              <a:noFill/>
              <a:prstDash val="solid"/>
              <a:miter/>
            </a:ln>
          </p:spPr>
          <p:txBody>
            <a:bodyPr vert="horz" wrap="square" lIns="91440" tIns="45720" rIns="91440" bIns="45720" rtlCol="0" anchor="ctr"/>
            <a:lstStyle/>
            <a:p>
              <a:pPr algn="l">
                <a:lnSpc>
                  <a:spcPct val="110000"/>
                </a:lnSpc>
              </a:pPr>
              <a:endParaRPr kumimoji="1" lang="zh-CN" altLang="en-US"/>
            </a:p>
          </p:txBody>
        </p:sp>
        <p:sp>
          <p:nvSpPr>
            <p:cNvPr id="8" name="标题 1"/>
            <p:cNvSpPr txBox="1"/>
            <p:nvPr/>
          </p:nvSpPr>
          <p:spPr>
            <a:xfrm>
              <a:off x="2218" y="3300"/>
              <a:ext cx="6595" cy="1175"/>
            </a:xfrm>
            <a:prstGeom prst="rect">
              <a:avLst/>
            </a:prstGeom>
            <a:noFill/>
            <a:ln>
              <a:noFill/>
            </a:ln>
          </p:spPr>
          <p:txBody>
            <a:bodyPr vert="horz" wrap="square" lIns="0" tIns="0" rIns="0" bIns="0" rtlCol="0" anchor="ctr"/>
            <a:lstStyle/>
            <a:p>
              <a:pPr algn="ctr">
                <a:lnSpc>
                  <a:spcPct val="130000"/>
                </a:lnSpc>
              </a:pPr>
              <a:r>
                <a:rPr kumimoji="1" lang="en-US" altLang="zh-CN" sz="2800" b="1">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网络系统自身缺陷的影响</a:t>
              </a:r>
              <a:endParaRPr kumimoji="1" lang="zh-CN" altLang="en-US" sz="2800" b="1"/>
            </a:p>
          </p:txBody>
        </p:sp>
      </p:grpSp>
      <p:grpSp>
        <p:nvGrpSpPr>
          <p:cNvPr id="6" name="组合 5"/>
          <p:cNvGrpSpPr/>
          <p:nvPr/>
        </p:nvGrpSpPr>
        <p:grpSpPr>
          <a:xfrm>
            <a:off x="6440805" y="1776730"/>
            <a:ext cx="4301490" cy="946150"/>
            <a:chOff x="10143" y="3097"/>
            <a:chExt cx="6774" cy="1490"/>
          </a:xfrm>
        </p:grpSpPr>
        <p:sp>
          <p:nvSpPr>
            <p:cNvPr id="4" name="标题 1"/>
            <p:cNvSpPr txBox="1"/>
            <p:nvPr/>
          </p:nvSpPr>
          <p:spPr>
            <a:xfrm rot="5400000">
              <a:off x="12785" y="455"/>
              <a:ext cx="1490" cy="6775"/>
            </a:xfrm>
            <a:prstGeom prst="round2SameRect">
              <a:avLst>
                <a:gd name="adj1" fmla="val 50000"/>
                <a:gd name="adj2" fmla="val 0"/>
              </a:avLst>
            </a:prstGeom>
            <a:solidFill>
              <a:schemeClr val="accent1"/>
            </a:solidFill>
            <a:ln cap="sq">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10587" y="3344"/>
              <a:ext cx="5385" cy="1175"/>
            </a:xfrm>
            <a:prstGeom prst="rect">
              <a:avLst/>
            </a:prstGeom>
            <a:noFill/>
            <a:ln>
              <a:noFill/>
            </a:ln>
          </p:spPr>
          <p:txBody>
            <a:bodyPr vert="horz" wrap="square" lIns="0" tIns="0" rIns="0" bIns="0" rtlCol="0" anchor="ctr"/>
            <a:lstStyle/>
            <a:p>
              <a:pPr algn="ctr">
                <a:lnSpc>
                  <a:spcPct val="130000"/>
                </a:lnSpc>
                <a:buClrTx/>
                <a:buSzTx/>
                <a:buFontTx/>
              </a:pPr>
              <a:r>
                <a:rPr kumimoji="1" lang="en-US" altLang="zh-CN" sz="2800" b="1">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软件系统漏洞的危害</a:t>
              </a:r>
              <a:endParaRPr kumimoji="1" lang="en-US" altLang="zh-CN" sz="2800" b="1">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grpSp>
      <p:grpSp>
        <p:nvGrpSpPr>
          <p:cNvPr id="11" name="组合 10"/>
          <p:cNvGrpSpPr/>
          <p:nvPr/>
        </p:nvGrpSpPr>
        <p:grpSpPr>
          <a:xfrm>
            <a:off x="811530" y="3346450"/>
            <a:ext cx="4867910" cy="976630"/>
            <a:chOff x="1933" y="5400"/>
            <a:chExt cx="7666" cy="1538"/>
          </a:xfrm>
        </p:grpSpPr>
        <p:sp>
          <p:nvSpPr>
            <p:cNvPr id="22" name="标题 1"/>
            <p:cNvSpPr txBox="1"/>
            <p:nvPr/>
          </p:nvSpPr>
          <p:spPr>
            <a:xfrm rot="16200000">
              <a:off x="4997" y="2336"/>
              <a:ext cx="1539" cy="7667"/>
            </a:xfrm>
            <a:prstGeom prst="round2SameRect">
              <a:avLst>
                <a:gd name="adj1" fmla="val 50000"/>
                <a:gd name="adj2" fmla="val 0"/>
              </a:avLst>
            </a:prstGeom>
            <a:solidFill>
              <a:schemeClr val="accent1"/>
            </a:solidFill>
            <a:ln cap="sq">
              <a:noFill/>
              <a:prstDash val="solid"/>
              <a:miter/>
            </a:ln>
          </p:spPr>
          <p:txBody>
            <a:bodyPr vert="horz" wrap="square" lIns="91440" tIns="45720" rIns="91440" bIns="45720" rtlCol="0" anchor="ctr"/>
            <a:p>
              <a:pPr algn="l">
                <a:lnSpc>
                  <a:spcPct val="110000"/>
                </a:lnSpc>
              </a:pPr>
              <a:endParaRPr kumimoji="1" lang="zh-CN" altLang="en-US"/>
            </a:p>
          </p:txBody>
        </p:sp>
        <p:sp>
          <p:nvSpPr>
            <p:cNvPr id="23" name="标题 1"/>
            <p:cNvSpPr txBox="1"/>
            <p:nvPr/>
          </p:nvSpPr>
          <p:spPr>
            <a:xfrm>
              <a:off x="3814" y="5647"/>
              <a:ext cx="4538" cy="1175"/>
            </a:xfrm>
            <a:prstGeom prst="rect">
              <a:avLst/>
            </a:prstGeom>
            <a:noFill/>
            <a:ln>
              <a:noFill/>
            </a:ln>
          </p:spPr>
          <p:txBody>
            <a:bodyPr vert="horz" wrap="square" lIns="0" tIns="0" rIns="0" bIns="0" rtlCol="0" anchor="ctr"/>
            <a:p>
              <a:pPr algn="l">
                <a:lnSpc>
                  <a:spcPct val="130000"/>
                </a:lnSpc>
                <a:buClrTx/>
                <a:buSzTx/>
                <a:buFontTx/>
              </a:pPr>
              <a:r>
                <a:rPr kumimoji="1" lang="en-US" altLang="zh-CN" sz="2800" b="1">
                  <a:ln w="12700">
                    <a:noFill/>
                  </a:ln>
                  <a:solidFill>
                    <a:schemeClr val="bg1">
                      <a:alpha val="100000"/>
                    </a:schemeClr>
                  </a:solidFill>
                  <a:latin typeface="Source Han Sans CN Bold" panose="020B0800000000000000" charset="-122"/>
                  <a:ea typeface="Source Han Sans CN Bold" panose="020B0800000000000000" charset="-122"/>
                  <a:cs typeface="Source Han Sans CN Bold" panose="020B0800000000000000" charset="-122"/>
                </a:rPr>
                <a:t>网络协议的漏洞</a:t>
              </a:r>
              <a:endParaRPr kumimoji="1" lang="en-US" altLang="zh-CN" sz="2800" b="1">
                <a:ln w="12700">
                  <a:noFill/>
                </a:ln>
                <a:solidFill>
                  <a:schemeClr val="bg1">
                    <a:alpha val="100000"/>
                  </a:schemeClr>
                </a:solidFill>
                <a:latin typeface="Source Han Sans CN Bold" panose="020B0800000000000000" charset="-122"/>
                <a:ea typeface="Source Han Sans CN Bold" panose="020B0800000000000000" charset="-122"/>
                <a:cs typeface="Source Han Sans CN Bold" panose="020B0800000000000000" charset="-122"/>
              </a:endParaRPr>
            </a:p>
          </p:txBody>
        </p:sp>
      </p:grpSp>
      <p:grpSp>
        <p:nvGrpSpPr>
          <p:cNvPr id="12" name="组合 11"/>
          <p:cNvGrpSpPr/>
          <p:nvPr/>
        </p:nvGrpSpPr>
        <p:grpSpPr>
          <a:xfrm>
            <a:off x="6403340" y="3346450"/>
            <a:ext cx="4301490" cy="946150"/>
            <a:chOff x="10705" y="5400"/>
            <a:chExt cx="6774" cy="1490"/>
          </a:xfrm>
        </p:grpSpPr>
        <p:sp>
          <p:nvSpPr>
            <p:cNvPr id="21" name="标题 1"/>
            <p:cNvSpPr txBox="1"/>
            <p:nvPr/>
          </p:nvSpPr>
          <p:spPr>
            <a:xfrm rot="5400000">
              <a:off x="13347" y="2758"/>
              <a:ext cx="1490" cy="6775"/>
            </a:xfrm>
            <a:prstGeom prst="round2SameRect">
              <a:avLst>
                <a:gd name="adj1" fmla="val 50000"/>
                <a:gd name="adj2" fmla="val 0"/>
              </a:avLst>
            </a:prstGeom>
            <a:solidFill>
              <a:schemeClr val="accent1"/>
            </a:solidFill>
            <a:ln cap="sq">
              <a:noFill/>
              <a:prstDash val="solid"/>
              <a:miter/>
            </a:ln>
          </p:spPr>
          <p:txBody>
            <a:bodyPr vert="horz" wrap="square" lIns="91440" tIns="45720" rIns="91440" bIns="45720" rtlCol="0" anchor="ctr"/>
            <a:p>
              <a:pPr algn="l">
                <a:lnSpc>
                  <a:spcPct val="110000"/>
                </a:lnSpc>
              </a:pPr>
              <a:endParaRPr kumimoji="1" lang="zh-CN" altLang="en-US"/>
            </a:p>
          </p:txBody>
        </p:sp>
        <p:sp>
          <p:nvSpPr>
            <p:cNvPr id="24" name="标题 1"/>
            <p:cNvSpPr txBox="1"/>
            <p:nvPr/>
          </p:nvSpPr>
          <p:spPr>
            <a:xfrm>
              <a:off x="11259" y="5647"/>
              <a:ext cx="5385" cy="1175"/>
            </a:xfrm>
            <a:prstGeom prst="rect">
              <a:avLst/>
            </a:prstGeom>
            <a:noFill/>
            <a:ln>
              <a:noFill/>
            </a:ln>
          </p:spPr>
          <p:txBody>
            <a:bodyPr vert="horz" wrap="square" lIns="0" tIns="0" rIns="0" bIns="0" rtlCol="0" anchor="ctr"/>
            <a:p>
              <a:pPr algn="ctr">
                <a:lnSpc>
                  <a:spcPct val="130000"/>
                </a:lnSpc>
                <a:buClrTx/>
                <a:buSzTx/>
                <a:buFontTx/>
              </a:pPr>
              <a:r>
                <a:rPr kumimoji="1" lang="zh-CN" altLang="en-US" sz="2800" b="1">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网络安全管理的漏洞</a:t>
              </a:r>
              <a:endParaRPr kumimoji="1" lang="zh-CN" altLang="en-US" sz="2800" b="1">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2147482624"/>
          <p:cNvGraphicFramePr/>
          <p:nvPr/>
        </p:nvGraphicFramePr>
        <p:xfrm>
          <a:off x="536575" y="1447165"/>
          <a:ext cx="5876925" cy="4744085"/>
        </p:xfrm>
        <a:graphic>
          <a:graphicData uri="http://schemas.openxmlformats.org/presentationml/2006/ole">
            <mc:AlternateContent xmlns:mc="http://schemas.openxmlformats.org/markup-compatibility/2006">
              <mc:Choice xmlns:v="urn:schemas-microsoft-com:vml" Requires="v">
                <p:oleObj spid="_x0000_s3076" name="" r:id="rId1" imgW="3477895" imgH="2057400" progId="Visio.Drawing.11">
                  <p:embed/>
                </p:oleObj>
              </mc:Choice>
              <mc:Fallback>
                <p:oleObj name="" r:id="rId1" imgW="3477895" imgH="2057400" progId="Visio.Drawing.11">
                  <p:embed/>
                  <p:pic>
                    <p:nvPicPr>
                      <p:cNvPr id="0" name="图片 3075"/>
                      <p:cNvPicPr/>
                      <p:nvPr/>
                    </p:nvPicPr>
                    <p:blipFill>
                      <a:blip r:embed="rId2"/>
                      <a:stretch>
                        <a:fillRect/>
                      </a:stretch>
                    </p:blipFill>
                    <p:spPr>
                      <a:xfrm>
                        <a:off x="536575" y="1447165"/>
                        <a:ext cx="5876925" cy="4744085"/>
                      </a:xfrm>
                      <a:prstGeom prst="rect">
                        <a:avLst/>
                      </a:prstGeom>
                      <a:noFill/>
                      <a:ln w="38100">
                        <a:noFill/>
                        <a:miter/>
                      </a:ln>
                    </p:spPr>
                  </p:pic>
                </p:oleObj>
              </mc:Fallback>
            </mc:AlternateContent>
          </a:graphicData>
        </a:graphic>
      </p:graphicFrame>
      <p:sp>
        <p:nvSpPr>
          <p:cNvPr id="3" name="标题 2"/>
          <p:cNvSpPr>
            <a:spLocks noGrp="1"/>
          </p:cNvSpPr>
          <p:nvPr>
            <p:ph type="title"/>
          </p:nvPr>
        </p:nvSpPr>
        <p:spPr>
          <a:xfrm>
            <a:off x="241300" y="298450"/>
            <a:ext cx="8182610" cy="583565"/>
          </a:xfrm>
        </p:spPr>
        <p:txBody>
          <a:bodyPr/>
          <a:p>
            <a:pPr algn="l">
              <a:buClrTx/>
              <a:buSzTx/>
              <a:buFontTx/>
            </a:pPr>
            <a:r>
              <a:rPr lang="en-US" altLang="zh-CN" sz="4000" dirty="0">
                <a:latin typeface="+mj-ea"/>
              </a:rPr>
              <a:t>1.3.3 </a:t>
            </a:r>
            <a:r>
              <a:rPr lang="zh-CN" altLang="en-US" sz="4000" dirty="0">
                <a:latin typeface="+mj-ea"/>
              </a:rPr>
              <a:t>计算机网络安全防范的措施</a:t>
            </a:r>
            <a:endParaRPr lang="zh-CN" altLang="en-US" sz="4000" dirty="0">
              <a:latin typeface="+mj-ea"/>
            </a:endParaRPr>
          </a:p>
        </p:txBody>
      </p:sp>
      <p:sp>
        <p:nvSpPr>
          <p:cNvPr id="9" name="标题 1"/>
          <p:cNvSpPr txBox="1"/>
          <p:nvPr/>
        </p:nvSpPr>
        <p:spPr>
          <a:xfrm>
            <a:off x="6328410" y="5014595"/>
            <a:ext cx="5583555" cy="967740"/>
          </a:xfrm>
          <a:prstGeom prst="rect">
            <a:avLst/>
          </a:prstGeom>
          <a:noFill/>
          <a:ln>
            <a:noFill/>
          </a:ln>
        </p:spPr>
        <p:txBody>
          <a:bodyPr vert="horz" wrap="square" lIns="0" tIns="0" rIns="0" bIns="0" rtlCol="0" anchor="t"/>
          <a:p>
            <a:pPr algn="just">
              <a:lnSpc>
                <a:spcPct val="150000"/>
              </a:lnSpc>
              <a:buClrTx/>
              <a:buSzTx/>
              <a:buFontTx/>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
</a:t>
            </a:r>
            <a:r>
              <a:rPr kumimoji="1" lang="en-US" altLang="zh-CN" sz="2400" b="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在许多情况下，法律法规的作用大于技术</a:t>
            </a:r>
            <a:endParaRPr kumimoji="1" lang="en-US" altLang="zh-CN" sz="2400" b="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p:txBody>
      </p:sp>
      <p:sp>
        <p:nvSpPr>
          <p:cNvPr id="4" name="标题 1"/>
          <p:cNvSpPr txBox="1"/>
          <p:nvPr/>
        </p:nvSpPr>
        <p:spPr>
          <a:xfrm>
            <a:off x="5831205" y="3941445"/>
            <a:ext cx="6080760" cy="967740"/>
          </a:xfrm>
          <a:prstGeom prst="rect">
            <a:avLst/>
          </a:prstGeom>
          <a:noFill/>
          <a:ln>
            <a:noFill/>
          </a:ln>
        </p:spPr>
        <p:txBody>
          <a:bodyPr vert="horz" wrap="square" lIns="0" tIns="0" rIns="0" bIns="0" rtlCol="0" anchor="t"/>
          <a:p>
            <a:pPr algn="just">
              <a:lnSpc>
                <a:spcPct val="150000"/>
              </a:lnSpc>
              <a:buClrTx/>
              <a:buSzTx/>
              <a:buFontTx/>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
</a:t>
            </a:r>
            <a:r>
              <a:rPr kumimoji="1" lang="zh-CN" altLang="en-US" sz="2400" b="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教育是提升安全意识、知识技能的重要环节</a:t>
            </a:r>
            <a:endParaRPr kumimoji="1" lang="zh-CN" altLang="en-US" sz="2400" b="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p:txBody>
      </p:sp>
      <p:sp>
        <p:nvSpPr>
          <p:cNvPr id="5" name="标题 1"/>
          <p:cNvSpPr txBox="1"/>
          <p:nvPr/>
        </p:nvSpPr>
        <p:spPr>
          <a:xfrm>
            <a:off x="4905375" y="2908935"/>
            <a:ext cx="7202170" cy="967740"/>
          </a:xfrm>
          <a:prstGeom prst="rect">
            <a:avLst/>
          </a:prstGeom>
          <a:noFill/>
          <a:ln>
            <a:noFill/>
          </a:ln>
        </p:spPr>
        <p:txBody>
          <a:bodyPr vert="horz" wrap="square" lIns="0" tIns="0" rIns="0" bIns="0" rtlCol="0" anchor="t"/>
          <a:p>
            <a:pPr algn="just">
              <a:lnSpc>
                <a:spcPct val="150000"/>
              </a:lnSpc>
              <a:buClrTx/>
              <a:buSzTx/>
              <a:buFontTx/>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
</a:t>
            </a:r>
            <a:r>
              <a:rPr kumimoji="1" lang="zh-CN" altLang="en-US" sz="2400" b="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管理可以提高网络的安全性，保护信息资产免受威胁</a:t>
            </a:r>
            <a:endParaRPr kumimoji="1" lang="zh-CN" altLang="en-US" sz="2400" b="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p:txBody>
      </p:sp>
      <p:sp>
        <p:nvSpPr>
          <p:cNvPr id="6" name="标题 1"/>
          <p:cNvSpPr txBox="1"/>
          <p:nvPr/>
        </p:nvSpPr>
        <p:spPr>
          <a:xfrm>
            <a:off x="4394835" y="1910715"/>
            <a:ext cx="7698740" cy="967740"/>
          </a:xfrm>
          <a:prstGeom prst="rect">
            <a:avLst/>
          </a:prstGeom>
          <a:noFill/>
          <a:ln>
            <a:noFill/>
          </a:ln>
        </p:spPr>
        <p:txBody>
          <a:bodyPr vert="horz" wrap="square" lIns="0" tIns="0" rIns="0" bIns="0" rtlCol="0" anchor="t"/>
          <a:p>
            <a:pPr algn="just">
              <a:lnSpc>
                <a:spcPct val="150000"/>
              </a:lnSpc>
              <a:buClrTx/>
              <a:buSzTx/>
              <a:buFontTx/>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
</a:t>
            </a:r>
            <a:r>
              <a:rPr kumimoji="1" lang="zh-CN" altLang="en-US" sz="2400" b="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技术措施包括策略和技术工具，旨在保护网络免受攻击</a:t>
            </a:r>
            <a:endParaRPr kumimoji="1" lang="zh-CN" altLang="en-US" sz="2400" b="1">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400" y="298450"/>
            <a:ext cx="7800340" cy="583565"/>
          </a:xfrm>
        </p:spPr>
        <p:txBody>
          <a:bodyPr/>
          <a:p>
            <a:pPr algn="l">
              <a:buClrTx/>
              <a:buSzTx/>
              <a:buFontTx/>
            </a:pPr>
            <a:r>
              <a:rPr lang="zh-CN" altLang="en-US" sz="4000" dirty="0">
                <a:latin typeface="+mj-ea"/>
                <a:sym typeface="+mn-ea"/>
              </a:rPr>
              <a:t>1.4.2 </a:t>
            </a:r>
            <a:r>
              <a:rPr lang="zh-CN" altLang="en-US" sz="4000" dirty="0">
                <a:latin typeface="+mj-ea"/>
                <a:sym typeface="+mn-ea"/>
              </a:rPr>
              <a:t>计算机网络协议的安全风险</a:t>
            </a:r>
            <a:endParaRPr lang="zh-CN" altLang="en-US" sz="4000" dirty="0">
              <a:latin typeface="+mj-ea"/>
            </a:endParaRPr>
          </a:p>
        </p:txBody>
      </p:sp>
      <p:sp>
        <p:nvSpPr>
          <p:cNvPr id="14" name="文本框 13"/>
          <p:cNvSpPr txBox="1"/>
          <p:nvPr/>
        </p:nvSpPr>
        <p:spPr>
          <a:xfrm>
            <a:off x="481965" y="1438910"/>
            <a:ext cx="11240135" cy="5040630"/>
          </a:xfrm>
          <a:prstGeom prst="rect">
            <a:avLst/>
          </a:prstGeom>
          <a:noFill/>
        </p:spPr>
        <p:txBody>
          <a:bodyPr wrap="square" rtlCol="0">
            <a:noAutofit/>
          </a:bodyPr>
          <a:p>
            <a:pPr marL="342900" indent="-342900" algn="l" latinLnBrk="0">
              <a:lnSpc>
                <a:spcPct val="150000"/>
              </a:lnSpc>
              <a:spcBef>
                <a:spcPts val="0"/>
              </a:spcBef>
              <a:buClr>
                <a:srgbClr val="DF4F21"/>
              </a:buClr>
              <a:buSzTx/>
              <a:buFont typeface="Wingdings" panose="05000000000000000000" charset="0"/>
              <a:buChar char="p"/>
            </a:pPr>
            <a:r>
              <a:rPr lang="zh-CN" altLang="en-US" sz="2800" b="1" kern="0" dirty="0">
                <a:latin typeface="Times New Roman" panose="02020603050405020304" charset="0"/>
                <a:ea typeface="宋体" panose="02010600030101010101" pitchFamily="2" charset="-122"/>
                <a:cs typeface="Times New Roman" panose="02020603050405020304" charset="0"/>
                <a:sym typeface="+mn-ea"/>
              </a:rPr>
              <a:t>计算机网络协议的安全风险可归结为以下三方面</a:t>
            </a:r>
            <a:endParaRPr lang="zh-CN" altLang="en-US" sz="2800" b="1" kern="0" dirty="0">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latinLnBrk="0">
              <a:lnSpc>
                <a:spcPct val="150000"/>
              </a:lnSpc>
              <a:spcBef>
                <a:spcPts val="600"/>
              </a:spcBef>
              <a:buClr>
                <a:schemeClr val="accent2"/>
              </a:buClr>
              <a:buSzPct val="70000"/>
              <a:buFont typeface="Wingdings" panose="05000000000000000000" charset="0"/>
              <a:buChar char="Ø"/>
            </a:pPr>
            <a:r>
              <a:rPr lang="zh-CN" altLang="en-US" sz="2800" b="1" kern="0" dirty="0">
                <a:latin typeface="Times New Roman" panose="02020603050405020304" charset="0"/>
                <a:ea typeface="宋体" panose="02010600030101010101" pitchFamily="2" charset="-122"/>
                <a:cs typeface="Times New Roman" panose="02020603050405020304" charset="0"/>
                <a:sym typeface="+mn-ea"/>
              </a:rPr>
              <a:t>设计初衷为异构网互联，未充分考虑安全性，各层协议开放性及设计缺陷使其易受攻击</a:t>
            </a:r>
            <a:endParaRPr lang="zh-CN" altLang="en-US" sz="2800" b="1" kern="0" dirty="0">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latinLnBrk="0">
              <a:lnSpc>
                <a:spcPct val="150000"/>
              </a:lnSpc>
              <a:spcBef>
                <a:spcPts val="600"/>
              </a:spcBef>
              <a:buClr>
                <a:schemeClr val="accent2"/>
              </a:buClr>
              <a:buSzPct val="70000"/>
              <a:buFont typeface="Wingdings" panose="05000000000000000000" charset="0"/>
              <a:buChar char="Ø"/>
            </a:pPr>
            <a:r>
              <a:rPr lang="zh-CN" altLang="en-US" sz="2800" b="1" kern="0" dirty="0">
                <a:latin typeface="Times New Roman" panose="02020603050405020304" charset="0"/>
                <a:ea typeface="宋体" panose="02010600030101010101" pitchFamily="2" charset="-122"/>
                <a:cs typeface="Times New Roman" panose="02020603050405020304" charset="0"/>
                <a:sym typeface="+mn-ea"/>
              </a:rPr>
              <a:t>计算机网络协议缺乏用于验证通信双方真实性的有效认证机制</a:t>
            </a:r>
            <a:endParaRPr lang="zh-CN" altLang="en-US" sz="2800" b="1" kern="0" dirty="0">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latinLnBrk="0">
              <a:lnSpc>
                <a:spcPct val="150000"/>
              </a:lnSpc>
              <a:spcBef>
                <a:spcPts val="600"/>
              </a:spcBef>
              <a:buClr>
                <a:schemeClr val="accent2"/>
              </a:buClr>
              <a:buSzPct val="70000"/>
              <a:buFont typeface="Wingdings" panose="05000000000000000000" charset="0"/>
              <a:buChar char="Ø"/>
            </a:pPr>
            <a:r>
              <a:rPr lang="zh-CN" altLang="en-US" sz="2800" b="1" kern="0" dirty="0">
                <a:latin typeface="Times New Roman" panose="02020603050405020304" charset="0"/>
                <a:ea typeface="宋体" panose="02010600030101010101" pitchFamily="2" charset="-122"/>
                <a:cs typeface="Times New Roman" panose="02020603050405020304" charset="0"/>
                <a:sym typeface="+mn-ea"/>
              </a:rPr>
              <a:t>计算机网络协议缺乏保密机制，无法实现数据机密性的功能</a:t>
            </a:r>
            <a:endParaRPr sz="3200" b="1" spc="5" dirty="0">
              <a:solidFill>
                <a:schemeClr val="tx1"/>
              </a:solidFill>
              <a:latin typeface="黑体" panose="02010609060101010101" charset="-122"/>
              <a:ea typeface="黑体" panose="02010609060101010101" charset="-122"/>
              <a:cs typeface="黑体" panose="02010609060101010101" charset="-122"/>
            </a:endParaRPr>
          </a:p>
          <a:p>
            <a:pPr marL="761365" indent="0" algn="l" latinLnBrk="0">
              <a:lnSpc>
                <a:spcPct val="150000"/>
              </a:lnSpc>
              <a:spcBef>
                <a:spcPts val="0"/>
              </a:spcBef>
              <a:buClrTx/>
              <a:buSzTx/>
              <a:buFontTx/>
            </a:pPr>
            <a:r>
              <a:rPr lang="en-US" sz="3200" b="1" spc="5" dirty="0">
                <a:latin typeface="黑体" panose="02010609060101010101" charset="-122"/>
                <a:ea typeface="黑体" panose="02010609060101010101" charset="-122"/>
                <a:cs typeface="黑体" panose="02010609060101010101" charset="-122"/>
                <a:sym typeface="+mn-ea"/>
              </a:rPr>
              <a:t>   </a:t>
            </a:r>
            <a:r>
              <a:rPr lang="en-US" sz="3200" b="1" spc="5" dirty="0">
                <a:solidFill>
                  <a:srgbClr val="FB0903"/>
                </a:solidFill>
                <a:latin typeface="黑体" panose="02010609060101010101" charset="-122"/>
                <a:ea typeface="黑体" panose="02010609060101010101" charset="-122"/>
                <a:cs typeface="黑体" panose="02010609060101010101" charset="-122"/>
                <a:sym typeface="+mn-ea"/>
              </a:rPr>
              <a:t> </a:t>
            </a:r>
            <a:endParaRPr lang="zh-CN" altLang="en-US" sz="3200" b="1">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152400" y="298450"/>
            <a:ext cx="11518900" cy="583565"/>
          </a:xfrm>
        </p:spPr>
        <p:txBody>
          <a:bodyPr/>
          <a:p>
            <a:r>
              <a:rPr lang="en-US" altLang="zh-CN" dirty="0">
                <a:latin typeface="+mj-ea"/>
                <a:sym typeface="+mn-ea"/>
              </a:rPr>
              <a:t>1.4.3 TCP/IP</a:t>
            </a:r>
            <a:r>
              <a:rPr lang="zh-CN" altLang="en-US" dirty="0">
                <a:latin typeface="+mj-ea"/>
                <a:sym typeface="+mn-ea"/>
              </a:rPr>
              <a:t>协议安全的体系结构</a:t>
            </a:r>
            <a:r>
              <a:rPr lang="en-US" altLang="zh-CN" dirty="0">
                <a:latin typeface="+mj-ea"/>
                <a:sym typeface="+mn-ea"/>
              </a:rPr>
              <a:t>——</a:t>
            </a:r>
            <a:r>
              <a:rPr lang="zh-CN" altLang="en-US" dirty="0">
                <a:latin typeface="+mj-ea"/>
                <a:sym typeface="+mn-ea"/>
              </a:rPr>
              <a:t>网络接口层的安全性</a:t>
            </a:r>
            <a:endParaRPr lang="zh-CN" altLang="en-US"/>
          </a:p>
        </p:txBody>
      </p:sp>
      <p:sp>
        <p:nvSpPr>
          <p:cNvPr id="3" name="标题 1"/>
          <p:cNvSpPr txBox="1"/>
          <p:nvPr>
            <p:custDataLst>
              <p:tags r:id="rId1"/>
            </p:custDataLst>
          </p:nvPr>
        </p:nvSpPr>
        <p:spPr>
          <a:xfrm>
            <a:off x="457200" y="1551433"/>
            <a:ext cx="5419038" cy="4783743"/>
          </a:xfrm>
          <a:prstGeom prst="rect">
            <a:avLst/>
          </a:prstGeom>
          <a:solidFill>
            <a:schemeClr val="bg1"/>
          </a:solidFill>
          <a:ln w="25400" cap="sq">
            <a:solidFill>
              <a:schemeClr val="bg1">
                <a:lumMod val="95000"/>
              </a:schemeClr>
            </a:solidFill>
            <a:miter/>
          </a:ln>
          <a:effectLst>
            <a:outerShdw blurRad="127000" algn="ctr" rotWithShape="0">
              <a:schemeClr val="accent1">
                <a:alpha val="20000"/>
              </a:schemeClr>
            </a:outerShdw>
          </a:effectLst>
        </p:spPr>
        <p:txBody>
          <a:bodyPr vert="horz" wrap="square" lIns="0" tIns="0" rIns="0" bIns="0" rtlCol="0" anchor="ctr"/>
          <a:lstStyle/>
          <a:p>
            <a:pPr algn="ctr">
              <a:lnSpc>
                <a:spcPct val="110000"/>
              </a:lnSpc>
            </a:pPr>
            <a:endParaRPr kumimoji="1" lang="zh-CN" altLang="en-US"/>
          </a:p>
        </p:txBody>
      </p:sp>
      <p:sp>
        <p:nvSpPr>
          <p:cNvPr id="4" name="标题 1"/>
          <p:cNvSpPr txBox="1"/>
          <p:nvPr>
            <p:custDataLst>
              <p:tags r:id="rId2"/>
            </p:custDataLst>
          </p:nvPr>
        </p:nvSpPr>
        <p:spPr>
          <a:xfrm>
            <a:off x="3034030" y="1622425"/>
            <a:ext cx="2788920" cy="832485"/>
          </a:xfrm>
          <a:prstGeom prst="rect">
            <a:avLst/>
          </a:prstGeom>
          <a:noFill/>
          <a:ln>
            <a:noFill/>
          </a:ln>
        </p:spPr>
        <p:txBody>
          <a:bodyPr vert="horz" wrap="square" lIns="0" tIns="0" rIns="0" bIns="0" rtlCol="0" anchor="ctr"/>
          <a:lstStyle/>
          <a:p>
            <a:pPr algn="l">
              <a:lnSpc>
                <a:spcPct val="130000"/>
              </a:lnSpc>
            </a:pPr>
            <a:r>
              <a:rPr kumimoji="1" lang="zh-CN" altLang="en-US" sz="24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rPr>
              <a:t>网络接口层</a:t>
            </a:r>
            <a:r>
              <a:rPr kumimoji="1" lang="en-US" altLang="zh-CN" sz="24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rPr>
              <a:t>安全风险</a:t>
            </a:r>
            <a:endParaRPr kumimoji="1" lang="en-US" altLang="zh-CN" sz="24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5" name="标题 1"/>
          <p:cNvSpPr txBox="1"/>
          <p:nvPr>
            <p:custDataLst>
              <p:tags r:id="rId3"/>
            </p:custDataLst>
          </p:nvPr>
        </p:nvSpPr>
        <p:spPr>
          <a:xfrm rot="16200000">
            <a:off x="1734612" y="1768918"/>
            <a:ext cx="1427862" cy="975269"/>
          </a:xfrm>
          <a:custGeom>
            <a:avLst/>
            <a:gdLst>
              <a:gd name="connsiteX0" fmla="*/ 1172998 w 1172998"/>
              <a:gd name="connsiteY0" fmla="*/ 0 h 801190"/>
              <a:gd name="connsiteX1" fmla="*/ 1172998 w 1172998"/>
              <a:gd name="connsiteY1" fmla="*/ 801190 h 801190"/>
              <a:gd name="connsiteX2" fmla="*/ 400595 w 1172998"/>
              <a:gd name="connsiteY2" fmla="*/ 801190 h 801190"/>
              <a:gd name="connsiteX3" fmla="*/ 0 w 1172998"/>
              <a:gd name="connsiteY3" fmla="*/ 400595 h 801190"/>
              <a:gd name="connsiteX4" fmla="*/ 400595 w 1172998"/>
              <a:gd name="connsiteY4" fmla="*/ 0 h 801190"/>
            </a:gdLst>
            <a:ahLst/>
            <a:cxnLst/>
            <a:rect l="l" t="t" r="r" b="b"/>
            <a:pathLst>
              <a:path w="1172998" h="801190">
                <a:moveTo>
                  <a:pt x="1172998" y="0"/>
                </a:moveTo>
                <a:lnTo>
                  <a:pt x="1172998" y="801190"/>
                </a:lnTo>
                <a:lnTo>
                  <a:pt x="400595" y="801190"/>
                </a:lnTo>
                <a:cubicBezTo>
                  <a:pt x="179352" y="801190"/>
                  <a:pt x="0" y="621838"/>
                  <a:pt x="0" y="400595"/>
                </a:cubicBezTo>
                <a:cubicBezTo>
                  <a:pt x="0" y="179352"/>
                  <a:pt x="179352" y="0"/>
                  <a:pt x="400595"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custDataLst>
              <p:tags r:id="rId4"/>
            </p:custDataLst>
          </p:nvPr>
        </p:nvSpPr>
        <p:spPr>
          <a:xfrm>
            <a:off x="457856" y="2914560"/>
            <a:ext cx="5267433" cy="3421272"/>
          </a:xfrm>
          <a:prstGeom prst="rect">
            <a:avLst/>
          </a:prstGeom>
          <a:noFill/>
          <a:ln>
            <a:noFill/>
          </a:ln>
        </p:spPr>
        <p:txBody>
          <a:bodyPr vert="horz" wrap="square" lIns="0" tIns="0" rIns="0" bIns="0" rtlCol="0" anchor="t"/>
          <a:lstStyle/>
          <a:p>
            <a:pPr algn="l">
              <a:lnSpc>
                <a:spcPct val="150000"/>
              </a:lnSpc>
              <a:buClrTx/>
              <a:buSzTx/>
              <a:buFontTx/>
            </a:pPr>
            <a:r>
              <a:rPr kumimoji="1" lang="zh-CN" altLang="en-US"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对应着</a:t>
            </a: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OSI/RM</a:t>
            </a:r>
            <a:r>
              <a:rPr kumimoji="1" lang="zh-CN" altLang="en-US"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模型的物理层和数据链路层。该层存在设备损坏与老化、意外故障、</a:t>
            </a:r>
            <a:r>
              <a:rPr kumimoji="1" lang="zh-CN" altLang="en-US"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rPr>
              <a:t>信息探测与窃听</a:t>
            </a:r>
            <a:r>
              <a:rPr kumimoji="1" lang="zh-CN" altLang="en-US"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等安全风险，</a:t>
            </a:r>
            <a:endParaRPr kumimoji="1" lang="zh-CN" altLang="en-US"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0" name="标题 1"/>
          <p:cNvSpPr txBox="1"/>
          <p:nvPr>
            <p:custDataLst>
              <p:tags r:id="rId5"/>
            </p:custDataLst>
          </p:nvPr>
        </p:nvSpPr>
        <p:spPr>
          <a:xfrm>
            <a:off x="6309995" y="1551305"/>
            <a:ext cx="5086350" cy="4783455"/>
          </a:xfrm>
          <a:prstGeom prst="rect">
            <a:avLst/>
          </a:prstGeom>
          <a:solidFill>
            <a:schemeClr val="bg1"/>
          </a:solidFill>
          <a:ln w="25400" cap="sq">
            <a:solidFill>
              <a:schemeClr val="bg1">
                <a:lumMod val="95000"/>
              </a:schemeClr>
            </a:solidFill>
            <a:miter/>
          </a:ln>
          <a:effectLst>
            <a:outerShdw blurRad="127000" algn="ctr" rotWithShape="0">
              <a:schemeClr val="accent1">
                <a:alpha val="20000"/>
              </a:schemeClr>
            </a:outerShdw>
          </a:effectLst>
        </p:spPr>
        <p:txBody>
          <a:bodyPr vert="horz" wrap="square" lIns="0" tIns="0" rIns="0" bIns="0" rtlCol="0" anchor="ctr"/>
          <a:lstStyle/>
          <a:p>
            <a:pPr algn="ctr">
              <a:lnSpc>
                <a:spcPct val="110000"/>
              </a:lnSpc>
            </a:pPr>
            <a:endParaRPr kumimoji="1" lang="zh-CN" altLang="en-US"/>
          </a:p>
        </p:txBody>
      </p:sp>
      <p:sp>
        <p:nvSpPr>
          <p:cNvPr id="11" name="标题 1"/>
          <p:cNvSpPr txBox="1"/>
          <p:nvPr>
            <p:custDataLst>
              <p:tags r:id="rId6"/>
            </p:custDataLst>
          </p:nvPr>
        </p:nvSpPr>
        <p:spPr>
          <a:xfrm>
            <a:off x="8515300" y="1651190"/>
            <a:ext cx="2755131" cy="832840"/>
          </a:xfrm>
          <a:prstGeom prst="rect">
            <a:avLst/>
          </a:prstGeom>
          <a:noFill/>
          <a:ln>
            <a:noFill/>
          </a:ln>
        </p:spPr>
        <p:txBody>
          <a:bodyPr vert="horz" wrap="square" lIns="0" tIns="0" rIns="0" bIns="0" rtlCol="0" anchor="ctr">
            <a:noAutofit/>
          </a:bodyPr>
          <a:lstStyle/>
          <a:p>
            <a:pPr lvl="0" algn="ctr">
              <a:lnSpc>
                <a:spcPct val="130000"/>
              </a:lnSpc>
              <a:buClrTx/>
              <a:buSzTx/>
              <a:buFontTx/>
            </a:pPr>
            <a:r>
              <a:rPr kumimoji="1" lang="zh-CN" altLang="en-US" sz="24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网络接口层</a:t>
            </a:r>
            <a:r>
              <a:rPr kumimoji="1" lang="en-US" altLang="zh-CN" sz="24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防护措施</a:t>
            </a:r>
            <a:endParaRPr kumimoji="1" lang="en-US" altLang="zh-CN" sz="24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endParaRPr>
          </a:p>
        </p:txBody>
      </p:sp>
      <p:sp>
        <p:nvSpPr>
          <p:cNvPr id="12" name="标题 1"/>
          <p:cNvSpPr txBox="1"/>
          <p:nvPr>
            <p:custDataLst>
              <p:tags r:id="rId7"/>
            </p:custDataLst>
          </p:nvPr>
        </p:nvSpPr>
        <p:spPr>
          <a:xfrm rot="16200000">
            <a:off x="7254655" y="1768918"/>
            <a:ext cx="1427862" cy="975269"/>
          </a:xfrm>
          <a:custGeom>
            <a:avLst/>
            <a:gdLst>
              <a:gd name="connsiteX0" fmla="*/ 1172998 w 1172998"/>
              <a:gd name="connsiteY0" fmla="*/ 0 h 801190"/>
              <a:gd name="connsiteX1" fmla="*/ 1172998 w 1172998"/>
              <a:gd name="connsiteY1" fmla="*/ 801190 h 801190"/>
              <a:gd name="connsiteX2" fmla="*/ 400595 w 1172998"/>
              <a:gd name="connsiteY2" fmla="*/ 801190 h 801190"/>
              <a:gd name="connsiteX3" fmla="*/ 0 w 1172998"/>
              <a:gd name="connsiteY3" fmla="*/ 400595 h 801190"/>
              <a:gd name="connsiteX4" fmla="*/ 400595 w 1172998"/>
              <a:gd name="connsiteY4" fmla="*/ 0 h 801190"/>
            </a:gdLst>
            <a:ahLst/>
            <a:cxnLst/>
            <a:rect l="l" t="t" r="r" b="b"/>
            <a:pathLst>
              <a:path w="1172998" h="801190">
                <a:moveTo>
                  <a:pt x="1172998" y="0"/>
                </a:moveTo>
                <a:lnTo>
                  <a:pt x="1172998" y="801190"/>
                </a:lnTo>
                <a:lnTo>
                  <a:pt x="400595" y="801190"/>
                </a:lnTo>
                <a:cubicBezTo>
                  <a:pt x="179352" y="801190"/>
                  <a:pt x="0" y="621838"/>
                  <a:pt x="0" y="400595"/>
                </a:cubicBezTo>
                <a:cubicBezTo>
                  <a:pt x="0" y="179352"/>
                  <a:pt x="179352" y="0"/>
                  <a:pt x="400595"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custDataLst>
              <p:tags r:id="rId8"/>
            </p:custDataLst>
          </p:nvPr>
        </p:nvSpPr>
        <p:spPr>
          <a:xfrm>
            <a:off x="7483956" y="1332410"/>
            <a:ext cx="1198546" cy="224020"/>
          </a:xfrm>
          <a:prstGeom prst="round2SameRect">
            <a:avLst>
              <a:gd name="adj1" fmla="val 50000"/>
              <a:gd name="adj2" fmla="val 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custDataLst>
              <p:tags r:id="rId9"/>
            </p:custDataLst>
          </p:nvPr>
        </p:nvSpPr>
        <p:spPr>
          <a:xfrm>
            <a:off x="8459226" y="1332410"/>
            <a:ext cx="271391" cy="224020"/>
          </a:xfrm>
          <a:custGeom>
            <a:avLst/>
            <a:gdLst>
              <a:gd name="connsiteX0" fmla="*/ 344091 w 688182"/>
              <a:gd name="connsiteY0" fmla="*/ 0 h 360510"/>
              <a:gd name="connsiteX1" fmla="*/ 688182 w 688182"/>
              <a:gd name="connsiteY1" fmla="*/ 344091 h 360510"/>
              <a:gd name="connsiteX2" fmla="*/ 686527 w 688182"/>
              <a:gd name="connsiteY2" fmla="*/ 360510 h 360510"/>
              <a:gd name="connsiteX3" fmla="*/ 1655 w 688182"/>
              <a:gd name="connsiteY3" fmla="*/ 360510 h 360510"/>
              <a:gd name="connsiteX4" fmla="*/ 0 w 688182"/>
              <a:gd name="connsiteY4" fmla="*/ 344091 h 360510"/>
              <a:gd name="connsiteX5" fmla="*/ 344091 w 688182"/>
              <a:gd name="connsiteY5" fmla="*/ 0 h 360510"/>
            </a:gdLst>
            <a:ahLst/>
            <a:cxnLst/>
            <a:rect l="l" t="t" r="r" b="b"/>
            <a:pathLst>
              <a:path w="688182" h="360510">
                <a:moveTo>
                  <a:pt x="344091" y="0"/>
                </a:moveTo>
                <a:cubicBezTo>
                  <a:pt x="534127" y="0"/>
                  <a:pt x="688182" y="154055"/>
                  <a:pt x="688182" y="344091"/>
                </a:cubicBezTo>
                <a:lnTo>
                  <a:pt x="686527" y="360510"/>
                </a:lnTo>
                <a:lnTo>
                  <a:pt x="1655" y="360510"/>
                </a:lnTo>
                <a:lnTo>
                  <a:pt x="0" y="344091"/>
                </a:lnTo>
                <a:cubicBezTo>
                  <a:pt x="0" y="154055"/>
                  <a:pt x="154055" y="0"/>
                  <a:pt x="344091" y="0"/>
                </a:cubicBezTo>
                <a:close/>
              </a:path>
            </a:pathLst>
          </a:custGeom>
          <a:solidFill>
            <a:schemeClr val="accent1">
              <a:lumMod val="7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10"/>
            </p:custDataLst>
          </p:nvPr>
        </p:nvSpPr>
        <p:spPr>
          <a:xfrm>
            <a:off x="6426835" y="3160395"/>
            <a:ext cx="4657090" cy="2823845"/>
          </a:xfrm>
          <a:prstGeom prst="rect">
            <a:avLst/>
          </a:prstGeom>
          <a:noFill/>
          <a:ln>
            <a:noFill/>
          </a:ln>
        </p:spPr>
        <p:txBody>
          <a:bodyPr vert="horz" wrap="square" lIns="0" tIns="0" rIns="0" bIns="0" rtlCol="0" anchor="t"/>
          <a:lstStyle/>
          <a:p>
            <a:pPr algn="r">
              <a:lnSpc>
                <a:spcPct val="150000"/>
              </a:lnSpc>
            </a:pPr>
            <a:r>
              <a:rPr kumimoji="1" lang="zh-CN" altLang="en-US"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通过物理隔离、</a:t>
            </a: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VLAN</a:t>
            </a:r>
            <a:r>
              <a:rPr kumimoji="1" lang="zh-CN" altLang="en-US"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a:t>
            </a: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VPN</a:t>
            </a:r>
            <a:r>
              <a:rPr kumimoji="1" lang="zh-CN" altLang="en-US"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、加密技术以及流量监控和过滤等防护措施，提高网络接口层的安全性。</a:t>
            </a: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
</a:t>
            </a:r>
            <a:endParaRPr kumimoji="1" lang="zh-CN" altLang="en-US"/>
          </a:p>
        </p:txBody>
      </p:sp>
      <p:grpSp>
        <p:nvGrpSpPr>
          <p:cNvPr id="27" name="组合 26"/>
          <p:cNvGrpSpPr/>
          <p:nvPr>
            <p:custDataLst>
              <p:tags r:id="rId11"/>
            </p:custDataLst>
          </p:nvPr>
        </p:nvGrpSpPr>
        <p:grpSpPr>
          <a:xfrm>
            <a:off x="1964056" y="1332230"/>
            <a:ext cx="1246963" cy="1271246"/>
            <a:chOff x="3016" y="2098"/>
            <a:chExt cx="1900" cy="1937"/>
          </a:xfrm>
        </p:grpSpPr>
        <p:sp>
          <p:nvSpPr>
            <p:cNvPr id="6" name="标题 1"/>
            <p:cNvSpPr txBox="1"/>
            <p:nvPr>
              <p:custDataLst>
                <p:tags r:id="rId12"/>
              </p:custDataLst>
            </p:nvPr>
          </p:nvSpPr>
          <p:spPr>
            <a:xfrm>
              <a:off x="3016" y="2098"/>
              <a:ext cx="1826" cy="341"/>
            </a:xfrm>
            <a:prstGeom prst="round2SameRect">
              <a:avLst>
                <a:gd name="adj1" fmla="val 50000"/>
                <a:gd name="adj2" fmla="val 0"/>
              </a:avLst>
            </a:prstGeom>
            <a:solidFill>
              <a:schemeClr val="accent1"/>
            </a:solidFill>
            <a:ln cap="sq">
              <a:noFill/>
              <a:prstDash val="solid"/>
              <a:miter/>
            </a:ln>
          </p:spPr>
          <p:txBody>
            <a:bodyPr vert="horz" wrap="square" lIns="0" tIns="0" rIns="0" bIns="0" rtlCol="0" anchor="ctr"/>
            <a:lstStyle/>
            <a:p>
              <a:pPr algn="ctr">
                <a:lnSpc>
                  <a:spcPct val="110000"/>
                </a:lnSpc>
              </a:pPr>
              <a:endParaRPr kumimoji="1" lang="zh-CN" altLang="en-US"/>
            </a:p>
          </p:txBody>
        </p:sp>
        <p:sp>
          <p:nvSpPr>
            <p:cNvPr id="7" name="标题 1"/>
            <p:cNvSpPr txBox="1"/>
            <p:nvPr>
              <p:custDataLst>
                <p:tags r:id="rId13"/>
              </p:custDataLst>
            </p:nvPr>
          </p:nvSpPr>
          <p:spPr>
            <a:xfrm>
              <a:off x="4502" y="2098"/>
              <a:ext cx="414" cy="341"/>
            </a:xfrm>
            <a:custGeom>
              <a:avLst/>
              <a:gdLst>
                <a:gd name="connsiteX0" fmla="*/ 344091 w 688182"/>
                <a:gd name="connsiteY0" fmla="*/ 0 h 360510"/>
                <a:gd name="connsiteX1" fmla="*/ 688182 w 688182"/>
                <a:gd name="connsiteY1" fmla="*/ 344091 h 360510"/>
                <a:gd name="connsiteX2" fmla="*/ 686527 w 688182"/>
                <a:gd name="connsiteY2" fmla="*/ 360510 h 360510"/>
                <a:gd name="connsiteX3" fmla="*/ 1655 w 688182"/>
                <a:gd name="connsiteY3" fmla="*/ 360510 h 360510"/>
                <a:gd name="connsiteX4" fmla="*/ 0 w 688182"/>
                <a:gd name="connsiteY4" fmla="*/ 344091 h 360510"/>
                <a:gd name="connsiteX5" fmla="*/ 344091 w 688182"/>
                <a:gd name="connsiteY5" fmla="*/ 0 h 360510"/>
              </a:gdLst>
              <a:ahLst/>
              <a:cxnLst/>
              <a:rect l="l" t="t" r="r" b="b"/>
              <a:pathLst>
                <a:path w="688182" h="360510">
                  <a:moveTo>
                    <a:pt x="344091" y="0"/>
                  </a:moveTo>
                  <a:cubicBezTo>
                    <a:pt x="534127" y="0"/>
                    <a:pt x="688182" y="154055"/>
                    <a:pt x="688182" y="344091"/>
                  </a:cubicBezTo>
                  <a:lnTo>
                    <a:pt x="686527" y="360510"/>
                  </a:lnTo>
                  <a:lnTo>
                    <a:pt x="1655" y="360510"/>
                  </a:lnTo>
                  <a:lnTo>
                    <a:pt x="0" y="344091"/>
                  </a:lnTo>
                  <a:cubicBezTo>
                    <a:pt x="0" y="154055"/>
                    <a:pt x="154055" y="0"/>
                    <a:pt x="344091" y="0"/>
                  </a:cubicBezTo>
                  <a:close/>
                </a:path>
              </a:pathLst>
            </a:custGeom>
            <a:solidFill>
              <a:schemeClr val="accent1">
                <a:lumMod val="7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14"/>
              </p:custDataLst>
            </p:nvPr>
          </p:nvSpPr>
          <p:spPr>
            <a:xfrm>
              <a:off x="3087" y="2767"/>
              <a:ext cx="1266" cy="1269"/>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01</a:t>
              </a:r>
              <a:endParaRPr kumimoji="1" lang="zh-CN" altLang="en-US"/>
            </a:p>
          </p:txBody>
        </p:sp>
      </p:grpSp>
      <p:sp>
        <p:nvSpPr>
          <p:cNvPr id="18" name="标题 1"/>
          <p:cNvSpPr txBox="1"/>
          <p:nvPr>
            <p:custDataLst>
              <p:tags r:id="rId15"/>
            </p:custDataLst>
          </p:nvPr>
        </p:nvSpPr>
        <p:spPr>
          <a:xfrm>
            <a:off x="7549437" y="1771522"/>
            <a:ext cx="831143" cy="832617"/>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02</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2011288" y="4960323"/>
            <a:ext cx="907999" cy="369332"/>
            <a:chOff x="7342643" y="3935811"/>
            <a:chExt cx="907999" cy="369332"/>
          </a:xfrm>
        </p:grpSpPr>
        <p:sp>
          <p:nvSpPr>
            <p:cNvPr id="54" name="标注: 右箭头 53"/>
            <p:cNvSpPr/>
            <p:nvPr/>
          </p:nvSpPr>
          <p:spPr>
            <a:xfrm>
              <a:off x="7396201" y="3974323"/>
              <a:ext cx="854441" cy="292308"/>
            </a:xfrm>
            <a:prstGeom prst="rightArrowCallout">
              <a:avLst>
                <a:gd name="adj1" fmla="val 25000"/>
                <a:gd name="adj2" fmla="val 20833"/>
                <a:gd name="adj3" fmla="val 36378"/>
                <a:gd name="adj4" fmla="val 7764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Arial Narrow" panose="020B0606020202030204" pitchFamily="34" charset="0"/>
                <a:ea typeface="宋体" panose="02010600030101010101" pitchFamily="2" charset="-122"/>
              </a:endParaRPr>
            </a:p>
          </p:txBody>
        </p:sp>
        <p:sp>
          <p:nvSpPr>
            <p:cNvPr id="55" name="文本框 54"/>
            <p:cNvSpPr txBox="1"/>
            <p:nvPr/>
          </p:nvSpPr>
          <p:spPr>
            <a:xfrm>
              <a:off x="7342643" y="3935811"/>
              <a:ext cx="765668" cy="369332"/>
            </a:xfrm>
            <a:prstGeom prst="rect">
              <a:avLst/>
            </a:prstGeom>
            <a:noFill/>
          </p:spPr>
          <p:txBody>
            <a:bodyPr wrap="square">
              <a:spAutoFit/>
            </a:bodyPr>
            <a:lstStyle/>
            <a:p>
              <a:pPr algn="ctr"/>
              <a:r>
                <a:rPr lang="en-US" altLang="zh-CN" b="1" dirty="0">
                  <a:latin typeface="Arial Narrow" panose="020B0606020202030204" pitchFamily="34" charset="0"/>
                  <a:ea typeface="宋体" panose="02010600030101010101" pitchFamily="2" charset="-122"/>
                </a:rPr>
                <a:t>A→B</a:t>
              </a:r>
              <a:endParaRPr lang="zh-CN" altLang="en-US" b="1" dirty="0">
                <a:latin typeface="Arial Narrow" panose="020B0606020202030204" pitchFamily="34" charset="0"/>
                <a:ea typeface="宋体" panose="02010600030101010101" pitchFamily="2" charset="-122"/>
              </a:endParaRPr>
            </a:p>
          </p:txBody>
        </p:sp>
      </p:grpSp>
      <p:grpSp>
        <p:nvGrpSpPr>
          <p:cNvPr id="56" name="组合 55"/>
          <p:cNvGrpSpPr/>
          <p:nvPr/>
        </p:nvGrpSpPr>
        <p:grpSpPr>
          <a:xfrm rot="16200000">
            <a:off x="2649955" y="4371612"/>
            <a:ext cx="907999" cy="369332"/>
            <a:chOff x="7342643" y="3935811"/>
            <a:chExt cx="907999" cy="369332"/>
          </a:xfrm>
        </p:grpSpPr>
        <p:sp>
          <p:nvSpPr>
            <p:cNvPr id="57" name="标注: 右箭头 56"/>
            <p:cNvSpPr/>
            <p:nvPr/>
          </p:nvSpPr>
          <p:spPr>
            <a:xfrm>
              <a:off x="7396201" y="3974323"/>
              <a:ext cx="854441" cy="292308"/>
            </a:xfrm>
            <a:prstGeom prst="rightArrowCallout">
              <a:avLst>
                <a:gd name="adj1" fmla="val 25000"/>
                <a:gd name="adj2" fmla="val 20833"/>
                <a:gd name="adj3" fmla="val 36378"/>
                <a:gd name="adj4" fmla="val 7764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Arial Narrow" panose="020B0606020202030204" pitchFamily="34" charset="0"/>
                <a:ea typeface="宋体" panose="02010600030101010101" pitchFamily="2" charset="-122"/>
              </a:endParaRPr>
            </a:p>
          </p:txBody>
        </p:sp>
        <p:sp>
          <p:nvSpPr>
            <p:cNvPr id="58" name="文本框 57"/>
            <p:cNvSpPr txBox="1"/>
            <p:nvPr/>
          </p:nvSpPr>
          <p:spPr>
            <a:xfrm>
              <a:off x="7342643" y="3935811"/>
              <a:ext cx="765668" cy="369332"/>
            </a:xfrm>
            <a:prstGeom prst="rect">
              <a:avLst/>
            </a:prstGeom>
            <a:noFill/>
          </p:spPr>
          <p:txBody>
            <a:bodyPr wrap="square">
              <a:spAutoFit/>
            </a:bodyPr>
            <a:lstStyle/>
            <a:p>
              <a:pPr algn="ctr"/>
              <a:r>
                <a:rPr lang="en-US" altLang="zh-CN" b="1" dirty="0">
                  <a:latin typeface="Arial Narrow" panose="020B0606020202030204" pitchFamily="34" charset="0"/>
                  <a:ea typeface="宋体" panose="02010600030101010101" pitchFamily="2" charset="-122"/>
                </a:rPr>
                <a:t>A→B</a:t>
              </a:r>
              <a:endParaRPr lang="zh-CN" altLang="en-US" b="1" dirty="0">
                <a:latin typeface="Arial Narrow" panose="020B0606020202030204" pitchFamily="34" charset="0"/>
                <a:ea typeface="宋体" panose="02010600030101010101" pitchFamily="2" charset="-122"/>
              </a:endParaRPr>
            </a:p>
          </p:txBody>
        </p:sp>
      </p:grpSp>
      <p:grpSp>
        <p:nvGrpSpPr>
          <p:cNvPr id="59" name="组合 58"/>
          <p:cNvGrpSpPr/>
          <p:nvPr/>
        </p:nvGrpSpPr>
        <p:grpSpPr>
          <a:xfrm>
            <a:off x="3842354" y="4956231"/>
            <a:ext cx="907999" cy="369332"/>
            <a:chOff x="7342643" y="3935811"/>
            <a:chExt cx="907999" cy="369332"/>
          </a:xfrm>
        </p:grpSpPr>
        <p:sp>
          <p:nvSpPr>
            <p:cNvPr id="60" name="标注: 右箭头 59"/>
            <p:cNvSpPr/>
            <p:nvPr/>
          </p:nvSpPr>
          <p:spPr>
            <a:xfrm>
              <a:off x="7396201" y="3974323"/>
              <a:ext cx="854441" cy="292308"/>
            </a:xfrm>
            <a:prstGeom prst="rightArrowCallout">
              <a:avLst>
                <a:gd name="adj1" fmla="val 25000"/>
                <a:gd name="adj2" fmla="val 20833"/>
                <a:gd name="adj3" fmla="val 36378"/>
                <a:gd name="adj4" fmla="val 7764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Arial Narrow" panose="020B0606020202030204" pitchFamily="34" charset="0"/>
                <a:ea typeface="宋体" panose="02010600030101010101" pitchFamily="2" charset="-122"/>
              </a:endParaRPr>
            </a:p>
          </p:txBody>
        </p:sp>
        <p:sp>
          <p:nvSpPr>
            <p:cNvPr id="61" name="文本框 60"/>
            <p:cNvSpPr txBox="1"/>
            <p:nvPr/>
          </p:nvSpPr>
          <p:spPr>
            <a:xfrm>
              <a:off x="7342643" y="3935811"/>
              <a:ext cx="765668" cy="369332"/>
            </a:xfrm>
            <a:prstGeom prst="rect">
              <a:avLst/>
            </a:prstGeom>
            <a:noFill/>
          </p:spPr>
          <p:txBody>
            <a:bodyPr wrap="square">
              <a:spAutoFit/>
            </a:bodyPr>
            <a:lstStyle/>
            <a:p>
              <a:pPr algn="ctr"/>
              <a:r>
                <a:rPr lang="en-US" altLang="zh-CN" b="1" dirty="0">
                  <a:latin typeface="Arial Narrow" panose="020B0606020202030204" pitchFamily="34" charset="0"/>
                  <a:ea typeface="宋体" panose="02010600030101010101" pitchFamily="2" charset="-122"/>
                </a:rPr>
                <a:t>A→B</a:t>
              </a:r>
              <a:endParaRPr lang="zh-CN" altLang="en-US" b="1" dirty="0">
                <a:latin typeface="Arial Narrow" panose="020B0606020202030204" pitchFamily="34" charset="0"/>
                <a:ea typeface="宋体" panose="02010600030101010101" pitchFamily="2" charset="-122"/>
              </a:endParaRPr>
            </a:p>
          </p:txBody>
        </p:sp>
      </p:grpSp>
      <p:sp>
        <p:nvSpPr>
          <p:cNvPr id="6" name="文本框 5"/>
          <p:cNvSpPr txBox="1"/>
          <p:nvPr/>
        </p:nvSpPr>
        <p:spPr>
          <a:xfrm>
            <a:off x="4501451" y="4213361"/>
            <a:ext cx="1415074" cy="646331"/>
          </a:xfrm>
          <a:prstGeom prst="rect">
            <a:avLst/>
          </a:prstGeom>
          <a:noFill/>
        </p:spPr>
        <p:txBody>
          <a:bodyPr wrap="square" rtlCol="0">
            <a:spAutoFit/>
          </a:bodyPr>
          <a:lstStyle/>
          <a:p>
            <a:pPr algn="ctr"/>
            <a:r>
              <a:rPr lang="zh-CN" altLang="en-US" b="1" dirty="0">
                <a:solidFill>
                  <a:schemeClr val="accent1"/>
                </a:solidFill>
              </a:rPr>
              <a:t>网卡配置为</a:t>
            </a:r>
            <a:endParaRPr lang="en-US" altLang="zh-CN" b="1" dirty="0">
              <a:solidFill>
                <a:schemeClr val="accent1"/>
              </a:solidFill>
            </a:endParaRPr>
          </a:p>
          <a:p>
            <a:pPr algn="ctr"/>
            <a:r>
              <a:rPr lang="zh-CN" altLang="en-US" b="1" dirty="0">
                <a:solidFill>
                  <a:schemeClr val="accent1"/>
                </a:solidFill>
              </a:rPr>
              <a:t>混杂方式</a:t>
            </a:r>
            <a:endParaRPr lang="zh-CN" altLang="en-US" b="1" dirty="0">
              <a:solidFill>
                <a:schemeClr val="accent1"/>
              </a:solidFill>
            </a:endParaRPr>
          </a:p>
        </p:txBody>
      </p:sp>
      <p:sp>
        <p:nvSpPr>
          <p:cNvPr id="12" name="íşlïḍè"/>
          <p:cNvSpPr txBox="1"/>
          <p:nvPr/>
        </p:nvSpPr>
        <p:spPr>
          <a:xfrm>
            <a:off x="433705" y="1167765"/>
            <a:ext cx="11323955" cy="1809115"/>
          </a:xfrm>
          <a:prstGeom prst="rect">
            <a:avLst/>
          </a:prstGeom>
          <a:noFill/>
        </p:spPr>
        <p:txBody>
          <a:bodyPr wrap="square" lIns="91440" tIns="45720" rIns="91440" bIns="45720" anchor="ctr">
            <a:noAutofit/>
          </a:bodyPr>
          <a:lstStyle/>
          <a:p>
            <a:pPr marL="342900" indent="-342900" algn="l">
              <a:lnSpc>
                <a:spcPct val="120000"/>
              </a:lnSpc>
              <a:spcBef>
                <a:spcPts val="0"/>
              </a:spcBef>
              <a:spcAft>
                <a:spcPts val="0"/>
              </a:spcAft>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rPr>
              <a:t>分组嗅探器（Packet Sniffer）是一种网络监听工具软件，运行在网络中的某台主机上，被动接收所有出入该主机的网卡的数据链路层协议数据单元（即帧）。</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marL="342900" indent="-342900" algn="l">
              <a:lnSpc>
                <a:spcPct val="120000"/>
              </a:lnSpc>
              <a:spcBef>
                <a:spcPts val="0"/>
              </a:spcBef>
              <a:spcAft>
                <a:spcPts val="0"/>
              </a:spcAft>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sym typeface="+mn-ea"/>
              </a:rPr>
              <a:t>如果将网络适配器配置为混杂方式，网络适配器就会接收所有进入自己接口的MAC帧，而不管这些帧的目的MAC地址是否指向该网络适配器。</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endParaRPr lang="en-US" altLang="zh-CN" b="1" dirty="0"/>
          </a:p>
        </p:txBody>
      </p:sp>
      <p:grpSp>
        <p:nvGrpSpPr>
          <p:cNvPr id="5" name="组合 4"/>
          <p:cNvGrpSpPr/>
          <p:nvPr/>
        </p:nvGrpSpPr>
        <p:grpSpPr>
          <a:xfrm>
            <a:off x="1190082" y="3450536"/>
            <a:ext cx="4232071" cy="2988364"/>
            <a:chOff x="1190082" y="3450536"/>
            <a:chExt cx="4232071" cy="2988364"/>
          </a:xfrm>
        </p:grpSpPr>
        <p:sp>
          <p:nvSpPr>
            <p:cNvPr id="62" name="文本框 61"/>
            <p:cNvSpPr txBox="1"/>
            <p:nvPr/>
          </p:nvSpPr>
          <p:spPr>
            <a:xfrm>
              <a:off x="2783420" y="5656426"/>
              <a:ext cx="1076381" cy="369332"/>
            </a:xfrm>
            <a:prstGeom prst="rect">
              <a:avLst/>
            </a:prstGeom>
            <a:noFill/>
          </p:spPr>
          <p:txBody>
            <a:bodyPr wrap="square" rtlCol="0">
              <a:spAutoFit/>
            </a:bodyPr>
            <a:lstStyle/>
            <a:p>
              <a:pPr algn="ctr"/>
              <a:r>
                <a:rPr lang="zh-CN" altLang="en-US" b="1" dirty="0">
                  <a:latin typeface="+mn-ea"/>
                </a:rPr>
                <a:t>集线器</a:t>
              </a:r>
              <a:endParaRPr lang="zh-CN" altLang="en-US" b="1" dirty="0">
                <a:latin typeface="+mn-ea"/>
              </a:endParaRPr>
            </a:p>
          </p:txBody>
        </p:sp>
        <p:cxnSp>
          <p:nvCxnSpPr>
            <p:cNvPr id="63" name="直接连接符 62"/>
            <p:cNvCxnSpPr/>
            <p:nvPr/>
          </p:nvCxnSpPr>
          <p:spPr>
            <a:xfrm flipH="1">
              <a:off x="1492092" y="5343405"/>
              <a:ext cx="35585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 name="组合 63"/>
            <p:cNvGrpSpPr/>
            <p:nvPr/>
          </p:nvGrpSpPr>
          <p:grpSpPr>
            <a:xfrm>
              <a:off x="1190082" y="4840747"/>
              <a:ext cx="662814" cy="641082"/>
              <a:chOff x="1235749" y="1557688"/>
              <a:chExt cx="662814" cy="641082"/>
            </a:xfrm>
          </p:grpSpPr>
          <p:pic>
            <p:nvPicPr>
              <p:cNvPr id="65" name="图形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35749" y="1557688"/>
                <a:ext cx="662814" cy="641082"/>
              </a:xfrm>
              <a:prstGeom prst="rect">
                <a:avLst/>
              </a:prstGeom>
            </p:spPr>
          </p:pic>
          <p:sp>
            <p:nvSpPr>
              <p:cNvPr id="66" name="文本框 65"/>
              <p:cNvSpPr txBox="1"/>
              <p:nvPr/>
            </p:nvSpPr>
            <p:spPr>
              <a:xfrm>
                <a:off x="1527006" y="1606485"/>
                <a:ext cx="316784" cy="369332"/>
              </a:xfrm>
              <a:prstGeom prst="rect">
                <a:avLst/>
              </a:prstGeom>
              <a:noFill/>
            </p:spPr>
            <p:txBody>
              <a:bodyPr wrap="square" rtlCol="0">
                <a:spAutoFit/>
              </a:bodyPr>
              <a:lstStyle/>
              <a:p>
                <a:pPr algn="ctr"/>
                <a:r>
                  <a:rPr lang="en-US" altLang="zh-CN" b="1" dirty="0">
                    <a:solidFill>
                      <a:schemeClr val="bg1"/>
                    </a:solidFill>
                    <a:latin typeface="+mn-ea"/>
                  </a:rPr>
                  <a:t>A</a:t>
                </a:r>
                <a:endParaRPr lang="zh-CN" altLang="en-US" b="1" dirty="0">
                  <a:solidFill>
                    <a:schemeClr val="bg1"/>
                  </a:solidFill>
                  <a:latin typeface="+mn-ea"/>
                </a:endParaRPr>
              </a:p>
            </p:txBody>
          </p:sp>
        </p:grpSp>
        <p:cxnSp>
          <p:nvCxnSpPr>
            <p:cNvPr id="67" name="直接连接符 66"/>
            <p:cNvCxnSpPr/>
            <p:nvPr/>
          </p:nvCxnSpPr>
          <p:spPr>
            <a:xfrm flipV="1">
              <a:off x="3321611" y="4012557"/>
              <a:ext cx="10247" cy="131300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 name="组合 67"/>
            <p:cNvGrpSpPr/>
            <p:nvPr/>
          </p:nvGrpSpPr>
          <p:grpSpPr>
            <a:xfrm>
              <a:off x="2997024" y="3450536"/>
              <a:ext cx="662814" cy="641082"/>
              <a:chOff x="1235749" y="1557688"/>
              <a:chExt cx="662814" cy="641082"/>
            </a:xfrm>
          </p:grpSpPr>
          <p:pic>
            <p:nvPicPr>
              <p:cNvPr id="69" name="图形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35749" y="1557688"/>
                <a:ext cx="662814" cy="641082"/>
              </a:xfrm>
              <a:prstGeom prst="rect">
                <a:avLst/>
              </a:prstGeom>
            </p:spPr>
          </p:pic>
          <p:sp>
            <p:nvSpPr>
              <p:cNvPr id="70" name="文本框 69"/>
              <p:cNvSpPr txBox="1"/>
              <p:nvPr/>
            </p:nvSpPr>
            <p:spPr>
              <a:xfrm>
                <a:off x="1527006" y="1606485"/>
                <a:ext cx="316784" cy="369332"/>
              </a:xfrm>
              <a:prstGeom prst="rect">
                <a:avLst/>
              </a:prstGeom>
              <a:noFill/>
            </p:spPr>
            <p:txBody>
              <a:bodyPr wrap="square" rtlCol="0">
                <a:spAutoFit/>
              </a:bodyPr>
              <a:lstStyle/>
              <a:p>
                <a:pPr algn="ctr"/>
                <a:r>
                  <a:rPr lang="en-US" altLang="zh-CN" b="1" dirty="0">
                    <a:solidFill>
                      <a:schemeClr val="bg1"/>
                    </a:solidFill>
                    <a:latin typeface="+mn-ea"/>
                  </a:rPr>
                  <a:t>B</a:t>
                </a:r>
                <a:endParaRPr lang="zh-CN" altLang="en-US" b="1" dirty="0">
                  <a:solidFill>
                    <a:schemeClr val="bg1"/>
                  </a:solidFill>
                  <a:latin typeface="+mn-ea"/>
                </a:endParaRPr>
              </a:p>
            </p:txBody>
          </p:sp>
        </p:grpSp>
        <p:pic>
          <p:nvPicPr>
            <p:cNvPr id="71" name="图片 70" descr="文本&#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6641" y="5012716"/>
              <a:ext cx="705470" cy="661378"/>
            </a:xfrm>
            <a:prstGeom prst="rect">
              <a:avLst/>
            </a:prstGeom>
          </p:spPr>
        </p:pic>
        <p:grpSp>
          <p:nvGrpSpPr>
            <p:cNvPr id="72" name="组合 71"/>
            <p:cNvGrpSpPr/>
            <p:nvPr/>
          </p:nvGrpSpPr>
          <p:grpSpPr>
            <a:xfrm>
              <a:off x="4759339" y="4840747"/>
              <a:ext cx="662814" cy="641082"/>
              <a:chOff x="1235749" y="1557688"/>
              <a:chExt cx="662814" cy="641082"/>
            </a:xfrm>
          </p:grpSpPr>
          <p:pic>
            <p:nvPicPr>
              <p:cNvPr id="73" name="图形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35749" y="1557688"/>
                <a:ext cx="662814" cy="641082"/>
              </a:xfrm>
              <a:prstGeom prst="rect">
                <a:avLst/>
              </a:prstGeom>
            </p:spPr>
          </p:pic>
          <p:sp>
            <p:nvSpPr>
              <p:cNvPr id="74" name="文本框 73"/>
              <p:cNvSpPr txBox="1"/>
              <p:nvPr/>
            </p:nvSpPr>
            <p:spPr>
              <a:xfrm>
                <a:off x="1527006" y="1606485"/>
                <a:ext cx="316784" cy="369332"/>
              </a:xfrm>
              <a:prstGeom prst="rect">
                <a:avLst/>
              </a:prstGeom>
              <a:noFill/>
            </p:spPr>
            <p:txBody>
              <a:bodyPr wrap="square" rtlCol="0">
                <a:spAutoFit/>
              </a:bodyPr>
              <a:lstStyle/>
              <a:p>
                <a:pPr algn="ctr"/>
                <a:r>
                  <a:rPr lang="en-US" altLang="zh-CN" b="1" dirty="0">
                    <a:solidFill>
                      <a:schemeClr val="bg1"/>
                    </a:solidFill>
                    <a:latin typeface="+mn-ea"/>
                  </a:rPr>
                  <a:t>C</a:t>
                </a:r>
                <a:endParaRPr lang="zh-CN" altLang="en-US" b="1" dirty="0">
                  <a:solidFill>
                    <a:schemeClr val="bg1"/>
                  </a:solidFill>
                  <a:latin typeface="+mn-ea"/>
                </a:endParaRPr>
              </a:p>
            </p:txBody>
          </p:sp>
        </p:grpSp>
        <p:sp>
          <p:nvSpPr>
            <p:cNvPr id="75" name="文本框 74"/>
            <p:cNvSpPr txBox="1"/>
            <p:nvPr/>
          </p:nvSpPr>
          <p:spPr>
            <a:xfrm>
              <a:off x="2327882" y="6069568"/>
              <a:ext cx="1986839" cy="369332"/>
            </a:xfrm>
            <a:prstGeom prst="rect">
              <a:avLst/>
            </a:prstGeom>
            <a:noFill/>
          </p:spPr>
          <p:txBody>
            <a:bodyPr wrap="square" rtlCol="0">
              <a:spAutoFit/>
            </a:bodyPr>
            <a:lstStyle/>
            <a:p>
              <a:pPr algn="ctr"/>
              <a:r>
                <a:rPr lang="zh-CN" altLang="en-US" b="1" dirty="0">
                  <a:latin typeface="+mn-ea"/>
                </a:rPr>
                <a:t>共享式以太网</a:t>
              </a:r>
              <a:endParaRPr lang="zh-CN" altLang="en-US" b="1" dirty="0">
                <a:latin typeface="+mn-ea"/>
              </a:endParaRPr>
            </a:p>
          </p:txBody>
        </p:sp>
      </p:grpSp>
      <p:sp>
        <p:nvSpPr>
          <p:cNvPr id="76" name="文本框 75"/>
          <p:cNvSpPr txBox="1"/>
          <p:nvPr/>
        </p:nvSpPr>
        <p:spPr>
          <a:xfrm>
            <a:off x="2394122" y="3690682"/>
            <a:ext cx="662814" cy="369332"/>
          </a:xfrm>
          <a:prstGeom prst="rect">
            <a:avLst/>
          </a:prstGeom>
          <a:noFill/>
        </p:spPr>
        <p:txBody>
          <a:bodyPr wrap="square" rtlCol="0">
            <a:spAutoFit/>
          </a:bodyPr>
          <a:lstStyle/>
          <a:p>
            <a:pPr algn="ctr"/>
            <a:r>
              <a:rPr lang="zh-CN" altLang="en-US" b="1" dirty="0">
                <a:solidFill>
                  <a:schemeClr val="accent4"/>
                </a:solidFill>
                <a:latin typeface="+mn-ea"/>
              </a:rPr>
              <a:t>接受</a:t>
            </a:r>
            <a:endParaRPr lang="en-US" altLang="zh-CN" b="1" dirty="0">
              <a:solidFill>
                <a:schemeClr val="accent4"/>
              </a:solidFill>
              <a:latin typeface="+mn-ea"/>
            </a:endParaRPr>
          </a:p>
        </p:txBody>
      </p:sp>
      <p:sp>
        <p:nvSpPr>
          <p:cNvPr id="77" name="文本框 76"/>
          <p:cNvSpPr txBox="1"/>
          <p:nvPr/>
        </p:nvSpPr>
        <p:spPr>
          <a:xfrm>
            <a:off x="4460543" y="5415493"/>
            <a:ext cx="662814" cy="369332"/>
          </a:xfrm>
          <a:prstGeom prst="rect">
            <a:avLst/>
          </a:prstGeom>
          <a:noFill/>
        </p:spPr>
        <p:txBody>
          <a:bodyPr wrap="square" rtlCol="0">
            <a:spAutoFit/>
          </a:bodyPr>
          <a:lstStyle/>
          <a:p>
            <a:pPr algn="ctr"/>
            <a:r>
              <a:rPr lang="zh-CN" altLang="en-US" b="1" dirty="0">
                <a:solidFill>
                  <a:schemeClr val="accent4"/>
                </a:solidFill>
                <a:latin typeface="+mn-ea"/>
              </a:rPr>
              <a:t>接受</a:t>
            </a:r>
            <a:endParaRPr lang="en-US" altLang="zh-CN" b="1" dirty="0">
              <a:solidFill>
                <a:schemeClr val="accent4"/>
              </a:solidFill>
              <a:latin typeface="+mn-ea"/>
            </a:endParaRPr>
          </a:p>
        </p:txBody>
      </p:sp>
      <p:grpSp>
        <p:nvGrpSpPr>
          <p:cNvPr id="7" name="组合 6"/>
          <p:cNvGrpSpPr/>
          <p:nvPr/>
        </p:nvGrpSpPr>
        <p:grpSpPr>
          <a:xfrm>
            <a:off x="7843720" y="3415977"/>
            <a:ext cx="2780960" cy="2947134"/>
            <a:chOff x="7647819" y="3453734"/>
            <a:chExt cx="2780960" cy="2947134"/>
          </a:xfrm>
        </p:grpSpPr>
        <p:sp>
          <p:nvSpPr>
            <p:cNvPr id="123" name="文本框 122"/>
            <p:cNvSpPr txBox="1"/>
            <p:nvPr/>
          </p:nvSpPr>
          <p:spPr>
            <a:xfrm>
              <a:off x="8457501" y="4917719"/>
              <a:ext cx="1272594" cy="369332"/>
            </a:xfrm>
            <a:prstGeom prst="rect">
              <a:avLst/>
            </a:prstGeom>
            <a:noFill/>
          </p:spPr>
          <p:txBody>
            <a:bodyPr wrap="square" rtlCol="0">
              <a:spAutoFit/>
            </a:bodyPr>
            <a:lstStyle/>
            <a:p>
              <a:pPr algn="ctr"/>
              <a:r>
                <a:rPr lang="zh-CN" altLang="en-US" b="1" dirty="0">
                  <a:latin typeface="Arial Narrow" panose="020B0606020202030204" pitchFamily="34" charset="0"/>
                </a:rPr>
                <a:t>接入点</a:t>
              </a:r>
              <a:r>
                <a:rPr lang="en-US" altLang="zh-CN" b="1" dirty="0">
                  <a:latin typeface="Arial Narrow" panose="020B0606020202030204" pitchFamily="34" charset="0"/>
                </a:rPr>
                <a:t>AP</a:t>
              </a:r>
              <a:endParaRPr lang="zh-CN" altLang="en-US" b="1" dirty="0">
                <a:latin typeface="Arial Narrow" panose="020B0606020202030204" pitchFamily="34" charset="0"/>
              </a:endParaRPr>
            </a:p>
          </p:txBody>
        </p:sp>
        <p:sp>
          <p:nvSpPr>
            <p:cNvPr id="125" name="椭圆 124"/>
            <p:cNvSpPr/>
            <p:nvPr/>
          </p:nvSpPr>
          <p:spPr>
            <a:xfrm>
              <a:off x="7941441" y="3453734"/>
              <a:ext cx="2295128" cy="2295128"/>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文本框 125"/>
            <p:cNvSpPr txBox="1"/>
            <p:nvPr/>
          </p:nvSpPr>
          <p:spPr>
            <a:xfrm>
              <a:off x="8206851" y="6031536"/>
              <a:ext cx="1986839" cy="369332"/>
            </a:xfrm>
            <a:prstGeom prst="rect">
              <a:avLst/>
            </a:prstGeom>
            <a:noFill/>
          </p:spPr>
          <p:txBody>
            <a:bodyPr wrap="square" rtlCol="0">
              <a:spAutoFit/>
            </a:bodyPr>
            <a:lstStyle/>
            <a:p>
              <a:pPr algn="ctr"/>
              <a:r>
                <a:rPr lang="en-US" altLang="zh-CN" b="1" dirty="0">
                  <a:latin typeface="Arial Narrow" panose="020B0606020202030204" pitchFamily="34" charset="0"/>
                </a:rPr>
                <a:t>802.11</a:t>
              </a:r>
              <a:r>
                <a:rPr lang="zh-CN" altLang="en-US" b="1" dirty="0">
                  <a:latin typeface="Arial Narrow" panose="020B0606020202030204" pitchFamily="34" charset="0"/>
                </a:rPr>
                <a:t>无线局域网</a:t>
              </a:r>
              <a:endParaRPr lang="zh-CN" altLang="en-US" b="1" dirty="0">
                <a:latin typeface="Arial Narrow" panose="020B0606020202030204" pitchFamily="34" charset="0"/>
              </a:endParaRPr>
            </a:p>
          </p:txBody>
        </p:sp>
        <p:pic>
          <p:nvPicPr>
            <p:cNvPr id="128" name="图形 12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94796" y="3947377"/>
              <a:ext cx="1028700" cy="1009650"/>
            </a:xfrm>
            <a:prstGeom prst="rect">
              <a:avLst/>
            </a:prstGeom>
          </p:spPr>
        </p:pic>
        <p:grpSp>
          <p:nvGrpSpPr>
            <p:cNvPr id="129" name="组合 128"/>
            <p:cNvGrpSpPr/>
            <p:nvPr/>
          </p:nvGrpSpPr>
          <p:grpSpPr>
            <a:xfrm>
              <a:off x="9765965" y="3472269"/>
              <a:ext cx="662814" cy="854540"/>
              <a:chOff x="6442805" y="2960597"/>
              <a:chExt cx="662814" cy="854540"/>
            </a:xfrm>
          </p:grpSpPr>
          <p:grpSp>
            <p:nvGrpSpPr>
              <p:cNvPr id="165" name="组合 164"/>
              <p:cNvGrpSpPr/>
              <p:nvPr/>
            </p:nvGrpSpPr>
            <p:grpSpPr>
              <a:xfrm>
                <a:off x="6724619" y="2960597"/>
                <a:ext cx="381000" cy="351117"/>
                <a:chOff x="2556504" y="2484669"/>
                <a:chExt cx="381000" cy="351117"/>
              </a:xfrm>
            </p:grpSpPr>
            <p:pic>
              <p:nvPicPr>
                <p:cNvPr id="167" name="图形 16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56504" y="2484669"/>
                  <a:ext cx="381000" cy="285750"/>
                </a:xfrm>
                <a:prstGeom prst="rect">
                  <a:avLst/>
                </a:prstGeom>
              </p:spPr>
            </p:pic>
            <p:cxnSp>
              <p:nvCxnSpPr>
                <p:cNvPr id="168" name="直接连接符 167"/>
                <p:cNvCxnSpPr/>
                <p:nvPr/>
              </p:nvCxnSpPr>
              <p:spPr>
                <a:xfrm>
                  <a:off x="2747004" y="2612580"/>
                  <a:ext cx="0" cy="223206"/>
                </a:xfrm>
                <a:prstGeom prst="line">
                  <a:avLst/>
                </a:prstGeom>
                <a:ln w="25400">
                  <a:solidFill>
                    <a:srgbClr val="999999"/>
                  </a:solidFill>
                </a:ln>
              </p:spPr>
              <p:style>
                <a:lnRef idx="1">
                  <a:schemeClr val="accent1"/>
                </a:lnRef>
                <a:fillRef idx="0">
                  <a:schemeClr val="accent1"/>
                </a:fillRef>
                <a:effectRef idx="0">
                  <a:schemeClr val="accent1"/>
                </a:effectRef>
                <a:fontRef idx="minor">
                  <a:schemeClr val="tx1"/>
                </a:fontRef>
              </p:style>
            </p:cxnSp>
          </p:grpSp>
          <p:pic>
            <p:nvPicPr>
              <p:cNvPr id="166" name="图形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42805" y="3174055"/>
                <a:ext cx="662814" cy="641082"/>
              </a:xfrm>
              <a:prstGeom prst="rect">
                <a:avLst/>
              </a:prstGeom>
            </p:spPr>
          </p:pic>
        </p:grpSp>
        <p:grpSp>
          <p:nvGrpSpPr>
            <p:cNvPr id="130" name="组合 129"/>
            <p:cNvGrpSpPr/>
            <p:nvPr/>
          </p:nvGrpSpPr>
          <p:grpSpPr>
            <a:xfrm>
              <a:off x="7647819" y="4880927"/>
              <a:ext cx="772699" cy="858650"/>
              <a:chOff x="8735761" y="5137011"/>
              <a:chExt cx="772699" cy="858650"/>
            </a:xfrm>
          </p:grpSpPr>
          <p:pic>
            <p:nvPicPr>
              <p:cNvPr id="161" name="图形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735761" y="5354579"/>
                <a:ext cx="662814" cy="641082"/>
              </a:xfrm>
              <a:prstGeom prst="rect">
                <a:avLst/>
              </a:prstGeom>
            </p:spPr>
          </p:pic>
          <p:grpSp>
            <p:nvGrpSpPr>
              <p:cNvPr id="162" name="组合 161"/>
              <p:cNvGrpSpPr/>
              <p:nvPr/>
            </p:nvGrpSpPr>
            <p:grpSpPr>
              <a:xfrm>
                <a:off x="9127460" y="5137011"/>
                <a:ext cx="381000" cy="351117"/>
                <a:chOff x="2556504" y="2484669"/>
                <a:chExt cx="381000" cy="351117"/>
              </a:xfrm>
            </p:grpSpPr>
            <p:pic>
              <p:nvPicPr>
                <p:cNvPr id="163" name="图形 16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56504" y="2484669"/>
                  <a:ext cx="381000" cy="285750"/>
                </a:xfrm>
                <a:prstGeom prst="rect">
                  <a:avLst/>
                </a:prstGeom>
              </p:spPr>
            </p:pic>
            <p:cxnSp>
              <p:nvCxnSpPr>
                <p:cNvPr id="164" name="直接连接符 163"/>
                <p:cNvCxnSpPr/>
                <p:nvPr/>
              </p:nvCxnSpPr>
              <p:spPr>
                <a:xfrm>
                  <a:off x="2747004" y="2612580"/>
                  <a:ext cx="0" cy="223206"/>
                </a:xfrm>
                <a:prstGeom prst="line">
                  <a:avLst/>
                </a:prstGeom>
                <a:ln w="25400">
                  <a:solidFill>
                    <a:srgbClr val="999999"/>
                  </a:solidFill>
                </a:ln>
              </p:spPr>
              <p:style>
                <a:lnRef idx="1">
                  <a:schemeClr val="accent1"/>
                </a:lnRef>
                <a:fillRef idx="0">
                  <a:schemeClr val="accent1"/>
                </a:fillRef>
                <a:effectRef idx="0">
                  <a:schemeClr val="accent1"/>
                </a:effectRef>
                <a:fontRef idx="minor">
                  <a:schemeClr val="tx1"/>
                </a:fontRef>
              </p:style>
            </p:cxnSp>
          </p:grpSp>
        </p:grpSp>
        <p:grpSp>
          <p:nvGrpSpPr>
            <p:cNvPr id="134" name="组合 133"/>
            <p:cNvGrpSpPr/>
            <p:nvPr/>
          </p:nvGrpSpPr>
          <p:grpSpPr>
            <a:xfrm>
              <a:off x="7774787" y="3472269"/>
              <a:ext cx="662814" cy="830033"/>
              <a:chOff x="10392760" y="1391042"/>
              <a:chExt cx="662814" cy="830033"/>
            </a:xfrm>
          </p:grpSpPr>
          <p:grpSp>
            <p:nvGrpSpPr>
              <p:cNvPr id="145" name="组合 144"/>
              <p:cNvGrpSpPr/>
              <p:nvPr/>
            </p:nvGrpSpPr>
            <p:grpSpPr>
              <a:xfrm>
                <a:off x="10674574" y="1391042"/>
                <a:ext cx="381000" cy="351117"/>
                <a:chOff x="2556504" y="2484669"/>
                <a:chExt cx="381000" cy="351117"/>
              </a:xfrm>
            </p:grpSpPr>
            <p:pic>
              <p:nvPicPr>
                <p:cNvPr id="147" name="图形 14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56504" y="2484669"/>
                  <a:ext cx="381000" cy="285750"/>
                </a:xfrm>
                <a:prstGeom prst="rect">
                  <a:avLst/>
                </a:prstGeom>
              </p:spPr>
            </p:pic>
            <p:cxnSp>
              <p:nvCxnSpPr>
                <p:cNvPr id="148" name="直接连接符 147"/>
                <p:cNvCxnSpPr/>
                <p:nvPr/>
              </p:nvCxnSpPr>
              <p:spPr>
                <a:xfrm>
                  <a:off x="2747004" y="2612580"/>
                  <a:ext cx="0" cy="223206"/>
                </a:xfrm>
                <a:prstGeom prst="line">
                  <a:avLst/>
                </a:prstGeom>
                <a:ln w="25400">
                  <a:solidFill>
                    <a:srgbClr val="999999"/>
                  </a:solidFill>
                </a:ln>
              </p:spPr>
              <p:style>
                <a:lnRef idx="1">
                  <a:schemeClr val="accent1"/>
                </a:lnRef>
                <a:fillRef idx="0">
                  <a:schemeClr val="accent1"/>
                </a:fillRef>
                <a:effectRef idx="0">
                  <a:schemeClr val="accent1"/>
                </a:effectRef>
                <a:fontRef idx="minor">
                  <a:schemeClr val="tx1"/>
                </a:fontRef>
              </p:style>
            </p:cxnSp>
          </p:grpSp>
          <p:pic>
            <p:nvPicPr>
              <p:cNvPr id="146" name="图形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92760" y="1579993"/>
                <a:ext cx="662814" cy="641082"/>
              </a:xfrm>
              <a:prstGeom prst="rect">
                <a:avLst/>
              </a:prstGeom>
            </p:spPr>
          </p:pic>
        </p:grpSp>
        <p:grpSp>
          <p:nvGrpSpPr>
            <p:cNvPr id="136" name="组合 135"/>
            <p:cNvGrpSpPr/>
            <p:nvPr/>
          </p:nvGrpSpPr>
          <p:grpSpPr>
            <a:xfrm>
              <a:off x="9587583" y="4886109"/>
              <a:ext cx="662814" cy="853468"/>
              <a:chOff x="10344206" y="4379100"/>
              <a:chExt cx="662814" cy="853468"/>
            </a:xfrm>
          </p:grpSpPr>
          <p:grpSp>
            <p:nvGrpSpPr>
              <p:cNvPr id="137" name="组合 136"/>
              <p:cNvGrpSpPr/>
              <p:nvPr/>
            </p:nvGrpSpPr>
            <p:grpSpPr>
              <a:xfrm>
                <a:off x="10626020" y="4379100"/>
                <a:ext cx="381000" cy="351117"/>
                <a:chOff x="2556504" y="2484669"/>
                <a:chExt cx="381000" cy="351117"/>
              </a:xfrm>
            </p:grpSpPr>
            <p:pic>
              <p:nvPicPr>
                <p:cNvPr id="139" name="图形 13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56504" y="2484669"/>
                  <a:ext cx="381000" cy="285750"/>
                </a:xfrm>
                <a:prstGeom prst="rect">
                  <a:avLst/>
                </a:prstGeom>
              </p:spPr>
            </p:pic>
            <p:cxnSp>
              <p:nvCxnSpPr>
                <p:cNvPr id="140" name="直接连接符 139"/>
                <p:cNvCxnSpPr/>
                <p:nvPr/>
              </p:nvCxnSpPr>
              <p:spPr>
                <a:xfrm>
                  <a:off x="2747004" y="2612580"/>
                  <a:ext cx="0" cy="223206"/>
                </a:xfrm>
                <a:prstGeom prst="line">
                  <a:avLst/>
                </a:prstGeom>
                <a:ln w="25400">
                  <a:solidFill>
                    <a:srgbClr val="999999"/>
                  </a:solidFill>
                </a:ln>
              </p:spPr>
              <p:style>
                <a:lnRef idx="1">
                  <a:schemeClr val="accent1"/>
                </a:lnRef>
                <a:fillRef idx="0">
                  <a:schemeClr val="accent1"/>
                </a:fillRef>
                <a:effectRef idx="0">
                  <a:schemeClr val="accent1"/>
                </a:effectRef>
                <a:fontRef idx="minor">
                  <a:schemeClr val="tx1"/>
                </a:fontRef>
              </p:style>
            </p:cxnSp>
          </p:grpSp>
          <p:pic>
            <p:nvPicPr>
              <p:cNvPr id="138" name="图形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44206" y="4591486"/>
                <a:ext cx="662814" cy="641082"/>
              </a:xfrm>
              <a:prstGeom prst="rect">
                <a:avLst/>
              </a:prstGeom>
            </p:spPr>
          </p:pic>
        </p:grpSp>
      </p:grpSp>
      <p:sp>
        <p:nvSpPr>
          <p:cNvPr id="169" name="箭头: 左 168"/>
          <p:cNvSpPr/>
          <p:nvPr/>
        </p:nvSpPr>
        <p:spPr>
          <a:xfrm>
            <a:off x="6184256" y="4469955"/>
            <a:ext cx="1356389" cy="712966"/>
          </a:xfrm>
          <a:prstGeom prst="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类似</a:t>
            </a:r>
            <a:endParaRPr lang="zh-CN" altLang="en-US" b="1" dirty="0"/>
          </a:p>
        </p:txBody>
      </p:sp>
      <p:sp>
        <p:nvSpPr>
          <p:cNvPr id="9" name="矩形 8"/>
          <p:cNvSpPr/>
          <p:nvPr/>
        </p:nvSpPr>
        <p:spPr>
          <a:xfrm>
            <a:off x="635" y="-635"/>
            <a:ext cx="12190730" cy="987425"/>
          </a:xfrm>
          <a:prstGeom prst="rect">
            <a:avLst/>
          </a:prstGeom>
        </p:spPr>
        <p:style>
          <a:lnRef idx="0">
            <a:srgbClr val="FFFFFF"/>
          </a:lnRef>
          <a:fillRef idx="1">
            <a:schemeClr val="accent1"/>
          </a:fillRef>
          <a:effectRef idx="0">
            <a:srgbClr val="FFFFFF"/>
          </a:effectRef>
          <a:fontRef idx="minor">
            <a:schemeClr val="lt1"/>
          </a:fontRef>
        </p:style>
        <p:txBody>
          <a:bodyPr vert="horz" lIns="91440" tIns="45720" rIns="91440" bIns="45720" rtlCol="0" anchor="ctr">
            <a:normAutofit/>
          </a:bodyPr>
          <a:p>
            <a:pPr algn="l">
              <a:lnSpc>
                <a:spcPct val="90000"/>
              </a:lnSpc>
              <a:buClrTx/>
              <a:buSzTx/>
              <a:buFontTx/>
            </a:pPr>
            <a:r>
              <a:rPr lang="zh-CN" altLang="en-US" sz="4000" b="1" dirty="0">
                <a:solidFill>
                  <a:schemeClr val="bg1"/>
                </a:solidFill>
                <a:latin typeface="+mj-ea"/>
                <a:ea typeface="+mj-ea"/>
                <a:cs typeface="+mj-cs"/>
              </a:rPr>
              <a:t>网络监听与嗅探</a:t>
            </a:r>
            <a:endParaRPr lang="zh-CN" altLang="en-US" sz="4000" b="1" dirty="0">
              <a:solidFill>
                <a:schemeClr val="bg1"/>
              </a:solidFill>
              <a:latin typeface="+mj-ea"/>
              <a:ea typeface="+mj-ea"/>
              <a:cs typeface="+mj-cs"/>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anim calcmode="lin" valueType="num">
                                      <p:cBhvr additive="base">
                                        <p:cTn id="17" dur="500"/>
                                        <p:tgtEl>
                                          <p:spTgt spid="53"/>
                                        </p:tgtEl>
                                        <p:attrNameLst>
                                          <p:attrName>ppt_x</p:attrName>
                                        </p:attrNameLst>
                                      </p:cBhvr>
                                      <p:tavLst>
                                        <p:tav tm="0">
                                          <p:val>
                                            <p:strVal val="#ppt_x-#ppt_w*1.125000"/>
                                          </p:val>
                                        </p:tav>
                                        <p:tav tm="100000">
                                          <p:val>
                                            <p:strVal val="#ppt_x"/>
                                          </p:val>
                                        </p:tav>
                                      </p:tavLst>
                                    </p:anim>
                                    <p:animEffect transition="in" filter="wipe(right)">
                                      <p:cBhvr>
                                        <p:cTn id="18" dur="500"/>
                                        <p:tgtEl>
                                          <p:spTgt spid="5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56"/>
                                        </p:tgtEl>
                                        <p:attrNameLst>
                                          <p:attrName>style.visibility</p:attrName>
                                        </p:attrNameLst>
                                      </p:cBhvr>
                                      <p:to>
                                        <p:strVal val="visible"/>
                                      </p:to>
                                    </p:set>
                                    <p:anim calcmode="lin" valueType="num">
                                      <p:cBhvr additive="base">
                                        <p:cTn id="23" dur="500"/>
                                        <p:tgtEl>
                                          <p:spTgt spid="56"/>
                                        </p:tgtEl>
                                        <p:attrNameLst>
                                          <p:attrName>ppt_y</p:attrName>
                                        </p:attrNameLst>
                                      </p:cBhvr>
                                      <p:tavLst>
                                        <p:tav tm="0">
                                          <p:val>
                                            <p:strVal val="#ppt_y+#ppt_h*1.125000"/>
                                          </p:val>
                                        </p:tav>
                                        <p:tav tm="100000">
                                          <p:val>
                                            <p:strVal val="#ppt_y"/>
                                          </p:val>
                                        </p:tav>
                                      </p:tavLst>
                                    </p:anim>
                                    <p:animEffect transition="in" filter="wipe(up)">
                                      <p:cBhvr>
                                        <p:cTn id="24" dur="500"/>
                                        <p:tgtEl>
                                          <p:spTgt spid="56"/>
                                        </p:tgtEl>
                                      </p:cBhvr>
                                    </p:animEffect>
                                  </p:childTnLst>
                                </p:cTn>
                              </p:par>
                              <p:par>
                                <p:cTn id="25" presetID="12" presetClass="entr" presetSubtype="8" fill="hold" nodeType="withEffect">
                                  <p:stCondLst>
                                    <p:cond delay="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p:tgtEl>
                                          <p:spTgt spid="59"/>
                                        </p:tgtEl>
                                        <p:attrNameLst>
                                          <p:attrName>ppt_x</p:attrName>
                                        </p:attrNameLst>
                                      </p:cBhvr>
                                      <p:tavLst>
                                        <p:tav tm="0">
                                          <p:val>
                                            <p:strVal val="#ppt_x-#ppt_w*1.125000"/>
                                          </p:val>
                                        </p:tav>
                                        <p:tav tm="100000">
                                          <p:val>
                                            <p:strVal val="#ppt_x"/>
                                          </p:val>
                                        </p:tav>
                                      </p:tavLst>
                                    </p:anim>
                                    <p:animEffect transition="in" filter="wipe(right)">
                                      <p:cBhvr>
                                        <p:cTn id="28" dur="500"/>
                                        <p:tgtEl>
                                          <p:spTgt spid="59"/>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76"/>
                                        </p:tgtEl>
                                        <p:attrNameLst>
                                          <p:attrName>style.visibility</p:attrName>
                                        </p:attrNameLst>
                                      </p:cBhvr>
                                      <p:to>
                                        <p:strVal val="visible"/>
                                      </p:to>
                                    </p:set>
                                    <p:anim calcmode="lin" valueType="num">
                                      <p:cBhvr>
                                        <p:cTn id="33" dur="500" fill="hold"/>
                                        <p:tgtEl>
                                          <p:spTgt spid="76"/>
                                        </p:tgtEl>
                                        <p:attrNameLst>
                                          <p:attrName>ppt_w</p:attrName>
                                        </p:attrNameLst>
                                      </p:cBhvr>
                                      <p:tavLst>
                                        <p:tav tm="0">
                                          <p:val>
                                            <p:fltVal val="0"/>
                                          </p:val>
                                        </p:tav>
                                        <p:tav tm="100000">
                                          <p:val>
                                            <p:strVal val="#ppt_w"/>
                                          </p:val>
                                        </p:tav>
                                      </p:tavLst>
                                    </p:anim>
                                    <p:anim calcmode="lin" valueType="num">
                                      <p:cBhvr>
                                        <p:cTn id="34" dur="500" fill="hold"/>
                                        <p:tgtEl>
                                          <p:spTgt spid="76"/>
                                        </p:tgtEl>
                                        <p:attrNameLst>
                                          <p:attrName>ppt_h</p:attrName>
                                        </p:attrNameLst>
                                      </p:cBhvr>
                                      <p:tavLst>
                                        <p:tav tm="0">
                                          <p:val>
                                            <p:fltVal val="0"/>
                                          </p:val>
                                        </p:tav>
                                        <p:tav tm="100000">
                                          <p:val>
                                            <p:strVal val="#ppt_h"/>
                                          </p:val>
                                        </p:tav>
                                      </p:tavLst>
                                    </p:anim>
                                    <p:animEffect transition="in" filter="fade">
                                      <p:cBhvr>
                                        <p:cTn id="35" dur="500"/>
                                        <p:tgtEl>
                                          <p:spTgt spid="76"/>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p:tgtEl>
                                          <p:spTgt spid="6"/>
                                        </p:tgtEl>
                                        <p:attrNameLst>
                                          <p:attrName>ppt_y</p:attrName>
                                        </p:attrNameLst>
                                      </p:cBhvr>
                                      <p:tavLst>
                                        <p:tav tm="0">
                                          <p:val>
                                            <p:strVal val="#ppt_y+#ppt_h*1.125000"/>
                                          </p:val>
                                        </p:tav>
                                        <p:tav tm="100000">
                                          <p:val>
                                            <p:strVal val="#ppt_y"/>
                                          </p:val>
                                        </p:tav>
                                      </p:tavLst>
                                    </p:anim>
                                    <p:animEffect transition="in" filter="wipe(up)">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77"/>
                                        </p:tgtEl>
                                        <p:attrNameLst>
                                          <p:attrName>style.visibility</p:attrName>
                                        </p:attrNameLst>
                                      </p:cBhvr>
                                      <p:to>
                                        <p:strVal val="visible"/>
                                      </p:to>
                                    </p:set>
                                    <p:anim calcmode="lin" valueType="num">
                                      <p:cBhvr>
                                        <p:cTn id="46" dur="500" fill="hold"/>
                                        <p:tgtEl>
                                          <p:spTgt spid="77"/>
                                        </p:tgtEl>
                                        <p:attrNameLst>
                                          <p:attrName>ppt_w</p:attrName>
                                        </p:attrNameLst>
                                      </p:cBhvr>
                                      <p:tavLst>
                                        <p:tav tm="0">
                                          <p:val>
                                            <p:fltVal val="0"/>
                                          </p:val>
                                        </p:tav>
                                        <p:tav tm="100000">
                                          <p:val>
                                            <p:strVal val="#ppt_w"/>
                                          </p:val>
                                        </p:tav>
                                      </p:tavLst>
                                    </p:anim>
                                    <p:anim calcmode="lin" valueType="num">
                                      <p:cBhvr>
                                        <p:cTn id="47" dur="500" fill="hold"/>
                                        <p:tgtEl>
                                          <p:spTgt spid="77"/>
                                        </p:tgtEl>
                                        <p:attrNameLst>
                                          <p:attrName>ppt_h</p:attrName>
                                        </p:attrNameLst>
                                      </p:cBhvr>
                                      <p:tavLst>
                                        <p:tav tm="0">
                                          <p:val>
                                            <p:fltVal val="0"/>
                                          </p:val>
                                        </p:tav>
                                        <p:tav tm="100000">
                                          <p:val>
                                            <p:strVal val="#ppt_h"/>
                                          </p:val>
                                        </p:tav>
                                      </p:tavLst>
                                    </p:anim>
                                    <p:animEffect transition="in" filter="fade">
                                      <p:cBhvr>
                                        <p:cTn id="48" dur="500"/>
                                        <p:tgtEl>
                                          <p:spTgt spid="77"/>
                                        </p:tgtEl>
                                      </p:cBhvr>
                                    </p:animEffect>
                                  </p:childTnLst>
                                </p:cTn>
                              </p:par>
                            </p:childTnLst>
                          </p:cTn>
                        </p:par>
                      </p:childTnLst>
                    </p:cTn>
                  </p:par>
                  <p:par>
                    <p:cTn id="49" fill="hold">
                      <p:stCondLst>
                        <p:cond delay="indefinite"/>
                      </p:stCondLst>
                      <p:childTnLst>
                        <p:par>
                          <p:cTn id="50" fill="hold">
                            <p:stCondLst>
                              <p:cond delay="0"/>
                            </p:stCondLst>
                            <p:childTnLst>
                              <p:par>
                                <p:cTn id="51" presetID="30" presetClass="entr" presetSubtype="0"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800" decel="100000"/>
                                        <p:tgtEl>
                                          <p:spTgt spid="7"/>
                                        </p:tgtEl>
                                      </p:cBhvr>
                                    </p:animEffect>
                                    <p:anim calcmode="lin" valueType="num">
                                      <p:cBhvr>
                                        <p:cTn id="54" dur="800" decel="100000" fill="hold"/>
                                        <p:tgtEl>
                                          <p:spTgt spid="7"/>
                                        </p:tgtEl>
                                        <p:attrNameLst>
                                          <p:attrName>style.rotation</p:attrName>
                                        </p:attrNameLst>
                                      </p:cBhvr>
                                      <p:tavLst>
                                        <p:tav tm="0">
                                          <p:val>
                                            <p:fltVal val="-90"/>
                                          </p:val>
                                        </p:tav>
                                        <p:tav tm="100000">
                                          <p:val>
                                            <p:fltVal val="0"/>
                                          </p:val>
                                        </p:tav>
                                      </p:tavLst>
                                    </p:anim>
                                    <p:anim calcmode="lin" valueType="num">
                                      <p:cBhvr>
                                        <p:cTn id="55" dur="800" decel="100000" fill="hold"/>
                                        <p:tgtEl>
                                          <p:spTgt spid="7"/>
                                        </p:tgtEl>
                                        <p:attrNameLst>
                                          <p:attrName>ppt_x</p:attrName>
                                        </p:attrNameLst>
                                      </p:cBhvr>
                                      <p:tavLst>
                                        <p:tav tm="0">
                                          <p:val>
                                            <p:strVal val="#ppt_x+0.4"/>
                                          </p:val>
                                        </p:tav>
                                        <p:tav tm="100000">
                                          <p:val>
                                            <p:strVal val="#ppt_x-0.05"/>
                                          </p:val>
                                        </p:tav>
                                      </p:tavLst>
                                    </p:anim>
                                    <p:anim calcmode="lin" valueType="num">
                                      <p:cBhvr>
                                        <p:cTn id="56" dur="800" decel="100000" fill="hold"/>
                                        <p:tgtEl>
                                          <p:spTgt spid="7"/>
                                        </p:tgtEl>
                                        <p:attrNameLst>
                                          <p:attrName>ppt_y</p:attrName>
                                        </p:attrNameLst>
                                      </p:cBhvr>
                                      <p:tavLst>
                                        <p:tav tm="0">
                                          <p:val>
                                            <p:strVal val="#ppt_y-0.4"/>
                                          </p:val>
                                        </p:tav>
                                        <p:tav tm="100000">
                                          <p:val>
                                            <p:strVal val="#ppt_y+0.1"/>
                                          </p:val>
                                        </p:tav>
                                      </p:tavLst>
                                    </p:anim>
                                    <p:anim calcmode="lin" valueType="num">
                                      <p:cBhvr>
                                        <p:cTn id="57"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58"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2" presetClass="entr" presetSubtype="2" fill="hold" grpId="0" nodeType="clickEffect">
                                  <p:stCondLst>
                                    <p:cond delay="0"/>
                                  </p:stCondLst>
                                  <p:childTnLst>
                                    <p:set>
                                      <p:cBhvr>
                                        <p:cTn id="62" dur="1" fill="hold">
                                          <p:stCondLst>
                                            <p:cond delay="0"/>
                                          </p:stCondLst>
                                        </p:cTn>
                                        <p:tgtEl>
                                          <p:spTgt spid="169"/>
                                        </p:tgtEl>
                                        <p:attrNameLst>
                                          <p:attrName>style.visibility</p:attrName>
                                        </p:attrNameLst>
                                      </p:cBhvr>
                                      <p:to>
                                        <p:strVal val="visible"/>
                                      </p:to>
                                    </p:set>
                                    <p:anim calcmode="lin" valueType="num">
                                      <p:cBhvr additive="base">
                                        <p:cTn id="63" dur="500"/>
                                        <p:tgtEl>
                                          <p:spTgt spid="169"/>
                                        </p:tgtEl>
                                        <p:attrNameLst>
                                          <p:attrName>ppt_x</p:attrName>
                                        </p:attrNameLst>
                                      </p:cBhvr>
                                      <p:tavLst>
                                        <p:tav tm="0">
                                          <p:val>
                                            <p:strVal val="#ppt_x+#ppt_w*1.125000"/>
                                          </p:val>
                                        </p:tav>
                                        <p:tav tm="100000">
                                          <p:val>
                                            <p:strVal val="#ppt_x"/>
                                          </p:val>
                                        </p:tav>
                                      </p:tavLst>
                                    </p:anim>
                                    <p:animEffect transition="in" filter="wipe(left)">
                                      <p:cBhvr>
                                        <p:cTn id="64"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6" grpId="0"/>
      <p:bldP spid="77" grpId="0"/>
      <p:bldP spid="16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152400" y="298450"/>
            <a:ext cx="10794365" cy="583565"/>
          </a:xfrm>
        </p:spPr>
        <p:txBody>
          <a:bodyPr/>
          <a:p>
            <a:r>
              <a:rPr lang="en-US" altLang="zh-CN" dirty="0">
                <a:latin typeface="+mj-ea"/>
                <a:sym typeface="+mn-ea"/>
              </a:rPr>
              <a:t>1.4.3 </a:t>
            </a:r>
            <a:r>
              <a:rPr lang="en-US" altLang="zh-CN" dirty="0">
                <a:latin typeface="+mj-ea"/>
                <a:sym typeface="+mn-ea"/>
              </a:rPr>
              <a:t>TCP/IP</a:t>
            </a:r>
            <a:r>
              <a:rPr lang="zh-CN" altLang="en-US" dirty="0">
                <a:latin typeface="+mj-ea"/>
                <a:sym typeface="+mn-ea"/>
              </a:rPr>
              <a:t>协议安全的体系结构</a:t>
            </a:r>
            <a:r>
              <a:rPr lang="en-US" altLang="zh-CN" dirty="0">
                <a:latin typeface="+mj-ea"/>
                <a:sym typeface="+mn-ea"/>
              </a:rPr>
              <a:t>——</a:t>
            </a:r>
            <a:r>
              <a:rPr lang="zh-CN" altLang="en-US" dirty="0">
                <a:latin typeface="+mj-ea"/>
                <a:sym typeface="+mn-ea"/>
              </a:rPr>
              <a:t>网络层的安全性</a:t>
            </a:r>
            <a:endParaRPr lang="zh-CN" altLang="en-US"/>
          </a:p>
        </p:txBody>
      </p:sp>
      <p:sp>
        <p:nvSpPr>
          <p:cNvPr id="3" name="标题 1"/>
          <p:cNvSpPr txBox="1"/>
          <p:nvPr>
            <p:custDataLst>
              <p:tags r:id="rId1"/>
            </p:custDataLst>
          </p:nvPr>
        </p:nvSpPr>
        <p:spPr>
          <a:xfrm>
            <a:off x="457200" y="1551433"/>
            <a:ext cx="5419038" cy="4783743"/>
          </a:xfrm>
          <a:prstGeom prst="rect">
            <a:avLst/>
          </a:prstGeom>
          <a:solidFill>
            <a:schemeClr val="bg1"/>
          </a:solidFill>
          <a:ln w="25400" cap="sq">
            <a:solidFill>
              <a:schemeClr val="bg1">
                <a:lumMod val="95000"/>
              </a:schemeClr>
            </a:solidFill>
            <a:miter/>
          </a:ln>
          <a:effectLst>
            <a:outerShdw blurRad="127000" algn="ctr" rotWithShape="0">
              <a:schemeClr val="accent1">
                <a:alpha val="20000"/>
              </a:schemeClr>
            </a:outerShdw>
          </a:effectLst>
        </p:spPr>
        <p:txBody>
          <a:bodyPr vert="horz" wrap="square" lIns="0" tIns="0" rIns="0" bIns="0" rtlCol="0" anchor="ctr"/>
          <a:lstStyle/>
          <a:p>
            <a:pPr algn="ctr">
              <a:lnSpc>
                <a:spcPct val="110000"/>
              </a:lnSpc>
            </a:pPr>
            <a:endParaRPr kumimoji="1" lang="zh-CN" altLang="en-US"/>
          </a:p>
        </p:txBody>
      </p:sp>
      <p:sp>
        <p:nvSpPr>
          <p:cNvPr id="4" name="标题 1"/>
          <p:cNvSpPr txBox="1"/>
          <p:nvPr>
            <p:custDataLst>
              <p:tags r:id="rId2"/>
            </p:custDataLst>
          </p:nvPr>
        </p:nvSpPr>
        <p:spPr>
          <a:xfrm>
            <a:off x="3058795" y="1622425"/>
            <a:ext cx="2666365" cy="832485"/>
          </a:xfrm>
          <a:prstGeom prst="rect">
            <a:avLst/>
          </a:prstGeom>
          <a:noFill/>
          <a:ln>
            <a:noFill/>
          </a:ln>
        </p:spPr>
        <p:txBody>
          <a:bodyPr vert="horz" wrap="square" lIns="0" tIns="0" rIns="0" bIns="0" rtlCol="0" anchor="ctr"/>
          <a:lstStyle/>
          <a:p>
            <a:pPr algn="l">
              <a:lnSpc>
                <a:spcPct val="130000"/>
              </a:lnSpc>
            </a:pPr>
            <a:r>
              <a:rPr kumimoji="1" lang="zh-CN" altLang="en-US" sz="25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rPr>
              <a:t>网络层的</a:t>
            </a:r>
            <a:r>
              <a:rPr kumimoji="1" lang="en-US" altLang="zh-CN" sz="25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rPr>
              <a:t>安全风险</a:t>
            </a:r>
            <a:endParaRPr kumimoji="1" lang="en-US" altLang="zh-CN" sz="25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5" name="标题 1"/>
          <p:cNvSpPr txBox="1"/>
          <p:nvPr>
            <p:custDataLst>
              <p:tags r:id="rId3"/>
            </p:custDataLst>
          </p:nvPr>
        </p:nvSpPr>
        <p:spPr>
          <a:xfrm rot="16200000">
            <a:off x="1734612" y="1768918"/>
            <a:ext cx="1427862" cy="975269"/>
          </a:xfrm>
          <a:custGeom>
            <a:avLst/>
            <a:gdLst>
              <a:gd name="connsiteX0" fmla="*/ 1172998 w 1172998"/>
              <a:gd name="connsiteY0" fmla="*/ 0 h 801190"/>
              <a:gd name="connsiteX1" fmla="*/ 1172998 w 1172998"/>
              <a:gd name="connsiteY1" fmla="*/ 801190 h 801190"/>
              <a:gd name="connsiteX2" fmla="*/ 400595 w 1172998"/>
              <a:gd name="connsiteY2" fmla="*/ 801190 h 801190"/>
              <a:gd name="connsiteX3" fmla="*/ 0 w 1172998"/>
              <a:gd name="connsiteY3" fmla="*/ 400595 h 801190"/>
              <a:gd name="connsiteX4" fmla="*/ 400595 w 1172998"/>
              <a:gd name="connsiteY4" fmla="*/ 0 h 801190"/>
            </a:gdLst>
            <a:ahLst/>
            <a:cxnLst/>
            <a:rect l="l" t="t" r="r" b="b"/>
            <a:pathLst>
              <a:path w="1172998" h="801190">
                <a:moveTo>
                  <a:pt x="1172998" y="0"/>
                </a:moveTo>
                <a:lnTo>
                  <a:pt x="1172998" y="801190"/>
                </a:lnTo>
                <a:lnTo>
                  <a:pt x="400595" y="801190"/>
                </a:lnTo>
                <a:cubicBezTo>
                  <a:pt x="179352" y="801190"/>
                  <a:pt x="0" y="621838"/>
                  <a:pt x="0" y="400595"/>
                </a:cubicBezTo>
                <a:cubicBezTo>
                  <a:pt x="0" y="179352"/>
                  <a:pt x="179352" y="0"/>
                  <a:pt x="400595"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custDataLst>
              <p:tags r:id="rId4"/>
            </p:custDataLst>
          </p:nvPr>
        </p:nvSpPr>
        <p:spPr>
          <a:xfrm>
            <a:off x="457856" y="2914560"/>
            <a:ext cx="5267433" cy="3421272"/>
          </a:xfrm>
          <a:prstGeom prst="rect">
            <a:avLst/>
          </a:prstGeom>
          <a:noFill/>
          <a:ln>
            <a:noFill/>
          </a:ln>
        </p:spPr>
        <p:txBody>
          <a:bodyPr vert="horz" wrap="square" lIns="0" tIns="0" rIns="0" bIns="0" rtlCol="0" anchor="t"/>
          <a:lstStyle/>
          <a:p>
            <a:pPr algn="l">
              <a:lnSpc>
                <a:spcPct val="150000"/>
              </a:lnSpc>
              <a:buClrTx/>
              <a:buSzTx/>
              <a:buFontTx/>
            </a:pPr>
            <a:r>
              <a:rPr kumimoji="1" lang="zh-CN" altLang="en-US"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sym typeface="+mn-ea"/>
              </a:rPr>
              <a:t>网</a:t>
            </a: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sym typeface="+mn-ea"/>
              </a:rPr>
              <a:t>络层负责数据包路由和转发，IPv4因设计未考虑安全性，IP数据报易遭IP地址欺骗、ICMP攻击、IP分片威胁、数据报篡改和重播等攻击。</a:t>
            </a:r>
            <a:endPar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algn="l">
              <a:lnSpc>
                <a:spcPct val="150000"/>
              </a:lnSpc>
              <a:buClrTx/>
              <a:buSzTx/>
              <a:buFontTx/>
            </a:pPr>
            <a:endPar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0" name="标题 1"/>
          <p:cNvSpPr txBox="1"/>
          <p:nvPr>
            <p:custDataLst>
              <p:tags r:id="rId5"/>
            </p:custDataLst>
          </p:nvPr>
        </p:nvSpPr>
        <p:spPr>
          <a:xfrm>
            <a:off x="6309995" y="1551305"/>
            <a:ext cx="5086350" cy="4783455"/>
          </a:xfrm>
          <a:prstGeom prst="rect">
            <a:avLst/>
          </a:prstGeom>
          <a:solidFill>
            <a:schemeClr val="bg1"/>
          </a:solidFill>
          <a:ln w="25400" cap="sq">
            <a:solidFill>
              <a:schemeClr val="bg1">
                <a:lumMod val="95000"/>
              </a:schemeClr>
            </a:solidFill>
            <a:miter/>
          </a:ln>
          <a:effectLst>
            <a:outerShdw blurRad="127000" algn="ctr" rotWithShape="0">
              <a:schemeClr val="accent1">
                <a:alpha val="20000"/>
              </a:schemeClr>
            </a:outerShdw>
          </a:effectLst>
        </p:spPr>
        <p:txBody>
          <a:bodyPr vert="horz" wrap="square" lIns="0" tIns="0" rIns="0" bIns="0" rtlCol="0" anchor="ctr"/>
          <a:lstStyle/>
          <a:p>
            <a:pPr algn="ctr">
              <a:lnSpc>
                <a:spcPct val="110000"/>
              </a:lnSpc>
            </a:pPr>
            <a:endParaRPr kumimoji="1" lang="zh-CN" altLang="en-US"/>
          </a:p>
        </p:txBody>
      </p:sp>
      <p:sp>
        <p:nvSpPr>
          <p:cNvPr id="11" name="标题 1"/>
          <p:cNvSpPr txBox="1"/>
          <p:nvPr>
            <p:custDataLst>
              <p:tags r:id="rId6"/>
            </p:custDataLst>
          </p:nvPr>
        </p:nvSpPr>
        <p:spPr>
          <a:xfrm>
            <a:off x="8459420" y="1651190"/>
            <a:ext cx="2755131" cy="832840"/>
          </a:xfrm>
          <a:prstGeom prst="rect">
            <a:avLst/>
          </a:prstGeom>
          <a:noFill/>
          <a:ln>
            <a:noFill/>
          </a:ln>
        </p:spPr>
        <p:txBody>
          <a:bodyPr vert="horz" wrap="square" lIns="0" tIns="0" rIns="0" bIns="0" rtlCol="0" anchor="ctr">
            <a:noAutofit/>
          </a:bodyPr>
          <a:lstStyle/>
          <a:p>
            <a:pPr lvl="0" algn="r">
              <a:lnSpc>
                <a:spcPct val="130000"/>
              </a:lnSpc>
              <a:buClrTx/>
              <a:buSzTx/>
              <a:buFontTx/>
            </a:pPr>
            <a:r>
              <a:rPr kumimoji="1" lang="zh-CN" altLang="en-US"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网络</a:t>
            </a:r>
            <a:r>
              <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层</a:t>
            </a:r>
            <a:r>
              <a:rPr kumimoji="1" lang="zh-CN" altLang="en-US"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的</a:t>
            </a:r>
            <a:r>
              <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防护措施</a:t>
            </a:r>
            <a:endPar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endParaRPr>
          </a:p>
        </p:txBody>
      </p:sp>
      <p:sp>
        <p:nvSpPr>
          <p:cNvPr id="12" name="标题 1"/>
          <p:cNvSpPr txBox="1"/>
          <p:nvPr>
            <p:custDataLst>
              <p:tags r:id="rId7"/>
            </p:custDataLst>
          </p:nvPr>
        </p:nvSpPr>
        <p:spPr>
          <a:xfrm rot="16200000">
            <a:off x="7254655" y="1768918"/>
            <a:ext cx="1427862" cy="975269"/>
          </a:xfrm>
          <a:custGeom>
            <a:avLst/>
            <a:gdLst>
              <a:gd name="connsiteX0" fmla="*/ 1172998 w 1172998"/>
              <a:gd name="connsiteY0" fmla="*/ 0 h 801190"/>
              <a:gd name="connsiteX1" fmla="*/ 1172998 w 1172998"/>
              <a:gd name="connsiteY1" fmla="*/ 801190 h 801190"/>
              <a:gd name="connsiteX2" fmla="*/ 400595 w 1172998"/>
              <a:gd name="connsiteY2" fmla="*/ 801190 h 801190"/>
              <a:gd name="connsiteX3" fmla="*/ 0 w 1172998"/>
              <a:gd name="connsiteY3" fmla="*/ 400595 h 801190"/>
              <a:gd name="connsiteX4" fmla="*/ 400595 w 1172998"/>
              <a:gd name="connsiteY4" fmla="*/ 0 h 801190"/>
            </a:gdLst>
            <a:ahLst/>
            <a:cxnLst/>
            <a:rect l="l" t="t" r="r" b="b"/>
            <a:pathLst>
              <a:path w="1172998" h="801190">
                <a:moveTo>
                  <a:pt x="1172998" y="0"/>
                </a:moveTo>
                <a:lnTo>
                  <a:pt x="1172998" y="801190"/>
                </a:lnTo>
                <a:lnTo>
                  <a:pt x="400595" y="801190"/>
                </a:lnTo>
                <a:cubicBezTo>
                  <a:pt x="179352" y="801190"/>
                  <a:pt x="0" y="621838"/>
                  <a:pt x="0" y="400595"/>
                </a:cubicBezTo>
                <a:cubicBezTo>
                  <a:pt x="0" y="179352"/>
                  <a:pt x="179352" y="0"/>
                  <a:pt x="400595"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custDataLst>
              <p:tags r:id="rId8"/>
            </p:custDataLst>
          </p:nvPr>
        </p:nvSpPr>
        <p:spPr>
          <a:xfrm>
            <a:off x="7483956" y="1332410"/>
            <a:ext cx="1198546" cy="224020"/>
          </a:xfrm>
          <a:prstGeom prst="round2SameRect">
            <a:avLst>
              <a:gd name="adj1" fmla="val 50000"/>
              <a:gd name="adj2" fmla="val 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custDataLst>
              <p:tags r:id="rId9"/>
            </p:custDataLst>
          </p:nvPr>
        </p:nvSpPr>
        <p:spPr>
          <a:xfrm>
            <a:off x="8459226" y="1332410"/>
            <a:ext cx="271391" cy="224020"/>
          </a:xfrm>
          <a:custGeom>
            <a:avLst/>
            <a:gdLst>
              <a:gd name="connsiteX0" fmla="*/ 344091 w 688182"/>
              <a:gd name="connsiteY0" fmla="*/ 0 h 360510"/>
              <a:gd name="connsiteX1" fmla="*/ 688182 w 688182"/>
              <a:gd name="connsiteY1" fmla="*/ 344091 h 360510"/>
              <a:gd name="connsiteX2" fmla="*/ 686527 w 688182"/>
              <a:gd name="connsiteY2" fmla="*/ 360510 h 360510"/>
              <a:gd name="connsiteX3" fmla="*/ 1655 w 688182"/>
              <a:gd name="connsiteY3" fmla="*/ 360510 h 360510"/>
              <a:gd name="connsiteX4" fmla="*/ 0 w 688182"/>
              <a:gd name="connsiteY4" fmla="*/ 344091 h 360510"/>
              <a:gd name="connsiteX5" fmla="*/ 344091 w 688182"/>
              <a:gd name="connsiteY5" fmla="*/ 0 h 360510"/>
            </a:gdLst>
            <a:ahLst/>
            <a:cxnLst/>
            <a:rect l="l" t="t" r="r" b="b"/>
            <a:pathLst>
              <a:path w="688182" h="360510">
                <a:moveTo>
                  <a:pt x="344091" y="0"/>
                </a:moveTo>
                <a:cubicBezTo>
                  <a:pt x="534127" y="0"/>
                  <a:pt x="688182" y="154055"/>
                  <a:pt x="688182" y="344091"/>
                </a:cubicBezTo>
                <a:lnTo>
                  <a:pt x="686527" y="360510"/>
                </a:lnTo>
                <a:lnTo>
                  <a:pt x="1655" y="360510"/>
                </a:lnTo>
                <a:lnTo>
                  <a:pt x="0" y="344091"/>
                </a:lnTo>
                <a:cubicBezTo>
                  <a:pt x="0" y="154055"/>
                  <a:pt x="154055" y="0"/>
                  <a:pt x="344091" y="0"/>
                </a:cubicBezTo>
                <a:close/>
              </a:path>
            </a:pathLst>
          </a:custGeom>
          <a:solidFill>
            <a:schemeClr val="accent1">
              <a:lumMod val="7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10"/>
            </p:custDataLst>
          </p:nvPr>
        </p:nvSpPr>
        <p:spPr>
          <a:xfrm>
            <a:off x="6426835" y="3160395"/>
            <a:ext cx="4657090" cy="2823845"/>
          </a:xfrm>
          <a:prstGeom prst="rect">
            <a:avLst/>
          </a:prstGeom>
          <a:noFill/>
          <a:ln>
            <a:noFill/>
          </a:ln>
        </p:spPr>
        <p:txBody>
          <a:bodyPr vert="horz" wrap="square" lIns="0" tIns="0" rIns="0" bIns="0" rtlCol="0" anchor="t"/>
          <a:lstStyle/>
          <a:p>
            <a:pPr algn="l">
              <a:lnSpc>
                <a:spcPct val="150000"/>
              </a:lnSpc>
            </a:pP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sym typeface="+mn-ea"/>
              </a:rPr>
              <a:t>IPv6简化IP头结构，增加安全性设计，IETF制定</a:t>
            </a:r>
            <a:r>
              <a:rPr kumimoji="1" lang="en-US" altLang="zh-CN"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IPsec</a:t>
            </a: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sym typeface="+mn-ea"/>
              </a:rPr>
              <a:t>协议体系，提供数据包加密和认证，确保数据传输安全。
</a:t>
            </a:r>
            <a:endParaRPr kumimoji="1" lang="zh-CN" altLang="en-US"/>
          </a:p>
        </p:txBody>
      </p:sp>
      <p:grpSp>
        <p:nvGrpSpPr>
          <p:cNvPr id="27" name="组合 26"/>
          <p:cNvGrpSpPr/>
          <p:nvPr>
            <p:custDataLst>
              <p:tags r:id="rId11"/>
            </p:custDataLst>
          </p:nvPr>
        </p:nvGrpSpPr>
        <p:grpSpPr>
          <a:xfrm>
            <a:off x="1964056" y="1332230"/>
            <a:ext cx="1246963" cy="1271246"/>
            <a:chOff x="3016" y="2098"/>
            <a:chExt cx="1900" cy="1937"/>
          </a:xfrm>
        </p:grpSpPr>
        <p:sp>
          <p:nvSpPr>
            <p:cNvPr id="6" name="标题 1"/>
            <p:cNvSpPr txBox="1"/>
            <p:nvPr>
              <p:custDataLst>
                <p:tags r:id="rId12"/>
              </p:custDataLst>
            </p:nvPr>
          </p:nvSpPr>
          <p:spPr>
            <a:xfrm>
              <a:off x="3016" y="2098"/>
              <a:ext cx="1826" cy="341"/>
            </a:xfrm>
            <a:prstGeom prst="round2SameRect">
              <a:avLst>
                <a:gd name="adj1" fmla="val 50000"/>
                <a:gd name="adj2" fmla="val 0"/>
              </a:avLst>
            </a:prstGeom>
            <a:solidFill>
              <a:schemeClr val="accent1"/>
            </a:solidFill>
            <a:ln cap="sq">
              <a:noFill/>
              <a:prstDash val="solid"/>
              <a:miter/>
            </a:ln>
          </p:spPr>
          <p:txBody>
            <a:bodyPr vert="horz" wrap="square" lIns="0" tIns="0" rIns="0" bIns="0" rtlCol="0" anchor="ctr"/>
            <a:lstStyle/>
            <a:p>
              <a:pPr algn="ctr">
                <a:lnSpc>
                  <a:spcPct val="110000"/>
                </a:lnSpc>
              </a:pPr>
              <a:endParaRPr kumimoji="1" lang="zh-CN" altLang="en-US"/>
            </a:p>
          </p:txBody>
        </p:sp>
        <p:sp>
          <p:nvSpPr>
            <p:cNvPr id="7" name="标题 1"/>
            <p:cNvSpPr txBox="1"/>
            <p:nvPr>
              <p:custDataLst>
                <p:tags r:id="rId13"/>
              </p:custDataLst>
            </p:nvPr>
          </p:nvSpPr>
          <p:spPr>
            <a:xfrm>
              <a:off x="4502" y="2098"/>
              <a:ext cx="414" cy="341"/>
            </a:xfrm>
            <a:custGeom>
              <a:avLst/>
              <a:gdLst>
                <a:gd name="connsiteX0" fmla="*/ 344091 w 688182"/>
                <a:gd name="connsiteY0" fmla="*/ 0 h 360510"/>
                <a:gd name="connsiteX1" fmla="*/ 688182 w 688182"/>
                <a:gd name="connsiteY1" fmla="*/ 344091 h 360510"/>
                <a:gd name="connsiteX2" fmla="*/ 686527 w 688182"/>
                <a:gd name="connsiteY2" fmla="*/ 360510 h 360510"/>
                <a:gd name="connsiteX3" fmla="*/ 1655 w 688182"/>
                <a:gd name="connsiteY3" fmla="*/ 360510 h 360510"/>
                <a:gd name="connsiteX4" fmla="*/ 0 w 688182"/>
                <a:gd name="connsiteY4" fmla="*/ 344091 h 360510"/>
                <a:gd name="connsiteX5" fmla="*/ 344091 w 688182"/>
                <a:gd name="connsiteY5" fmla="*/ 0 h 360510"/>
              </a:gdLst>
              <a:ahLst/>
              <a:cxnLst/>
              <a:rect l="l" t="t" r="r" b="b"/>
              <a:pathLst>
                <a:path w="688182" h="360510">
                  <a:moveTo>
                    <a:pt x="344091" y="0"/>
                  </a:moveTo>
                  <a:cubicBezTo>
                    <a:pt x="534127" y="0"/>
                    <a:pt x="688182" y="154055"/>
                    <a:pt x="688182" y="344091"/>
                  </a:cubicBezTo>
                  <a:lnTo>
                    <a:pt x="686527" y="360510"/>
                  </a:lnTo>
                  <a:lnTo>
                    <a:pt x="1655" y="360510"/>
                  </a:lnTo>
                  <a:lnTo>
                    <a:pt x="0" y="344091"/>
                  </a:lnTo>
                  <a:cubicBezTo>
                    <a:pt x="0" y="154055"/>
                    <a:pt x="154055" y="0"/>
                    <a:pt x="344091" y="0"/>
                  </a:cubicBezTo>
                  <a:close/>
                </a:path>
              </a:pathLst>
            </a:custGeom>
            <a:solidFill>
              <a:schemeClr val="accent1">
                <a:lumMod val="7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14"/>
              </p:custDataLst>
            </p:nvPr>
          </p:nvSpPr>
          <p:spPr>
            <a:xfrm>
              <a:off x="3087" y="2767"/>
              <a:ext cx="1266" cy="1269"/>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01</a:t>
              </a:r>
              <a:endParaRPr kumimoji="1" lang="zh-CN" altLang="en-US"/>
            </a:p>
          </p:txBody>
        </p:sp>
      </p:grpSp>
      <p:sp>
        <p:nvSpPr>
          <p:cNvPr id="18" name="标题 1"/>
          <p:cNvSpPr txBox="1"/>
          <p:nvPr>
            <p:custDataLst>
              <p:tags r:id="rId15"/>
            </p:custDataLst>
          </p:nvPr>
        </p:nvSpPr>
        <p:spPr>
          <a:xfrm>
            <a:off x="7549437" y="1771522"/>
            <a:ext cx="831143" cy="832617"/>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02</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152400" y="298450"/>
            <a:ext cx="11421110" cy="583565"/>
          </a:xfrm>
        </p:spPr>
        <p:txBody>
          <a:bodyPr/>
          <a:p>
            <a:r>
              <a:rPr lang="en-US" altLang="zh-CN" dirty="0">
                <a:latin typeface="+mj-ea"/>
                <a:sym typeface="+mn-ea"/>
              </a:rPr>
              <a:t>1.4.3 </a:t>
            </a:r>
            <a:r>
              <a:rPr lang="en-US" altLang="zh-CN" dirty="0">
                <a:latin typeface="+mj-ea"/>
                <a:sym typeface="+mn-ea"/>
              </a:rPr>
              <a:t>TCP/IP</a:t>
            </a:r>
            <a:r>
              <a:rPr lang="zh-CN" altLang="en-US" dirty="0">
                <a:latin typeface="+mj-ea"/>
                <a:sym typeface="+mn-ea"/>
              </a:rPr>
              <a:t>协议安全的体系结构</a:t>
            </a:r>
            <a:r>
              <a:rPr lang="en-US" altLang="zh-CN" dirty="0">
                <a:latin typeface="+mj-ea"/>
                <a:sym typeface="+mn-ea"/>
              </a:rPr>
              <a:t>——</a:t>
            </a:r>
            <a:r>
              <a:rPr lang="zh-CN" altLang="en-US" dirty="0">
                <a:latin typeface="+mj-ea"/>
                <a:sym typeface="+mn-ea"/>
              </a:rPr>
              <a:t>传输层的安全性</a:t>
            </a:r>
            <a:endParaRPr lang="zh-CN" altLang="en-US"/>
          </a:p>
        </p:txBody>
      </p:sp>
      <p:sp>
        <p:nvSpPr>
          <p:cNvPr id="3" name="标题 1"/>
          <p:cNvSpPr txBox="1"/>
          <p:nvPr>
            <p:custDataLst>
              <p:tags r:id="rId1"/>
            </p:custDataLst>
          </p:nvPr>
        </p:nvSpPr>
        <p:spPr>
          <a:xfrm>
            <a:off x="457200" y="1551433"/>
            <a:ext cx="5419038" cy="4783743"/>
          </a:xfrm>
          <a:prstGeom prst="rect">
            <a:avLst/>
          </a:prstGeom>
          <a:solidFill>
            <a:schemeClr val="bg1"/>
          </a:solidFill>
          <a:ln w="25400" cap="sq">
            <a:solidFill>
              <a:schemeClr val="bg1">
                <a:lumMod val="95000"/>
              </a:schemeClr>
            </a:solidFill>
            <a:miter/>
          </a:ln>
          <a:effectLst>
            <a:outerShdw blurRad="127000" algn="ctr" rotWithShape="0">
              <a:schemeClr val="accent1">
                <a:alpha val="20000"/>
              </a:schemeClr>
            </a:outerShdw>
          </a:effectLst>
        </p:spPr>
        <p:txBody>
          <a:bodyPr vert="horz" wrap="square" lIns="0" tIns="0" rIns="0" bIns="0" rtlCol="0" anchor="ctr"/>
          <a:lstStyle/>
          <a:p>
            <a:pPr algn="ctr">
              <a:lnSpc>
                <a:spcPct val="110000"/>
              </a:lnSpc>
            </a:pPr>
            <a:endParaRPr kumimoji="1" lang="zh-CN" altLang="en-US"/>
          </a:p>
        </p:txBody>
      </p:sp>
      <p:sp>
        <p:nvSpPr>
          <p:cNvPr id="4" name="标题 1"/>
          <p:cNvSpPr txBox="1"/>
          <p:nvPr>
            <p:custDataLst>
              <p:tags r:id="rId2"/>
            </p:custDataLst>
          </p:nvPr>
        </p:nvSpPr>
        <p:spPr>
          <a:xfrm>
            <a:off x="3157220" y="1622425"/>
            <a:ext cx="2567940" cy="832485"/>
          </a:xfrm>
          <a:prstGeom prst="rect">
            <a:avLst/>
          </a:prstGeom>
          <a:noFill/>
          <a:ln>
            <a:noFill/>
          </a:ln>
        </p:spPr>
        <p:txBody>
          <a:bodyPr vert="horz" wrap="square" lIns="0" tIns="0" rIns="0" bIns="0" rtlCol="0" anchor="ctr"/>
          <a:lstStyle/>
          <a:p>
            <a:pPr algn="l">
              <a:lnSpc>
                <a:spcPct val="130000"/>
              </a:lnSpc>
            </a:pPr>
            <a:r>
              <a:rPr kumimoji="1" lang="zh-CN" altLang="en-US" sz="25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rPr>
              <a:t>传输层的</a:t>
            </a:r>
            <a:r>
              <a:rPr kumimoji="1" lang="en-US" altLang="zh-CN" sz="25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rPr>
              <a:t>安全风险</a:t>
            </a:r>
            <a:endParaRPr kumimoji="1" lang="en-US" altLang="zh-CN" sz="25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5" name="标题 1"/>
          <p:cNvSpPr txBox="1"/>
          <p:nvPr>
            <p:custDataLst>
              <p:tags r:id="rId3"/>
            </p:custDataLst>
          </p:nvPr>
        </p:nvSpPr>
        <p:spPr>
          <a:xfrm rot="16200000">
            <a:off x="1734612" y="1768918"/>
            <a:ext cx="1427862" cy="975269"/>
          </a:xfrm>
          <a:custGeom>
            <a:avLst/>
            <a:gdLst>
              <a:gd name="connsiteX0" fmla="*/ 1172998 w 1172998"/>
              <a:gd name="connsiteY0" fmla="*/ 0 h 801190"/>
              <a:gd name="connsiteX1" fmla="*/ 1172998 w 1172998"/>
              <a:gd name="connsiteY1" fmla="*/ 801190 h 801190"/>
              <a:gd name="connsiteX2" fmla="*/ 400595 w 1172998"/>
              <a:gd name="connsiteY2" fmla="*/ 801190 h 801190"/>
              <a:gd name="connsiteX3" fmla="*/ 0 w 1172998"/>
              <a:gd name="connsiteY3" fmla="*/ 400595 h 801190"/>
              <a:gd name="connsiteX4" fmla="*/ 400595 w 1172998"/>
              <a:gd name="connsiteY4" fmla="*/ 0 h 801190"/>
            </a:gdLst>
            <a:ahLst/>
            <a:cxnLst/>
            <a:rect l="l" t="t" r="r" b="b"/>
            <a:pathLst>
              <a:path w="1172998" h="801190">
                <a:moveTo>
                  <a:pt x="1172998" y="0"/>
                </a:moveTo>
                <a:lnTo>
                  <a:pt x="1172998" y="801190"/>
                </a:lnTo>
                <a:lnTo>
                  <a:pt x="400595" y="801190"/>
                </a:lnTo>
                <a:cubicBezTo>
                  <a:pt x="179352" y="801190"/>
                  <a:pt x="0" y="621838"/>
                  <a:pt x="0" y="400595"/>
                </a:cubicBezTo>
                <a:cubicBezTo>
                  <a:pt x="0" y="179352"/>
                  <a:pt x="179352" y="0"/>
                  <a:pt x="400595"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custDataLst>
              <p:tags r:id="rId4"/>
            </p:custDataLst>
          </p:nvPr>
        </p:nvSpPr>
        <p:spPr>
          <a:xfrm>
            <a:off x="457856" y="2914560"/>
            <a:ext cx="5267433" cy="3421272"/>
          </a:xfrm>
          <a:prstGeom prst="rect">
            <a:avLst/>
          </a:prstGeom>
          <a:noFill/>
          <a:ln>
            <a:noFill/>
          </a:ln>
        </p:spPr>
        <p:txBody>
          <a:bodyPr vert="horz" wrap="square" lIns="0" tIns="0" rIns="0" bIns="0" rtlCol="0" anchor="t"/>
          <a:lstStyle/>
          <a:p>
            <a:pPr algn="l">
              <a:lnSpc>
                <a:spcPct val="150000"/>
              </a:lnSpc>
              <a:buClrTx/>
              <a:buSzTx/>
              <a:buFontTx/>
            </a:pPr>
            <a:r>
              <a:rPr kumimoji="1" lang="zh-CN" altLang="en-US"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sym typeface="+mn-ea"/>
              </a:rPr>
              <a:t>传</a:t>
            </a: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sym typeface="+mn-ea"/>
              </a:rPr>
              <a:t>输层包括TCP和UDP，TCP提供面向连接的可靠数据传输，易遭TCP泛洪攻击、TCP重置攻击和TCP会话劫持等攻击；UDP提供无连接快速数据传输，易遭UDP泛洪攻击和UDP反射放大攻击。</a:t>
            </a:r>
            <a:endPar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0" name="标题 1"/>
          <p:cNvSpPr txBox="1"/>
          <p:nvPr>
            <p:custDataLst>
              <p:tags r:id="rId5"/>
            </p:custDataLst>
          </p:nvPr>
        </p:nvSpPr>
        <p:spPr>
          <a:xfrm>
            <a:off x="6309995" y="1551305"/>
            <a:ext cx="5086350" cy="4783455"/>
          </a:xfrm>
          <a:prstGeom prst="rect">
            <a:avLst/>
          </a:prstGeom>
          <a:solidFill>
            <a:schemeClr val="bg1"/>
          </a:solidFill>
          <a:ln w="25400" cap="sq">
            <a:solidFill>
              <a:schemeClr val="bg1">
                <a:lumMod val="95000"/>
              </a:schemeClr>
            </a:solidFill>
            <a:miter/>
          </a:ln>
          <a:effectLst>
            <a:outerShdw blurRad="127000" algn="ctr" rotWithShape="0">
              <a:schemeClr val="accent1">
                <a:alpha val="20000"/>
              </a:schemeClr>
            </a:outerShdw>
          </a:effectLst>
        </p:spPr>
        <p:txBody>
          <a:bodyPr vert="horz" wrap="square" lIns="0" tIns="0" rIns="0" bIns="0" rtlCol="0" anchor="ctr"/>
          <a:lstStyle/>
          <a:p>
            <a:pPr algn="ctr">
              <a:lnSpc>
                <a:spcPct val="110000"/>
              </a:lnSpc>
            </a:pPr>
            <a:endParaRPr kumimoji="1" lang="zh-CN" altLang="en-US"/>
          </a:p>
        </p:txBody>
      </p:sp>
      <p:sp>
        <p:nvSpPr>
          <p:cNvPr id="11" name="标题 1"/>
          <p:cNvSpPr txBox="1"/>
          <p:nvPr>
            <p:custDataLst>
              <p:tags r:id="rId6"/>
            </p:custDataLst>
          </p:nvPr>
        </p:nvSpPr>
        <p:spPr>
          <a:xfrm>
            <a:off x="8459420" y="1651190"/>
            <a:ext cx="2755131" cy="832840"/>
          </a:xfrm>
          <a:prstGeom prst="rect">
            <a:avLst/>
          </a:prstGeom>
          <a:noFill/>
          <a:ln>
            <a:noFill/>
          </a:ln>
        </p:spPr>
        <p:txBody>
          <a:bodyPr vert="horz" wrap="square" lIns="0" tIns="0" rIns="0" bIns="0" rtlCol="0" anchor="ctr">
            <a:noAutofit/>
          </a:bodyPr>
          <a:lstStyle/>
          <a:p>
            <a:pPr lvl="0" algn="r">
              <a:lnSpc>
                <a:spcPct val="130000"/>
              </a:lnSpc>
              <a:buClrTx/>
              <a:buSzTx/>
              <a:buFontTx/>
            </a:pPr>
            <a:r>
              <a:rPr kumimoji="1" lang="zh-CN" altLang="en-US"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传输层的</a:t>
            </a:r>
            <a:r>
              <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防护措施</a:t>
            </a:r>
            <a:endPar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endParaRPr>
          </a:p>
        </p:txBody>
      </p:sp>
      <p:sp>
        <p:nvSpPr>
          <p:cNvPr id="12" name="标题 1"/>
          <p:cNvSpPr txBox="1"/>
          <p:nvPr>
            <p:custDataLst>
              <p:tags r:id="rId7"/>
            </p:custDataLst>
          </p:nvPr>
        </p:nvSpPr>
        <p:spPr>
          <a:xfrm rot="16200000">
            <a:off x="7254655" y="1768918"/>
            <a:ext cx="1427862" cy="975269"/>
          </a:xfrm>
          <a:custGeom>
            <a:avLst/>
            <a:gdLst>
              <a:gd name="connsiteX0" fmla="*/ 1172998 w 1172998"/>
              <a:gd name="connsiteY0" fmla="*/ 0 h 801190"/>
              <a:gd name="connsiteX1" fmla="*/ 1172998 w 1172998"/>
              <a:gd name="connsiteY1" fmla="*/ 801190 h 801190"/>
              <a:gd name="connsiteX2" fmla="*/ 400595 w 1172998"/>
              <a:gd name="connsiteY2" fmla="*/ 801190 h 801190"/>
              <a:gd name="connsiteX3" fmla="*/ 0 w 1172998"/>
              <a:gd name="connsiteY3" fmla="*/ 400595 h 801190"/>
              <a:gd name="connsiteX4" fmla="*/ 400595 w 1172998"/>
              <a:gd name="connsiteY4" fmla="*/ 0 h 801190"/>
            </a:gdLst>
            <a:ahLst/>
            <a:cxnLst/>
            <a:rect l="l" t="t" r="r" b="b"/>
            <a:pathLst>
              <a:path w="1172998" h="801190">
                <a:moveTo>
                  <a:pt x="1172998" y="0"/>
                </a:moveTo>
                <a:lnTo>
                  <a:pt x="1172998" y="801190"/>
                </a:lnTo>
                <a:lnTo>
                  <a:pt x="400595" y="801190"/>
                </a:lnTo>
                <a:cubicBezTo>
                  <a:pt x="179352" y="801190"/>
                  <a:pt x="0" y="621838"/>
                  <a:pt x="0" y="400595"/>
                </a:cubicBezTo>
                <a:cubicBezTo>
                  <a:pt x="0" y="179352"/>
                  <a:pt x="179352" y="0"/>
                  <a:pt x="400595"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custDataLst>
              <p:tags r:id="rId8"/>
            </p:custDataLst>
          </p:nvPr>
        </p:nvSpPr>
        <p:spPr>
          <a:xfrm>
            <a:off x="7483956" y="1332410"/>
            <a:ext cx="1198546" cy="224020"/>
          </a:xfrm>
          <a:prstGeom prst="round2SameRect">
            <a:avLst>
              <a:gd name="adj1" fmla="val 50000"/>
              <a:gd name="adj2" fmla="val 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custDataLst>
              <p:tags r:id="rId9"/>
            </p:custDataLst>
          </p:nvPr>
        </p:nvSpPr>
        <p:spPr>
          <a:xfrm>
            <a:off x="8459226" y="1332410"/>
            <a:ext cx="271391" cy="224020"/>
          </a:xfrm>
          <a:custGeom>
            <a:avLst/>
            <a:gdLst>
              <a:gd name="connsiteX0" fmla="*/ 344091 w 688182"/>
              <a:gd name="connsiteY0" fmla="*/ 0 h 360510"/>
              <a:gd name="connsiteX1" fmla="*/ 688182 w 688182"/>
              <a:gd name="connsiteY1" fmla="*/ 344091 h 360510"/>
              <a:gd name="connsiteX2" fmla="*/ 686527 w 688182"/>
              <a:gd name="connsiteY2" fmla="*/ 360510 h 360510"/>
              <a:gd name="connsiteX3" fmla="*/ 1655 w 688182"/>
              <a:gd name="connsiteY3" fmla="*/ 360510 h 360510"/>
              <a:gd name="connsiteX4" fmla="*/ 0 w 688182"/>
              <a:gd name="connsiteY4" fmla="*/ 344091 h 360510"/>
              <a:gd name="connsiteX5" fmla="*/ 344091 w 688182"/>
              <a:gd name="connsiteY5" fmla="*/ 0 h 360510"/>
            </a:gdLst>
            <a:ahLst/>
            <a:cxnLst/>
            <a:rect l="l" t="t" r="r" b="b"/>
            <a:pathLst>
              <a:path w="688182" h="360510">
                <a:moveTo>
                  <a:pt x="344091" y="0"/>
                </a:moveTo>
                <a:cubicBezTo>
                  <a:pt x="534127" y="0"/>
                  <a:pt x="688182" y="154055"/>
                  <a:pt x="688182" y="344091"/>
                </a:cubicBezTo>
                <a:lnTo>
                  <a:pt x="686527" y="360510"/>
                </a:lnTo>
                <a:lnTo>
                  <a:pt x="1655" y="360510"/>
                </a:lnTo>
                <a:lnTo>
                  <a:pt x="0" y="344091"/>
                </a:lnTo>
                <a:cubicBezTo>
                  <a:pt x="0" y="154055"/>
                  <a:pt x="154055" y="0"/>
                  <a:pt x="344091" y="0"/>
                </a:cubicBezTo>
                <a:close/>
              </a:path>
            </a:pathLst>
          </a:custGeom>
          <a:solidFill>
            <a:schemeClr val="accent1">
              <a:lumMod val="7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10"/>
            </p:custDataLst>
          </p:nvPr>
        </p:nvSpPr>
        <p:spPr>
          <a:xfrm>
            <a:off x="6426835" y="3160395"/>
            <a:ext cx="4657090" cy="2823845"/>
          </a:xfrm>
          <a:prstGeom prst="rect">
            <a:avLst/>
          </a:prstGeom>
          <a:noFill/>
          <a:ln>
            <a:noFill/>
          </a:ln>
        </p:spPr>
        <p:txBody>
          <a:bodyPr vert="horz" wrap="square" lIns="0" tIns="0" rIns="0" bIns="0" rtlCol="0" anchor="t"/>
          <a:lstStyle/>
          <a:p>
            <a:pPr algn="l">
              <a:lnSpc>
                <a:spcPct val="150000"/>
              </a:lnSpc>
            </a:pP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sym typeface="+mn-ea"/>
              </a:rPr>
              <a:t>为提高传输层安全性，网景公司引入SSL，后发展为TLS，提供身份验证、完整性检验和保密性服务，降低安全风险。
</a:t>
            </a:r>
            <a:endParaRPr kumimoji="1" lang="zh-CN" altLang="en-US"/>
          </a:p>
        </p:txBody>
      </p:sp>
      <p:grpSp>
        <p:nvGrpSpPr>
          <p:cNvPr id="27" name="组合 26"/>
          <p:cNvGrpSpPr/>
          <p:nvPr>
            <p:custDataLst>
              <p:tags r:id="rId11"/>
            </p:custDataLst>
          </p:nvPr>
        </p:nvGrpSpPr>
        <p:grpSpPr>
          <a:xfrm>
            <a:off x="1964056" y="1332230"/>
            <a:ext cx="1246963" cy="1271246"/>
            <a:chOff x="3016" y="2098"/>
            <a:chExt cx="1900" cy="1937"/>
          </a:xfrm>
        </p:grpSpPr>
        <p:sp>
          <p:nvSpPr>
            <p:cNvPr id="6" name="标题 1"/>
            <p:cNvSpPr txBox="1"/>
            <p:nvPr>
              <p:custDataLst>
                <p:tags r:id="rId12"/>
              </p:custDataLst>
            </p:nvPr>
          </p:nvSpPr>
          <p:spPr>
            <a:xfrm>
              <a:off x="3016" y="2098"/>
              <a:ext cx="1826" cy="341"/>
            </a:xfrm>
            <a:prstGeom prst="round2SameRect">
              <a:avLst>
                <a:gd name="adj1" fmla="val 50000"/>
                <a:gd name="adj2" fmla="val 0"/>
              </a:avLst>
            </a:prstGeom>
            <a:solidFill>
              <a:schemeClr val="accent1"/>
            </a:solidFill>
            <a:ln cap="sq">
              <a:noFill/>
              <a:prstDash val="solid"/>
              <a:miter/>
            </a:ln>
          </p:spPr>
          <p:txBody>
            <a:bodyPr vert="horz" wrap="square" lIns="0" tIns="0" rIns="0" bIns="0" rtlCol="0" anchor="ctr"/>
            <a:lstStyle/>
            <a:p>
              <a:pPr algn="ctr">
                <a:lnSpc>
                  <a:spcPct val="110000"/>
                </a:lnSpc>
              </a:pPr>
              <a:endParaRPr kumimoji="1" lang="zh-CN" altLang="en-US"/>
            </a:p>
          </p:txBody>
        </p:sp>
        <p:sp>
          <p:nvSpPr>
            <p:cNvPr id="7" name="标题 1"/>
            <p:cNvSpPr txBox="1"/>
            <p:nvPr>
              <p:custDataLst>
                <p:tags r:id="rId13"/>
              </p:custDataLst>
            </p:nvPr>
          </p:nvSpPr>
          <p:spPr>
            <a:xfrm>
              <a:off x="4502" y="2098"/>
              <a:ext cx="414" cy="341"/>
            </a:xfrm>
            <a:custGeom>
              <a:avLst/>
              <a:gdLst>
                <a:gd name="connsiteX0" fmla="*/ 344091 w 688182"/>
                <a:gd name="connsiteY0" fmla="*/ 0 h 360510"/>
                <a:gd name="connsiteX1" fmla="*/ 688182 w 688182"/>
                <a:gd name="connsiteY1" fmla="*/ 344091 h 360510"/>
                <a:gd name="connsiteX2" fmla="*/ 686527 w 688182"/>
                <a:gd name="connsiteY2" fmla="*/ 360510 h 360510"/>
                <a:gd name="connsiteX3" fmla="*/ 1655 w 688182"/>
                <a:gd name="connsiteY3" fmla="*/ 360510 h 360510"/>
                <a:gd name="connsiteX4" fmla="*/ 0 w 688182"/>
                <a:gd name="connsiteY4" fmla="*/ 344091 h 360510"/>
                <a:gd name="connsiteX5" fmla="*/ 344091 w 688182"/>
                <a:gd name="connsiteY5" fmla="*/ 0 h 360510"/>
              </a:gdLst>
              <a:ahLst/>
              <a:cxnLst/>
              <a:rect l="l" t="t" r="r" b="b"/>
              <a:pathLst>
                <a:path w="688182" h="360510">
                  <a:moveTo>
                    <a:pt x="344091" y="0"/>
                  </a:moveTo>
                  <a:cubicBezTo>
                    <a:pt x="534127" y="0"/>
                    <a:pt x="688182" y="154055"/>
                    <a:pt x="688182" y="344091"/>
                  </a:cubicBezTo>
                  <a:lnTo>
                    <a:pt x="686527" y="360510"/>
                  </a:lnTo>
                  <a:lnTo>
                    <a:pt x="1655" y="360510"/>
                  </a:lnTo>
                  <a:lnTo>
                    <a:pt x="0" y="344091"/>
                  </a:lnTo>
                  <a:cubicBezTo>
                    <a:pt x="0" y="154055"/>
                    <a:pt x="154055" y="0"/>
                    <a:pt x="344091" y="0"/>
                  </a:cubicBezTo>
                  <a:close/>
                </a:path>
              </a:pathLst>
            </a:custGeom>
            <a:solidFill>
              <a:schemeClr val="accent1">
                <a:lumMod val="7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14"/>
              </p:custDataLst>
            </p:nvPr>
          </p:nvSpPr>
          <p:spPr>
            <a:xfrm>
              <a:off x="3087" y="2767"/>
              <a:ext cx="1266" cy="1269"/>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01</a:t>
              </a:r>
              <a:endParaRPr kumimoji="1" lang="zh-CN" altLang="en-US"/>
            </a:p>
          </p:txBody>
        </p:sp>
      </p:grpSp>
      <p:sp>
        <p:nvSpPr>
          <p:cNvPr id="18" name="标题 1"/>
          <p:cNvSpPr txBox="1"/>
          <p:nvPr>
            <p:custDataLst>
              <p:tags r:id="rId15"/>
            </p:custDataLst>
          </p:nvPr>
        </p:nvSpPr>
        <p:spPr>
          <a:xfrm>
            <a:off x="7549437" y="1771522"/>
            <a:ext cx="831143" cy="832617"/>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02</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152400" y="298450"/>
            <a:ext cx="11505565" cy="583565"/>
          </a:xfrm>
        </p:spPr>
        <p:txBody>
          <a:bodyPr/>
          <a:p>
            <a:r>
              <a:rPr lang="en-US" altLang="zh-CN" dirty="0">
                <a:latin typeface="+mj-ea"/>
                <a:sym typeface="+mn-ea"/>
              </a:rPr>
              <a:t>1.4.3 </a:t>
            </a:r>
            <a:r>
              <a:rPr lang="en-US" altLang="zh-CN" dirty="0">
                <a:latin typeface="+mj-ea"/>
                <a:sym typeface="+mn-ea"/>
              </a:rPr>
              <a:t>TCP/IP</a:t>
            </a:r>
            <a:r>
              <a:rPr lang="zh-CN" altLang="en-US" dirty="0">
                <a:latin typeface="+mj-ea"/>
                <a:sym typeface="+mn-ea"/>
              </a:rPr>
              <a:t>协议安全的体系结构</a:t>
            </a:r>
            <a:r>
              <a:rPr lang="en-US" altLang="zh-CN" dirty="0">
                <a:latin typeface="+mj-ea"/>
                <a:sym typeface="+mn-ea"/>
              </a:rPr>
              <a:t>——</a:t>
            </a:r>
            <a:r>
              <a:rPr lang="zh-CN" altLang="en-US" dirty="0">
                <a:latin typeface="+mj-ea"/>
                <a:sym typeface="+mn-ea"/>
              </a:rPr>
              <a:t>应用层的安全性</a:t>
            </a:r>
            <a:endParaRPr lang="zh-CN" altLang="en-US"/>
          </a:p>
        </p:txBody>
      </p:sp>
      <p:sp>
        <p:nvSpPr>
          <p:cNvPr id="3" name="标题 1"/>
          <p:cNvSpPr txBox="1"/>
          <p:nvPr>
            <p:custDataLst>
              <p:tags r:id="rId1"/>
            </p:custDataLst>
          </p:nvPr>
        </p:nvSpPr>
        <p:spPr>
          <a:xfrm>
            <a:off x="457200" y="1551433"/>
            <a:ext cx="5419038" cy="4783743"/>
          </a:xfrm>
          <a:prstGeom prst="rect">
            <a:avLst/>
          </a:prstGeom>
          <a:solidFill>
            <a:schemeClr val="bg1"/>
          </a:solidFill>
          <a:ln w="25400" cap="sq">
            <a:solidFill>
              <a:schemeClr val="bg1">
                <a:lumMod val="95000"/>
              </a:schemeClr>
            </a:solidFill>
            <a:miter/>
          </a:ln>
          <a:effectLst>
            <a:outerShdw blurRad="127000" algn="ctr" rotWithShape="0">
              <a:schemeClr val="accent1">
                <a:alpha val="20000"/>
              </a:schemeClr>
            </a:outerShdw>
          </a:effectLst>
        </p:spPr>
        <p:txBody>
          <a:bodyPr vert="horz" wrap="square" lIns="0" tIns="0" rIns="0" bIns="0" rtlCol="0" anchor="ctr"/>
          <a:lstStyle/>
          <a:p>
            <a:pPr algn="ctr">
              <a:lnSpc>
                <a:spcPct val="110000"/>
              </a:lnSpc>
            </a:pPr>
            <a:endParaRPr kumimoji="1" lang="zh-CN" altLang="en-US"/>
          </a:p>
        </p:txBody>
      </p:sp>
      <p:sp>
        <p:nvSpPr>
          <p:cNvPr id="4" name="标题 1"/>
          <p:cNvSpPr txBox="1"/>
          <p:nvPr>
            <p:custDataLst>
              <p:tags r:id="rId2"/>
            </p:custDataLst>
          </p:nvPr>
        </p:nvSpPr>
        <p:spPr>
          <a:xfrm>
            <a:off x="3156940" y="1622132"/>
            <a:ext cx="2405812" cy="832617"/>
          </a:xfrm>
          <a:prstGeom prst="rect">
            <a:avLst/>
          </a:prstGeom>
          <a:noFill/>
          <a:ln>
            <a:noFill/>
          </a:ln>
        </p:spPr>
        <p:txBody>
          <a:bodyPr vert="horz" wrap="square" lIns="0" tIns="0" rIns="0" bIns="0" rtlCol="0" anchor="ctr"/>
          <a:lstStyle/>
          <a:p>
            <a:pPr algn="r">
              <a:lnSpc>
                <a:spcPct val="130000"/>
              </a:lnSpc>
            </a:pPr>
            <a:r>
              <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rPr>
              <a:t>应用层安全风险</a:t>
            </a:r>
            <a:endPar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
        <p:nvSpPr>
          <p:cNvPr id="5" name="标题 1"/>
          <p:cNvSpPr txBox="1"/>
          <p:nvPr>
            <p:custDataLst>
              <p:tags r:id="rId3"/>
            </p:custDataLst>
          </p:nvPr>
        </p:nvSpPr>
        <p:spPr>
          <a:xfrm rot="16200000">
            <a:off x="1734612" y="1768918"/>
            <a:ext cx="1427862" cy="975269"/>
          </a:xfrm>
          <a:custGeom>
            <a:avLst/>
            <a:gdLst>
              <a:gd name="connsiteX0" fmla="*/ 1172998 w 1172998"/>
              <a:gd name="connsiteY0" fmla="*/ 0 h 801190"/>
              <a:gd name="connsiteX1" fmla="*/ 1172998 w 1172998"/>
              <a:gd name="connsiteY1" fmla="*/ 801190 h 801190"/>
              <a:gd name="connsiteX2" fmla="*/ 400595 w 1172998"/>
              <a:gd name="connsiteY2" fmla="*/ 801190 h 801190"/>
              <a:gd name="connsiteX3" fmla="*/ 0 w 1172998"/>
              <a:gd name="connsiteY3" fmla="*/ 400595 h 801190"/>
              <a:gd name="connsiteX4" fmla="*/ 400595 w 1172998"/>
              <a:gd name="connsiteY4" fmla="*/ 0 h 801190"/>
            </a:gdLst>
            <a:ahLst/>
            <a:cxnLst/>
            <a:rect l="l" t="t" r="r" b="b"/>
            <a:pathLst>
              <a:path w="1172998" h="801190">
                <a:moveTo>
                  <a:pt x="1172998" y="0"/>
                </a:moveTo>
                <a:lnTo>
                  <a:pt x="1172998" y="801190"/>
                </a:lnTo>
                <a:lnTo>
                  <a:pt x="400595" y="801190"/>
                </a:lnTo>
                <a:cubicBezTo>
                  <a:pt x="179352" y="801190"/>
                  <a:pt x="0" y="621838"/>
                  <a:pt x="0" y="400595"/>
                </a:cubicBezTo>
                <a:cubicBezTo>
                  <a:pt x="0" y="179352"/>
                  <a:pt x="179352" y="0"/>
                  <a:pt x="400595"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custDataLst>
              <p:tags r:id="rId4"/>
            </p:custDataLst>
          </p:nvPr>
        </p:nvSpPr>
        <p:spPr>
          <a:xfrm>
            <a:off x="457856" y="2914560"/>
            <a:ext cx="5267433" cy="3421272"/>
          </a:xfrm>
          <a:prstGeom prst="rect">
            <a:avLst/>
          </a:prstGeom>
          <a:noFill/>
          <a:ln>
            <a:noFill/>
          </a:ln>
        </p:spPr>
        <p:txBody>
          <a:bodyPr vert="horz" wrap="square" lIns="0" tIns="0" rIns="0" bIns="0" rtlCol="0" anchor="t"/>
          <a:lstStyle/>
          <a:p>
            <a:pPr algn="l">
              <a:lnSpc>
                <a:spcPct val="150000"/>
              </a:lnSpc>
              <a:buClrTx/>
              <a:buSzTx/>
              <a:buFontTx/>
            </a:pP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应用层协议是面向应用程序的通信协议，易遭缓冲区溢出攻击、SQL注入、跨站脚本攻击(XSS)、数据泄露等攻击。例如，SQL注入攻击可使攻击者绕过正常的身份验证，访问或修改数据库中的敏感信息。</a:t>
            </a:r>
            <a:endPar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0" name="标题 1"/>
          <p:cNvSpPr txBox="1"/>
          <p:nvPr>
            <p:custDataLst>
              <p:tags r:id="rId5"/>
            </p:custDataLst>
          </p:nvPr>
        </p:nvSpPr>
        <p:spPr>
          <a:xfrm>
            <a:off x="6309995" y="1551305"/>
            <a:ext cx="5086350" cy="4783455"/>
          </a:xfrm>
          <a:prstGeom prst="rect">
            <a:avLst/>
          </a:prstGeom>
          <a:solidFill>
            <a:schemeClr val="bg1"/>
          </a:solidFill>
          <a:ln w="25400" cap="sq">
            <a:solidFill>
              <a:schemeClr val="bg1">
                <a:lumMod val="95000"/>
              </a:schemeClr>
            </a:solidFill>
            <a:miter/>
          </a:ln>
          <a:effectLst>
            <a:outerShdw blurRad="127000" algn="ctr" rotWithShape="0">
              <a:schemeClr val="accent1">
                <a:alpha val="20000"/>
              </a:schemeClr>
            </a:outerShdw>
          </a:effectLst>
        </p:spPr>
        <p:txBody>
          <a:bodyPr vert="horz" wrap="square" lIns="0" tIns="0" rIns="0" bIns="0" rtlCol="0" anchor="ctr"/>
          <a:lstStyle/>
          <a:p>
            <a:pPr algn="ctr">
              <a:lnSpc>
                <a:spcPct val="110000"/>
              </a:lnSpc>
            </a:pPr>
            <a:endParaRPr kumimoji="1" lang="zh-CN" altLang="en-US"/>
          </a:p>
        </p:txBody>
      </p:sp>
      <p:sp>
        <p:nvSpPr>
          <p:cNvPr id="11" name="标题 1"/>
          <p:cNvSpPr txBox="1"/>
          <p:nvPr>
            <p:custDataLst>
              <p:tags r:id="rId6"/>
            </p:custDataLst>
          </p:nvPr>
        </p:nvSpPr>
        <p:spPr>
          <a:xfrm>
            <a:off x="8459420" y="1651190"/>
            <a:ext cx="2755131" cy="832840"/>
          </a:xfrm>
          <a:prstGeom prst="rect">
            <a:avLst/>
          </a:prstGeom>
          <a:noFill/>
          <a:ln>
            <a:noFill/>
          </a:ln>
        </p:spPr>
        <p:txBody>
          <a:bodyPr vert="horz" wrap="square" lIns="0" tIns="0" rIns="0" bIns="0" rtlCol="0" anchor="ctr">
            <a:noAutofit/>
          </a:bodyPr>
          <a:lstStyle/>
          <a:p>
            <a:pPr lvl="0" algn="r">
              <a:lnSpc>
                <a:spcPct val="130000"/>
              </a:lnSpc>
              <a:buClrTx/>
              <a:buSzTx/>
              <a:buFontTx/>
            </a:pPr>
            <a:r>
              <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应用层</a:t>
            </a:r>
            <a:r>
              <a:rPr kumimoji="1" lang="zh-CN" altLang="en-US"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的</a:t>
            </a:r>
            <a:r>
              <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防护措施</a:t>
            </a:r>
            <a:endParaRPr kumimoji="1" lang="en-US" altLang="zh-CN" sz="2600" b="1">
              <a:ln w="12700">
                <a:noFill/>
              </a:ln>
              <a:solidFill>
                <a:srgbClr val="5B9BD5">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endParaRPr>
          </a:p>
        </p:txBody>
      </p:sp>
      <p:sp>
        <p:nvSpPr>
          <p:cNvPr id="12" name="标题 1"/>
          <p:cNvSpPr txBox="1"/>
          <p:nvPr>
            <p:custDataLst>
              <p:tags r:id="rId7"/>
            </p:custDataLst>
          </p:nvPr>
        </p:nvSpPr>
        <p:spPr>
          <a:xfrm rot="16200000">
            <a:off x="7254655" y="1768918"/>
            <a:ext cx="1427862" cy="975269"/>
          </a:xfrm>
          <a:custGeom>
            <a:avLst/>
            <a:gdLst>
              <a:gd name="connsiteX0" fmla="*/ 1172998 w 1172998"/>
              <a:gd name="connsiteY0" fmla="*/ 0 h 801190"/>
              <a:gd name="connsiteX1" fmla="*/ 1172998 w 1172998"/>
              <a:gd name="connsiteY1" fmla="*/ 801190 h 801190"/>
              <a:gd name="connsiteX2" fmla="*/ 400595 w 1172998"/>
              <a:gd name="connsiteY2" fmla="*/ 801190 h 801190"/>
              <a:gd name="connsiteX3" fmla="*/ 0 w 1172998"/>
              <a:gd name="connsiteY3" fmla="*/ 400595 h 801190"/>
              <a:gd name="connsiteX4" fmla="*/ 400595 w 1172998"/>
              <a:gd name="connsiteY4" fmla="*/ 0 h 801190"/>
            </a:gdLst>
            <a:ahLst/>
            <a:cxnLst/>
            <a:rect l="l" t="t" r="r" b="b"/>
            <a:pathLst>
              <a:path w="1172998" h="801190">
                <a:moveTo>
                  <a:pt x="1172998" y="0"/>
                </a:moveTo>
                <a:lnTo>
                  <a:pt x="1172998" y="801190"/>
                </a:lnTo>
                <a:lnTo>
                  <a:pt x="400595" y="801190"/>
                </a:lnTo>
                <a:cubicBezTo>
                  <a:pt x="179352" y="801190"/>
                  <a:pt x="0" y="621838"/>
                  <a:pt x="0" y="400595"/>
                </a:cubicBezTo>
                <a:cubicBezTo>
                  <a:pt x="0" y="179352"/>
                  <a:pt x="179352" y="0"/>
                  <a:pt x="400595"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custDataLst>
              <p:tags r:id="rId8"/>
            </p:custDataLst>
          </p:nvPr>
        </p:nvSpPr>
        <p:spPr>
          <a:xfrm>
            <a:off x="7483956" y="1332410"/>
            <a:ext cx="1198546" cy="224020"/>
          </a:xfrm>
          <a:prstGeom prst="round2SameRect">
            <a:avLst>
              <a:gd name="adj1" fmla="val 50000"/>
              <a:gd name="adj2" fmla="val 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custDataLst>
              <p:tags r:id="rId9"/>
            </p:custDataLst>
          </p:nvPr>
        </p:nvSpPr>
        <p:spPr>
          <a:xfrm>
            <a:off x="8459226" y="1332410"/>
            <a:ext cx="271391" cy="224020"/>
          </a:xfrm>
          <a:custGeom>
            <a:avLst/>
            <a:gdLst>
              <a:gd name="connsiteX0" fmla="*/ 344091 w 688182"/>
              <a:gd name="connsiteY0" fmla="*/ 0 h 360510"/>
              <a:gd name="connsiteX1" fmla="*/ 688182 w 688182"/>
              <a:gd name="connsiteY1" fmla="*/ 344091 h 360510"/>
              <a:gd name="connsiteX2" fmla="*/ 686527 w 688182"/>
              <a:gd name="connsiteY2" fmla="*/ 360510 h 360510"/>
              <a:gd name="connsiteX3" fmla="*/ 1655 w 688182"/>
              <a:gd name="connsiteY3" fmla="*/ 360510 h 360510"/>
              <a:gd name="connsiteX4" fmla="*/ 0 w 688182"/>
              <a:gd name="connsiteY4" fmla="*/ 344091 h 360510"/>
              <a:gd name="connsiteX5" fmla="*/ 344091 w 688182"/>
              <a:gd name="connsiteY5" fmla="*/ 0 h 360510"/>
            </a:gdLst>
            <a:ahLst/>
            <a:cxnLst/>
            <a:rect l="l" t="t" r="r" b="b"/>
            <a:pathLst>
              <a:path w="688182" h="360510">
                <a:moveTo>
                  <a:pt x="344091" y="0"/>
                </a:moveTo>
                <a:cubicBezTo>
                  <a:pt x="534127" y="0"/>
                  <a:pt x="688182" y="154055"/>
                  <a:pt x="688182" y="344091"/>
                </a:cubicBezTo>
                <a:lnTo>
                  <a:pt x="686527" y="360510"/>
                </a:lnTo>
                <a:lnTo>
                  <a:pt x="1655" y="360510"/>
                </a:lnTo>
                <a:lnTo>
                  <a:pt x="0" y="344091"/>
                </a:lnTo>
                <a:cubicBezTo>
                  <a:pt x="0" y="154055"/>
                  <a:pt x="154055" y="0"/>
                  <a:pt x="344091" y="0"/>
                </a:cubicBezTo>
                <a:close/>
              </a:path>
            </a:pathLst>
          </a:custGeom>
          <a:solidFill>
            <a:schemeClr val="accent1">
              <a:lumMod val="7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custDataLst>
              <p:tags r:id="rId10"/>
            </p:custDataLst>
          </p:nvPr>
        </p:nvSpPr>
        <p:spPr>
          <a:xfrm>
            <a:off x="6426835" y="3160395"/>
            <a:ext cx="4657090" cy="2823845"/>
          </a:xfrm>
          <a:prstGeom prst="rect">
            <a:avLst/>
          </a:prstGeom>
          <a:noFill/>
          <a:ln>
            <a:noFill/>
          </a:ln>
        </p:spPr>
        <p:txBody>
          <a:bodyPr vert="horz" wrap="square" lIns="0" tIns="0" rIns="0" bIns="0" rtlCol="0" anchor="t"/>
          <a:lstStyle/>
          <a:p>
            <a:pPr algn="l">
              <a:lnSpc>
                <a:spcPct val="150000"/>
              </a:lnSpc>
            </a:pPr>
            <a:r>
              <a:rPr kumimoji="1" lang="en-US" altLang="zh-CN" sz="2400" b="1">
                <a:ln w="12700">
                  <a:noFill/>
                </a:ln>
                <a:solidFill>
                  <a:srgbClr val="262626">
                    <a:alpha val="100000"/>
                  </a:srgbClr>
                </a:solidFill>
                <a:latin typeface="Times New Roman" panose="02020603050405020304" charset="0"/>
                <a:ea typeface="宋体" panose="02010600030101010101" pitchFamily="2" charset="-122"/>
                <a:cs typeface="Times New Roman" panose="02020603050405020304" charset="0"/>
              </a:rPr>
              <a:t>通过用户身份认证、加密技术、应用层防火墙、数据脱敏备份、零信任模型，以及添加新的安全协议等措施，构建多层次、全方位的安全防护体系，提高应用层安全性。
</a:t>
            </a:r>
            <a:endParaRPr kumimoji="1" lang="zh-CN" altLang="en-US"/>
          </a:p>
        </p:txBody>
      </p:sp>
      <p:grpSp>
        <p:nvGrpSpPr>
          <p:cNvPr id="27" name="组合 26"/>
          <p:cNvGrpSpPr/>
          <p:nvPr>
            <p:custDataLst>
              <p:tags r:id="rId11"/>
            </p:custDataLst>
          </p:nvPr>
        </p:nvGrpSpPr>
        <p:grpSpPr>
          <a:xfrm>
            <a:off x="1964056" y="1332230"/>
            <a:ext cx="1246963" cy="1271246"/>
            <a:chOff x="3016" y="2098"/>
            <a:chExt cx="1900" cy="1937"/>
          </a:xfrm>
        </p:grpSpPr>
        <p:sp>
          <p:nvSpPr>
            <p:cNvPr id="6" name="标题 1"/>
            <p:cNvSpPr txBox="1"/>
            <p:nvPr>
              <p:custDataLst>
                <p:tags r:id="rId12"/>
              </p:custDataLst>
            </p:nvPr>
          </p:nvSpPr>
          <p:spPr>
            <a:xfrm>
              <a:off x="3016" y="2098"/>
              <a:ext cx="1826" cy="341"/>
            </a:xfrm>
            <a:prstGeom prst="round2SameRect">
              <a:avLst>
                <a:gd name="adj1" fmla="val 50000"/>
                <a:gd name="adj2" fmla="val 0"/>
              </a:avLst>
            </a:prstGeom>
            <a:solidFill>
              <a:schemeClr val="accent1"/>
            </a:solidFill>
            <a:ln cap="sq">
              <a:noFill/>
              <a:prstDash val="solid"/>
              <a:miter/>
            </a:ln>
          </p:spPr>
          <p:txBody>
            <a:bodyPr vert="horz" wrap="square" lIns="0" tIns="0" rIns="0" bIns="0" rtlCol="0" anchor="ctr"/>
            <a:lstStyle/>
            <a:p>
              <a:pPr algn="ctr">
                <a:lnSpc>
                  <a:spcPct val="110000"/>
                </a:lnSpc>
              </a:pPr>
              <a:endParaRPr kumimoji="1" lang="zh-CN" altLang="en-US"/>
            </a:p>
          </p:txBody>
        </p:sp>
        <p:sp>
          <p:nvSpPr>
            <p:cNvPr id="7" name="标题 1"/>
            <p:cNvSpPr txBox="1"/>
            <p:nvPr>
              <p:custDataLst>
                <p:tags r:id="rId13"/>
              </p:custDataLst>
            </p:nvPr>
          </p:nvSpPr>
          <p:spPr>
            <a:xfrm>
              <a:off x="4502" y="2098"/>
              <a:ext cx="414" cy="341"/>
            </a:xfrm>
            <a:custGeom>
              <a:avLst/>
              <a:gdLst>
                <a:gd name="connsiteX0" fmla="*/ 344091 w 688182"/>
                <a:gd name="connsiteY0" fmla="*/ 0 h 360510"/>
                <a:gd name="connsiteX1" fmla="*/ 688182 w 688182"/>
                <a:gd name="connsiteY1" fmla="*/ 344091 h 360510"/>
                <a:gd name="connsiteX2" fmla="*/ 686527 w 688182"/>
                <a:gd name="connsiteY2" fmla="*/ 360510 h 360510"/>
                <a:gd name="connsiteX3" fmla="*/ 1655 w 688182"/>
                <a:gd name="connsiteY3" fmla="*/ 360510 h 360510"/>
                <a:gd name="connsiteX4" fmla="*/ 0 w 688182"/>
                <a:gd name="connsiteY4" fmla="*/ 344091 h 360510"/>
                <a:gd name="connsiteX5" fmla="*/ 344091 w 688182"/>
                <a:gd name="connsiteY5" fmla="*/ 0 h 360510"/>
              </a:gdLst>
              <a:ahLst/>
              <a:cxnLst/>
              <a:rect l="l" t="t" r="r" b="b"/>
              <a:pathLst>
                <a:path w="688182" h="360510">
                  <a:moveTo>
                    <a:pt x="344091" y="0"/>
                  </a:moveTo>
                  <a:cubicBezTo>
                    <a:pt x="534127" y="0"/>
                    <a:pt x="688182" y="154055"/>
                    <a:pt x="688182" y="344091"/>
                  </a:cubicBezTo>
                  <a:lnTo>
                    <a:pt x="686527" y="360510"/>
                  </a:lnTo>
                  <a:lnTo>
                    <a:pt x="1655" y="360510"/>
                  </a:lnTo>
                  <a:lnTo>
                    <a:pt x="0" y="344091"/>
                  </a:lnTo>
                  <a:cubicBezTo>
                    <a:pt x="0" y="154055"/>
                    <a:pt x="154055" y="0"/>
                    <a:pt x="344091" y="0"/>
                  </a:cubicBezTo>
                  <a:close/>
                </a:path>
              </a:pathLst>
            </a:custGeom>
            <a:solidFill>
              <a:schemeClr val="accent1">
                <a:lumMod val="7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custDataLst>
                <p:tags r:id="rId14"/>
              </p:custDataLst>
            </p:nvPr>
          </p:nvSpPr>
          <p:spPr>
            <a:xfrm>
              <a:off x="3087" y="2767"/>
              <a:ext cx="1266" cy="1269"/>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01</a:t>
              </a:r>
              <a:endParaRPr kumimoji="1" lang="zh-CN" altLang="en-US"/>
            </a:p>
          </p:txBody>
        </p:sp>
      </p:grpSp>
      <p:sp>
        <p:nvSpPr>
          <p:cNvPr id="18" name="标题 1"/>
          <p:cNvSpPr txBox="1"/>
          <p:nvPr>
            <p:custDataLst>
              <p:tags r:id="rId15"/>
            </p:custDataLst>
          </p:nvPr>
        </p:nvSpPr>
        <p:spPr>
          <a:xfrm>
            <a:off x="7549437" y="1771522"/>
            <a:ext cx="831143" cy="832617"/>
          </a:xfrm>
          <a:prstGeom prst="rect">
            <a:avLst/>
          </a:prstGeom>
          <a:noFill/>
          <a:ln>
            <a:noFill/>
          </a:ln>
        </p:spPr>
        <p:txBody>
          <a:bodyPr vert="horz" wrap="square" lIns="0" tIns="0" rIns="0" bIns="0" rtlCol="0" anchor="ctr"/>
          <a:lstStyle/>
          <a:p>
            <a:pPr algn="ctr">
              <a:lnSpc>
                <a:spcPct val="130000"/>
              </a:lnSpc>
            </a:pPr>
            <a:r>
              <a:rPr kumimoji="1" lang="en-US" altLang="zh-CN" sz="32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02</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custDataLst>
              <p:tags r:id="rId1"/>
            </p:custDataLst>
          </p:nvPr>
        </p:nvSpPr>
        <p:spPr>
          <a:xfrm>
            <a:off x="-5081" y="106880"/>
            <a:ext cx="6581140" cy="860425"/>
          </a:xfrm>
          <a:prstGeom prst="rect">
            <a:avLst/>
          </a:prstGeom>
          <a:noFill/>
        </p:spPr>
        <p:txBody>
          <a:bodyPr wrap="none" lIns="91440" tIns="45720" rIns="91440" bIns="45720">
            <a:spAutoFit/>
          </a:bodyPr>
          <a:p>
            <a:pPr algn="ctr">
              <a:lnSpc>
                <a:spcPct val="125000"/>
              </a:lnSpc>
            </a:pP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第二章</a:t>
            </a:r>
            <a:r>
              <a:rPr lang="en-US" altLang="zh-CN"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  </a:t>
            </a: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网络接口层协议安全</a:t>
            </a:r>
            <a:endPar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endParaRPr>
          </a:p>
        </p:txBody>
      </p:sp>
      <p:grpSp>
        <p:nvGrpSpPr>
          <p:cNvPr id="22" name="组合 21"/>
          <p:cNvGrpSpPr/>
          <p:nvPr>
            <p:custDataLst>
              <p:tags r:id="rId2"/>
            </p:custDataLst>
          </p:nvPr>
        </p:nvGrpSpPr>
        <p:grpSpPr>
          <a:xfrm rot="0">
            <a:off x="2994025" y="1157605"/>
            <a:ext cx="6081395" cy="574040"/>
            <a:chOff x="1592243" y="802566"/>
            <a:chExt cx="5636475" cy="499963"/>
          </a:xfrm>
        </p:grpSpPr>
        <p:sp>
          <p:nvSpPr>
            <p:cNvPr id="5" name="矩形 4"/>
            <p:cNvSpPr/>
            <p:nvPr>
              <p:custDataLst>
                <p:tags r:id="rId3"/>
              </p:custDataLst>
            </p:nvPr>
          </p:nvSpPr>
          <p:spPr>
            <a:xfrm>
              <a:off x="1592243" y="802567"/>
              <a:ext cx="1027894" cy="499962"/>
            </a:xfrm>
            <a:prstGeom prst="rect">
              <a:avLst/>
            </a:prstGeom>
            <a:solidFill>
              <a:schemeClr val="accent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2.1</a:t>
              </a:r>
              <a:endParaRPr lang="en-US" altLang="zh-CN" sz="2800" b="1" spc="300" dirty="0">
                <a:latin typeface="Impact" panose="020B0806030902050204" pitchFamily="34" charset="0"/>
              </a:endParaRPr>
            </a:p>
          </p:txBody>
        </p:sp>
        <p:sp>
          <p:nvSpPr>
            <p:cNvPr id="6" name="矩形 5"/>
            <p:cNvSpPr/>
            <p:nvPr>
              <p:custDataLst>
                <p:tags r:id="rId4"/>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网络接口层概述</a:t>
              </a:r>
              <a:endParaRPr lang="zh-CN" altLang="en-US" sz="2800" b="1" spc="300" dirty="0">
                <a:solidFill>
                  <a:schemeClr val="tx1"/>
                </a:solidFill>
                <a:latin typeface="Impact" panose="020B0806030902050204" pitchFamily="34" charset="0"/>
              </a:endParaRPr>
            </a:p>
          </p:txBody>
        </p:sp>
      </p:grpSp>
      <p:grpSp>
        <p:nvGrpSpPr>
          <p:cNvPr id="42" name="组合 41"/>
          <p:cNvGrpSpPr/>
          <p:nvPr>
            <p:custDataLst>
              <p:tags r:id="rId5"/>
            </p:custDataLst>
          </p:nvPr>
        </p:nvGrpSpPr>
        <p:grpSpPr>
          <a:xfrm rot="0">
            <a:off x="2994025" y="1986915"/>
            <a:ext cx="6081395" cy="574040"/>
            <a:chOff x="1592243" y="802566"/>
            <a:chExt cx="5636475" cy="499963"/>
          </a:xfrm>
        </p:grpSpPr>
        <p:sp>
          <p:nvSpPr>
            <p:cNvPr id="43" name="矩形 42"/>
            <p:cNvSpPr/>
            <p:nvPr>
              <p:custDataLst>
                <p:tags r:id="rId6"/>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2.2</a:t>
              </a:r>
              <a:endParaRPr lang="en-US" altLang="zh-CN" sz="2800" b="1" spc="300" dirty="0">
                <a:latin typeface="Impact" panose="020B0806030902050204" pitchFamily="34" charset="0"/>
              </a:endParaRPr>
            </a:p>
          </p:txBody>
        </p:sp>
        <p:sp>
          <p:nvSpPr>
            <p:cNvPr id="44" name="矩形 43"/>
            <p:cNvSpPr/>
            <p:nvPr>
              <p:custDataLst>
                <p:tags r:id="rId7"/>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PPP</a:t>
              </a:r>
              <a:r>
                <a:rPr lang="zh-CN" altLang="en-US" sz="2800" b="1" spc="300" dirty="0">
                  <a:solidFill>
                    <a:schemeClr val="tx1"/>
                  </a:solidFill>
                  <a:latin typeface="Impact" panose="020B0806030902050204" pitchFamily="34" charset="0"/>
                </a:rPr>
                <a:t>协议</a:t>
              </a:r>
              <a:endParaRPr lang="zh-CN" altLang="en-US" sz="2800" b="1" spc="300" dirty="0">
                <a:solidFill>
                  <a:schemeClr val="tx1"/>
                </a:solidFill>
                <a:latin typeface="Impact" panose="020B0806030902050204" pitchFamily="34" charset="0"/>
              </a:endParaRPr>
            </a:p>
          </p:txBody>
        </p:sp>
      </p:grpSp>
      <p:grpSp>
        <p:nvGrpSpPr>
          <p:cNvPr id="45" name="组合 44"/>
          <p:cNvGrpSpPr/>
          <p:nvPr>
            <p:custDataLst>
              <p:tags r:id="rId8"/>
            </p:custDataLst>
          </p:nvPr>
        </p:nvGrpSpPr>
        <p:grpSpPr>
          <a:xfrm rot="0">
            <a:off x="2994025" y="2862580"/>
            <a:ext cx="6081395" cy="574040"/>
            <a:chOff x="1592243" y="802566"/>
            <a:chExt cx="5636475" cy="499963"/>
          </a:xfrm>
        </p:grpSpPr>
        <p:sp>
          <p:nvSpPr>
            <p:cNvPr id="46" name="矩形 45"/>
            <p:cNvSpPr/>
            <p:nvPr>
              <p:custDataLst>
                <p:tags r:id="rId9"/>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2.3</a:t>
              </a:r>
              <a:endParaRPr lang="en-US" altLang="zh-CN" sz="2800" b="1" spc="300" dirty="0">
                <a:latin typeface="Impact" panose="020B0806030902050204" pitchFamily="34" charset="0"/>
              </a:endParaRPr>
            </a:p>
          </p:txBody>
        </p:sp>
        <p:sp>
          <p:nvSpPr>
            <p:cNvPr id="47" name="矩形 46"/>
            <p:cNvSpPr/>
            <p:nvPr>
              <p:custDataLst>
                <p:tags r:id="rId10"/>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L2TP</a:t>
              </a:r>
              <a:r>
                <a:rPr lang="zh-CN" altLang="en-US" sz="2800" b="1" spc="300" dirty="0">
                  <a:solidFill>
                    <a:schemeClr val="tx1"/>
                  </a:solidFill>
                  <a:latin typeface="Impact" panose="020B0806030902050204" pitchFamily="34" charset="0"/>
                </a:rPr>
                <a:t>协议</a:t>
              </a:r>
              <a:endParaRPr lang="zh-CN" altLang="en-US" sz="2800" b="1" spc="300" dirty="0">
                <a:solidFill>
                  <a:schemeClr val="tx1"/>
                </a:solidFill>
                <a:latin typeface="Impact" panose="020B0806030902050204" pitchFamily="34" charset="0"/>
              </a:endParaRPr>
            </a:p>
          </p:txBody>
        </p:sp>
      </p:grpSp>
      <p:grpSp>
        <p:nvGrpSpPr>
          <p:cNvPr id="48" name="组合 47"/>
          <p:cNvGrpSpPr/>
          <p:nvPr>
            <p:custDataLst>
              <p:tags r:id="rId11"/>
            </p:custDataLst>
          </p:nvPr>
        </p:nvGrpSpPr>
        <p:grpSpPr>
          <a:xfrm rot="0">
            <a:off x="2994025" y="3783330"/>
            <a:ext cx="6081395" cy="574040"/>
            <a:chOff x="1592243" y="802566"/>
            <a:chExt cx="5636475" cy="499963"/>
          </a:xfrm>
        </p:grpSpPr>
        <p:sp>
          <p:nvSpPr>
            <p:cNvPr id="49" name="矩形 48"/>
            <p:cNvSpPr/>
            <p:nvPr>
              <p:custDataLst>
                <p:tags r:id="rId12"/>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2.4</a:t>
              </a:r>
              <a:endParaRPr lang="en-US" altLang="zh-CN" sz="2800" b="1" spc="300" dirty="0">
                <a:latin typeface="Impact" panose="020B0806030902050204" pitchFamily="34" charset="0"/>
              </a:endParaRPr>
            </a:p>
          </p:txBody>
        </p:sp>
        <p:sp>
          <p:nvSpPr>
            <p:cNvPr id="50" name="矩形 49"/>
            <p:cNvSpPr/>
            <p:nvPr>
              <p:custDataLst>
                <p:tags r:id="rId13"/>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以太网协议</a:t>
              </a:r>
              <a:endParaRPr lang="en-US" altLang="zh-CN" sz="2800" b="1" spc="300" dirty="0">
                <a:solidFill>
                  <a:schemeClr val="tx1"/>
                </a:solidFill>
                <a:latin typeface="Impact" panose="020B0806030902050204" pitchFamily="34" charset="0"/>
              </a:endParaRPr>
            </a:p>
          </p:txBody>
        </p:sp>
      </p:grpSp>
      <p:grpSp>
        <p:nvGrpSpPr>
          <p:cNvPr id="51" name="组合 50"/>
          <p:cNvGrpSpPr/>
          <p:nvPr>
            <p:custDataLst>
              <p:tags r:id="rId14"/>
            </p:custDataLst>
          </p:nvPr>
        </p:nvGrpSpPr>
        <p:grpSpPr>
          <a:xfrm rot="0">
            <a:off x="2994025" y="4689475"/>
            <a:ext cx="6081395" cy="574040"/>
            <a:chOff x="1592243" y="802566"/>
            <a:chExt cx="5636475" cy="499963"/>
          </a:xfrm>
        </p:grpSpPr>
        <p:sp>
          <p:nvSpPr>
            <p:cNvPr id="52" name="矩形 51"/>
            <p:cNvSpPr/>
            <p:nvPr>
              <p:custDataLst>
                <p:tags r:id="rId15"/>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2.5</a:t>
              </a:r>
              <a:endParaRPr lang="en-US" altLang="zh-CN" sz="2800" b="1" spc="300" dirty="0">
                <a:latin typeface="Impact" panose="020B0806030902050204" pitchFamily="34" charset="0"/>
              </a:endParaRPr>
            </a:p>
          </p:txBody>
        </p:sp>
        <p:sp>
          <p:nvSpPr>
            <p:cNvPr id="53" name="矩形 52"/>
            <p:cNvSpPr/>
            <p:nvPr>
              <p:custDataLst>
                <p:tags r:id="rId16"/>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solidFill>
                    <a:schemeClr val="tx1"/>
                  </a:solidFill>
                  <a:latin typeface="Impact" panose="020B0806030902050204" pitchFamily="34" charset="0"/>
                </a:rPr>
                <a:t>PPPoE</a:t>
              </a:r>
              <a:r>
                <a:rPr lang="zh-CN" altLang="en-US" sz="2800" b="1" spc="300" dirty="0">
                  <a:solidFill>
                    <a:schemeClr val="tx1"/>
                  </a:solidFill>
                  <a:latin typeface="Impact" panose="020B0806030902050204" pitchFamily="34" charset="0"/>
                </a:rPr>
                <a:t>协议</a:t>
              </a:r>
              <a:endParaRPr lang="zh-CN" altLang="en-US" sz="2800" b="1" spc="300" dirty="0">
                <a:solidFill>
                  <a:schemeClr val="tx1"/>
                </a:solidFill>
                <a:latin typeface="Impact" panose="020B0806030902050204" pitchFamily="34" charset="0"/>
              </a:endParaRPr>
            </a:p>
          </p:txBody>
        </p:sp>
      </p:grpSp>
      <p:grpSp>
        <p:nvGrpSpPr>
          <p:cNvPr id="9" name="组合 8"/>
          <p:cNvGrpSpPr/>
          <p:nvPr>
            <p:custDataLst>
              <p:tags r:id="rId17"/>
            </p:custDataLst>
          </p:nvPr>
        </p:nvGrpSpPr>
        <p:grpSpPr>
          <a:xfrm rot="0">
            <a:off x="2999105" y="5517515"/>
            <a:ext cx="6081395" cy="574040"/>
            <a:chOff x="4723" y="9769"/>
            <a:chExt cx="9577" cy="904"/>
          </a:xfrm>
        </p:grpSpPr>
        <p:sp>
          <p:nvSpPr>
            <p:cNvPr id="7" name="矩形 6"/>
            <p:cNvSpPr/>
            <p:nvPr>
              <p:custDataLst>
                <p:tags r:id="rId18"/>
              </p:custDataLst>
            </p:nvPr>
          </p:nvSpPr>
          <p:spPr>
            <a:xfrm>
              <a:off x="4723" y="9769"/>
              <a:ext cx="1747" cy="904"/>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800" b="1" spc="300" dirty="0">
                  <a:latin typeface="Impact" panose="020B0806030902050204" pitchFamily="34" charset="0"/>
                </a:rPr>
                <a:t>2.6</a:t>
              </a:r>
              <a:endParaRPr lang="en-US" altLang="zh-CN" sz="2800" b="1" spc="300" dirty="0">
                <a:latin typeface="Impact" panose="020B0806030902050204" pitchFamily="34" charset="0"/>
              </a:endParaRPr>
            </a:p>
          </p:txBody>
        </p:sp>
        <p:sp>
          <p:nvSpPr>
            <p:cNvPr id="8" name="矩形 7"/>
            <p:cNvSpPr/>
            <p:nvPr>
              <p:custDataLst>
                <p:tags r:id="rId19"/>
              </p:custDataLst>
            </p:nvPr>
          </p:nvSpPr>
          <p:spPr>
            <a:xfrm>
              <a:off x="6470" y="9769"/>
              <a:ext cx="7830" cy="904"/>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MAC</a:t>
              </a:r>
              <a:r>
                <a:rPr lang="zh-CN" altLang="en-US" sz="2800" b="1" spc="300" dirty="0">
                  <a:solidFill>
                    <a:schemeClr val="tx1"/>
                  </a:solidFill>
                  <a:latin typeface="Impact" panose="020B0806030902050204" pitchFamily="34" charset="0"/>
                </a:rPr>
                <a:t>泛洪攻击与防御</a:t>
              </a:r>
              <a:endParaRPr lang="zh-CN" altLang="en-US" sz="2800" b="1" spc="300" dirty="0">
                <a:solidFill>
                  <a:schemeClr val="tx1"/>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000" dirty="0" smtClean="0">
                <a:sym typeface="+mn-ea"/>
              </a:rPr>
              <a:t>数据链路层功能</a:t>
            </a:r>
            <a:endParaRPr lang="zh-CN" altLang="en-US" sz="4000"/>
          </a:p>
        </p:txBody>
      </p:sp>
      <p:sp>
        <p:nvSpPr>
          <p:cNvPr id="3" name="文本框 2"/>
          <p:cNvSpPr txBox="1"/>
          <p:nvPr/>
        </p:nvSpPr>
        <p:spPr>
          <a:xfrm>
            <a:off x="734695" y="1883410"/>
            <a:ext cx="8886190" cy="3519805"/>
          </a:xfrm>
          <a:prstGeom prst="rect">
            <a:avLst/>
          </a:prstGeom>
          <a:noFill/>
        </p:spPr>
        <p:txBody>
          <a:bodyPr wrap="square" rtlCol="0" anchor="t">
            <a:noAutofit/>
          </a:bodyPr>
          <a:p>
            <a:pPr marL="360680" indent="-360680" algn="l" eaLnBrk="1" hangingPunct="1">
              <a:lnSpc>
                <a:spcPct val="150000"/>
              </a:lnSpc>
              <a:spcBef>
                <a:spcPts val="600"/>
              </a:spcBef>
              <a:buClr>
                <a:srgbClr val="333399"/>
              </a:buClr>
              <a:buSzPct val="75000"/>
              <a:buFont typeface="Wingdings" panose="05000000000000000000" pitchFamily="2" charset="2"/>
            </a:pPr>
            <a:r>
              <a:rPr lang="zh-CN" altLang="en-US" sz="3200" b="1" kern="0" dirty="0">
                <a:latin typeface="+mn-lt"/>
                <a:ea typeface="黑体" panose="02010609060101010101" charset="-122"/>
              </a:rPr>
              <a:t>在OSI/RM中明确定义：</a:t>
            </a:r>
            <a:endParaRPr lang="zh-CN" altLang="en-US" sz="3200" b="1" kern="0" dirty="0">
              <a:latin typeface="+mn-lt"/>
              <a:ea typeface="黑体" panose="02010609060101010101" charset="-122"/>
            </a:endParaRPr>
          </a:p>
          <a:p>
            <a:pPr marL="0" indent="812800" algn="l" eaLnBrk="1" latinLnBrk="0" hangingPunct="1">
              <a:lnSpc>
                <a:spcPct val="150000"/>
              </a:lnSpc>
              <a:spcBef>
                <a:spcPts val="0"/>
              </a:spcBef>
              <a:buClr>
                <a:srgbClr val="333399"/>
              </a:buClr>
              <a:buSzPct val="75000"/>
              <a:buFont typeface="Wingdings" panose="05000000000000000000" pitchFamily="2" charset="2"/>
              <a:extLst>
                <a:ext uri="{35155182-B16C-46BC-9424-99874614C6A1}">
                  <wpsdc:indentchars xmlns:wpsdc="http://www.wps.cn/officeDocument/2017/drawingmlCustomData" val="200" checksum="3877492575"/>
                </a:ext>
              </a:extLst>
            </a:pPr>
            <a:r>
              <a:rPr lang="zh-CN" altLang="en-US" sz="3200" b="1" kern="0" dirty="0">
                <a:latin typeface="+mn-lt"/>
                <a:ea typeface="黑体" panose="02010609060101010101" charset="-122"/>
              </a:rPr>
              <a:t>数据链路层是在物理层提供比特流服务的基础上，建立相邻结点之间的</a:t>
            </a:r>
            <a:r>
              <a:rPr lang="zh-CN" altLang="en-US" sz="3200" b="1" kern="0" dirty="0">
                <a:solidFill>
                  <a:srgbClr val="FF0000"/>
                </a:solidFill>
                <a:latin typeface="+mn-lt"/>
                <a:ea typeface="黑体" panose="02010609060101010101" charset="-122"/>
              </a:rPr>
              <a:t>数据链路</a:t>
            </a:r>
            <a:r>
              <a:rPr lang="zh-CN" altLang="en-US" sz="3200" b="1" kern="0" dirty="0">
                <a:latin typeface="+mn-lt"/>
                <a:ea typeface="黑体" panose="02010609060101010101" charset="-122"/>
              </a:rPr>
              <a:t>，通过</a:t>
            </a:r>
            <a:r>
              <a:rPr lang="zh-CN" altLang="en-US" sz="3200" b="1" kern="0" dirty="0">
                <a:solidFill>
                  <a:srgbClr val="FF0000"/>
                </a:solidFill>
                <a:latin typeface="+mn-lt"/>
                <a:ea typeface="黑体" panose="02010609060101010101" charset="-122"/>
              </a:rPr>
              <a:t>差错控制</a:t>
            </a:r>
            <a:r>
              <a:rPr lang="zh-CN" altLang="en-US" sz="3200" b="1" kern="0" dirty="0">
                <a:latin typeface="+mn-lt"/>
                <a:ea typeface="黑体" panose="02010609060101010101" charset="-122"/>
              </a:rPr>
              <a:t>提供数据</a:t>
            </a:r>
            <a:r>
              <a:rPr lang="zh-CN" altLang="en-US" sz="3200" b="1" kern="0" dirty="0">
                <a:solidFill>
                  <a:srgbClr val="FF0000"/>
                </a:solidFill>
                <a:latin typeface="+mn-lt"/>
                <a:ea typeface="黑体" panose="02010609060101010101" charset="-122"/>
              </a:rPr>
              <a:t>帧</a:t>
            </a:r>
            <a:r>
              <a:rPr lang="zh-CN" altLang="en-US" sz="3200" b="1" kern="0" dirty="0">
                <a:latin typeface="+mn-lt"/>
                <a:ea typeface="黑体" panose="02010609060101010101" charset="-122"/>
              </a:rPr>
              <a:t>在</a:t>
            </a:r>
            <a:r>
              <a:rPr lang="zh-CN" altLang="en-US" sz="3200" b="1" kern="0" dirty="0">
                <a:solidFill>
                  <a:srgbClr val="FF0000"/>
                </a:solidFill>
                <a:latin typeface="+mn-lt"/>
                <a:ea typeface="黑体" panose="02010609060101010101" charset="-122"/>
              </a:rPr>
              <a:t>信道</a:t>
            </a:r>
            <a:r>
              <a:rPr lang="zh-CN" altLang="en-US" sz="3200" b="1" kern="0" dirty="0">
                <a:latin typeface="+mn-lt"/>
                <a:ea typeface="黑体" panose="02010609060101010101" charset="-122"/>
              </a:rPr>
              <a:t>上的</a:t>
            </a:r>
            <a:r>
              <a:rPr lang="zh-CN" altLang="en-US" sz="3200" b="1" kern="0" dirty="0">
                <a:solidFill>
                  <a:srgbClr val="FF0000"/>
                </a:solidFill>
                <a:latin typeface="+mn-lt"/>
                <a:ea typeface="黑体" panose="02010609060101010101" charset="-122"/>
              </a:rPr>
              <a:t>“透明”传输</a:t>
            </a:r>
            <a:r>
              <a:rPr lang="zh-CN" altLang="en-US" sz="3200" b="1" kern="0" dirty="0">
                <a:latin typeface="+mn-lt"/>
                <a:ea typeface="黑体" panose="02010609060101010101" charset="-122"/>
              </a:rPr>
              <a:t>。</a:t>
            </a:r>
            <a:endParaRPr lang="zh-CN" altLang="en-US" sz="3200" b="1" kern="0" dirty="0">
              <a:latin typeface="+mn-lt"/>
              <a:ea typeface="黑体" panose="02010609060101010101" charset="-122"/>
            </a:endParaRPr>
          </a:p>
        </p:txBody>
      </p:sp>
      <p:pic>
        <p:nvPicPr>
          <p:cNvPr id="4" name="图片 3"/>
          <p:cNvPicPr>
            <a:picLocks noChangeAspect="1"/>
          </p:cNvPicPr>
          <p:nvPr/>
        </p:nvPicPr>
        <p:blipFill>
          <a:blip r:embed="rId1"/>
          <a:stretch>
            <a:fillRect/>
          </a:stretch>
        </p:blipFill>
        <p:spPr>
          <a:xfrm>
            <a:off x="9989820" y="2517775"/>
            <a:ext cx="1689100" cy="25698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.1.2 数据链路层的信道类型</a:t>
            </a:r>
            <a:endParaRPr lang="zh-CN" altLang="en-US" sz="4000" dirty="0">
              <a:latin typeface="+mj-ea"/>
              <a:sym typeface="+mn-ea"/>
            </a:endParaRPr>
          </a:p>
        </p:txBody>
      </p:sp>
      <p:sp>
        <p:nvSpPr>
          <p:cNvPr id="4" name="文本框 3"/>
          <p:cNvSpPr txBox="1"/>
          <p:nvPr/>
        </p:nvSpPr>
        <p:spPr>
          <a:xfrm>
            <a:off x="478790" y="1450975"/>
            <a:ext cx="10697210" cy="3476625"/>
          </a:xfrm>
          <a:prstGeom prst="rect">
            <a:avLst/>
          </a:prstGeom>
          <a:noFill/>
        </p:spPr>
        <p:txBody>
          <a:bodyPr wrap="square" rtlCol="0" anchor="t">
            <a:spAutoFit/>
          </a:bodyPr>
          <a:p>
            <a:pPr marL="342900" indent="-342900" algn="l">
              <a:lnSpc>
                <a:spcPct val="150000"/>
              </a:lnSpc>
              <a:spcBef>
                <a:spcPts val="0"/>
              </a:spcBef>
              <a:buClr>
                <a:srgbClr val="DF4F21"/>
              </a:buClr>
              <a:buSzTx/>
              <a:buFont typeface="Wingdings" panose="05000000000000000000" charset="0"/>
              <a:buChar char="p"/>
            </a:pP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数据链路层使用的信道主要有以下两种类型：</a:t>
            </a:r>
            <a:endParaRPr lang="zh-CN" altLang="zh-CN" sz="2800" b="1" kern="0" dirty="0">
              <a:latin typeface="Times New Roman" panose="02020603050405020304" charset="0"/>
              <a:ea typeface="宋体" panose="02010600030101010101" pitchFamily="2" charset="-122"/>
              <a:cs typeface="Times New Roman" panose="02020603050405020304" charset="0"/>
            </a:endParaRPr>
          </a:p>
          <a:p>
            <a:pPr marL="914400" lvl="1" indent="-457200" algn="l" fontAlgn="base">
              <a:lnSpc>
                <a:spcPct val="150000"/>
              </a:lnSpc>
              <a:spcBef>
                <a:spcPts val="600"/>
              </a:spcBef>
              <a:buClr>
                <a:schemeClr val="accent2"/>
              </a:buClr>
              <a:buSzPct val="70000"/>
              <a:buFont typeface="Wingdings" panose="05000000000000000000" charset="0"/>
              <a:buChar char="Ø"/>
            </a:pPr>
            <a:r>
              <a:rPr lang="zh-CN" altLang="en-US" sz="2800" b="1" kern="0" dirty="0">
                <a:latin typeface="Times New Roman" panose="02020603050405020304" charset="0"/>
                <a:ea typeface="宋体" panose="02010600030101010101" pitchFamily="2" charset="-122"/>
                <a:cs typeface="Times New Roman" panose="02020603050405020304" charset="0"/>
                <a:sym typeface="+mn-ea"/>
              </a:rPr>
              <a:t>点对点信道。这种信道使用一对一的点对点通信方式。</a:t>
            </a:r>
            <a:endParaRPr lang="zh-CN" altLang="en-US" sz="2800" b="1" kern="0" dirty="0">
              <a:latin typeface="Times New Roman" panose="02020603050405020304" charset="0"/>
              <a:ea typeface="宋体" panose="02010600030101010101" pitchFamily="2" charset="-122"/>
              <a:cs typeface="Times New Roman" panose="02020603050405020304" charset="0"/>
            </a:endParaRPr>
          </a:p>
          <a:p>
            <a:pPr marL="914400" lvl="1" indent="-457200" algn="l" fontAlgn="base">
              <a:lnSpc>
                <a:spcPct val="150000"/>
              </a:lnSpc>
              <a:spcBef>
                <a:spcPts val="600"/>
              </a:spcBef>
              <a:buClr>
                <a:schemeClr val="accent2"/>
              </a:buClr>
              <a:buSzPct val="70000"/>
              <a:buFont typeface="Wingdings" panose="05000000000000000000" charset="0"/>
              <a:buChar char="Ø"/>
            </a:pPr>
            <a:r>
              <a:rPr lang="zh-CN" altLang="en-US" sz="2800" b="1" kern="0" dirty="0">
                <a:latin typeface="Times New Roman" panose="02020603050405020304" charset="0"/>
                <a:ea typeface="宋体" panose="02010600030101010101" pitchFamily="2" charset="-122"/>
                <a:cs typeface="Times New Roman" panose="02020603050405020304" charset="0"/>
                <a:sym typeface="+mn-ea"/>
              </a:rPr>
              <a:t>广播信道。这种信道使用一对多的广播通信方式，因此过程比较复杂。广播信道上连接的主机很多，因此必须使用专用的共享信道协议来协调这些主机的数据发送。 </a:t>
            </a:r>
            <a:endParaRPr lang="zh-CN" altLang="en-US" sz="2800" b="1" kern="0" dirty="0">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.1.3 </a:t>
            </a:r>
            <a:r>
              <a:rPr lang="zh-CN" altLang="en-US" sz="4000" dirty="0">
                <a:latin typeface="+mj-ea"/>
                <a:sym typeface="Helvetica Light"/>
              </a:rPr>
              <a:t>数据链路层协议的功能</a:t>
            </a:r>
            <a:endParaRPr lang="zh-CN" altLang="en-US" sz="4000" dirty="0">
              <a:latin typeface="+mj-ea"/>
              <a:sym typeface="+mn-ea"/>
            </a:endParaRPr>
          </a:p>
        </p:txBody>
      </p:sp>
      <p:sp>
        <p:nvSpPr>
          <p:cNvPr id="5" name="标题 1"/>
          <p:cNvSpPr txBox="1"/>
          <p:nvPr>
            <p:custDataLst>
              <p:tags r:id="rId1"/>
            </p:custDataLst>
          </p:nvPr>
        </p:nvSpPr>
        <p:spPr>
          <a:xfrm>
            <a:off x="660399" y="1623193"/>
            <a:ext cx="3574245" cy="3967956"/>
          </a:xfrm>
          <a:prstGeom prst="roundRect">
            <a:avLst/>
          </a:prstGeom>
          <a:solidFill>
            <a:schemeClr val="bg1"/>
          </a:solidFill>
          <a:ln w="12700" cap="sq">
            <a:noFill/>
            <a:miter/>
          </a:ln>
          <a:effectLst>
            <a:outerShdw blurRad="152400" dist="38100" dir="2700000" algn="ctr" rotWithShape="0">
              <a:schemeClr val="accent1">
                <a:lumMod val="50000"/>
                <a:alpha val="19000"/>
              </a:schemeClr>
            </a:outerShdw>
          </a:effectLst>
        </p:spPr>
        <p:txBody>
          <a:bodyPr vert="horz" wrap="square" lIns="91440" tIns="45720" rIns="91440" bIns="45720" rtlCol="0" anchor="ctr"/>
          <a:p>
            <a:pPr algn="ctr">
              <a:lnSpc>
                <a:spcPct val="110000"/>
              </a:lnSpc>
            </a:pPr>
            <a:endParaRPr kumimoji="1" lang="zh-CN" altLang="en-US" sz="2400">
              <a:latin typeface="Times New Roman" panose="02020603050405020304" charset="0"/>
              <a:ea typeface="宋体" panose="02010600030101010101" pitchFamily="2" charset="-122"/>
              <a:cs typeface="Times New Roman" panose="02020603050405020304" charset="0"/>
            </a:endParaRPr>
          </a:p>
        </p:txBody>
      </p:sp>
      <p:sp>
        <p:nvSpPr>
          <p:cNvPr id="6" name="标题 1"/>
          <p:cNvSpPr txBox="1"/>
          <p:nvPr>
            <p:custDataLst>
              <p:tags r:id="rId2"/>
            </p:custDataLst>
          </p:nvPr>
        </p:nvSpPr>
        <p:spPr>
          <a:xfrm>
            <a:off x="1000877" y="2088481"/>
            <a:ext cx="3094045" cy="3195941"/>
          </a:xfrm>
          <a:prstGeom prst="rect">
            <a:avLst/>
          </a:prstGeom>
          <a:noFill/>
          <a:ln>
            <a:noFill/>
          </a:ln>
        </p:spPr>
        <p:txBody>
          <a:bodyPr vert="horz" wrap="square" lIns="0" tIns="0" rIns="0" bIns="0" rtlCol="0" anchor="t"/>
          <a:p>
            <a:pPr algn="l">
              <a:lnSpc>
                <a:spcPct val="150000"/>
              </a:lnSpc>
            </a:pPr>
            <a:r>
              <a:rPr kumimoji="1" lang="zh-CN" altLang="en-US" sz="2400">
                <a:ln w="12700">
                  <a:noFill/>
                </a:ln>
                <a:solidFill>
                  <a:srgbClr val="000000">
                    <a:alpha val="100000"/>
                  </a:srgbClr>
                </a:solidFill>
                <a:latin typeface="Times New Roman" panose="02020603050405020304" charset="0"/>
                <a:ea typeface="宋体" panose="02010600030101010101" pitchFamily="2" charset="-122"/>
                <a:cs typeface="Times New Roman" panose="02020603050405020304" charset="0"/>
              </a:rPr>
              <a:t>指在一段数据的前后通过添加首部和尾部的方式，构成了数据帧，进而确保数据的完整性和正确性。</a:t>
            </a:r>
            <a:endParaRPr kumimoji="1" lang="en-US" altLang="zh-CN" sz="2400">
              <a:ln w="12700">
                <a:noFill/>
              </a:ln>
              <a:solidFill>
                <a:srgbClr val="00000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7" name="标题 1"/>
          <p:cNvSpPr txBox="1"/>
          <p:nvPr>
            <p:custDataLst>
              <p:tags r:id="rId3"/>
            </p:custDataLst>
          </p:nvPr>
        </p:nvSpPr>
        <p:spPr>
          <a:xfrm>
            <a:off x="1000587" y="1675177"/>
            <a:ext cx="3094045" cy="397213"/>
          </a:xfrm>
          <a:prstGeom prst="rect">
            <a:avLst/>
          </a:prstGeom>
          <a:noFill/>
          <a:ln>
            <a:noFill/>
          </a:ln>
        </p:spPr>
        <p:txBody>
          <a:bodyPr vert="horz" wrap="square" lIns="0" tIns="0" rIns="0" bIns="0" rtlCol="0" anchor="ctr"/>
          <a:p>
            <a:pPr algn="l">
              <a:lnSpc>
                <a:spcPct val="110000"/>
              </a:lnSpc>
            </a:pPr>
            <a:r>
              <a:rPr kumimoji="1" lang="zh-CN" altLang="en-US" sz="2400" b="1">
                <a:ln w="12700">
                  <a:noFill/>
                </a:ln>
                <a:solidFill>
                  <a:srgbClr val="374B63"/>
                </a:solidFill>
                <a:latin typeface="Times New Roman" panose="02020603050405020304" charset="0"/>
                <a:ea typeface="宋体" panose="02010600030101010101" pitchFamily="2" charset="-122"/>
                <a:cs typeface="Times New Roman" panose="02020603050405020304" charset="0"/>
              </a:rPr>
              <a:t>封装成帧</a:t>
            </a:r>
            <a:endParaRPr kumimoji="1" lang="zh-CN" altLang="en-US" sz="2400" b="1">
              <a:ln w="12700">
                <a:noFill/>
              </a:ln>
              <a:solidFill>
                <a:srgbClr val="374B63"/>
              </a:solidFill>
              <a:latin typeface="Times New Roman" panose="02020603050405020304" charset="0"/>
              <a:ea typeface="宋体" panose="02010600030101010101" pitchFamily="2" charset="-122"/>
              <a:cs typeface="Times New Roman" panose="02020603050405020304" charset="0"/>
            </a:endParaRPr>
          </a:p>
        </p:txBody>
      </p:sp>
      <p:sp>
        <p:nvSpPr>
          <p:cNvPr id="9" name="标题 1"/>
          <p:cNvSpPr txBox="1"/>
          <p:nvPr>
            <p:custDataLst>
              <p:tags r:id="rId4"/>
            </p:custDataLst>
          </p:nvPr>
        </p:nvSpPr>
        <p:spPr>
          <a:xfrm>
            <a:off x="3610532" y="4925576"/>
            <a:ext cx="610860" cy="643051"/>
          </a:xfrm>
          <a:custGeom>
            <a:avLst/>
            <a:gdLst>
              <a:gd name="connsiteX0" fmla="*/ 937527 w 937527"/>
              <a:gd name="connsiteY0" fmla="*/ 0 h 883346"/>
              <a:gd name="connsiteX1" fmla="*/ 937527 w 937527"/>
              <a:gd name="connsiteY1" fmla="*/ 34068 h 883346"/>
              <a:gd name="connsiteX2" fmla="*/ 88249 w 937527"/>
              <a:gd name="connsiteY2" fmla="*/ 883346 h 883346"/>
              <a:gd name="connsiteX3" fmla="*/ 0 w 937527"/>
              <a:gd name="connsiteY3" fmla="*/ 883346 h 883346"/>
              <a:gd name="connsiteX4" fmla="*/ 900 w 937527"/>
              <a:gd name="connsiteY4" fmla="*/ 881757 h 883346"/>
              <a:gd name="connsiteX5" fmla="*/ 210450 w 937527"/>
              <a:gd name="connsiteY5" fmla="*/ 191195 h 883346"/>
              <a:gd name="connsiteX6" fmla="*/ 904271 w 937527"/>
              <a:gd name="connsiteY6" fmla="*/ 38457 h 883346"/>
            </a:gdLst>
            <a:ahLst/>
            <a:cxnLst/>
            <a:rect l="l" t="t" r="r" b="b"/>
            <a:pathLst>
              <a:path w="937527" h="883346">
                <a:moveTo>
                  <a:pt x="937527" y="0"/>
                </a:moveTo>
                <a:lnTo>
                  <a:pt x="937527" y="34068"/>
                </a:lnTo>
                <a:cubicBezTo>
                  <a:pt x="937527" y="503111"/>
                  <a:pt x="557292" y="883346"/>
                  <a:pt x="88249" y="883346"/>
                </a:cubicBezTo>
                <a:lnTo>
                  <a:pt x="0" y="883346"/>
                </a:lnTo>
                <a:lnTo>
                  <a:pt x="900" y="881757"/>
                </a:lnTo>
                <a:cubicBezTo>
                  <a:pt x="135044" y="708720"/>
                  <a:pt x="208068" y="514252"/>
                  <a:pt x="210450" y="191195"/>
                </a:cubicBezTo>
                <a:cubicBezTo>
                  <a:pt x="472983" y="187723"/>
                  <a:pt x="766205" y="157813"/>
                  <a:pt x="904271" y="38457"/>
                </a:cubicBezTo>
                <a:close/>
              </a:path>
            </a:pathLst>
          </a:custGeom>
          <a:gradFill>
            <a:gsLst>
              <a:gs pos="0">
                <a:schemeClr val="accent1"/>
              </a:gs>
              <a:gs pos="100000">
                <a:schemeClr val="accent1">
                  <a:lumMod val="75000"/>
                </a:schemeClr>
              </a:gs>
            </a:gsLst>
            <a:lin ang="2700000" scaled="0"/>
          </a:gradFill>
          <a:ln w="12700" cap="flat">
            <a:noFill/>
            <a:miter/>
          </a:ln>
          <a:effectLst>
            <a:outerShdw blurRad="203200" dist="38100" dir="2700000" algn="tl" rotWithShape="0">
              <a:schemeClr val="accent1">
                <a:lumMod val="50000"/>
                <a:alpha val="40000"/>
              </a:schemeClr>
            </a:outerShdw>
          </a:effectLst>
        </p:spPr>
        <p:txBody>
          <a:bodyPr vert="horz" wrap="square" lIns="91440" tIns="45720" rIns="91440" bIns="45720" rtlCol="0" anchor="ctr"/>
          <a:p>
            <a:pPr algn="ctr">
              <a:lnSpc>
                <a:spcPct val="110000"/>
              </a:lnSpc>
            </a:pPr>
            <a:endParaRPr kumimoji="1" lang="zh-CN" altLang="en-US" sz="2400">
              <a:latin typeface="Times New Roman" panose="02020603050405020304" charset="0"/>
              <a:ea typeface="宋体" panose="02010600030101010101" pitchFamily="2" charset="-122"/>
              <a:cs typeface="Times New Roman" panose="02020603050405020304" charset="0"/>
            </a:endParaRPr>
          </a:p>
        </p:txBody>
      </p:sp>
      <p:sp>
        <p:nvSpPr>
          <p:cNvPr id="10" name="标题 1"/>
          <p:cNvSpPr txBox="1"/>
          <p:nvPr>
            <p:custDataLst>
              <p:tags r:id="rId5"/>
            </p:custDataLst>
          </p:nvPr>
        </p:nvSpPr>
        <p:spPr>
          <a:xfrm>
            <a:off x="4302527" y="1623193"/>
            <a:ext cx="3574245" cy="3967956"/>
          </a:xfrm>
          <a:prstGeom prst="roundRect">
            <a:avLst/>
          </a:prstGeom>
          <a:solidFill>
            <a:schemeClr val="bg1"/>
          </a:solidFill>
          <a:ln w="12700" cap="sq">
            <a:noFill/>
            <a:miter/>
          </a:ln>
          <a:effectLst>
            <a:outerShdw blurRad="152400" dist="38100" dir="2700000" algn="ctr" rotWithShape="0">
              <a:schemeClr val="accent1">
                <a:lumMod val="50000"/>
                <a:alpha val="19000"/>
              </a:schemeClr>
            </a:outerShdw>
          </a:effectLst>
        </p:spPr>
        <p:txBody>
          <a:bodyPr vert="horz" wrap="square" lIns="91440" tIns="45720" rIns="91440" bIns="45720" rtlCol="0" anchor="ctr"/>
          <a:p>
            <a:pPr algn="ctr">
              <a:lnSpc>
                <a:spcPct val="110000"/>
              </a:lnSpc>
            </a:pPr>
            <a:endParaRPr kumimoji="1" lang="zh-CN" altLang="en-US" sz="2400">
              <a:latin typeface="Times New Roman" panose="02020603050405020304" charset="0"/>
              <a:ea typeface="宋体" panose="02010600030101010101" pitchFamily="2" charset="-122"/>
              <a:cs typeface="Times New Roman" panose="02020603050405020304" charset="0"/>
            </a:endParaRPr>
          </a:p>
        </p:txBody>
      </p:sp>
      <p:sp>
        <p:nvSpPr>
          <p:cNvPr id="25" name="标题 1"/>
          <p:cNvSpPr txBox="1"/>
          <p:nvPr>
            <p:custDataLst>
              <p:tags r:id="rId6"/>
            </p:custDataLst>
          </p:nvPr>
        </p:nvSpPr>
        <p:spPr>
          <a:xfrm>
            <a:off x="4643007" y="2088481"/>
            <a:ext cx="3094045" cy="3195941"/>
          </a:xfrm>
          <a:prstGeom prst="rect">
            <a:avLst/>
          </a:prstGeom>
          <a:noFill/>
          <a:ln>
            <a:noFill/>
          </a:ln>
        </p:spPr>
        <p:txBody>
          <a:bodyPr vert="horz" wrap="square" lIns="0" tIns="0" rIns="0" bIns="0" rtlCol="0" anchor="t"/>
          <a:p>
            <a:pPr algn="l">
              <a:lnSpc>
                <a:spcPct val="150000"/>
              </a:lnSpc>
            </a:pPr>
            <a:r>
              <a:rPr kumimoji="1" lang="zh-CN" altLang="en-US" sz="2400">
                <a:ln w="12700">
                  <a:noFill/>
                </a:ln>
                <a:solidFill>
                  <a:srgbClr val="000000">
                    <a:alpha val="100000"/>
                  </a:srgbClr>
                </a:solidFill>
                <a:latin typeface="Times New Roman" panose="02020603050405020304" charset="0"/>
                <a:ea typeface="宋体" panose="02010600030101010101" pitchFamily="2" charset="-122"/>
                <a:cs typeface="Times New Roman" panose="02020603050405020304" charset="0"/>
              </a:rPr>
              <a:t>指不管所传数据是什么样的比特组合，都应当能够在链路上传送。通常采用字节填充或字符填充的方法实现透明传输的功能。</a:t>
            </a:r>
            <a:r>
              <a:rPr kumimoji="1" lang="en-US" altLang="zh-CN" sz="2400">
                <a:ln w="12700">
                  <a:noFill/>
                </a:ln>
                <a:solidFill>
                  <a:srgbClr val="000000">
                    <a:alpha val="100000"/>
                  </a:srgbClr>
                </a:solidFill>
                <a:latin typeface="Times New Roman" panose="02020603050405020304" charset="0"/>
                <a:ea typeface="宋体" panose="02010600030101010101" pitchFamily="2" charset="-122"/>
                <a:cs typeface="Times New Roman" panose="02020603050405020304" charset="0"/>
              </a:rPr>
              <a:t>
</a:t>
            </a:r>
            <a:endParaRPr kumimoji="1" lang="en-US" altLang="zh-CN" sz="2400">
              <a:ln w="12700">
                <a:noFill/>
              </a:ln>
              <a:solidFill>
                <a:srgbClr val="00000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26" name="标题 1"/>
          <p:cNvSpPr txBox="1"/>
          <p:nvPr>
            <p:custDataLst>
              <p:tags r:id="rId7"/>
            </p:custDataLst>
          </p:nvPr>
        </p:nvSpPr>
        <p:spPr>
          <a:xfrm>
            <a:off x="7201861" y="4925576"/>
            <a:ext cx="610860" cy="643051"/>
          </a:xfrm>
          <a:custGeom>
            <a:avLst/>
            <a:gdLst>
              <a:gd name="connsiteX0" fmla="*/ 937527 w 937527"/>
              <a:gd name="connsiteY0" fmla="*/ 0 h 883346"/>
              <a:gd name="connsiteX1" fmla="*/ 937527 w 937527"/>
              <a:gd name="connsiteY1" fmla="*/ 34068 h 883346"/>
              <a:gd name="connsiteX2" fmla="*/ 88249 w 937527"/>
              <a:gd name="connsiteY2" fmla="*/ 883346 h 883346"/>
              <a:gd name="connsiteX3" fmla="*/ 0 w 937527"/>
              <a:gd name="connsiteY3" fmla="*/ 883346 h 883346"/>
              <a:gd name="connsiteX4" fmla="*/ 900 w 937527"/>
              <a:gd name="connsiteY4" fmla="*/ 881757 h 883346"/>
              <a:gd name="connsiteX5" fmla="*/ 210450 w 937527"/>
              <a:gd name="connsiteY5" fmla="*/ 191195 h 883346"/>
              <a:gd name="connsiteX6" fmla="*/ 904271 w 937527"/>
              <a:gd name="connsiteY6" fmla="*/ 38457 h 883346"/>
            </a:gdLst>
            <a:ahLst/>
            <a:cxnLst/>
            <a:rect l="l" t="t" r="r" b="b"/>
            <a:pathLst>
              <a:path w="937527" h="883346">
                <a:moveTo>
                  <a:pt x="937527" y="0"/>
                </a:moveTo>
                <a:lnTo>
                  <a:pt x="937527" y="34068"/>
                </a:lnTo>
                <a:cubicBezTo>
                  <a:pt x="937527" y="503111"/>
                  <a:pt x="557292" y="883346"/>
                  <a:pt x="88249" y="883346"/>
                </a:cubicBezTo>
                <a:lnTo>
                  <a:pt x="0" y="883346"/>
                </a:lnTo>
                <a:lnTo>
                  <a:pt x="900" y="881757"/>
                </a:lnTo>
                <a:cubicBezTo>
                  <a:pt x="135044" y="708720"/>
                  <a:pt x="208068" y="514252"/>
                  <a:pt x="210450" y="191195"/>
                </a:cubicBezTo>
                <a:cubicBezTo>
                  <a:pt x="472983" y="187723"/>
                  <a:pt x="766205" y="157813"/>
                  <a:pt x="904271" y="38457"/>
                </a:cubicBezTo>
                <a:close/>
              </a:path>
            </a:pathLst>
          </a:custGeom>
          <a:gradFill>
            <a:gsLst>
              <a:gs pos="0">
                <a:schemeClr val="accent1"/>
              </a:gs>
              <a:gs pos="100000">
                <a:schemeClr val="accent1">
                  <a:lumMod val="75000"/>
                </a:schemeClr>
              </a:gs>
            </a:gsLst>
            <a:lin ang="2700000" scaled="0"/>
          </a:gradFill>
          <a:ln w="12700" cap="flat">
            <a:noFill/>
            <a:miter/>
          </a:ln>
          <a:effectLst>
            <a:outerShdw blurRad="203200" dist="38100" dir="2700000" algn="tl" rotWithShape="0">
              <a:schemeClr val="accent1">
                <a:lumMod val="50000"/>
                <a:alpha val="40000"/>
              </a:schemeClr>
            </a:outerShdw>
          </a:effectLst>
        </p:spPr>
        <p:txBody>
          <a:bodyPr vert="horz" wrap="square" lIns="91440" tIns="45720" rIns="91440" bIns="45720" rtlCol="0" anchor="ctr"/>
          <a:p>
            <a:pPr algn="ctr">
              <a:lnSpc>
                <a:spcPct val="110000"/>
              </a:lnSpc>
            </a:pPr>
            <a:endParaRPr kumimoji="1" lang="zh-CN" altLang="en-US" sz="2400">
              <a:latin typeface="Times New Roman" panose="02020603050405020304" charset="0"/>
              <a:ea typeface="宋体" panose="02010600030101010101" pitchFamily="2" charset="-122"/>
              <a:cs typeface="Times New Roman" panose="02020603050405020304" charset="0"/>
            </a:endParaRPr>
          </a:p>
        </p:txBody>
      </p:sp>
      <p:sp>
        <p:nvSpPr>
          <p:cNvPr id="27" name="标题 1"/>
          <p:cNvSpPr txBox="1"/>
          <p:nvPr>
            <p:custDataLst>
              <p:tags r:id="rId8"/>
            </p:custDataLst>
          </p:nvPr>
        </p:nvSpPr>
        <p:spPr>
          <a:xfrm>
            <a:off x="7944655" y="1623193"/>
            <a:ext cx="3574245" cy="3967956"/>
          </a:xfrm>
          <a:prstGeom prst="roundRect">
            <a:avLst/>
          </a:prstGeom>
          <a:solidFill>
            <a:schemeClr val="bg1"/>
          </a:solidFill>
          <a:ln w="12700" cap="sq">
            <a:noFill/>
            <a:miter/>
          </a:ln>
          <a:effectLst>
            <a:outerShdw blurRad="152400" dist="38100" dir="2700000" algn="ctr" rotWithShape="0">
              <a:schemeClr val="accent1">
                <a:lumMod val="50000"/>
                <a:alpha val="19000"/>
              </a:schemeClr>
            </a:outerShdw>
          </a:effectLst>
        </p:spPr>
        <p:txBody>
          <a:bodyPr vert="horz" wrap="square" lIns="91440" tIns="45720" rIns="91440" bIns="45720" rtlCol="0" anchor="ctr"/>
          <a:p>
            <a:pPr algn="ctr">
              <a:lnSpc>
                <a:spcPct val="110000"/>
              </a:lnSpc>
            </a:pPr>
            <a:endParaRPr kumimoji="1" lang="zh-CN" altLang="en-US" sz="2400">
              <a:latin typeface="Times New Roman" panose="02020603050405020304" charset="0"/>
              <a:ea typeface="宋体" panose="02010600030101010101" pitchFamily="2" charset="-122"/>
              <a:cs typeface="Times New Roman" panose="02020603050405020304" charset="0"/>
            </a:endParaRPr>
          </a:p>
        </p:txBody>
      </p:sp>
      <p:sp>
        <p:nvSpPr>
          <p:cNvPr id="28" name="标题 1"/>
          <p:cNvSpPr txBox="1"/>
          <p:nvPr>
            <p:custDataLst>
              <p:tags r:id="rId9"/>
            </p:custDataLst>
          </p:nvPr>
        </p:nvSpPr>
        <p:spPr>
          <a:xfrm>
            <a:off x="8285133" y="2144685"/>
            <a:ext cx="3094045" cy="3195941"/>
          </a:xfrm>
          <a:prstGeom prst="rect">
            <a:avLst/>
          </a:prstGeom>
          <a:noFill/>
          <a:ln>
            <a:noFill/>
          </a:ln>
        </p:spPr>
        <p:txBody>
          <a:bodyPr vert="horz" wrap="square" lIns="0" tIns="0" rIns="0" bIns="0" rtlCol="0" anchor="t"/>
          <a:p>
            <a:pPr algn="l">
              <a:lnSpc>
                <a:spcPct val="150000"/>
              </a:lnSpc>
            </a:pPr>
            <a:r>
              <a:rPr kumimoji="1" lang="zh-CN" altLang="en-US" sz="2400">
                <a:ln w="12700">
                  <a:noFill/>
                </a:ln>
                <a:solidFill>
                  <a:srgbClr val="000000">
                    <a:alpha val="100000"/>
                  </a:srgbClr>
                </a:solidFill>
                <a:latin typeface="Times New Roman" panose="02020603050405020304" charset="0"/>
                <a:ea typeface="宋体" panose="02010600030101010101" pitchFamily="2" charset="-122"/>
                <a:cs typeface="Times New Roman" panose="02020603050405020304" charset="0"/>
              </a:rPr>
              <a:t>数据链路层提供比特差错检测。</a:t>
            </a:r>
            <a:r>
              <a:rPr kumimoji="1" lang="en-US" altLang="zh-CN" sz="2400">
                <a:ln w="12700">
                  <a:noFill/>
                </a:ln>
                <a:solidFill>
                  <a:srgbClr val="000000">
                    <a:alpha val="100000"/>
                  </a:srgbClr>
                </a:solidFill>
                <a:latin typeface="Times New Roman" panose="02020603050405020304" charset="0"/>
                <a:ea typeface="宋体" panose="02010600030101010101" pitchFamily="2" charset="-122"/>
                <a:cs typeface="Times New Roman" panose="02020603050405020304" charset="0"/>
              </a:rPr>
              <a:t>
</a:t>
            </a:r>
            <a:endParaRPr kumimoji="1" lang="en-US" altLang="zh-CN" sz="2400">
              <a:ln w="12700">
                <a:noFill/>
              </a:ln>
              <a:solidFill>
                <a:srgbClr val="00000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29" name="标题 1"/>
          <p:cNvSpPr txBox="1"/>
          <p:nvPr>
            <p:custDataLst>
              <p:tags r:id="rId10"/>
            </p:custDataLst>
          </p:nvPr>
        </p:nvSpPr>
        <p:spPr>
          <a:xfrm>
            <a:off x="10843988" y="4942024"/>
            <a:ext cx="610860" cy="643051"/>
          </a:xfrm>
          <a:custGeom>
            <a:avLst/>
            <a:gdLst>
              <a:gd name="connsiteX0" fmla="*/ 937527 w 937527"/>
              <a:gd name="connsiteY0" fmla="*/ 0 h 883346"/>
              <a:gd name="connsiteX1" fmla="*/ 937527 w 937527"/>
              <a:gd name="connsiteY1" fmla="*/ 34068 h 883346"/>
              <a:gd name="connsiteX2" fmla="*/ 88249 w 937527"/>
              <a:gd name="connsiteY2" fmla="*/ 883346 h 883346"/>
              <a:gd name="connsiteX3" fmla="*/ 0 w 937527"/>
              <a:gd name="connsiteY3" fmla="*/ 883346 h 883346"/>
              <a:gd name="connsiteX4" fmla="*/ 900 w 937527"/>
              <a:gd name="connsiteY4" fmla="*/ 881757 h 883346"/>
              <a:gd name="connsiteX5" fmla="*/ 210450 w 937527"/>
              <a:gd name="connsiteY5" fmla="*/ 191195 h 883346"/>
              <a:gd name="connsiteX6" fmla="*/ 904271 w 937527"/>
              <a:gd name="connsiteY6" fmla="*/ 38457 h 883346"/>
            </a:gdLst>
            <a:ahLst/>
            <a:cxnLst/>
            <a:rect l="l" t="t" r="r" b="b"/>
            <a:pathLst>
              <a:path w="937527" h="883346">
                <a:moveTo>
                  <a:pt x="937527" y="0"/>
                </a:moveTo>
                <a:lnTo>
                  <a:pt x="937527" y="34068"/>
                </a:lnTo>
                <a:cubicBezTo>
                  <a:pt x="937527" y="503111"/>
                  <a:pt x="557292" y="883346"/>
                  <a:pt x="88249" y="883346"/>
                </a:cubicBezTo>
                <a:lnTo>
                  <a:pt x="0" y="883346"/>
                </a:lnTo>
                <a:lnTo>
                  <a:pt x="900" y="881757"/>
                </a:lnTo>
                <a:cubicBezTo>
                  <a:pt x="135044" y="708720"/>
                  <a:pt x="208068" y="514252"/>
                  <a:pt x="210450" y="191195"/>
                </a:cubicBezTo>
                <a:cubicBezTo>
                  <a:pt x="472983" y="187723"/>
                  <a:pt x="766205" y="157813"/>
                  <a:pt x="904271" y="38457"/>
                </a:cubicBezTo>
                <a:close/>
              </a:path>
            </a:pathLst>
          </a:custGeom>
          <a:gradFill>
            <a:gsLst>
              <a:gs pos="0">
                <a:schemeClr val="accent1"/>
              </a:gs>
              <a:gs pos="100000">
                <a:schemeClr val="accent1">
                  <a:lumMod val="75000"/>
                </a:schemeClr>
              </a:gs>
            </a:gsLst>
            <a:lin ang="2700000" scaled="0"/>
          </a:gradFill>
          <a:ln w="12700" cap="flat">
            <a:noFill/>
            <a:miter/>
          </a:ln>
          <a:effectLst>
            <a:outerShdw blurRad="203200" dist="38100" dir="2700000" algn="tl" rotWithShape="0">
              <a:schemeClr val="accent1">
                <a:lumMod val="50000"/>
                <a:alpha val="40000"/>
              </a:schemeClr>
            </a:outerShdw>
          </a:effectLst>
        </p:spPr>
        <p:txBody>
          <a:bodyPr vert="horz" wrap="square" lIns="91440" tIns="45720" rIns="91440" bIns="45720" rtlCol="0" anchor="ctr"/>
          <a:p>
            <a:pPr algn="ctr">
              <a:lnSpc>
                <a:spcPct val="110000"/>
              </a:lnSpc>
            </a:pPr>
            <a:endParaRPr kumimoji="1" lang="zh-CN" altLang="en-US" sz="2400">
              <a:latin typeface="Times New Roman" panose="02020603050405020304" charset="0"/>
              <a:ea typeface="宋体" panose="02010600030101010101" pitchFamily="2" charset="-122"/>
              <a:cs typeface="Times New Roman" panose="02020603050405020304" charset="0"/>
            </a:endParaRPr>
          </a:p>
        </p:txBody>
      </p:sp>
      <p:sp>
        <p:nvSpPr>
          <p:cNvPr id="30" name="标题 1"/>
          <p:cNvSpPr txBox="1"/>
          <p:nvPr>
            <p:custDataLst>
              <p:tags r:id="rId11"/>
            </p:custDataLst>
          </p:nvPr>
        </p:nvSpPr>
        <p:spPr>
          <a:xfrm>
            <a:off x="797420" y="1803970"/>
            <a:ext cx="123221" cy="137671"/>
          </a:xfrm>
          <a:prstGeom prst="ellipse">
            <a:avLst/>
          </a:prstGeom>
          <a:gradFill>
            <a:gsLst>
              <a:gs pos="0">
                <a:schemeClr val="accent1"/>
              </a:gs>
              <a:gs pos="100000">
                <a:schemeClr val="accent1">
                  <a:lumMod val="75000"/>
                </a:schemeClr>
              </a:gs>
            </a:gsLst>
            <a:lin ang="2700000" scaled="0"/>
          </a:gradFill>
          <a:ln w="12700" cap="flat">
            <a:noFill/>
            <a:miter/>
          </a:ln>
          <a:effectLst>
            <a:outerShdw blurRad="203200" dist="38100" dir="2700000" algn="tl" rotWithShape="0">
              <a:schemeClr val="accent1">
                <a:lumMod val="50000"/>
                <a:alpha val="40000"/>
              </a:schemeClr>
            </a:outerShdw>
          </a:effectLst>
        </p:spPr>
        <p:txBody>
          <a:bodyPr vert="horz" wrap="square" lIns="91440" tIns="45720" rIns="91440" bIns="45720" rtlCol="0" anchor="ctr"/>
          <a:p>
            <a:pPr algn="ctr">
              <a:lnSpc>
                <a:spcPct val="110000"/>
              </a:lnSpc>
            </a:pPr>
            <a:endParaRPr kumimoji="1" lang="zh-CN" altLang="en-US" sz="2400">
              <a:latin typeface="Times New Roman" panose="02020603050405020304" charset="0"/>
              <a:ea typeface="宋体" panose="02010600030101010101" pitchFamily="2" charset="-122"/>
              <a:cs typeface="Times New Roman" panose="02020603050405020304" charset="0"/>
            </a:endParaRPr>
          </a:p>
        </p:txBody>
      </p:sp>
      <p:sp>
        <p:nvSpPr>
          <p:cNvPr id="31" name="标题 1"/>
          <p:cNvSpPr txBox="1"/>
          <p:nvPr>
            <p:custDataLst>
              <p:tags r:id="rId12"/>
            </p:custDataLst>
          </p:nvPr>
        </p:nvSpPr>
        <p:spPr>
          <a:xfrm>
            <a:off x="4657417" y="1681916"/>
            <a:ext cx="3094045" cy="397213"/>
          </a:xfrm>
          <a:prstGeom prst="rect">
            <a:avLst/>
          </a:prstGeom>
          <a:noFill/>
          <a:ln>
            <a:noFill/>
          </a:ln>
        </p:spPr>
        <p:txBody>
          <a:bodyPr vert="horz" wrap="square" lIns="0" tIns="0" rIns="0" bIns="0" rtlCol="0" anchor="ctr"/>
          <a:p>
            <a:pPr algn="l">
              <a:lnSpc>
                <a:spcPct val="110000"/>
              </a:lnSpc>
              <a:buClrTx/>
              <a:buSzTx/>
              <a:buFontTx/>
            </a:pPr>
            <a:r>
              <a:rPr kumimoji="1" lang="zh-CN" altLang="en-US" sz="2400" b="1">
                <a:ln w="12700">
                  <a:noFill/>
                </a:ln>
                <a:solidFill>
                  <a:srgbClr val="374B63"/>
                </a:solidFill>
                <a:latin typeface="Times New Roman" panose="02020603050405020304" charset="0"/>
                <a:ea typeface="宋体" panose="02010600030101010101" pitchFamily="2" charset="-122"/>
                <a:cs typeface="Times New Roman" panose="02020603050405020304" charset="0"/>
              </a:rPr>
              <a:t>透明传输</a:t>
            </a:r>
            <a:endParaRPr kumimoji="1" lang="zh-CN" altLang="en-US" sz="2400" b="1">
              <a:ln w="12700">
                <a:noFill/>
              </a:ln>
              <a:solidFill>
                <a:srgbClr val="374B63"/>
              </a:solidFill>
              <a:latin typeface="Times New Roman" panose="02020603050405020304" charset="0"/>
              <a:ea typeface="宋体" panose="02010600030101010101" pitchFamily="2" charset="-122"/>
              <a:cs typeface="Times New Roman" panose="02020603050405020304" charset="0"/>
            </a:endParaRPr>
          </a:p>
        </p:txBody>
      </p:sp>
      <p:sp>
        <p:nvSpPr>
          <p:cNvPr id="32" name="标题 1"/>
          <p:cNvSpPr txBox="1"/>
          <p:nvPr>
            <p:custDataLst>
              <p:tags r:id="rId13"/>
            </p:custDataLst>
          </p:nvPr>
        </p:nvSpPr>
        <p:spPr>
          <a:xfrm>
            <a:off x="4454251" y="1810709"/>
            <a:ext cx="123221" cy="137671"/>
          </a:xfrm>
          <a:prstGeom prst="ellipse">
            <a:avLst/>
          </a:prstGeom>
          <a:gradFill>
            <a:gsLst>
              <a:gs pos="0">
                <a:schemeClr val="accent1"/>
              </a:gs>
              <a:gs pos="100000">
                <a:schemeClr val="accent1">
                  <a:lumMod val="75000"/>
                </a:schemeClr>
              </a:gs>
            </a:gsLst>
            <a:lin ang="2700000" scaled="0"/>
          </a:gradFill>
          <a:ln w="12700" cap="flat">
            <a:noFill/>
            <a:miter/>
          </a:ln>
          <a:effectLst>
            <a:outerShdw blurRad="203200" dist="38100" dir="2700000" algn="tl" rotWithShape="0">
              <a:schemeClr val="accent1">
                <a:lumMod val="50000"/>
                <a:alpha val="40000"/>
              </a:schemeClr>
            </a:outerShdw>
          </a:effectLst>
        </p:spPr>
        <p:txBody>
          <a:bodyPr vert="horz" wrap="square" lIns="91440" tIns="45720" rIns="91440" bIns="45720" rtlCol="0" anchor="ctr"/>
          <a:p>
            <a:pPr algn="ctr">
              <a:lnSpc>
                <a:spcPct val="110000"/>
              </a:lnSpc>
            </a:pPr>
            <a:endParaRPr kumimoji="1" lang="zh-CN" altLang="en-US" sz="2400">
              <a:latin typeface="Times New Roman" panose="02020603050405020304" charset="0"/>
              <a:ea typeface="宋体" panose="02010600030101010101" pitchFamily="2" charset="-122"/>
              <a:cs typeface="Times New Roman" panose="02020603050405020304" charset="0"/>
            </a:endParaRPr>
          </a:p>
        </p:txBody>
      </p:sp>
      <p:sp>
        <p:nvSpPr>
          <p:cNvPr id="33" name="标题 1"/>
          <p:cNvSpPr txBox="1"/>
          <p:nvPr>
            <p:custDataLst>
              <p:tags r:id="rId14"/>
            </p:custDataLst>
          </p:nvPr>
        </p:nvSpPr>
        <p:spPr>
          <a:xfrm>
            <a:off x="8295357" y="1738120"/>
            <a:ext cx="3094045" cy="397213"/>
          </a:xfrm>
          <a:prstGeom prst="rect">
            <a:avLst/>
          </a:prstGeom>
          <a:noFill/>
          <a:ln>
            <a:noFill/>
          </a:ln>
        </p:spPr>
        <p:txBody>
          <a:bodyPr vert="horz" wrap="square" lIns="0" tIns="0" rIns="0" bIns="0" rtlCol="0" anchor="ctr"/>
          <a:p>
            <a:pPr algn="l">
              <a:lnSpc>
                <a:spcPct val="110000"/>
              </a:lnSpc>
              <a:buClrTx/>
              <a:buSzTx/>
              <a:buFontTx/>
            </a:pPr>
            <a:r>
              <a:rPr kumimoji="1" lang="zh-CN" altLang="en-US" sz="2400" b="1">
                <a:ln w="12700">
                  <a:noFill/>
                </a:ln>
                <a:solidFill>
                  <a:srgbClr val="374B63"/>
                </a:solidFill>
                <a:latin typeface="Times New Roman" panose="02020603050405020304" charset="0"/>
                <a:ea typeface="宋体" panose="02010600030101010101" pitchFamily="2" charset="-122"/>
                <a:cs typeface="Times New Roman" panose="02020603050405020304" charset="0"/>
              </a:rPr>
              <a:t>差错控制</a:t>
            </a:r>
            <a:endParaRPr kumimoji="1" lang="zh-CN" altLang="en-US" sz="2400" b="1">
              <a:ln w="12700">
                <a:noFill/>
              </a:ln>
              <a:solidFill>
                <a:srgbClr val="374B63"/>
              </a:solidFill>
              <a:latin typeface="Times New Roman" panose="02020603050405020304" charset="0"/>
              <a:ea typeface="宋体" panose="02010600030101010101" pitchFamily="2" charset="-122"/>
              <a:cs typeface="Times New Roman" panose="02020603050405020304" charset="0"/>
            </a:endParaRPr>
          </a:p>
        </p:txBody>
      </p:sp>
      <p:sp>
        <p:nvSpPr>
          <p:cNvPr id="34" name="标题 1"/>
          <p:cNvSpPr txBox="1"/>
          <p:nvPr>
            <p:custDataLst>
              <p:tags r:id="rId15"/>
            </p:custDataLst>
          </p:nvPr>
        </p:nvSpPr>
        <p:spPr>
          <a:xfrm>
            <a:off x="8092191" y="1866913"/>
            <a:ext cx="123221" cy="137671"/>
          </a:xfrm>
          <a:prstGeom prst="ellipse">
            <a:avLst/>
          </a:prstGeom>
          <a:gradFill>
            <a:gsLst>
              <a:gs pos="0">
                <a:schemeClr val="accent1"/>
              </a:gs>
              <a:gs pos="100000">
                <a:schemeClr val="accent1">
                  <a:lumMod val="75000"/>
                </a:schemeClr>
              </a:gs>
            </a:gsLst>
            <a:lin ang="2700000" scaled="0"/>
          </a:gradFill>
          <a:ln w="12700" cap="flat">
            <a:noFill/>
            <a:miter/>
          </a:ln>
          <a:effectLst>
            <a:outerShdw blurRad="203200" dist="38100" dir="2700000" algn="tl" rotWithShape="0">
              <a:schemeClr val="accent1">
                <a:lumMod val="50000"/>
                <a:alpha val="40000"/>
              </a:schemeClr>
            </a:outerShdw>
          </a:effectLst>
        </p:spPr>
        <p:txBody>
          <a:bodyPr vert="horz" wrap="square" lIns="91440" tIns="45720" rIns="91440" bIns="45720" rtlCol="0" anchor="ctr"/>
          <a:p>
            <a:pPr algn="ctr">
              <a:lnSpc>
                <a:spcPct val="110000"/>
              </a:lnSpc>
            </a:pPr>
            <a:endParaRPr kumimoji="1" lang="zh-CN" altLang="en-US" sz="24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.2 </a:t>
            </a:r>
            <a:r>
              <a:rPr lang="en-US" altLang="zh-CN" sz="4000" dirty="0">
                <a:latin typeface="+mj-ea"/>
                <a:sym typeface="+mn-ea"/>
              </a:rPr>
              <a:t>PPP</a:t>
            </a:r>
            <a:r>
              <a:rPr lang="zh-CN" altLang="en-US" sz="4000" dirty="0">
                <a:latin typeface="+mj-ea"/>
                <a:sym typeface="+mn-ea"/>
              </a:rPr>
              <a:t>协议的帧格式</a:t>
            </a:r>
            <a:endParaRPr lang="zh-CN" altLang="en-US" sz="4000" dirty="0">
              <a:latin typeface="+mj-ea"/>
              <a:sym typeface="+mn-ea"/>
            </a:endParaRPr>
          </a:p>
        </p:txBody>
      </p:sp>
      <p:sp>
        <p:nvSpPr>
          <p:cNvPr id="4" name="文本框 3"/>
          <p:cNvSpPr txBox="1"/>
          <p:nvPr/>
        </p:nvSpPr>
        <p:spPr>
          <a:xfrm>
            <a:off x="4586605" y="4836160"/>
            <a:ext cx="3923030" cy="953135"/>
          </a:xfrm>
          <a:prstGeom prst="rect">
            <a:avLst/>
          </a:prstGeom>
        </p:spPr>
        <p:txBody>
          <a:bodyPr wrap="square">
            <a:spAutoFit/>
          </a:bodyPr>
          <a:p>
            <a:pPr marL="228600" indent="0" algn="ctr" defTabSz="266700">
              <a:lnSpc>
                <a:spcPct val="200000"/>
              </a:lnSpc>
              <a:spcBef>
                <a:spcPts val="600"/>
              </a:spcBef>
              <a:spcAft>
                <a:spcPts val="600"/>
              </a:spcAft>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图2-2 PPP帧格式</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pic>
        <p:nvPicPr>
          <p:cNvPr id="3" name="图片 2"/>
          <p:cNvPicPr>
            <a:picLocks noChangeAspect="1"/>
          </p:cNvPicPr>
          <p:nvPr/>
        </p:nvPicPr>
        <p:blipFill>
          <a:blip r:embed="rId1"/>
          <a:srcRect l="5475"/>
          <a:stretch>
            <a:fillRect/>
          </a:stretch>
        </p:blipFill>
        <p:spPr>
          <a:xfrm>
            <a:off x="1332230" y="1304925"/>
            <a:ext cx="8696325" cy="322008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圆角矩形 10"/>
          <p:cNvSpPr/>
          <p:nvPr/>
        </p:nvSpPr>
        <p:spPr>
          <a:xfrm>
            <a:off x="254000" y="3140710"/>
            <a:ext cx="573405" cy="221996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
        <p:nvSpPr>
          <p:cNvPr id="2" name="标题 1"/>
          <p:cNvSpPr>
            <a:spLocks noGrp="1"/>
          </p:cNvSpPr>
          <p:nvPr>
            <p:ph type="title"/>
          </p:nvPr>
        </p:nvSpPr>
        <p:spPr>
          <a:xfrm>
            <a:off x="381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.3  </a:t>
            </a:r>
            <a:r>
              <a:rPr lang="en-US" altLang="zh-CN" sz="4000" dirty="0">
                <a:latin typeface="+mj-ea"/>
                <a:sym typeface="+mn-ea"/>
              </a:rPr>
              <a:t>PPP</a:t>
            </a:r>
            <a:r>
              <a:rPr lang="zh-CN" altLang="en-US" sz="4000" dirty="0">
                <a:latin typeface="+mj-ea"/>
                <a:sym typeface="+mn-ea"/>
              </a:rPr>
              <a:t>协议的工作流程</a:t>
            </a:r>
            <a:endParaRPr lang="zh-CN" altLang="en-US" sz="4000" dirty="0">
              <a:latin typeface="+mj-ea"/>
              <a:sym typeface="+mn-ea"/>
            </a:endParaRPr>
          </a:p>
        </p:txBody>
      </p:sp>
      <p:pic>
        <p:nvPicPr>
          <p:cNvPr id="6" name="图片 5"/>
          <p:cNvPicPr>
            <a:picLocks noChangeAspect="1"/>
          </p:cNvPicPr>
          <p:nvPr/>
        </p:nvPicPr>
        <p:blipFill>
          <a:blip r:embed="rId1"/>
          <a:stretch>
            <a:fillRect/>
          </a:stretch>
        </p:blipFill>
        <p:spPr>
          <a:xfrm>
            <a:off x="4982845" y="1981200"/>
            <a:ext cx="7209155" cy="2894965"/>
          </a:xfrm>
          <a:prstGeom prst="rect">
            <a:avLst/>
          </a:prstGeom>
          <a:noFill/>
          <a:ln w="9525">
            <a:noFill/>
          </a:ln>
        </p:spPr>
      </p:pic>
      <p:sp>
        <p:nvSpPr>
          <p:cNvPr id="7" name="文本框 6"/>
          <p:cNvSpPr txBox="1"/>
          <p:nvPr/>
        </p:nvSpPr>
        <p:spPr>
          <a:xfrm>
            <a:off x="6047740" y="5263832"/>
            <a:ext cx="5080000" cy="829945"/>
          </a:xfrm>
          <a:prstGeom prst="rect">
            <a:avLst/>
          </a:prstGeom>
        </p:spPr>
        <p:txBody>
          <a:bodyPr>
            <a:spAutoFit/>
          </a:bodyPr>
          <a:p>
            <a:pPr marL="228600" indent="0" algn="ctr" defTabSz="266700">
              <a:lnSpc>
                <a:spcPct val="200000"/>
              </a:lnSpc>
              <a:spcBef>
                <a:spcPts val="600"/>
              </a:spcBef>
              <a:spcAft>
                <a:spcPts val="60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图2-3 PPP链路状态转换</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8" name="文本框 7"/>
          <p:cNvSpPr txBox="1"/>
          <p:nvPr/>
        </p:nvSpPr>
        <p:spPr>
          <a:xfrm>
            <a:off x="1146175" y="2139315"/>
            <a:ext cx="3528060" cy="3449955"/>
          </a:xfrm>
          <a:prstGeom prst="rect">
            <a:avLst/>
          </a:prstGeom>
        </p:spPr>
        <p:txBody>
          <a:bodyPr wrap="square">
            <a:noAutofit/>
          </a:bodyPr>
          <a:p>
            <a:pPr marL="0" indent="304800" algn="just" defTabSz="266700">
              <a:lnSpc>
                <a:spcPct val="200000"/>
              </a:lnSpc>
              <a:spcBef>
                <a:spcPct val="0"/>
              </a:spcBef>
              <a:spcAft>
                <a:spcPct val="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（1）链路不可用阶段</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0" indent="304800" algn="just" defTabSz="266700">
              <a:lnSpc>
                <a:spcPct val="200000"/>
              </a:lnSpc>
              <a:spcBef>
                <a:spcPct val="0"/>
              </a:spcBef>
              <a:spcAft>
                <a:spcPct val="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（2）链路建立阶段</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0" indent="304800" algn="just" defTabSz="266700">
              <a:lnSpc>
                <a:spcPct val="200000"/>
              </a:lnSpc>
              <a:spcBef>
                <a:spcPct val="0"/>
              </a:spcBef>
              <a:spcAft>
                <a:spcPct val="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（3）认证阶段</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0" indent="304800" algn="just" defTabSz="266700">
              <a:lnSpc>
                <a:spcPct val="200000"/>
              </a:lnSpc>
              <a:spcBef>
                <a:spcPct val="0"/>
              </a:spcBef>
              <a:spcAft>
                <a:spcPct val="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（4）网络层协议阶段</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0" indent="304800" algn="just" defTabSz="266700">
              <a:lnSpc>
                <a:spcPct val="200000"/>
              </a:lnSpc>
              <a:spcBef>
                <a:spcPct val="0"/>
              </a:spcBef>
              <a:spcAft>
                <a:spcPct val="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（5）链路终止阶段</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9" name="左大括号 8"/>
          <p:cNvSpPr/>
          <p:nvPr/>
        </p:nvSpPr>
        <p:spPr>
          <a:xfrm>
            <a:off x="805815" y="2503805"/>
            <a:ext cx="869950" cy="327596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文本框 9"/>
          <p:cNvSpPr txBox="1"/>
          <p:nvPr/>
        </p:nvSpPr>
        <p:spPr>
          <a:xfrm>
            <a:off x="254000" y="3020060"/>
            <a:ext cx="551815" cy="2243455"/>
          </a:xfrm>
          <a:prstGeom prst="rect">
            <a:avLst/>
          </a:prstGeom>
        </p:spPr>
        <p:txBody>
          <a:bodyPr>
            <a:noAutofit/>
          </a:bodyPr>
          <a:p>
            <a:pPr algn="ctr" defTabSz="266700">
              <a:lnSpc>
                <a:spcPct val="150000"/>
              </a:lnSpc>
            </a:pPr>
            <a:r>
              <a:rPr kumimoji="1" lang="en-US" altLang="zh-CN" sz="2400" b="1">
                <a:ln w="12700">
                  <a:noFill/>
                </a:ln>
                <a:solidFill>
                  <a:schemeClr val="bg1">
                    <a:alpha val="100000"/>
                  </a:schemeClr>
                </a:solidFill>
                <a:latin typeface="Times New Roman" panose="02020603050405020304" charset="0"/>
                <a:ea typeface="宋体" panose="02010600030101010101" pitchFamily="2" charset="-122"/>
                <a:cs typeface="Times New Roman" panose="02020603050405020304" charset="0"/>
              </a:rPr>
              <a:t>5个阶段</a:t>
            </a:r>
            <a:endParaRPr kumimoji="1" lang="en-US" altLang="zh-CN" sz="2400" b="1">
              <a:ln w="12700">
                <a:noFill/>
              </a:ln>
              <a:solidFill>
                <a:schemeClr val="bg1">
                  <a:alpha val="100000"/>
                </a:schemeClr>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81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.3</a:t>
            </a:r>
            <a:r>
              <a:rPr lang="en-US" altLang="zh-CN" sz="4000" dirty="0">
                <a:latin typeface="+mj-ea"/>
                <a:sym typeface="+mn-ea"/>
              </a:rPr>
              <a:t>.1</a:t>
            </a:r>
            <a:r>
              <a:rPr lang="zh-CN" altLang="en-US" sz="4000" dirty="0">
                <a:latin typeface="+mj-ea"/>
                <a:sym typeface="+mn-ea"/>
              </a:rPr>
              <a:t>  </a:t>
            </a:r>
            <a:r>
              <a:rPr lang="en-US" altLang="zh-CN" sz="4000" dirty="0">
                <a:latin typeface="+mj-ea"/>
                <a:sym typeface="+mn-ea"/>
              </a:rPr>
              <a:t>LCP</a:t>
            </a:r>
            <a:r>
              <a:rPr lang="zh-CN" altLang="en-US" sz="4000" dirty="0">
                <a:latin typeface="+mj-ea"/>
                <a:sym typeface="+mn-ea"/>
              </a:rPr>
              <a:t>协议</a:t>
            </a:r>
            <a:endParaRPr lang="zh-CN" altLang="en-US" sz="4000" dirty="0">
              <a:latin typeface="+mj-ea"/>
              <a:sym typeface="+mn-ea"/>
            </a:endParaRPr>
          </a:p>
        </p:txBody>
      </p:sp>
      <p:pic>
        <p:nvPicPr>
          <p:cNvPr id="3" name="图片 2"/>
          <p:cNvPicPr>
            <a:picLocks noChangeAspect="1"/>
          </p:cNvPicPr>
          <p:nvPr/>
        </p:nvPicPr>
        <p:blipFill>
          <a:blip r:embed="rId1"/>
          <a:stretch>
            <a:fillRect/>
          </a:stretch>
        </p:blipFill>
        <p:spPr>
          <a:xfrm>
            <a:off x="2208530" y="1239520"/>
            <a:ext cx="7774940" cy="1845945"/>
          </a:xfrm>
          <a:prstGeom prst="rect">
            <a:avLst/>
          </a:prstGeom>
          <a:noFill/>
          <a:ln w="9525">
            <a:noFill/>
          </a:ln>
        </p:spPr>
      </p:pic>
      <p:sp>
        <p:nvSpPr>
          <p:cNvPr id="5" name="文本框 4"/>
          <p:cNvSpPr txBox="1"/>
          <p:nvPr/>
        </p:nvSpPr>
        <p:spPr>
          <a:xfrm>
            <a:off x="3556000" y="3085782"/>
            <a:ext cx="5080000" cy="829945"/>
          </a:xfrm>
          <a:prstGeom prst="rect">
            <a:avLst/>
          </a:prstGeom>
        </p:spPr>
        <p:txBody>
          <a:bodyPr>
            <a:spAutoFit/>
          </a:bodyPr>
          <a:p>
            <a:pPr marL="228600" indent="0" algn="ctr" defTabSz="266700">
              <a:lnSpc>
                <a:spcPct val="200000"/>
              </a:lnSpc>
              <a:spcBef>
                <a:spcPts val="600"/>
              </a:spcBef>
              <a:spcAft>
                <a:spcPts val="600"/>
              </a:spcAft>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图2-5 LCP包格式</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8" name="文本框 7"/>
          <p:cNvSpPr txBox="1"/>
          <p:nvPr/>
        </p:nvSpPr>
        <p:spPr>
          <a:xfrm>
            <a:off x="3810" y="4250690"/>
            <a:ext cx="5652135" cy="1752600"/>
          </a:xfrm>
          <a:prstGeom prst="rect">
            <a:avLst/>
          </a:prstGeom>
        </p:spPr>
        <p:txBody>
          <a:bodyPr>
            <a:noAutofit/>
          </a:bodyPr>
          <a:p>
            <a:pPr marL="914400" lvl="1" indent="-457200" algn="l" defTabSz="914400" fontAlgn="base" latinLnBrk="0">
              <a:lnSpc>
                <a:spcPct val="150000"/>
              </a:lnSpc>
              <a:spcBef>
                <a:spcPts val="600"/>
              </a:spcBef>
              <a:buClr>
                <a:schemeClr val="accent2"/>
              </a:buClr>
              <a:buSzPct val="70000"/>
              <a:buFont typeface="Wingdings" panose="05000000000000000000" charset="0"/>
              <a:buChar char="Ø"/>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作为PPP协议的重要组成部分，LCP协议主要用于完成PPP链路的配置、维护和终止。</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defTabSz="266700">
              <a:lnSpc>
                <a:spcPct val="150000"/>
              </a:lnSpc>
            </a:pP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defTabSz="266700">
              <a:lnSpc>
                <a:spcPct val="150000"/>
              </a:lnSpc>
            </a:pP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defTabSz="266700">
              <a:lnSpc>
                <a:spcPct val="150000"/>
              </a:lnSpc>
            </a:pP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0" name="文本框 9"/>
          <p:cNvSpPr txBox="1"/>
          <p:nvPr/>
        </p:nvSpPr>
        <p:spPr>
          <a:xfrm>
            <a:off x="5655945" y="4250055"/>
            <a:ext cx="6096000" cy="1753235"/>
          </a:xfrm>
          <a:prstGeom prst="rect">
            <a:avLst/>
          </a:prstGeom>
          <a:noFill/>
        </p:spPr>
        <p:txBody>
          <a:bodyPr wrap="square" rtlCol="0" anchor="t">
            <a:spAutoFit/>
          </a:bodyPr>
          <a:p>
            <a:pPr marL="914400" lvl="1" indent="-457200" algn="l" defTabSz="914400" fontAlgn="base" latinLnBrk="0">
              <a:lnSpc>
                <a:spcPct val="150000"/>
              </a:lnSpc>
              <a:spcBef>
                <a:spcPts val="600"/>
              </a:spcBef>
              <a:buClr>
                <a:schemeClr val="accent2"/>
              </a:buClr>
              <a:buSzPct val="70000"/>
              <a:buFont typeface="Wingdings" panose="05000000000000000000" charset="0"/>
              <a:buChar char="Ø"/>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当LCP数据报文被封装在PPP信息字段中，PPP协议的“协议字段”字段取值为十六进制0xC021。</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
        <p:nvSpPr>
          <p:cNvPr id="6" name="矩形 5"/>
          <p:cNvSpPr/>
          <p:nvPr/>
        </p:nvSpPr>
        <p:spPr>
          <a:xfrm>
            <a:off x="3663315" y="1165860"/>
            <a:ext cx="7232015" cy="913130"/>
          </a:xfrm>
          <a:prstGeom prst="rect">
            <a:avLst/>
          </a:prstGeom>
          <a:ln>
            <a:solidFill>
              <a:srgbClr val="DF4F21"/>
            </a:solidFill>
            <a:prstDash val="dash"/>
          </a:ln>
          <a:extLst>
            <a:ext uri="{909E8E84-426E-40DD-AFC4-6F175D3DCCD1}">
              <a14:hiddenFill xmlns:a14="http://schemas.microsoft.com/office/drawing/2010/main">
                <a:solidFill>
                  <a:schemeClr val="accent1"/>
                </a:solidFill>
              </a14:hiddenFill>
            </a:ext>
          </a:extLst>
        </p:spPr>
        <p:style>
          <a:lnRef idx="3">
            <a:schemeClr val="accent1"/>
          </a:lnRef>
          <a:fillRef idx="0">
            <a:srgbClr val="FFFFFF"/>
          </a:fillRef>
          <a:effectRef idx="0">
            <a:srgbClr val="FFFFFF"/>
          </a:effectRef>
          <a:fontRef idx="minor">
            <a:schemeClr val="tx1"/>
          </a:fontRef>
        </p:style>
        <p:txBody>
          <a:bodyPr rtlCol="0" anchor="ctr"/>
          <a:p>
            <a:pPr algn="ctr">
              <a:lnSpc>
                <a:spcPct val="150000"/>
              </a:lnSpc>
            </a:pP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81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.3</a:t>
            </a:r>
            <a:r>
              <a:rPr lang="en-US" altLang="zh-CN" sz="4000" dirty="0">
                <a:latin typeface="+mj-ea"/>
                <a:sym typeface="+mn-ea"/>
              </a:rPr>
              <a:t>.2</a:t>
            </a:r>
            <a:r>
              <a:rPr lang="zh-CN" altLang="en-US" sz="4000" dirty="0">
                <a:latin typeface="+mj-ea"/>
                <a:sym typeface="+mn-ea"/>
              </a:rPr>
              <a:t>  </a:t>
            </a:r>
            <a:r>
              <a:rPr lang="en-US" altLang="zh-CN" sz="4000" dirty="0">
                <a:latin typeface="+mj-ea"/>
                <a:sym typeface="+mn-ea"/>
              </a:rPr>
              <a:t>PAP</a:t>
            </a:r>
            <a:r>
              <a:rPr lang="zh-CN" altLang="en-US" sz="4000" dirty="0">
                <a:latin typeface="+mj-ea"/>
                <a:sym typeface="+mn-ea"/>
              </a:rPr>
              <a:t>协议</a:t>
            </a:r>
            <a:endParaRPr lang="zh-CN" altLang="en-US" sz="4000" dirty="0">
              <a:latin typeface="+mj-ea"/>
              <a:sym typeface="+mn-ea"/>
            </a:endParaRPr>
          </a:p>
        </p:txBody>
      </p:sp>
      <p:sp>
        <p:nvSpPr>
          <p:cNvPr id="5" name="文本框 4"/>
          <p:cNvSpPr txBox="1"/>
          <p:nvPr/>
        </p:nvSpPr>
        <p:spPr>
          <a:xfrm>
            <a:off x="6542405" y="3312160"/>
            <a:ext cx="5080000" cy="671195"/>
          </a:xfrm>
          <a:prstGeom prst="rect">
            <a:avLst/>
          </a:prstGeom>
        </p:spPr>
        <p:txBody>
          <a:bodyPr>
            <a:noAutofit/>
          </a:bodyPr>
          <a:p>
            <a:pPr marL="228600" indent="0" algn="ctr" defTabSz="266700">
              <a:lnSpc>
                <a:spcPct val="200000"/>
              </a:lnSpc>
              <a:spcBef>
                <a:spcPts val="600"/>
              </a:spcBef>
              <a:spcAft>
                <a:spcPts val="600"/>
              </a:spcAft>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图</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2-8 PAP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数据包格式</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pic>
        <p:nvPicPr>
          <p:cNvPr id="7" name="图片 6"/>
          <p:cNvPicPr>
            <a:picLocks noChangeAspect="1"/>
          </p:cNvPicPr>
          <p:nvPr/>
        </p:nvPicPr>
        <p:blipFill>
          <a:blip r:embed="rId1"/>
          <a:stretch>
            <a:fillRect/>
          </a:stretch>
        </p:blipFill>
        <p:spPr>
          <a:xfrm>
            <a:off x="4170045" y="1424940"/>
            <a:ext cx="7933055" cy="1887220"/>
          </a:xfrm>
          <a:prstGeom prst="rect">
            <a:avLst/>
          </a:prstGeom>
          <a:noFill/>
          <a:ln w="9525">
            <a:noFill/>
          </a:ln>
        </p:spPr>
      </p:pic>
      <p:sp>
        <p:nvSpPr>
          <p:cNvPr id="8" name="文本框 7"/>
          <p:cNvSpPr txBox="1"/>
          <p:nvPr/>
        </p:nvSpPr>
        <p:spPr>
          <a:xfrm>
            <a:off x="242570" y="1424940"/>
            <a:ext cx="4166235" cy="1753235"/>
          </a:xfrm>
          <a:prstGeom prst="rect">
            <a:avLst/>
          </a:prstGeom>
        </p:spPr>
        <p:txBody>
          <a:bodyPr wrap="square">
            <a:spAutoFit/>
          </a:bodyPr>
          <a:p>
            <a:pPr indent="0" algn="l" defTabSz="266700" fontAlgn="auto">
              <a:lnSpc>
                <a:spcPct val="150000"/>
              </a:lnSpc>
              <a:spcBef>
                <a:spcPct val="0"/>
              </a:spcBef>
              <a:spcAft>
                <a:spcPct val="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当PAP数据包被封装在PPP帧的信息字段时，PPP帧的“协议字段”取值为0xC023。</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794385" y="4509135"/>
            <a:ext cx="10828655" cy="1198880"/>
          </a:xfrm>
          <a:prstGeom prst="rect">
            <a:avLst/>
          </a:prstGeom>
        </p:spPr>
        <p:txBody>
          <a:bodyPr wrap="square">
            <a:spAutoFit/>
          </a:bodyPr>
          <a:p>
            <a:pPr indent="0" algn="l" defTabSz="266700" fontAlgn="auto">
              <a:lnSpc>
                <a:spcPct val="150000"/>
              </a:lnSpc>
              <a:spcBef>
                <a:spcPct val="0"/>
              </a:spcBef>
              <a:spcAft>
                <a:spcPct val="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（1）代码：占1字节，用于识别PAP数据包的类型。该字段取值为1表示认证请求，取值为2表示认证确认，取值为3表示认证未确认。</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0" name="矩形 9"/>
          <p:cNvSpPr/>
          <p:nvPr/>
        </p:nvSpPr>
        <p:spPr>
          <a:xfrm>
            <a:off x="6542405" y="1424940"/>
            <a:ext cx="1480820" cy="626745"/>
          </a:xfrm>
          <a:prstGeom prst="rect">
            <a:avLst/>
          </a:prstGeom>
          <a:ln>
            <a:solidFill>
              <a:srgbClr val="DF4F21"/>
            </a:solidFill>
            <a:prstDash val="dash"/>
          </a:ln>
          <a:extLst>
            <a:ext uri="{909E8E84-426E-40DD-AFC4-6F175D3DCCD1}">
              <a14:hiddenFill xmlns:a14="http://schemas.microsoft.com/office/drawing/2010/main">
                <a:solidFill>
                  <a:schemeClr val="accent1"/>
                </a:solidFill>
              </a14:hiddenFill>
            </a:ext>
          </a:extLst>
        </p:spPr>
        <p:style>
          <a:lnRef idx="3">
            <a:schemeClr val="accent1"/>
          </a:lnRef>
          <a:fillRef idx="0">
            <a:srgbClr val="FFFFFF"/>
          </a:fillRef>
          <a:effectRef idx="0">
            <a:srgbClr val="FFFFFF"/>
          </a:effectRef>
          <a:fontRef idx="minor">
            <a:schemeClr val="tx1"/>
          </a:fontRef>
        </p:style>
        <p:txBody>
          <a:bodyPr rtlCol="0" anchor="ctr"/>
          <a:p>
            <a:pPr algn="ctr">
              <a:lnSpc>
                <a:spcPct val="150000"/>
              </a:lnSpc>
            </a:pP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81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.3</a:t>
            </a:r>
            <a:r>
              <a:rPr lang="en-US" altLang="zh-CN" sz="4000" dirty="0">
                <a:latin typeface="+mj-ea"/>
                <a:sym typeface="+mn-ea"/>
              </a:rPr>
              <a:t>.3</a:t>
            </a:r>
            <a:r>
              <a:rPr lang="zh-CN" altLang="en-US" sz="4000" dirty="0">
                <a:latin typeface="+mj-ea"/>
                <a:sym typeface="+mn-ea"/>
              </a:rPr>
              <a:t>  </a:t>
            </a:r>
            <a:r>
              <a:rPr lang="en-US" altLang="zh-CN" sz="4000" dirty="0">
                <a:latin typeface="+mj-ea"/>
                <a:sym typeface="+mn-ea"/>
              </a:rPr>
              <a:t>CHAP</a:t>
            </a:r>
            <a:r>
              <a:rPr lang="zh-CN" altLang="en-US" sz="4000" dirty="0">
                <a:latin typeface="+mj-ea"/>
                <a:sym typeface="+mn-ea"/>
              </a:rPr>
              <a:t>协议</a:t>
            </a:r>
            <a:endParaRPr lang="zh-CN" altLang="en-US" sz="4000" dirty="0">
              <a:latin typeface="+mj-ea"/>
              <a:sym typeface="+mn-ea"/>
            </a:endParaRPr>
          </a:p>
        </p:txBody>
      </p:sp>
      <p:sp>
        <p:nvSpPr>
          <p:cNvPr id="3" name="文本框 2"/>
          <p:cNvSpPr txBox="1"/>
          <p:nvPr/>
        </p:nvSpPr>
        <p:spPr>
          <a:xfrm>
            <a:off x="168910" y="1365250"/>
            <a:ext cx="3377565" cy="2877820"/>
          </a:xfrm>
          <a:prstGeom prst="rect">
            <a:avLst/>
          </a:prstGeom>
        </p:spPr>
        <p:txBody>
          <a:bodyPr wrap="square">
            <a:noAutofit/>
          </a:bodyPr>
          <a:p>
            <a:pPr defTabSz="266700">
              <a:lnSpc>
                <a:spcPct val="150000"/>
              </a:lnSpc>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当CHAP数据包被封装在PPP帧的信息字段时，PPP帧的“协议字段”取值为0xC223。</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5" name="文本框 4"/>
          <p:cNvSpPr txBox="1"/>
          <p:nvPr/>
        </p:nvSpPr>
        <p:spPr>
          <a:xfrm>
            <a:off x="6017260" y="3169602"/>
            <a:ext cx="5080000" cy="829945"/>
          </a:xfrm>
          <a:prstGeom prst="rect">
            <a:avLst/>
          </a:prstGeom>
        </p:spPr>
        <p:txBody>
          <a:bodyPr>
            <a:spAutoFit/>
          </a:bodyPr>
          <a:p>
            <a:pPr marL="228600" indent="0" algn="ctr" defTabSz="266700">
              <a:lnSpc>
                <a:spcPct val="200000"/>
              </a:lnSpc>
              <a:spcBef>
                <a:spcPts val="600"/>
              </a:spcBef>
              <a:spcAft>
                <a:spcPts val="600"/>
              </a:spcAft>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图2-10 CHAP包格式</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pic>
        <p:nvPicPr>
          <p:cNvPr id="6" name="图片 5"/>
          <p:cNvPicPr>
            <a:picLocks noChangeAspect="1"/>
          </p:cNvPicPr>
          <p:nvPr/>
        </p:nvPicPr>
        <p:blipFill>
          <a:blip r:embed="rId1"/>
          <a:stretch>
            <a:fillRect/>
          </a:stretch>
        </p:blipFill>
        <p:spPr>
          <a:xfrm>
            <a:off x="3241675" y="1365250"/>
            <a:ext cx="8755380" cy="1804035"/>
          </a:xfrm>
          <a:prstGeom prst="rect">
            <a:avLst/>
          </a:prstGeom>
          <a:noFill/>
          <a:ln w="9525">
            <a:noFill/>
          </a:ln>
        </p:spPr>
      </p:pic>
      <p:sp>
        <p:nvSpPr>
          <p:cNvPr id="8" name="文本框 7"/>
          <p:cNvSpPr txBox="1"/>
          <p:nvPr/>
        </p:nvSpPr>
        <p:spPr>
          <a:xfrm>
            <a:off x="0" y="4385945"/>
            <a:ext cx="12191365" cy="1753235"/>
          </a:xfrm>
          <a:prstGeom prst="rect">
            <a:avLst/>
          </a:prstGeom>
        </p:spPr>
        <p:txBody>
          <a:bodyPr wrap="square">
            <a:spAutoFit/>
          </a:bodyPr>
          <a:p>
            <a:pPr algn="l" defTabSz="266700">
              <a:lnSpc>
                <a:spcPct val="150000"/>
              </a:lnSpc>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1）代码：占1字节，用于表示CHAP数据包的类型。该字段取值为1表示挑战，发送查询值；取值为2表示应答，提供散列计算结果和用户名；取值为3表示成功，认证通过，允许访问；取值为4表示失败，认证失败，拒绝访问。</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0" name="矩形 9"/>
          <p:cNvSpPr/>
          <p:nvPr/>
        </p:nvSpPr>
        <p:spPr>
          <a:xfrm>
            <a:off x="5895340" y="1384300"/>
            <a:ext cx="1649730" cy="626745"/>
          </a:xfrm>
          <a:prstGeom prst="rect">
            <a:avLst/>
          </a:prstGeom>
          <a:ln>
            <a:solidFill>
              <a:srgbClr val="DF4F21"/>
            </a:solidFill>
            <a:prstDash val="dash"/>
          </a:ln>
          <a:extLst>
            <a:ext uri="{909E8E84-426E-40DD-AFC4-6F175D3DCCD1}">
              <a14:hiddenFill xmlns:a14="http://schemas.microsoft.com/office/drawing/2010/main">
                <a:solidFill>
                  <a:schemeClr val="accent1"/>
                </a:solidFill>
              </a14:hiddenFill>
            </a:ext>
          </a:extLst>
        </p:spPr>
        <p:style>
          <a:lnRef idx="3">
            <a:schemeClr val="accent1"/>
          </a:lnRef>
          <a:fillRef idx="0">
            <a:srgbClr val="FFFFFF"/>
          </a:fillRef>
          <a:effectRef idx="0">
            <a:srgbClr val="FFFFFF"/>
          </a:effectRef>
          <a:fontRef idx="minor">
            <a:schemeClr val="tx1"/>
          </a:fontRef>
        </p:style>
        <p:txBody>
          <a:bodyPr rtlCol="0" anchor="ctr"/>
          <a:p>
            <a:pPr algn="ctr">
              <a:lnSpc>
                <a:spcPct val="150000"/>
              </a:lnSpc>
            </a:pPr>
            <a:endParaRPr lang="zh-CN" altLang="en-US" smtClean="0"/>
          </a:p>
        </p:txBody>
      </p:sp>
      <p:sp>
        <p:nvSpPr>
          <p:cNvPr id="4" name="文本框 3"/>
          <p:cNvSpPr txBox="1"/>
          <p:nvPr/>
        </p:nvSpPr>
        <p:spPr>
          <a:xfrm>
            <a:off x="7111365" y="2585085"/>
            <a:ext cx="1658620" cy="393065"/>
          </a:xfrm>
          <a:prstGeom prst="rect">
            <a:avLst/>
          </a:prstGeom>
          <a:solidFill>
            <a:schemeClr val="bg1"/>
          </a:solidFill>
        </p:spPr>
        <p:txBody>
          <a:bodyPr wrap="square" rtlCol="0">
            <a:noAutofit/>
          </a:bodyPr>
          <a:p>
            <a:pPr algn="ctr"/>
            <a:r>
              <a:rPr lang="zh-CN" altLang="en-US" sz="1400">
                <a:solidFill>
                  <a:schemeClr val="accent2"/>
                </a:solidFill>
              </a:rPr>
              <a:t>协议</a:t>
            </a:r>
            <a:endParaRPr lang="zh-CN" altLang="en-US" sz="1400">
              <a:solidFill>
                <a:schemeClr val="accent2"/>
              </a:solidFill>
            </a:endParaRPr>
          </a:p>
          <a:p>
            <a:pPr algn="ctr"/>
            <a:r>
              <a:rPr lang="en-US" altLang="zh-CN" sz="1400">
                <a:solidFill>
                  <a:schemeClr val="accent2"/>
                </a:solidFill>
              </a:rPr>
              <a:t>0xC223</a:t>
            </a:r>
            <a:endParaRPr lang="en-US" altLang="zh-CN" sz="140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81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.3</a:t>
            </a:r>
            <a:r>
              <a:rPr lang="en-US" altLang="zh-CN" sz="4000" dirty="0">
                <a:latin typeface="+mj-ea"/>
                <a:sym typeface="+mn-ea"/>
              </a:rPr>
              <a:t>.4</a:t>
            </a:r>
            <a:r>
              <a:rPr lang="zh-CN" altLang="en-US" sz="4000" dirty="0">
                <a:latin typeface="+mj-ea"/>
                <a:sym typeface="+mn-ea"/>
              </a:rPr>
              <a:t>  </a:t>
            </a:r>
            <a:r>
              <a:rPr lang="en-US" altLang="zh-CN" sz="4000" dirty="0">
                <a:latin typeface="+mj-ea"/>
                <a:sym typeface="+mn-ea"/>
              </a:rPr>
              <a:t>IPCP</a:t>
            </a:r>
            <a:r>
              <a:rPr lang="zh-CN" altLang="en-US" sz="4000" dirty="0">
                <a:latin typeface="+mj-ea"/>
                <a:sym typeface="+mn-ea"/>
              </a:rPr>
              <a:t>协议</a:t>
            </a:r>
            <a:endParaRPr lang="zh-CN" altLang="en-US" sz="4000" dirty="0">
              <a:latin typeface="+mj-ea"/>
              <a:sym typeface="+mn-ea"/>
            </a:endParaRPr>
          </a:p>
        </p:txBody>
      </p:sp>
      <p:pic>
        <p:nvPicPr>
          <p:cNvPr id="4" name="图片 3"/>
          <p:cNvPicPr>
            <a:picLocks noChangeAspect="1"/>
          </p:cNvPicPr>
          <p:nvPr/>
        </p:nvPicPr>
        <p:blipFill>
          <a:blip r:embed="rId1"/>
          <a:stretch>
            <a:fillRect/>
          </a:stretch>
        </p:blipFill>
        <p:spPr>
          <a:xfrm>
            <a:off x="2179320" y="1364615"/>
            <a:ext cx="9234170" cy="2196465"/>
          </a:xfrm>
          <a:prstGeom prst="rect">
            <a:avLst/>
          </a:prstGeom>
          <a:noFill/>
          <a:ln w="9525">
            <a:noFill/>
          </a:ln>
        </p:spPr>
      </p:pic>
      <p:sp>
        <p:nvSpPr>
          <p:cNvPr id="5" name="文本框 4"/>
          <p:cNvSpPr txBox="1"/>
          <p:nvPr/>
        </p:nvSpPr>
        <p:spPr>
          <a:xfrm>
            <a:off x="5586730" y="3429000"/>
            <a:ext cx="5080000" cy="691515"/>
          </a:xfrm>
          <a:prstGeom prst="rect">
            <a:avLst/>
          </a:prstGeom>
        </p:spPr>
        <p:txBody>
          <a:bodyPr anchor="ctr" anchorCtr="0">
            <a:noAutofit/>
          </a:bodyPr>
          <a:p>
            <a:pPr marL="228600" indent="0" algn="ctr" defTabSz="266700">
              <a:lnSpc>
                <a:spcPct val="200000"/>
              </a:lnSpc>
              <a:spcBef>
                <a:spcPts val="600"/>
              </a:spcBef>
              <a:spcAft>
                <a:spcPts val="600"/>
              </a:spcAft>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图2-11  IPCP报文格式</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6" name="文本框 5"/>
          <p:cNvSpPr txBox="1"/>
          <p:nvPr/>
        </p:nvSpPr>
        <p:spPr>
          <a:xfrm>
            <a:off x="340360" y="3842385"/>
            <a:ext cx="5080000" cy="2122805"/>
          </a:xfrm>
          <a:prstGeom prst="rect">
            <a:avLst/>
          </a:prstGeom>
        </p:spPr>
        <p:txBody>
          <a:bodyPr>
            <a:spAutoFit/>
          </a:bodyPr>
          <a:p>
            <a:pPr defTabSz="266700">
              <a:lnSpc>
                <a:spcPct val="150000"/>
              </a:lnSpc>
            </a:pPr>
            <a:r>
              <a:rPr kumimoji="1" lang="zh-CN" altLang="en-US" sz="22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IPCP的帧格式与LCP类似，但协议字段值不同。当IPCP数据报文被封装在PPP信息字段中，PPP协议的“协议字段”字段取值为十六进制0x8021</a:t>
            </a:r>
            <a:endParaRPr kumimoji="1" lang="zh-CN" altLang="en-US" sz="22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nvSpPr>
        <p:spPr>
          <a:xfrm>
            <a:off x="5500370" y="4396740"/>
            <a:ext cx="6303645" cy="2122805"/>
          </a:xfrm>
          <a:prstGeom prst="rect">
            <a:avLst/>
          </a:prstGeom>
        </p:spPr>
        <p:txBody>
          <a:bodyPr wrap="square">
            <a:spAutoFit/>
          </a:bodyPr>
          <a:p>
            <a:pPr indent="0" algn="just" defTabSz="266700" fontAlgn="auto">
              <a:lnSpc>
                <a:spcPct val="150000"/>
              </a:lnSpc>
              <a:spcBef>
                <a:spcPct val="0"/>
              </a:spcBef>
              <a:spcAft>
                <a:spcPct val="0"/>
              </a:spcAft>
            </a:pPr>
            <a:r>
              <a:rPr kumimoji="1" lang="zh-CN" altLang="en-US" sz="22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（1）代码：占1字节，用于表示IPCP数据包的类型。IPCP包类型只是LCP包类型的一个子集，它只使用代码为1～7的包类型（表</a:t>
            </a:r>
            <a:r>
              <a:rPr kumimoji="1" lang="en-US" altLang="zh-CN" sz="22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2-1</a:t>
            </a:r>
            <a:r>
              <a:rPr kumimoji="1" lang="zh-CN" altLang="en-US" sz="22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中前</a:t>
            </a:r>
            <a:r>
              <a:rPr kumimoji="1" lang="en-US" altLang="zh-CN" sz="22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7</a:t>
            </a:r>
            <a:r>
              <a:rPr kumimoji="1" lang="zh-CN" altLang="en-US" sz="22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行），使用其他代码不被承认并且导致Code-Rejects。</a:t>
            </a:r>
            <a:endParaRPr kumimoji="1" lang="zh-CN" altLang="en-US" sz="22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0" name="矩形 9"/>
          <p:cNvSpPr/>
          <p:nvPr/>
        </p:nvSpPr>
        <p:spPr>
          <a:xfrm>
            <a:off x="4959350" y="1425575"/>
            <a:ext cx="1700530" cy="626745"/>
          </a:xfrm>
          <a:prstGeom prst="rect">
            <a:avLst/>
          </a:prstGeom>
          <a:ln>
            <a:solidFill>
              <a:srgbClr val="DF4F21"/>
            </a:solidFill>
            <a:prstDash val="dash"/>
          </a:ln>
          <a:extLst>
            <a:ext uri="{909E8E84-426E-40DD-AFC4-6F175D3DCCD1}">
              <a14:hiddenFill xmlns:a14="http://schemas.microsoft.com/office/drawing/2010/main">
                <a:solidFill>
                  <a:schemeClr val="accent1"/>
                </a:solidFill>
              </a14:hiddenFill>
            </a:ext>
          </a:extLst>
        </p:spPr>
        <p:style>
          <a:lnRef idx="3">
            <a:schemeClr val="accent1"/>
          </a:lnRef>
          <a:fillRef idx="0">
            <a:srgbClr val="FFFFFF"/>
          </a:fillRef>
          <a:effectRef idx="0">
            <a:srgbClr val="FFFFFF"/>
          </a:effectRef>
          <a:fontRef idx="minor">
            <a:schemeClr val="tx1"/>
          </a:fontRef>
        </p:style>
        <p:txBody>
          <a:bodyPr rtlCol="0" anchor="ctr"/>
          <a:p>
            <a:pPr algn="ctr">
              <a:lnSpc>
                <a:spcPct val="150000"/>
              </a:lnSpc>
            </a:pPr>
            <a:endParaRPr lang="zh-CN" altLang="en-US" smtClean="0"/>
          </a:p>
        </p:txBody>
      </p:sp>
      <p:sp>
        <p:nvSpPr>
          <p:cNvPr id="3" name="文本框 2"/>
          <p:cNvSpPr txBox="1"/>
          <p:nvPr/>
        </p:nvSpPr>
        <p:spPr>
          <a:xfrm>
            <a:off x="6309360" y="2931160"/>
            <a:ext cx="1658620" cy="436880"/>
          </a:xfrm>
          <a:prstGeom prst="rect">
            <a:avLst/>
          </a:prstGeom>
          <a:solidFill>
            <a:schemeClr val="bg1"/>
          </a:solidFill>
        </p:spPr>
        <p:txBody>
          <a:bodyPr wrap="square" rtlCol="0">
            <a:noAutofit/>
          </a:bodyPr>
          <a:p>
            <a:pPr algn="ctr"/>
            <a:r>
              <a:rPr lang="zh-CN" altLang="en-US" sz="1400">
                <a:solidFill>
                  <a:schemeClr val="accent2"/>
                </a:solidFill>
              </a:rPr>
              <a:t>协议</a:t>
            </a:r>
            <a:endParaRPr lang="zh-CN" altLang="en-US" sz="1400">
              <a:solidFill>
                <a:schemeClr val="accent2"/>
              </a:solidFill>
            </a:endParaRPr>
          </a:p>
          <a:p>
            <a:pPr algn="ctr"/>
            <a:r>
              <a:rPr lang="en-US" altLang="zh-CN" sz="1400">
                <a:solidFill>
                  <a:schemeClr val="accent2"/>
                </a:solidFill>
              </a:rPr>
              <a:t>0x8021</a:t>
            </a:r>
            <a:endParaRPr lang="en-US" altLang="zh-CN" sz="1400">
              <a:solidFill>
                <a:schemeClr val="accent2"/>
              </a:solidFill>
            </a:endParaRPr>
          </a:p>
        </p:txBody>
      </p:sp>
      <p:sp>
        <p:nvSpPr>
          <p:cNvPr id="8" name="文本框 7"/>
          <p:cNvSpPr txBox="1"/>
          <p:nvPr/>
        </p:nvSpPr>
        <p:spPr>
          <a:xfrm>
            <a:off x="5149215" y="1511300"/>
            <a:ext cx="1349375" cy="436880"/>
          </a:xfrm>
          <a:prstGeom prst="rect">
            <a:avLst/>
          </a:prstGeom>
          <a:solidFill>
            <a:schemeClr val="bg1"/>
          </a:solidFill>
        </p:spPr>
        <p:txBody>
          <a:bodyPr wrap="square" rtlCol="0">
            <a:noAutofit/>
          </a:bodyPr>
          <a:p>
            <a:pPr algn="ctr"/>
            <a:r>
              <a:rPr lang="zh-CN" altLang="en-US" sz="1400">
                <a:solidFill>
                  <a:schemeClr val="accent2"/>
                </a:solidFill>
              </a:rPr>
              <a:t>代码</a:t>
            </a:r>
            <a:endParaRPr lang="zh-CN" altLang="en-US" sz="1400">
              <a:solidFill>
                <a:schemeClr val="accent2"/>
              </a:solidFill>
            </a:endParaRPr>
          </a:p>
          <a:p>
            <a:pPr algn="ctr"/>
            <a:r>
              <a:rPr lang="en-US" altLang="zh-CN" sz="1400">
                <a:solidFill>
                  <a:schemeClr val="accent2"/>
                </a:solidFill>
              </a:rPr>
              <a:t>1-7</a:t>
            </a:r>
            <a:endParaRPr lang="en-US" altLang="zh-CN" sz="140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Helvetica Light"/>
              </a:rPr>
              <a:t>2.3 </a:t>
            </a:r>
            <a:r>
              <a:rPr lang="zh-CN" altLang="en-US" sz="4000" dirty="0">
                <a:latin typeface="+mj-ea"/>
                <a:sym typeface="Helvetica Light"/>
              </a:rPr>
              <a:t>L2TP协议</a:t>
            </a:r>
            <a:endParaRPr lang="zh-CN" altLang="en-US" sz="4000" dirty="0">
              <a:latin typeface="+mj-ea"/>
              <a:sym typeface="+mn-ea"/>
            </a:endParaRPr>
          </a:p>
        </p:txBody>
      </p:sp>
      <p:sp>
        <p:nvSpPr>
          <p:cNvPr id="3" name="文本框 2"/>
          <p:cNvSpPr txBox="1"/>
          <p:nvPr/>
        </p:nvSpPr>
        <p:spPr>
          <a:xfrm>
            <a:off x="402590" y="1325245"/>
            <a:ext cx="11495405" cy="5001895"/>
          </a:xfrm>
          <a:prstGeom prst="rect">
            <a:avLst/>
          </a:prstGeom>
          <a:noFill/>
        </p:spPr>
        <p:txBody>
          <a:bodyPr wrap="square" rtlCol="0" anchor="t">
            <a:noAutofit/>
          </a:bodyPr>
          <a:p>
            <a:pPr marL="342900" indent="-342900" algn="l">
              <a:lnSpc>
                <a:spcPct val="150000"/>
              </a:lnSpc>
              <a:spcBef>
                <a:spcPts val="0"/>
              </a:spcBef>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为了实现链路端点可以跨越多个网络，思科在1998年5月公布了第二层转发L2F，微软、3Com等于1999年7月公布了点到点隧道协议PPTP。</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spcBef>
                <a:spcPts val="0"/>
              </a:spcBef>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为了避免L2F和PPTP两种隧道技术的不兼容性，由Internet工程任务组起草，微软、Cisco、3COM等公司参与制定，于1999年8月公布</a:t>
            </a:r>
            <a:r>
              <a:rPr kumimoji="1" lang="en-US" altLang="zh-CN" sz="28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第二层隧道协议</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L2TP。</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spcBef>
                <a:spcPts val="0"/>
              </a:spcBef>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L2F通常被认为是“L2TPv1”，1999年8月推出的L2TP被认为是“</a:t>
            </a:r>
            <a:r>
              <a:rPr kumimoji="1" lang="en-US" altLang="zh-CN" sz="28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L2TPv2</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.1 </a:t>
            </a:r>
            <a:r>
              <a:rPr lang="zh-CN" altLang="en-US" sz="4000" dirty="0">
                <a:latin typeface="+mj-ea"/>
                <a:sym typeface="Helvetica Light"/>
              </a:rPr>
              <a:t>L2TP架构</a:t>
            </a:r>
            <a:endParaRPr lang="zh-CN" altLang="en-US" sz="4000" dirty="0">
              <a:latin typeface="+mj-ea"/>
              <a:sym typeface="+mn-ea"/>
            </a:endParaRPr>
          </a:p>
        </p:txBody>
      </p:sp>
      <p:sp>
        <p:nvSpPr>
          <p:cNvPr id="6" name="文本框 5"/>
          <p:cNvSpPr txBox="1"/>
          <p:nvPr/>
        </p:nvSpPr>
        <p:spPr>
          <a:xfrm>
            <a:off x="286385" y="1757045"/>
            <a:ext cx="5137785" cy="4165600"/>
          </a:xfrm>
          <a:prstGeom prst="rect">
            <a:avLst/>
          </a:prstGeom>
          <a:ln w="28575" cmpd="sng">
            <a:solidFill>
              <a:srgbClr val="FF0000"/>
            </a:solidFill>
            <a:prstDash val="solid"/>
          </a:ln>
        </p:spPr>
        <p:txBody>
          <a:bodyPr>
            <a:noAutofit/>
          </a:bodyPr>
          <a:p>
            <a:pPr marL="342900" indent="-342900" algn="l" defTabSz="914400">
              <a:lnSpc>
                <a:spcPct val="150000"/>
              </a:lnSpc>
              <a:buClr>
                <a:srgbClr val="DF4F21"/>
              </a:buClr>
              <a:buSzTx/>
              <a:buFont typeface="Wingdings" panose="05000000000000000000" charset="0"/>
              <a:buChar char="p"/>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L2TP接入集中器（L2TP Access Concentator，LAC）和L2TP网络服务器（L2TP Network Server，LNS）是L2TP的两个重要组件</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（隧道的两个端点，互为对等体）</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indent="-342900" algn="l" defTabSz="914400">
              <a:lnSpc>
                <a:spcPct val="150000"/>
              </a:lnSpc>
              <a:buClr>
                <a:srgbClr val="DF4F21"/>
              </a:buClr>
              <a:buSzTx/>
              <a:buFont typeface="Wingdings" panose="05000000000000000000" charset="0"/>
              <a:buChar char="p"/>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在不同的网络中，二者</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通过协商建立隧道，用以转发PPP报文。</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pic>
        <p:nvPicPr>
          <p:cNvPr id="8" name="图片 7"/>
          <p:cNvPicPr>
            <a:picLocks noChangeAspect="1"/>
          </p:cNvPicPr>
          <p:nvPr/>
        </p:nvPicPr>
        <p:blipFill>
          <a:blip r:embed="rId1"/>
          <a:stretch>
            <a:fillRect/>
          </a:stretch>
        </p:blipFill>
        <p:spPr>
          <a:xfrm>
            <a:off x="5811520" y="1407160"/>
            <a:ext cx="6671310" cy="4043680"/>
          </a:xfrm>
          <a:prstGeom prst="rect">
            <a:avLst/>
          </a:prstGeom>
          <a:noFill/>
          <a:ln w="9525">
            <a:noFill/>
          </a:ln>
        </p:spPr>
      </p:pic>
      <p:sp>
        <p:nvSpPr>
          <p:cNvPr id="9" name="文本框 8"/>
          <p:cNvSpPr txBox="1"/>
          <p:nvPr/>
        </p:nvSpPr>
        <p:spPr>
          <a:xfrm>
            <a:off x="6432550" y="5742622"/>
            <a:ext cx="5080000" cy="829945"/>
          </a:xfrm>
          <a:prstGeom prst="rect">
            <a:avLst/>
          </a:prstGeom>
        </p:spPr>
        <p:txBody>
          <a:bodyPr>
            <a:spAutoFit/>
          </a:bodyPr>
          <a:p>
            <a:pPr marL="228600" indent="0" algn="ctr" defTabSz="266700">
              <a:lnSpc>
                <a:spcPct val="200000"/>
              </a:lnSpc>
              <a:spcBef>
                <a:spcPts val="600"/>
              </a:spcBef>
              <a:spcAft>
                <a:spcPts val="60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图1   L2TP应用场景示意图</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.1 </a:t>
            </a:r>
            <a:r>
              <a:rPr lang="zh-CN" altLang="en-US" sz="4000" dirty="0">
                <a:latin typeface="+mj-ea"/>
                <a:sym typeface="Helvetica Light"/>
              </a:rPr>
              <a:t>L2TP架构</a:t>
            </a:r>
            <a:endParaRPr lang="zh-CN" altLang="en-US" sz="4000" dirty="0">
              <a:latin typeface="+mj-ea"/>
              <a:sym typeface="+mn-ea"/>
            </a:endParaRPr>
          </a:p>
        </p:txBody>
      </p:sp>
      <p:sp>
        <p:nvSpPr>
          <p:cNvPr id="6" name="文本框 5"/>
          <p:cNvSpPr txBox="1"/>
          <p:nvPr/>
        </p:nvSpPr>
        <p:spPr>
          <a:xfrm>
            <a:off x="419100" y="1393190"/>
            <a:ext cx="5888355" cy="4766310"/>
          </a:xfrm>
          <a:prstGeom prst="rect">
            <a:avLst/>
          </a:prstGeom>
          <a:ln w="28575" cmpd="sng">
            <a:solidFill>
              <a:srgbClr val="FF0000"/>
            </a:solidFill>
            <a:prstDash val="solid"/>
          </a:ln>
        </p:spPr>
        <p:txBody>
          <a:bodyPr>
            <a:noAutofit/>
          </a:bodyPr>
          <a:p>
            <a:pPr marL="342900" lvl="1" indent="-342900" algn="l" latinLnBrk="0">
              <a:lnSpc>
                <a:spcPct val="150000"/>
              </a:lnSpc>
              <a:spcBef>
                <a:spcPts val="600"/>
              </a:spcBef>
              <a:buClr>
                <a:srgbClr val="DF4F21"/>
              </a:buClr>
              <a:buSzTx/>
              <a:buFont typeface="Wingdings" panose="05000000000000000000" charset="0"/>
              <a:buChar char="p"/>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L2TP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是端口号为</a:t>
            </a:r>
            <a:r>
              <a:rPr kumimoji="1" lang="en-US" altLang="zh-CN"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1701</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的应用层协议。该协议的层次结构如图所示：</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包括数据消息和控制消息</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latinLnBrk="0">
              <a:lnSpc>
                <a:spcPct val="150000"/>
              </a:lnSpc>
              <a:spcBef>
                <a:spcPts val="600"/>
              </a:spcBef>
              <a:buClr>
                <a:schemeClr val="accent2"/>
              </a:buClr>
              <a:buSzPct val="70000"/>
              <a:buFont typeface="Wingdings" panose="05000000000000000000" charset="0"/>
              <a:buChar char="Ø"/>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通过数据通道传输数据消息，该通道无法保证数据消息的可靠传输；</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latinLnBrk="0">
              <a:lnSpc>
                <a:spcPct val="150000"/>
              </a:lnSpc>
              <a:spcBef>
                <a:spcPts val="600"/>
              </a:spcBef>
              <a:buClr>
                <a:schemeClr val="accent2"/>
              </a:buClr>
              <a:buSzPct val="70000"/>
              <a:buFont typeface="Wingdings" panose="05000000000000000000" charset="0"/>
              <a:buChar char="Ø"/>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通过控制通道传输</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L2TP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隧道和会话协商等控制消息，该通道可以保证控制消息的可靠传输。</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defTabSz="266700">
              <a:lnSpc>
                <a:spcPct val="150000"/>
              </a:lnSpc>
            </a:pP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9" name="文本框 8"/>
          <p:cNvSpPr txBox="1"/>
          <p:nvPr/>
        </p:nvSpPr>
        <p:spPr>
          <a:xfrm>
            <a:off x="6589395" y="4912677"/>
            <a:ext cx="5080000" cy="706755"/>
          </a:xfrm>
          <a:prstGeom prst="rect">
            <a:avLst/>
          </a:prstGeom>
        </p:spPr>
        <p:txBody>
          <a:bodyPr>
            <a:spAutoFit/>
          </a:bodyPr>
          <a:p>
            <a:pPr marL="228600" indent="0" algn="ctr" defTabSz="266700">
              <a:lnSpc>
                <a:spcPct val="200000"/>
              </a:lnSpc>
              <a:spcBef>
                <a:spcPts val="600"/>
              </a:spcBef>
              <a:spcAft>
                <a:spcPts val="600"/>
              </a:spcAft>
            </a:pPr>
            <a:r>
              <a:rPr kumimoji="1" lang="zh-CN" altLang="en-US" sz="20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图</a:t>
            </a:r>
            <a:r>
              <a:rPr kumimoji="1" lang="en-US" altLang="zh-CN" sz="20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2  L2TP</a:t>
            </a:r>
            <a:r>
              <a:rPr kumimoji="1" lang="zh-CN" altLang="en-US" sz="20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协议层次结构</a:t>
            </a:r>
            <a:endParaRPr kumimoji="1" lang="zh-CN" altLang="en-US" sz="20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pic>
        <p:nvPicPr>
          <p:cNvPr id="2" name="图片 1"/>
          <p:cNvPicPr>
            <a:picLocks noChangeAspect="1"/>
          </p:cNvPicPr>
          <p:nvPr/>
        </p:nvPicPr>
        <p:blipFill>
          <a:blip r:embed="rId1"/>
          <a:stretch>
            <a:fillRect/>
          </a:stretch>
        </p:blipFill>
        <p:spPr>
          <a:xfrm>
            <a:off x="6536690" y="2633345"/>
            <a:ext cx="5405755" cy="18319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27000" y="1169670"/>
            <a:ext cx="11799570" cy="1098550"/>
          </a:xfrm>
          <a:prstGeom prst="rect">
            <a:avLst/>
          </a:prstGeom>
        </p:spPr>
        <p:txBody>
          <a:bodyPr>
            <a:noAutofit/>
          </a:bodyPr>
          <a:p>
            <a:pPr marL="342900" lvl="1" indent="-342900" algn="l" defTabSz="914400">
              <a:lnSpc>
                <a:spcPct val="150000"/>
              </a:lnSpc>
              <a:spcBef>
                <a:spcPts val="600"/>
              </a:spcBef>
              <a:buClr>
                <a:srgbClr val="DF4F21"/>
              </a:buClr>
              <a:buSzTx/>
              <a:buFont typeface="Wingdings" panose="05000000000000000000" charset="0"/>
              <a:buChar char="p"/>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L2TP协议的工作流程包括5步：</a:t>
            </a:r>
            <a:r>
              <a:rPr kumimoji="1" lang="zh-CN" altLang="en-US"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rPr>
              <a:t>建立控制连接、</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建立会话、数据通信、终止会话及终止控制连接</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4" name="矩形 3"/>
          <p:cNvSpPr>
            <a:spLocks noChangeAspect="1"/>
          </p:cNvSpPr>
          <p:nvPr/>
        </p:nvSpPr>
        <p:spPr>
          <a:xfrm>
            <a:off x="0" y="0"/>
            <a:ext cx="127000" cy="12700"/>
          </a:xfrm>
          <a:prstGeom prst="rect">
            <a:avLst/>
          </a:prstGeom>
        </p:spPr>
      </p:sp>
      <p:sp>
        <p:nvSpPr>
          <p:cNvPr id="5" name="矩形 4"/>
          <p:cNvSpPr>
            <a:spLocks noChangeAspect="1"/>
          </p:cNvSpPr>
          <p:nvPr/>
        </p:nvSpPr>
        <p:spPr>
          <a:xfrm>
            <a:off x="0" y="0"/>
            <a:ext cx="127000" cy="12700"/>
          </a:xfrm>
          <a:prstGeom prst="rect">
            <a:avLst/>
          </a:prstGeom>
        </p:spPr>
      </p:sp>
      <p:sp>
        <p:nvSpPr>
          <p:cNvPr id="6" name="矩形 5"/>
          <p:cNvSpPr>
            <a:spLocks noChangeAspect="1"/>
          </p:cNvSpPr>
          <p:nvPr/>
        </p:nvSpPr>
        <p:spPr>
          <a:xfrm>
            <a:off x="0" y="0"/>
            <a:ext cx="127000" cy="12700"/>
          </a:xfrm>
          <a:prstGeom prst="rect">
            <a:avLst/>
          </a:prstGeom>
        </p:spPr>
      </p:sp>
      <p:pic>
        <p:nvPicPr>
          <p:cNvPr id="8" name="图片 7" descr="上"/>
          <p:cNvPicPr>
            <a:picLocks noChangeAspect="1"/>
          </p:cNvPicPr>
          <p:nvPr/>
        </p:nvPicPr>
        <p:blipFill>
          <a:blip r:embed="rId1"/>
          <a:stretch>
            <a:fillRect/>
          </a:stretch>
        </p:blipFill>
        <p:spPr>
          <a:xfrm>
            <a:off x="6574155" y="2493010"/>
            <a:ext cx="5221605" cy="4191000"/>
          </a:xfrm>
          <a:prstGeom prst="rect">
            <a:avLst/>
          </a:prstGeom>
        </p:spPr>
      </p:pic>
      <p:sp>
        <p:nvSpPr>
          <p:cNvPr id="10" name="文本框 9"/>
          <p:cNvSpPr txBox="1"/>
          <p:nvPr/>
        </p:nvSpPr>
        <p:spPr>
          <a:xfrm>
            <a:off x="539750" y="2871470"/>
            <a:ext cx="5051425" cy="3034030"/>
          </a:xfrm>
          <a:prstGeom prst="rect">
            <a:avLst/>
          </a:prstGeom>
          <a:ln w="28575" cmpd="sng">
            <a:solidFill>
              <a:srgbClr val="FF0000"/>
            </a:solidFill>
            <a:prstDash val="solid"/>
          </a:ln>
        </p:spPr>
        <p:txBody>
          <a:bodyPr>
            <a:noAutofit/>
          </a:bodyPr>
          <a:p>
            <a:pPr indent="0" algn="just" defTabSz="266700" fontAlgn="auto">
              <a:lnSpc>
                <a:spcPct val="150000"/>
              </a:lnSpc>
              <a:spcBef>
                <a:spcPct val="0"/>
              </a:spcBef>
              <a:spcAft>
                <a:spcPct val="0"/>
              </a:spcAft>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（1）建立控制连接SCC（Start Control Connection，SCC）：在建立控制连接阶段，LAC和LNS协商控制连接参数，并利用CHAP的</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三次握手</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，互相验证对方的身份。</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1" name="圆角矩形 10"/>
          <p:cNvSpPr/>
          <p:nvPr/>
        </p:nvSpPr>
        <p:spPr>
          <a:xfrm>
            <a:off x="6560185" y="2411730"/>
            <a:ext cx="5365750" cy="1390015"/>
          </a:xfrm>
          <a:prstGeom prst="roundRect">
            <a:avLst/>
          </a:prstGeom>
          <a:ln w="25400" cap="flat" cmpd="sng" algn="ctr">
            <a:solidFill>
              <a:srgbClr val="FF0000"/>
            </a:solidFill>
            <a:prstDash val="dash"/>
          </a:ln>
          <a:extLst>
            <a:ext uri="{909E8E84-426E-40DD-AFC4-6F175D3DCCD1}">
              <a14:hiddenFill xmlns:a14="http://schemas.microsoft.com/office/drawing/2010/main">
                <a:solidFill>
                  <a:schemeClr val="accent1"/>
                </a:solidFill>
              </a14:hiddenFill>
            </a:ext>
          </a:extLst>
        </p:spPr>
        <p:style>
          <a:lnRef idx="0">
            <a:schemeClr val="accent1"/>
          </a:lnRef>
          <a:fillRef idx="0">
            <a:srgbClr val="FFFFFF"/>
          </a:fillRef>
          <a:effectRef idx="0">
            <a:srgbClr val="FFFFFF"/>
          </a:effectRef>
          <a:fontRef idx="minor">
            <a:schemeClr val="tx1"/>
          </a:fontRef>
        </p:style>
        <p:txBody>
          <a:bodyPr rtlCol="0" anchor="ctr"/>
          <a:p>
            <a:pPr algn="ctr">
              <a:lnSpc>
                <a:spcPct val="150000"/>
              </a:lnSpc>
            </a:pPr>
            <a:endParaRPr lang="zh-CN" altLang="en-US" smtClean="0"/>
          </a:p>
        </p:txBody>
      </p:sp>
      <p:sp>
        <p:nvSpPr>
          <p:cNvPr id="13" name="标题 12"/>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.2 </a:t>
            </a:r>
            <a:r>
              <a:rPr lang="en-US" altLang="zh-CN" sz="4000" dirty="0">
                <a:latin typeface="+mj-ea"/>
                <a:sym typeface="+mn-ea"/>
              </a:rPr>
              <a:t>L2TP</a:t>
            </a:r>
            <a:r>
              <a:rPr lang="zh-CN" altLang="en-US" sz="4000" dirty="0">
                <a:latin typeface="+mj-ea"/>
                <a:sym typeface="+mn-ea"/>
              </a:rPr>
              <a:t>协议流程</a:t>
            </a:r>
            <a:endParaRPr lang="zh-CN" altLang="en-US" sz="4000" dirty="0">
              <a:latin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.3 </a:t>
            </a:r>
            <a:r>
              <a:rPr lang="zh-CN" altLang="en-US" sz="4000" dirty="0">
                <a:latin typeface="+mj-ea"/>
                <a:sym typeface="Helvetica Light"/>
              </a:rPr>
              <a:t>L2TP报文</a:t>
            </a:r>
            <a:endParaRPr lang="zh-CN" altLang="en-US" sz="4000" dirty="0">
              <a:latin typeface="+mj-ea"/>
              <a:sym typeface="+mn-ea"/>
            </a:endParaRPr>
          </a:p>
        </p:txBody>
      </p:sp>
      <p:sp>
        <p:nvSpPr>
          <p:cNvPr id="3" name="文本框 2"/>
          <p:cNvSpPr txBox="1"/>
          <p:nvPr/>
        </p:nvSpPr>
        <p:spPr>
          <a:xfrm>
            <a:off x="521970" y="4326890"/>
            <a:ext cx="11296015" cy="4354195"/>
          </a:xfrm>
          <a:prstGeom prst="rect">
            <a:avLst/>
          </a:prstGeom>
        </p:spPr>
        <p:txBody>
          <a:bodyPr wrap="square">
            <a:spAutoFit/>
          </a:bodyPr>
          <a:p>
            <a:pPr marL="342900" lvl="1" indent="-342900" algn="l" defTabSz="914400">
              <a:lnSpc>
                <a:spcPct val="150000"/>
              </a:lnSpc>
              <a:spcBef>
                <a:spcPts val="600"/>
              </a:spcBef>
              <a:buClr>
                <a:srgbClr val="DF4F21"/>
              </a:buClr>
              <a:buSzTx/>
              <a:buFont typeface="Wingdings" panose="05000000000000000000" charset="0"/>
              <a:buChar char="p"/>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L2TP 连接的维护以及 PPP 数据的传送都是通过</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 L2TP 报文完成的</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lvl="1" indent="-342900" algn="l" defTabSz="914400">
              <a:lnSpc>
                <a:spcPct val="150000"/>
              </a:lnSpc>
              <a:spcBef>
                <a:spcPts val="600"/>
              </a:spcBef>
              <a:buClr>
                <a:srgbClr val="DF4F21"/>
              </a:buClr>
              <a:buSzTx/>
              <a:buFont typeface="Wingdings" panose="05000000000000000000" charset="0"/>
              <a:buChar char="p"/>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L2TP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协议设计运行在</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UDP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之上，因此需要在</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L2TP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报文外再封装一个</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UDP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报文头</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为了在</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IP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网络上路由这个</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UDP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数据包，需要为其添加一个新的</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IP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报头。</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0" lvl="1" indent="-342900" algn="l" defTabSz="914400">
              <a:lnSpc>
                <a:spcPct val="150000"/>
              </a:lnSpc>
              <a:spcBef>
                <a:spcPts val="600"/>
              </a:spcBef>
              <a:buClr>
                <a:srgbClr val="DF4F21"/>
              </a:buClr>
              <a:buSzTx/>
              <a:buFont typeface="Wingdings" panose="05000000000000000000" charset="0"/>
              <a:buChar char="p"/>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LAC在收到PPP报文之后，先后为其封装</a:t>
            </a:r>
            <a:r>
              <a:rPr kumimoji="1" lang="zh-CN" altLang="en-US"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L2TP报文头</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、UDP报文头和新的IP头。</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lvl="1" indent="-342900" algn="l" defTabSz="914400">
              <a:lnSpc>
                <a:spcPct val="150000"/>
              </a:lnSpc>
              <a:spcBef>
                <a:spcPts val="600"/>
              </a:spcBef>
              <a:buClr>
                <a:srgbClr val="DF4F21"/>
              </a:buClr>
              <a:buSzTx/>
              <a:buFont typeface="Wingdings" panose="05000000000000000000" charset="0"/>
              <a:buChar char="p"/>
            </a:pP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lvl="1" indent="-342900" algn="l" defTabSz="914400">
              <a:lnSpc>
                <a:spcPct val="150000"/>
              </a:lnSpc>
              <a:spcBef>
                <a:spcPts val="600"/>
              </a:spcBef>
              <a:buClr>
                <a:srgbClr val="DF4F21"/>
              </a:buClr>
              <a:buSzTx/>
              <a:buFont typeface="Wingdings" panose="05000000000000000000" charset="0"/>
              <a:buChar char="p"/>
            </a:pP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lvl="1" indent="-342900" algn="l" defTabSz="914400">
              <a:lnSpc>
                <a:spcPct val="150000"/>
              </a:lnSpc>
              <a:spcBef>
                <a:spcPts val="600"/>
              </a:spcBef>
              <a:buClr>
                <a:srgbClr val="DF4F21"/>
              </a:buClr>
              <a:buSzTx/>
              <a:buFont typeface="Wingdings" panose="05000000000000000000" charset="0"/>
              <a:buChar char="p"/>
            </a:pP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pic>
        <p:nvPicPr>
          <p:cNvPr id="4" name="图片 3"/>
          <p:cNvPicPr>
            <a:picLocks noChangeAspect="1"/>
          </p:cNvPicPr>
          <p:nvPr/>
        </p:nvPicPr>
        <p:blipFill>
          <a:blip r:embed="rId1"/>
          <a:stretch>
            <a:fillRect/>
          </a:stretch>
        </p:blipFill>
        <p:spPr>
          <a:xfrm>
            <a:off x="1644650" y="1312545"/>
            <a:ext cx="8402320" cy="27622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sz="4000" dirty="0">
                <a:latin typeface="+mj-ea"/>
                <a:sym typeface="+mn-ea"/>
              </a:rPr>
              <a:t>2.4.1 以太网协议概述</a:t>
            </a:r>
            <a:endParaRPr lang="zh-CN" altLang="en-US" sz="4000" dirty="0">
              <a:latin typeface="+mj-ea"/>
            </a:endParaRPr>
          </a:p>
        </p:txBody>
      </p:sp>
      <p:grpSp>
        <p:nvGrpSpPr>
          <p:cNvPr id="7" name="组合 6"/>
          <p:cNvGrpSpPr/>
          <p:nvPr/>
        </p:nvGrpSpPr>
        <p:grpSpPr>
          <a:xfrm>
            <a:off x="1276985" y="1621790"/>
            <a:ext cx="9316085" cy="3615055"/>
            <a:chOff x="411" y="2452"/>
            <a:chExt cx="14671" cy="5693"/>
          </a:xfrm>
        </p:grpSpPr>
        <p:sp>
          <p:nvSpPr>
            <p:cNvPr id="3" name="文本框 2"/>
            <p:cNvSpPr txBox="1"/>
            <p:nvPr/>
          </p:nvSpPr>
          <p:spPr>
            <a:xfrm>
              <a:off x="411" y="2452"/>
              <a:ext cx="10209" cy="5693"/>
            </a:xfrm>
            <a:prstGeom prst="rect">
              <a:avLst/>
            </a:prstGeom>
            <a:noFill/>
          </p:spPr>
          <p:txBody>
            <a:bodyPr wrap="square" rtlCol="0" anchor="t">
              <a:spAutoFit/>
            </a:bodyPr>
            <a:p>
              <a:pPr marL="342900" indent="-342900" algn="l">
                <a:lnSpc>
                  <a:spcPct val="150000"/>
                </a:lnSpc>
                <a:spcBef>
                  <a:spcPts val="0"/>
                </a:spcBef>
                <a:buClr>
                  <a:srgbClr val="DF4F21"/>
                </a:buClr>
                <a:buSzTx/>
                <a:buFont typeface="Wingdings" panose="05000000000000000000" charset="0"/>
                <a:buChar char="p"/>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信道争用——谁先发？</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ctr" fontAlgn="base">
                <a:lnSpc>
                  <a:spcPct val="150000"/>
                </a:lnSpc>
                <a:spcBef>
                  <a:spcPts val="600"/>
                </a:spcBef>
                <a:buClr>
                  <a:schemeClr val="accent2"/>
                </a:buClr>
                <a:buSzPct val="70000"/>
                <a:buFont typeface="Wingdings" panose="05000000000000000000" charset="0"/>
                <a:buChar char="Ø"/>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CSMA/CD（ </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先听后发；边听边发；        冲突停发；随机重发）</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indent="-342900" algn="l">
                <a:lnSpc>
                  <a:spcPct val="150000"/>
                </a:lnSpc>
                <a:spcBef>
                  <a:spcPts val="0"/>
                </a:spcBef>
                <a:buClr>
                  <a:srgbClr val="DF4F21"/>
                </a:buClr>
                <a:buSzTx/>
                <a:buFont typeface="Wingdings" panose="05000000000000000000" charset="0"/>
                <a:buChar char="p"/>
              </a:pPr>
              <a:r>
                <a:rPr kumimoji="1" lang="zh-CN" altLang="en-US" sz="28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rPr>
                <a:t>身份标识——给谁发？</a:t>
              </a:r>
              <a:endParaRPr kumimoji="1" lang="zh-CN" altLang="en-US" sz="28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endParaRPr>
            </a:p>
            <a:p>
              <a:pPr marL="457200" indent="-457200">
                <a:lnSpc>
                  <a:spcPct val="200000"/>
                </a:lnSpc>
                <a:buFont typeface="Wingdings" panose="05000000000000000000" charset="0"/>
                <a:buChar char="Ø"/>
              </a:pPr>
              <a:endParaRPr kumimoji="1" lang="zh-CN" altLang="en-US" sz="28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endParaRPr>
            </a:p>
          </p:txBody>
        </p:sp>
        <p:pic>
          <p:nvPicPr>
            <p:cNvPr id="4" name="图片 3"/>
            <p:cNvPicPr>
              <a:picLocks noChangeAspect="1"/>
            </p:cNvPicPr>
            <p:nvPr/>
          </p:nvPicPr>
          <p:blipFill>
            <a:blip r:embed="rId1"/>
            <a:stretch>
              <a:fillRect/>
            </a:stretch>
          </p:blipFill>
          <p:spPr>
            <a:xfrm>
              <a:off x="10393" y="2452"/>
              <a:ext cx="4455" cy="2325"/>
            </a:xfrm>
            <a:prstGeom prst="rect">
              <a:avLst/>
            </a:prstGeom>
          </p:spPr>
        </p:pic>
        <p:pic>
          <p:nvPicPr>
            <p:cNvPr id="5" name="图片 4"/>
            <p:cNvPicPr>
              <a:picLocks noChangeAspect="1"/>
            </p:cNvPicPr>
            <p:nvPr/>
          </p:nvPicPr>
          <p:blipFill>
            <a:blip r:embed="rId2"/>
            <a:stretch>
              <a:fillRect/>
            </a:stretch>
          </p:blipFill>
          <p:spPr>
            <a:xfrm>
              <a:off x="10620" y="5286"/>
              <a:ext cx="4462" cy="2693"/>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2</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.2 </a:t>
            </a:r>
            <a:r>
              <a:rPr lang="en-US" altLang="zh-CN" sz="4000" dirty="0">
                <a:latin typeface="+mj-ea"/>
                <a:sym typeface="Helvetica Light"/>
              </a:rPr>
              <a:t>MAC</a:t>
            </a:r>
            <a:r>
              <a:rPr lang="zh-CN" altLang="en-US" sz="4000" dirty="0">
                <a:latin typeface="+mj-ea"/>
                <a:sym typeface="Helvetica Light"/>
              </a:rPr>
              <a:t>层的硬件地址</a:t>
            </a:r>
            <a:endParaRPr lang="zh-CN" altLang="en-US" sz="4000" dirty="0">
              <a:latin typeface="+mj-ea"/>
              <a:sym typeface="+mn-ea"/>
            </a:endParaRPr>
          </a:p>
        </p:txBody>
      </p:sp>
      <p:sp>
        <p:nvSpPr>
          <p:cNvPr id="4" name="内容占位符 2"/>
          <p:cNvSpPr>
            <a:spLocks noGrp="1"/>
          </p:cNvSpPr>
          <p:nvPr/>
        </p:nvSpPr>
        <p:spPr>
          <a:xfrm>
            <a:off x="562610" y="1124585"/>
            <a:ext cx="11137265" cy="4933950"/>
          </a:xfrm>
          <a:prstGeom prst="rect">
            <a:avLst/>
          </a:prstGeom>
          <a:noFill/>
          <a:ln>
            <a:noFill/>
          </a:ln>
          <a:effectLst/>
        </p:spPr>
        <p:txBody>
          <a:bodyPr vert="horz" wrap="square" lIns="91440" tIns="45720" rIns="91440" bIns="45720" numCol="1" anchor="t" anchorCtr="0" compatLnSpc="1"/>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pPr algn="l">
              <a:lnSpc>
                <a:spcPct val="140000"/>
              </a:lnSpc>
              <a:spcBef>
                <a:spcPts val="600"/>
              </a:spcBef>
              <a:spcAft>
                <a:spcPts val="0"/>
              </a:spcAft>
            </a:pPr>
            <a:r>
              <a:rPr lang="en-US" altLang="zh-CN" sz="2400">
                <a:solidFill>
                  <a:srgbClr val="000000"/>
                </a:solidFill>
                <a:latin typeface="Times New Roman" panose="02020603050405020304" charset="0"/>
                <a:cs typeface="Times New Roman" panose="02020603050405020304" charset="0"/>
                <a:sym typeface="+mn-ea"/>
              </a:rPr>
              <a:t>在局域网中，MAC地址=硬件地址=物理地址 </a:t>
            </a:r>
            <a:r>
              <a:rPr lang="en-US" altLang="zh-CN" sz="2400">
                <a:solidFill>
                  <a:srgbClr val="000000"/>
                </a:solidFill>
                <a:latin typeface="Times New Roman" panose="02020603050405020304" charset="0"/>
                <a:cs typeface="Times New Roman" panose="02020603050405020304" charset="0"/>
                <a:sym typeface="+mn-ea"/>
              </a:rPr>
              <a:t>，6个字节，48位前三个字节一一IEEE的注册管理机构RA分配给厂家。</a:t>
            </a:r>
            <a:endParaRPr lang="en-US" altLang="zh-CN" sz="2400">
              <a:solidFill>
                <a:srgbClr val="000000"/>
              </a:solidFill>
              <a:latin typeface="Times New Roman" panose="02020603050405020304" charset="0"/>
              <a:cs typeface="Times New Roman" panose="02020603050405020304" charset="0"/>
              <a:sym typeface="+mn-ea"/>
            </a:endParaRPr>
          </a:p>
          <a:p>
            <a:pPr>
              <a:lnSpc>
                <a:spcPct val="140000"/>
              </a:lnSpc>
              <a:spcBef>
                <a:spcPts val="600"/>
              </a:spcBef>
              <a:spcAft>
                <a:spcPts val="0"/>
              </a:spcAft>
              <a:buFont typeface="Wingdings" panose="05000000000000000000" charset="0"/>
              <a:buChar char="ü"/>
            </a:pPr>
            <a:r>
              <a:rPr lang="en-US" altLang="zh-CN" sz="2400">
                <a:solidFill>
                  <a:srgbClr val="000000"/>
                </a:solidFill>
                <a:latin typeface="Times New Roman" panose="02020603050405020304" charset="0"/>
                <a:cs typeface="Times New Roman" panose="02020603050405020304" charset="0"/>
                <a:sym typeface="+mn-ea"/>
              </a:rPr>
              <a:t> </a:t>
            </a:r>
            <a:r>
              <a:rPr lang="zh-CN" sz="2400">
                <a:solidFill>
                  <a:srgbClr val="000000"/>
                </a:solidFill>
                <a:latin typeface="Times New Roman" panose="02020603050405020304" charset="0"/>
                <a:cs typeface="Times New Roman" panose="02020603050405020304" charset="0"/>
                <a:sym typeface="+mn-ea"/>
              </a:rPr>
              <a:t>如：</a:t>
            </a:r>
            <a:r>
              <a:rPr lang="en-US" altLang="zh-CN" sz="2400">
                <a:solidFill>
                  <a:srgbClr val="FF0000"/>
                </a:solidFill>
                <a:latin typeface="Times New Roman" panose="02020603050405020304" charset="0"/>
                <a:cs typeface="Times New Roman" panose="02020603050405020304" charset="0"/>
                <a:sym typeface="+mn-ea"/>
              </a:rPr>
              <a:t>00</a:t>
            </a:r>
            <a:r>
              <a:rPr lang="en-US" sz="2400">
                <a:solidFill>
                  <a:srgbClr val="FF0000"/>
                </a:solidFill>
                <a:latin typeface="Times New Roman" panose="02020603050405020304" charset="0"/>
                <a:cs typeface="Times New Roman" panose="02020603050405020304" charset="0"/>
                <a:sym typeface="+mn-ea"/>
              </a:rPr>
              <a:t>-00-0C (hex) CISCO SYSTEMS, INC.;</a:t>
            </a:r>
            <a:endParaRPr lang="en-US" sz="2400">
              <a:solidFill>
                <a:srgbClr val="FF0000"/>
              </a:solidFill>
              <a:latin typeface="Times New Roman" panose="02020603050405020304" charset="0"/>
              <a:cs typeface="Times New Roman" panose="02020603050405020304" charset="0"/>
              <a:sym typeface="+mn-ea"/>
            </a:endParaRPr>
          </a:p>
          <a:p>
            <a:pPr marL="0" indent="0">
              <a:lnSpc>
                <a:spcPct val="140000"/>
              </a:lnSpc>
              <a:spcBef>
                <a:spcPts val="600"/>
              </a:spcBef>
              <a:spcAft>
                <a:spcPts val="0"/>
              </a:spcAft>
              <a:buFont typeface="Wingdings" panose="05000000000000000000" charset="0"/>
              <a:buNone/>
            </a:pPr>
            <a:r>
              <a:rPr lang="en-US" altLang="zh-CN" sz="2400">
                <a:solidFill>
                  <a:srgbClr val="FF0000"/>
                </a:solidFill>
                <a:latin typeface="Times New Roman" panose="02020603050405020304" charset="0"/>
                <a:cs typeface="Times New Roman" panose="02020603050405020304" charset="0"/>
                <a:sym typeface="+mn-ea"/>
              </a:rPr>
              <a:t>    </a:t>
            </a:r>
            <a:r>
              <a:rPr lang="zh-CN" sz="2400">
                <a:solidFill>
                  <a:srgbClr val="FF0000"/>
                </a:solidFill>
                <a:latin typeface="Times New Roman" panose="02020603050405020304" charset="0"/>
                <a:cs typeface="Times New Roman" panose="02020603050405020304" charset="0"/>
                <a:sym typeface="+mn-ea"/>
              </a:rPr>
              <a:t>     </a:t>
            </a:r>
            <a:r>
              <a:rPr lang="en-US" altLang="zh-CN" sz="2400">
                <a:solidFill>
                  <a:srgbClr val="FF0000"/>
                </a:solidFill>
                <a:latin typeface="Times New Roman" panose="02020603050405020304" charset="0"/>
                <a:cs typeface="Times New Roman" panose="02020603050405020304" charset="0"/>
                <a:sym typeface="+mn-ea"/>
              </a:rPr>
              <a:t>   </a:t>
            </a:r>
            <a:r>
              <a:rPr lang="zh-CN" sz="2400">
                <a:solidFill>
                  <a:srgbClr val="FF0000"/>
                </a:solidFill>
                <a:latin typeface="Times New Roman" panose="02020603050405020304" charset="0"/>
                <a:cs typeface="Times New Roman" panose="02020603050405020304" charset="0"/>
                <a:sym typeface="+mn-ea"/>
              </a:rPr>
              <a:t>00-18-82 (hex) Huawei Technologies Co.</a:t>
            </a:r>
            <a:endParaRPr lang="zh-CN" sz="2400">
              <a:solidFill>
                <a:srgbClr val="FF0000"/>
              </a:solidFill>
              <a:latin typeface="Times New Roman" panose="02020603050405020304" charset="0"/>
              <a:cs typeface="Times New Roman" panose="02020603050405020304" charset="0"/>
              <a:sym typeface="+mn-ea"/>
            </a:endParaRPr>
          </a:p>
          <a:p>
            <a:pPr algn="l">
              <a:lnSpc>
                <a:spcPct val="140000"/>
              </a:lnSpc>
              <a:spcBef>
                <a:spcPts val="600"/>
              </a:spcBef>
              <a:spcAft>
                <a:spcPts val="0"/>
              </a:spcAft>
            </a:pPr>
            <a:r>
              <a:rPr lang="en-US" altLang="zh-CN" sz="2400">
                <a:solidFill>
                  <a:srgbClr val="000000"/>
                </a:solidFill>
                <a:latin typeface="Times New Roman" panose="02020603050405020304" charset="0"/>
                <a:cs typeface="Times New Roman" panose="02020603050405020304" charset="0"/>
                <a:sym typeface="+mn-ea"/>
              </a:rPr>
              <a:t>后三个字节--由厂家自行指派，称为扩展标识符，必须保证生产出的适配器没有重复地址。</a:t>
            </a:r>
            <a:endParaRPr lang="en-US" altLang="zh-CN" sz="2400">
              <a:solidFill>
                <a:srgbClr val="000000"/>
              </a:solidFill>
              <a:latin typeface="Times New Roman" panose="02020603050405020304" charset="0"/>
              <a:cs typeface="Times New Roman" panose="02020603050405020304" charset="0"/>
              <a:sym typeface="+mn-ea"/>
            </a:endParaRPr>
          </a:p>
          <a:p>
            <a:pPr algn="l">
              <a:lnSpc>
                <a:spcPct val="140000"/>
              </a:lnSpc>
              <a:spcBef>
                <a:spcPts val="600"/>
              </a:spcBef>
              <a:spcAft>
                <a:spcPts val="0"/>
              </a:spcAft>
            </a:pPr>
            <a:r>
              <a:rPr lang="en-US" altLang="zh-CN" sz="2400">
                <a:solidFill>
                  <a:srgbClr val="000000"/>
                </a:solidFill>
                <a:latin typeface="Times New Roman" panose="02020603050405020304" charset="0"/>
                <a:cs typeface="Times New Roman" panose="02020603050405020304" charset="0"/>
              </a:rPr>
              <a:t>地址数约7万亿个，目前</a:t>
            </a:r>
            <a:r>
              <a:rPr lang="zh-CN" altLang="en-US" sz="2400">
                <a:solidFill>
                  <a:srgbClr val="000000"/>
                </a:solidFill>
                <a:latin typeface="Times New Roman" panose="02020603050405020304" charset="0"/>
                <a:cs typeface="Times New Roman" panose="02020603050405020304" charset="0"/>
              </a:rPr>
              <a:t>还</a:t>
            </a:r>
            <a:r>
              <a:rPr lang="en-US" altLang="zh-CN" sz="2400">
                <a:solidFill>
                  <a:srgbClr val="000000"/>
                </a:solidFill>
                <a:latin typeface="Times New Roman" panose="02020603050405020304" charset="0"/>
                <a:cs typeface="Times New Roman" panose="02020603050405020304" charset="0"/>
              </a:rPr>
              <a:t>没有</a:t>
            </a:r>
            <a:r>
              <a:rPr lang="zh-CN" altLang="en-US" sz="2400">
                <a:solidFill>
                  <a:srgbClr val="000000"/>
                </a:solidFill>
                <a:latin typeface="Times New Roman" panose="02020603050405020304" charset="0"/>
                <a:cs typeface="Times New Roman" panose="02020603050405020304" charset="0"/>
              </a:rPr>
              <a:t>出现地址</a:t>
            </a:r>
            <a:r>
              <a:rPr lang="en-US" altLang="zh-CN" sz="2400">
                <a:solidFill>
                  <a:srgbClr val="000000"/>
                </a:solidFill>
                <a:latin typeface="Times New Roman" panose="02020603050405020304" charset="0"/>
                <a:cs typeface="Times New Roman" panose="02020603050405020304" charset="0"/>
              </a:rPr>
              <a:t>枯竭的问题</a:t>
            </a:r>
            <a:endParaRPr lang="en-US" altLang="zh-CN" sz="2400">
              <a:solidFill>
                <a:srgbClr val="000000"/>
              </a:solidFill>
              <a:latin typeface="Times New Roman" panose="02020603050405020304" charset="0"/>
              <a:cs typeface="Times New Roman" panose="02020603050405020304" charset="0"/>
            </a:endParaRPr>
          </a:p>
          <a:p>
            <a:pPr marL="0" indent="0">
              <a:buNone/>
            </a:pPr>
            <a:endParaRPr lang="zh-CN" altLang="en-US" sz="2800">
              <a:latin typeface="黑体" panose="02010609060101010101" charset="-122"/>
              <a:cs typeface="黑体" panose="02010609060101010101" charset="-122"/>
            </a:endParaRPr>
          </a:p>
          <a:p>
            <a:endParaRPr lang="zh-CN" altLang="en-US" sz="2800">
              <a:latin typeface="黑体" panose="02010609060101010101" charset="-122"/>
              <a:cs typeface="黑体" panose="02010609060101010101" charset="-122"/>
            </a:endParaRPr>
          </a:p>
        </p:txBody>
      </p:sp>
      <p:pic>
        <p:nvPicPr>
          <p:cNvPr id="8" name="图片 7"/>
          <p:cNvPicPr>
            <a:picLocks noChangeAspect="1"/>
          </p:cNvPicPr>
          <p:nvPr/>
        </p:nvPicPr>
        <p:blipFill>
          <a:blip r:embed="rId1"/>
          <a:stretch>
            <a:fillRect/>
          </a:stretch>
        </p:blipFill>
        <p:spPr>
          <a:xfrm>
            <a:off x="3431540" y="5373370"/>
            <a:ext cx="6118225" cy="11125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8226425" cy="583565"/>
          </a:xfrm>
        </p:spPr>
        <p:txBody>
          <a:bodyPr/>
          <a:p>
            <a:pPr algn="l">
              <a:buClrTx/>
              <a:buSzTx/>
              <a:buFontTx/>
            </a:pPr>
            <a:r>
              <a:rPr lang="en-US" altLang="zh-CN" sz="4000" dirty="0">
                <a:latin typeface="+mj-ea"/>
                <a:sym typeface="+mn-ea"/>
              </a:rPr>
              <a:t>2.4.3 MAC</a:t>
            </a:r>
            <a:r>
              <a:rPr lang="zh-CN" altLang="en-US" sz="4000" dirty="0">
                <a:latin typeface="+mj-ea"/>
                <a:sym typeface="+mn-ea"/>
              </a:rPr>
              <a:t>帧格式</a:t>
            </a:r>
            <a:endParaRPr lang="zh-CN" altLang="en-US" sz="4000" dirty="0">
              <a:latin typeface="+mj-ea"/>
              <a:sym typeface="+mn-ea"/>
            </a:endParaRPr>
          </a:p>
        </p:txBody>
      </p:sp>
      <p:pic>
        <p:nvPicPr>
          <p:cNvPr id="3" name="图片 2"/>
          <p:cNvPicPr>
            <a:picLocks noChangeAspect="1"/>
          </p:cNvPicPr>
          <p:nvPr/>
        </p:nvPicPr>
        <p:blipFill>
          <a:blip r:embed="rId1"/>
          <a:stretch>
            <a:fillRect/>
          </a:stretch>
        </p:blipFill>
        <p:spPr>
          <a:xfrm>
            <a:off x="3836670" y="1458595"/>
            <a:ext cx="8066405" cy="3090545"/>
          </a:xfrm>
          <a:prstGeom prst="rect">
            <a:avLst/>
          </a:prstGeom>
          <a:noFill/>
          <a:ln w="9525">
            <a:noFill/>
          </a:ln>
        </p:spPr>
      </p:pic>
      <p:sp>
        <p:nvSpPr>
          <p:cNvPr id="4" name="文本框 3"/>
          <p:cNvSpPr txBox="1"/>
          <p:nvPr/>
        </p:nvSpPr>
        <p:spPr>
          <a:xfrm>
            <a:off x="198120" y="1267143"/>
            <a:ext cx="5080000" cy="645160"/>
          </a:xfrm>
          <a:prstGeom prst="rect">
            <a:avLst/>
          </a:prstGeom>
        </p:spPr>
        <p:txBody>
          <a:bodyPr>
            <a:spAutoFit/>
          </a:bodyPr>
          <a:p>
            <a:pPr defTabSz="266700">
              <a:lnSpc>
                <a:spcPct val="150000"/>
              </a:lnSpc>
            </a:pPr>
            <a:r>
              <a:rPr lang="zh-CN" altLang="zh-CN" sz="2400" b="1" kern="0" dirty="0">
                <a:latin typeface="Times New Roman" panose="02020603050405020304" charset="0"/>
                <a:ea typeface="宋体" panose="02010600030101010101" pitchFamily="2" charset="-122"/>
                <a:cs typeface="Times New Roman" panose="02020603050405020304" charset="0"/>
              </a:rPr>
              <a:t>以太网V2的MAC帧包含六个字段</a:t>
            </a:r>
            <a:endParaRPr lang="zh-CN" altLang="en-US" sz="1600">
              <a:latin typeface="Times New Roman" panose="02020603050405020304"/>
              <a:ea typeface="宋体" panose="02010600030101010101" pitchFamily="2" charset="-122"/>
            </a:endParaRPr>
          </a:p>
        </p:txBody>
      </p:sp>
      <p:sp>
        <p:nvSpPr>
          <p:cNvPr id="5" name="文本框 4"/>
          <p:cNvSpPr txBox="1"/>
          <p:nvPr/>
        </p:nvSpPr>
        <p:spPr>
          <a:xfrm>
            <a:off x="6391910" y="4549140"/>
            <a:ext cx="2955925" cy="645160"/>
          </a:xfrm>
          <a:prstGeom prst="rect">
            <a:avLst/>
          </a:prstGeom>
        </p:spPr>
        <p:txBody>
          <a:bodyPr wrap="square">
            <a:spAutoFit/>
          </a:bodyPr>
          <a:p>
            <a:pPr defTabSz="266700">
              <a:lnSpc>
                <a:spcPct val="150000"/>
              </a:lnSpc>
            </a:pPr>
            <a:r>
              <a:rPr lang="zh-CN" altLang="zh-CN" sz="2400" b="1" kern="0" dirty="0">
                <a:latin typeface="Times New Roman" panose="02020603050405020304" charset="0"/>
                <a:ea typeface="宋体" panose="02010600030101010101" pitchFamily="2" charset="-122"/>
                <a:cs typeface="Times New Roman" panose="02020603050405020304" charset="0"/>
              </a:rPr>
              <a:t>图2-24 Mac帧格式</a:t>
            </a:r>
            <a:endParaRPr lang="zh-CN" altLang="zh-CN" sz="2400" b="1" kern="0" dirty="0">
              <a:latin typeface="Times New Roman" panose="02020603050405020304" charset="0"/>
              <a:ea typeface="宋体" panose="02010600030101010101" pitchFamily="2" charset="-122"/>
              <a:cs typeface="Times New Roman" panose="02020603050405020304" charset="0"/>
            </a:endParaRPr>
          </a:p>
        </p:txBody>
      </p:sp>
      <p:sp>
        <p:nvSpPr>
          <p:cNvPr id="6" name="文本框 5"/>
          <p:cNvSpPr txBox="1"/>
          <p:nvPr/>
        </p:nvSpPr>
        <p:spPr>
          <a:xfrm>
            <a:off x="0" y="5330825"/>
            <a:ext cx="12192635" cy="645160"/>
          </a:xfrm>
          <a:prstGeom prst="rect">
            <a:avLst/>
          </a:prstGeom>
        </p:spPr>
        <p:txBody>
          <a:bodyPr wrap="square">
            <a:spAutoFit/>
          </a:bodyPr>
          <a:p>
            <a:pPr marL="0" indent="304800" algn="ctr" defTabSz="266700">
              <a:lnSpc>
                <a:spcPct val="150000"/>
              </a:lnSpc>
              <a:spcBef>
                <a:spcPct val="0"/>
              </a:spcBef>
              <a:spcAft>
                <a:spcPct val="0"/>
              </a:spcAft>
            </a:pPr>
            <a:r>
              <a:rPr lang="zh-CN" altLang="zh-CN" sz="2400" b="1" kern="0" dirty="0">
                <a:latin typeface="Times New Roman" panose="02020603050405020304" charset="0"/>
                <a:ea typeface="宋体" panose="02010600030101010101" pitchFamily="2" charset="-122"/>
                <a:cs typeface="Times New Roman" panose="02020603050405020304" charset="0"/>
              </a:rPr>
              <a:t>（1）目的地址：长度为6字节，表示目的主机的MAC地址</a:t>
            </a:r>
            <a:endParaRPr lang="zh-CN" altLang="zh-CN" sz="2400" b="1" kern="0" dirty="0">
              <a:latin typeface="Times New Roman" panose="02020603050405020304" charset="0"/>
              <a:ea typeface="宋体" panose="02010600030101010101" pitchFamily="2" charset="-122"/>
              <a:cs typeface="Times New Roman" panose="02020603050405020304" charset="0"/>
            </a:endParaRPr>
          </a:p>
        </p:txBody>
      </p:sp>
      <p:sp>
        <p:nvSpPr>
          <p:cNvPr id="8" name="文本框 7"/>
          <p:cNvSpPr txBox="1"/>
          <p:nvPr/>
        </p:nvSpPr>
        <p:spPr>
          <a:xfrm>
            <a:off x="5198745" y="2275840"/>
            <a:ext cx="1388110" cy="460375"/>
          </a:xfrm>
          <a:prstGeom prst="rect">
            <a:avLst/>
          </a:prstGeom>
          <a:noFill/>
          <a:ln w="28575" cap="flat" cmpd="sng" algn="ctr">
            <a:solidFill>
              <a:srgbClr val="FF0000"/>
            </a:solidFill>
            <a:prstDash val="dash"/>
          </a:ln>
          <a:extLst>
            <a:ext uri="{909E8E84-426E-40DD-AFC4-6F175D3DCCD1}">
              <a14:hiddenFill xmlns:a14="http://schemas.microsoft.com/office/drawing/2010/main">
                <a:solidFill>
                  <a:srgbClr val="FEBE00"/>
                </a:solidFill>
              </a14:hiddenFill>
            </a:ext>
          </a:extLst>
        </p:spPr>
        <p:style>
          <a:lnRef idx="0">
            <a:schemeClr val="accent1"/>
          </a:lnRef>
          <a:fillRef idx="0">
            <a:srgbClr val="FFFFFF"/>
          </a:fillRef>
          <a:effectRef idx="0">
            <a:srgbClr val="FFFFFF"/>
          </a:effectRef>
          <a:fontRef idx="minor">
            <a:schemeClr val="tx1"/>
          </a:fontRef>
        </p:style>
        <p:txBody>
          <a:bodyPr wrap="square" rtlCol="0" anchor="t">
            <a:spAutoFit/>
          </a:bodyPr>
          <a:p>
            <a:endParaRPr lang="zh-CN" altLang="en-US" sz="2400" b="1" kern="0" dirty="0">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2400" y="298450"/>
            <a:ext cx="9602470" cy="583565"/>
          </a:xfrm>
        </p:spPr>
        <p:txBody>
          <a:bodyPr/>
          <a:p>
            <a:pPr algn="l">
              <a:buClrTx/>
              <a:buSzTx/>
              <a:buFontTx/>
            </a:pPr>
            <a:r>
              <a:rPr lang="en-US" altLang="zh-CN" sz="4000" dirty="0">
                <a:latin typeface="+mj-ea"/>
                <a:sym typeface="+mn-ea"/>
              </a:rPr>
              <a:t>为什么1518字节≥有效帧长度≥64字节？</a:t>
            </a:r>
            <a:endParaRPr lang="en-US" altLang="zh-CN" sz="4000" dirty="0">
              <a:latin typeface="+mj-ea"/>
            </a:endParaRPr>
          </a:p>
        </p:txBody>
      </p:sp>
      <p:sp>
        <p:nvSpPr>
          <p:cNvPr id="3" name="文本框 2"/>
          <p:cNvSpPr txBox="1"/>
          <p:nvPr/>
        </p:nvSpPr>
        <p:spPr>
          <a:xfrm>
            <a:off x="608965" y="1268730"/>
            <a:ext cx="11158855" cy="4923155"/>
          </a:xfrm>
          <a:prstGeom prst="rect">
            <a:avLst/>
          </a:prstGeom>
          <a:noFill/>
        </p:spPr>
        <p:txBody>
          <a:bodyPr wrap="square" rtlCol="0" anchor="t">
            <a:spAutoFit/>
          </a:bodyPr>
          <a:p>
            <a:pPr marL="342900" indent="-342900" algn="l">
              <a:lnSpc>
                <a:spcPct val="150000"/>
              </a:lnSpc>
              <a:spcBef>
                <a:spcPts val="0"/>
              </a:spcBef>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为什么有效帧长度≥64字节？</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914400" lvl="1" indent="-457200" algn="l" fontAlgn="base">
              <a:lnSpc>
                <a:spcPct val="150000"/>
              </a:lnSpc>
              <a:spcBef>
                <a:spcPts val="600"/>
              </a:spcBef>
              <a:buClr>
                <a:schemeClr val="accent2"/>
              </a:buClr>
              <a:buSzPct val="70000"/>
              <a:buFont typeface="Wingdings" panose="05000000000000000000" charset="0"/>
              <a:buChar char="Ø"/>
            </a:pPr>
            <a:r>
              <a:rPr lang="zh-CN" altLang="zh-CN" sz="2800" b="1" kern="0" dirty="0">
                <a:latin typeface="Times New Roman" panose="02020603050405020304" charset="0"/>
                <a:ea typeface="宋体" panose="02010600030101010101" pitchFamily="2" charset="-122"/>
                <a:cs typeface="Times New Roman" panose="02020603050405020304" charset="0"/>
              </a:rPr>
              <a:t>CSMA/CD的要求：最短帧发送时间大于≥争用时隙</a:t>
            </a: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2</a:t>
            </a:r>
            <a:r>
              <a:rPr lang="zh-CN" altLang="zh-CN" sz="2800" b="1" kern="0" dirty="0">
                <a:latin typeface="Times New Roman" panose="02020603050405020304" charset="0"/>
                <a:ea typeface="宋体" panose="02010600030101010101" pitchFamily="2" charset="-122"/>
                <a:cs typeface="Times New Roman" panose="02020603050405020304" charset="0"/>
                <a:sym typeface="Symbol" panose="05050102010706020507" pitchFamily="18" charset="2"/>
              </a:rPr>
              <a:t></a:t>
            </a:r>
            <a:endParaRPr lang="zh-CN" altLang="zh-CN" sz="2800" b="1" kern="0" dirty="0">
              <a:latin typeface="Times New Roman" panose="02020603050405020304" charset="0"/>
              <a:ea typeface="宋体" panose="02010600030101010101" pitchFamily="2" charset="-122"/>
              <a:cs typeface="Times New Roman" panose="02020603050405020304" charset="0"/>
            </a:endParaRPr>
          </a:p>
          <a:p>
            <a:pPr marL="914400" lvl="1" indent="-457200" algn="l" fontAlgn="base">
              <a:lnSpc>
                <a:spcPct val="150000"/>
              </a:lnSpc>
              <a:spcBef>
                <a:spcPts val="600"/>
              </a:spcBef>
              <a:buClr>
                <a:schemeClr val="accent2"/>
              </a:buClr>
              <a:buSzPct val="70000"/>
              <a:buFont typeface="Wingdings" panose="05000000000000000000" charset="0"/>
              <a:buChar char="Ø"/>
            </a:pPr>
            <a:r>
              <a:rPr lang="zh-CN" altLang="zh-CN" sz="2800" b="1" kern="0" dirty="0">
                <a:latin typeface="Times New Roman" panose="02020603050405020304" charset="0"/>
                <a:ea typeface="宋体" panose="02010600030101010101" pitchFamily="2" charset="-122"/>
                <a:cs typeface="Times New Roman" panose="02020603050405020304" charset="0"/>
              </a:rPr>
              <a:t>以太网（802.3）规定，在10Mbps局域网中，时隙：</a:t>
            </a: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2</a:t>
            </a:r>
            <a:r>
              <a:rPr lang="zh-CN" altLang="zh-CN" sz="2800" b="1" kern="0" dirty="0">
                <a:latin typeface="Times New Roman" panose="02020603050405020304" charset="0"/>
                <a:ea typeface="宋体" panose="02010600030101010101" pitchFamily="2" charset="-122"/>
                <a:cs typeface="Times New Roman" panose="02020603050405020304" charset="0"/>
                <a:sym typeface="Symbol" panose="05050102010706020507" pitchFamily="18" charset="2"/>
              </a:rPr>
              <a:t></a:t>
            </a:r>
            <a:r>
              <a:rPr lang="zh-CN" altLang="zh-CN" sz="2800" b="1" kern="0" dirty="0">
                <a:latin typeface="Times New Roman" panose="02020603050405020304" charset="0"/>
                <a:ea typeface="宋体" panose="02010600030101010101" pitchFamily="2" charset="-122"/>
                <a:cs typeface="Times New Roman" panose="02020603050405020304" charset="0"/>
              </a:rPr>
              <a:t>=51.2微秒</a:t>
            </a:r>
            <a:endParaRPr lang="zh-CN" altLang="zh-CN" sz="2800" b="1" kern="0" dirty="0">
              <a:latin typeface="Times New Roman" panose="02020603050405020304" charset="0"/>
              <a:ea typeface="宋体" panose="02010600030101010101" pitchFamily="2" charset="-122"/>
              <a:cs typeface="Times New Roman" panose="02020603050405020304" charset="0"/>
            </a:endParaRPr>
          </a:p>
          <a:p>
            <a:pPr marL="914400" lvl="1" indent="-457200" algn="l" fontAlgn="base">
              <a:lnSpc>
                <a:spcPct val="150000"/>
              </a:lnSpc>
              <a:spcBef>
                <a:spcPts val="600"/>
              </a:spcBef>
              <a:buClr>
                <a:schemeClr val="accent2"/>
              </a:buClr>
              <a:buSzPct val="70000"/>
              <a:buFont typeface="Wingdings" panose="05000000000000000000" charset="0"/>
              <a:buChar char="Ø"/>
            </a:pPr>
            <a:r>
              <a:rPr lang="zh-CN" altLang="zh-CN" sz="2800" b="1" kern="0" dirty="0">
                <a:latin typeface="Times New Roman" panose="02020603050405020304" charset="0"/>
                <a:ea typeface="宋体" panose="02010600030101010101" pitchFamily="2" charset="-122"/>
                <a:cs typeface="Times New Roman" panose="02020603050405020304" charset="0"/>
              </a:rPr>
              <a:t>最短帧长度：10Mbps×</a:t>
            </a: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2</a:t>
            </a:r>
            <a:r>
              <a:rPr lang="zh-CN" altLang="zh-CN" sz="2800" b="1" kern="0" dirty="0">
                <a:latin typeface="Times New Roman" panose="02020603050405020304" charset="0"/>
                <a:ea typeface="宋体" panose="02010600030101010101" pitchFamily="2" charset="-122"/>
                <a:cs typeface="Times New Roman" panose="02020603050405020304" charset="0"/>
                <a:sym typeface="Symbol" panose="05050102010706020507" pitchFamily="18" charset="2"/>
              </a:rPr>
              <a:t></a:t>
            </a:r>
            <a:r>
              <a:rPr lang="zh-CN" altLang="zh-CN" sz="2800" b="1" kern="0" dirty="0">
                <a:latin typeface="Times New Roman" panose="02020603050405020304" charset="0"/>
                <a:ea typeface="宋体" panose="02010600030101010101" pitchFamily="2" charset="-122"/>
                <a:cs typeface="Times New Roman" panose="02020603050405020304" charset="0"/>
              </a:rPr>
              <a:t>/8=64Byte</a:t>
            </a:r>
            <a:endParaRPr lang="zh-CN" altLang="zh-CN" sz="2800" b="1" kern="0" dirty="0">
              <a:latin typeface="Times New Roman" panose="02020603050405020304" charset="0"/>
              <a:ea typeface="宋体" panose="02010600030101010101" pitchFamily="2" charset="-122"/>
              <a:cs typeface="Times New Roman" panose="02020603050405020304" charset="0"/>
            </a:endParaRPr>
          </a:p>
          <a:p>
            <a:pPr marL="342900" indent="-342900" algn="l">
              <a:lnSpc>
                <a:spcPct val="150000"/>
              </a:lnSpc>
              <a:spcBef>
                <a:spcPts val="0"/>
              </a:spcBef>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为什么有效帧长度≤1518字节？</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lang="zh-CN" altLang="zh-CN" sz="2800" b="1" kern="0" dirty="0">
                <a:latin typeface="Times New Roman" panose="02020603050405020304" charset="0"/>
                <a:ea typeface="宋体" panose="02010600030101010101" pitchFamily="2" charset="-122"/>
                <a:cs typeface="Times New Roman" panose="02020603050405020304" charset="0"/>
                <a:sym typeface="+mn-ea"/>
              </a:rPr>
              <a:t>工作站在处理接收到的帧时，需要内存，而上世纪七八十年代，内存昂贵，故规定有效帧长度≤1518字节。</a:t>
            </a:r>
            <a:endParaRPr lang="zh-CN" altLang="zh-CN" sz="2800" b="1" kern="0"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2.5 PPPoE</a:t>
            </a:r>
            <a:r>
              <a:rPr lang="zh-CN" altLang="en-US" sz="4000" dirty="0">
                <a:latin typeface="+mj-ea"/>
                <a:sym typeface="+mn-ea"/>
              </a:rPr>
              <a:t>协议</a:t>
            </a:r>
            <a:endParaRPr lang="zh-CN" altLang="en-US" sz="4000" dirty="0">
              <a:latin typeface="+mj-ea"/>
              <a:sym typeface="+mn-ea"/>
            </a:endParaRPr>
          </a:p>
        </p:txBody>
      </p:sp>
      <p:sp>
        <p:nvSpPr>
          <p:cNvPr id="4" name="文本框 3"/>
          <p:cNvSpPr txBox="1"/>
          <p:nvPr/>
        </p:nvSpPr>
        <p:spPr>
          <a:xfrm>
            <a:off x="366395" y="1131570"/>
            <a:ext cx="11458575" cy="4615815"/>
          </a:xfrm>
          <a:prstGeom prst="rect">
            <a:avLst/>
          </a:prstGeom>
          <a:noFill/>
        </p:spPr>
        <p:txBody>
          <a:bodyPr wrap="square" rtlCol="0" anchor="t">
            <a:spAutoFit/>
          </a:bodyPr>
          <a:p>
            <a:pPr marL="342900" indent="-342900" algn="l">
              <a:lnSpc>
                <a:spcPct val="150000"/>
              </a:lnSpc>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PPPoE</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是</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将点对点协议PPP封装在以太网框架中的一种网络隧道协议，允许在以太网广播域中的两个以太网接口间</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创建点对点隧道的协议。</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PPPoE协议的优势在于它结合了以太网的经济性和PPP协议的可管理控制性，较好解决了用户管理和上网收费等实际应用问题，为宽带接入提供了一种有效的解决方案，得到了运营商的认可并被广泛采用。</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PPPoE继承了传统的拨号上网方式，使用户能够使用熟悉的硬件和软件进行互联网接入，同时简化了客户端的配置。</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2.5 PPPoE</a:t>
            </a:r>
            <a:r>
              <a:rPr lang="zh-CN" altLang="en-US" sz="4000" dirty="0">
                <a:latin typeface="+mj-ea"/>
                <a:sym typeface="+mn-ea"/>
              </a:rPr>
              <a:t>协议</a:t>
            </a:r>
            <a:endParaRPr lang="zh-CN" altLang="en-US" sz="4000" dirty="0">
              <a:latin typeface="+mj-ea"/>
              <a:sym typeface="+mn-ea"/>
            </a:endParaRPr>
          </a:p>
        </p:txBody>
      </p:sp>
      <p:sp>
        <p:nvSpPr>
          <p:cNvPr id="8" name="文本框 7"/>
          <p:cNvSpPr txBox="1"/>
          <p:nvPr/>
        </p:nvSpPr>
        <p:spPr>
          <a:xfrm>
            <a:off x="181610" y="1184275"/>
            <a:ext cx="11459210" cy="4123055"/>
          </a:xfrm>
          <a:prstGeom prst="rect">
            <a:avLst/>
          </a:prstGeom>
        </p:spPr>
        <p:txBody>
          <a:bodyPr wrap="square">
            <a:spAutoFit/>
          </a:bodyPr>
          <a:p>
            <a:pPr marL="342900" lvl="1" indent="-342900" algn="l">
              <a:lnSpc>
                <a:spcPct val="150000"/>
              </a:lnSpc>
              <a:spcBef>
                <a:spcPts val="600"/>
              </a:spcBef>
              <a:buClr>
                <a:srgbClr val="DF4F21"/>
              </a:buClr>
              <a:buSzTx/>
              <a:buFont typeface="Wingdings" panose="05000000000000000000" charset="0"/>
              <a:buChar char="p"/>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PPPoE协议包括两个阶段：PPPoE发现阶段和PPPoE会话阶段。</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kumimoji="1" lang="en-US" altLang="zh-CN"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PPPoE</a:t>
            </a:r>
            <a:r>
              <a:rPr kumimoji="1" lang="zh-CN" altLang="en-US"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发现阶段</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：客户端通过在广播网络上发送发现报文来寻找可用的</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PPPoE</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服务器，建立一个唯一的</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PPPoE</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会话</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ID</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。客户端发现合适的服务器后，会与服务器进行初始化通信，以建立后续的</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PPPoE</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会话。</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kumimoji="1" lang="en-US" altLang="zh-CN"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PPPoE</a:t>
            </a:r>
            <a:r>
              <a:rPr kumimoji="1" lang="zh-CN" altLang="en-US"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会话阶段</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：一旦客户端与服务器选择建立</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PPPoE</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连接后，在会话阶段中实际建立起点对点连接，并通过交换认证信息和建立会话参数，确保双方能够安全地通信。会话建立后，双方之间就可以传输数据。</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2.5</a:t>
            </a:r>
            <a:r>
              <a:rPr lang="zh-CN" altLang="en-US" sz="4000" dirty="0">
                <a:latin typeface="+mj-ea"/>
                <a:sym typeface="+mn-ea"/>
              </a:rPr>
              <a:t>.1 </a:t>
            </a:r>
            <a:r>
              <a:rPr lang="en-US" altLang="zh-CN" sz="4000" dirty="0">
                <a:latin typeface="+mj-ea"/>
                <a:sym typeface="+mn-ea"/>
              </a:rPr>
              <a:t>PPPoE</a:t>
            </a:r>
            <a:r>
              <a:rPr lang="zh-CN" altLang="en-US" sz="4000" dirty="0">
                <a:latin typeface="+mj-ea"/>
                <a:sym typeface="+mn-ea"/>
              </a:rPr>
              <a:t>帧</a:t>
            </a:r>
            <a:endParaRPr lang="zh-CN" altLang="en-US" sz="4000" dirty="0">
              <a:latin typeface="+mj-ea"/>
              <a:sym typeface="+mn-ea"/>
            </a:endParaRPr>
          </a:p>
        </p:txBody>
      </p:sp>
      <p:sp>
        <p:nvSpPr>
          <p:cNvPr id="8" name="文本框 7"/>
          <p:cNvSpPr txBox="1"/>
          <p:nvPr/>
        </p:nvSpPr>
        <p:spPr>
          <a:xfrm>
            <a:off x="279400" y="4799965"/>
            <a:ext cx="11610340" cy="1276350"/>
          </a:xfrm>
          <a:prstGeom prst="rect">
            <a:avLst/>
          </a:prstGeom>
        </p:spPr>
        <p:txBody>
          <a:bodyPr wrap="square">
            <a:spAutoFit/>
          </a:bodyPr>
          <a:p>
            <a:pPr marL="914400" lvl="1" indent="-457200" algn="l" fontAlgn="base">
              <a:lnSpc>
                <a:spcPct val="150000"/>
              </a:lnSpc>
              <a:spcBef>
                <a:spcPts val="600"/>
              </a:spcBef>
              <a:buClr>
                <a:schemeClr val="accent2"/>
              </a:buClr>
              <a:buSzPct val="70000"/>
              <a:buFont typeface="Wingdings" panose="05000000000000000000" charset="0"/>
              <a:buChar char="Ø"/>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当以太网帧类型字段取值为0x8863</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表示PPPoE发现阶段</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数据报的数据包</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当以太网帧类型字段取值为0x8864，表示PPPoE会话阶段数据报的数据包。</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pic>
        <p:nvPicPr>
          <p:cNvPr id="9" name="图片 8"/>
          <p:cNvPicPr>
            <a:picLocks noChangeAspect="1"/>
          </p:cNvPicPr>
          <p:nvPr/>
        </p:nvPicPr>
        <p:blipFill>
          <a:blip r:embed="rId1"/>
          <a:stretch>
            <a:fillRect/>
          </a:stretch>
        </p:blipFill>
        <p:spPr>
          <a:xfrm>
            <a:off x="2237740" y="1143635"/>
            <a:ext cx="9954260" cy="2884170"/>
          </a:xfrm>
          <a:prstGeom prst="rect">
            <a:avLst/>
          </a:prstGeom>
          <a:noFill/>
          <a:ln w="9525">
            <a:noFill/>
          </a:ln>
        </p:spPr>
      </p:pic>
      <p:sp>
        <p:nvSpPr>
          <p:cNvPr id="12" name="文本框 11"/>
          <p:cNvSpPr txBox="1"/>
          <p:nvPr/>
        </p:nvSpPr>
        <p:spPr>
          <a:xfrm>
            <a:off x="6019165" y="3972242"/>
            <a:ext cx="5080000" cy="829945"/>
          </a:xfrm>
          <a:prstGeom prst="rect">
            <a:avLst/>
          </a:prstGeom>
        </p:spPr>
        <p:txBody>
          <a:bodyPr>
            <a:spAutoFit/>
          </a:bodyPr>
          <a:p>
            <a:pPr marL="228600" indent="0" algn="ctr" defTabSz="266700">
              <a:lnSpc>
                <a:spcPct val="200000"/>
              </a:lnSpc>
              <a:spcBef>
                <a:spcPts val="600"/>
              </a:spcBef>
              <a:spcAft>
                <a:spcPts val="600"/>
              </a:spcAft>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图2-25 PPPoE数据包格式</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
        <p:nvSpPr>
          <p:cNvPr id="14" name="文本框 13"/>
          <p:cNvSpPr txBox="1"/>
          <p:nvPr/>
        </p:nvSpPr>
        <p:spPr>
          <a:xfrm>
            <a:off x="0" y="1416685"/>
            <a:ext cx="4236720" cy="1383665"/>
          </a:xfrm>
          <a:prstGeom prst="rect">
            <a:avLst/>
          </a:prstGeom>
          <a:noFill/>
        </p:spPr>
        <p:txBody>
          <a:bodyPr wrap="square" rtlCol="0" anchor="t">
            <a:spAutoFit/>
          </a:bodyPr>
          <a:p>
            <a:pPr marL="342900" indent="-342900" algn="l">
              <a:lnSpc>
                <a:spcPct val="150000"/>
              </a:lnSpc>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PPPoE数据包封装在</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indent="0" algn="l">
              <a:lnSpc>
                <a:spcPct val="150000"/>
              </a:lnSpc>
              <a:buClr>
                <a:srgbClr val="DF4F21"/>
              </a:buClr>
              <a:buSzTx/>
              <a:buFont typeface="Wingdings" panose="05000000000000000000" charset="0"/>
              <a:buNone/>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以太网帧的数据字段中</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endParaRPr lang="zh-CN" altLang="zh-CN" sz="2800" b="1" kern="0" dirty="0">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2631" y="298613"/>
            <a:ext cx="7130044" cy="583535"/>
          </a:xfrm>
        </p:spPr>
        <p:txBody>
          <a:bodyPr/>
          <a:p>
            <a:pPr algn="l">
              <a:buClrTx/>
              <a:buSzTx/>
              <a:buFontTx/>
            </a:pPr>
            <a:r>
              <a:rPr lang="en-US" altLang="zh-CN" sz="4000" dirty="0">
                <a:latin typeface="+mj-ea"/>
                <a:sym typeface="+mn-ea"/>
              </a:rPr>
              <a:t>2.6 MAC</a:t>
            </a:r>
            <a:r>
              <a:rPr lang="zh-CN" altLang="en-US" sz="4000" dirty="0">
                <a:latin typeface="+mj-ea"/>
                <a:sym typeface="+mn-ea"/>
              </a:rPr>
              <a:t>泛洪攻击</a:t>
            </a:r>
            <a:endParaRPr lang="zh-CN" altLang="en-US" sz="4000" dirty="0">
              <a:latin typeface="+mj-ea"/>
              <a:sym typeface="+mn-ea"/>
            </a:endParaRPr>
          </a:p>
        </p:txBody>
      </p:sp>
      <p:sp>
        <p:nvSpPr>
          <p:cNvPr id="3" name="文本框 2"/>
          <p:cNvSpPr txBox="1"/>
          <p:nvPr/>
        </p:nvSpPr>
        <p:spPr>
          <a:xfrm>
            <a:off x="421231" y="1508860"/>
            <a:ext cx="11417975" cy="2676525"/>
          </a:xfrm>
          <a:prstGeom prst="rect">
            <a:avLst/>
          </a:prstGeom>
          <a:noFill/>
        </p:spPr>
        <p:txBody>
          <a:bodyPr wrap="square" rtlCol="0" anchor="t">
            <a:spAutoFit/>
          </a:bodyPr>
          <a:p>
            <a:pPr marL="342900" indent="-342900" algn="l">
              <a:lnSpc>
                <a:spcPct val="200000"/>
              </a:lnSpc>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泛洪攻击：攻击者通过伪造大量的MAC地址来淹没网络</a:t>
            </a:r>
            <a:r>
              <a:rPr kumimoji="1" lang="zh-CN" altLang="en-US" sz="28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交换机</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的</a:t>
            </a:r>
            <a:r>
              <a:rPr kumimoji="1" lang="zh-CN" altLang="en-US" sz="28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地址表</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，导致正常的</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帧无法转发</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200000"/>
              </a:lnSpc>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泛洪攻击影响网络性能，存在</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敏感信息泄露</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的安全风险。</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2631" y="298613"/>
            <a:ext cx="8127577" cy="583535"/>
          </a:xfrm>
        </p:spPr>
        <p:txBody>
          <a:bodyPr/>
          <a:p>
            <a:pPr algn="l">
              <a:buClrTx/>
              <a:buSzTx/>
              <a:buFontTx/>
            </a:pPr>
            <a:r>
              <a:rPr lang="en-US" altLang="zh-CN" sz="4000" dirty="0">
                <a:latin typeface="+mj-ea"/>
                <a:sym typeface="+mn-ea"/>
              </a:rPr>
              <a:t>2.6.1</a:t>
            </a:r>
            <a:r>
              <a:rPr lang="zh-CN" altLang="en-US" sz="4000" dirty="0">
                <a:latin typeface="+mj-ea"/>
                <a:sym typeface="+mn-ea"/>
              </a:rPr>
              <a:t> 以太网交换机的自学习算法</a:t>
            </a:r>
            <a:endParaRPr lang="zh-CN" altLang="en-US" sz="4000" dirty="0">
              <a:latin typeface="+mj-ea"/>
              <a:sym typeface="+mn-ea"/>
            </a:endParaRPr>
          </a:p>
        </p:txBody>
      </p:sp>
      <p:sp>
        <p:nvSpPr>
          <p:cNvPr id="8" name="文本框 7"/>
          <p:cNvSpPr txBox="1"/>
          <p:nvPr/>
        </p:nvSpPr>
        <p:spPr>
          <a:xfrm>
            <a:off x="476860" y="1101846"/>
            <a:ext cx="11409086" cy="4846320"/>
          </a:xfrm>
          <a:prstGeom prst="rect">
            <a:avLst/>
          </a:prstGeom>
        </p:spPr>
        <p:txBody>
          <a:bodyPr wrap="square">
            <a:spAutoFit/>
          </a:bodyPr>
          <a:p>
            <a:pPr marL="342900" indent="-342900" algn="l" defTabSz="914400">
              <a:lnSpc>
                <a:spcPct val="200000"/>
              </a:lnSpc>
              <a:buClr>
                <a:srgbClr val="DF4F21"/>
              </a:buClr>
              <a:buSzTx/>
              <a:buFont typeface="Wingdings" panose="05000000000000000000" charset="0"/>
              <a:buChar char="p"/>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以太网交换机的自学习算法：指交换机通过学习和维护MAC地址表，</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indent="0" algn="l" defTabSz="914400">
              <a:lnSpc>
                <a:spcPct val="200000"/>
              </a:lnSpc>
              <a:buClr>
                <a:srgbClr val="DF4F21"/>
              </a:buClr>
              <a:buSzTx/>
              <a:buFont typeface="Wingdings" panose="05000000000000000000" charset="0"/>
              <a:buNone/>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实现在局域网内部转发</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数据帧的过程。该算法</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包括以下三步：</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1634490" lvl="1" indent="-457200" algn="l" defTabSz="914400" fontAlgn="base">
              <a:lnSpc>
                <a:spcPct val="150000"/>
              </a:lnSpc>
              <a:spcBef>
                <a:spcPts val="600"/>
              </a:spcBef>
              <a:buClr>
                <a:schemeClr val="accent2"/>
              </a:buClr>
              <a:buSzPct val="70000"/>
              <a:buFont typeface="Wingdings" panose="05000000000000000000" charset="0"/>
              <a:buChar char="Ø"/>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初始化</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1634490" lvl="1" indent="-457200" algn="l" defTabSz="914400" fontAlgn="base">
              <a:lnSpc>
                <a:spcPct val="150000"/>
              </a:lnSpc>
              <a:spcBef>
                <a:spcPts val="600"/>
              </a:spcBef>
              <a:buClr>
                <a:schemeClr val="accent2"/>
              </a:buClr>
              <a:buSzPct val="70000"/>
              <a:buFont typeface="Wingdings" panose="05000000000000000000" charset="0"/>
              <a:buChar char="Ø"/>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自学习过程</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1634490" lvl="1" indent="-457200" algn="l" defTabSz="914400" fontAlgn="base">
              <a:lnSpc>
                <a:spcPct val="150000"/>
              </a:lnSpc>
              <a:spcBef>
                <a:spcPts val="600"/>
              </a:spcBef>
              <a:buClr>
                <a:schemeClr val="accent2"/>
              </a:buClr>
              <a:buSzPct val="70000"/>
              <a:buFont typeface="Wingdings" panose="05000000000000000000" charset="0"/>
              <a:buChar char="Ø"/>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自动更新过程</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indent="0" algn="l" defTabSz="914400">
              <a:lnSpc>
                <a:spcPct val="200000"/>
              </a:lnSpc>
              <a:buClr>
                <a:srgbClr val="DF4F21"/>
              </a:buClr>
              <a:buSzTx/>
              <a:buFont typeface="Wingdings" panose="05000000000000000000" charset="0"/>
              <a:buNone/>
            </a:pP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6601" y="270674"/>
            <a:ext cx="8225997" cy="583535"/>
          </a:xfrm>
        </p:spPr>
        <p:txBody>
          <a:bodyPr/>
          <a:p>
            <a:pPr algn="l">
              <a:buClrTx/>
              <a:buSzTx/>
              <a:buFontTx/>
            </a:pPr>
            <a:r>
              <a:rPr lang="en-US" altLang="zh-CN" sz="4000" dirty="0">
                <a:latin typeface="+mj-ea"/>
                <a:sym typeface="+mn-ea"/>
              </a:rPr>
              <a:t>2.6.2 MAC</a:t>
            </a:r>
            <a:r>
              <a:rPr lang="zh-CN" altLang="en-US" sz="4000" dirty="0">
                <a:latin typeface="+mj-ea"/>
                <a:sym typeface="+mn-ea"/>
              </a:rPr>
              <a:t>泛洪攻击</a:t>
            </a:r>
            <a:endParaRPr lang="zh-CN" altLang="en-US" sz="4000" dirty="0">
              <a:latin typeface="+mj-ea"/>
              <a:sym typeface="+mn-ea"/>
            </a:endParaRPr>
          </a:p>
        </p:txBody>
      </p:sp>
      <p:sp>
        <p:nvSpPr>
          <p:cNvPr id="11" name="文本框 10"/>
          <p:cNvSpPr txBox="1"/>
          <p:nvPr/>
        </p:nvSpPr>
        <p:spPr>
          <a:xfrm>
            <a:off x="555844" y="1268208"/>
            <a:ext cx="11289712" cy="4347619"/>
          </a:xfrm>
          <a:prstGeom prst="rect">
            <a:avLst/>
          </a:prstGeom>
          <a:noFill/>
        </p:spPr>
        <p:txBody>
          <a:bodyPr wrap="square" rtlCol="0">
            <a:noAutofit/>
          </a:bodyPr>
          <a:p>
            <a:pPr marL="342900" indent="-342900" algn="l" latinLnBrk="0">
              <a:lnSpc>
                <a:spcPct val="150000"/>
              </a:lnSpc>
              <a:spcBef>
                <a:spcPts val="0"/>
              </a:spcBef>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MAC地址表的大小是有限的</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8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当攻击者不断发送大量含有随机源MAC地址的帧时，交换机会尝试学习这些地址，并将其添加到地址表中</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。当MAC地址表超出容量时，交换机无法再学习新的地址。 </a:t>
            </a:r>
            <a:endPar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latinLnBrk="0">
              <a:lnSpc>
                <a:spcPct val="150000"/>
              </a:lnSpc>
              <a:spcBef>
                <a:spcPts val="0"/>
              </a:spcBef>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一旦发生这种情况，交换机将退化为集线器模式，广播所有传入的帧到所有端口。这样不仅会影响到网络效率，</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还</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可能</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泄露</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敏感数据。</a:t>
            </a:r>
            <a:endParaRPr lang="zh-CN" altLang="en-US" sz="3200" b="1">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097" y="270674"/>
            <a:ext cx="8225997" cy="583535"/>
          </a:xfrm>
        </p:spPr>
        <p:txBody>
          <a:bodyPr/>
          <a:p>
            <a:pPr algn="l">
              <a:buClrTx/>
              <a:buSzTx/>
              <a:buFontTx/>
            </a:pPr>
            <a:r>
              <a:rPr lang="en-US" altLang="zh-CN" sz="4000" dirty="0">
                <a:latin typeface="+mj-ea"/>
                <a:sym typeface="+mn-ea"/>
              </a:rPr>
              <a:t>2.6.3 MAC</a:t>
            </a:r>
            <a:r>
              <a:rPr lang="zh-CN" altLang="en-US" sz="4000" dirty="0">
                <a:latin typeface="+mj-ea"/>
                <a:sym typeface="+mn-ea"/>
              </a:rPr>
              <a:t>泛洪攻击的防御</a:t>
            </a:r>
            <a:endParaRPr lang="zh-CN" altLang="en-US" sz="4000" dirty="0">
              <a:latin typeface="+mj-ea"/>
              <a:sym typeface="+mn-ea"/>
            </a:endParaRPr>
          </a:p>
        </p:txBody>
      </p:sp>
      <p:sp>
        <p:nvSpPr>
          <p:cNvPr id="3" name="内容占位符 2"/>
          <p:cNvSpPr>
            <a:spLocks noGrp="1"/>
          </p:cNvSpPr>
          <p:nvPr/>
        </p:nvSpPr>
        <p:spPr>
          <a:xfrm>
            <a:off x="268274" y="1126610"/>
            <a:ext cx="11668152" cy="5412458"/>
          </a:xfr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宋体" panose="02010600030101010101" pitchFamily="2" charset="-122"/>
                <a:ea typeface="+mn-ea"/>
                <a:cs typeface="宋体" panose="02010600030101010101"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l">
              <a:lnSpc>
                <a:spcPct val="150000"/>
              </a:lnSpc>
              <a:spcBef>
                <a:spcPts val="0"/>
              </a:spcBef>
              <a:buClr>
                <a:srgbClr val="DF4F21"/>
              </a:buClr>
              <a:buSzTx/>
              <a:buFont typeface="Wingdings" panose="05000000000000000000" charset="0"/>
              <a:buChar char="p"/>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为有效应对此威胁，可采用多层次的防御机制：</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kumimoji="1" lang="zh-CN" altLang="en-US"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启用端口安全机制</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，限制连接到交换机端口的设备数量，防止过多的连接导致网络拥塞；</a:t>
            </a:r>
            <a:endPar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kumimoji="1" lang="zh-CN" altLang="en-US"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采用动态</a:t>
            </a:r>
            <a:r>
              <a:rPr kumimoji="1" lang="en-US" altLang="zh-CN"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ARP</a:t>
            </a:r>
            <a:r>
              <a:rPr kumimoji="1" lang="zh-CN" altLang="en-US"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检测技术</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，防范伪造的</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ARP</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请求，确保网络设备的</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地址信息的真实性；</a:t>
            </a:r>
            <a:endPar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kumimoji="1" lang="zh-CN" altLang="en-US"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通过静态</a:t>
            </a:r>
            <a:r>
              <a:rPr kumimoji="1" lang="en-US" altLang="zh-CN"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MAC</a:t>
            </a:r>
            <a:r>
              <a:rPr kumimoji="1" lang="zh-CN" altLang="en-US"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地址绑定</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，将端口与特定</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地址关联，限制未授权设备的连接。</a:t>
            </a:r>
            <a:endPar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gn="l" fontAlgn="base">
              <a:lnSpc>
                <a:spcPct val="150000"/>
              </a:lnSpc>
              <a:spcBef>
                <a:spcPts val="600"/>
              </a:spcBef>
              <a:buClr>
                <a:schemeClr val="accent2"/>
              </a:buClr>
              <a:buSzPct val="70000"/>
              <a:buFont typeface="Wingdings" panose="05000000000000000000" charset="0"/>
              <a:buChar char="Ø"/>
            </a:pP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采用其他有效措施，共同构建健壮的网络防御体系</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组合 2"/>
          <p:cNvGrpSpPr/>
          <p:nvPr>
            <p:custDataLst>
              <p:tags r:id="rId1"/>
            </p:custDataLst>
          </p:nvPr>
        </p:nvGrpSpPr>
        <p:grpSpPr>
          <a:xfrm>
            <a:off x="2994025" y="1340485"/>
            <a:ext cx="6081395" cy="4745990"/>
            <a:chOff x="310416" y="1325560"/>
            <a:chExt cx="5636475" cy="4131786"/>
          </a:xfrm>
        </p:grpSpPr>
        <p:grpSp>
          <p:nvGrpSpPr>
            <p:cNvPr id="22" name="组合 21"/>
            <p:cNvGrpSpPr/>
            <p:nvPr/>
          </p:nvGrpSpPr>
          <p:grpSpPr>
            <a:xfrm>
              <a:off x="310416" y="1325560"/>
              <a:ext cx="5636475" cy="499963"/>
              <a:chOff x="1592243" y="802566"/>
              <a:chExt cx="5636475" cy="499963"/>
            </a:xfrm>
          </p:grpSpPr>
          <p:sp>
            <p:nvSpPr>
              <p:cNvPr id="5" name="矩形 4"/>
              <p:cNvSpPr/>
              <p:nvPr>
                <p:custDataLst>
                  <p:tags r:id="rId2"/>
                </p:custDataLst>
              </p:nvPr>
            </p:nvSpPr>
            <p:spPr>
              <a:xfrm>
                <a:off x="1592243" y="802567"/>
                <a:ext cx="1027894" cy="499962"/>
              </a:xfrm>
              <a:prstGeom prst="rect">
                <a:avLst/>
              </a:prstGeom>
              <a:solidFill>
                <a:schemeClr val="accent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3.1</a:t>
                </a:r>
                <a:endParaRPr lang="en-US" altLang="zh-CN" sz="2800" b="1" spc="300" dirty="0">
                  <a:latin typeface="Impact" panose="020B0806030902050204" pitchFamily="34" charset="0"/>
                </a:endParaRPr>
              </a:p>
            </p:txBody>
          </p:sp>
          <p:sp>
            <p:nvSpPr>
              <p:cNvPr id="6" name="矩形 5"/>
              <p:cNvSpPr/>
              <p:nvPr>
                <p:custDataLst>
                  <p:tags r:id="rId3"/>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IP</a:t>
                </a:r>
                <a:r>
                  <a:rPr lang="zh-CN" altLang="en-US" sz="2800" b="1" spc="300" dirty="0">
                    <a:solidFill>
                      <a:schemeClr val="tx1"/>
                    </a:solidFill>
                    <a:latin typeface="Impact" panose="020B0806030902050204" pitchFamily="34" charset="0"/>
                  </a:rPr>
                  <a:t>网络层协议概述</a:t>
                </a:r>
                <a:endParaRPr lang="zh-CN" altLang="en-US" sz="2800" b="1" spc="300" dirty="0">
                  <a:solidFill>
                    <a:schemeClr val="tx1"/>
                  </a:solidFill>
                  <a:latin typeface="Impact" panose="020B0806030902050204" pitchFamily="34" charset="0"/>
                </a:endParaRPr>
              </a:p>
            </p:txBody>
          </p:sp>
        </p:grpSp>
        <p:grpSp>
          <p:nvGrpSpPr>
            <p:cNvPr id="42" name="组合 41"/>
            <p:cNvGrpSpPr/>
            <p:nvPr/>
          </p:nvGrpSpPr>
          <p:grpSpPr>
            <a:xfrm>
              <a:off x="310416" y="2233516"/>
              <a:ext cx="5636475" cy="499963"/>
              <a:chOff x="1592243" y="802566"/>
              <a:chExt cx="5636475" cy="499963"/>
            </a:xfrm>
          </p:grpSpPr>
          <p:sp>
            <p:nvSpPr>
              <p:cNvPr id="43" name="矩形 42"/>
              <p:cNvSpPr/>
              <p:nvPr>
                <p:custDataLst>
                  <p:tags r:id="rId4"/>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3.2</a:t>
                </a:r>
                <a:endParaRPr lang="en-US" altLang="zh-CN" sz="2800" b="1" spc="300" dirty="0">
                  <a:latin typeface="Impact" panose="020B0806030902050204" pitchFamily="34" charset="0"/>
                </a:endParaRPr>
              </a:p>
            </p:txBody>
          </p:sp>
          <p:sp>
            <p:nvSpPr>
              <p:cNvPr id="44" name="矩形 43"/>
              <p:cNvSpPr/>
              <p:nvPr>
                <p:custDataLst>
                  <p:tags r:id="rId5"/>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en-US" altLang="zh-CN" sz="2800" b="1" spc="300" dirty="0">
                    <a:solidFill>
                      <a:schemeClr val="tx1"/>
                    </a:solidFill>
                    <a:latin typeface="Impact" panose="020B0806030902050204" pitchFamily="34" charset="0"/>
                  </a:rPr>
                  <a:t> IP协议安全</a:t>
                </a:r>
                <a:endParaRPr lang="en-US" altLang="zh-CN" sz="2800" b="1" spc="300" dirty="0">
                  <a:solidFill>
                    <a:schemeClr val="tx1"/>
                  </a:solidFill>
                  <a:latin typeface="Impact" panose="020B0806030902050204" pitchFamily="34" charset="0"/>
                </a:endParaRPr>
              </a:p>
            </p:txBody>
          </p:sp>
        </p:grpSp>
        <p:grpSp>
          <p:nvGrpSpPr>
            <p:cNvPr id="45" name="组合 44"/>
            <p:cNvGrpSpPr/>
            <p:nvPr/>
          </p:nvGrpSpPr>
          <p:grpSpPr>
            <a:xfrm>
              <a:off x="310416" y="3141472"/>
              <a:ext cx="5636475" cy="499963"/>
              <a:chOff x="1592243" y="802566"/>
              <a:chExt cx="5636475" cy="499963"/>
            </a:xfrm>
          </p:grpSpPr>
          <p:sp>
            <p:nvSpPr>
              <p:cNvPr id="46" name="矩形 45"/>
              <p:cNvSpPr/>
              <p:nvPr>
                <p:custDataLst>
                  <p:tags r:id="rId6"/>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3.3</a:t>
                </a:r>
                <a:endParaRPr lang="en-US" altLang="zh-CN" sz="2800" b="1" spc="300" dirty="0">
                  <a:latin typeface="Impact" panose="020B0806030902050204" pitchFamily="34" charset="0"/>
                </a:endParaRPr>
              </a:p>
            </p:txBody>
          </p:sp>
          <p:sp>
            <p:nvSpPr>
              <p:cNvPr id="47" name="矩形 46"/>
              <p:cNvSpPr/>
              <p:nvPr>
                <p:custDataLst>
                  <p:tags r:id="rId7"/>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ARP</a:t>
                </a:r>
                <a:r>
                  <a:rPr lang="zh-CN" altLang="en-US" sz="2800" b="1" spc="300" dirty="0">
                    <a:solidFill>
                      <a:schemeClr val="tx1"/>
                    </a:solidFill>
                    <a:latin typeface="Impact" panose="020B0806030902050204" pitchFamily="34" charset="0"/>
                  </a:rPr>
                  <a:t>协议安全</a:t>
                </a:r>
                <a:endParaRPr lang="zh-CN" altLang="en-US" sz="2800" b="1" spc="300" dirty="0">
                  <a:solidFill>
                    <a:schemeClr val="tx1"/>
                  </a:solidFill>
                  <a:latin typeface="Impact" panose="020B0806030902050204" pitchFamily="34" charset="0"/>
                </a:endParaRPr>
              </a:p>
            </p:txBody>
          </p:sp>
        </p:grpSp>
        <p:grpSp>
          <p:nvGrpSpPr>
            <p:cNvPr id="48" name="组合 47"/>
            <p:cNvGrpSpPr/>
            <p:nvPr/>
          </p:nvGrpSpPr>
          <p:grpSpPr>
            <a:xfrm>
              <a:off x="310416" y="4049428"/>
              <a:ext cx="5636475" cy="499963"/>
              <a:chOff x="1592243" y="802566"/>
              <a:chExt cx="5636475" cy="499963"/>
            </a:xfrm>
          </p:grpSpPr>
          <p:sp>
            <p:nvSpPr>
              <p:cNvPr id="49" name="矩形 48"/>
              <p:cNvSpPr/>
              <p:nvPr>
                <p:custDataLst>
                  <p:tags r:id="rId8"/>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3.4</a:t>
                </a:r>
                <a:endParaRPr lang="en-US" altLang="zh-CN" sz="2800" b="1" spc="300" dirty="0">
                  <a:latin typeface="Impact" panose="020B0806030902050204" pitchFamily="34" charset="0"/>
                </a:endParaRPr>
              </a:p>
            </p:txBody>
          </p:sp>
          <p:sp>
            <p:nvSpPr>
              <p:cNvPr id="50" name="矩形 49"/>
              <p:cNvSpPr/>
              <p:nvPr>
                <p:custDataLst>
                  <p:tags r:id="rId9"/>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solidFill>
                      <a:schemeClr val="tx1"/>
                    </a:solidFill>
                    <a:latin typeface="Impact" panose="020B0806030902050204" pitchFamily="34" charset="0"/>
                  </a:rPr>
                  <a:t>ICMP</a:t>
                </a:r>
                <a:r>
                  <a:rPr lang="zh-CN" altLang="en-US" sz="2800" b="1" spc="300" dirty="0">
                    <a:solidFill>
                      <a:schemeClr val="tx1"/>
                    </a:solidFill>
                    <a:latin typeface="Impact" panose="020B0806030902050204" pitchFamily="34" charset="0"/>
                  </a:rPr>
                  <a:t>协议安全</a:t>
                </a:r>
                <a:endParaRPr lang="zh-CN" altLang="en-US" sz="2800" b="1" spc="300" dirty="0">
                  <a:solidFill>
                    <a:schemeClr val="tx1"/>
                  </a:solidFill>
                  <a:latin typeface="Impact" panose="020B0806030902050204" pitchFamily="34" charset="0"/>
                </a:endParaRPr>
              </a:p>
            </p:txBody>
          </p:sp>
        </p:grpSp>
        <p:grpSp>
          <p:nvGrpSpPr>
            <p:cNvPr id="51" name="组合 50"/>
            <p:cNvGrpSpPr/>
            <p:nvPr/>
          </p:nvGrpSpPr>
          <p:grpSpPr>
            <a:xfrm>
              <a:off x="310416" y="4957383"/>
              <a:ext cx="5636475" cy="499963"/>
              <a:chOff x="1592243" y="802566"/>
              <a:chExt cx="5636475" cy="499963"/>
            </a:xfrm>
          </p:grpSpPr>
          <p:sp>
            <p:nvSpPr>
              <p:cNvPr id="52" name="矩形 51"/>
              <p:cNvSpPr/>
              <p:nvPr>
                <p:custDataLst>
                  <p:tags r:id="rId10"/>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3.5</a:t>
                </a:r>
                <a:endParaRPr lang="en-US" altLang="zh-CN" sz="2800" b="1" spc="300" dirty="0">
                  <a:latin typeface="Impact" panose="020B0806030902050204" pitchFamily="34" charset="0"/>
                </a:endParaRPr>
              </a:p>
            </p:txBody>
          </p:sp>
          <p:sp>
            <p:nvSpPr>
              <p:cNvPr id="53" name="矩形 52"/>
              <p:cNvSpPr/>
              <p:nvPr>
                <p:custDataLst>
                  <p:tags r:id="rId11"/>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solidFill>
                      <a:schemeClr val="tx1"/>
                    </a:solidFill>
                    <a:latin typeface="Impact" panose="020B0806030902050204" pitchFamily="34" charset="0"/>
                  </a:rPr>
                  <a:t> IPsec</a:t>
                </a:r>
                <a:r>
                  <a:rPr lang="zh-CN" altLang="en-US" sz="2800" b="1" spc="300" dirty="0">
                    <a:solidFill>
                      <a:schemeClr val="tx1"/>
                    </a:solidFill>
                    <a:latin typeface="Impact" panose="020B0806030902050204" pitchFamily="34" charset="0"/>
                  </a:rPr>
                  <a:t>协议</a:t>
                </a:r>
                <a:endParaRPr lang="zh-CN" altLang="en-US" sz="2800" b="1" spc="300" dirty="0">
                  <a:solidFill>
                    <a:schemeClr val="tx1"/>
                  </a:solidFill>
                  <a:latin typeface="Impact" panose="020B0806030902050204" pitchFamily="34" charset="0"/>
                </a:endParaRPr>
              </a:p>
            </p:txBody>
          </p:sp>
        </p:grpSp>
      </p:grpSp>
      <p:sp>
        <p:nvSpPr>
          <p:cNvPr id="2" name="矩形 1"/>
          <p:cNvSpPr/>
          <p:nvPr>
            <p:custDataLst>
              <p:tags r:id="rId12"/>
            </p:custDataLst>
          </p:nvPr>
        </p:nvSpPr>
        <p:spPr>
          <a:xfrm>
            <a:off x="50164" y="106880"/>
            <a:ext cx="5565140" cy="860425"/>
          </a:xfrm>
          <a:prstGeom prst="rect">
            <a:avLst/>
          </a:prstGeom>
          <a:noFill/>
        </p:spPr>
        <p:txBody>
          <a:bodyPr wrap="none" lIns="91440" tIns="45720" rIns="91440" bIns="45720">
            <a:spAutoFit/>
          </a:bodyPr>
          <a:p>
            <a:pPr algn="ctr">
              <a:lnSpc>
                <a:spcPct val="125000"/>
              </a:lnSpc>
            </a:pP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第三章</a:t>
            </a:r>
            <a:r>
              <a:rPr lang="en-US" altLang="zh-CN"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  </a:t>
            </a: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网络层协议安全</a:t>
            </a:r>
            <a:endPar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sz="4000" dirty="0">
                <a:latin typeface="+mj-ea"/>
                <a:sym typeface="+mn-ea"/>
              </a:rPr>
              <a:t>3.1 网络层协议概述</a:t>
            </a:r>
            <a:endParaRPr lang="zh-CN" altLang="en-US" sz="4000" dirty="0">
              <a:latin typeface="+mj-ea"/>
            </a:endParaRPr>
          </a:p>
        </p:txBody>
      </p:sp>
      <p:sp>
        <p:nvSpPr>
          <p:cNvPr id="10" name="object 10"/>
          <p:cNvSpPr txBox="1"/>
          <p:nvPr/>
        </p:nvSpPr>
        <p:spPr>
          <a:xfrm>
            <a:off x="528320" y="1288415"/>
            <a:ext cx="11341735" cy="5552440"/>
          </a:xfrm>
          <a:prstGeom prst="rect">
            <a:avLst/>
          </a:prstGeom>
        </p:spPr>
        <p:txBody>
          <a:bodyPr vert="horz" wrap="square" lIns="0" tIns="12700" rIns="0" bIns="0" rtlCol="0">
            <a:spAutoFit/>
          </a:bodyPr>
          <a:p>
            <a:pPr marL="342900" indent="-342900" algn="l" eaLnBrk="1" hangingPunct="1">
              <a:lnSpc>
                <a:spcPct val="200000"/>
              </a:lnSpc>
              <a:spcBef>
                <a:spcPts val="0"/>
              </a:spcBef>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rPr>
              <a:t>任务：将源主机发出的分组经由各种网络路径送达目的主机。</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marL="554355" indent="-228600" algn="l" eaLnBrk="1" hangingPunct="1">
              <a:lnSpc>
                <a:spcPct val="200000"/>
              </a:lnSpc>
              <a:spcBef>
                <a:spcPts val="0"/>
              </a:spcBef>
              <a:buClr>
                <a:srgbClr val="DF4F21"/>
              </a:buClr>
              <a:buSzTx/>
              <a:buFont typeface="Wingdings" panose="05000000000000000000" charset="0"/>
              <a:buChar char="Ø"/>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为了实现异构网络的互连，网络层的功能及其实现机制由网络层协议来描述，并且集中体现在网络层协议数据单元</a:t>
            </a:r>
            <a:r>
              <a:rPr kumimoji="1" lang="en-US" altLang="zh-CN"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rPr>
              <a:t>分组（ packet ）</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中。分组中包括实现网络层功能所必需的控制信息 , 如收发双方的</a:t>
            </a:r>
            <a:r>
              <a:rPr kumimoji="1" lang="en-US" altLang="zh-CN" sz="24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rPr>
              <a:t>网络地址</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等</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554355" indent="-228600" algn="l" eaLnBrk="1" hangingPunct="1">
              <a:lnSpc>
                <a:spcPct val="200000"/>
              </a:lnSpc>
              <a:spcBef>
                <a:spcPts val="0"/>
              </a:spcBef>
              <a:buClr>
                <a:srgbClr val="DF4F21"/>
              </a:buClr>
              <a:buSzTx/>
              <a:buFont typeface="Wingdings" panose="05000000000000000000" charset="0"/>
              <a:buChar char="Ø"/>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了解通信子网的拓扑结构，并通过一定的路由算法，为分组实现进行最佳路径的选择——</a:t>
            </a:r>
            <a:r>
              <a:rPr kumimoji="1" lang="en-US" altLang="zh-CN" sz="2400" b="1">
                <a:ln w="12700">
                  <a:noFill/>
                </a:ln>
                <a:solidFill>
                  <a:srgbClr val="0070C0">
                    <a:alpha val="100000"/>
                  </a:srgbClr>
                </a:solidFill>
                <a:latin typeface="Times New Roman" panose="02020603050405020304" charset="0"/>
                <a:ea typeface="宋体" panose="02010600030101010101" pitchFamily="2" charset="-122"/>
                <a:cs typeface="Times New Roman" panose="02020603050405020304" charset="0"/>
                <a:sym typeface="+mn-ea"/>
              </a:rPr>
              <a:t> 路由（ Routing)</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 </a:t>
            </a:r>
            <a:endPar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nSpc>
                <a:spcPct val="150000"/>
              </a:lnSpc>
              <a:buClr>
                <a:srgbClr val="DF4F21"/>
              </a:buClr>
              <a:buSzTx/>
              <a:buFont typeface="Wingdings" panose="05000000000000000000" charset="0"/>
              <a:buChar char="p"/>
            </a:pPr>
            <a:endParaRPr lang="zh-CN" altLang="en-US" sz="2400" b="1" kern="0" dirty="0">
              <a:latin typeface="Times New Roman" panose="02020603050405020304" charset="0"/>
              <a:ea typeface="宋体" panose="02010600030101010101" pitchFamily="2" charset="-122"/>
              <a:cs typeface="Times New Roman" panose="02020603050405020304" charset="0"/>
              <a:sym typeface="+mn-ea"/>
            </a:endParaRPr>
          </a:p>
          <a:p>
            <a:pPr marL="342900" indent="-342900" algn="l" eaLnBrk="1" hangingPunct="1">
              <a:lnSpc>
                <a:spcPct val="150000"/>
              </a:lnSpc>
              <a:spcBef>
                <a:spcPts val="0"/>
              </a:spcBef>
              <a:spcAft>
                <a:spcPts val="0"/>
              </a:spcAft>
              <a:buClr>
                <a:srgbClr val="333399"/>
              </a:buClr>
              <a:buSzPct val="75000"/>
              <a:buFont typeface="Wingdings" panose="05000000000000000000" pitchFamily="2" charset="2"/>
              <a:buChar char="n"/>
            </a:pPr>
            <a:endParaRPr lang="zh-CN" altLang="zh-CN" sz="2400" b="1" kern="0" dirty="0">
              <a:latin typeface="+mn-lt"/>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1750" y="1066800"/>
            <a:ext cx="12160250" cy="4233545"/>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lang="zh-CN" altLang="en-US" sz="2600" b="1" kern="0" dirty="0">
                <a:latin typeface="Times New Roman" panose="02020603050405020304" charset="0"/>
                <a:ea typeface="宋体" panose="02010600030101010101" pitchFamily="2" charset="-122"/>
                <a:cs typeface="Times New Roman" panose="02020603050405020304" charset="0"/>
                <a:sym typeface="+mn-ea"/>
              </a:rPr>
              <a:t>IP的工作原理是基于无连接的“尽力而为”的数据包传输。其主要功能：</a:t>
            </a:r>
            <a:endParaRPr lang="zh-CN" altLang="en-US" sz="2600" b="1" kern="0" dirty="0">
              <a:latin typeface="Times New Roman" panose="02020603050405020304" charset="0"/>
              <a:ea typeface="宋体" panose="02010600030101010101" pitchFamily="2" charset="-122"/>
              <a:cs typeface="Times New Roman" panose="02020603050405020304" charset="0"/>
              <a:sym typeface="+mn-ea"/>
            </a:endParaRPr>
          </a:p>
          <a:p>
            <a:pPr marL="2426335" lvl="1" indent="-457200" algn="l" fontAlgn="base">
              <a:lnSpc>
                <a:spcPct val="150000"/>
              </a:lnSpc>
              <a:spcBef>
                <a:spcPts val="600"/>
              </a:spcBef>
              <a:buClr>
                <a:schemeClr val="accent2"/>
              </a:buClr>
              <a:buSzPct val="70000"/>
              <a:buFont typeface="Wingdings" panose="05000000000000000000" charset="0"/>
              <a:buChar char="Ø"/>
            </a:pPr>
            <a:r>
              <a:rPr lang="zh-CN" altLang="zh-CN" sz="2600" b="1" kern="0" dirty="0">
                <a:solidFill>
                  <a:srgbClr val="FF0000"/>
                </a:solidFill>
                <a:latin typeface="Times New Roman" panose="02020603050405020304" charset="0"/>
                <a:ea typeface="宋体" panose="02010600030101010101" pitchFamily="2" charset="-122"/>
                <a:cs typeface="Times New Roman" panose="02020603050405020304" charset="0"/>
                <a:sym typeface="+mn-ea"/>
              </a:rPr>
              <a:t>寻址和转发；</a:t>
            </a:r>
            <a:r>
              <a:rPr lang="zh-CN" altLang="zh-CN" sz="2600" b="1" kern="0" dirty="0">
                <a:solidFill>
                  <a:srgbClr val="FF0000"/>
                </a:solidFill>
                <a:latin typeface="Times New Roman" panose="02020603050405020304" charset="0"/>
                <a:ea typeface="宋体" panose="02010600030101010101" pitchFamily="2" charset="-122"/>
                <a:cs typeface="Times New Roman" panose="02020603050405020304" charset="0"/>
                <a:sym typeface="+mn-ea"/>
              </a:rPr>
              <a:t>数据报格式定义 ；分片和重组 ；错误处理</a:t>
            </a:r>
            <a:endParaRPr lang="zh-CN" altLang="zh-CN" sz="2600" b="1" kern="0" dirty="0">
              <a:solidFill>
                <a:srgbClr val="FF0000"/>
              </a:solidFill>
              <a:latin typeface="Times New Roman" panose="02020603050405020304" charset="0"/>
              <a:ea typeface="宋体" panose="02010600030101010101" pitchFamily="2" charset="-122"/>
              <a:cs typeface="Times New Roman" panose="02020603050405020304" charset="0"/>
              <a:sym typeface="+mn-ea"/>
            </a:endParaRPr>
          </a:p>
          <a:p>
            <a:pPr marL="2426335" lvl="1" indent="-457200" algn="l" fontAlgn="base">
              <a:lnSpc>
                <a:spcPct val="150000"/>
              </a:lnSpc>
              <a:spcBef>
                <a:spcPts val="600"/>
              </a:spcBef>
              <a:buClr>
                <a:schemeClr val="accent2"/>
              </a:buClr>
              <a:buSzPct val="70000"/>
              <a:buFont typeface="Wingdings" panose="05000000000000000000" charset="0"/>
              <a:buChar char="Ø"/>
            </a:pPr>
            <a:r>
              <a:rPr lang="zh-CN" altLang="zh-CN" sz="2600" b="1" kern="0" dirty="0">
                <a:latin typeface="Times New Roman" panose="02020603050405020304" charset="0"/>
                <a:ea typeface="宋体" panose="02010600030101010101" pitchFamily="2" charset="-122"/>
                <a:cs typeface="Times New Roman" panose="02020603050405020304" charset="0"/>
                <a:sym typeface="+mn-ea"/>
              </a:rPr>
              <a:t>最佳路径选择 ；数据报路由 </a:t>
            </a:r>
            <a:endParaRPr lang="zh-CN" altLang="zh-CN" sz="2600" b="1" kern="0" dirty="0">
              <a:latin typeface="Times New Roman" panose="02020603050405020304" charset="0"/>
              <a:ea typeface="宋体" panose="02010600030101010101" pitchFamily="2" charset="-122"/>
              <a:cs typeface="Times New Roman" panose="02020603050405020304" charset="0"/>
              <a:sym typeface="+mn-ea"/>
            </a:endParaRPr>
          </a:p>
          <a:p>
            <a:pPr marL="342900" lvl="1" indent="-342900" algn="l">
              <a:lnSpc>
                <a:spcPct val="150000"/>
              </a:lnSpc>
              <a:spcBef>
                <a:spcPts val="600"/>
              </a:spcBef>
              <a:buClr>
                <a:srgbClr val="DF4F21"/>
              </a:buClr>
              <a:buSzTx/>
              <a:buFont typeface="Wingdings" panose="05000000000000000000" charset="0"/>
              <a:buChar char="p"/>
            </a:pPr>
            <a:r>
              <a:rPr lang="zh-CN" altLang="en-US" sz="2600" b="1" kern="0" dirty="0">
                <a:latin typeface="Times New Roman" panose="02020603050405020304" charset="0"/>
                <a:ea typeface="宋体" panose="02010600030101010101" pitchFamily="2" charset="-122"/>
                <a:cs typeface="Times New Roman" panose="02020603050405020304" charset="0"/>
                <a:sym typeface="+mn-ea"/>
              </a:rPr>
              <a:t>IPv4当前应用广泛；使用的版本，它采用32位的地址长度，提供约43亿个独立的IP地址，该地址数量已经接近耗尽，目前正在逐步向IPv6过渡。</a:t>
            </a:r>
            <a:r>
              <a:rPr lang="zh-CN" altLang="en-US" sz="2600" b="1" kern="0" dirty="0">
                <a:solidFill>
                  <a:srgbClr val="FF0000"/>
                </a:solidFill>
                <a:latin typeface="Times New Roman" panose="02020603050405020304" charset="0"/>
                <a:ea typeface="宋体" panose="02010600030101010101" pitchFamily="2" charset="-122"/>
                <a:cs typeface="Times New Roman" panose="02020603050405020304" charset="0"/>
                <a:sym typeface="+mn-ea"/>
              </a:rPr>
              <a:t>（</a:t>
            </a:r>
            <a:r>
              <a:rPr lang="en-US" altLang="zh-CN" sz="2600" b="1" kern="0" dirty="0">
                <a:solidFill>
                  <a:srgbClr val="FF0000"/>
                </a:solidFill>
                <a:latin typeface="Times New Roman" panose="02020603050405020304" charset="0"/>
                <a:ea typeface="宋体" panose="02010600030101010101" pitchFamily="2" charset="-122"/>
                <a:cs typeface="Times New Roman" panose="02020603050405020304" charset="0"/>
                <a:sym typeface="+mn-ea"/>
              </a:rPr>
              <a:t>14</a:t>
            </a:r>
            <a:r>
              <a:rPr lang="zh-CN" altLang="en-US" sz="2600" b="1" kern="0" dirty="0">
                <a:solidFill>
                  <a:srgbClr val="FF0000"/>
                </a:solidFill>
                <a:latin typeface="Times New Roman" panose="02020603050405020304" charset="0"/>
                <a:ea typeface="宋体" panose="02010600030101010101" pitchFamily="2" charset="-122"/>
                <a:cs typeface="Times New Roman" panose="02020603050405020304" charset="0"/>
                <a:sym typeface="+mn-ea"/>
              </a:rPr>
              <a:t>个字段）</a:t>
            </a:r>
            <a:endParaRPr lang="zh-CN" altLang="en-US" sz="2600" b="1" kern="0" dirty="0">
              <a:latin typeface="Times New Roman" panose="02020603050405020304" charset="0"/>
              <a:ea typeface="宋体" panose="02010600030101010101" pitchFamily="2" charset="-122"/>
              <a:cs typeface="Times New Roman" panose="02020603050405020304" charset="0"/>
              <a:sym typeface="+mn-ea"/>
            </a:endParaRPr>
          </a:p>
          <a:p>
            <a:pPr marL="342900" lvl="1" indent="-342900" algn="l">
              <a:lnSpc>
                <a:spcPct val="150000"/>
              </a:lnSpc>
              <a:spcBef>
                <a:spcPts val="600"/>
              </a:spcBef>
              <a:buClr>
                <a:srgbClr val="DF4F21"/>
              </a:buClr>
              <a:buSzTx/>
              <a:buFont typeface="Wingdings" panose="05000000000000000000" charset="0"/>
              <a:buChar char="p"/>
            </a:pPr>
            <a:r>
              <a:rPr lang="zh-CN" altLang="zh-CN" sz="2600" b="1" dirty="0">
                <a:latin typeface="Times New Roman" panose="02020603050405020304" charset="0"/>
                <a:ea typeface="宋体" panose="02010600030101010101" pitchFamily="2" charset="-122"/>
                <a:cs typeface="Times New Roman" panose="02020603050405020304" charset="0"/>
                <a:sym typeface="+mn-ea"/>
              </a:rPr>
              <a:t>在</a:t>
            </a:r>
            <a:r>
              <a:rPr lang="en-US" altLang="zh-CN" sz="2600" b="1" dirty="0">
                <a:latin typeface="Times New Roman" panose="02020603050405020304" charset="0"/>
                <a:ea typeface="宋体" panose="02010600030101010101" pitchFamily="2" charset="-122"/>
                <a:cs typeface="Times New Roman" panose="02020603050405020304" charset="0"/>
                <a:sym typeface="+mn-ea"/>
              </a:rPr>
              <a:t>IPv6</a:t>
            </a:r>
            <a:r>
              <a:rPr lang="zh-CN" altLang="zh-CN" sz="2600" b="1" dirty="0">
                <a:latin typeface="Times New Roman" panose="02020603050405020304" charset="0"/>
                <a:ea typeface="宋体" panose="02010600030101010101" pitchFamily="2" charset="-122"/>
                <a:cs typeface="Times New Roman" panose="02020603050405020304" charset="0"/>
                <a:sym typeface="+mn-ea"/>
              </a:rPr>
              <a:t>中，每个地址</a:t>
            </a:r>
            <a:r>
              <a:rPr lang="zh-CN" altLang="zh-CN" sz="2600" b="1" dirty="0" smtClean="0">
                <a:latin typeface="Times New Roman" panose="02020603050405020304" charset="0"/>
                <a:ea typeface="宋体" panose="02010600030101010101" pitchFamily="2" charset="-122"/>
                <a:cs typeface="Times New Roman" panose="02020603050405020304" charset="0"/>
                <a:sym typeface="+mn-ea"/>
              </a:rPr>
              <a:t>占</a:t>
            </a:r>
            <a:r>
              <a:rPr lang="en-US" altLang="zh-CN" sz="2600" b="1" dirty="0" smtClean="0">
                <a:latin typeface="Times New Roman" panose="02020603050405020304" charset="0"/>
                <a:ea typeface="宋体" panose="02010600030101010101" pitchFamily="2" charset="-122"/>
                <a:cs typeface="Times New Roman" panose="02020603050405020304" charset="0"/>
                <a:sym typeface="+mn-ea"/>
              </a:rPr>
              <a:t> 128 </a:t>
            </a:r>
            <a:r>
              <a:rPr lang="zh-CN" altLang="zh-CN" sz="2600" b="1" dirty="0" smtClean="0">
                <a:latin typeface="Times New Roman" panose="02020603050405020304" charset="0"/>
                <a:ea typeface="宋体" panose="02010600030101010101" pitchFamily="2" charset="-122"/>
                <a:cs typeface="Times New Roman" panose="02020603050405020304" charset="0"/>
                <a:sym typeface="+mn-ea"/>
              </a:rPr>
              <a:t>位</a:t>
            </a:r>
            <a:r>
              <a:rPr lang="zh-CN" altLang="zh-CN" sz="2600" b="1" dirty="0">
                <a:latin typeface="Times New Roman" panose="02020603050405020304" charset="0"/>
                <a:ea typeface="宋体" panose="02010600030101010101" pitchFamily="2" charset="-122"/>
                <a:cs typeface="Times New Roman" panose="02020603050405020304" charset="0"/>
                <a:sym typeface="+mn-ea"/>
              </a:rPr>
              <a:t>，地址空间</a:t>
            </a:r>
            <a:r>
              <a:rPr lang="zh-CN" altLang="zh-CN" sz="2600" b="1" dirty="0" smtClean="0">
                <a:latin typeface="Times New Roman" panose="02020603050405020304" charset="0"/>
                <a:ea typeface="宋体" panose="02010600030101010101" pitchFamily="2" charset="-122"/>
                <a:cs typeface="Times New Roman" panose="02020603050405020304" charset="0"/>
                <a:sym typeface="+mn-ea"/>
              </a:rPr>
              <a:t>大于</a:t>
            </a:r>
            <a:r>
              <a:rPr lang="en-US" altLang="zh-CN" sz="2600" b="1" dirty="0" smtClean="0">
                <a:latin typeface="Times New Roman" panose="02020603050405020304" charset="0"/>
                <a:ea typeface="宋体" panose="02010600030101010101" pitchFamily="2" charset="-122"/>
                <a:cs typeface="Times New Roman" panose="02020603050405020304" charset="0"/>
                <a:sym typeface="+mn-ea"/>
              </a:rPr>
              <a:t> 3.4</a:t>
            </a:r>
            <a:r>
              <a:rPr lang="en-US" altLang="zh-CN" sz="2600" b="1" dirty="0">
                <a:latin typeface="Times New Roman" panose="02020603050405020304" charset="0"/>
                <a:ea typeface="宋体" panose="02010600030101010101" pitchFamily="2" charset="-122"/>
                <a:cs typeface="Times New Roman" panose="02020603050405020304" charset="0"/>
                <a:sym typeface="Symbol" panose="05050102010706020507"/>
              </a:rPr>
              <a:t></a:t>
            </a:r>
            <a:r>
              <a:rPr lang="en-US" altLang="zh-CN" sz="2600" b="1" dirty="0" smtClean="0">
                <a:latin typeface="Times New Roman" panose="02020603050405020304" charset="0"/>
                <a:ea typeface="宋体" panose="02010600030101010101" pitchFamily="2" charset="-122"/>
                <a:cs typeface="Times New Roman" panose="02020603050405020304" charset="0"/>
                <a:sym typeface="+mn-ea"/>
              </a:rPr>
              <a:t>10</a:t>
            </a:r>
            <a:r>
              <a:rPr lang="en-US" altLang="zh-CN" sz="2600" b="1" baseline="30000" dirty="0" smtClean="0">
                <a:latin typeface="Times New Roman" panose="02020603050405020304" charset="0"/>
                <a:ea typeface="宋体" panose="02010600030101010101" pitchFamily="2" charset="-122"/>
                <a:cs typeface="Times New Roman" panose="02020603050405020304" charset="0"/>
                <a:sym typeface="+mn-ea"/>
              </a:rPr>
              <a:t>38</a:t>
            </a:r>
            <a:r>
              <a:rPr lang="zh-CN" altLang="en-US" sz="2600" b="1" dirty="0" smtClean="0">
                <a:latin typeface="Times New Roman" panose="02020603050405020304" charset="0"/>
                <a:ea typeface="宋体" panose="02010600030101010101" pitchFamily="2" charset="-122"/>
                <a:cs typeface="Times New Roman" panose="02020603050405020304" charset="0"/>
                <a:sym typeface="+mn-ea"/>
              </a:rPr>
              <a:t>，提供</a:t>
            </a:r>
            <a:r>
              <a:rPr lang="en-US" altLang="zh-CN" sz="2600" b="1" dirty="0" smtClean="0">
                <a:latin typeface="Times New Roman" panose="02020603050405020304" charset="0"/>
                <a:ea typeface="宋体" panose="02010600030101010101" pitchFamily="2" charset="-122"/>
                <a:cs typeface="Times New Roman" panose="02020603050405020304" charset="0"/>
                <a:sym typeface="+mn-ea"/>
              </a:rPr>
              <a:t>340万亿 万亿 万亿个地址</a:t>
            </a:r>
            <a:r>
              <a:rPr lang="zh-CN" altLang="en-US" sz="2600" b="1" dirty="0" smtClean="0">
                <a:solidFill>
                  <a:srgbClr val="FF0000"/>
                </a:solidFill>
                <a:latin typeface="Times New Roman" panose="02020603050405020304" charset="0"/>
                <a:ea typeface="宋体" panose="02010600030101010101" pitchFamily="2" charset="-122"/>
                <a:cs typeface="Times New Roman" panose="02020603050405020304" charset="0"/>
                <a:sym typeface="+mn-ea"/>
              </a:rPr>
              <a:t>（</a:t>
            </a:r>
            <a:r>
              <a:rPr lang="en-US" altLang="zh-CN" sz="2600" b="1" dirty="0" smtClean="0">
                <a:solidFill>
                  <a:srgbClr val="FF0000"/>
                </a:solidFill>
                <a:latin typeface="Times New Roman" panose="02020603050405020304" charset="0"/>
                <a:ea typeface="宋体" panose="02010600030101010101" pitchFamily="2" charset="-122"/>
                <a:cs typeface="Times New Roman" panose="02020603050405020304" charset="0"/>
                <a:sym typeface="+mn-ea"/>
              </a:rPr>
              <a:t>8</a:t>
            </a:r>
            <a:r>
              <a:rPr lang="zh-CN" altLang="en-US" sz="2600" b="1" dirty="0" smtClean="0">
                <a:solidFill>
                  <a:srgbClr val="FF0000"/>
                </a:solidFill>
                <a:latin typeface="Times New Roman" panose="02020603050405020304" charset="0"/>
                <a:ea typeface="宋体" panose="02010600030101010101" pitchFamily="2" charset="-122"/>
                <a:cs typeface="Times New Roman" panose="02020603050405020304" charset="0"/>
                <a:sym typeface="+mn-ea"/>
              </a:rPr>
              <a:t>个字段）</a:t>
            </a:r>
            <a:endParaRPr lang="zh-CN" altLang="en-US" sz="2600" b="1">
              <a:latin typeface="Times New Roman" panose="02020603050405020304" charset="0"/>
              <a:ea typeface="宋体" panose="02010600030101010101" pitchFamily="2" charset="-122"/>
              <a:cs typeface="Times New Roman" panose="02020603050405020304" charset="0"/>
            </a:endParaRPr>
          </a:p>
          <a:p>
            <a:pPr marL="342900" lvl="1" indent="-342900" algn="l">
              <a:lnSpc>
                <a:spcPct val="150000"/>
              </a:lnSpc>
              <a:spcBef>
                <a:spcPts val="600"/>
              </a:spcBef>
              <a:buClr>
                <a:srgbClr val="DF4F21"/>
              </a:buClr>
              <a:buSzTx/>
              <a:buFont typeface="Wingdings" panose="05000000000000000000" charset="0"/>
              <a:buChar char="p"/>
            </a:pPr>
            <a:endParaRPr lang="zh-CN" altLang="en-US" sz="2400" b="1" kern="0" dirty="0">
              <a:latin typeface="Times New Roman" panose="02020603050405020304" charset="0"/>
              <a:ea typeface="宋体" panose="02010600030101010101" pitchFamily="2" charset="-122"/>
              <a:cs typeface="Times New Roman" panose="02020603050405020304" charset="0"/>
              <a:sym typeface="+mn-ea"/>
            </a:endParaRPr>
          </a:p>
          <a:p>
            <a:pPr lvl="1" indent="0" algn="l">
              <a:lnSpc>
                <a:spcPct val="150000"/>
              </a:lnSpc>
              <a:buClr>
                <a:srgbClr val="DF4F21"/>
              </a:buClr>
              <a:buSzTx/>
              <a:buFont typeface="Wingdings" panose="05000000000000000000" charset="0"/>
              <a:buNone/>
            </a:pP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lvl="1" indent="0" algn="l">
              <a:lnSpc>
                <a:spcPct val="150000"/>
              </a:lnSpc>
              <a:buClr>
                <a:srgbClr val="DF4F21"/>
              </a:buClr>
              <a:buSzTx/>
              <a:buFont typeface="Wingdings" panose="05000000000000000000" charset="0"/>
              <a:buNone/>
            </a:pP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
        <p:nvSpPr>
          <p:cNvPr id="4" name="标题 3"/>
          <p:cNvSpPr>
            <a:spLocks noGrp="1"/>
          </p:cNvSpPr>
          <p:nvPr>
            <p:ph type="title"/>
          </p:nvPr>
        </p:nvSpPr>
        <p:spPr/>
        <p:txBody>
          <a:bodyPr/>
          <a:p>
            <a:r>
              <a:rPr lang="en-US" altLang="zh-CN" dirty="0">
                <a:latin typeface="+mj-ea"/>
                <a:sym typeface="+mn-ea"/>
              </a:rPr>
              <a:t>3</a:t>
            </a:r>
            <a:r>
              <a:rPr lang="zh-CN" altLang="en-US" dirty="0">
                <a:latin typeface="+mj-ea"/>
                <a:sym typeface="+mn-ea"/>
              </a:rPr>
              <a:t>.</a:t>
            </a:r>
            <a:r>
              <a:rPr lang="en-US" altLang="zh-CN" dirty="0">
                <a:latin typeface="+mj-ea"/>
                <a:sym typeface="+mn-ea"/>
              </a:rPr>
              <a:t>2.1  IP</a:t>
            </a:r>
            <a:r>
              <a:rPr lang="zh-CN" altLang="en-US" dirty="0">
                <a:latin typeface="+mj-ea"/>
                <a:sym typeface="+mn-ea"/>
              </a:rPr>
              <a:t>的主要功能</a:t>
            </a:r>
            <a:endParaRPr lang="zh-CN" altLang="en-US" dirty="0">
              <a:latin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.2 </a:t>
            </a:r>
            <a:r>
              <a:rPr lang="en-US" altLang="zh-CN" sz="4000" dirty="0">
                <a:latin typeface="+mj-ea"/>
                <a:sym typeface="+mn-ea"/>
              </a:rPr>
              <a:t>IPv4</a:t>
            </a:r>
            <a:r>
              <a:rPr lang="zh-CN" altLang="en-US" sz="4000" dirty="0">
                <a:latin typeface="+mj-ea"/>
                <a:sym typeface="+mn-ea"/>
              </a:rPr>
              <a:t>数据报格式</a:t>
            </a:r>
            <a:endParaRPr lang="zh-CN" altLang="en-US" sz="4000" dirty="0">
              <a:latin typeface="+mj-ea"/>
              <a:sym typeface="+mn-ea"/>
            </a:endParaRPr>
          </a:p>
        </p:txBody>
      </p:sp>
      <p:sp>
        <p:nvSpPr>
          <p:cNvPr id="11" name="文本框 10"/>
          <p:cNvSpPr txBox="1"/>
          <p:nvPr/>
        </p:nvSpPr>
        <p:spPr>
          <a:xfrm>
            <a:off x="0" y="1045845"/>
            <a:ext cx="12192000" cy="1444625"/>
          </a:xfrm>
          <a:prstGeom prst="rect">
            <a:avLst/>
          </a:prstGeom>
          <a:noFill/>
        </p:spPr>
        <p:txBody>
          <a:bodyPr wrap="square" rtlCol="0">
            <a:noAutofit/>
          </a:bodyPr>
          <a:p>
            <a:pPr marL="342900" indent="-342900">
              <a:lnSpc>
                <a:spcPct val="150000"/>
              </a:lnSpc>
              <a:spcBef>
                <a:spcPts val="0"/>
              </a:spcBef>
              <a:buClr>
                <a:srgbClr val="DF4F21"/>
              </a:buClr>
              <a:buSzTx/>
              <a:buFont typeface="Wingdings" panose="05000000000000000000" charset="0"/>
              <a:buChar char="p"/>
            </a:pP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数据报由首部和数据两部分组成。首部由固定部分和可变部分构成。其中，首部的固定部分占</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20</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字节，是</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数据报必须具有的；首部的可变部分是可选字段，其长度可变。</a:t>
            </a:r>
            <a:endParaRPr sz="2400" b="1" spc="5" dirty="0">
              <a:latin typeface="黑体" panose="02010609060101010101" charset="-122"/>
              <a:ea typeface="黑体" panose="02010609060101010101" charset="-122"/>
              <a:cs typeface="黑体" panose="02010609060101010101" charset="-122"/>
            </a:endParaRPr>
          </a:p>
          <a:p>
            <a:pPr marL="761365" indent="0">
              <a:lnSpc>
                <a:spcPct val="150000"/>
              </a:lnSpc>
              <a:spcBef>
                <a:spcPts val="0"/>
              </a:spcBef>
              <a:buClrTx/>
              <a:buSzTx/>
              <a:buFontTx/>
            </a:pPr>
            <a:r>
              <a:rPr lang="en-US" sz="3200" b="1" spc="5" dirty="0">
                <a:latin typeface="黑体" panose="02010609060101010101" charset="-122"/>
                <a:ea typeface="黑体" panose="02010609060101010101" charset="-122"/>
                <a:cs typeface="黑体" panose="02010609060101010101" charset="-122"/>
                <a:sym typeface="+mn-ea"/>
              </a:rPr>
              <a:t>   </a:t>
            </a:r>
            <a:r>
              <a:rPr lang="en-US" sz="3200" b="1" spc="5" dirty="0">
                <a:solidFill>
                  <a:srgbClr val="FB0903"/>
                </a:solidFill>
                <a:latin typeface="黑体" panose="02010609060101010101" charset="-122"/>
                <a:ea typeface="黑体" panose="02010609060101010101" charset="-122"/>
                <a:cs typeface="黑体" panose="02010609060101010101" charset="-122"/>
                <a:sym typeface="+mn-ea"/>
              </a:rPr>
              <a:t> </a:t>
            </a:r>
            <a:endParaRPr lang="zh-CN" altLang="en-US" sz="3200" b="1">
              <a:latin typeface="黑体" panose="02010609060101010101" charset="-122"/>
              <a:ea typeface="黑体" panose="02010609060101010101" charset="-122"/>
            </a:endParaRPr>
          </a:p>
        </p:txBody>
      </p:sp>
      <p:graphicFrame>
        <p:nvGraphicFramePr>
          <p:cNvPr id="3" name="对象 -2147482606"/>
          <p:cNvGraphicFramePr>
            <a:graphicFrameLocks noChangeAspect="1"/>
          </p:cNvGraphicFramePr>
          <p:nvPr/>
        </p:nvGraphicFramePr>
        <p:xfrm>
          <a:off x="2662555" y="2614295"/>
          <a:ext cx="7026910" cy="3839210"/>
        </p:xfrm>
        <a:graphic>
          <a:graphicData uri="http://schemas.openxmlformats.org/presentationml/2006/ole">
            <mc:AlternateContent xmlns:mc="http://schemas.openxmlformats.org/markup-compatibility/2006">
              <mc:Choice xmlns:v="urn:schemas-microsoft-com:vml" Requires="v">
                <p:oleObj spid="_x0000_s3076" name="" r:id="rId1" imgW="5713095" imgH="3120390" progId="Visio.DrawingConvertable.15">
                  <p:embed/>
                </p:oleObj>
              </mc:Choice>
              <mc:Fallback>
                <p:oleObj name="" r:id="rId1" imgW="5713095" imgH="3120390" progId="Visio.DrawingConvertable.15">
                  <p:embed/>
                  <p:pic>
                    <p:nvPicPr>
                      <p:cNvPr id="0" name="图片 3075"/>
                      <p:cNvPicPr/>
                      <p:nvPr/>
                    </p:nvPicPr>
                    <p:blipFill>
                      <a:blip r:embed="rId2"/>
                      <a:stretch>
                        <a:fillRect/>
                      </a:stretch>
                    </p:blipFill>
                    <p:spPr>
                      <a:xfrm>
                        <a:off x="2662555" y="2614295"/>
                        <a:ext cx="7026910" cy="3839210"/>
                      </a:xfrm>
                      <a:prstGeom prst="rect">
                        <a:avLst/>
                      </a:prstGeom>
                      <a:noFill/>
                      <a:ln w="38100">
                        <a:noFill/>
                        <a:miter/>
                      </a:ln>
                    </p:spPr>
                  </p:pic>
                </p:oleObj>
              </mc:Fallback>
            </mc:AlternateContent>
          </a:graphicData>
        </a:graphic>
      </p:graphicFrame>
      <p:sp>
        <p:nvSpPr>
          <p:cNvPr id="4" name="文本框 3"/>
          <p:cNvSpPr txBox="1"/>
          <p:nvPr/>
        </p:nvSpPr>
        <p:spPr>
          <a:xfrm>
            <a:off x="5297170" y="6379210"/>
            <a:ext cx="1757680" cy="414020"/>
          </a:xfrm>
          <a:prstGeom prst="rect">
            <a:avLst/>
          </a:prstGeom>
        </p:spPr>
        <p:txBody>
          <a:bodyPr wrap="square">
            <a:spAutoFit/>
          </a:bodyPr>
          <a:p>
            <a:pPr marL="0" indent="127000" algn="just" defTabSz="266700">
              <a:lnSpc>
                <a:spcPct val="150000"/>
              </a:lnSpc>
              <a:spcBef>
                <a:spcPct val="0"/>
              </a:spcBef>
              <a:spcAft>
                <a:spcPct val="0"/>
              </a:spcAft>
            </a:pPr>
            <a:r>
              <a:rPr lang="en-US" altLang="zh-CN" sz="1400" b="1" i="0">
                <a:latin typeface="Times New Roman" panose="02020603050405020304"/>
                <a:ea typeface="Times New Roman" panose="02020603050405020304"/>
              </a:rPr>
              <a:t>IP</a:t>
            </a:r>
            <a:r>
              <a:rPr lang="zh-CN" altLang="en-US" sz="1400" b="1" i="0">
                <a:latin typeface="Times New Roman" panose="02020603050405020304"/>
                <a:ea typeface="宋体" panose="02010600030101010101" pitchFamily="2" charset="-122"/>
              </a:rPr>
              <a:t>协议数据报首部</a:t>
            </a:r>
            <a:endParaRPr lang="zh-CN" altLang="en-US" sz="1400" b="1" i="0">
              <a:latin typeface="Times New Roman" panose="020206030504050203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2107791" y="3934989"/>
            <a:ext cx="901243" cy="388126"/>
          </a:xfrm>
          <a:prstGeom prst="rect">
            <a:avLst/>
          </a:prstGeom>
          <a:ln>
            <a:tailEnd type="none"/>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首部</a:t>
            </a:r>
            <a:r>
              <a:rPr lang="en-US" altLang="zh-CN" b="1" dirty="0"/>
              <a:t>1</a:t>
            </a:r>
            <a:endParaRPr lang="zh-CN" altLang="en-US" b="1" dirty="0"/>
          </a:p>
        </p:txBody>
      </p:sp>
      <p:sp>
        <p:nvSpPr>
          <p:cNvPr id="49" name="矩形 48"/>
          <p:cNvSpPr/>
          <p:nvPr/>
        </p:nvSpPr>
        <p:spPr>
          <a:xfrm>
            <a:off x="5282818" y="3934989"/>
            <a:ext cx="901243" cy="388126"/>
          </a:xfrm>
          <a:prstGeom prst="rect">
            <a:avLst/>
          </a:prstGeom>
          <a:ln>
            <a:tailEnd type="none"/>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首部</a:t>
            </a:r>
            <a:r>
              <a:rPr lang="en-US" altLang="zh-CN" b="1" dirty="0"/>
              <a:t>2</a:t>
            </a:r>
            <a:endParaRPr lang="zh-CN" altLang="en-US" b="1" dirty="0"/>
          </a:p>
        </p:txBody>
      </p:sp>
      <p:sp>
        <p:nvSpPr>
          <p:cNvPr id="51" name="矩形 50"/>
          <p:cNvSpPr/>
          <p:nvPr/>
        </p:nvSpPr>
        <p:spPr>
          <a:xfrm>
            <a:off x="8457845" y="3934989"/>
            <a:ext cx="901243" cy="388126"/>
          </a:xfrm>
          <a:prstGeom prst="rect">
            <a:avLst/>
          </a:prstGeom>
          <a:ln>
            <a:tailEnd type="none"/>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首部</a:t>
            </a:r>
            <a:r>
              <a:rPr lang="en-US" altLang="zh-CN" b="1" dirty="0"/>
              <a:t>3</a:t>
            </a:r>
            <a:endParaRPr lang="zh-CN" altLang="en-US" b="1" dirty="0"/>
          </a:p>
        </p:txBody>
      </p:sp>
      <p:grpSp>
        <p:nvGrpSpPr>
          <p:cNvPr id="83" name="组合 82"/>
          <p:cNvGrpSpPr/>
          <p:nvPr/>
        </p:nvGrpSpPr>
        <p:grpSpPr>
          <a:xfrm>
            <a:off x="3922177" y="2555328"/>
            <a:ext cx="6167755" cy="369332"/>
            <a:chOff x="3922177" y="2555328"/>
            <a:chExt cx="6167755" cy="369332"/>
          </a:xfrm>
        </p:grpSpPr>
        <p:sp>
          <p:nvSpPr>
            <p:cNvPr id="53" name="文本框 52"/>
            <p:cNvSpPr txBox="1"/>
            <p:nvPr/>
          </p:nvSpPr>
          <p:spPr>
            <a:xfrm>
              <a:off x="3922177" y="2555328"/>
              <a:ext cx="281432" cy="369332"/>
            </a:xfrm>
            <a:prstGeom prst="rect">
              <a:avLst/>
            </a:prstGeom>
            <a:noFill/>
          </p:spPr>
          <p:txBody>
            <a:bodyPr wrap="square" rtlCol="0">
              <a:spAutoFit/>
            </a:bodyPr>
            <a:lstStyle/>
            <a:p>
              <a:r>
                <a:rPr lang="en-US" altLang="zh-CN" b="1" dirty="0"/>
                <a:t>0</a:t>
              </a:r>
              <a:endParaRPr lang="zh-CN" altLang="en-US" b="1" dirty="0"/>
            </a:p>
          </p:txBody>
        </p:sp>
        <p:sp>
          <p:nvSpPr>
            <p:cNvPr id="54" name="文本框 53"/>
            <p:cNvSpPr txBox="1"/>
            <p:nvPr/>
          </p:nvSpPr>
          <p:spPr>
            <a:xfrm>
              <a:off x="5475387" y="2555328"/>
              <a:ext cx="820420" cy="368300"/>
            </a:xfrm>
            <a:prstGeom prst="rect">
              <a:avLst/>
            </a:prstGeom>
            <a:noFill/>
          </p:spPr>
          <p:txBody>
            <a:bodyPr wrap="square" rtlCol="0">
              <a:spAutoFit/>
            </a:bodyPr>
            <a:lstStyle/>
            <a:p>
              <a:r>
                <a:rPr lang="en-US" altLang="zh-CN" b="1" dirty="0"/>
                <a:t>1399</a:t>
              </a:r>
              <a:endParaRPr lang="zh-CN" altLang="en-US" b="1" dirty="0"/>
            </a:p>
          </p:txBody>
        </p:sp>
        <p:sp>
          <p:nvSpPr>
            <p:cNvPr id="55" name="文本框 54"/>
            <p:cNvSpPr txBox="1"/>
            <p:nvPr/>
          </p:nvSpPr>
          <p:spPr>
            <a:xfrm>
              <a:off x="6078637" y="2555328"/>
              <a:ext cx="875665" cy="368300"/>
            </a:xfrm>
            <a:prstGeom prst="rect">
              <a:avLst/>
            </a:prstGeom>
            <a:noFill/>
          </p:spPr>
          <p:txBody>
            <a:bodyPr wrap="square" rtlCol="0">
              <a:spAutoFit/>
            </a:bodyPr>
            <a:lstStyle/>
            <a:p>
              <a:r>
                <a:rPr lang="en-US" altLang="zh-CN" b="1" dirty="0"/>
                <a:t>1400</a:t>
              </a:r>
              <a:endParaRPr lang="zh-CN" altLang="en-US" b="1" dirty="0"/>
            </a:p>
          </p:txBody>
        </p:sp>
        <p:sp>
          <p:nvSpPr>
            <p:cNvPr id="56" name="文本框 55"/>
            <p:cNvSpPr txBox="1"/>
            <p:nvPr/>
          </p:nvSpPr>
          <p:spPr>
            <a:xfrm>
              <a:off x="7685187" y="2555328"/>
              <a:ext cx="772795" cy="368300"/>
            </a:xfrm>
            <a:prstGeom prst="rect">
              <a:avLst/>
            </a:prstGeom>
            <a:noFill/>
          </p:spPr>
          <p:txBody>
            <a:bodyPr wrap="square" rtlCol="0">
              <a:spAutoFit/>
            </a:bodyPr>
            <a:lstStyle/>
            <a:p>
              <a:r>
                <a:rPr lang="en-US" altLang="zh-CN" b="1" dirty="0"/>
                <a:t>2799</a:t>
              </a:r>
              <a:endParaRPr lang="zh-CN" altLang="en-US" b="1" dirty="0"/>
            </a:p>
          </p:txBody>
        </p:sp>
        <p:sp>
          <p:nvSpPr>
            <p:cNvPr id="57" name="文本框 56"/>
            <p:cNvSpPr txBox="1"/>
            <p:nvPr/>
          </p:nvSpPr>
          <p:spPr>
            <a:xfrm>
              <a:off x="8266847" y="2555328"/>
              <a:ext cx="811530" cy="368300"/>
            </a:xfrm>
            <a:prstGeom prst="rect">
              <a:avLst/>
            </a:prstGeom>
            <a:noFill/>
          </p:spPr>
          <p:txBody>
            <a:bodyPr wrap="square" rtlCol="0">
              <a:spAutoFit/>
            </a:bodyPr>
            <a:lstStyle/>
            <a:p>
              <a:r>
                <a:rPr lang="en-US" altLang="zh-CN" b="1" dirty="0"/>
                <a:t>2800</a:t>
              </a:r>
              <a:endParaRPr lang="zh-CN" altLang="en-US" b="1" dirty="0"/>
            </a:p>
          </p:txBody>
        </p:sp>
        <p:sp>
          <p:nvSpPr>
            <p:cNvPr id="58" name="文本框 57"/>
            <p:cNvSpPr txBox="1"/>
            <p:nvPr/>
          </p:nvSpPr>
          <p:spPr>
            <a:xfrm>
              <a:off x="9277132" y="2555328"/>
              <a:ext cx="812800" cy="368300"/>
            </a:xfrm>
            <a:prstGeom prst="rect">
              <a:avLst/>
            </a:prstGeom>
            <a:noFill/>
          </p:spPr>
          <p:txBody>
            <a:bodyPr wrap="square" rtlCol="0">
              <a:spAutoFit/>
            </a:bodyPr>
            <a:lstStyle/>
            <a:p>
              <a:r>
                <a:rPr lang="en-US" altLang="zh-CN" b="1" dirty="0"/>
                <a:t>3799</a:t>
              </a:r>
              <a:endParaRPr lang="zh-CN" altLang="en-US" b="1" dirty="0"/>
            </a:p>
          </p:txBody>
        </p:sp>
      </p:grpSp>
      <p:grpSp>
        <p:nvGrpSpPr>
          <p:cNvPr id="33" name="组合 32"/>
          <p:cNvGrpSpPr/>
          <p:nvPr/>
        </p:nvGrpSpPr>
        <p:grpSpPr>
          <a:xfrm>
            <a:off x="3078699" y="1832810"/>
            <a:ext cx="901243" cy="397275"/>
            <a:chOff x="3078699" y="1832810"/>
            <a:chExt cx="901243" cy="397275"/>
          </a:xfrm>
        </p:grpSpPr>
        <p:cxnSp>
          <p:nvCxnSpPr>
            <p:cNvPr id="6" name="直接连接符 5"/>
            <p:cNvCxnSpPr/>
            <p:nvPr/>
          </p:nvCxnSpPr>
          <p:spPr>
            <a:xfrm flipV="1">
              <a:off x="3078699" y="1874851"/>
              <a:ext cx="0" cy="355234"/>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3979942" y="1874851"/>
              <a:ext cx="0" cy="355234"/>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3078699" y="2019578"/>
              <a:ext cx="901243"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3246995" y="1832810"/>
              <a:ext cx="564650" cy="369332"/>
            </a:xfrm>
            <a:prstGeom prst="rect">
              <a:avLst/>
            </a:prstGeom>
            <a:solidFill>
              <a:schemeClr val="bg1"/>
            </a:solidFill>
          </p:spPr>
          <p:txBody>
            <a:bodyPr wrap="square" rtlCol="0">
              <a:spAutoFit/>
            </a:bodyPr>
            <a:lstStyle/>
            <a:p>
              <a:pPr algn="ctr"/>
              <a:r>
                <a:rPr lang="en-US" altLang="zh-CN" b="1" dirty="0"/>
                <a:t>20B</a:t>
              </a:r>
              <a:endParaRPr lang="zh-CN" altLang="en-US" b="1" dirty="0"/>
            </a:p>
          </p:txBody>
        </p:sp>
      </p:grpSp>
      <p:grpSp>
        <p:nvGrpSpPr>
          <p:cNvPr id="35" name="组合 34"/>
          <p:cNvGrpSpPr/>
          <p:nvPr/>
        </p:nvGrpSpPr>
        <p:grpSpPr>
          <a:xfrm>
            <a:off x="3979942" y="1832810"/>
            <a:ext cx="5789008" cy="431812"/>
            <a:chOff x="3979942" y="1832810"/>
            <a:chExt cx="5789008" cy="431812"/>
          </a:xfrm>
        </p:grpSpPr>
        <p:cxnSp>
          <p:nvCxnSpPr>
            <p:cNvPr id="38" name="直接连接符 37"/>
            <p:cNvCxnSpPr/>
            <p:nvPr/>
          </p:nvCxnSpPr>
          <p:spPr>
            <a:xfrm flipV="1">
              <a:off x="3979942" y="1909388"/>
              <a:ext cx="0" cy="355234"/>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9768950" y="1874851"/>
              <a:ext cx="0" cy="355234"/>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3979942" y="2017476"/>
              <a:ext cx="5789008"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6463292" y="1832810"/>
              <a:ext cx="784478" cy="369332"/>
            </a:xfrm>
            <a:prstGeom prst="rect">
              <a:avLst/>
            </a:prstGeom>
            <a:solidFill>
              <a:schemeClr val="bg1"/>
            </a:solidFill>
          </p:spPr>
          <p:txBody>
            <a:bodyPr wrap="square" rtlCol="0">
              <a:spAutoFit/>
            </a:bodyPr>
            <a:lstStyle/>
            <a:p>
              <a:pPr algn="ctr"/>
              <a:r>
                <a:rPr lang="en-US" altLang="zh-CN" b="1" dirty="0"/>
                <a:t>3800B</a:t>
              </a:r>
              <a:endParaRPr lang="zh-CN" altLang="en-US" b="1" dirty="0"/>
            </a:p>
          </p:txBody>
        </p:sp>
      </p:grpSp>
      <p:grpSp>
        <p:nvGrpSpPr>
          <p:cNvPr id="91" name="组合 90"/>
          <p:cNvGrpSpPr/>
          <p:nvPr/>
        </p:nvGrpSpPr>
        <p:grpSpPr>
          <a:xfrm>
            <a:off x="2935763" y="2923011"/>
            <a:ext cx="2836276" cy="1400104"/>
            <a:chOff x="2935763" y="2923011"/>
            <a:chExt cx="2836276" cy="1400104"/>
          </a:xfrm>
        </p:grpSpPr>
        <p:sp>
          <p:nvSpPr>
            <p:cNvPr id="44" name="矩形 43"/>
            <p:cNvSpPr/>
            <p:nvPr/>
          </p:nvSpPr>
          <p:spPr>
            <a:xfrm>
              <a:off x="3009034" y="3934989"/>
              <a:ext cx="2160000" cy="388126"/>
            </a:xfrm>
            <a:prstGeom prst="rect">
              <a:avLst/>
            </a:prstGeom>
            <a:solidFill>
              <a:schemeClr val="bg1"/>
            </a:solidFill>
            <a:ln>
              <a:tailEnd type="none"/>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b="1" dirty="0">
                <a:solidFill>
                  <a:schemeClr val="tx1"/>
                </a:solidFill>
              </a:endParaRPr>
            </a:p>
          </p:txBody>
        </p:sp>
        <p:grpSp>
          <p:nvGrpSpPr>
            <p:cNvPr id="90" name="组合 89"/>
            <p:cNvGrpSpPr/>
            <p:nvPr/>
          </p:nvGrpSpPr>
          <p:grpSpPr>
            <a:xfrm>
              <a:off x="2935763" y="2923011"/>
              <a:ext cx="2836276" cy="1081050"/>
              <a:chOff x="2935763" y="2923011"/>
              <a:chExt cx="2836276" cy="1081050"/>
            </a:xfrm>
          </p:grpSpPr>
          <p:sp>
            <p:nvSpPr>
              <p:cNvPr id="61" name="文本框 60"/>
              <p:cNvSpPr txBox="1"/>
              <p:nvPr/>
            </p:nvSpPr>
            <p:spPr>
              <a:xfrm>
                <a:off x="2935763" y="3634729"/>
                <a:ext cx="281432" cy="369332"/>
              </a:xfrm>
              <a:prstGeom prst="rect">
                <a:avLst/>
              </a:prstGeom>
              <a:noFill/>
            </p:spPr>
            <p:txBody>
              <a:bodyPr wrap="square" rtlCol="0">
                <a:spAutoFit/>
              </a:bodyPr>
              <a:lstStyle/>
              <a:p>
                <a:r>
                  <a:rPr lang="en-US" altLang="zh-CN" b="1" dirty="0"/>
                  <a:t>0</a:t>
                </a:r>
                <a:endParaRPr lang="zh-CN" altLang="en-US" b="1" dirty="0"/>
              </a:p>
            </p:txBody>
          </p:sp>
          <p:sp>
            <p:nvSpPr>
              <p:cNvPr id="62" name="文本框 61"/>
              <p:cNvSpPr txBox="1"/>
              <p:nvPr/>
            </p:nvSpPr>
            <p:spPr>
              <a:xfrm>
                <a:off x="4439443" y="3634846"/>
                <a:ext cx="869950" cy="368300"/>
              </a:xfrm>
              <a:prstGeom prst="rect">
                <a:avLst/>
              </a:prstGeom>
              <a:noFill/>
            </p:spPr>
            <p:txBody>
              <a:bodyPr wrap="square" rtlCol="0">
                <a:spAutoFit/>
              </a:bodyPr>
              <a:lstStyle/>
              <a:p>
                <a:r>
                  <a:rPr lang="en-US" altLang="zh-CN" b="1" dirty="0"/>
                  <a:t>1399</a:t>
                </a:r>
                <a:endParaRPr lang="zh-CN" altLang="en-US" b="1" dirty="0"/>
              </a:p>
            </p:txBody>
          </p:sp>
          <p:cxnSp>
            <p:nvCxnSpPr>
              <p:cNvPr id="50" name="直接箭头连接符 49"/>
              <p:cNvCxnSpPr/>
              <p:nvPr/>
            </p:nvCxnSpPr>
            <p:spPr>
              <a:xfrm flipH="1">
                <a:off x="3190751" y="2923011"/>
                <a:ext cx="766452" cy="754324"/>
              </a:xfrm>
              <a:prstGeom prst="straightConnector1">
                <a:avLst/>
              </a:prstGeom>
              <a:ln w="127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flipH="1">
                <a:off x="5005587" y="2923011"/>
                <a:ext cx="766452" cy="754324"/>
              </a:xfrm>
              <a:prstGeom prst="straightConnector1">
                <a:avLst/>
              </a:prstGeom>
              <a:ln w="127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grpSp>
        <p:nvGrpSpPr>
          <p:cNvPr id="92" name="组合 91"/>
          <p:cNvGrpSpPr/>
          <p:nvPr/>
        </p:nvGrpSpPr>
        <p:grpSpPr>
          <a:xfrm>
            <a:off x="6036460" y="2851702"/>
            <a:ext cx="2421255" cy="1471413"/>
            <a:chOff x="6036460" y="2851702"/>
            <a:chExt cx="2421255" cy="1471413"/>
          </a:xfrm>
        </p:grpSpPr>
        <p:sp>
          <p:nvSpPr>
            <p:cNvPr id="45" name="矩形 44"/>
            <p:cNvSpPr/>
            <p:nvPr/>
          </p:nvSpPr>
          <p:spPr>
            <a:xfrm>
              <a:off x="6184061" y="3934989"/>
              <a:ext cx="2160000" cy="388126"/>
            </a:xfrm>
            <a:prstGeom prst="rect">
              <a:avLst/>
            </a:prstGeom>
            <a:solidFill>
              <a:schemeClr val="bg1"/>
            </a:solidFill>
            <a:ln>
              <a:tailEnd type="none"/>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b="1" dirty="0">
                <a:solidFill>
                  <a:schemeClr val="tx1"/>
                </a:solidFill>
              </a:endParaRPr>
            </a:p>
          </p:txBody>
        </p:sp>
        <p:sp>
          <p:nvSpPr>
            <p:cNvPr id="63" name="文本框 62"/>
            <p:cNvSpPr txBox="1"/>
            <p:nvPr/>
          </p:nvSpPr>
          <p:spPr>
            <a:xfrm>
              <a:off x="6036460" y="3634657"/>
              <a:ext cx="727075" cy="368300"/>
            </a:xfrm>
            <a:prstGeom prst="rect">
              <a:avLst/>
            </a:prstGeom>
            <a:noFill/>
          </p:spPr>
          <p:txBody>
            <a:bodyPr wrap="square" rtlCol="0">
              <a:spAutoFit/>
            </a:bodyPr>
            <a:lstStyle/>
            <a:p>
              <a:r>
                <a:rPr lang="en-US" altLang="zh-CN" b="1" dirty="0"/>
                <a:t>1400</a:t>
              </a:r>
              <a:endParaRPr lang="zh-CN" altLang="en-US" b="1" dirty="0"/>
            </a:p>
          </p:txBody>
        </p:sp>
        <p:sp>
          <p:nvSpPr>
            <p:cNvPr id="64" name="文本框 63"/>
            <p:cNvSpPr txBox="1"/>
            <p:nvPr/>
          </p:nvSpPr>
          <p:spPr>
            <a:xfrm>
              <a:off x="7658250" y="3634657"/>
              <a:ext cx="799465" cy="368300"/>
            </a:xfrm>
            <a:prstGeom prst="rect">
              <a:avLst/>
            </a:prstGeom>
            <a:noFill/>
          </p:spPr>
          <p:txBody>
            <a:bodyPr wrap="square" rtlCol="0">
              <a:spAutoFit/>
            </a:bodyPr>
            <a:lstStyle/>
            <a:p>
              <a:r>
                <a:rPr lang="en-US" altLang="zh-CN" b="1" dirty="0"/>
                <a:t>2799</a:t>
              </a:r>
              <a:endParaRPr lang="zh-CN" altLang="en-US" b="1" dirty="0"/>
            </a:p>
          </p:txBody>
        </p:sp>
        <p:cxnSp>
          <p:nvCxnSpPr>
            <p:cNvPr id="76" name="直接箭头连接符 75"/>
            <p:cNvCxnSpPr/>
            <p:nvPr/>
          </p:nvCxnSpPr>
          <p:spPr>
            <a:xfrm>
              <a:off x="6388341" y="2851702"/>
              <a:ext cx="0" cy="858523"/>
            </a:xfrm>
            <a:prstGeom prst="straightConnector1">
              <a:avLst/>
            </a:prstGeom>
            <a:ln w="127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060356" y="2851702"/>
              <a:ext cx="0" cy="858523"/>
            </a:xfrm>
            <a:prstGeom prst="straightConnector1">
              <a:avLst/>
            </a:prstGeom>
            <a:ln w="127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4" name="组合 93"/>
          <p:cNvGrpSpPr/>
          <p:nvPr/>
        </p:nvGrpSpPr>
        <p:grpSpPr>
          <a:xfrm>
            <a:off x="8560263" y="2870911"/>
            <a:ext cx="2761615" cy="1452204"/>
            <a:chOff x="8560263" y="2870911"/>
            <a:chExt cx="2761615" cy="1452204"/>
          </a:xfrm>
        </p:grpSpPr>
        <p:sp>
          <p:nvSpPr>
            <p:cNvPr id="46" name="矩形 45"/>
            <p:cNvSpPr/>
            <p:nvPr/>
          </p:nvSpPr>
          <p:spPr>
            <a:xfrm>
              <a:off x="9357992" y="3934989"/>
              <a:ext cx="1800000" cy="388126"/>
            </a:xfrm>
            <a:prstGeom prst="rect">
              <a:avLst/>
            </a:prstGeom>
            <a:solidFill>
              <a:schemeClr val="bg1"/>
            </a:solidFill>
            <a:ln>
              <a:tailEnd type="none"/>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b="1" dirty="0">
                <a:solidFill>
                  <a:schemeClr val="tx1"/>
                </a:solidFill>
              </a:endParaRPr>
            </a:p>
          </p:txBody>
        </p:sp>
        <p:grpSp>
          <p:nvGrpSpPr>
            <p:cNvPr id="93" name="组合 92"/>
            <p:cNvGrpSpPr/>
            <p:nvPr/>
          </p:nvGrpSpPr>
          <p:grpSpPr>
            <a:xfrm>
              <a:off x="8560263" y="2870911"/>
              <a:ext cx="2761615" cy="1132205"/>
              <a:chOff x="8560263" y="2870911"/>
              <a:chExt cx="2761615" cy="1132205"/>
            </a:xfrm>
          </p:grpSpPr>
          <p:sp>
            <p:nvSpPr>
              <p:cNvPr id="65" name="文本框 64"/>
              <p:cNvSpPr txBox="1"/>
              <p:nvPr/>
            </p:nvSpPr>
            <p:spPr>
              <a:xfrm>
                <a:off x="9115253" y="3634816"/>
                <a:ext cx="854710" cy="368300"/>
              </a:xfrm>
              <a:prstGeom prst="rect">
                <a:avLst/>
              </a:prstGeom>
              <a:noFill/>
            </p:spPr>
            <p:txBody>
              <a:bodyPr wrap="square" rtlCol="0">
                <a:spAutoFit/>
              </a:bodyPr>
              <a:lstStyle/>
              <a:p>
                <a:r>
                  <a:rPr lang="en-US" altLang="zh-CN" b="1" dirty="0"/>
                  <a:t>2800</a:t>
                </a:r>
                <a:endParaRPr lang="zh-CN" altLang="en-US" b="1" dirty="0"/>
              </a:p>
            </p:txBody>
          </p:sp>
          <p:sp>
            <p:nvSpPr>
              <p:cNvPr id="66" name="文本框 65"/>
              <p:cNvSpPr txBox="1"/>
              <p:nvPr/>
            </p:nvSpPr>
            <p:spPr>
              <a:xfrm>
                <a:off x="10517333" y="3634816"/>
                <a:ext cx="804545" cy="367887"/>
              </a:xfrm>
              <a:prstGeom prst="rect">
                <a:avLst/>
              </a:prstGeom>
              <a:noFill/>
            </p:spPr>
            <p:txBody>
              <a:bodyPr wrap="square" rtlCol="0">
                <a:spAutoFit/>
              </a:bodyPr>
              <a:lstStyle/>
              <a:p>
                <a:r>
                  <a:rPr lang="en-US" altLang="zh-CN" b="1" dirty="0"/>
                  <a:t>3799</a:t>
                </a:r>
                <a:endParaRPr lang="zh-CN" altLang="en-US" b="1" dirty="0"/>
              </a:p>
            </p:txBody>
          </p:sp>
          <p:cxnSp>
            <p:nvCxnSpPr>
              <p:cNvPr id="82" name="直接箭头连接符 81"/>
              <p:cNvCxnSpPr/>
              <p:nvPr/>
            </p:nvCxnSpPr>
            <p:spPr>
              <a:xfrm>
                <a:off x="8560263" y="2870911"/>
                <a:ext cx="885906" cy="806424"/>
              </a:xfrm>
              <a:prstGeom prst="straightConnector1">
                <a:avLst/>
              </a:prstGeom>
              <a:ln w="127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9772743" y="2870911"/>
                <a:ext cx="885906" cy="806424"/>
              </a:xfrm>
              <a:prstGeom prst="straightConnector1">
                <a:avLst/>
              </a:prstGeom>
              <a:ln w="127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grpSp>
      <p:grpSp>
        <p:nvGrpSpPr>
          <p:cNvPr id="80" name="组合 79"/>
          <p:cNvGrpSpPr/>
          <p:nvPr/>
        </p:nvGrpSpPr>
        <p:grpSpPr>
          <a:xfrm>
            <a:off x="326179" y="2230085"/>
            <a:ext cx="9442771" cy="388126"/>
            <a:chOff x="326179" y="2230085"/>
            <a:chExt cx="9442771" cy="388126"/>
          </a:xfrm>
        </p:grpSpPr>
        <p:sp>
          <p:nvSpPr>
            <p:cNvPr id="4" name="矩形 3"/>
            <p:cNvSpPr/>
            <p:nvPr/>
          </p:nvSpPr>
          <p:spPr>
            <a:xfrm>
              <a:off x="3078699" y="2230085"/>
              <a:ext cx="901243" cy="388126"/>
            </a:xfrm>
            <a:prstGeom prst="rect">
              <a:avLst/>
            </a:prstGeom>
            <a:ln>
              <a:tailEnd type="none"/>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首部</a:t>
              </a:r>
              <a:endParaRPr lang="zh-CN" altLang="en-US" b="1" dirty="0"/>
            </a:p>
          </p:txBody>
        </p:sp>
        <p:sp>
          <p:nvSpPr>
            <p:cNvPr id="30" name="矩形 29"/>
            <p:cNvSpPr/>
            <p:nvPr/>
          </p:nvSpPr>
          <p:spPr>
            <a:xfrm>
              <a:off x="3979942" y="2230085"/>
              <a:ext cx="5789008" cy="388126"/>
            </a:xfrm>
            <a:prstGeom prst="rect">
              <a:avLst/>
            </a:prstGeom>
            <a:solidFill>
              <a:schemeClr val="bg1"/>
            </a:solidFill>
            <a:ln>
              <a:tailEnd type="none"/>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solidFill>
                    <a:schemeClr val="tx1"/>
                  </a:solidFill>
                </a:rPr>
                <a:t>数据载荷</a:t>
              </a:r>
              <a:endParaRPr lang="zh-CN" altLang="en-US" b="1" dirty="0">
                <a:solidFill>
                  <a:schemeClr val="tx1"/>
                </a:solidFill>
              </a:endParaRPr>
            </a:p>
          </p:txBody>
        </p:sp>
        <p:sp>
          <p:nvSpPr>
            <p:cNvPr id="89" name="文本框 88"/>
            <p:cNvSpPr txBox="1"/>
            <p:nvPr/>
          </p:nvSpPr>
          <p:spPr>
            <a:xfrm>
              <a:off x="326179" y="2230085"/>
              <a:ext cx="2577646" cy="369332"/>
            </a:xfrm>
            <a:prstGeom prst="rect">
              <a:avLst/>
            </a:prstGeom>
            <a:noFill/>
          </p:spPr>
          <p:txBody>
            <a:bodyPr wrap="square" rtlCol="0">
              <a:spAutoFit/>
            </a:bodyPr>
            <a:lstStyle/>
            <a:p>
              <a:r>
                <a:rPr lang="zh-CN" altLang="en-US" b="1" dirty="0"/>
                <a:t>需要分片的</a:t>
              </a:r>
              <a:r>
                <a:rPr lang="en-US" altLang="zh-CN" b="1" dirty="0"/>
                <a:t>IPv4</a:t>
              </a:r>
              <a:r>
                <a:rPr lang="zh-CN" altLang="en-US" b="1" dirty="0"/>
                <a:t>数据报</a:t>
              </a:r>
              <a:endParaRPr lang="zh-CN" altLang="en-US" b="1" dirty="0"/>
            </a:p>
          </p:txBody>
        </p:sp>
      </p:grpSp>
      <p:sp>
        <p:nvSpPr>
          <p:cNvPr id="95" name="文本框 94"/>
          <p:cNvSpPr txBox="1"/>
          <p:nvPr/>
        </p:nvSpPr>
        <p:spPr>
          <a:xfrm>
            <a:off x="326179" y="3934989"/>
            <a:ext cx="1840685" cy="369332"/>
          </a:xfrm>
          <a:prstGeom prst="rect">
            <a:avLst/>
          </a:prstGeom>
          <a:noFill/>
        </p:spPr>
        <p:txBody>
          <a:bodyPr wrap="square" rtlCol="0">
            <a:spAutoFit/>
          </a:bodyPr>
          <a:lstStyle/>
          <a:p>
            <a:r>
              <a:rPr lang="en-US" altLang="zh-CN" b="1" dirty="0"/>
              <a:t>3</a:t>
            </a:r>
            <a:r>
              <a:rPr lang="zh-CN" altLang="en-US" b="1" dirty="0"/>
              <a:t>个分片数据报</a:t>
            </a:r>
            <a:endParaRPr lang="zh-CN" altLang="en-US" b="1" dirty="0"/>
          </a:p>
        </p:txBody>
      </p:sp>
      <p:sp>
        <p:nvSpPr>
          <p:cNvPr id="5" name="文本框 4"/>
          <p:cNvSpPr txBox="1"/>
          <p:nvPr/>
        </p:nvSpPr>
        <p:spPr>
          <a:xfrm>
            <a:off x="326390" y="242570"/>
            <a:ext cx="10627995" cy="1476375"/>
          </a:xfrm>
          <a:prstGeom prst="rect">
            <a:avLst/>
          </a:prstGeom>
          <a:noFill/>
        </p:spPr>
        <p:txBody>
          <a:bodyPr wrap="square" rtlCol="0">
            <a:spAutoFit/>
          </a:bodyPr>
          <a:p>
            <a:pPr algn="l">
              <a:lnSpc>
                <a:spcPct val="150000"/>
              </a:lnSpc>
              <a:buClrTx/>
              <a:buSzTx/>
              <a:buFontTx/>
            </a:pPr>
            <a:r>
              <a:rPr lang="en-US" altLang="zh-CN" sz="2400" b="1" dirty="0">
                <a:sym typeface="+mn-ea"/>
              </a:rPr>
              <a:t>【</a:t>
            </a:r>
            <a:r>
              <a:rPr lang="zh-CN" altLang="en-US" sz="2400" b="1" dirty="0">
                <a:sym typeface="+mn-ea"/>
              </a:rPr>
              <a:t>举例</a:t>
            </a:r>
            <a:r>
              <a:rPr lang="en-US" altLang="zh-CN" sz="2400" b="1" dirty="0">
                <a:sym typeface="+mn-ea"/>
              </a:rPr>
              <a:t>】</a:t>
            </a:r>
            <a:r>
              <a:rPr lang="zh-CN" altLang="en-US" sz="2400" b="1" dirty="0">
                <a:sym typeface="+mn-ea"/>
              </a:rPr>
              <a:t>某个IPv4数据报总长度为3820字节，采用20字节固定首部，根据数据链路层要求，需要将该IPv4数据报分片为长度不超过1420字节的数据报片。</a:t>
            </a:r>
            <a:endParaRPr lang="zh-CN" altLang="en-US" sz="2400" b="1" dirty="0"/>
          </a:p>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 calcmode="lin" valueType="num">
                                      <p:cBhvr additive="base">
                                        <p:cTn id="7" dur="500" fill="hold"/>
                                        <p:tgtEl>
                                          <p:spTgt spid="80"/>
                                        </p:tgtEl>
                                        <p:attrNameLst>
                                          <p:attrName>ppt_x</p:attrName>
                                        </p:attrNameLst>
                                      </p:cBhvr>
                                      <p:tavLst>
                                        <p:tav tm="0">
                                          <p:val>
                                            <p:strVal val="1+#ppt_w/2"/>
                                          </p:val>
                                        </p:tav>
                                        <p:tav tm="100000">
                                          <p:val>
                                            <p:strVal val="#ppt_x"/>
                                          </p:val>
                                        </p:tav>
                                      </p:tavLst>
                                    </p:anim>
                                    <p:anim calcmode="lin" valueType="num">
                                      <p:cBhvr additive="base">
                                        <p:cTn id="8"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additive="base">
                                        <p:cTn id="13" dur="500"/>
                                        <p:tgtEl>
                                          <p:spTgt spid="33"/>
                                        </p:tgtEl>
                                        <p:attrNameLst>
                                          <p:attrName>ppt_y</p:attrName>
                                        </p:attrNameLst>
                                      </p:cBhvr>
                                      <p:tavLst>
                                        <p:tav tm="0">
                                          <p:val>
                                            <p:strVal val="#ppt_y+#ppt_h*1.125000"/>
                                          </p:val>
                                        </p:tav>
                                        <p:tav tm="100000">
                                          <p:val>
                                            <p:strVal val="#ppt_y"/>
                                          </p:val>
                                        </p:tav>
                                      </p:tavLst>
                                    </p:anim>
                                    <p:animEffect transition="in" filter="wipe(up)">
                                      <p:cBhvr>
                                        <p:cTn id="14" dur="500"/>
                                        <p:tgtEl>
                                          <p:spTgt spid="3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500"/>
                                        <p:tgtEl>
                                          <p:spTgt spid="35"/>
                                        </p:tgtEl>
                                        <p:attrNameLst>
                                          <p:attrName>ppt_y</p:attrName>
                                        </p:attrNameLst>
                                      </p:cBhvr>
                                      <p:tavLst>
                                        <p:tav tm="0">
                                          <p:val>
                                            <p:strVal val="#ppt_y+#ppt_h*1.125000"/>
                                          </p:val>
                                        </p:tav>
                                        <p:tav tm="100000">
                                          <p:val>
                                            <p:strVal val="#ppt_y"/>
                                          </p:val>
                                        </p:tav>
                                      </p:tavLst>
                                    </p:anim>
                                    <p:animEffect transition="in" filter="wipe(up)">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1" fill="hold" nodeType="clickEffect">
                                  <p:stCondLst>
                                    <p:cond delay="0"/>
                                  </p:stCondLst>
                                  <p:childTnLst>
                                    <p:set>
                                      <p:cBhvr>
                                        <p:cTn id="24" dur="1" fill="hold">
                                          <p:stCondLst>
                                            <p:cond delay="0"/>
                                          </p:stCondLst>
                                        </p:cTn>
                                        <p:tgtEl>
                                          <p:spTgt spid="83"/>
                                        </p:tgtEl>
                                        <p:attrNameLst>
                                          <p:attrName>style.visibility</p:attrName>
                                        </p:attrNameLst>
                                      </p:cBhvr>
                                      <p:to>
                                        <p:strVal val="visible"/>
                                      </p:to>
                                    </p:set>
                                    <p:anim calcmode="lin" valueType="num">
                                      <p:cBhvr additive="base">
                                        <p:cTn id="25" dur="500"/>
                                        <p:tgtEl>
                                          <p:spTgt spid="83"/>
                                        </p:tgtEl>
                                        <p:attrNameLst>
                                          <p:attrName>ppt_y</p:attrName>
                                        </p:attrNameLst>
                                      </p:cBhvr>
                                      <p:tavLst>
                                        <p:tav tm="0">
                                          <p:val>
                                            <p:strVal val="#ppt_y-#ppt_h*1.125000"/>
                                          </p:val>
                                        </p:tav>
                                        <p:tav tm="100000">
                                          <p:val>
                                            <p:strVal val="#ppt_y"/>
                                          </p:val>
                                        </p:tav>
                                      </p:tavLst>
                                    </p:anim>
                                    <p:animEffect transition="in" filter="wipe(down)">
                                      <p:cBhvr>
                                        <p:cTn id="26" dur="500"/>
                                        <p:tgtEl>
                                          <p:spTgt spid="8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91"/>
                                        </p:tgtEl>
                                        <p:attrNameLst>
                                          <p:attrName>style.visibility</p:attrName>
                                        </p:attrNameLst>
                                      </p:cBhvr>
                                      <p:to>
                                        <p:strVal val="visible"/>
                                      </p:to>
                                    </p:set>
                                    <p:animEffect transition="in" filter="wipe(up)">
                                      <p:cBhvr>
                                        <p:cTn id="31" dur="1000"/>
                                        <p:tgtEl>
                                          <p:spTgt spid="9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2"/>
                                        </p:tgtEl>
                                        <p:attrNameLst>
                                          <p:attrName>style.visibility</p:attrName>
                                        </p:attrNameLst>
                                      </p:cBhvr>
                                      <p:to>
                                        <p:strVal val="visible"/>
                                      </p:to>
                                    </p:set>
                                    <p:animEffect transition="in" filter="wipe(up)">
                                      <p:cBhvr>
                                        <p:cTn id="36" dur="1000"/>
                                        <p:tgtEl>
                                          <p:spTgt spid="9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94"/>
                                        </p:tgtEl>
                                        <p:attrNameLst>
                                          <p:attrName>style.visibility</p:attrName>
                                        </p:attrNameLst>
                                      </p:cBhvr>
                                      <p:to>
                                        <p:strVal val="visible"/>
                                      </p:to>
                                    </p:set>
                                    <p:animEffect transition="in" filter="wipe(up)">
                                      <p:cBhvr>
                                        <p:cTn id="41" dur="1000"/>
                                        <p:tgtEl>
                                          <p:spTgt spid="94"/>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2" fill="hold" grpId="0" nodeType="clickEffect">
                                  <p:stCondLst>
                                    <p:cond delay="0"/>
                                  </p:stCondLst>
                                  <p:childTnLst>
                                    <p:set>
                                      <p:cBhvr>
                                        <p:cTn id="45" dur="1" fill="hold">
                                          <p:stCondLst>
                                            <p:cond delay="0"/>
                                          </p:stCondLst>
                                        </p:cTn>
                                        <p:tgtEl>
                                          <p:spTgt spid="47"/>
                                        </p:tgtEl>
                                        <p:attrNameLst>
                                          <p:attrName>style.visibility</p:attrName>
                                        </p:attrNameLst>
                                      </p:cBhvr>
                                      <p:to>
                                        <p:strVal val="visible"/>
                                      </p:to>
                                    </p:set>
                                    <p:anim calcmode="lin" valueType="num">
                                      <p:cBhvr additive="base">
                                        <p:cTn id="46" dur="500"/>
                                        <p:tgtEl>
                                          <p:spTgt spid="47"/>
                                        </p:tgtEl>
                                        <p:attrNameLst>
                                          <p:attrName>ppt_x</p:attrName>
                                        </p:attrNameLst>
                                      </p:cBhvr>
                                      <p:tavLst>
                                        <p:tav tm="0">
                                          <p:val>
                                            <p:strVal val="#ppt_x+#ppt_w*1.125000"/>
                                          </p:val>
                                        </p:tav>
                                        <p:tav tm="100000">
                                          <p:val>
                                            <p:strVal val="#ppt_x"/>
                                          </p:val>
                                        </p:tav>
                                      </p:tavLst>
                                    </p:anim>
                                    <p:animEffect transition="in" filter="wipe(left)">
                                      <p:cBhvr>
                                        <p:cTn id="47" dur="500"/>
                                        <p:tgtEl>
                                          <p:spTgt spid="47"/>
                                        </p:tgtEl>
                                      </p:cBhvr>
                                    </p:animEffect>
                                  </p:childTnLst>
                                </p:cTn>
                              </p:par>
                              <p:par>
                                <p:cTn id="48" presetID="12" presetClass="entr" presetSubtype="2" fill="hold" grpId="0" nodeType="withEffect">
                                  <p:stCondLst>
                                    <p:cond delay="0"/>
                                  </p:stCondLst>
                                  <p:childTnLst>
                                    <p:set>
                                      <p:cBhvr>
                                        <p:cTn id="49" dur="1" fill="hold">
                                          <p:stCondLst>
                                            <p:cond delay="0"/>
                                          </p:stCondLst>
                                        </p:cTn>
                                        <p:tgtEl>
                                          <p:spTgt spid="49"/>
                                        </p:tgtEl>
                                        <p:attrNameLst>
                                          <p:attrName>style.visibility</p:attrName>
                                        </p:attrNameLst>
                                      </p:cBhvr>
                                      <p:to>
                                        <p:strVal val="visible"/>
                                      </p:to>
                                    </p:set>
                                    <p:anim calcmode="lin" valueType="num">
                                      <p:cBhvr additive="base">
                                        <p:cTn id="50" dur="500"/>
                                        <p:tgtEl>
                                          <p:spTgt spid="49"/>
                                        </p:tgtEl>
                                        <p:attrNameLst>
                                          <p:attrName>ppt_x</p:attrName>
                                        </p:attrNameLst>
                                      </p:cBhvr>
                                      <p:tavLst>
                                        <p:tav tm="0">
                                          <p:val>
                                            <p:strVal val="#ppt_x+#ppt_w*1.125000"/>
                                          </p:val>
                                        </p:tav>
                                        <p:tav tm="100000">
                                          <p:val>
                                            <p:strVal val="#ppt_x"/>
                                          </p:val>
                                        </p:tav>
                                      </p:tavLst>
                                    </p:anim>
                                    <p:animEffect transition="in" filter="wipe(left)">
                                      <p:cBhvr>
                                        <p:cTn id="51" dur="500"/>
                                        <p:tgtEl>
                                          <p:spTgt spid="49"/>
                                        </p:tgtEl>
                                      </p:cBhvr>
                                    </p:animEffect>
                                  </p:childTnLst>
                                </p:cTn>
                              </p:par>
                              <p:par>
                                <p:cTn id="52" presetID="12" presetClass="entr" presetSubtype="2" fill="hold" grpId="0" nodeType="withEffect">
                                  <p:stCondLst>
                                    <p:cond delay="0"/>
                                  </p:stCondLst>
                                  <p:childTnLst>
                                    <p:set>
                                      <p:cBhvr>
                                        <p:cTn id="53" dur="1" fill="hold">
                                          <p:stCondLst>
                                            <p:cond delay="0"/>
                                          </p:stCondLst>
                                        </p:cTn>
                                        <p:tgtEl>
                                          <p:spTgt spid="51"/>
                                        </p:tgtEl>
                                        <p:attrNameLst>
                                          <p:attrName>style.visibility</p:attrName>
                                        </p:attrNameLst>
                                      </p:cBhvr>
                                      <p:to>
                                        <p:strVal val="visible"/>
                                      </p:to>
                                    </p:set>
                                    <p:anim calcmode="lin" valueType="num">
                                      <p:cBhvr additive="base">
                                        <p:cTn id="54" dur="500"/>
                                        <p:tgtEl>
                                          <p:spTgt spid="51"/>
                                        </p:tgtEl>
                                        <p:attrNameLst>
                                          <p:attrName>ppt_x</p:attrName>
                                        </p:attrNameLst>
                                      </p:cBhvr>
                                      <p:tavLst>
                                        <p:tav tm="0">
                                          <p:val>
                                            <p:strVal val="#ppt_x+#ppt_w*1.125000"/>
                                          </p:val>
                                        </p:tav>
                                        <p:tav tm="100000">
                                          <p:val>
                                            <p:strVal val="#ppt_x"/>
                                          </p:val>
                                        </p:tav>
                                      </p:tavLst>
                                    </p:anim>
                                    <p:animEffect transition="in" filter="wipe(left)">
                                      <p:cBhvr>
                                        <p:cTn id="55" dur="500"/>
                                        <p:tgtEl>
                                          <p:spTgt spid="51"/>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95"/>
                                        </p:tgtEl>
                                        <p:attrNameLst>
                                          <p:attrName>style.visibility</p:attrName>
                                        </p:attrNameLst>
                                      </p:cBhvr>
                                      <p:to>
                                        <p:strVal val="visible"/>
                                      </p:to>
                                    </p:set>
                                    <p:anim calcmode="lin" valueType="num">
                                      <p:cBhvr additive="base">
                                        <p:cTn id="60" dur="500" fill="hold"/>
                                        <p:tgtEl>
                                          <p:spTgt spid="95"/>
                                        </p:tgtEl>
                                        <p:attrNameLst>
                                          <p:attrName>ppt_x</p:attrName>
                                        </p:attrNameLst>
                                      </p:cBhvr>
                                      <p:tavLst>
                                        <p:tav tm="0">
                                          <p:val>
                                            <p:strVal val="1+#ppt_w/2"/>
                                          </p:val>
                                        </p:tav>
                                        <p:tav tm="100000">
                                          <p:val>
                                            <p:strVal val="#ppt_x"/>
                                          </p:val>
                                        </p:tav>
                                      </p:tavLst>
                                    </p:anim>
                                    <p:anim calcmode="lin" valueType="num">
                                      <p:cBhvr additive="base">
                                        <p:cTn id="61" dur="5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P spid="49" grpId="0" bldLvl="0" animBg="1"/>
      <p:bldP spid="51" grpId="0" bldLvl="0" animBg="1"/>
      <p:bldP spid="9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13080" y="990600"/>
            <a:ext cx="5923280" cy="5077460"/>
          </a:xfrm>
          <a:prstGeom prst="rect">
            <a:avLst/>
          </a:prstGeom>
          <a:ln w="12700">
            <a:solidFill>
              <a:schemeClr val="accent3">
                <a:lumMod val="60000"/>
                <a:lumOff val="40000"/>
              </a:schemeClr>
            </a:solidFill>
          </a:ln>
        </p:spPr>
        <p:txBody>
          <a:bodyPr wrap="square">
            <a:spAutoFit/>
          </a:bodyPr>
          <a:lstStyle/>
          <a:p>
            <a:pPr marL="342900" indent="-342900" algn="l">
              <a:lnSpc>
                <a:spcPct val="150000"/>
              </a:lnSpc>
              <a:spcBef>
                <a:spcPts val="0"/>
              </a:spcBef>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rPr>
              <a:t>互联网在设计之初，对分组的源IP地址并不进行合法性验证，因此恶意的攻击者很容易篡改或伪造分组的源IP地址</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marL="342900" indent="-342900" algn="l">
              <a:lnSpc>
                <a:spcPct val="150000"/>
              </a:lnSpc>
              <a:spcBef>
                <a:spcPts val="0"/>
              </a:spcBef>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sym typeface="+mn-ea"/>
              </a:rPr>
              <a:t>攻击者构造并发送带有伪造源</a:t>
            </a:r>
            <a:r>
              <a:rPr lang="en-US" altLang="zh-CN" sz="2400" b="1" kern="0" dirty="0">
                <a:latin typeface="Times New Roman" panose="02020603050405020304" charset="0"/>
                <a:ea typeface="宋体" panose="02010600030101010101" pitchFamily="2" charset="-122"/>
                <a:cs typeface="Times New Roman" panose="02020603050405020304" charset="0"/>
                <a:sym typeface="+mn-ea"/>
              </a:rPr>
              <a:t>IP</a:t>
            </a:r>
            <a:r>
              <a:rPr lang="zh-CN" altLang="en-US" sz="2400" b="1" kern="0" dirty="0">
                <a:latin typeface="Times New Roman" panose="02020603050405020304" charset="0"/>
                <a:ea typeface="宋体" panose="02010600030101010101" pitchFamily="2" charset="-122"/>
                <a:cs typeface="Times New Roman" panose="02020603050405020304" charset="0"/>
                <a:sym typeface="+mn-ea"/>
              </a:rPr>
              <a:t>地址的数据包，这些数据包在网络中传输并到达目标设备，目标设备基于信任关系或正常流程处理这些伪造数据包，并可能向伪造的</a:t>
            </a:r>
            <a:r>
              <a:rPr lang="en-US" altLang="zh-CN" sz="2400" b="1" kern="0" dirty="0">
                <a:latin typeface="Times New Roman" panose="02020603050405020304" charset="0"/>
                <a:ea typeface="宋体" panose="02010600030101010101" pitchFamily="2" charset="-122"/>
                <a:cs typeface="Times New Roman" panose="02020603050405020304" charset="0"/>
                <a:sym typeface="+mn-ea"/>
              </a:rPr>
              <a:t>IP</a:t>
            </a:r>
            <a:r>
              <a:rPr lang="zh-CN" altLang="en-US" sz="2400" b="1" kern="0" dirty="0">
                <a:latin typeface="Times New Roman" panose="02020603050405020304" charset="0"/>
                <a:ea typeface="宋体" panose="02010600030101010101" pitchFamily="2" charset="-122"/>
                <a:cs typeface="Times New Roman" panose="02020603050405020304" charset="0"/>
                <a:sym typeface="+mn-ea"/>
              </a:rPr>
              <a:t>地址发送响应。</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marL="342900" indent="-342900" algn="l">
              <a:lnSpc>
                <a:spcPct val="150000"/>
              </a:lnSpc>
              <a:spcBef>
                <a:spcPts val="0"/>
              </a:spcBef>
              <a:buClr>
                <a:srgbClr val="DF4F21"/>
              </a:buClr>
              <a:buSzTx/>
              <a:buFont typeface="Wingdings" panose="05000000000000000000" charset="0"/>
              <a:buChar char="p"/>
            </a:pPr>
            <a:endParaRPr lang="zh-CN" altLang="en-US" sz="2400" b="1" kern="0" dirty="0">
              <a:latin typeface="Times New Roman" panose="02020603050405020304" charset="0"/>
              <a:ea typeface="宋体" panose="02010600030101010101" pitchFamily="2" charset="-122"/>
              <a:cs typeface="Times New Roman" panose="02020603050405020304" charset="0"/>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05395" y="3560445"/>
            <a:ext cx="4586605" cy="2943860"/>
          </a:xfrm>
          <a:prstGeom prst="rect">
            <a:avLst/>
          </a:prstGeom>
        </p:spPr>
      </p:pic>
      <p:pic>
        <p:nvPicPr>
          <p:cNvPr id="3" name="图片 2"/>
          <p:cNvPicPr>
            <a:picLocks noChangeAspect="1"/>
          </p:cNvPicPr>
          <p:nvPr/>
        </p:nvPicPr>
        <p:blipFill>
          <a:blip r:embed="rId2"/>
          <a:stretch>
            <a:fillRect/>
          </a:stretch>
        </p:blipFill>
        <p:spPr>
          <a:xfrm>
            <a:off x="7456805" y="929005"/>
            <a:ext cx="4573905" cy="2576830"/>
          </a:xfrm>
          <a:prstGeom prst="rect">
            <a:avLst/>
          </a:prstGeom>
        </p:spPr>
      </p:pic>
      <p:sp>
        <p:nvSpPr>
          <p:cNvPr id="2" name="矩形 1"/>
          <p:cNvSpPr/>
          <p:nvPr/>
        </p:nvSpPr>
        <p:spPr>
          <a:xfrm>
            <a:off x="635" y="-635"/>
            <a:ext cx="12191365" cy="868680"/>
          </a:xfrm>
          <a:prstGeom prst="rect">
            <a:avLst/>
          </a:prstGeom>
          <a:solidFill>
            <a:schemeClr val="tx1"/>
          </a:solidFill>
        </p:spPr>
        <p:txBody>
          <a:bodyPr vert="horz" lIns="91440" tIns="45720" rIns="91440" bIns="45720" rtlCol="0" anchor="ctr">
            <a:normAutofit/>
          </a:bodyPr>
          <a:p>
            <a:pPr algn="l">
              <a:lnSpc>
                <a:spcPct val="90000"/>
              </a:lnSpc>
              <a:buClrTx/>
              <a:buSzTx/>
              <a:buFontTx/>
            </a:pPr>
            <a:r>
              <a:rPr lang="zh-CN" altLang="en-US" sz="4000" b="1" dirty="0">
                <a:solidFill>
                  <a:schemeClr val="bg1"/>
                </a:solidFill>
                <a:latin typeface="+mj-ea"/>
                <a:ea typeface="+mj-ea"/>
                <a:cs typeface="+mj-cs"/>
                <a:sym typeface="+mn-ea"/>
              </a:rPr>
              <a:t>3.2.4 IP源地址欺骗原理</a:t>
            </a:r>
            <a:endParaRPr lang="zh-CN" altLang="en-US" sz="4000" b="1" dirty="0">
              <a:solidFill>
                <a:schemeClr val="bg1"/>
              </a:solidFill>
              <a:latin typeface="+mj-ea"/>
              <a:ea typeface="+mj-ea"/>
              <a:cs typeface="+mj-c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39725" y="763905"/>
            <a:ext cx="11354435" cy="2861310"/>
          </a:xfrm>
          <a:prstGeom prst="rect">
            <a:avLst/>
          </a:prstGeom>
          <a:ln w="12700">
            <a:noFill/>
          </a:ln>
        </p:spPr>
        <p:txBody>
          <a:bodyPr wrap="square">
            <a:spAutoFit/>
          </a:bodyPr>
          <a:lstStyle/>
          <a:p>
            <a:pPr marL="342900" indent="-342900" algn="l">
              <a:lnSpc>
                <a:spcPct val="150000"/>
              </a:lnSpc>
              <a:spcBef>
                <a:spcPts val="0"/>
              </a:spcBef>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rPr>
              <a:t>IP地址伪造通常是攻击者需具备的基本能力和手段，也是进行后续恶意数据注入、连接劫持等攻击行为的基础条件，如TCP连接劫持攻击、DNS污染攻击等</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marL="342900" indent="-342900" algn="l">
              <a:lnSpc>
                <a:spcPct val="150000"/>
              </a:lnSpc>
              <a:spcBef>
                <a:spcPts val="0"/>
              </a:spcBef>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sym typeface="+mn-ea"/>
              </a:rPr>
              <a:t>随着真实地址、真实身份等技术标准的出现，该问题得到了缓解，但要彻底解决这一攻击威胁，仍需持续的技术推动和投入</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algn="just">
              <a:lnSpc>
                <a:spcPct val="150000"/>
              </a:lnSpc>
            </a:pPr>
            <a:endParaRPr lang="en-US" altLang="zh-CN" sz="2400" dirty="0">
              <a:latin typeface="微软雅黑" panose="020B0503020204020204" pitchFamily="34" charset="-122"/>
              <a:ea typeface="微软雅黑" panose="020B0503020204020204" pitchFamily="34" charset="-122"/>
              <a:cs typeface="Times New Roman" panose="02020603050405020304" charset="0"/>
            </a:endParaRPr>
          </a:p>
        </p:txBody>
      </p:sp>
      <p:pic>
        <p:nvPicPr>
          <p:cNvPr id="6" name="图片 5"/>
          <p:cNvPicPr>
            <a:picLocks noChangeAspect="1"/>
          </p:cNvPicPr>
          <p:nvPr/>
        </p:nvPicPr>
        <p:blipFill>
          <a:blip r:embed="rId1"/>
          <a:stretch>
            <a:fillRect/>
          </a:stretch>
        </p:blipFill>
        <p:spPr>
          <a:xfrm>
            <a:off x="582124" y="3157705"/>
            <a:ext cx="4411569" cy="3034412"/>
          </a:xfrm>
          <a:prstGeom prst="rect">
            <a:avLst/>
          </a:prstGeom>
        </p:spPr>
      </p:pic>
      <p:pic>
        <p:nvPicPr>
          <p:cNvPr id="9" name="图片 8"/>
          <p:cNvPicPr>
            <a:picLocks noChangeAspect="1"/>
          </p:cNvPicPr>
          <p:nvPr/>
        </p:nvPicPr>
        <p:blipFill>
          <a:blip r:embed="rId2"/>
          <a:stretch>
            <a:fillRect/>
          </a:stretch>
        </p:blipFill>
        <p:spPr>
          <a:xfrm>
            <a:off x="4997293" y="3276332"/>
            <a:ext cx="6696648" cy="3151364"/>
          </a:xfrm>
          <a:prstGeom prst="rect">
            <a:avLst/>
          </a:prstGeom>
        </p:spPr>
      </p:pic>
      <p:sp>
        <p:nvSpPr>
          <p:cNvPr id="3" name="矩形 2"/>
          <p:cNvSpPr/>
          <p:nvPr/>
        </p:nvSpPr>
        <p:spPr>
          <a:xfrm>
            <a:off x="635" y="-635"/>
            <a:ext cx="12191365" cy="853440"/>
          </a:xfrm>
          <a:prstGeom prst="rect">
            <a:avLst/>
          </a:prstGeom>
          <a:solidFill>
            <a:schemeClr val="tx1"/>
          </a:solidFill>
        </p:spPr>
        <p:txBody>
          <a:bodyPr vert="horz" lIns="91440" tIns="45720" rIns="91440" bIns="45720" rtlCol="0" anchor="ctr">
            <a:normAutofit/>
          </a:bodyPr>
          <a:lstStyle/>
          <a:p>
            <a:r>
              <a:rPr lang="en-US" altLang="zh-CN" sz="4000" b="1" dirty="0">
                <a:solidFill>
                  <a:schemeClr val="bg1"/>
                </a:solidFill>
                <a:latin typeface="+mj-ea"/>
                <a:sym typeface="+mn-ea"/>
              </a:rPr>
              <a:t>3</a:t>
            </a:r>
            <a:r>
              <a:rPr lang="zh-CN" altLang="en-US" sz="4000" b="1" dirty="0">
                <a:solidFill>
                  <a:schemeClr val="bg1"/>
                </a:solidFill>
                <a:latin typeface="+mj-ea"/>
                <a:sym typeface="+mn-ea"/>
              </a:rPr>
              <a:t>.</a:t>
            </a:r>
            <a:r>
              <a:rPr lang="en-US" altLang="zh-CN" sz="4000" b="1" dirty="0">
                <a:solidFill>
                  <a:schemeClr val="bg1"/>
                </a:solidFill>
                <a:latin typeface="+mj-ea"/>
                <a:sym typeface="+mn-ea"/>
              </a:rPr>
              <a:t>2</a:t>
            </a:r>
            <a:r>
              <a:rPr lang="zh-CN" altLang="en-US" sz="4000" b="1" dirty="0">
                <a:solidFill>
                  <a:schemeClr val="bg1"/>
                </a:solidFill>
                <a:latin typeface="+mj-ea"/>
                <a:sym typeface="+mn-ea"/>
              </a:rPr>
              <a:t>.</a:t>
            </a:r>
            <a:r>
              <a:rPr lang="en-US" altLang="zh-CN" sz="4000" b="1" dirty="0">
                <a:solidFill>
                  <a:schemeClr val="bg1"/>
                </a:solidFill>
                <a:latin typeface="+mj-ea"/>
                <a:sym typeface="+mn-ea"/>
              </a:rPr>
              <a:t>5</a:t>
            </a:r>
            <a:r>
              <a:rPr lang="zh-CN" altLang="en-US" sz="4000" b="1" dirty="0">
                <a:solidFill>
                  <a:schemeClr val="bg1"/>
                </a:solidFill>
                <a:latin typeface="+mj-ea"/>
                <a:sym typeface="+mn-ea"/>
              </a:rPr>
              <a:t> </a:t>
            </a:r>
            <a:r>
              <a:rPr lang="en-US" altLang="zh-CN" sz="4000" b="1" dirty="0">
                <a:solidFill>
                  <a:schemeClr val="bg1"/>
                </a:solidFill>
                <a:latin typeface="+mj-ea"/>
                <a:sym typeface="+mn-ea"/>
              </a:rPr>
              <a:t>IP</a:t>
            </a:r>
            <a:r>
              <a:rPr lang="zh-CN" altLang="en-US" sz="4000" b="1" dirty="0">
                <a:solidFill>
                  <a:schemeClr val="bg1"/>
                </a:solidFill>
                <a:latin typeface="+mj-ea"/>
                <a:sym typeface="+mn-ea"/>
              </a:rPr>
              <a:t>源地址欺骗攻击的保护措施</a:t>
            </a:r>
            <a:endParaRPr lang="zh-CN" altLang="en-US" sz="4000" b="1" dirty="0">
              <a:solidFill>
                <a:schemeClr val="bg1"/>
              </a:solidFill>
              <a:latin typeface="+mj-ea"/>
              <a:ea typeface="+mj-ea"/>
              <a:cs typeface="+mj-c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25408" y="1088090"/>
            <a:ext cx="10925086" cy="1753235"/>
          </a:xfrm>
          <a:prstGeom prst="rect">
            <a:avLst/>
          </a:prstGeom>
          <a:ln w="12700">
            <a:solidFill>
              <a:schemeClr val="accent3">
                <a:lumMod val="60000"/>
                <a:lumOff val="40000"/>
              </a:schemeClr>
            </a:solidFill>
          </a:ln>
        </p:spPr>
        <p:txBody>
          <a:bodyPr wrap="square">
            <a:spAutoFit/>
          </a:bodyPr>
          <a:lstStyle/>
          <a:p>
            <a:pPr marL="342900" indent="-342900" algn="l">
              <a:lnSpc>
                <a:spcPct val="150000"/>
              </a:lnSpc>
              <a:spcBef>
                <a:spcPts val="0"/>
              </a:spcBef>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rPr>
              <a:t>IP分组的这种先分片、再重组的机制，为攻击者暴露出了IP层的一个攻击面。分组的碎片化发生在源主机或中间路由器上，而重组往往都在目的接收端发生。根据不同的攻击效果，IP分片攻击主要包括两种：</a:t>
            </a:r>
            <a:endParaRPr lang="zh-CN" altLang="en-US" sz="2400" b="1" kern="0" dirty="0">
              <a:latin typeface="Times New Roman" panose="02020603050405020304" charset="0"/>
              <a:ea typeface="宋体" panose="02010600030101010101" pitchFamily="2" charset="-122"/>
              <a:cs typeface="Times New Roman" panose="02020603050405020304" charset="0"/>
            </a:endParaRPr>
          </a:p>
        </p:txBody>
      </p:sp>
      <p:sp>
        <p:nvSpPr>
          <p:cNvPr id="11" name="矩形 10"/>
          <p:cNvSpPr/>
          <p:nvPr/>
        </p:nvSpPr>
        <p:spPr>
          <a:xfrm>
            <a:off x="668694" y="3049211"/>
            <a:ext cx="10699264" cy="1198880"/>
          </a:xfrm>
          <a:prstGeom prst="rect">
            <a:avLst/>
          </a:prstGeom>
        </p:spPr>
        <p:txBody>
          <a:bodyPr wrap="square">
            <a:spAutoFit/>
          </a:bodyPr>
          <a:lstStyle/>
          <a:p>
            <a:pPr marL="800100" lvl="1" indent="-342900">
              <a:lnSpc>
                <a:spcPct val="150000"/>
              </a:lnSpc>
              <a:buFont typeface="Wingdings" panose="05000000000000000000" pitchFamily="2" charset="2"/>
              <a:buChar char="l"/>
            </a:pPr>
            <a:r>
              <a:rPr lang="zh-CN" altLang="zh-CN" sz="2400" dirty="0">
                <a:latin typeface="微软雅黑" panose="020B0503020204020204" pitchFamily="34" charset="-122"/>
                <a:ea typeface="微软雅黑" panose="020B0503020204020204" pitchFamily="34" charset="-122"/>
              </a:rPr>
              <a:t>拒绝服务攻击</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污染攻击</a:t>
            </a:r>
            <a:endParaRPr lang="en-US" altLang="zh-CN" sz="24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5014602" y="2980145"/>
            <a:ext cx="6508704" cy="3951713"/>
          </a:xfrm>
          <a:prstGeom prst="rect">
            <a:avLst/>
          </a:prstGeom>
        </p:spPr>
      </p:pic>
      <p:sp>
        <p:nvSpPr>
          <p:cNvPr id="2" name="矩形 1"/>
          <p:cNvSpPr/>
          <p:nvPr/>
        </p:nvSpPr>
        <p:spPr>
          <a:xfrm>
            <a:off x="635" y="-635"/>
            <a:ext cx="12191365" cy="882650"/>
          </a:xfrm>
          <a:prstGeom prst="rect">
            <a:avLst/>
          </a:prstGeom>
          <a:solidFill>
            <a:schemeClr val="tx1"/>
          </a:solidFill>
        </p:spPr>
        <p:txBody>
          <a:bodyPr vert="horz" lIns="91440" tIns="45720" rIns="91440" bIns="45720" rtlCol="0" anchor="ctr">
            <a:normAutofit fontScale="90000"/>
          </a:bodyPr>
          <a:p>
            <a:pPr algn="l">
              <a:lnSpc>
                <a:spcPct val="130000"/>
              </a:lnSpc>
              <a:spcBef>
                <a:spcPts val="0"/>
              </a:spcBef>
              <a:spcAft>
                <a:spcPts val="0"/>
              </a:spcAft>
              <a:buClrTx/>
              <a:buSzTx/>
              <a:buFontTx/>
            </a:pPr>
            <a:r>
              <a:rPr lang="en-US" altLang="zh-CN" sz="4000" b="1" dirty="0">
                <a:solidFill>
                  <a:schemeClr val="bg1"/>
                </a:solidFill>
                <a:latin typeface="+mj-ea"/>
                <a:ea typeface="+mj-ea"/>
                <a:cs typeface="+mj-cs"/>
              </a:rPr>
              <a:t>IP</a:t>
            </a:r>
            <a:r>
              <a:rPr lang="zh-CN" altLang="en-US" sz="4000" b="1" dirty="0">
                <a:solidFill>
                  <a:schemeClr val="bg1"/>
                </a:solidFill>
                <a:latin typeface="+mj-ea"/>
                <a:ea typeface="+mj-ea"/>
                <a:cs typeface="+mj-cs"/>
              </a:rPr>
              <a:t>分片攻击原理</a:t>
            </a:r>
            <a:endParaRPr lang="zh-CN" altLang="en-US" sz="4000" b="1" dirty="0">
              <a:solidFill>
                <a:schemeClr val="bg1"/>
              </a:solidFill>
              <a:latin typeface="+mj-ea"/>
              <a:ea typeface="+mj-ea"/>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94335" y="1007745"/>
            <a:ext cx="11206480" cy="1753235"/>
          </a:xfrm>
          <a:prstGeom prst="rect">
            <a:avLst/>
          </a:prstGeom>
          <a:solidFill>
            <a:schemeClr val="bg1"/>
          </a:solidFill>
          <a:ln w="12700">
            <a:solidFill>
              <a:schemeClr val="accent3">
                <a:lumMod val="40000"/>
                <a:lumOff val="60000"/>
              </a:schemeClr>
            </a:solidFill>
          </a:ln>
        </p:spPr>
        <p:txBody>
          <a:bodyPr wrap="square">
            <a:spAutoFit/>
          </a:bodyPr>
          <a:lstStyle/>
          <a:p>
            <a:pPr marL="342900" indent="-342900" algn="l">
              <a:lnSpc>
                <a:spcPct val="150000"/>
              </a:lnSpc>
              <a:spcBef>
                <a:spcPts val="0"/>
              </a:spcBef>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rPr>
              <a:t>TCP协议有</a:t>
            </a:r>
            <a:r>
              <a:rPr lang="zh-CN" altLang="en-US" sz="2400" b="1" kern="0" dirty="0">
                <a:latin typeface="Times New Roman" panose="02020603050405020304" charset="0"/>
                <a:ea typeface="宋体" panose="02010600030101010101" pitchFamily="2" charset="-122"/>
                <a:cs typeface="Times New Roman" panose="02020603050405020304" charset="0"/>
                <a:sym typeface="+mn-ea"/>
              </a:rPr>
              <a:t> TCP 报文段中的数据字段的最大长度</a:t>
            </a:r>
            <a:r>
              <a:rPr lang="zh-CN" altLang="en-US" sz="2400" b="1" kern="0" dirty="0">
                <a:latin typeface="Times New Roman" panose="02020603050405020304" charset="0"/>
                <a:ea typeface="宋体" panose="02010600030101010101" pitchFamily="2" charset="-122"/>
                <a:cs typeface="Times New Roman" panose="02020603050405020304" charset="0"/>
              </a:rPr>
              <a:t>MSS（</a:t>
            </a:r>
            <a:r>
              <a:rPr lang="zh-CN" altLang="en-US" sz="2400" b="1" kern="0" dirty="0">
                <a:latin typeface="Times New Roman" panose="02020603050405020304" charset="0"/>
                <a:ea typeface="宋体" panose="02010600030101010101" pitchFamily="2" charset="-122"/>
                <a:cs typeface="Times New Roman" panose="02020603050405020304" charset="0"/>
                <a:sym typeface="+mn-ea"/>
              </a:rPr>
              <a:t>MSS (Maximum Segment Size)</a:t>
            </a:r>
            <a:r>
              <a:rPr lang="zh-CN" altLang="en-US" sz="2400" b="1" kern="0" dirty="0">
                <a:latin typeface="Times New Roman" panose="02020603050405020304" charset="0"/>
                <a:ea typeface="宋体" panose="02010600030101010101" pitchFamily="2" charset="-122"/>
                <a:cs typeface="Times New Roman" panose="02020603050405020304" charset="0"/>
              </a:rPr>
              <a:t>）选项，可以通过调整MSS、适合路径MTU，避免分片。</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marL="342900" indent="-342900" algn="l">
              <a:lnSpc>
                <a:spcPct val="150000"/>
              </a:lnSpc>
              <a:spcBef>
                <a:spcPts val="0"/>
              </a:spcBef>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rPr>
              <a:t>UDP协议如何处理？ </a:t>
            </a:r>
            <a:endParaRPr lang="zh-CN" altLang="en-US" sz="2400" b="1" kern="0" dirty="0">
              <a:latin typeface="Times New Roman" panose="02020603050405020304" charset="0"/>
              <a:ea typeface="宋体" panose="02010600030101010101" pitchFamily="2" charset="-122"/>
              <a:cs typeface="Times New Roman" panose="02020603050405020304" charset="0"/>
            </a:endParaRPr>
          </a:p>
        </p:txBody>
      </p:sp>
      <p:pic>
        <p:nvPicPr>
          <p:cNvPr id="16" name="图片 15"/>
          <p:cNvPicPr>
            <a:picLocks noChangeAspect="1"/>
          </p:cNvPicPr>
          <p:nvPr/>
        </p:nvPicPr>
        <p:blipFill>
          <a:blip r:embed="rId1"/>
          <a:stretch>
            <a:fillRect/>
          </a:stretch>
        </p:blipFill>
        <p:spPr>
          <a:xfrm>
            <a:off x="6879712" y="2720667"/>
            <a:ext cx="2787534" cy="3403506"/>
          </a:xfrm>
          <a:prstGeom prst="rect">
            <a:avLst/>
          </a:prstGeom>
        </p:spPr>
      </p:pic>
      <p:grpSp>
        <p:nvGrpSpPr>
          <p:cNvPr id="4" name="组合 3"/>
          <p:cNvGrpSpPr/>
          <p:nvPr/>
        </p:nvGrpSpPr>
        <p:grpSpPr>
          <a:xfrm>
            <a:off x="2392215" y="2873467"/>
            <a:ext cx="8319413" cy="2982995"/>
            <a:chOff x="2202096" y="3330330"/>
            <a:chExt cx="9513723" cy="3562400"/>
          </a:xfrm>
        </p:grpSpPr>
        <p:pic>
          <p:nvPicPr>
            <p:cNvPr id="8" name="图片 7"/>
            <p:cNvPicPr>
              <a:picLocks noChangeAspect="1"/>
            </p:cNvPicPr>
            <p:nvPr/>
          </p:nvPicPr>
          <p:blipFill>
            <a:blip r:embed="rId2"/>
            <a:stretch>
              <a:fillRect/>
            </a:stretch>
          </p:blipFill>
          <p:spPr>
            <a:xfrm>
              <a:off x="2202096" y="3536984"/>
              <a:ext cx="2167786" cy="3355746"/>
            </a:xfrm>
            <a:prstGeom prst="rect">
              <a:avLst/>
            </a:prstGeom>
          </p:spPr>
        </p:pic>
        <p:pic>
          <p:nvPicPr>
            <p:cNvPr id="9" name="图片 8"/>
            <p:cNvPicPr>
              <a:picLocks noChangeAspect="1"/>
            </p:cNvPicPr>
            <p:nvPr/>
          </p:nvPicPr>
          <p:blipFill>
            <a:blip r:embed="rId3"/>
            <a:stretch>
              <a:fillRect/>
            </a:stretch>
          </p:blipFill>
          <p:spPr>
            <a:xfrm>
              <a:off x="2915867" y="4742565"/>
              <a:ext cx="1479623" cy="1337858"/>
            </a:xfrm>
            <a:prstGeom prst="rect">
              <a:avLst/>
            </a:prstGeom>
          </p:spPr>
        </p:pic>
        <p:pic>
          <p:nvPicPr>
            <p:cNvPr id="10" name="图片 9"/>
            <p:cNvPicPr>
              <a:picLocks noChangeAspect="1"/>
            </p:cNvPicPr>
            <p:nvPr/>
          </p:nvPicPr>
          <p:blipFill>
            <a:blip r:embed="rId4"/>
            <a:stretch>
              <a:fillRect/>
            </a:stretch>
          </p:blipFill>
          <p:spPr>
            <a:xfrm>
              <a:off x="4266187" y="4874543"/>
              <a:ext cx="4451343" cy="920152"/>
            </a:xfrm>
            <a:prstGeom prst="rect">
              <a:avLst/>
            </a:prstGeom>
          </p:spPr>
        </p:pic>
        <p:grpSp>
          <p:nvGrpSpPr>
            <p:cNvPr id="11" name="组合 10"/>
            <p:cNvGrpSpPr/>
            <p:nvPr/>
          </p:nvGrpSpPr>
          <p:grpSpPr>
            <a:xfrm>
              <a:off x="4518041" y="3330330"/>
              <a:ext cx="4770460" cy="1926750"/>
              <a:chOff x="2746312" y="953040"/>
              <a:chExt cx="4770460" cy="1926750"/>
            </a:xfrm>
          </p:grpSpPr>
          <p:pic>
            <p:nvPicPr>
              <p:cNvPr id="12" name="图片 11"/>
              <p:cNvPicPr>
                <a:picLocks noChangeAspect="1"/>
              </p:cNvPicPr>
              <p:nvPr/>
            </p:nvPicPr>
            <p:blipFill>
              <a:blip r:embed="rId5"/>
              <a:stretch>
                <a:fillRect/>
              </a:stretch>
            </p:blipFill>
            <p:spPr>
              <a:xfrm>
                <a:off x="2746312" y="953040"/>
                <a:ext cx="4451343" cy="1463811"/>
              </a:xfrm>
              <a:prstGeom prst="rect">
                <a:avLst/>
              </a:prstGeom>
            </p:spPr>
          </p:pic>
          <p:pic>
            <p:nvPicPr>
              <p:cNvPr id="13" name="图片 12"/>
              <p:cNvPicPr>
                <a:picLocks noChangeAspect="1"/>
              </p:cNvPicPr>
              <p:nvPr/>
            </p:nvPicPr>
            <p:blipFill>
              <a:blip r:embed="rId6"/>
              <a:stretch>
                <a:fillRect/>
              </a:stretch>
            </p:blipFill>
            <p:spPr>
              <a:xfrm>
                <a:off x="6765413" y="2220740"/>
                <a:ext cx="751359" cy="659050"/>
              </a:xfrm>
              <a:prstGeom prst="rect">
                <a:avLst/>
              </a:prstGeom>
            </p:spPr>
          </p:pic>
        </p:grpSp>
        <p:pic>
          <p:nvPicPr>
            <p:cNvPr id="15" name="图片 14"/>
            <p:cNvPicPr>
              <a:picLocks noChangeAspect="1"/>
            </p:cNvPicPr>
            <p:nvPr/>
          </p:nvPicPr>
          <p:blipFill>
            <a:blip r:embed="rId7"/>
            <a:stretch>
              <a:fillRect/>
            </a:stretch>
          </p:blipFill>
          <p:spPr>
            <a:xfrm>
              <a:off x="9292769" y="4874543"/>
              <a:ext cx="2423050" cy="958199"/>
            </a:xfrm>
            <a:prstGeom prst="rect">
              <a:avLst/>
            </a:prstGeom>
          </p:spPr>
        </p:pic>
        <p:grpSp>
          <p:nvGrpSpPr>
            <p:cNvPr id="17" name="Group 4"/>
            <p:cNvGrpSpPr>
              <a:grpSpLocks noChangeAspect="1"/>
            </p:cNvGrpSpPr>
            <p:nvPr/>
          </p:nvGrpSpPr>
          <p:grpSpPr bwMode="auto">
            <a:xfrm>
              <a:off x="4265613" y="5763957"/>
              <a:ext cx="4929187" cy="1103312"/>
              <a:chOff x="2687" y="3551"/>
              <a:chExt cx="3105" cy="695"/>
            </a:xfrm>
          </p:grpSpPr>
          <p:sp>
            <p:nvSpPr>
              <p:cNvPr id="18" name="AutoShape 3"/>
              <p:cNvSpPr>
                <a:spLocks noChangeAspect="1" noChangeArrowheads="1" noTextEdit="1"/>
              </p:cNvSpPr>
              <p:nvPr/>
            </p:nvSpPr>
            <p:spPr bwMode="auto">
              <a:xfrm>
                <a:off x="2687" y="3551"/>
                <a:ext cx="3105" cy="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 name="Freeform 5"/>
              <p:cNvSpPr/>
              <p:nvPr/>
            </p:nvSpPr>
            <p:spPr bwMode="auto">
              <a:xfrm>
                <a:off x="2953" y="3861"/>
                <a:ext cx="2697" cy="186"/>
              </a:xfrm>
              <a:custGeom>
                <a:avLst/>
                <a:gdLst>
                  <a:gd name="T0" fmla="*/ 0 w 2697"/>
                  <a:gd name="T1" fmla="*/ 186 h 186"/>
                  <a:gd name="T2" fmla="*/ 2697 w 2697"/>
                  <a:gd name="T3" fmla="*/ 186 h 186"/>
                  <a:gd name="T4" fmla="*/ 2697 w 2697"/>
                  <a:gd name="T5" fmla="*/ 0 h 186"/>
                </a:gdLst>
                <a:ahLst/>
                <a:cxnLst>
                  <a:cxn ang="0">
                    <a:pos x="T0" y="T1"/>
                  </a:cxn>
                  <a:cxn ang="0">
                    <a:pos x="T2" y="T3"/>
                  </a:cxn>
                  <a:cxn ang="0">
                    <a:pos x="T4" y="T5"/>
                  </a:cxn>
                </a:cxnLst>
                <a:rect l="0" t="0" r="r" b="b"/>
                <a:pathLst>
                  <a:path w="2697" h="186">
                    <a:moveTo>
                      <a:pt x="0" y="186"/>
                    </a:moveTo>
                    <a:lnTo>
                      <a:pt x="2697" y="186"/>
                    </a:lnTo>
                    <a:lnTo>
                      <a:pt x="2697" y="0"/>
                    </a:lnTo>
                  </a:path>
                </a:pathLst>
              </a:custGeom>
              <a:noFill/>
              <a:ln w="30163" cap="sq">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0" name="Freeform 6"/>
              <p:cNvSpPr/>
              <p:nvPr/>
            </p:nvSpPr>
            <p:spPr bwMode="auto">
              <a:xfrm>
                <a:off x="5607" y="3776"/>
                <a:ext cx="86" cy="87"/>
              </a:xfrm>
              <a:custGeom>
                <a:avLst/>
                <a:gdLst>
                  <a:gd name="T0" fmla="*/ 0 w 86"/>
                  <a:gd name="T1" fmla="*/ 87 h 87"/>
                  <a:gd name="T2" fmla="*/ 43 w 86"/>
                  <a:gd name="T3" fmla="*/ 0 h 87"/>
                  <a:gd name="T4" fmla="*/ 86 w 86"/>
                  <a:gd name="T5" fmla="*/ 87 h 87"/>
                  <a:gd name="T6" fmla="*/ 0 w 86"/>
                  <a:gd name="T7" fmla="*/ 87 h 87"/>
                </a:gdLst>
                <a:ahLst/>
                <a:cxnLst>
                  <a:cxn ang="0">
                    <a:pos x="T0" y="T1"/>
                  </a:cxn>
                  <a:cxn ang="0">
                    <a:pos x="T2" y="T3"/>
                  </a:cxn>
                  <a:cxn ang="0">
                    <a:pos x="T4" y="T5"/>
                  </a:cxn>
                  <a:cxn ang="0">
                    <a:pos x="T6" y="T7"/>
                  </a:cxn>
                </a:cxnLst>
                <a:rect l="0" t="0" r="r" b="b"/>
                <a:pathLst>
                  <a:path w="86" h="87">
                    <a:moveTo>
                      <a:pt x="0" y="87"/>
                    </a:moveTo>
                    <a:lnTo>
                      <a:pt x="43" y="0"/>
                    </a:lnTo>
                    <a:lnTo>
                      <a:pt x="86" y="87"/>
                    </a:lnTo>
                    <a:lnTo>
                      <a:pt x="0" y="8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5127"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9" y="3557"/>
                <a:ext cx="21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69" y="3557"/>
                <a:ext cx="21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10"/>
              <p:cNvSpPr>
                <a:spLocks noChangeArrowheads="1"/>
              </p:cNvSpPr>
              <p:nvPr/>
            </p:nvSpPr>
            <p:spPr bwMode="auto">
              <a:xfrm>
                <a:off x="3005" y="3945"/>
                <a:ext cx="120"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Times New Roman" panose="0202060305040502030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12"/>
              <p:cNvSpPr>
                <a:spLocks noChangeArrowheads="1"/>
              </p:cNvSpPr>
              <p:nvPr/>
            </p:nvSpPr>
            <p:spPr bwMode="auto">
              <a:xfrm>
                <a:off x="4697" y="3795"/>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5137"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52" y="3700"/>
                <a:ext cx="102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8" name="Picture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2" y="3700"/>
                <a:ext cx="102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ectangle 19"/>
              <p:cNvSpPr>
                <a:spLocks noChangeArrowheads="1"/>
              </p:cNvSpPr>
              <p:nvPr/>
            </p:nvSpPr>
            <p:spPr bwMode="auto">
              <a:xfrm>
                <a:off x="3088" y="3722"/>
                <a:ext cx="944" cy="2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0" name="Rectangle 20"/>
              <p:cNvSpPr>
                <a:spLocks noChangeArrowheads="1"/>
              </p:cNvSpPr>
              <p:nvPr/>
            </p:nvSpPr>
            <p:spPr bwMode="auto">
              <a:xfrm>
                <a:off x="3088" y="3722"/>
                <a:ext cx="944" cy="244"/>
              </a:xfrm>
              <a:prstGeom prst="rect">
                <a:avLst/>
              </a:prstGeom>
              <a:noFill/>
              <a:ln w="9525" cap="sq">
                <a:solidFill>
                  <a:srgbClr val="C8C8C8"/>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1" name="Rectangle 21"/>
              <p:cNvSpPr>
                <a:spLocks noChangeArrowheads="1"/>
              </p:cNvSpPr>
              <p:nvPr/>
            </p:nvSpPr>
            <p:spPr bwMode="auto">
              <a:xfrm>
                <a:off x="3129" y="3734"/>
                <a:ext cx="303"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FFFFFF"/>
                    </a:solidFill>
                    <a:effectLst/>
                    <a:latin typeface="Times New Roman" panose="0202060305040502030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120" name="Rectangle 22"/>
              <p:cNvSpPr>
                <a:spLocks noChangeArrowheads="1"/>
              </p:cNvSpPr>
              <p:nvPr/>
            </p:nvSpPr>
            <p:spPr bwMode="auto">
              <a:xfrm>
                <a:off x="3355" y="3734"/>
                <a:ext cx="559"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FFFFFF"/>
                    </a:solidFill>
                    <a:effectLst/>
                    <a:latin typeface="Times New Roman" panose="02020603050405020304" charset="0"/>
                  </a:rPr>
                  <a:t>Packet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sp>
          <p:nvSpPr>
            <p:cNvPr id="5121" name="椭圆 5120"/>
            <p:cNvSpPr/>
            <p:nvPr/>
          </p:nvSpPr>
          <p:spPr>
            <a:xfrm>
              <a:off x="4420815" y="6349326"/>
              <a:ext cx="321048" cy="30883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grpSp>
      <p:sp>
        <p:nvSpPr>
          <p:cNvPr id="2" name="矩形 1"/>
          <p:cNvSpPr/>
          <p:nvPr/>
        </p:nvSpPr>
        <p:spPr>
          <a:xfrm>
            <a:off x="635" y="-635"/>
            <a:ext cx="12191365" cy="882650"/>
          </a:xfrm>
          <a:prstGeom prst="rect">
            <a:avLst/>
          </a:prstGeom>
          <a:solidFill>
            <a:schemeClr val="tx1"/>
          </a:solidFill>
        </p:spPr>
        <p:txBody>
          <a:bodyPr vert="horz" lIns="91440" tIns="45720" rIns="91440" bIns="45720" rtlCol="0" anchor="ctr">
            <a:normAutofit fontScale="90000"/>
          </a:bodyPr>
          <a:p>
            <a:pPr algn="l">
              <a:lnSpc>
                <a:spcPct val="130000"/>
              </a:lnSpc>
              <a:spcBef>
                <a:spcPts val="0"/>
              </a:spcBef>
              <a:spcAft>
                <a:spcPts val="0"/>
              </a:spcAft>
              <a:buClrTx/>
              <a:buSzTx/>
              <a:buFontTx/>
            </a:pPr>
            <a:r>
              <a:rPr lang="en-US" altLang="zh-CN" sz="4000" b="1" dirty="0">
                <a:solidFill>
                  <a:schemeClr val="bg1"/>
                </a:solidFill>
                <a:latin typeface="+mj-ea"/>
                <a:ea typeface="+mj-ea"/>
                <a:cs typeface="+mj-cs"/>
                <a:sym typeface="+mn-ea"/>
              </a:rPr>
              <a:t>IP</a:t>
            </a:r>
            <a:r>
              <a:rPr lang="zh-CN" altLang="en-US" sz="4000" b="1" dirty="0">
                <a:solidFill>
                  <a:schemeClr val="bg1"/>
                </a:solidFill>
                <a:latin typeface="+mj-ea"/>
                <a:ea typeface="+mj-ea"/>
                <a:cs typeface="+mj-cs"/>
                <a:sym typeface="+mn-ea"/>
              </a:rPr>
              <a:t>分片攻击的防御</a:t>
            </a:r>
            <a:endParaRPr lang="zh-CN" altLang="en-US" sz="4000" b="1" dirty="0">
              <a:solidFill>
                <a:schemeClr val="bg1"/>
              </a:solidFill>
              <a:latin typeface="+mj-ea"/>
              <a:ea typeface="+mj-ea"/>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zh-CN" altLang="en-US" sz="4000" dirty="0">
                <a:latin typeface="+mj-ea"/>
                <a:sym typeface="+mn-ea"/>
              </a:rPr>
              <a:t> </a:t>
            </a:r>
            <a:r>
              <a:rPr lang="en-US" altLang="zh-CN" sz="4000" dirty="0">
                <a:latin typeface="+mj-ea"/>
                <a:sym typeface="+mn-ea"/>
              </a:rPr>
              <a:t>3.3 ARP</a:t>
            </a:r>
            <a:r>
              <a:rPr lang="zh-CN" altLang="en-US" sz="4000" dirty="0">
                <a:latin typeface="+mj-ea"/>
                <a:sym typeface="+mn-ea"/>
              </a:rPr>
              <a:t>协议介绍</a:t>
            </a:r>
            <a:endParaRPr lang="zh-CN" altLang="en-US" sz="4000" dirty="0">
              <a:latin typeface="+mj-ea"/>
              <a:sym typeface="+mn-ea"/>
            </a:endParaRPr>
          </a:p>
        </p:txBody>
      </p:sp>
      <p:sp>
        <p:nvSpPr>
          <p:cNvPr id="3" name="文本框 2"/>
          <p:cNvSpPr txBox="1"/>
          <p:nvPr/>
        </p:nvSpPr>
        <p:spPr>
          <a:xfrm>
            <a:off x="31750" y="1066800"/>
            <a:ext cx="12159615" cy="1915795"/>
          </a:xfrm>
          <a:prstGeom prst="rect">
            <a:avLst/>
          </a:prstGeom>
          <a:noFill/>
        </p:spPr>
        <p:txBody>
          <a:bodyPr wrap="square" rtlCol="0" anchor="t">
            <a:noAutofit/>
          </a:bodyPr>
          <a:p>
            <a:pPr marL="342900" indent="-342900">
              <a:lnSpc>
                <a:spcPct val="150000"/>
              </a:lnSpc>
              <a:buClr>
                <a:srgbClr val="DF4F21"/>
              </a:buClr>
              <a:buSzTx/>
              <a:buFont typeface="Wingdings" panose="05000000000000000000" charset="0"/>
              <a:buChar char="p"/>
            </a:pP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在</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TCP/IP</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网络环境下，每个联网的主机都会被分配一个</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32</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位的</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地址，该地址是在网际范围标识主机的一种逻辑地址。为了使报文在物理网络上传输，还须知道对方目的主机的物理地址（</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地址）。故存在把</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地址变换成物理地址的地址转换问题。</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ARP</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协议就是用于解决该问题的。该协议主要负责将</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地址转换为物理地址。</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4" name="对象 -2147482619"/>
          <p:cNvGraphicFramePr>
            <a:graphicFrameLocks noChangeAspect="1"/>
          </p:cNvGraphicFramePr>
          <p:nvPr/>
        </p:nvGraphicFramePr>
        <p:xfrm>
          <a:off x="3303270" y="3670300"/>
          <a:ext cx="5584825" cy="2865755"/>
        </p:xfrm>
        <a:graphic>
          <a:graphicData uri="http://schemas.openxmlformats.org/presentationml/2006/ole">
            <mc:AlternateContent xmlns:mc="http://schemas.openxmlformats.org/markup-compatibility/2006">
              <mc:Choice xmlns:v="urn:schemas-microsoft-com:vml" Requires="v">
                <p:oleObj spid="_x0000_s3076" name="" r:id="rId1" imgW="3808730" imgH="1954530" progId="Visio.Drawing.15">
                  <p:embed/>
                </p:oleObj>
              </mc:Choice>
              <mc:Fallback>
                <p:oleObj name="" r:id="rId1" imgW="3808730" imgH="1954530" progId="Visio.Drawing.15">
                  <p:embed/>
                  <p:pic>
                    <p:nvPicPr>
                      <p:cNvPr id="0" name="图片 3075"/>
                      <p:cNvPicPr/>
                      <p:nvPr/>
                    </p:nvPicPr>
                    <p:blipFill>
                      <a:blip r:embed="rId2"/>
                      <a:stretch>
                        <a:fillRect/>
                      </a:stretch>
                    </p:blipFill>
                    <p:spPr>
                      <a:xfrm>
                        <a:off x="3303270" y="3670300"/>
                        <a:ext cx="5584825" cy="286575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.1 </a:t>
            </a:r>
            <a:r>
              <a:rPr lang="en-US" altLang="zh-CN" sz="4000" dirty="0">
                <a:latin typeface="+mj-ea"/>
                <a:sym typeface="+mn-ea"/>
              </a:rPr>
              <a:t>ARP</a:t>
            </a:r>
            <a:r>
              <a:rPr lang="zh-CN" altLang="en-US" sz="4000" dirty="0">
                <a:latin typeface="+mj-ea"/>
                <a:sym typeface="+mn-ea"/>
              </a:rPr>
              <a:t>协议的帧格式</a:t>
            </a:r>
            <a:endParaRPr lang="zh-CN" altLang="en-US" sz="4000" dirty="0">
              <a:latin typeface="+mj-ea"/>
              <a:sym typeface="+mn-ea"/>
            </a:endParaRPr>
          </a:p>
        </p:txBody>
      </p:sp>
      <p:sp>
        <p:nvSpPr>
          <p:cNvPr id="3" name="文本框 2"/>
          <p:cNvSpPr txBox="1"/>
          <p:nvPr/>
        </p:nvSpPr>
        <p:spPr>
          <a:xfrm>
            <a:off x="31750" y="1058545"/>
            <a:ext cx="12160250" cy="527050"/>
          </a:xfrm>
          <a:prstGeom prst="rect">
            <a:avLst/>
          </a:prstGeom>
          <a:noFill/>
        </p:spPr>
        <p:txBody>
          <a:bodyPr wrap="square" rtlCol="0" anchor="t">
            <a:noAutofit/>
          </a:bodyPr>
          <a:p>
            <a:pPr marL="342900" indent="-342900">
              <a:lnSpc>
                <a:spcPct val="150000"/>
              </a:lnSpc>
              <a:buClr>
                <a:srgbClr val="DF4F21"/>
              </a:buClr>
              <a:buSzTx/>
              <a:buFont typeface="Wingdings" panose="05000000000000000000" charset="0"/>
              <a:buChar char="p"/>
            </a:pPr>
            <a:r>
              <a:rPr kumimoji="1" lang="zh-CN" altLang="en-US"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为了实现将网络层的</a:t>
            </a:r>
            <a:r>
              <a:rPr kumimoji="1" lang="en-US" altLang="zh-CN"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地址解析为数据链路层对应的硬件地址的功能，</a:t>
            </a:r>
            <a:r>
              <a:rPr kumimoji="1" lang="en-US" altLang="zh-CN"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ARP</a:t>
            </a:r>
            <a:r>
              <a:rPr kumimoji="1" lang="zh-CN" altLang="en-US"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协议包含的各字段如图所示。</a:t>
            </a:r>
            <a:endParaRPr kumimoji="1" lang="zh-CN" altLang="en-US"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lvl="2" indent="0" algn="l">
              <a:lnSpc>
                <a:spcPct val="150000"/>
              </a:lnSpc>
              <a:buClr>
                <a:srgbClr val="DF4F21"/>
              </a:buClr>
              <a:buSzTx/>
              <a:buFont typeface="Wingdings" panose="05000000000000000000" charset="0"/>
              <a:buNone/>
            </a:pPr>
            <a:endParaRPr kumimoji="1" lang="zh-CN" altLang="en-US" sz="1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4" name="对象 -2147482618"/>
          <p:cNvGraphicFramePr>
            <a:graphicFrameLocks noChangeAspect="1"/>
          </p:cNvGraphicFramePr>
          <p:nvPr/>
        </p:nvGraphicFramePr>
        <p:xfrm>
          <a:off x="676910" y="3349625"/>
          <a:ext cx="11042015" cy="1654175"/>
        </p:xfrm>
        <a:graphic>
          <a:graphicData uri="http://schemas.openxmlformats.org/presentationml/2006/ole">
            <mc:AlternateContent xmlns:mc="http://schemas.openxmlformats.org/markup-compatibility/2006">
              <mc:Choice xmlns:v="urn:schemas-microsoft-com:vml" Requires="v">
                <p:oleObj spid="_x0000_s3076" name="" r:id="rId1" imgW="8288020" imgH="1241425" progId="Visio.DrawingConvertable.15">
                  <p:embed/>
                </p:oleObj>
              </mc:Choice>
              <mc:Fallback>
                <p:oleObj name="" r:id="rId1" imgW="8288020" imgH="1241425" progId="Visio.DrawingConvertable.15">
                  <p:embed/>
                  <p:pic>
                    <p:nvPicPr>
                      <p:cNvPr id="0" name="图片 3075"/>
                      <p:cNvPicPr/>
                      <p:nvPr/>
                    </p:nvPicPr>
                    <p:blipFill>
                      <a:blip r:embed="rId2"/>
                      <a:stretch>
                        <a:fillRect/>
                      </a:stretch>
                    </p:blipFill>
                    <p:spPr>
                      <a:xfrm>
                        <a:off x="676910" y="3349625"/>
                        <a:ext cx="11042015" cy="1654175"/>
                      </a:xfrm>
                      <a:prstGeom prst="rect">
                        <a:avLst/>
                      </a:prstGeom>
                      <a:noFill/>
                      <a:ln w="38100">
                        <a:noFill/>
                        <a:miter/>
                      </a:ln>
                    </p:spPr>
                  </p:pic>
                </p:oleObj>
              </mc:Fallback>
            </mc:AlternateContent>
          </a:graphicData>
        </a:graphic>
      </p:graphicFrame>
      <p:sp>
        <p:nvSpPr>
          <p:cNvPr id="6" name="圆角矩形标注 5"/>
          <p:cNvSpPr/>
          <p:nvPr/>
        </p:nvSpPr>
        <p:spPr>
          <a:xfrm>
            <a:off x="738505" y="1646555"/>
            <a:ext cx="5088890" cy="1325245"/>
          </a:xfrm>
          <a:prstGeom prst="wedgeRoundRectCallout">
            <a:avLst>
              <a:gd name="adj1" fmla="val -35126"/>
              <a:gd name="adj2" fmla="val 117225"/>
              <a:gd name="adj3" fmla="val 16667"/>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ln>
                <a:solidFill>
                  <a:sysClr val="windowText" lastClr="000000"/>
                </a:solidFill>
              </a:ln>
              <a:noFill/>
            </a:endParaRPr>
          </a:p>
        </p:txBody>
      </p:sp>
      <p:sp>
        <p:nvSpPr>
          <p:cNvPr id="7" name="文本框 6"/>
          <p:cNvSpPr txBox="1"/>
          <p:nvPr/>
        </p:nvSpPr>
        <p:spPr>
          <a:xfrm>
            <a:off x="979805" y="1757680"/>
            <a:ext cx="4848225" cy="1334770"/>
          </a:xfrm>
          <a:prstGeom prst="rect">
            <a:avLst/>
          </a:prstGeom>
          <a:noFill/>
        </p:spPr>
        <p:txBody>
          <a:bodyPr wrap="square" rtlCol="0">
            <a:noAutofit/>
          </a:bodyPr>
          <a:p>
            <a:pPr marL="0" lvl="1"/>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1</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）目的地址（源地址）：占</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6</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个字节。表示以太网的目的地址（源地址）。目的地址为全</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1</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的特殊地址是广播地址，使得电缆上的所有以太网接口都要接收广播的数据帧。</a:t>
            </a:r>
            <a:endPar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endParaRPr lang="zh-CN" altLang="en-US"/>
          </a:p>
        </p:txBody>
      </p:sp>
      <p:sp>
        <p:nvSpPr>
          <p:cNvPr id="8" name="圆角矩形标注 7"/>
          <p:cNvSpPr/>
          <p:nvPr/>
        </p:nvSpPr>
        <p:spPr>
          <a:xfrm>
            <a:off x="6604635" y="1646555"/>
            <a:ext cx="5114290" cy="1046480"/>
          </a:xfrm>
          <a:prstGeom prst="wedgeRoundRectCallout">
            <a:avLst>
              <a:gd name="adj1" fmla="val -103240"/>
              <a:gd name="adj2" fmla="val 164259"/>
              <a:gd name="adj3" fmla="val 16667"/>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ln>
                <a:solidFill>
                  <a:sysClr val="windowText" lastClr="000000"/>
                </a:solidFill>
              </a:ln>
              <a:noFill/>
            </a:endParaRPr>
          </a:p>
        </p:txBody>
      </p:sp>
      <p:sp>
        <p:nvSpPr>
          <p:cNvPr id="9" name="文本框 8"/>
          <p:cNvSpPr txBox="1"/>
          <p:nvPr/>
        </p:nvSpPr>
        <p:spPr>
          <a:xfrm>
            <a:off x="6699885" y="1757680"/>
            <a:ext cx="4607560" cy="1003300"/>
          </a:xfrm>
          <a:prstGeom prst="rect">
            <a:avLst/>
          </a:prstGeom>
          <a:noFill/>
        </p:spPr>
        <p:txBody>
          <a:bodyPr wrap="square" rtlCol="0">
            <a:noAutofit/>
          </a:bodyPr>
          <a:p>
            <a:pPr marL="0" lvl="1"/>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2</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帧类型：占</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2</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个字节。以太网帧类型表示后面数据的类型。对于</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ARP</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请求或应答来说，该字段的值为</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0x0806</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endPar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0" lvl="1"/>
            <a:endPar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endParaRPr lang="zh-CN" altLang="en-US"/>
          </a:p>
        </p:txBody>
      </p:sp>
      <p:sp>
        <p:nvSpPr>
          <p:cNvPr id="13" name="文本框 12"/>
          <p:cNvSpPr txBox="1"/>
          <p:nvPr/>
        </p:nvSpPr>
        <p:spPr>
          <a:xfrm>
            <a:off x="587375" y="5489575"/>
            <a:ext cx="10510520" cy="506730"/>
          </a:xfrm>
          <a:prstGeom prst="rect">
            <a:avLst/>
          </a:prstGeom>
          <a:noFill/>
        </p:spPr>
        <p:txBody>
          <a:bodyPr wrap="square" rtlCol="0" anchor="t">
            <a:spAutoFit/>
          </a:bodyPr>
          <a:p>
            <a:pPr lvl="1" indent="0" algn="l">
              <a:lnSpc>
                <a:spcPct val="150000"/>
              </a:lnSpc>
              <a:buClr>
                <a:srgbClr val="DF4F21"/>
              </a:buClr>
              <a:buSzTx/>
              <a:buFont typeface="Wingdings" panose="05000000000000000000" charset="0"/>
              <a:buNone/>
            </a:pP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3</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）硬件类型：占</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2</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个字节。该字段用于指定使用的网络接口类型，例如以太网是</a:t>
            </a:r>
            <a:r>
              <a:rPr kumimoji="1" lang="en-US" altLang="zh-CN"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1</a:t>
            </a:r>
            <a:r>
              <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endParaRPr kumimoji="1" lang="zh-CN" altLang="en-US"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
        <p:nvSpPr>
          <p:cNvPr id="16" name="文本框 15"/>
          <p:cNvSpPr txBox="1"/>
          <p:nvPr/>
        </p:nvSpPr>
        <p:spPr>
          <a:xfrm>
            <a:off x="4546600" y="6236970"/>
            <a:ext cx="2896870" cy="506730"/>
          </a:xfrm>
          <a:prstGeom prst="rect">
            <a:avLst/>
          </a:prstGeom>
        </p:spPr>
        <p:txBody>
          <a:bodyPr wrap="square">
            <a:spAutoFit/>
          </a:bodyPr>
          <a:p>
            <a:pPr marL="0" indent="127000" algn="just" defTabSz="266700">
              <a:lnSpc>
                <a:spcPct val="150000"/>
              </a:lnSpc>
              <a:spcBef>
                <a:spcPct val="0"/>
              </a:spcBef>
              <a:spcAft>
                <a:spcPct val="0"/>
              </a:spcAft>
            </a:pPr>
            <a:r>
              <a:rPr lang="en-US" altLang="zh-CN" b="1" i="0">
                <a:latin typeface="Times New Roman" panose="02020603050405020304"/>
                <a:ea typeface="Times New Roman" panose="02020603050405020304"/>
              </a:rPr>
              <a:t>ARP</a:t>
            </a:r>
            <a:r>
              <a:rPr lang="zh-CN" altLang="en-US" b="1" i="0">
                <a:latin typeface="Times New Roman" panose="02020603050405020304"/>
                <a:ea typeface="宋体" panose="02010600030101010101" pitchFamily="2" charset="-122"/>
              </a:rPr>
              <a:t>请求或应答分组格式</a:t>
            </a:r>
            <a:endParaRPr lang="zh-CN" altLang="en-US" b="1" i="0">
              <a:latin typeface="Times New Roman" panose="02020603050405020304"/>
              <a:ea typeface="宋体" panose="02010600030101010101" pitchFamily="2" charset="-122"/>
            </a:endParaRPr>
          </a:p>
        </p:txBody>
      </p:sp>
      <p:sp>
        <p:nvSpPr>
          <p:cNvPr id="5" name="矩形 4"/>
          <p:cNvSpPr/>
          <p:nvPr/>
        </p:nvSpPr>
        <p:spPr>
          <a:xfrm>
            <a:off x="692150" y="3884930"/>
            <a:ext cx="2893060" cy="661035"/>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lnSpc>
                <a:spcPct val="150000"/>
              </a:lnSpc>
            </a:pPr>
            <a:endParaRPr lang="zh-CN" altLang="en-US" smtClean="0"/>
          </a:p>
        </p:txBody>
      </p:sp>
      <p:sp>
        <p:nvSpPr>
          <p:cNvPr id="11" name="矩形 10"/>
          <p:cNvSpPr/>
          <p:nvPr/>
        </p:nvSpPr>
        <p:spPr>
          <a:xfrm>
            <a:off x="3585210" y="3887470"/>
            <a:ext cx="668655" cy="655320"/>
          </a:xfrm>
          <a:prstGeom prst="rect">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lnSpc>
                <a:spcPct val="150000"/>
              </a:lnSpc>
            </a:pP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bldLst>
      <p:bldP spid="6" grpId="0" bldLvl="0" animBg="1"/>
      <p:bldP spid="7" grpId="0"/>
      <p:bldP spid="6" grpId="1" animBg="1"/>
      <p:bldP spid="7" grpId="1"/>
      <p:bldP spid="5" grpId="0" bldLvl="0" animBg="1"/>
      <p:bldP spid="5" grpId="1" animBg="1"/>
      <p:bldP spid="8" grpId="0" bldLvl="0" animBg="1"/>
      <p:bldP spid="9" grpId="0"/>
      <p:bldP spid="8" grpId="1" animBg="1"/>
      <p:bldP spid="9" grpId="1"/>
      <p:bldP spid="11" grpId="0" bldLvl="0" animBg="1"/>
      <p:bldP spid="11" grpId="1" animBg="1"/>
      <p:bldP spid="13" grpId="0"/>
      <p:bldP spid="13"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.2 </a:t>
            </a:r>
            <a:r>
              <a:rPr lang="en-US" altLang="zh-CN" sz="4000" dirty="0">
                <a:latin typeface="+mj-ea"/>
                <a:sym typeface="+mn-ea"/>
              </a:rPr>
              <a:t>ARP</a:t>
            </a:r>
            <a:r>
              <a:rPr lang="zh-CN" altLang="en-US" sz="4000" dirty="0">
                <a:latin typeface="+mj-ea"/>
                <a:sym typeface="+mn-ea"/>
              </a:rPr>
              <a:t>协议工作流程</a:t>
            </a:r>
            <a:endParaRPr lang="zh-CN" altLang="en-US" sz="4000" dirty="0">
              <a:latin typeface="+mj-ea"/>
              <a:sym typeface="+mn-ea"/>
            </a:endParaRPr>
          </a:p>
        </p:txBody>
      </p:sp>
      <p:sp>
        <p:nvSpPr>
          <p:cNvPr id="11" name="文本框 10"/>
          <p:cNvSpPr txBox="1"/>
          <p:nvPr/>
        </p:nvSpPr>
        <p:spPr>
          <a:xfrm>
            <a:off x="0" y="1320165"/>
            <a:ext cx="6875780" cy="5053965"/>
          </a:xfrm>
          <a:prstGeom prst="rect">
            <a:avLst/>
          </a:prstGeom>
          <a:noFill/>
        </p:spPr>
        <p:txBody>
          <a:bodyPr wrap="square" rtlCol="0">
            <a:noAutofit/>
          </a:bodyPr>
          <a:p>
            <a:pPr marL="342900" indent="-342900">
              <a:lnSpc>
                <a:spcPct val="150000"/>
              </a:lnSpc>
              <a:spcBef>
                <a:spcPts val="0"/>
              </a:spcBef>
              <a:buClr>
                <a:srgbClr val="DF4F21"/>
              </a:buClr>
              <a:buSzTx/>
              <a:buFont typeface="Wingdings" panose="05000000000000000000" charset="0"/>
              <a:buChar char="p"/>
            </a:pPr>
            <a:r>
              <a:rPr lang="en-US" altLang="zh-CN" sz="2400" b="1" spc="5" dirty="0">
                <a:latin typeface="宋体" panose="02010600030101010101" pitchFamily="2" charset="-122"/>
                <a:ea typeface="宋体" panose="02010600030101010101" pitchFamily="2" charset="-122"/>
                <a:cs typeface="宋体" panose="02010600030101010101" pitchFamily="2" charset="-122"/>
                <a:sym typeface="+mn-ea"/>
              </a:rPr>
              <a:t>ARP</a:t>
            </a:r>
            <a:r>
              <a:rPr lang="zh-CN" altLang="en-US" sz="2400" b="1" spc="5" dirty="0">
                <a:latin typeface="宋体" panose="02010600030101010101" pitchFamily="2" charset="-122"/>
                <a:ea typeface="宋体" panose="02010600030101010101" pitchFamily="2" charset="-122"/>
                <a:cs typeface="宋体" panose="02010600030101010101" pitchFamily="2" charset="-122"/>
                <a:sym typeface="+mn-ea"/>
              </a:rPr>
              <a:t>协议的流程图如图所示。当主机</a:t>
            </a:r>
            <a:r>
              <a:rPr lang="en-US" altLang="zh-CN" sz="2400" b="1" spc="5" dirty="0">
                <a:latin typeface="宋体" panose="02010600030101010101" pitchFamily="2" charset="-122"/>
                <a:ea typeface="宋体" panose="02010600030101010101" pitchFamily="2" charset="-122"/>
                <a:cs typeface="宋体" panose="02010600030101010101" pitchFamily="2" charset="-122"/>
                <a:sym typeface="+mn-ea"/>
              </a:rPr>
              <a:t>A</a:t>
            </a:r>
            <a:r>
              <a:rPr lang="zh-CN" altLang="en-US" sz="2400" b="1" spc="5" dirty="0">
                <a:latin typeface="宋体" panose="02010600030101010101" pitchFamily="2" charset="-122"/>
                <a:ea typeface="宋体" panose="02010600030101010101" pitchFamily="2" charset="-122"/>
                <a:cs typeface="宋体" panose="02010600030101010101" pitchFamily="2" charset="-122"/>
                <a:sym typeface="+mn-ea"/>
              </a:rPr>
              <a:t>要解析的</a:t>
            </a:r>
            <a:r>
              <a:rPr lang="en-US" altLang="zh-CN" sz="2400" b="1" spc="5" dirty="0">
                <a:latin typeface="宋体" panose="02010600030101010101" pitchFamily="2" charset="-122"/>
                <a:ea typeface="宋体" panose="02010600030101010101" pitchFamily="2" charset="-122"/>
                <a:cs typeface="宋体" panose="02010600030101010101" pitchFamily="2" charset="-122"/>
                <a:sym typeface="+mn-ea"/>
              </a:rPr>
              <a:t>IP</a:t>
            </a:r>
            <a:r>
              <a:rPr lang="zh-CN" altLang="en-US" sz="2400" b="1" spc="5" dirty="0">
                <a:latin typeface="宋体" panose="02010600030101010101" pitchFamily="2" charset="-122"/>
                <a:ea typeface="宋体" panose="02010600030101010101" pitchFamily="2" charset="-122"/>
                <a:cs typeface="宋体" panose="02010600030101010101" pitchFamily="2" charset="-122"/>
                <a:sym typeface="+mn-ea"/>
              </a:rPr>
              <a:t>地址与主机</a:t>
            </a:r>
            <a:r>
              <a:rPr lang="en-US" altLang="zh-CN" sz="2400" b="1" spc="5" dirty="0">
                <a:latin typeface="宋体" panose="02010600030101010101" pitchFamily="2" charset="-122"/>
                <a:ea typeface="宋体" panose="02010600030101010101" pitchFamily="2" charset="-122"/>
                <a:cs typeface="宋体" panose="02010600030101010101" pitchFamily="2" charset="-122"/>
                <a:sym typeface="+mn-ea"/>
              </a:rPr>
              <a:t>A</a:t>
            </a:r>
            <a:r>
              <a:rPr lang="zh-CN" altLang="en-US" sz="2400" b="1" spc="5" dirty="0">
                <a:latin typeface="宋体" panose="02010600030101010101" pitchFamily="2" charset="-122"/>
                <a:ea typeface="宋体" panose="02010600030101010101" pitchFamily="2" charset="-122"/>
                <a:cs typeface="宋体" panose="02010600030101010101" pitchFamily="2" charset="-122"/>
                <a:sym typeface="+mn-ea"/>
              </a:rPr>
              <a:t>在同一子网内时就先在其</a:t>
            </a:r>
            <a:r>
              <a:rPr lang="en-US" altLang="zh-CN" sz="2400" b="1" spc="5" dirty="0">
                <a:latin typeface="宋体" panose="02010600030101010101" pitchFamily="2" charset="-122"/>
                <a:ea typeface="宋体" panose="02010600030101010101" pitchFamily="2" charset="-122"/>
                <a:cs typeface="宋体" panose="02010600030101010101" pitchFamily="2" charset="-122"/>
                <a:sym typeface="+mn-ea"/>
              </a:rPr>
              <a:t>ARP</a:t>
            </a:r>
            <a:r>
              <a:rPr lang="zh-CN" altLang="en-US" sz="2400" b="1" spc="5" dirty="0">
                <a:latin typeface="宋体" panose="02010600030101010101" pitchFamily="2" charset="-122"/>
                <a:ea typeface="宋体" panose="02010600030101010101" pitchFamily="2" charset="-122"/>
                <a:cs typeface="宋体" panose="02010600030101010101" pitchFamily="2" charset="-122"/>
                <a:sym typeface="+mn-ea"/>
              </a:rPr>
              <a:t>高速缓存中查看有无主机</a:t>
            </a:r>
            <a:r>
              <a:rPr lang="en-US" altLang="zh-CN" sz="2400" b="1" spc="5" dirty="0">
                <a:latin typeface="宋体" panose="02010600030101010101" pitchFamily="2" charset="-122"/>
                <a:ea typeface="宋体" panose="02010600030101010101" pitchFamily="2" charset="-122"/>
                <a:cs typeface="宋体" panose="02010600030101010101" pitchFamily="2" charset="-122"/>
                <a:sym typeface="+mn-ea"/>
              </a:rPr>
              <a:t>B</a:t>
            </a:r>
            <a:r>
              <a:rPr lang="zh-CN" altLang="en-US" sz="2400" b="1" spc="5" dirty="0">
                <a:latin typeface="宋体" panose="02010600030101010101" pitchFamily="2" charset="-122"/>
                <a:ea typeface="宋体" panose="02010600030101010101" pitchFamily="2" charset="-122"/>
                <a:cs typeface="宋体" panose="02010600030101010101" pitchFamily="2" charset="-122"/>
                <a:sym typeface="+mn-ea"/>
              </a:rPr>
              <a:t>的</a:t>
            </a:r>
            <a:r>
              <a:rPr lang="en-US" altLang="zh-CN" sz="2400" b="1" spc="5" dirty="0">
                <a:latin typeface="宋体" panose="02010600030101010101" pitchFamily="2" charset="-122"/>
                <a:ea typeface="宋体" panose="02010600030101010101" pitchFamily="2" charset="-122"/>
                <a:cs typeface="宋体" panose="02010600030101010101" pitchFamily="2" charset="-122"/>
                <a:sym typeface="+mn-ea"/>
              </a:rPr>
              <a:t>IP</a:t>
            </a:r>
            <a:r>
              <a:rPr lang="zh-CN" altLang="en-US" sz="2400" b="1" spc="5" dirty="0">
                <a:latin typeface="宋体" panose="02010600030101010101" pitchFamily="2" charset="-122"/>
                <a:ea typeface="宋体" panose="02010600030101010101" pitchFamily="2" charset="-122"/>
                <a:cs typeface="宋体" panose="02010600030101010101" pitchFamily="2" charset="-122"/>
                <a:sym typeface="+mn-ea"/>
              </a:rPr>
              <a:t>地址。</a:t>
            </a:r>
            <a:endParaRPr lang="zh-CN" altLang="en-US" sz="2400" b="1" spc="5" dirty="0">
              <a:latin typeface="宋体" panose="02010600030101010101" pitchFamily="2" charset="-122"/>
              <a:ea typeface="宋体" panose="02010600030101010101" pitchFamily="2" charset="-122"/>
              <a:cs typeface="宋体" panose="02010600030101010101" pitchFamily="2" charset="-122"/>
              <a:sym typeface="+mn-ea"/>
            </a:endParaRPr>
          </a:p>
          <a:p>
            <a:pPr marL="685800" lvl="1" indent="-228600" algn="l">
              <a:lnSpc>
                <a:spcPct val="150000"/>
              </a:lnSpc>
              <a:spcBef>
                <a:spcPts val="0"/>
              </a:spcBef>
              <a:buClr>
                <a:srgbClr val="DF4F21"/>
              </a:buClr>
              <a:buSzTx/>
              <a:buFont typeface="Wingdings" panose="05000000000000000000" charset="0"/>
              <a:buChar char="Ø"/>
            </a:pPr>
            <a:r>
              <a:rPr lang="en-US" altLang="zh-CN" sz="2200" b="1" kern="0" dirty="0">
                <a:latin typeface="Times New Roman" panose="02020603050405020304" charset="0"/>
                <a:ea typeface="宋体" panose="02010600030101010101" pitchFamily="2" charset="-122"/>
                <a:cs typeface="Times New Roman" panose="02020603050405020304" charset="0"/>
                <a:sym typeface="+mn-ea"/>
              </a:rPr>
              <a:t>如果有，就可查出其对应的硬件地址，再将此硬件地址写入MAC帧，然后通过局域网将该MAC帧发往此硬件地址；</a:t>
            </a:r>
            <a:endParaRPr lang="en-US" altLang="zh-CN" sz="2200" b="1" kern="0" dirty="0">
              <a:latin typeface="Times New Roman" panose="02020603050405020304" charset="0"/>
              <a:ea typeface="宋体" panose="02010600030101010101" pitchFamily="2" charset="-122"/>
              <a:cs typeface="Times New Roman" panose="02020603050405020304" charset="0"/>
              <a:sym typeface="+mn-ea"/>
            </a:endParaRPr>
          </a:p>
          <a:p>
            <a:pPr marL="685800" lvl="1" indent="-228600" algn="l">
              <a:lnSpc>
                <a:spcPct val="150000"/>
              </a:lnSpc>
              <a:spcBef>
                <a:spcPts val="0"/>
              </a:spcBef>
              <a:buClr>
                <a:srgbClr val="DF4F21"/>
              </a:buClr>
              <a:buSzTx/>
              <a:buFont typeface="Wingdings" panose="05000000000000000000" charset="0"/>
              <a:buChar char="Ø"/>
            </a:pPr>
            <a:r>
              <a:rPr lang="en-US" altLang="zh-CN" sz="2200" b="1" kern="0" dirty="0">
                <a:latin typeface="Times New Roman" panose="02020603050405020304" charset="0"/>
                <a:ea typeface="宋体" panose="02010600030101010101" pitchFamily="2" charset="-122"/>
                <a:cs typeface="Times New Roman" panose="02020603050405020304" charset="0"/>
                <a:sym typeface="+mn-ea"/>
              </a:rPr>
              <a:t>否则，ARP进程在本局域网上广播发送一个ARP请求分组。收到ARP响应分组后，将得到的IP地址到硬件地址的映射写入ARP高速缓存。</a:t>
            </a:r>
            <a:endParaRPr lang="en-US" altLang="zh-CN" sz="2200" b="1" kern="0" dirty="0">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3" name="对象 -2147482617"/>
          <p:cNvGraphicFramePr>
            <a:graphicFrameLocks noChangeAspect="1"/>
          </p:cNvGraphicFramePr>
          <p:nvPr/>
        </p:nvGraphicFramePr>
        <p:xfrm>
          <a:off x="7051040" y="1745615"/>
          <a:ext cx="4948555" cy="3815080"/>
        </p:xfrm>
        <a:graphic>
          <a:graphicData uri="http://schemas.openxmlformats.org/presentationml/2006/ole">
            <mc:AlternateContent xmlns:mc="http://schemas.openxmlformats.org/markup-compatibility/2006">
              <mc:Choice xmlns:v="urn:schemas-microsoft-com:vml" Requires="v">
                <p:oleObj spid="_x0000_s5" name="" r:id="rId1" imgW="3842385" imgH="2961005" progId="Visio.Drawing.15">
                  <p:embed/>
                </p:oleObj>
              </mc:Choice>
              <mc:Fallback>
                <p:oleObj name="" r:id="rId1" imgW="3842385" imgH="2961005" progId="Visio.Drawing.15">
                  <p:embed/>
                  <p:pic>
                    <p:nvPicPr>
                      <p:cNvPr id="0" name="图片 4"/>
                      <p:cNvPicPr/>
                      <p:nvPr/>
                    </p:nvPicPr>
                    <p:blipFill>
                      <a:blip r:embed="rId2"/>
                      <a:stretch>
                        <a:fillRect/>
                      </a:stretch>
                    </p:blipFill>
                    <p:spPr>
                      <a:xfrm>
                        <a:off x="7051040" y="1745615"/>
                        <a:ext cx="4948555" cy="3815080"/>
                      </a:xfrm>
                      <a:prstGeom prst="rect">
                        <a:avLst/>
                      </a:prstGeom>
                      <a:noFill/>
                      <a:ln w="38100">
                        <a:noFill/>
                        <a:miter/>
                      </a:ln>
                    </p:spPr>
                  </p:pic>
                </p:oleObj>
              </mc:Fallback>
            </mc:AlternateContent>
          </a:graphicData>
        </a:graphic>
      </p:graphicFrame>
      <p:sp>
        <p:nvSpPr>
          <p:cNvPr id="6" name="文本框 5"/>
          <p:cNvSpPr txBox="1"/>
          <p:nvPr/>
        </p:nvSpPr>
        <p:spPr>
          <a:xfrm>
            <a:off x="8814435" y="5560695"/>
            <a:ext cx="1422400" cy="368300"/>
          </a:xfrm>
          <a:prstGeom prst="rect">
            <a:avLst/>
          </a:prstGeom>
        </p:spPr>
        <p:txBody>
          <a:bodyPr wrap="square">
            <a:spAutoFit/>
          </a:bodyPr>
          <a:p>
            <a:pPr marL="0" indent="0" algn="just" defTabSz="266700">
              <a:lnSpc>
                <a:spcPct val="150000"/>
              </a:lnSpc>
              <a:spcBef>
                <a:spcPct val="0"/>
              </a:spcBef>
              <a:spcAft>
                <a:spcPct val="0"/>
              </a:spcAft>
            </a:pPr>
            <a:r>
              <a:rPr lang="en-US" altLang="zh-CN" sz="1200" b="1" i="0">
                <a:latin typeface="Times New Roman" panose="02020603050405020304"/>
                <a:ea typeface="Times New Roman" panose="02020603050405020304"/>
              </a:rPr>
              <a:t>ARP</a:t>
            </a:r>
            <a:r>
              <a:rPr lang="zh-CN" altLang="en-US" sz="1200" b="1" i="0">
                <a:latin typeface="Times New Roman" panose="02020603050405020304"/>
                <a:ea typeface="宋体" panose="02010600030101010101" pitchFamily="2" charset="-122"/>
              </a:rPr>
              <a:t>协议工作流程</a:t>
            </a:r>
            <a:endParaRPr lang="zh-CN" altLang="en-US" sz="1200" b="1" i="0">
              <a:latin typeface="Times New Roman" panose="020206030504050203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35" y="8255"/>
            <a:ext cx="12193270" cy="815975"/>
          </a:xfrm>
          <a:prstGeom prst="rect">
            <a:avLst/>
          </a:prstGeom>
          <a:solidFill>
            <a:schemeClr val="tx1"/>
          </a:solidFill>
        </p:spPr>
        <p:txBody>
          <a:bodyPr vert="horz" lIns="91440" tIns="45720" rIns="91440" bIns="45720" rtlCol="0" anchor="ctr">
            <a:normAutofit fontScale="90000" lnSpcReduction="20000"/>
          </a:bodyPr>
          <a:lstStyle/>
          <a:p>
            <a:pPr algn="l">
              <a:lnSpc>
                <a:spcPct val="150000"/>
              </a:lnSpc>
              <a:buClrTx/>
              <a:buSzTx/>
              <a:buFontTx/>
            </a:pPr>
            <a:r>
              <a:rPr lang="en-US" altLang="zh-CN" sz="4000" b="1" dirty="0">
                <a:solidFill>
                  <a:schemeClr val="bg1"/>
                </a:solidFill>
                <a:latin typeface="+mj-ea"/>
                <a:ea typeface="+mj-ea"/>
                <a:cs typeface="+mj-cs"/>
              </a:rPr>
              <a:t>3.3.3</a:t>
            </a:r>
            <a:r>
              <a:rPr lang="en-US" altLang="zh-CN" sz="4000" b="1" dirty="0">
                <a:solidFill>
                  <a:schemeClr val="bg1"/>
                </a:solidFill>
                <a:latin typeface="+mj-ea"/>
                <a:ea typeface="+mj-ea"/>
                <a:cs typeface="+mj-cs"/>
                <a:sym typeface="+mn-ea"/>
              </a:rPr>
              <a:t> ARP欺骗原理</a:t>
            </a:r>
            <a:endParaRPr lang="en-US" altLang="zh-CN" sz="4000" b="1" dirty="0">
              <a:solidFill>
                <a:schemeClr val="bg1"/>
              </a:solidFill>
              <a:latin typeface="+mj-ea"/>
              <a:ea typeface="+mj-ea"/>
              <a:cs typeface="+mj-cs"/>
            </a:endParaRPr>
          </a:p>
        </p:txBody>
      </p:sp>
      <p:pic>
        <p:nvPicPr>
          <p:cNvPr id="8" name="图片 7"/>
          <p:cNvPicPr>
            <a:picLocks noChangeAspect="1"/>
          </p:cNvPicPr>
          <p:nvPr/>
        </p:nvPicPr>
        <p:blipFill>
          <a:blip r:embed="rId1"/>
          <a:stretch>
            <a:fillRect/>
          </a:stretch>
        </p:blipFill>
        <p:spPr>
          <a:xfrm>
            <a:off x="446284" y="3363132"/>
            <a:ext cx="5257092" cy="2957114"/>
          </a:xfrm>
          <a:prstGeom prst="rect">
            <a:avLst/>
          </a:prstGeom>
        </p:spPr>
      </p:pic>
      <p:sp>
        <p:nvSpPr>
          <p:cNvPr id="21" name="文本框 20"/>
          <p:cNvSpPr txBox="1"/>
          <p:nvPr/>
        </p:nvSpPr>
        <p:spPr>
          <a:xfrm>
            <a:off x="204470" y="799465"/>
            <a:ext cx="11790680" cy="2306955"/>
          </a:xfrm>
          <a:prstGeom prst="rect">
            <a:avLst/>
          </a:prstGeom>
          <a:noFill/>
          <a:ln w="12700">
            <a:solidFill>
              <a:schemeClr val="accent3">
                <a:lumMod val="60000"/>
                <a:lumOff val="40000"/>
              </a:schemeClr>
            </a:solidFill>
          </a:ln>
        </p:spPr>
        <p:txBody>
          <a:bodyPr wrap="square">
            <a:spAutoFit/>
          </a:bodyPr>
          <a:lstStyle>
            <a:defPPr>
              <a:defRPr lang="zh-CN"/>
            </a:defPPr>
            <a:lvl1pPr>
              <a:lnSpc>
                <a:spcPct val="150000"/>
              </a:lnSpc>
              <a:defRPr sz="2000">
                <a:latin typeface="微软雅黑" panose="020B0503020204020204" pitchFamily="34" charset="-122"/>
                <a:ea typeface="微软雅黑" panose="020B0503020204020204" pitchFamily="34" charset="-122"/>
              </a:defRPr>
            </a:lvl1pPr>
          </a:lstStyle>
          <a:p>
            <a:pPr marL="342900" indent="-342900" algn="l">
              <a:lnSpc>
                <a:spcPct val="150000"/>
              </a:lnSpc>
              <a:spcBef>
                <a:spcPts val="0"/>
              </a:spcBef>
              <a:buClr>
                <a:srgbClr val="DF4F21"/>
              </a:buClr>
              <a:buSzTx/>
              <a:buFont typeface="Wingdings" panose="05000000000000000000" charset="0"/>
              <a:buChar char="p"/>
            </a:pPr>
            <a:r>
              <a:rPr lang="zh-CN" altLang="en-US" sz="2400" b="1" spc="5" dirty="0">
                <a:latin typeface="宋体" panose="02010600030101010101" pitchFamily="2" charset="-122"/>
                <a:ea typeface="宋体" panose="02010600030101010101" pitchFamily="2" charset="-122"/>
                <a:cs typeface="宋体" panose="02010600030101010101" pitchFamily="2" charset="-122"/>
              </a:rPr>
              <a:t>ARP欺骗（ARP spoofing），又称ARP污染（ARP poisoning），是针对以太网地址解析协议（ARP）的一种攻击技术</a:t>
            </a:r>
            <a:endParaRPr lang="zh-CN" altLang="en-US" sz="2400" b="1" spc="5" dirty="0">
              <a:latin typeface="宋体" panose="02010600030101010101" pitchFamily="2" charset="-122"/>
              <a:ea typeface="宋体" panose="02010600030101010101" pitchFamily="2" charset="-122"/>
              <a:cs typeface="宋体" panose="02010600030101010101" pitchFamily="2" charset="-122"/>
            </a:endParaRPr>
          </a:p>
          <a:p>
            <a:pPr marL="342900" indent="-342900" algn="l">
              <a:lnSpc>
                <a:spcPct val="150000"/>
              </a:lnSpc>
              <a:spcBef>
                <a:spcPts val="0"/>
              </a:spcBef>
              <a:buClr>
                <a:srgbClr val="DF4F21"/>
              </a:buClr>
              <a:buSzTx/>
              <a:buFont typeface="Wingdings" panose="05000000000000000000" charset="0"/>
              <a:buChar char="p"/>
            </a:pPr>
            <a:r>
              <a:rPr lang="zh-CN" altLang="en-US" sz="2400" b="1" spc="5" dirty="0">
                <a:latin typeface="宋体" panose="02010600030101010101" pitchFamily="2" charset="-122"/>
                <a:ea typeface="宋体" panose="02010600030101010101" pitchFamily="2" charset="-122"/>
                <a:cs typeface="宋体" panose="02010600030101010101" pitchFamily="2" charset="-122"/>
              </a:rPr>
              <a:t>可让攻击者成为中间人（Man-in-the-Middle, MITM），获取局域网上的数据包，甚至可篡改数据包，同时迫使受害主机无法正常接收报文</a:t>
            </a:r>
            <a:endParaRPr lang="zh-CN" altLang="en-US" sz="2400" b="1" spc="5" dirty="0">
              <a:latin typeface="宋体" panose="02010600030101010101" pitchFamily="2" charset="-122"/>
              <a:ea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2"/>
          <a:stretch>
            <a:fillRect/>
          </a:stretch>
        </p:blipFill>
        <p:spPr>
          <a:xfrm>
            <a:off x="5448748" y="3146407"/>
            <a:ext cx="6053972" cy="31502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en-US" altLang="zh-CN" sz="4000" dirty="0">
                <a:latin typeface="+mj-ea"/>
                <a:sym typeface="+mn-ea"/>
              </a:rPr>
              <a:t>3.4</a:t>
            </a:r>
            <a:r>
              <a:rPr lang="en-US" altLang="zh-CN" sz="4000" dirty="0">
                <a:latin typeface="+mj-ea"/>
                <a:sym typeface="+mn-ea"/>
              </a:rPr>
              <a:t>.1 ICMP协议</a:t>
            </a:r>
            <a:endParaRPr lang="en-US" altLang="zh-CN" sz="4000" dirty="0">
              <a:latin typeface="+mj-ea"/>
              <a:sym typeface="+mn-ea"/>
            </a:endParaRPr>
          </a:p>
        </p:txBody>
      </p:sp>
      <p:sp>
        <p:nvSpPr>
          <p:cNvPr id="931843" name="Rectangle 3"/>
          <p:cNvSpPr>
            <a:spLocks noGrp="1" noChangeArrowheads="1"/>
          </p:cNvSpPr>
          <p:nvPr/>
        </p:nvSpPr>
        <p:spPr>
          <a:xfrm>
            <a:off x="528955" y="1158240"/>
            <a:ext cx="11238865" cy="455485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charset="-122"/>
                <a:cs typeface="+mn-cs"/>
              </a:defRPr>
            </a:lvl1pPr>
            <a:lvl2pPr marL="742950" indent="-285750" algn="l" rtl="0" eaLnBrk="0" fontAlgn="base" hangingPunct="0">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charset="-122"/>
              </a:defRPr>
            </a:lvl2pPr>
            <a:lvl3pPr marL="1143000" indent="-228600" algn="l" rtl="0" eaLnBrk="0" fontAlgn="base" hangingPunct="0">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charset="-122"/>
              </a:defRPr>
            </a:lvl3pPr>
            <a:lvl4pPr marL="1600200" indent="-228600" algn="l" rtl="0" eaLnBrk="0" fontAlgn="base" hangingPunct="0">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charset="-122"/>
              </a:defRPr>
            </a:lvl4pPr>
            <a:lvl5pPr marL="2057400" indent="-228600" algn="l" rtl="0" eaLnBrk="0" fontAlgn="base" hangingPunct="0">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pPr algn="l" eaLnBrk="1" fontAlgn="auto" hangingPunct="1">
              <a:lnSpc>
                <a:spcPct val="150000"/>
              </a:lnSpc>
              <a:spcBef>
                <a:spcPts val="0"/>
              </a:spcBef>
              <a:buSzTx/>
              <a:buFont typeface="Wingdings" panose="05000000000000000000" charset="0"/>
              <a:buChar char="p"/>
            </a:pPr>
            <a:r>
              <a:rPr lang="en-US" altLang="zh-CN" sz="2400" kern="0" dirty="0">
                <a:latin typeface="Times New Roman" panose="02020603050405020304" charset="0"/>
                <a:ea typeface="宋体" panose="02010600030101010101" pitchFamily="2" charset="-122"/>
                <a:cs typeface="Times New Roman" panose="02020603050405020304" charset="0"/>
              </a:rPr>
              <a:t>为了更有效地转发 IP 数据报和提高交付成功的机会，在网际层使用了网际控制报文协议 ICMP (Internet Control Message Protocol)。</a:t>
            </a:r>
            <a:endParaRPr lang="en-US" altLang="zh-CN" sz="2400" kern="0" dirty="0">
              <a:latin typeface="Times New Roman" panose="02020603050405020304" charset="0"/>
              <a:ea typeface="宋体" panose="02010600030101010101" pitchFamily="2" charset="-122"/>
              <a:cs typeface="Times New Roman" panose="02020603050405020304" charset="0"/>
            </a:endParaRPr>
          </a:p>
          <a:p>
            <a:pPr algn="l" eaLnBrk="1" fontAlgn="auto" hangingPunct="1">
              <a:lnSpc>
                <a:spcPct val="150000"/>
              </a:lnSpc>
              <a:spcBef>
                <a:spcPts val="0"/>
              </a:spcBef>
              <a:buSzTx/>
              <a:buFont typeface="Wingdings" panose="05000000000000000000" charset="0"/>
              <a:buChar char="p"/>
            </a:pPr>
            <a:r>
              <a:rPr lang="en-US" altLang="zh-CN" sz="2400" kern="0" dirty="0">
                <a:latin typeface="Times New Roman" panose="02020603050405020304" charset="0"/>
                <a:ea typeface="宋体" panose="02010600030101010101" pitchFamily="2" charset="-122"/>
                <a:cs typeface="Times New Roman" panose="02020603050405020304" charset="0"/>
              </a:rPr>
              <a:t>ICMP 允许主机或路由器报告差错情况和提供有关异常情况的报告；ICMP也常用来测试网络</a:t>
            </a:r>
            <a:endParaRPr lang="en-US" altLang="zh-CN" sz="2400" kern="0" dirty="0">
              <a:latin typeface="Times New Roman" panose="02020603050405020304" charset="0"/>
              <a:ea typeface="宋体" panose="02010600030101010101" pitchFamily="2" charset="-122"/>
              <a:cs typeface="Times New Roman" panose="02020603050405020304" charset="0"/>
            </a:endParaRPr>
          </a:p>
          <a:p>
            <a:pPr algn="l" eaLnBrk="1" fontAlgn="auto" hangingPunct="1">
              <a:lnSpc>
                <a:spcPct val="150000"/>
              </a:lnSpc>
              <a:spcBef>
                <a:spcPts val="0"/>
              </a:spcBef>
              <a:buSzTx/>
              <a:buFont typeface="Wingdings" panose="05000000000000000000" charset="0"/>
              <a:buChar char="p"/>
            </a:pPr>
            <a:r>
              <a:rPr lang="en-US" altLang="zh-CN" sz="2400" kern="0" dirty="0">
                <a:latin typeface="Times New Roman" panose="02020603050405020304" charset="0"/>
                <a:ea typeface="宋体" panose="02010600030101010101" pitchFamily="2" charset="-122"/>
                <a:cs typeface="Times New Roman" panose="02020603050405020304" charset="0"/>
              </a:rPr>
              <a:t>ICMP 报文不直接传送给数据链路层，而是先封装成IP 数据报后再传送给数据链路层，协议字段值 =1</a:t>
            </a:r>
            <a:endParaRPr lang="en-US" altLang="zh-CN" sz="2400" kern="0" dirty="0">
              <a:latin typeface="Times New Roman" panose="02020603050405020304" charset="0"/>
              <a:ea typeface="宋体" panose="02010600030101010101" pitchFamily="2" charset="-122"/>
              <a:cs typeface="Times New Roman" panose="02020603050405020304" charset="0"/>
            </a:endParaRPr>
          </a:p>
          <a:p>
            <a:pPr marL="342900" lvl="1" indent="-342900" algn="l" eaLnBrk="1" fontAlgn="auto" hangingPunct="1">
              <a:lnSpc>
                <a:spcPct val="150000"/>
              </a:lnSpc>
              <a:spcBef>
                <a:spcPts val="0"/>
              </a:spcBef>
              <a:buSzTx/>
              <a:buFont typeface="Wingdings" panose="05000000000000000000" charset="0"/>
              <a:buChar char="p"/>
            </a:pPr>
            <a:r>
              <a:rPr lang="en-US" altLang="zh-CN" sz="2400" kern="0" dirty="0">
                <a:latin typeface="Times New Roman" panose="02020603050405020304" charset="0"/>
                <a:ea typeface="宋体" panose="02010600030101010101" pitchFamily="2" charset="-122"/>
                <a:cs typeface="Times New Roman" panose="02020603050405020304" charset="0"/>
                <a:sym typeface="+mn-ea"/>
              </a:rPr>
              <a:t>ICMP是IP协议组成部分，它起辅助IP的作用。然而，ICMP数据包是作为载荷携带在IP数据包中的。从该角度来讲，ICMP看起来是上层协议。</a:t>
            </a:r>
            <a:endParaRPr lang="en-US" altLang="zh-CN" sz="2400" b="1" kern="0" dirty="0">
              <a:latin typeface="Times New Roman" panose="02020603050405020304" charset="0"/>
              <a:ea typeface="宋体" panose="02010600030101010101" pitchFamily="2" charset="-122"/>
              <a:cs typeface="Times New Roman" panose="02020603050405020304" charset="0"/>
            </a:endParaRPr>
          </a:p>
          <a:p>
            <a:pPr algn="l">
              <a:lnSpc>
                <a:spcPct val="150000"/>
              </a:lnSpc>
            </a:pPr>
            <a:endParaRPr lang="zh-CN" altLang="zh-CN" sz="24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.1 </a:t>
            </a:r>
            <a:r>
              <a:rPr lang="en-US" altLang="zh-CN" sz="4000" dirty="0">
                <a:latin typeface="+mj-ea"/>
                <a:sym typeface="+mn-ea"/>
              </a:rPr>
              <a:t>ICMP</a:t>
            </a:r>
            <a:r>
              <a:rPr lang="zh-CN" altLang="en-US" sz="4000" dirty="0">
                <a:latin typeface="+mj-ea"/>
                <a:sym typeface="+mn-ea"/>
              </a:rPr>
              <a:t>报文</a:t>
            </a:r>
            <a:endParaRPr lang="zh-CN" altLang="en-US" sz="4000" dirty="0">
              <a:latin typeface="+mj-ea"/>
              <a:sym typeface="+mn-ea"/>
            </a:endParaRPr>
          </a:p>
        </p:txBody>
      </p:sp>
      <p:sp>
        <p:nvSpPr>
          <p:cNvPr id="3" name="文本框 2"/>
          <p:cNvSpPr txBox="1"/>
          <p:nvPr/>
        </p:nvSpPr>
        <p:spPr>
          <a:xfrm>
            <a:off x="31750" y="979170"/>
            <a:ext cx="12160250" cy="2908300"/>
          </a:xfrm>
          <a:prstGeom prst="rect">
            <a:avLst/>
          </a:prstGeom>
          <a:noFill/>
        </p:spPr>
        <p:txBody>
          <a:bodyPr wrap="square" rtlCol="0" anchor="t">
            <a:noAutofit/>
          </a:bodyPr>
          <a:p>
            <a:pPr marL="342900" indent="-342900" algn="l">
              <a:lnSpc>
                <a:spcPct val="150000"/>
              </a:lnSpc>
              <a:spcBef>
                <a:spcPts val="0"/>
              </a:spcBef>
              <a:buClr>
                <a:srgbClr val="DF4F21"/>
              </a:buClr>
              <a:buSzTx/>
              <a:buFont typeface="Wingdings" panose="05000000000000000000" charset="0"/>
              <a:buChar char="p"/>
            </a:pPr>
            <a:r>
              <a:rPr lang="en-US" altLang="zh-CN" sz="2400" b="1" kern="0" dirty="0">
                <a:latin typeface="Times New Roman" panose="02020603050405020304" charset="0"/>
                <a:ea typeface="宋体" panose="02010600030101010101" pitchFamily="2" charset="-122"/>
                <a:cs typeface="Times New Roman" panose="02020603050405020304" charset="0"/>
                <a:sym typeface="+mn-ea"/>
              </a:rPr>
              <a:t>ICMP报文由首部和数据组成，首部的前4个字节是统一格式，由类型、代码和校验和构成；接着的4个字节的内容与ICMP的类型有关。数据字段的长度取决于ICMP的类型。</a:t>
            </a:r>
            <a:endParaRPr lang="en-US" altLang="zh-CN" sz="2400" b="1" kern="0" dirty="0">
              <a:latin typeface="Times New Roman" panose="02020603050405020304" charset="0"/>
              <a:ea typeface="宋体" panose="02010600030101010101" pitchFamily="2" charset="-122"/>
              <a:cs typeface="Times New Roman" panose="02020603050405020304" charset="0"/>
              <a:sym typeface="+mn-ea"/>
            </a:endParaRPr>
          </a:p>
          <a:p>
            <a:pPr marL="342900" lvl="1" indent="-342900" algn="l">
              <a:lnSpc>
                <a:spcPct val="150000"/>
              </a:lnSpc>
              <a:spcBef>
                <a:spcPts val="0"/>
              </a:spcBef>
              <a:buClr>
                <a:srgbClr val="DF4F21"/>
              </a:buClr>
              <a:buSzTx/>
              <a:buFont typeface="Wingdings" panose="05000000000000000000" charset="0"/>
              <a:buChar char="p"/>
            </a:pPr>
            <a:endParaRPr lang="en-US" altLang="zh-CN" sz="2400" b="1" kern="0" dirty="0">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4" name="对象 -2147482614"/>
          <p:cNvGraphicFramePr/>
          <p:nvPr/>
        </p:nvGraphicFramePr>
        <p:xfrm>
          <a:off x="744220" y="2329815"/>
          <a:ext cx="9864090" cy="2690495"/>
        </p:xfrm>
        <a:graphic>
          <a:graphicData uri="http://schemas.openxmlformats.org/presentationml/2006/ole">
            <mc:AlternateContent xmlns:mc="http://schemas.openxmlformats.org/markup-compatibility/2006">
              <mc:Choice xmlns:v="urn:schemas-microsoft-com:vml" Requires="v">
                <p:oleObj spid="_x0000_s3076" name="" r:id="rId1" imgW="5872480" imgH="1619250" progId="Visio.Drawing.15">
                  <p:embed/>
                </p:oleObj>
              </mc:Choice>
              <mc:Fallback>
                <p:oleObj name="" r:id="rId1" imgW="5872480" imgH="1619250" progId="Visio.Drawing.15">
                  <p:embed/>
                  <p:pic>
                    <p:nvPicPr>
                      <p:cNvPr id="0" name="图片 3075"/>
                      <p:cNvPicPr/>
                      <p:nvPr/>
                    </p:nvPicPr>
                    <p:blipFill>
                      <a:blip r:embed="rId2"/>
                      <a:stretch>
                        <a:fillRect/>
                      </a:stretch>
                    </p:blipFill>
                    <p:spPr>
                      <a:xfrm>
                        <a:off x="744220" y="2329815"/>
                        <a:ext cx="9864090" cy="2690495"/>
                      </a:xfrm>
                      <a:prstGeom prst="rect">
                        <a:avLst/>
                      </a:prstGeom>
                      <a:noFill/>
                      <a:ln w="38100">
                        <a:noFill/>
                        <a:miter/>
                      </a:ln>
                    </p:spPr>
                  </p:pic>
                </p:oleObj>
              </mc:Fallback>
            </mc:AlternateContent>
          </a:graphicData>
        </a:graphic>
      </p:graphicFrame>
      <p:sp>
        <p:nvSpPr>
          <p:cNvPr id="5" name="文本框 4"/>
          <p:cNvSpPr txBox="1"/>
          <p:nvPr/>
        </p:nvSpPr>
        <p:spPr>
          <a:xfrm>
            <a:off x="5267960" y="5235575"/>
            <a:ext cx="2018665" cy="553085"/>
          </a:xfrm>
          <a:prstGeom prst="rect">
            <a:avLst/>
          </a:prstGeom>
        </p:spPr>
        <p:txBody>
          <a:bodyPr wrap="square">
            <a:spAutoFit/>
          </a:bodyPr>
          <a:p>
            <a:pPr marL="0" indent="127000" algn="just" defTabSz="266700">
              <a:lnSpc>
                <a:spcPct val="150000"/>
              </a:lnSpc>
              <a:spcBef>
                <a:spcPct val="0"/>
              </a:spcBef>
              <a:spcAft>
                <a:spcPct val="0"/>
              </a:spcAft>
            </a:pPr>
            <a:r>
              <a:rPr lang="en-US" altLang="zh-CN" sz="2000" b="1" i="0">
                <a:latin typeface="Times New Roman" panose="02020603050405020304"/>
                <a:ea typeface="Times New Roman" panose="02020603050405020304"/>
              </a:rPr>
              <a:t>ICMP</a:t>
            </a:r>
            <a:r>
              <a:rPr lang="zh-CN" altLang="en-US" sz="2000" b="1" i="0">
                <a:latin typeface="Times New Roman" panose="02020603050405020304"/>
                <a:ea typeface="宋体" panose="02010600030101010101" pitchFamily="2" charset="-122"/>
              </a:rPr>
              <a:t>报文首部</a:t>
            </a:r>
            <a:endParaRPr lang="zh-CN" altLang="en-US" sz="2000" b="1" i="0">
              <a:latin typeface="Times New Roman" panose="020206030504050203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.2 </a:t>
            </a:r>
            <a:r>
              <a:rPr lang="en-US" altLang="zh-CN" sz="4000" dirty="0">
                <a:latin typeface="+mj-ea"/>
                <a:sym typeface="+mn-ea"/>
              </a:rPr>
              <a:t>ICMP</a:t>
            </a:r>
            <a:r>
              <a:rPr lang="zh-CN" altLang="en-US" sz="4000" dirty="0">
                <a:latin typeface="+mj-ea"/>
                <a:sym typeface="+mn-ea"/>
              </a:rPr>
              <a:t>重定向攻击与防御</a:t>
            </a:r>
            <a:endParaRPr lang="zh-CN" altLang="en-US" sz="4000" dirty="0">
              <a:latin typeface="+mj-ea"/>
              <a:sym typeface="+mn-ea"/>
            </a:endParaRPr>
          </a:p>
        </p:txBody>
      </p:sp>
      <p:sp>
        <p:nvSpPr>
          <p:cNvPr id="11" name="文本框 10"/>
          <p:cNvSpPr txBox="1"/>
          <p:nvPr/>
        </p:nvSpPr>
        <p:spPr>
          <a:xfrm>
            <a:off x="420370" y="1298575"/>
            <a:ext cx="11351260" cy="3719830"/>
          </a:xfrm>
          <a:prstGeom prst="rect">
            <a:avLst/>
          </a:prstGeom>
          <a:noFill/>
        </p:spPr>
        <p:txBody>
          <a:bodyPr wrap="square" rtlCol="0">
            <a:noAutofit/>
          </a:bodyPr>
          <a:p>
            <a:pPr marL="342900" indent="-342900">
              <a:lnSpc>
                <a:spcPct val="150000"/>
              </a:lnSpc>
              <a:spcBef>
                <a:spcPts val="0"/>
              </a:spcBef>
              <a:buClr>
                <a:srgbClr val="DF4F21"/>
              </a:buClr>
              <a:buSzTx/>
              <a:buFont typeface="Wingdings" panose="05000000000000000000" charset="0"/>
              <a:buChar char="p"/>
            </a:pPr>
            <a:r>
              <a:rPr lang="zh-CN" altLang="en-US" sz="2800" b="1" spc="5" dirty="0">
                <a:latin typeface="宋体" panose="02010600030101010101" pitchFamily="2" charset="-122"/>
                <a:ea typeface="宋体" panose="02010600030101010101" pitchFamily="2" charset="-122"/>
                <a:cs typeface="宋体" panose="02010600030101010101" pitchFamily="2" charset="-122"/>
                <a:sym typeface="+mn-ea"/>
              </a:rPr>
              <a:t>定义：</a:t>
            </a:r>
            <a:r>
              <a:rPr lang="en-US" altLang="zh-CN" sz="2800" b="1" spc="5" dirty="0">
                <a:latin typeface="宋体" panose="02010600030101010101" pitchFamily="2" charset="-122"/>
                <a:ea typeface="宋体" panose="02010600030101010101" pitchFamily="2" charset="-122"/>
                <a:cs typeface="宋体" panose="02010600030101010101" pitchFamily="2" charset="-122"/>
                <a:sym typeface="+mn-ea"/>
              </a:rPr>
              <a:t>ICMP</a:t>
            </a:r>
            <a:r>
              <a:rPr lang="zh-CN" altLang="en-US" sz="2800" b="1" spc="5" dirty="0">
                <a:latin typeface="宋体" panose="02010600030101010101" pitchFamily="2" charset="-122"/>
                <a:ea typeface="宋体" panose="02010600030101010101" pitchFamily="2" charset="-122"/>
                <a:cs typeface="宋体" panose="02010600030101010101" pitchFamily="2" charset="-122"/>
                <a:sym typeface="+mn-ea"/>
              </a:rPr>
              <a:t>重定向攻击是指攻击者伪装成路由器发送虚假的</a:t>
            </a:r>
            <a:r>
              <a:rPr lang="en-US" altLang="zh-CN" sz="2800" b="1" spc="5" dirty="0">
                <a:latin typeface="宋体" panose="02010600030101010101" pitchFamily="2" charset="-122"/>
                <a:ea typeface="宋体" panose="02010600030101010101" pitchFamily="2" charset="-122"/>
                <a:cs typeface="宋体" panose="02010600030101010101" pitchFamily="2" charset="-122"/>
                <a:sym typeface="+mn-ea"/>
              </a:rPr>
              <a:t>ICMP</a:t>
            </a:r>
            <a:r>
              <a:rPr lang="zh-CN" altLang="en-US" sz="2800" b="1" spc="5" dirty="0">
                <a:latin typeface="宋体" panose="02010600030101010101" pitchFamily="2" charset="-122"/>
                <a:ea typeface="宋体" panose="02010600030101010101" pitchFamily="2" charset="-122"/>
                <a:cs typeface="宋体" panose="02010600030101010101" pitchFamily="2" charset="-122"/>
                <a:sym typeface="+mn-ea"/>
              </a:rPr>
              <a:t>重定向报文，使得受害主机选择攻击者指定的路由路径，从而进行嗅探或假冒攻击的一种技术。</a:t>
            </a:r>
            <a:endParaRPr lang="zh-CN" altLang="en-US" sz="2800" b="1" spc="5" dirty="0">
              <a:latin typeface="宋体" panose="02010600030101010101" pitchFamily="2" charset="-122"/>
              <a:ea typeface="宋体" panose="02010600030101010101" pitchFamily="2" charset="-122"/>
              <a:cs typeface="宋体" panose="02010600030101010101" pitchFamily="2" charset="-122"/>
              <a:sym typeface="+mn-ea"/>
            </a:endParaRPr>
          </a:p>
          <a:p>
            <a:pPr marL="342900" indent="-342900">
              <a:lnSpc>
                <a:spcPct val="150000"/>
              </a:lnSpc>
              <a:spcBef>
                <a:spcPts val="0"/>
              </a:spcBef>
              <a:buClr>
                <a:srgbClr val="DF4F21"/>
              </a:buClr>
              <a:buSzTx/>
              <a:buFont typeface="Wingdings" panose="05000000000000000000" charset="0"/>
              <a:buChar char="p"/>
            </a:pPr>
            <a:r>
              <a:rPr lang="zh-CN" altLang="en-US" sz="2800" b="1" spc="5" dirty="0">
                <a:latin typeface="宋体" panose="02010600030101010101" pitchFamily="2" charset="-122"/>
                <a:ea typeface="宋体" panose="02010600030101010101" pitchFamily="2" charset="-122"/>
                <a:cs typeface="宋体" panose="02010600030101010101" pitchFamily="2" charset="-122"/>
                <a:sym typeface="+mn-ea"/>
              </a:rPr>
              <a:t>原理：</a:t>
            </a:r>
            <a:r>
              <a:rPr lang="en-US" altLang="zh-CN" sz="2800" b="1">
                <a:latin typeface="宋体" panose="02010600030101010101" pitchFamily="2" charset="-122"/>
                <a:ea typeface="宋体" panose="02010600030101010101" pitchFamily="2" charset="-122"/>
                <a:cs typeface="宋体" panose="02010600030101010101" pitchFamily="2" charset="-122"/>
              </a:rPr>
              <a:t>ICMP</a:t>
            </a:r>
            <a:r>
              <a:rPr lang="zh-CN" altLang="en-US" sz="2800" b="1">
                <a:latin typeface="宋体" panose="02010600030101010101" pitchFamily="2" charset="-122"/>
                <a:ea typeface="宋体" panose="02010600030101010101" pitchFamily="2" charset="-122"/>
                <a:cs typeface="宋体" panose="02010600030101010101" pitchFamily="2" charset="-122"/>
              </a:rPr>
              <a:t>重定向攻击是一种利用</a:t>
            </a:r>
            <a:r>
              <a:rPr lang="en-US" altLang="zh-CN" sz="2800" b="1">
                <a:latin typeface="宋体" panose="02010600030101010101" pitchFamily="2" charset="-122"/>
                <a:ea typeface="宋体" panose="02010600030101010101" pitchFamily="2" charset="-122"/>
                <a:cs typeface="宋体" panose="02010600030101010101" pitchFamily="2" charset="-122"/>
              </a:rPr>
              <a:t>ICMP</a:t>
            </a:r>
            <a:r>
              <a:rPr lang="zh-CN" altLang="en-US" sz="2800" b="1">
                <a:latin typeface="宋体" panose="02010600030101010101" pitchFamily="2" charset="-122"/>
                <a:ea typeface="宋体" panose="02010600030101010101" pitchFamily="2" charset="-122"/>
                <a:cs typeface="宋体" panose="02010600030101010101" pitchFamily="2" charset="-122"/>
              </a:rPr>
              <a:t>消息来欺骗网络设备，改变其路由决策的攻击手法。它利用</a:t>
            </a:r>
            <a:r>
              <a:rPr lang="en-US" altLang="zh-CN" sz="2800" b="1">
                <a:latin typeface="宋体" panose="02010600030101010101" pitchFamily="2" charset="-122"/>
                <a:ea typeface="宋体" panose="02010600030101010101" pitchFamily="2" charset="-122"/>
                <a:cs typeface="宋体" panose="02010600030101010101" pitchFamily="2" charset="-122"/>
              </a:rPr>
              <a:t>ICMP</a:t>
            </a:r>
            <a:r>
              <a:rPr lang="zh-CN" altLang="en-US" sz="2800" b="1">
                <a:latin typeface="宋体" panose="02010600030101010101" pitchFamily="2" charset="-122"/>
                <a:ea typeface="宋体" panose="02010600030101010101" pitchFamily="2" charset="-122"/>
                <a:cs typeface="宋体" panose="02010600030101010101" pitchFamily="2" charset="-122"/>
              </a:rPr>
              <a:t>重定向消息，向目标主机发送虚假的路由信息，迫使目标主机改变其路由表中的默认网关或特定主机的路由，从而使流量被重定向到攻击者控制的设备或网络节点上。</a:t>
            </a:r>
            <a:endParaRPr lang="zh-CN" altLang="en-US" sz="28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822642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 </a:t>
            </a:r>
            <a:r>
              <a:rPr lang="en-US" altLang="zh-CN" sz="4000" dirty="0">
                <a:latin typeface="+mj-ea"/>
                <a:sym typeface="+mn-ea"/>
              </a:rPr>
              <a:t>ICMP </a:t>
            </a:r>
            <a:r>
              <a:rPr lang="zh-CN" altLang="en-US" sz="4000" dirty="0">
                <a:latin typeface="+mj-ea"/>
                <a:sym typeface="+mn-ea"/>
              </a:rPr>
              <a:t>隧道攻击与防御</a:t>
            </a:r>
            <a:endParaRPr lang="zh-CN" altLang="en-US" sz="4000" dirty="0">
              <a:latin typeface="+mj-ea"/>
              <a:sym typeface="+mn-ea"/>
            </a:endParaRPr>
          </a:p>
        </p:txBody>
      </p:sp>
      <p:sp>
        <p:nvSpPr>
          <p:cNvPr id="112643" name="Rectangle 3"/>
          <p:cNvSpPr>
            <a:spLocks noGrp="1" noChangeArrowheads="1"/>
          </p:cNvSpPr>
          <p:nvPr/>
        </p:nvSpPr>
        <p:spPr>
          <a:xfrm>
            <a:off x="226695" y="1259205"/>
            <a:ext cx="11784965" cy="3407410"/>
          </a:xfr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宋体" panose="02010600030101010101" pitchFamily="2" charset="-122"/>
                <a:ea typeface="+mn-ea"/>
                <a:cs typeface="宋体" panose="02010600030101010101"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l" latinLnBrk="0">
              <a:lnSpc>
                <a:spcPct val="150000"/>
              </a:lnSpc>
              <a:spcBef>
                <a:spcPts val="0"/>
              </a:spcBef>
              <a:buClr>
                <a:srgbClr val="DF4F21"/>
              </a:buClr>
              <a:buSzTx/>
              <a:buFont typeface="Wingdings" panose="05000000000000000000" charset="0"/>
              <a:buChar char="p"/>
            </a:pP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隧道攻击利用</a:t>
            </a: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协议的报文结构特性，将数据封装在</a:t>
            </a: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消息中进行传输。一般情况下，</a:t>
            </a: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协议主要用于网络控制和故障排除，例如</a:t>
            </a:r>
            <a:r>
              <a:rPr lang="en-US" altLang="zh-CN" sz="2400" b="1" kern="0" dirty="0">
                <a:latin typeface="Times New Roman" panose="02020603050405020304" charset="0"/>
                <a:ea typeface="宋体" panose="02010600030101010101" pitchFamily="2" charset="-122"/>
                <a:cs typeface="Times New Roman" panose="02020603050405020304" charset="0"/>
              </a:rPr>
              <a:t>Ping</a:t>
            </a:r>
            <a:r>
              <a:rPr lang="zh-CN" altLang="en-US" sz="2400" b="1" kern="0" dirty="0">
                <a:latin typeface="Times New Roman" panose="02020603050405020304" charset="0"/>
                <a:ea typeface="宋体" panose="02010600030101010101" pitchFamily="2" charset="-122"/>
                <a:cs typeface="Times New Roman" panose="02020603050405020304" charset="0"/>
              </a:rPr>
              <a:t>命令和网络不可达消息。攻击者利用</a:t>
            </a: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隧道技术可以将恶意数据或指令传输到目标主机，同时可以绕过防火墙、入侵检测系统（</a:t>
            </a:r>
            <a:r>
              <a:rPr lang="en-US" altLang="zh-CN" sz="2400" b="1" kern="0" dirty="0">
                <a:latin typeface="Times New Roman" panose="02020603050405020304" charset="0"/>
                <a:ea typeface="宋体" panose="02010600030101010101" pitchFamily="2" charset="-122"/>
                <a:cs typeface="Times New Roman" panose="02020603050405020304" charset="0"/>
              </a:rPr>
              <a:t>IDS</a:t>
            </a:r>
            <a:r>
              <a:rPr lang="zh-CN" altLang="en-US" sz="2400" b="1" kern="0" dirty="0">
                <a:latin typeface="Times New Roman" panose="02020603050405020304" charset="0"/>
                <a:ea typeface="宋体" panose="02010600030101010101" pitchFamily="2" charset="-122"/>
                <a:cs typeface="Times New Roman" panose="02020603050405020304" charset="0"/>
              </a:rPr>
              <a:t>）和其他网络安全设备的检测。</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marL="342900" indent="-342900" algn="l" latinLnBrk="0">
              <a:lnSpc>
                <a:spcPct val="150000"/>
              </a:lnSpc>
              <a:spcBef>
                <a:spcPts val="0"/>
              </a:spcBef>
              <a:buClr>
                <a:srgbClr val="DF4F21"/>
              </a:buClr>
              <a:buSzTx/>
              <a:buFont typeface="Wingdings" panose="05000000000000000000" charset="0"/>
              <a:buChar char="p"/>
            </a:pPr>
            <a:r>
              <a:rPr lang="zh-CN" altLang="en-US" sz="2400" b="1" kern="0" dirty="0">
                <a:latin typeface="Times New Roman" panose="02020603050405020304" charset="0"/>
                <a:ea typeface="宋体" panose="02010600030101010101" pitchFamily="2" charset="-122"/>
                <a:cs typeface="Times New Roman" panose="02020603050405020304" charset="0"/>
              </a:rPr>
              <a:t>攻击者往往会将数据封装在</a:t>
            </a:r>
            <a:r>
              <a:rPr lang="en-US" altLang="zh-CN" sz="2400" b="1" kern="0" dirty="0">
                <a:latin typeface="Times New Roman" panose="02020603050405020304" charset="0"/>
                <a:ea typeface="宋体" panose="02010600030101010101" pitchFamily="2" charset="-122"/>
                <a:cs typeface="Times New Roman" panose="02020603050405020304" charset="0"/>
              </a:rPr>
              <a:t>ICMP </a:t>
            </a:r>
            <a:r>
              <a:rPr lang="zh-CN" altLang="en-US" sz="2400" b="1" kern="0" dirty="0">
                <a:latin typeface="Times New Roman" panose="02020603050405020304" charset="0"/>
                <a:ea typeface="宋体" panose="02010600030101010101" pitchFamily="2" charset="-122"/>
                <a:cs typeface="Times New Roman" panose="02020603050405020304" charset="0"/>
              </a:rPr>
              <a:t>协议的数据包内，</a:t>
            </a:r>
            <a:r>
              <a:rPr lang="en-US" altLang="zh-CN" sz="2400" b="1" kern="0" dirty="0">
                <a:solidFill>
                  <a:schemeClr val="accent2"/>
                </a:solidFill>
                <a:latin typeface="Times New Roman" panose="02020603050405020304" charset="0"/>
                <a:ea typeface="宋体" panose="02010600030101010101" pitchFamily="2" charset="-122"/>
                <a:cs typeface="Times New Roman" panose="02020603050405020304" charset="0"/>
              </a:rPr>
              <a:t>ICMP</a:t>
            </a:r>
            <a:r>
              <a:rPr lang="zh-CN" altLang="en-US" sz="2400" b="1" kern="0" dirty="0">
                <a:solidFill>
                  <a:schemeClr val="accent2"/>
                </a:solidFill>
                <a:latin typeface="Times New Roman" panose="02020603050405020304" charset="0"/>
                <a:ea typeface="宋体" panose="02010600030101010101" pitchFamily="2" charset="-122"/>
                <a:cs typeface="Times New Roman" panose="02020603050405020304" charset="0"/>
              </a:rPr>
              <a:t>数据包的数据部分其实是没有意义的，仅用于测试，由系统默认生成</a:t>
            </a:r>
            <a:r>
              <a:rPr lang="zh-CN" altLang="en-US" sz="2400" b="1" kern="0" dirty="0">
                <a:latin typeface="Times New Roman" panose="02020603050405020304" charset="0"/>
                <a:ea typeface="宋体" panose="02010600030101010101" pitchFamily="2" charset="-122"/>
                <a:cs typeface="Times New Roman" panose="02020603050405020304" charset="0"/>
              </a:rPr>
              <a:t>。而利用</a:t>
            </a: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协议作为隧道，就是将这些数据部分更改为需要的数据，同时在</a:t>
            </a:r>
            <a:r>
              <a:rPr lang="en-US" altLang="zh-CN" sz="2400" b="1" kern="0" dirty="0">
                <a:latin typeface="Times New Roman" panose="02020603050405020304" charset="0"/>
                <a:ea typeface="宋体" panose="02010600030101010101" pitchFamily="2" charset="-122"/>
                <a:cs typeface="Times New Roman" panose="02020603050405020304" charset="0"/>
              </a:rPr>
              <a:t>“</a:t>
            </a:r>
            <a:r>
              <a:rPr lang="zh-CN" altLang="en-US" sz="2400" b="1" kern="0" dirty="0">
                <a:latin typeface="Times New Roman" panose="02020603050405020304" charset="0"/>
                <a:ea typeface="宋体" panose="02010600030101010101" pitchFamily="2" charset="-122"/>
                <a:cs typeface="Times New Roman" panose="02020603050405020304" charset="0"/>
              </a:rPr>
              <a:t>校验和</a:t>
            </a:r>
            <a:r>
              <a:rPr lang="en-US" altLang="zh-CN" sz="2400" b="1" kern="0" dirty="0">
                <a:latin typeface="Times New Roman" panose="02020603050405020304" charset="0"/>
                <a:ea typeface="宋体" panose="02010600030101010101" pitchFamily="2" charset="-122"/>
                <a:cs typeface="Times New Roman" panose="02020603050405020304" charset="0"/>
              </a:rPr>
              <a:t>”</a:t>
            </a:r>
            <a:r>
              <a:rPr lang="zh-CN" altLang="en-US" sz="2400" b="1" kern="0" dirty="0">
                <a:latin typeface="Times New Roman" panose="02020603050405020304" charset="0"/>
                <a:ea typeface="宋体" panose="02010600030101010101" pitchFamily="2" charset="-122"/>
                <a:cs typeface="Times New Roman" panose="02020603050405020304" charset="0"/>
              </a:rPr>
              <a:t>等字段作相应的处理。</a:t>
            </a:r>
            <a:endParaRPr lang="zh-CN" altLang="en-US" sz="2400" b="1" kern="0"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1025334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 </a:t>
            </a:r>
            <a:r>
              <a:rPr lang="en-US" altLang="zh-CN" sz="4000" dirty="0">
                <a:latin typeface="+mj-ea"/>
                <a:sym typeface="+mn-ea"/>
              </a:rPr>
              <a:t>ICMP Flood </a:t>
            </a:r>
            <a:r>
              <a:rPr lang="zh-CN" altLang="en-US" sz="4000" dirty="0">
                <a:latin typeface="+mj-ea"/>
                <a:sym typeface="+mn-ea"/>
              </a:rPr>
              <a:t>攻击与防御</a:t>
            </a:r>
            <a:endParaRPr lang="zh-CN" altLang="en-US" sz="4000" dirty="0">
              <a:latin typeface="+mj-ea"/>
              <a:sym typeface="+mn-ea"/>
            </a:endParaRPr>
          </a:p>
        </p:txBody>
      </p:sp>
      <p:sp>
        <p:nvSpPr>
          <p:cNvPr id="112643" name="Rectangle 3"/>
          <p:cNvSpPr>
            <a:spLocks noGrp="1" noChangeArrowheads="1"/>
          </p:cNvSpPr>
          <p:nvPr/>
        </p:nvSpPr>
        <p:spPr>
          <a:xfrm>
            <a:off x="198120" y="1264285"/>
            <a:ext cx="11795760" cy="4890135"/>
          </a:xfr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宋体" panose="02010600030101010101" pitchFamily="2" charset="-122"/>
                <a:ea typeface="+mn-ea"/>
                <a:cs typeface="宋体" panose="02010600030101010101" pitchFamily="2"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l" latinLnBrk="0">
              <a:lnSpc>
                <a:spcPct val="150000"/>
              </a:lnSpc>
              <a:spcBef>
                <a:spcPts val="0"/>
              </a:spcBef>
              <a:buClr>
                <a:srgbClr val="DF4F21"/>
              </a:buClr>
              <a:buSzTx/>
              <a:buFont typeface="Wingdings" panose="05000000000000000000" charset="0"/>
              <a:buChar char="p"/>
            </a:pPr>
            <a:r>
              <a:rPr lang="en-US" altLang="zh-CN" sz="2400" b="1" kern="0" dirty="0">
                <a:latin typeface="Times New Roman" panose="02020603050405020304" charset="0"/>
                <a:ea typeface="宋体" panose="02010600030101010101" pitchFamily="2" charset="-122"/>
                <a:cs typeface="Times New Roman" panose="02020603050405020304" charset="0"/>
              </a:rPr>
              <a:t>ICMP Flood</a:t>
            </a:r>
            <a:r>
              <a:rPr lang="zh-CN" altLang="en-US" sz="2400" b="1" kern="0" dirty="0">
                <a:latin typeface="Times New Roman" panose="02020603050405020304" charset="0"/>
                <a:ea typeface="宋体" panose="02010600030101010101" pitchFamily="2" charset="-122"/>
                <a:cs typeface="Times New Roman" panose="02020603050405020304" charset="0"/>
              </a:rPr>
              <a:t>攻击利用</a:t>
            </a: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协议的特性，特别是</a:t>
            </a:r>
            <a:r>
              <a:rPr lang="en-US" altLang="zh-CN" sz="2400" b="1" kern="0" dirty="0">
                <a:latin typeface="Times New Roman" panose="02020603050405020304" charset="0"/>
                <a:ea typeface="宋体" panose="02010600030101010101" pitchFamily="2" charset="-122"/>
                <a:cs typeface="Times New Roman" panose="02020603050405020304" charset="0"/>
              </a:rPr>
              <a:t>Echo</a:t>
            </a:r>
            <a:r>
              <a:rPr lang="zh-CN" altLang="en-US" sz="2400" b="1" kern="0" dirty="0">
                <a:latin typeface="Times New Roman" panose="02020603050405020304" charset="0"/>
                <a:ea typeface="宋体" panose="02010600030101010101" pitchFamily="2" charset="-122"/>
                <a:cs typeface="Times New Roman" panose="02020603050405020304" charset="0"/>
              </a:rPr>
              <a:t>请求和响应消息（</a:t>
            </a:r>
            <a:r>
              <a:rPr lang="en-US" altLang="zh-CN" sz="2400" b="1" kern="0" dirty="0">
                <a:latin typeface="Times New Roman" panose="02020603050405020304" charset="0"/>
                <a:ea typeface="宋体" panose="02010600030101010101" pitchFamily="2" charset="-122"/>
                <a:cs typeface="Times New Roman" panose="02020603050405020304" charset="0"/>
              </a:rPr>
              <a:t>Ping</a:t>
            </a:r>
            <a:r>
              <a:rPr lang="zh-CN" altLang="en-US" sz="2400" b="1" kern="0" dirty="0">
                <a:latin typeface="Times New Roman" panose="02020603050405020304" charset="0"/>
                <a:ea typeface="宋体" panose="02010600030101010101" pitchFamily="2" charset="-122"/>
                <a:cs typeface="Times New Roman" panose="02020603050405020304" charset="0"/>
              </a:rPr>
              <a:t>），以及其他</a:t>
            </a: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消息类型（如</a:t>
            </a:r>
            <a:r>
              <a:rPr lang="en-US" altLang="zh-CN" sz="2400" b="1" kern="0" dirty="0">
                <a:latin typeface="Times New Roman" panose="02020603050405020304" charset="0"/>
                <a:ea typeface="宋体" panose="02010600030101010101" pitchFamily="2" charset="-122"/>
                <a:cs typeface="Times New Roman" panose="02020603050405020304" charset="0"/>
              </a:rPr>
              <a:t>Destination Unreachable</a:t>
            </a:r>
            <a:r>
              <a:rPr lang="zh-CN" altLang="en-US" sz="2400" b="1" kern="0" dirty="0">
                <a:latin typeface="Times New Roman" panose="02020603050405020304" charset="0"/>
                <a:ea typeface="宋体" panose="02010600030101010101" pitchFamily="2" charset="-122"/>
                <a:cs typeface="Times New Roman" panose="02020603050405020304" charset="0"/>
              </a:rPr>
              <a:t>、</a:t>
            </a:r>
            <a:r>
              <a:rPr lang="en-US" altLang="zh-CN" sz="2400" b="1" kern="0" dirty="0">
                <a:latin typeface="Times New Roman" panose="02020603050405020304" charset="0"/>
                <a:ea typeface="宋体" panose="02010600030101010101" pitchFamily="2" charset="-122"/>
                <a:cs typeface="Times New Roman" panose="02020603050405020304" charset="0"/>
              </a:rPr>
              <a:t>Time Exceeded</a:t>
            </a:r>
            <a:r>
              <a:rPr lang="zh-CN" altLang="en-US" sz="2400" b="1" kern="0" dirty="0">
                <a:latin typeface="Times New Roman" panose="02020603050405020304" charset="0"/>
                <a:ea typeface="宋体" panose="02010600030101010101" pitchFamily="2" charset="-122"/>
                <a:cs typeface="Times New Roman" panose="02020603050405020304" charset="0"/>
              </a:rPr>
              <a:t>等），向目标系统发送大量的伪造</a:t>
            </a: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消息。这些消息在短时间内不断地发送到目标主机或网络设备，导致目标系统的网络带宽、</a:t>
            </a:r>
            <a:r>
              <a:rPr lang="en-US" altLang="zh-CN" sz="2400" b="1" kern="0" dirty="0">
                <a:latin typeface="Times New Roman" panose="02020603050405020304" charset="0"/>
                <a:ea typeface="宋体" panose="02010600030101010101" pitchFamily="2" charset="-122"/>
                <a:cs typeface="Times New Roman" panose="02020603050405020304" charset="0"/>
              </a:rPr>
              <a:t>CPU</a:t>
            </a:r>
            <a:r>
              <a:rPr lang="zh-CN" altLang="en-US" sz="2400" b="1" kern="0" dirty="0">
                <a:latin typeface="Times New Roman" panose="02020603050405020304" charset="0"/>
                <a:ea typeface="宋体" panose="02010600030101010101" pitchFamily="2" charset="-122"/>
                <a:cs typeface="Times New Roman" panose="02020603050405020304" charset="0"/>
              </a:rPr>
              <a:t>资源或内存资源耗尽，从而使其无法正常响应合法的网络请求。攻击者通常利用程序或工具自动化地生成和发送大量的</a:t>
            </a:r>
            <a:r>
              <a:rPr lang="en-US" altLang="zh-CN" sz="2400" b="1" kern="0" dirty="0">
                <a:latin typeface="Times New Roman" panose="02020603050405020304" charset="0"/>
                <a:ea typeface="宋体" panose="02010600030101010101" pitchFamily="2" charset="-122"/>
                <a:cs typeface="Times New Roman" panose="02020603050405020304" charset="0"/>
              </a:rPr>
              <a:t>ICMP</a:t>
            </a:r>
            <a:r>
              <a:rPr lang="zh-CN" altLang="en-US" sz="2400" b="1" kern="0" dirty="0">
                <a:latin typeface="Times New Roman" panose="02020603050405020304" charset="0"/>
                <a:ea typeface="宋体" panose="02010600030101010101" pitchFamily="2" charset="-122"/>
                <a:cs typeface="Times New Roman" panose="02020603050405020304" charset="0"/>
              </a:rPr>
              <a:t>消息，可能使用</a:t>
            </a:r>
            <a:r>
              <a:rPr lang="en-US" altLang="zh-CN" sz="2400" b="1" kern="0" dirty="0">
                <a:latin typeface="Times New Roman" panose="02020603050405020304" charset="0"/>
                <a:ea typeface="宋体" panose="02010600030101010101" pitchFamily="2" charset="-122"/>
                <a:cs typeface="Times New Roman" panose="02020603050405020304" charset="0"/>
              </a:rPr>
              <a:t>IP</a:t>
            </a:r>
            <a:r>
              <a:rPr lang="zh-CN" altLang="en-US" sz="2400" b="1" kern="0" dirty="0">
                <a:latin typeface="Times New Roman" panose="02020603050405020304" charset="0"/>
                <a:ea typeface="宋体" panose="02010600030101010101" pitchFamily="2" charset="-122"/>
                <a:cs typeface="Times New Roman" panose="02020603050405020304" charset="0"/>
              </a:rPr>
              <a:t>地址伪造技术来隐藏攻击来源，增加攻击的难以追溯性。</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marL="0" indent="0" algn="l" latinLnBrk="0">
              <a:lnSpc>
                <a:spcPct val="150000"/>
              </a:lnSpc>
              <a:spcBef>
                <a:spcPts val="0"/>
              </a:spcBef>
              <a:buClr>
                <a:srgbClr val="DF4F21"/>
              </a:buClr>
              <a:buSzTx/>
              <a:buFont typeface="Wingdings" panose="05000000000000000000" charset="0"/>
              <a:buNone/>
            </a:pPr>
            <a:endParaRPr lang="zh-CN" altLang="en-US" sz="1700" b="1" kern="0"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en-US" altLang="zh-CN" sz="4000" dirty="0">
                <a:solidFill>
                  <a:schemeClr val="bg1"/>
                </a:solidFill>
                <a:latin typeface="+mj-ea"/>
                <a:sym typeface="+mn-ea"/>
              </a:rPr>
              <a:t>ARP+ICMP协同工作</a:t>
            </a:r>
            <a:endParaRPr lang="en-US" altLang="zh-CN" sz="4000" dirty="0">
              <a:solidFill>
                <a:schemeClr val="bg1"/>
              </a:solidFill>
              <a:latin typeface="+mj-ea"/>
              <a:sym typeface="+mn-ea"/>
            </a:endParaRPr>
          </a:p>
        </p:txBody>
      </p:sp>
      <p:pic>
        <p:nvPicPr>
          <p:cNvPr id="3" name="图片 2"/>
          <p:cNvPicPr>
            <a:picLocks noChangeAspect="1"/>
          </p:cNvPicPr>
          <p:nvPr/>
        </p:nvPicPr>
        <p:blipFill>
          <a:blip r:embed="rId1"/>
          <a:stretch>
            <a:fillRect/>
          </a:stretch>
        </p:blipFill>
        <p:spPr>
          <a:xfrm>
            <a:off x="2014220" y="1186180"/>
            <a:ext cx="7515860" cy="3133090"/>
          </a:xfrm>
          <a:prstGeom prst="rect">
            <a:avLst/>
          </a:prstGeom>
        </p:spPr>
      </p:pic>
      <p:sp>
        <p:nvSpPr>
          <p:cNvPr id="4" name="文本框 3"/>
          <p:cNvSpPr txBox="1"/>
          <p:nvPr/>
        </p:nvSpPr>
        <p:spPr>
          <a:xfrm>
            <a:off x="1014095" y="4500245"/>
            <a:ext cx="10294620" cy="1753235"/>
          </a:xfrm>
          <a:prstGeom prst="rect">
            <a:avLst/>
          </a:prstGeom>
          <a:noFill/>
        </p:spPr>
        <p:txBody>
          <a:bodyPr wrap="square" rtlCol="0" anchor="t">
            <a:spAutoFit/>
          </a:bodyPr>
          <a:p>
            <a:pPr marL="342900" lvl="1" indent="-342900" algn="l">
              <a:lnSpc>
                <a:spcPct val="150000"/>
              </a:lnSpc>
              <a:spcBef>
                <a:spcPts val="0"/>
              </a:spcBef>
              <a:buClr>
                <a:srgbClr val="DF4F21"/>
              </a:buClr>
              <a:buSzTx/>
              <a:buFont typeface="Wingdings" panose="05000000000000000000" charset="0"/>
              <a:buChar char="p"/>
            </a:pPr>
            <a:r>
              <a:rPr lang="en-US" altLang="zh-CN" sz="2400" b="1" kern="0" dirty="0">
                <a:latin typeface="Times New Roman" panose="02020603050405020304" charset="0"/>
                <a:ea typeface="宋体" panose="02010600030101010101" pitchFamily="2" charset="-122"/>
                <a:cs typeface="Times New Roman" panose="02020603050405020304" charset="0"/>
                <a:sym typeface="+mn-ea"/>
              </a:rPr>
              <a:t>H1向</a:t>
            </a:r>
            <a:r>
              <a:rPr lang="en-US" altLang="zh-CN" sz="2400" b="1" kern="0" dirty="0">
                <a:latin typeface="Times New Roman" panose="02020603050405020304" charset="0"/>
                <a:ea typeface="宋体" panose="02010600030101010101" pitchFamily="2" charset="-122"/>
                <a:cs typeface="Times New Roman" panose="02020603050405020304" charset="0"/>
                <a:sym typeface="+mn-ea"/>
              </a:rPr>
              <a:t>H2、H3</a:t>
            </a:r>
            <a:r>
              <a:rPr lang="en-US" altLang="zh-CN" sz="2400" b="1" kern="0" dirty="0">
                <a:latin typeface="Times New Roman" panose="02020603050405020304" charset="0"/>
                <a:ea typeface="宋体" panose="02010600030101010101" pitchFamily="2" charset="-122"/>
                <a:cs typeface="Times New Roman" panose="02020603050405020304" charset="0"/>
                <a:sym typeface="+mn-ea"/>
              </a:rPr>
              <a:t>发送ICMP回应请求</a:t>
            </a:r>
            <a:endParaRPr lang="en-US" altLang="zh-CN" sz="2400" b="1" kern="0" dirty="0">
              <a:latin typeface="Times New Roman" panose="02020603050405020304" charset="0"/>
              <a:ea typeface="宋体" panose="02010600030101010101" pitchFamily="2" charset="-122"/>
              <a:cs typeface="Times New Roman" panose="02020603050405020304" charset="0"/>
            </a:endParaRPr>
          </a:p>
          <a:p>
            <a:pPr marL="342900" lvl="1" indent="-342900" algn="l">
              <a:lnSpc>
                <a:spcPct val="150000"/>
              </a:lnSpc>
              <a:spcBef>
                <a:spcPts val="0"/>
              </a:spcBef>
              <a:buClr>
                <a:srgbClr val="DF4F21"/>
              </a:buClr>
              <a:buSzTx/>
              <a:buFont typeface="Wingdings" panose="05000000000000000000" charset="0"/>
              <a:buChar char="p"/>
            </a:pPr>
            <a:r>
              <a:rPr lang="en-US" altLang="zh-CN" sz="2400" b="1" kern="0" dirty="0">
                <a:latin typeface="Times New Roman" panose="02020603050405020304" charset="0"/>
                <a:ea typeface="宋体" panose="02010600030101010101" pitchFamily="2" charset="-122"/>
                <a:cs typeface="Times New Roman" panose="02020603050405020304" charset="0"/>
                <a:sym typeface="+mn-ea"/>
              </a:rPr>
              <a:t>假设每个设备都设置ARP缓存，开始时清空，后续放到ARP缓存中的条目在余下的场景中将一直存在。</a:t>
            </a:r>
            <a:endParaRPr lang="en-US" altLang="zh-CN" sz="2400" b="1" kern="0" dirty="0">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5</a:t>
            </a:r>
            <a:r>
              <a:rPr lang="zh-CN" altLang="en-US" sz="4000" dirty="0">
                <a:latin typeface="+mj-ea"/>
                <a:sym typeface="+mn-ea"/>
              </a:rPr>
              <a:t>.1 </a:t>
            </a:r>
            <a:r>
              <a:rPr lang="en-US" altLang="zh-CN" sz="4000" dirty="0">
                <a:latin typeface="+mj-ea"/>
                <a:sym typeface="+mn-ea"/>
              </a:rPr>
              <a:t>IPSec </a:t>
            </a:r>
            <a:r>
              <a:rPr lang="zh-CN" altLang="en-US" sz="4000" dirty="0">
                <a:latin typeface="+mj-ea"/>
                <a:sym typeface="+mn-ea"/>
              </a:rPr>
              <a:t>体系结构</a:t>
            </a:r>
            <a:endParaRPr lang="zh-CN" altLang="en-US" sz="4000" dirty="0">
              <a:latin typeface="+mj-ea"/>
              <a:sym typeface="+mn-ea"/>
            </a:endParaRPr>
          </a:p>
        </p:txBody>
      </p:sp>
      <p:sp>
        <p:nvSpPr>
          <p:cNvPr id="3" name="文本框 2"/>
          <p:cNvSpPr txBox="1"/>
          <p:nvPr/>
        </p:nvSpPr>
        <p:spPr>
          <a:xfrm>
            <a:off x="218440" y="1284605"/>
            <a:ext cx="6797675" cy="3620135"/>
          </a:xfrm>
          <a:prstGeom prst="rect">
            <a:avLst/>
          </a:prstGeom>
          <a:noFill/>
        </p:spPr>
        <p:txBody>
          <a:bodyPr wrap="square" rtlCol="0" anchor="t">
            <a:noAutofit/>
          </a:bodyPr>
          <a:p>
            <a:pPr marL="342900" indent="-342900">
              <a:lnSpc>
                <a:spcPct val="170000"/>
              </a:lnSpc>
              <a:spcBef>
                <a:spcPct val="0"/>
              </a:spcBef>
              <a:spcAft>
                <a:spcPts val="0"/>
              </a:spcAft>
              <a:buClr>
                <a:srgbClr val="DF4F21"/>
              </a:buClr>
              <a:buSzTx/>
              <a:buFont typeface="Wingdings" panose="05000000000000000000" charset="0"/>
              <a:buChar char="p"/>
            </a:pP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IPSec</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是一套协议包，在</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IPSec</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协议族中由</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3</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个主要的协议：</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685800" lvl="1" indent="-228600" algn="l">
              <a:lnSpc>
                <a:spcPct val="170000"/>
              </a:lnSpc>
              <a:spcBef>
                <a:spcPct val="0"/>
              </a:spcBef>
              <a:spcAft>
                <a:spcPts val="0"/>
              </a:spcAft>
              <a:buClr>
                <a:srgbClr val="DF4F21"/>
              </a:buClr>
              <a:buSzTx/>
              <a:buFont typeface="Wingdings" panose="05000000000000000000" charset="0"/>
              <a:buChar char="Ø"/>
            </a:pPr>
            <a:r>
              <a:rPr lang="zh-CN" altLang="en-US" sz="2200" b="1" kern="0" dirty="0">
                <a:latin typeface="Times New Roman" panose="02020603050405020304" charset="0"/>
                <a:ea typeface="宋体" panose="02010600030101010101" pitchFamily="2" charset="-122"/>
                <a:cs typeface="Times New Roman" panose="02020603050405020304" charset="0"/>
                <a:sym typeface="+mn-ea"/>
              </a:rPr>
              <a:t>IP认证包头（IP authentication header，AH），为IP包提供信息源的验证和完整性保证；</a:t>
            </a:r>
            <a:endParaRPr lang="zh-CN" altLang="en-US" sz="2200" b="1" kern="0" dirty="0">
              <a:latin typeface="Times New Roman" panose="02020603050405020304" charset="0"/>
              <a:ea typeface="宋体" panose="02010600030101010101" pitchFamily="2" charset="-122"/>
              <a:cs typeface="Times New Roman" panose="02020603050405020304" charset="0"/>
              <a:sym typeface="+mn-ea"/>
            </a:endParaRPr>
          </a:p>
          <a:p>
            <a:pPr marL="685800" lvl="1" indent="-228600" algn="l">
              <a:lnSpc>
                <a:spcPct val="170000"/>
              </a:lnSpc>
              <a:spcBef>
                <a:spcPct val="0"/>
              </a:spcBef>
              <a:spcAft>
                <a:spcPts val="0"/>
              </a:spcAft>
              <a:buClr>
                <a:srgbClr val="DF4F21"/>
              </a:buClr>
              <a:buSzTx/>
              <a:buFont typeface="Wingdings" panose="05000000000000000000" charset="0"/>
              <a:buChar char="Ø"/>
            </a:pPr>
            <a:r>
              <a:rPr lang="zh-CN" altLang="en-US" sz="2200" b="1" kern="0" dirty="0">
                <a:latin typeface="Times New Roman" panose="02020603050405020304" charset="0"/>
                <a:ea typeface="宋体" panose="02010600030101010101" pitchFamily="2" charset="-122"/>
                <a:cs typeface="Times New Roman" panose="02020603050405020304" charset="0"/>
                <a:sym typeface="+mn-ea"/>
              </a:rPr>
              <a:t>IP封装安全负载（IP Encapsulating Security Payload，ESP），提供加密保证；</a:t>
            </a:r>
            <a:endParaRPr lang="zh-CN" altLang="en-US" sz="2200" b="1" kern="0" dirty="0">
              <a:latin typeface="Times New Roman" panose="02020603050405020304" charset="0"/>
              <a:ea typeface="宋体" panose="02010600030101010101" pitchFamily="2" charset="-122"/>
              <a:cs typeface="Times New Roman" panose="02020603050405020304" charset="0"/>
              <a:sym typeface="+mn-ea"/>
            </a:endParaRPr>
          </a:p>
          <a:p>
            <a:pPr marL="685800" lvl="1" indent="-228600" algn="l">
              <a:lnSpc>
                <a:spcPct val="170000"/>
              </a:lnSpc>
              <a:spcBef>
                <a:spcPct val="0"/>
              </a:spcBef>
              <a:spcAft>
                <a:spcPts val="0"/>
              </a:spcAft>
              <a:buClr>
                <a:srgbClr val="DF4F21"/>
              </a:buClr>
              <a:buSzTx/>
              <a:buFont typeface="Wingdings" panose="05000000000000000000" charset="0"/>
              <a:buChar char="Ø"/>
            </a:pPr>
            <a:r>
              <a:rPr lang="zh-CN" altLang="en-US" sz="2200" b="1" kern="0" dirty="0">
                <a:latin typeface="Times New Roman" panose="02020603050405020304" charset="0"/>
                <a:ea typeface="宋体" panose="02010600030101010101" pitchFamily="2" charset="-122"/>
                <a:cs typeface="Times New Roman" panose="02020603050405020304" charset="0"/>
                <a:sym typeface="+mn-ea"/>
              </a:rPr>
              <a:t>Internet密钥交换（Internet Key Exchange，IKE），提供双方交流时的共享安全信息。</a:t>
            </a:r>
            <a:endParaRPr lang="zh-CN" altLang="en-US" sz="2200" b="1" kern="0" dirty="0">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4" name="对象 -2147482612"/>
          <p:cNvGraphicFramePr>
            <a:graphicFrameLocks noChangeAspect="1"/>
          </p:cNvGraphicFramePr>
          <p:nvPr/>
        </p:nvGraphicFramePr>
        <p:xfrm>
          <a:off x="7193280" y="1762760"/>
          <a:ext cx="4849495" cy="3678555"/>
        </p:xfrm>
        <a:graphic>
          <a:graphicData uri="http://schemas.openxmlformats.org/presentationml/2006/ole">
            <mc:AlternateContent xmlns:mc="http://schemas.openxmlformats.org/markup-compatibility/2006">
              <mc:Choice xmlns:v="urn:schemas-microsoft-com:vml" Requires="v">
                <p:oleObj spid="_x0000_s6" name="" r:id="rId1" imgW="3959860" imgH="3003550" progId="Visio.Drawing.15">
                  <p:embed/>
                </p:oleObj>
              </mc:Choice>
              <mc:Fallback>
                <p:oleObj name="" r:id="rId1" imgW="3959860" imgH="3003550" progId="Visio.Drawing.15">
                  <p:embed/>
                  <p:pic>
                    <p:nvPicPr>
                      <p:cNvPr id="0" name="图片 5"/>
                      <p:cNvPicPr/>
                      <p:nvPr/>
                    </p:nvPicPr>
                    <p:blipFill>
                      <a:blip r:embed="rId2"/>
                      <a:stretch>
                        <a:fillRect/>
                      </a:stretch>
                    </p:blipFill>
                    <p:spPr>
                      <a:xfrm>
                        <a:off x="7193280" y="1762760"/>
                        <a:ext cx="4849495" cy="3678555"/>
                      </a:xfrm>
                      <a:prstGeom prst="rect">
                        <a:avLst/>
                      </a:prstGeom>
                      <a:noFill/>
                      <a:ln w="38100">
                        <a:noFill/>
                        <a:miter/>
                      </a:ln>
                    </p:spPr>
                  </p:pic>
                </p:oleObj>
              </mc:Fallback>
            </mc:AlternateContent>
          </a:graphicData>
        </a:graphic>
      </p:graphicFrame>
      <p:sp>
        <p:nvSpPr>
          <p:cNvPr id="7" name="文本框 6"/>
          <p:cNvSpPr txBox="1"/>
          <p:nvPr/>
        </p:nvSpPr>
        <p:spPr>
          <a:xfrm>
            <a:off x="8253095" y="5335905"/>
            <a:ext cx="1941195" cy="414020"/>
          </a:xfrm>
          <a:prstGeom prst="rect">
            <a:avLst/>
          </a:prstGeom>
        </p:spPr>
        <p:txBody>
          <a:bodyPr wrap="square">
            <a:spAutoFit/>
          </a:bodyPr>
          <a:p>
            <a:pPr marL="0" indent="127000" algn="just" defTabSz="266700">
              <a:lnSpc>
                <a:spcPct val="150000"/>
              </a:lnSpc>
              <a:spcBef>
                <a:spcPct val="0"/>
              </a:spcBef>
              <a:spcAft>
                <a:spcPct val="0"/>
              </a:spcAft>
            </a:pPr>
            <a:r>
              <a:rPr lang="en-US" altLang="zh-CN" sz="1400" b="1" i="0">
                <a:latin typeface="Times New Roman" panose="02020603050405020304"/>
                <a:ea typeface="Times New Roman" panose="02020603050405020304"/>
              </a:rPr>
              <a:t>IPSec </a:t>
            </a:r>
            <a:r>
              <a:rPr lang="zh-CN" altLang="en-US" sz="1400" b="1" i="0">
                <a:latin typeface="Times New Roman" panose="02020603050405020304"/>
                <a:ea typeface="宋体" panose="02010600030101010101" pitchFamily="2" charset="-122"/>
              </a:rPr>
              <a:t>体系结构</a:t>
            </a:r>
            <a:endParaRPr lang="zh-CN" altLang="en-US" sz="1400" b="1" i="0">
              <a:latin typeface="Times New Roman" panose="020206030504050203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5</a:t>
            </a:r>
            <a:r>
              <a:rPr lang="zh-CN" altLang="en-US" sz="4000" dirty="0">
                <a:latin typeface="+mj-ea"/>
                <a:sym typeface="+mn-ea"/>
              </a:rPr>
              <a:t>.2 </a:t>
            </a:r>
            <a:r>
              <a:rPr lang="en-US" altLang="zh-CN" sz="4000" dirty="0">
                <a:latin typeface="+mj-ea"/>
                <a:sym typeface="+mn-ea"/>
              </a:rPr>
              <a:t>IPSec</a:t>
            </a:r>
            <a:r>
              <a:rPr lang="zh-CN" altLang="en-US" sz="4000" dirty="0">
                <a:latin typeface="+mj-ea"/>
                <a:sym typeface="+mn-ea"/>
              </a:rPr>
              <a:t>模式</a:t>
            </a:r>
            <a:endParaRPr lang="zh-CN" altLang="en-US" sz="4000" dirty="0">
              <a:latin typeface="+mj-ea"/>
              <a:sym typeface="+mn-ea"/>
            </a:endParaRPr>
          </a:p>
        </p:txBody>
      </p:sp>
      <p:sp>
        <p:nvSpPr>
          <p:cNvPr id="28" name="íşlïḍè"/>
          <p:cNvSpPr txBox="1"/>
          <p:nvPr/>
        </p:nvSpPr>
        <p:spPr>
          <a:xfrm>
            <a:off x="1266190" y="1209675"/>
            <a:ext cx="9704705" cy="450850"/>
          </a:xfrm>
          <a:prstGeom prst="rect">
            <a:avLst/>
          </a:prstGeom>
          <a:noFill/>
        </p:spPr>
        <p:txBody>
          <a:bodyPr wrap="square" lIns="91440" tIns="45720" rIns="91440" bIns="45720" anchor="ctr">
            <a:noAutofit/>
          </a:bodyPr>
          <a:p>
            <a:pPr marL="342900" indent="-342900" algn="l">
              <a:lnSpc>
                <a:spcPct val="150000"/>
              </a:lnSpc>
              <a:buClr>
                <a:srgbClr val="DF4F21"/>
              </a:buClr>
              <a:buSzTx/>
              <a:buFont typeface="Wingdings" panose="05000000000000000000" charset="0"/>
              <a:buChar char="p"/>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IPSec</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包含两种不同的工作方式：传输方式和隧道方式。</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grpSp>
        <p:nvGrpSpPr>
          <p:cNvPr id="81" name="组合 80"/>
          <p:cNvGrpSpPr/>
          <p:nvPr/>
        </p:nvGrpSpPr>
        <p:grpSpPr>
          <a:xfrm>
            <a:off x="6014309" y="5196836"/>
            <a:ext cx="5745022" cy="672007"/>
            <a:chOff x="6014309" y="5196836"/>
            <a:chExt cx="5745022" cy="672007"/>
          </a:xfrm>
        </p:grpSpPr>
        <p:cxnSp>
          <p:nvCxnSpPr>
            <p:cNvPr id="52" name="直接连接符 51"/>
            <p:cNvCxnSpPr/>
            <p:nvPr/>
          </p:nvCxnSpPr>
          <p:spPr>
            <a:xfrm>
              <a:off x="6014309" y="5196836"/>
              <a:ext cx="0" cy="67200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1759331" y="5196836"/>
              <a:ext cx="0" cy="67200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6014309" y="5615421"/>
              <a:ext cx="5745022"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8078636" y="5419725"/>
              <a:ext cx="1704116" cy="369332"/>
            </a:xfrm>
            <a:prstGeom prst="rect">
              <a:avLst/>
            </a:prstGeom>
            <a:solidFill>
              <a:schemeClr val="bg1"/>
            </a:solidFill>
          </p:spPr>
          <p:txBody>
            <a:bodyPr wrap="square" rtlCol="0">
              <a:spAutoFit/>
            </a:bodyPr>
            <a:p>
              <a:pPr algn="ctr"/>
              <a:r>
                <a:rPr lang="en-US" altLang="zh-CN" b="1" dirty="0"/>
                <a:t>IP</a:t>
              </a:r>
              <a:r>
                <a:rPr lang="zh-CN" altLang="en-US" b="1" dirty="0"/>
                <a:t>安全数据报</a:t>
              </a:r>
              <a:endParaRPr lang="zh-CN" altLang="en-US" b="1" dirty="0"/>
            </a:p>
          </p:txBody>
        </p:sp>
      </p:grpSp>
      <p:sp>
        <p:nvSpPr>
          <p:cNvPr id="47" name="矩形 46"/>
          <p:cNvSpPr/>
          <p:nvPr/>
        </p:nvSpPr>
        <p:spPr>
          <a:xfrm>
            <a:off x="6014309" y="4763366"/>
            <a:ext cx="905169" cy="51723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p>
            <a:pPr algn="ctr">
              <a:lnSpc>
                <a:spcPts val="1800"/>
              </a:lnSpc>
            </a:pPr>
            <a:r>
              <a:rPr lang="zh-CN" altLang="en-US" b="1" dirty="0">
                <a:solidFill>
                  <a:schemeClr val="tx1"/>
                </a:solidFill>
              </a:rPr>
              <a:t>新的</a:t>
            </a:r>
            <a:endParaRPr lang="en-US" altLang="zh-CN" b="1" dirty="0">
              <a:solidFill>
                <a:schemeClr val="tx1"/>
              </a:solidFill>
            </a:endParaRPr>
          </a:p>
          <a:p>
            <a:pPr algn="ctr">
              <a:lnSpc>
                <a:spcPts val="1800"/>
              </a:lnSpc>
            </a:pPr>
            <a:r>
              <a:rPr lang="en-US" altLang="zh-CN" b="1" dirty="0">
                <a:solidFill>
                  <a:schemeClr val="tx1"/>
                </a:solidFill>
              </a:rPr>
              <a:t>IP</a:t>
            </a:r>
            <a:r>
              <a:rPr lang="zh-CN" altLang="en-US" b="1" dirty="0">
                <a:solidFill>
                  <a:schemeClr val="tx1"/>
                </a:solidFill>
              </a:rPr>
              <a:t>首部</a:t>
            </a:r>
            <a:endParaRPr lang="zh-CN" altLang="en-US" b="1" dirty="0">
              <a:solidFill>
                <a:schemeClr val="tx1"/>
              </a:solidFill>
            </a:endParaRPr>
          </a:p>
        </p:txBody>
      </p:sp>
      <p:sp>
        <p:nvSpPr>
          <p:cNvPr id="34" name="矩形 33"/>
          <p:cNvSpPr/>
          <p:nvPr/>
        </p:nvSpPr>
        <p:spPr>
          <a:xfrm>
            <a:off x="6919478" y="3781225"/>
            <a:ext cx="1251529" cy="517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700" b="1" dirty="0" err="1">
                <a:solidFill>
                  <a:schemeClr val="bg1"/>
                </a:solidFill>
              </a:rPr>
              <a:t>IPSec</a:t>
            </a:r>
            <a:r>
              <a:rPr lang="zh-CN" altLang="en-US" sz="1700" b="1" dirty="0">
                <a:solidFill>
                  <a:schemeClr val="bg1"/>
                </a:solidFill>
              </a:rPr>
              <a:t>首部</a:t>
            </a:r>
            <a:endParaRPr lang="zh-CN" altLang="en-US" sz="1700" b="1" dirty="0">
              <a:solidFill>
                <a:schemeClr val="bg1"/>
              </a:solidFill>
            </a:endParaRPr>
          </a:p>
        </p:txBody>
      </p:sp>
      <p:sp>
        <p:nvSpPr>
          <p:cNvPr id="35" name="矩形 34"/>
          <p:cNvSpPr/>
          <p:nvPr/>
        </p:nvSpPr>
        <p:spPr>
          <a:xfrm>
            <a:off x="10517028" y="3781225"/>
            <a:ext cx="1251529" cy="517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700" b="1" dirty="0" err="1">
                <a:solidFill>
                  <a:schemeClr val="bg1"/>
                </a:solidFill>
              </a:rPr>
              <a:t>IPSec</a:t>
            </a:r>
            <a:r>
              <a:rPr lang="zh-CN" altLang="en-US" sz="1700" b="1" dirty="0">
                <a:solidFill>
                  <a:schemeClr val="bg1"/>
                </a:solidFill>
              </a:rPr>
              <a:t>尾部</a:t>
            </a:r>
            <a:endParaRPr lang="zh-CN" altLang="en-US" sz="1700" b="1" dirty="0">
              <a:solidFill>
                <a:schemeClr val="bg1"/>
              </a:solidFill>
            </a:endParaRPr>
          </a:p>
        </p:txBody>
      </p:sp>
      <p:sp>
        <p:nvSpPr>
          <p:cNvPr id="48" name="文本框 47"/>
          <p:cNvSpPr txBox="1"/>
          <p:nvPr/>
        </p:nvSpPr>
        <p:spPr>
          <a:xfrm>
            <a:off x="6637763" y="2890483"/>
            <a:ext cx="1625601" cy="369332"/>
          </a:xfrm>
          <a:prstGeom prst="rect">
            <a:avLst/>
          </a:prstGeom>
          <a:noFill/>
        </p:spPr>
        <p:txBody>
          <a:bodyPr wrap="square" rtlCol="0">
            <a:spAutoFit/>
          </a:bodyPr>
          <a:p>
            <a:r>
              <a:rPr lang="zh-CN" altLang="en-US" b="1" dirty="0"/>
              <a:t>原始</a:t>
            </a:r>
            <a:r>
              <a:rPr lang="en-US" altLang="zh-CN" b="1" dirty="0"/>
              <a:t>IP</a:t>
            </a:r>
            <a:r>
              <a:rPr lang="zh-CN" altLang="en-US" b="1" dirty="0"/>
              <a:t>数据报</a:t>
            </a:r>
            <a:endParaRPr lang="zh-CN" altLang="en-US" b="1" dirty="0"/>
          </a:p>
        </p:txBody>
      </p:sp>
      <p:sp>
        <p:nvSpPr>
          <p:cNvPr id="37" name="矩形 36"/>
          <p:cNvSpPr/>
          <p:nvPr/>
        </p:nvSpPr>
        <p:spPr>
          <a:xfrm>
            <a:off x="8171007" y="2817439"/>
            <a:ext cx="905169" cy="51723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en-US" altLang="zh-CN" b="1" dirty="0">
                <a:solidFill>
                  <a:schemeClr val="tx1"/>
                </a:solidFill>
              </a:rPr>
              <a:t>IP</a:t>
            </a:r>
            <a:r>
              <a:rPr lang="zh-CN" altLang="en-US" b="1" dirty="0">
                <a:solidFill>
                  <a:schemeClr val="tx1"/>
                </a:solidFill>
              </a:rPr>
              <a:t>首部</a:t>
            </a:r>
            <a:endParaRPr lang="zh-CN" altLang="en-US" b="1" dirty="0">
              <a:solidFill>
                <a:schemeClr val="tx1"/>
              </a:solidFill>
            </a:endParaRPr>
          </a:p>
        </p:txBody>
      </p:sp>
      <p:grpSp>
        <p:nvGrpSpPr>
          <p:cNvPr id="73" name="组合 72"/>
          <p:cNvGrpSpPr/>
          <p:nvPr/>
        </p:nvGrpSpPr>
        <p:grpSpPr>
          <a:xfrm>
            <a:off x="436599" y="5196836"/>
            <a:ext cx="5135422" cy="672007"/>
            <a:chOff x="436599" y="5196836"/>
            <a:chExt cx="5135422" cy="672007"/>
          </a:xfrm>
        </p:grpSpPr>
        <p:cxnSp>
          <p:nvCxnSpPr>
            <p:cNvPr id="26" name="直接连接符 25"/>
            <p:cNvCxnSpPr/>
            <p:nvPr/>
          </p:nvCxnSpPr>
          <p:spPr>
            <a:xfrm>
              <a:off x="436599" y="5196836"/>
              <a:ext cx="0" cy="67200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572021" y="5196836"/>
              <a:ext cx="0" cy="67200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436599" y="5610225"/>
              <a:ext cx="5135422"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2152252" y="5420363"/>
              <a:ext cx="1704116" cy="369332"/>
            </a:xfrm>
            <a:prstGeom prst="rect">
              <a:avLst/>
            </a:prstGeom>
            <a:solidFill>
              <a:schemeClr val="bg1"/>
            </a:solidFill>
          </p:spPr>
          <p:txBody>
            <a:bodyPr wrap="square" rtlCol="0">
              <a:spAutoFit/>
            </a:bodyPr>
            <a:p>
              <a:pPr algn="ctr"/>
              <a:r>
                <a:rPr lang="en-US" altLang="zh-CN" b="1" dirty="0"/>
                <a:t>IP</a:t>
              </a:r>
              <a:r>
                <a:rPr lang="zh-CN" altLang="en-US" b="1" dirty="0"/>
                <a:t>安全数据报</a:t>
              </a:r>
              <a:endParaRPr lang="zh-CN" altLang="en-US" b="1" dirty="0"/>
            </a:p>
          </p:txBody>
        </p:sp>
      </p:grpSp>
      <p:sp>
        <p:nvSpPr>
          <p:cNvPr id="19" name="矩形 18"/>
          <p:cNvSpPr/>
          <p:nvPr/>
        </p:nvSpPr>
        <p:spPr>
          <a:xfrm>
            <a:off x="436599" y="4758170"/>
            <a:ext cx="905169" cy="517237"/>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dirty="0">
                <a:solidFill>
                  <a:schemeClr val="tx1"/>
                </a:solidFill>
              </a:rPr>
              <a:t>IP</a:t>
            </a:r>
            <a:r>
              <a:rPr lang="zh-CN" altLang="en-US" b="1" dirty="0">
                <a:solidFill>
                  <a:schemeClr val="tx1"/>
                </a:solidFill>
              </a:rPr>
              <a:t>首部</a:t>
            </a:r>
            <a:endParaRPr lang="zh-CN" altLang="en-US" b="1" dirty="0">
              <a:solidFill>
                <a:schemeClr val="tx1"/>
              </a:solidFill>
            </a:endParaRPr>
          </a:p>
        </p:txBody>
      </p:sp>
      <p:sp>
        <p:nvSpPr>
          <p:cNvPr id="13" name="矩形 12"/>
          <p:cNvSpPr/>
          <p:nvPr/>
        </p:nvSpPr>
        <p:spPr>
          <a:xfrm>
            <a:off x="2593298" y="2817439"/>
            <a:ext cx="1727201" cy="51723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p>
            <a:pPr algn="ctr"/>
            <a:r>
              <a:rPr lang="zh-CN" altLang="en-US" b="1" dirty="0">
                <a:solidFill>
                  <a:schemeClr val="bg1"/>
                </a:solidFill>
              </a:rPr>
              <a:t>传输层报文</a:t>
            </a:r>
            <a:endParaRPr lang="zh-CN" altLang="en-US" b="1" dirty="0">
              <a:solidFill>
                <a:schemeClr val="bg1"/>
              </a:solidFill>
            </a:endParaRPr>
          </a:p>
        </p:txBody>
      </p:sp>
      <p:sp>
        <p:nvSpPr>
          <p:cNvPr id="15" name="矩形 14"/>
          <p:cNvSpPr/>
          <p:nvPr/>
        </p:nvSpPr>
        <p:spPr>
          <a:xfrm>
            <a:off x="1341769" y="3781225"/>
            <a:ext cx="1251529" cy="517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700" b="1" dirty="0" err="1">
                <a:solidFill>
                  <a:schemeClr val="bg1"/>
                </a:solidFill>
              </a:rPr>
              <a:t>IPSec</a:t>
            </a:r>
            <a:r>
              <a:rPr lang="zh-CN" altLang="en-US" sz="1700" b="1" dirty="0">
                <a:solidFill>
                  <a:schemeClr val="bg1"/>
                </a:solidFill>
              </a:rPr>
              <a:t>首部</a:t>
            </a:r>
            <a:endParaRPr lang="zh-CN" altLang="en-US" sz="1700" b="1" dirty="0">
              <a:solidFill>
                <a:schemeClr val="bg1"/>
              </a:solidFill>
            </a:endParaRPr>
          </a:p>
        </p:txBody>
      </p:sp>
      <p:sp>
        <p:nvSpPr>
          <p:cNvPr id="16" name="矩形 15"/>
          <p:cNvSpPr/>
          <p:nvPr/>
        </p:nvSpPr>
        <p:spPr>
          <a:xfrm>
            <a:off x="4320499" y="3781225"/>
            <a:ext cx="1251529" cy="517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700" b="1" dirty="0" err="1">
                <a:solidFill>
                  <a:schemeClr val="bg1"/>
                </a:solidFill>
              </a:rPr>
              <a:t>IPSec</a:t>
            </a:r>
            <a:r>
              <a:rPr lang="zh-CN" altLang="en-US" sz="1700" b="1" dirty="0">
                <a:solidFill>
                  <a:schemeClr val="bg1"/>
                </a:solidFill>
              </a:rPr>
              <a:t>尾部</a:t>
            </a:r>
            <a:endParaRPr lang="zh-CN" altLang="en-US" sz="1700" b="1" dirty="0">
              <a:solidFill>
                <a:schemeClr val="bg1"/>
              </a:solidFill>
            </a:endParaRPr>
          </a:p>
        </p:txBody>
      </p:sp>
      <p:grpSp>
        <p:nvGrpSpPr>
          <p:cNvPr id="72" name="组合 71"/>
          <p:cNvGrpSpPr/>
          <p:nvPr/>
        </p:nvGrpSpPr>
        <p:grpSpPr>
          <a:xfrm>
            <a:off x="1341768" y="4298462"/>
            <a:ext cx="4230260" cy="976945"/>
            <a:chOff x="1341768" y="4298462"/>
            <a:chExt cx="4230260" cy="976945"/>
          </a:xfrm>
        </p:grpSpPr>
        <p:sp>
          <p:nvSpPr>
            <p:cNvPr id="18" name="矩形 17"/>
            <p:cNvSpPr/>
            <p:nvPr/>
          </p:nvSpPr>
          <p:spPr>
            <a:xfrm>
              <a:off x="1341768" y="4758170"/>
              <a:ext cx="4230260" cy="51723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a:solidFill>
                    <a:schemeClr val="bg1"/>
                  </a:solidFill>
                </a:rPr>
                <a:t>数据载荷</a:t>
              </a:r>
              <a:endParaRPr lang="zh-CN" altLang="en-US" b="1" dirty="0">
                <a:solidFill>
                  <a:schemeClr val="bg1"/>
                </a:solidFill>
              </a:endParaRPr>
            </a:p>
          </p:txBody>
        </p:sp>
        <p:cxnSp>
          <p:nvCxnSpPr>
            <p:cNvPr id="22" name="直接连接符 21"/>
            <p:cNvCxnSpPr/>
            <p:nvPr/>
          </p:nvCxnSpPr>
          <p:spPr>
            <a:xfrm>
              <a:off x="1341768" y="4298462"/>
              <a:ext cx="0" cy="43193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570068" y="4298462"/>
              <a:ext cx="0" cy="49197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箭头: 下 24"/>
            <p:cNvSpPr/>
            <p:nvPr/>
          </p:nvSpPr>
          <p:spPr>
            <a:xfrm>
              <a:off x="3353117" y="4340327"/>
              <a:ext cx="247654" cy="375977"/>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solidFill>
                  <a:schemeClr val="bg1"/>
                </a:solidFill>
              </a:endParaRPr>
            </a:p>
          </p:txBody>
        </p:sp>
      </p:grpSp>
      <p:sp>
        <p:nvSpPr>
          <p:cNvPr id="32" name="矩形 31"/>
          <p:cNvSpPr/>
          <p:nvPr/>
        </p:nvSpPr>
        <p:spPr>
          <a:xfrm>
            <a:off x="9076176" y="1851836"/>
            <a:ext cx="1431626" cy="517237"/>
          </a:xfrm>
          <a:prstGeom prst="rect">
            <a:avLst/>
          </a:prstGeom>
          <a:solidFill>
            <a:srgbClr val="A582D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a:solidFill>
                  <a:schemeClr val="bg1"/>
                </a:solidFill>
              </a:rPr>
              <a:t>传输层报文</a:t>
            </a:r>
            <a:endParaRPr lang="zh-CN" altLang="en-US" b="1" dirty="0">
              <a:solidFill>
                <a:schemeClr val="bg1"/>
              </a:solidFill>
            </a:endParaRPr>
          </a:p>
        </p:txBody>
      </p:sp>
      <p:grpSp>
        <p:nvGrpSpPr>
          <p:cNvPr id="74" name="组合 73"/>
          <p:cNvGrpSpPr/>
          <p:nvPr/>
        </p:nvGrpSpPr>
        <p:grpSpPr>
          <a:xfrm>
            <a:off x="2593298" y="3265342"/>
            <a:ext cx="1727201" cy="1033120"/>
            <a:chOff x="2593298" y="3265342"/>
            <a:chExt cx="1727201" cy="1033120"/>
          </a:xfrm>
        </p:grpSpPr>
        <p:sp>
          <p:nvSpPr>
            <p:cNvPr id="14" name="矩形 13"/>
            <p:cNvSpPr/>
            <p:nvPr/>
          </p:nvSpPr>
          <p:spPr>
            <a:xfrm>
              <a:off x="2593298" y="3781225"/>
              <a:ext cx="1727201" cy="517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dirty="0" err="1">
                  <a:solidFill>
                    <a:schemeClr val="bg1"/>
                  </a:solidFill>
                </a:rPr>
                <a:t>IPSec</a:t>
              </a:r>
              <a:r>
                <a:rPr lang="zh-CN" altLang="en-US" b="1" dirty="0">
                  <a:solidFill>
                    <a:schemeClr val="bg1"/>
                  </a:solidFill>
                </a:rPr>
                <a:t>数据载荷</a:t>
              </a:r>
              <a:endParaRPr lang="zh-CN" altLang="en-US" b="1" dirty="0">
                <a:solidFill>
                  <a:schemeClr val="bg1"/>
                </a:solidFill>
              </a:endParaRPr>
            </a:p>
          </p:txBody>
        </p:sp>
        <p:grpSp>
          <p:nvGrpSpPr>
            <p:cNvPr id="70" name="组合 69"/>
            <p:cNvGrpSpPr/>
            <p:nvPr/>
          </p:nvGrpSpPr>
          <p:grpSpPr>
            <a:xfrm>
              <a:off x="2593298" y="3265342"/>
              <a:ext cx="1727201" cy="568036"/>
              <a:chOff x="2593298" y="3265342"/>
              <a:chExt cx="1727201" cy="568036"/>
            </a:xfrm>
          </p:grpSpPr>
          <p:cxnSp>
            <p:nvCxnSpPr>
              <p:cNvPr id="20" name="直接连接符 19"/>
              <p:cNvCxnSpPr/>
              <p:nvPr/>
            </p:nvCxnSpPr>
            <p:spPr>
              <a:xfrm>
                <a:off x="2593298" y="3265342"/>
                <a:ext cx="0" cy="56803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320499" y="3265342"/>
                <a:ext cx="0" cy="51204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箭头: 下 59"/>
              <p:cNvSpPr/>
              <p:nvPr/>
            </p:nvSpPr>
            <p:spPr>
              <a:xfrm>
                <a:off x="3353117" y="3376541"/>
                <a:ext cx="247654" cy="375977"/>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solidFill>
                    <a:schemeClr val="bg1"/>
                  </a:solidFill>
                </a:endParaRPr>
              </a:p>
            </p:txBody>
          </p:sp>
        </p:grpSp>
      </p:grpSp>
      <p:grpSp>
        <p:nvGrpSpPr>
          <p:cNvPr id="80" name="组合 79"/>
          <p:cNvGrpSpPr/>
          <p:nvPr/>
        </p:nvGrpSpPr>
        <p:grpSpPr>
          <a:xfrm>
            <a:off x="6919478" y="4298462"/>
            <a:ext cx="4849079" cy="982141"/>
            <a:chOff x="6919478" y="4298462"/>
            <a:chExt cx="4849079" cy="982141"/>
          </a:xfrm>
        </p:grpSpPr>
        <p:sp>
          <p:nvSpPr>
            <p:cNvPr id="46" name="矩形 45"/>
            <p:cNvSpPr/>
            <p:nvPr/>
          </p:nvSpPr>
          <p:spPr>
            <a:xfrm>
              <a:off x="6919478" y="4763366"/>
              <a:ext cx="4849079" cy="51723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a:solidFill>
                    <a:schemeClr val="bg1"/>
                  </a:solidFill>
                </a:rPr>
                <a:t>数据载荷</a:t>
              </a:r>
              <a:endParaRPr lang="zh-CN" altLang="en-US" b="1" dirty="0">
                <a:solidFill>
                  <a:schemeClr val="bg1"/>
                </a:solidFill>
              </a:endParaRPr>
            </a:p>
          </p:txBody>
        </p:sp>
        <p:cxnSp>
          <p:nvCxnSpPr>
            <p:cNvPr id="49" name="直接连接符 48"/>
            <p:cNvCxnSpPr/>
            <p:nvPr/>
          </p:nvCxnSpPr>
          <p:spPr>
            <a:xfrm>
              <a:off x="6919478" y="4298462"/>
              <a:ext cx="0" cy="46490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1768557" y="4298462"/>
              <a:ext cx="0" cy="64732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1" name="箭头: 下 60"/>
            <p:cNvSpPr/>
            <p:nvPr/>
          </p:nvSpPr>
          <p:spPr>
            <a:xfrm>
              <a:off x="9294378" y="4340440"/>
              <a:ext cx="247654" cy="375977"/>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solidFill>
                  <a:schemeClr val="bg1"/>
                </a:solidFill>
                <a:latin typeface="+mn-ea"/>
              </a:endParaRPr>
            </a:p>
          </p:txBody>
        </p:sp>
      </p:grpSp>
      <p:grpSp>
        <p:nvGrpSpPr>
          <p:cNvPr id="79" name="组合 78"/>
          <p:cNvGrpSpPr/>
          <p:nvPr/>
        </p:nvGrpSpPr>
        <p:grpSpPr>
          <a:xfrm>
            <a:off x="8170983" y="3334676"/>
            <a:ext cx="2346045" cy="963786"/>
            <a:chOff x="8170983" y="3334676"/>
            <a:chExt cx="2346045" cy="963786"/>
          </a:xfrm>
        </p:grpSpPr>
        <p:sp>
          <p:nvSpPr>
            <p:cNvPr id="33" name="矩形 32"/>
            <p:cNvSpPr/>
            <p:nvPr/>
          </p:nvSpPr>
          <p:spPr>
            <a:xfrm>
              <a:off x="8171007" y="3781225"/>
              <a:ext cx="2346021" cy="517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dirty="0" err="1">
                  <a:solidFill>
                    <a:schemeClr val="bg1"/>
                  </a:solidFill>
                </a:rPr>
                <a:t>IPSec</a:t>
              </a:r>
              <a:r>
                <a:rPr lang="zh-CN" altLang="en-US" b="1" dirty="0">
                  <a:solidFill>
                    <a:schemeClr val="bg1"/>
                  </a:solidFill>
                </a:rPr>
                <a:t>数据载荷</a:t>
              </a:r>
              <a:endParaRPr lang="zh-CN" altLang="en-US" b="1" dirty="0">
                <a:solidFill>
                  <a:schemeClr val="bg1"/>
                </a:solidFill>
              </a:endParaRPr>
            </a:p>
          </p:txBody>
        </p:sp>
        <p:cxnSp>
          <p:nvCxnSpPr>
            <p:cNvPr id="42" name="直接连接符 41"/>
            <p:cNvCxnSpPr/>
            <p:nvPr/>
          </p:nvCxnSpPr>
          <p:spPr>
            <a:xfrm>
              <a:off x="8170983" y="3334676"/>
              <a:ext cx="24" cy="42404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10507802" y="3334676"/>
              <a:ext cx="0" cy="4750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2" name="箭头: 下 61"/>
            <p:cNvSpPr/>
            <p:nvPr/>
          </p:nvSpPr>
          <p:spPr>
            <a:xfrm>
              <a:off x="9294378" y="3382742"/>
              <a:ext cx="247654" cy="375977"/>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solidFill>
                  <a:schemeClr val="bg1"/>
                </a:solidFill>
                <a:latin typeface="+mn-ea"/>
              </a:endParaRPr>
            </a:p>
          </p:txBody>
        </p:sp>
      </p:grpSp>
      <p:grpSp>
        <p:nvGrpSpPr>
          <p:cNvPr id="76" name="组合 75"/>
          <p:cNvGrpSpPr/>
          <p:nvPr/>
        </p:nvGrpSpPr>
        <p:grpSpPr>
          <a:xfrm>
            <a:off x="9076176" y="2369073"/>
            <a:ext cx="1431626" cy="965603"/>
            <a:chOff x="9076176" y="2369073"/>
            <a:chExt cx="1431626" cy="965603"/>
          </a:xfrm>
        </p:grpSpPr>
        <p:sp>
          <p:nvSpPr>
            <p:cNvPr id="36" name="矩形 35"/>
            <p:cNvSpPr/>
            <p:nvPr/>
          </p:nvSpPr>
          <p:spPr>
            <a:xfrm>
              <a:off x="9076176" y="2817439"/>
              <a:ext cx="1431626" cy="51723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a:solidFill>
                    <a:schemeClr val="bg1"/>
                  </a:solidFill>
                </a:rPr>
                <a:t>数据载荷</a:t>
              </a:r>
              <a:endParaRPr lang="zh-CN" altLang="en-US" b="1" dirty="0">
                <a:solidFill>
                  <a:schemeClr val="bg1"/>
                </a:solidFill>
              </a:endParaRPr>
            </a:p>
          </p:txBody>
        </p:sp>
        <p:cxnSp>
          <p:nvCxnSpPr>
            <p:cNvPr id="40" name="直接连接符 39"/>
            <p:cNvCxnSpPr/>
            <p:nvPr/>
          </p:nvCxnSpPr>
          <p:spPr>
            <a:xfrm>
              <a:off x="9076176" y="2369073"/>
              <a:ext cx="0" cy="44836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10507802" y="2369073"/>
              <a:ext cx="0" cy="42489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4" name="箭头: 下 63"/>
            <p:cNvSpPr/>
            <p:nvPr/>
          </p:nvSpPr>
          <p:spPr>
            <a:xfrm>
              <a:off x="9658925" y="2391675"/>
              <a:ext cx="247654" cy="375977"/>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solidFill>
                  <a:schemeClr val="bg1"/>
                </a:solidFill>
                <a:latin typeface="+mn-ea"/>
              </a:endParaRPr>
            </a:p>
          </p:txBody>
        </p:sp>
      </p:grpSp>
      <p:sp>
        <p:nvSpPr>
          <p:cNvPr id="69" name="íşlïḍè"/>
          <p:cNvSpPr txBox="1"/>
          <p:nvPr/>
        </p:nvSpPr>
        <p:spPr>
          <a:xfrm>
            <a:off x="436598" y="5954730"/>
            <a:ext cx="5133467" cy="450843"/>
          </a:xfrm>
          <a:prstGeom prst="rect">
            <a:avLst/>
          </a:prstGeom>
          <a:noFill/>
        </p:spPr>
        <p:txBody>
          <a:bodyPr wrap="square" lIns="91440" tIns="45720" rIns="91440" bIns="45720" anchor="ctr">
            <a:noAutofit/>
          </a:bodyPr>
          <a:p>
            <a:pPr algn="ctr"/>
            <a:r>
              <a:rPr lang="zh-CN" altLang="en-US" b="1" dirty="0"/>
              <a:t>传输方式下的</a:t>
            </a:r>
            <a:r>
              <a:rPr lang="en-US" altLang="zh-CN" b="1" dirty="0"/>
              <a:t>IP</a:t>
            </a:r>
            <a:r>
              <a:rPr lang="zh-CN" altLang="en-US" b="1" dirty="0"/>
              <a:t>安全数据报的封装方式</a:t>
            </a:r>
            <a:endParaRPr lang="en-US" altLang="zh-CN" b="1" dirty="0"/>
          </a:p>
        </p:txBody>
      </p:sp>
      <p:sp>
        <p:nvSpPr>
          <p:cNvPr id="82" name="íşlïḍè"/>
          <p:cNvSpPr txBox="1"/>
          <p:nvPr/>
        </p:nvSpPr>
        <p:spPr>
          <a:xfrm>
            <a:off x="6363960" y="5954730"/>
            <a:ext cx="5133467" cy="450843"/>
          </a:xfrm>
          <a:prstGeom prst="rect">
            <a:avLst/>
          </a:prstGeom>
          <a:noFill/>
        </p:spPr>
        <p:txBody>
          <a:bodyPr wrap="square" lIns="91440" tIns="45720" rIns="91440" bIns="45720" anchor="ctr">
            <a:noAutofit/>
          </a:bodyPr>
          <a:p>
            <a:pPr algn="ctr"/>
            <a:r>
              <a:rPr lang="zh-CN" altLang="en-US" b="1" dirty="0"/>
              <a:t>隧道方式下的</a:t>
            </a:r>
            <a:r>
              <a:rPr lang="en-US" altLang="zh-CN" b="1" dirty="0"/>
              <a:t>IP</a:t>
            </a:r>
            <a:r>
              <a:rPr lang="zh-CN" altLang="en-US" b="1" dirty="0"/>
              <a:t>安全数据报的封装方式</a:t>
            </a:r>
            <a:endParaRPr lang="en-US" altLang="zh-CN"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 calcmode="lin" valueType="num">
                                      <p:cBhvr>
                                        <p:cTn id="7" dur="1000" fill="hold"/>
                                        <p:tgtEl>
                                          <p:spTgt spid="69"/>
                                        </p:tgtEl>
                                        <p:attrNameLst>
                                          <p:attrName>ppt_w</p:attrName>
                                        </p:attrNameLst>
                                      </p:cBhvr>
                                      <p:tavLst>
                                        <p:tav tm="0">
                                          <p:val>
                                            <p:fltVal val="0"/>
                                          </p:val>
                                        </p:tav>
                                        <p:tav tm="100000">
                                          <p:val>
                                            <p:strVal val="#ppt_w"/>
                                          </p:val>
                                        </p:tav>
                                      </p:tavLst>
                                    </p:anim>
                                    <p:anim calcmode="lin" valueType="num">
                                      <p:cBhvr>
                                        <p:cTn id="8" dur="1000" fill="hold"/>
                                        <p:tgtEl>
                                          <p:spTgt spid="69"/>
                                        </p:tgtEl>
                                        <p:attrNameLst>
                                          <p:attrName>ppt_h</p:attrName>
                                        </p:attrNameLst>
                                      </p:cBhvr>
                                      <p:tavLst>
                                        <p:tav tm="0">
                                          <p:val>
                                            <p:fltVal val="0"/>
                                          </p:val>
                                        </p:tav>
                                        <p:tav tm="100000">
                                          <p:val>
                                            <p:strVal val="#ppt_h"/>
                                          </p:val>
                                        </p:tav>
                                      </p:tavLst>
                                    </p:anim>
                                    <p:anim calcmode="lin" valueType="num">
                                      <p:cBhvr>
                                        <p:cTn id="9"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wipe(up)">
                                      <p:cBhvr>
                                        <p:cTn id="22" dur="500"/>
                                        <p:tgtEl>
                                          <p:spTgt spid="74"/>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p:tgtEl>
                                          <p:spTgt spid="15"/>
                                        </p:tgtEl>
                                        <p:attrNameLst>
                                          <p:attrName>ppt_x</p:attrName>
                                        </p:attrNameLst>
                                      </p:cBhvr>
                                      <p:tavLst>
                                        <p:tav tm="0">
                                          <p:val>
                                            <p:strVal val="#ppt_x+#ppt_w*1.125000"/>
                                          </p:val>
                                        </p:tav>
                                        <p:tav tm="100000">
                                          <p:val>
                                            <p:strVal val="#ppt_x"/>
                                          </p:val>
                                        </p:tav>
                                      </p:tavLst>
                                    </p:anim>
                                    <p:animEffect transition="in" filter="wipe(left)">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p:tgtEl>
                                          <p:spTgt spid="16"/>
                                        </p:tgtEl>
                                        <p:attrNameLst>
                                          <p:attrName>ppt_x</p:attrName>
                                        </p:attrNameLst>
                                      </p:cBhvr>
                                      <p:tavLst>
                                        <p:tav tm="0">
                                          <p:val>
                                            <p:strVal val="#ppt_x-#ppt_w*1.125000"/>
                                          </p:val>
                                        </p:tav>
                                        <p:tav tm="100000">
                                          <p:val>
                                            <p:strVal val="#ppt_x"/>
                                          </p:val>
                                        </p:tav>
                                      </p:tavLst>
                                    </p:anim>
                                    <p:animEffect transition="in" filter="wipe(right)">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wipe(up)">
                                      <p:cBhvr>
                                        <p:cTn id="39" dur="500"/>
                                        <p:tgtEl>
                                          <p:spTgt spid="7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right)">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1"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anim calcmode="lin" valueType="num">
                                      <p:cBhvr additive="base">
                                        <p:cTn id="49" dur="500"/>
                                        <p:tgtEl>
                                          <p:spTgt spid="73"/>
                                        </p:tgtEl>
                                        <p:attrNameLst>
                                          <p:attrName>ppt_y</p:attrName>
                                        </p:attrNameLst>
                                      </p:cBhvr>
                                      <p:tavLst>
                                        <p:tav tm="0">
                                          <p:val>
                                            <p:strVal val="#ppt_y-#ppt_h*1.125000"/>
                                          </p:val>
                                        </p:tav>
                                        <p:tav tm="100000">
                                          <p:val>
                                            <p:strVal val="#ppt_y"/>
                                          </p:val>
                                        </p:tav>
                                      </p:tavLst>
                                    </p:anim>
                                    <p:animEffect transition="in" filter="wipe(down)">
                                      <p:cBhvr>
                                        <p:cTn id="50" dur="500"/>
                                        <p:tgtEl>
                                          <p:spTgt spid="73"/>
                                        </p:tgtEl>
                                      </p:cBhvr>
                                    </p:animEffect>
                                  </p:childTnLst>
                                </p:cTn>
                              </p:par>
                            </p:childTnLst>
                          </p:cTn>
                        </p:par>
                      </p:childTnLst>
                    </p:cTn>
                  </p:par>
                  <p:par>
                    <p:cTn id="51" fill="hold">
                      <p:stCondLst>
                        <p:cond delay="indefinite"/>
                      </p:stCondLst>
                      <p:childTnLst>
                        <p:par>
                          <p:cTn id="52" fill="hold">
                            <p:stCondLst>
                              <p:cond delay="0"/>
                            </p:stCondLst>
                            <p:childTnLst>
                              <p:par>
                                <p:cTn id="53" presetID="15" presetClass="entr" presetSubtype="0" fill="hold" grpId="0" nodeType="clickEffect">
                                  <p:stCondLst>
                                    <p:cond delay="0"/>
                                  </p:stCondLst>
                                  <p:childTnLst>
                                    <p:set>
                                      <p:cBhvr>
                                        <p:cTn id="54" dur="1" fill="hold">
                                          <p:stCondLst>
                                            <p:cond delay="0"/>
                                          </p:stCondLst>
                                        </p:cTn>
                                        <p:tgtEl>
                                          <p:spTgt spid="82"/>
                                        </p:tgtEl>
                                        <p:attrNameLst>
                                          <p:attrName>style.visibility</p:attrName>
                                        </p:attrNameLst>
                                      </p:cBhvr>
                                      <p:to>
                                        <p:strVal val="visible"/>
                                      </p:to>
                                    </p:set>
                                    <p:anim calcmode="lin" valueType="num">
                                      <p:cBhvr>
                                        <p:cTn id="55" dur="1000" fill="hold"/>
                                        <p:tgtEl>
                                          <p:spTgt spid="82"/>
                                        </p:tgtEl>
                                        <p:attrNameLst>
                                          <p:attrName>ppt_w</p:attrName>
                                        </p:attrNameLst>
                                      </p:cBhvr>
                                      <p:tavLst>
                                        <p:tav tm="0">
                                          <p:val>
                                            <p:fltVal val="0"/>
                                          </p:val>
                                        </p:tav>
                                        <p:tav tm="100000">
                                          <p:val>
                                            <p:strVal val="#ppt_w"/>
                                          </p:val>
                                        </p:tav>
                                      </p:tavLst>
                                    </p:anim>
                                    <p:anim calcmode="lin" valueType="num">
                                      <p:cBhvr>
                                        <p:cTn id="56" dur="1000" fill="hold"/>
                                        <p:tgtEl>
                                          <p:spTgt spid="82"/>
                                        </p:tgtEl>
                                        <p:attrNameLst>
                                          <p:attrName>ppt_h</p:attrName>
                                        </p:attrNameLst>
                                      </p:cBhvr>
                                      <p:tavLst>
                                        <p:tav tm="0">
                                          <p:val>
                                            <p:fltVal val="0"/>
                                          </p:val>
                                        </p:tav>
                                        <p:tav tm="100000">
                                          <p:val>
                                            <p:strVal val="#ppt_h"/>
                                          </p:val>
                                        </p:tav>
                                      </p:tavLst>
                                    </p:anim>
                                    <p:anim calcmode="lin" valueType="num">
                                      <p:cBhvr>
                                        <p:cTn id="57" dur="1000" fill="hold"/>
                                        <p:tgtEl>
                                          <p:spTgt spid="82"/>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8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anim calcmode="lin" valueType="num">
                                      <p:cBhvr>
                                        <p:cTn id="63" dur="500" fill="hold"/>
                                        <p:tgtEl>
                                          <p:spTgt spid="32"/>
                                        </p:tgtEl>
                                        <p:attrNameLst>
                                          <p:attrName>ppt_w</p:attrName>
                                        </p:attrNameLst>
                                      </p:cBhvr>
                                      <p:tavLst>
                                        <p:tav tm="0">
                                          <p:val>
                                            <p:fltVal val="0"/>
                                          </p:val>
                                        </p:tav>
                                        <p:tav tm="100000">
                                          <p:val>
                                            <p:strVal val="#ppt_w"/>
                                          </p:val>
                                        </p:tav>
                                      </p:tavLst>
                                    </p:anim>
                                    <p:anim calcmode="lin" valueType="num">
                                      <p:cBhvr>
                                        <p:cTn id="64" dur="500" fill="hold"/>
                                        <p:tgtEl>
                                          <p:spTgt spid="32"/>
                                        </p:tgtEl>
                                        <p:attrNameLst>
                                          <p:attrName>ppt_h</p:attrName>
                                        </p:attrNameLst>
                                      </p:cBhvr>
                                      <p:tavLst>
                                        <p:tav tm="0">
                                          <p:val>
                                            <p:fltVal val="0"/>
                                          </p:val>
                                        </p:tav>
                                        <p:tav tm="100000">
                                          <p:val>
                                            <p:strVal val="#ppt_h"/>
                                          </p:val>
                                        </p:tav>
                                      </p:tavLst>
                                    </p:anim>
                                    <p:animEffect transition="in" filter="fade">
                                      <p:cBhvr>
                                        <p:cTn id="65" dur="500"/>
                                        <p:tgtEl>
                                          <p:spTgt spid="3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76"/>
                                        </p:tgtEl>
                                        <p:attrNameLst>
                                          <p:attrName>style.visibility</p:attrName>
                                        </p:attrNameLst>
                                      </p:cBhvr>
                                      <p:to>
                                        <p:strVal val="visible"/>
                                      </p:to>
                                    </p:set>
                                    <p:animEffect transition="in" filter="wipe(up)">
                                      <p:cBhvr>
                                        <p:cTn id="70" dur="500"/>
                                        <p:tgtEl>
                                          <p:spTgt spid="76"/>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2" fill="hold" grpId="0" nodeType="clickEffect">
                                  <p:stCondLst>
                                    <p:cond delay="0"/>
                                  </p:stCondLst>
                                  <p:childTnLst>
                                    <p:set>
                                      <p:cBhvr>
                                        <p:cTn id="74" dur="1" fill="hold">
                                          <p:stCondLst>
                                            <p:cond delay="0"/>
                                          </p:stCondLst>
                                        </p:cTn>
                                        <p:tgtEl>
                                          <p:spTgt spid="37"/>
                                        </p:tgtEl>
                                        <p:attrNameLst>
                                          <p:attrName>style.visibility</p:attrName>
                                        </p:attrNameLst>
                                      </p:cBhvr>
                                      <p:to>
                                        <p:strVal val="visible"/>
                                      </p:to>
                                    </p:set>
                                    <p:anim calcmode="lin" valueType="num">
                                      <p:cBhvr additive="base">
                                        <p:cTn id="75" dur="500"/>
                                        <p:tgtEl>
                                          <p:spTgt spid="37"/>
                                        </p:tgtEl>
                                        <p:attrNameLst>
                                          <p:attrName>ppt_x</p:attrName>
                                        </p:attrNameLst>
                                      </p:cBhvr>
                                      <p:tavLst>
                                        <p:tav tm="0">
                                          <p:val>
                                            <p:strVal val="#ppt_x+#ppt_w*1.125000"/>
                                          </p:val>
                                        </p:tav>
                                        <p:tav tm="100000">
                                          <p:val>
                                            <p:strVal val="#ppt_x"/>
                                          </p:val>
                                        </p:tav>
                                      </p:tavLst>
                                    </p:anim>
                                    <p:animEffect transition="in" filter="wipe(left)">
                                      <p:cBhvr>
                                        <p:cTn id="76" dur="500"/>
                                        <p:tgtEl>
                                          <p:spTgt spid="37"/>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2" fill="hold" grpId="0" nodeType="clickEffect">
                                  <p:stCondLst>
                                    <p:cond delay="0"/>
                                  </p:stCondLst>
                                  <p:childTnLst>
                                    <p:set>
                                      <p:cBhvr>
                                        <p:cTn id="80" dur="1" fill="hold">
                                          <p:stCondLst>
                                            <p:cond delay="0"/>
                                          </p:stCondLst>
                                        </p:cTn>
                                        <p:tgtEl>
                                          <p:spTgt spid="48"/>
                                        </p:tgtEl>
                                        <p:attrNameLst>
                                          <p:attrName>style.visibility</p:attrName>
                                        </p:attrNameLst>
                                      </p:cBhvr>
                                      <p:to>
                                        <p:strVal val="visible"/>
                                      </p:to>
                                    </p:set>
                                    <p:anim calcmode="lin" valueType="num">
                                      <p:cBhvr additive="base">
                                        <p:cTn id="81" dur="500"/>
                                        <p:tgtEl>
                                          <p:spTgt spid="48"/>
                                        </p:tgtEl>
                                        <p:attrNameLst>
                                          <p:attrName>ppt_x</p:attrName>
                                        </p:attrNameLst>
                                      </p:cBhvr>
                                      <p:tavLst>
                                        <p:tav tm="0">
                                          <p:val>
                                            <p:strVal val="#ppt_x+#ppt_w*1.125000"/>
                                          </p:val>
                                        </p:tav>
                                        <p:tav tm="100000">
                                          <p:val>
                                            <p:strVal val="#ppt_x"/>
                                          </p:val>
                                        </p:tav>
                                      </p:tavLst>
                                    </p:anim>
                                    <p:animEffect transition="in" filter="wipe(left)">
                                      <p:cBhvr>
                                        <p:cTn id="82" dur="500"/>
                                        <p:tgtEl>
                                          <p:spTgt spid="4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79"/>
                                        </p:tgtEl>
                                        <p:attrNameLst>
                                          <p:attrName>style.visibility</p:attrName>
                                        </p:attrNameLst>
                                      </p:cBhvr>
                                      <p:to>
                                        <p:strVal val="visible"/>
                                      </p:to>
                                    </p:set>
                                    <p:animEffect transition="in" filter="wipe(up)">
                                      <p:cBhvr>
                                        <p:cTn id="87" dur="500"/>
                                        <p:tgtEl>
                                          <p:spTgt spid="79"/>
                                        </p:tgtEl>
                                      </p:cBhvr>
                                    </p:animEffect>
                                  </p:childTnLst>
                                </p:cTn>
                              </p:par>
                            </p:childTnLst>
                          </p:cTn>
                        </p:par>
                      </p:childTnLst>
                    </p:cTn>
                  </p:par>
                  <p:par>
                    <p:cTn id="88" fill="hold">
                      <p:stCondLst>
                        <p:cond delay="indefinite"/>
                      </p:stCondLst>
                      <p:childTnLst>
                        <p:par>
                          <p:cTn id="89" fill="hold">
                            <p:stCondLst>
                              <p:cond delay="0"/>
                            </p:stCondLst>
                            <p:childTnLst>
                              <p:par>
                                <p:cTn id="90" presetID="12" presetClass="entr" presetSubtype="2" fill="hold" grpId="0" nodeType="clickEffect">
                                  <p:stCondLst>
                                    <p:cond delay="0"/>
                                  </p:stCondLst>
                                  <p:childTnLst>
                                    <p:set>
                                      <p:cBhvr>
                                        <p:cTn id="91" dur="1" fill="hold">
                                          <p:stCondLst>
                                            <p:cond delay="0"/>
                                          </p:stCondLst>
                                        </p:cTn>
                                        <p:tgtEl>
                                          <p:spTgt spid="34"/>
                                        </p:tgtEl>
                                        <p:attrNameLst>
                                          <p:attrName>style.visibility</p:attrName>
                                        </p:attrNameLst>
                                      </p:cBhvr>
                                      <p:to>
                                        <p:strVal val="visible"/>
                                      </p:to>
                                    </p:set>
                                    <p:anim calcmode="lin" valueType="num">
                                      <p:cBhvr additive="base">
                                        <p:cTn id="92" dur="500"/>
                                        <p:tgtEl>
                                          <p:spTgt spid="34"/>
                                        </p:tgtEl>
                                        <p:attrNameLst>
                                          <p:attrName>ppt_x</p:attrName>
                                        </p:attrNameLst>
                                      </p:cBhvr>
                                      <p:tavLst>
                                        <p:tav tm="0">
                                          <p:val>
                                            <p:strVal val="#ppt_x+#ppt_w*1.125000"/>
                                          </p:val>
                                        </p:tav>
                                        <p:tav tm="100000">
                                          <p:val>
                                            <p:strVal val="#ppt_x"/>
                                          </p:val>
                                        </p:tav>
                                      </p:tavLst>
                                    </p:anim>
                                    <p:animEffect transition="in" filter="wipe(left)">
                                      <p:cBhvr>
                                        <p:cTn id="93" dur="50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2" presetClass="entr" presetSubtype="8" fill="hold" grpId="0" nodeType="clickEffect">
                                  <p:stCondLst>
                                    <p:cond delay="0"/>
                                  </p:stCondLst>
                                  <p:childTnLst>
                                    <p:set>
                                      <p:cBhvr>
                                        <p:cTn id="97" dur="1" fill="hold">
                                          <p:stCondLst>
                                            <p:cond delay="0"/>
                                          </p:stCondLst>
                                        </p:cTn>
                                        <p:tgtEl>
                                          <p:spTgt spid="35"/>
                                        </p:tgtEl>
                                        <p:attrNameLst>
                                          <p:attrName>style.visibility</p:attrName>
                                        </p:attrNameLst>
                                      </p:cBhvr>
                                      <p:to>
                                        <p:strVal val="visible"/>
                                      </p:to>
                                    </p:set>
                                    <p:anim calcmode="lin" valueType="num">
                                      <p:cBhvr additive="base">
                                        <p:cTn id="98" dur="500"/>
                                        <p:tgtEl>
                                          <p:spTgt spid="35"/>
                                        </p:tgtEl>
                                        <p:attrNameLst>
                                          <p:attrName>ppt_x</p:attrName>
                                        </p:attrNameLst>
                                      </p:cBhvr>
                                      <p:tavLst>
                                        <p:tav tm="0">
                                          <p:val>
                                            <p:strVal val="#ppt_x-#ppt_w*1.125000"/>
                                          </p:val>
                                        </p:tav>
                                        <p:tav tm="100000">
                                          <p:val>
                                            <p:strVal val="#ppt_x"/>
                                          </p:val>
                                        </p:tav>
                                      </p:tavLst>
                                    </p:anim>
                                    <p:animEffect transition="in" filter="wipe(right)">
                                      <p:cBhvr>
                                        <p:cTn id="99" dur="5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nodeType="clickEffect">
                                  <p:stCondLst>
                                    <p:cond delay="0"/>
                                  </p:stCondLst>
                                  <p:childTnLst>
                                    <p:set>
                                      <p:cBhvr>
                                        <p:cTn id="103" dur="1" fill="hold">
                                          <p:stCondLst>
                                            <p:cond delay="0"/>
                                          </p:stCondLst>
                                        </p:cTn>
                                        <p:tgtEl>
                                          <p:spTgt spid="80"/>
                                        </p:tgtEl>
                                        <p:attrNameLst>
                                          <p:attrName>style.visibility</p:attrName>
                                        </p:attrNameLst>
                                      </p:cBhvr>
                                      <p:to>
                                        <p:strVal val="visible"/>
                                      </p:to>
                                    </p:set>
                                    <p:animEffect transition="in" filter="wipe(up)">
                                      <p:cBhvr>
                                        <p:cTn id="104" dur="500"/>
                                        <p:tgtEl>
                                          <p:spTgt spid="80"/>
                                        </p:tgtEl>
                                      </p:cBhvr>
                                    </p:animEffect>
                                  </p:childTnLst>
                                </p:cTn>
                              </p:par>
                            </p:childTnLst>
                          </p:cTn>
                        </p:par>
                      </p:childTnLst>
                    </p:cTn>
                  </p:par>
                  <p:par>
                    <p:cTn id="105" fill="hold">
                      <p:stCondLst>
                        <p:cond delay="indefinite"/>
                      </p:stCondLst>
                      <p:childTnLst>
                        <p:par>
                          <p:cTn id="106" fill="hold">
                            <p:stCondLst>
                              <p:cond delay="0"/>
                            </p:stCondLst>
                            <p:childTnLst>
                              <p:par>
                                <p:cTn id="107" presetID="12" presetClass="entr" presetSubtype="2" fill="hold" grpId="0" nodeType="clickEffect">
                                  <p:stCondLst>
                                    <p:cond delay="0"/>
                                  </p:stCondLst>
                                  <p:childTnLst>
                                    <p:set>
                                      <p:cBhvr>
                                        <p:cTn id="108" dur="1" fill="hold">
                                          <p:stCondLst>
                                            <p:cond delay="0"/>
                                          </p:stCondLst>
                                        </p:cTn>
                                        <p:tgtEl>
                                          <p:spTgt spid="47"/>
                                        </p:tgtEl>
                                        <p:attrNameLst>
                                          <p:attrName>style.visibility</p:attrName>
                                        </p:attrNameLst>
                                      </p:cBhvr>
                                      <p:to>
                                        <p:strVal val="visible"/>
                                      </p:to>
                                    </p:set>
                                    <p:anim calcmode="lin" valueType="num">
                                      <p:cBhvr additive="base">
                                        <p:cTn id="109" dur="500"/>
                                        <p:tgtEl>
                                          <p:spTgt spid="47"/>
                                        </p:tgtEl>
                                        <p:attrNameLst>
                                          <p:attrName>ppt_x</p:attrName>
                                        </p:attrNameLst>
                                      </p:cBhvr>
                                      <p:tavLst>
                                        <p:tav tm="0">
                                          <p:val>
                                            <p:strVal val="#ppt_x+#ppt_w*1.125000"/>
                                          </p:val>
                                        </p:tav>
                                        <p:tav tm="100000">
                                          <p:val>
                                            <p:strVal val="#ppt_x"/>
                                          </p:val>
                                        </p:tav>
                                      </p:tavLst>
                                    </p:anim>
                                    <p:animEffect transition="in" filter="wipe(left)">
                                      <p:cBhvr>
                                        <p:cTn id="110" dur="500"/>
                                        <p:tgtEl>
                                          <p:spTgt spid="47"/>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1" fill="hold" nodeType="clickEffect">
                                  <p:stCondLst>
                                    <p:cond delay="0"/>
                                  </p:stCondLst>
                                  <p:childTnLst>
                                    <p:set>
                                      <p:cBhvr>
                                        <p:cTn id="114" dur="1" fill="hold">
                                          <p:stCondLst>
                                            <p:cond delay="0"/>
                                          </p:stCondLst>
                                        </p:cTn>
                                        <p:tgtEl>
                                          <p:spTgt spid="81"/>
                                        </p:tgtEl>
                                        <p:attrNameLst>
                                          <p:attrName>style.visibility</p:attrName>
                                        </p:attrNameLst>
                                      </p:cBhvr>
                                      <p:to>
                                        <p:strVal val="visible"/>
                                      </p:to>
                                    </p:set>
                                    <p:anim calcmode="lin" valueType="num">
                                      <p:cBhvr additive="base">
                                        <p:cTn id="115" dur="500"/>
                                        <p:tgtEl>
                                          <p:spTgt spid="81"/>
                                        </p:tgtEl>
                                        <p:attrNameLst>
                                          <p:attrName>ppt_y</p:attrName>
                                        </p:attrNameLst>
                                      </p:cBhvr>
                                      <p:tavLst>
                                        <p:tav tm="0">
                                          <p:val>
                                            <p:strVal val="#ppt_y-#ppt_h*1.125000"/>
                                          </p:val>
                                        </p:tav>
                                        <p:tav tm="100000">
                                          <p:val>
                                            <p:strVal val="#ppt_y"/>
                                          </p:val>
                                        </p:tav>
                                      </p:tavLst>
                                    </p:anim>
                                    <p:animEffect transition="in" filter="wipe(down)">
                                      <p:cBhvr>
                                        <p:cTn id="116"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P spid="34" grpId="0" bldLvl="0" animBg="1"/>
      <p:bldP spid="35" grpId="0" bldLvl="0" animBg="1"/>
      <p:bldP spid="48" grpId="0"/>
      <p:bldP spid="37" grpId="0" bldLvl="0" animBg="1"/>
      <p:bldP spid="19" grpId="0" bldLvl="0" animBg="1"/>
      <p:bldP spid="13" grpId="0" bldLvl="0" animBg="1"/>
      <p:bldP spid="15" grpId="0" bldLvl="0" animBg="1"/>
      <p:bldP spid="16" grpId="0" bldLvl="0" animBg="1"/>
      <p:bldP spid="32" grpId="0" bldLvl="0" animBg="1"/>
      <p:bldP spid="69" grpId="0"/>
      <p:bldP spid="8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5</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 </a:t>
            </a:r>
            <a:r>
              <a:rPr lang="en-US" altLang="zh-CN" sz="4000" dirty="0">
                <a:latin typeface="+mj-ea"/>
                <a:sym typeface="+mn-ea"/>
              </a:rPr>
              <a:t>AH</a:t>
            </a:r>
            <a:r>
              <a:rPr lang="zh-CN" altLang="en-US" sz="4000" dirty="0">
                <a:latin typeface="+mj-ea"/>
                <a:sym typeface="+mn-ea"/>
              </a:rPr>
              <a:t>报文</a:t>
            </a:r>
            <a:endParaRPr lang="zh-CN" altLang="en-US" sz="4000" dirty="0">
              <a:latin typeface="+mj-ea"/>
              <a:sym typeface="+mn-ea"/>
            </a:endParaRPr>
          </a:p>
        </p:txBody>
      </p:sp>
      <p:sp>
        <p:nvSpPr>
          <p:cNvPr id="4" name="文本框 3"/>
          <p:cNvSpPr txBox="1"/>
          <p:nvPr/>
        </p:nvSpPr>
        <p:spPr>
          <a:xfrm>
            <a:off x="0" y="1053465"/>
            <a:ext cx="12185650" cy="3201670"/>
          </a:xfrm>
          <a:prstGeom prst="rect">
            <a:avLst/>
          </a:prstGeom>
          <a:noFill/>
        </p:spPr>
        <p:txBody>
          <a:bodyPr wrap="square" rtlCol="0">
            <a:noAutofit/>
          </a:bodyPr>
          <a:p>
            <a:pPr marL="342900" indent="-342900">
              <a:lnSpc>
                <a:spcPct val="150000"/>
              </a:lnSpc>
              <a:spcBef>
                <a:spcPts val="0"/>
              </a:spcBef>
              <a:buClr>
                <a:srgbClr val="DF4F21"/>
              </a:buClr>
              <a:buSzTx/>
              <a:buFont typeface="Wingdings" panose="05000000000000000000" charset="0"/>
              <a:buChar char="p"/>
            </a:pP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AH</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协议用于提供数据完整性和数据源认证。</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AH</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不提供保密性，但确保数据在传输过程中未被篡改。</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AH</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报文首部包含的字段如图所示，下面介绍各字段的含义：</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lvl="1" indent="0" algn="l">
              <a:lnSpc>
                <a:spcPct val="150000"/>
              </a:lnSpc>
              <a:spcBef>
                <a:spcPts val="0"/>
              </a:spcBef>
              <a:buClr>
                <a:srgbClr val="DF4F21"/>
              </a:buClr>
              <a:buSzTx/>
              <a:buFont typeface="Wingdings" panose="05000000000000000000" charset="0"/>
              <a:buNone/>
            </a:pP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
        <p:nvSpPr>
          <p:cNvPr id="7" name="文本框 6"/>
          <p:cNvSpPr txBox="1"/>
          <p:nvPr/>
        </p:nvSpPr>
        <p:spPr>
          <a:xfrm>
            <a:off x="5070475" y="5222240"/>
            <a:ext cx="2147570" cy="645160"/>
          </a:xfrm>
          <a:prstGeom prst="rect">
            <a:avLst/>
          </a:prstGeom>
        </p:spPr>
        <p:txBody>
          <a:bodyPr wrap="square">
            <a:spAutoFit/>
          </a:bodyPr>
          <a:p>
            <a:pPr indent="127000" algn="just" defTabSz="266700">
              <a:lnSpc>
                <a:spcPct val="150000"/>
              </a:lnSpc>
              <a:spcBef>
                <a:spcPct val="0"/>
              </a:spcBef>
              <a:spcAft>
                <a:spcPct val="0"/>
              </a:spcAft>
            </a:pPr>
            <a:r>
              <a:rPr lang="en-US" altLang="zh-CN" sz="2400" b="1" i="0">
                <a:latin typeface="Times New Roman" panose="02020603050405020304"/>
                <a:ea typeface="宋体" panose="02010600030101010101" pitchFamily="2" charset="-122"/>
              </a:rPr>
              <a:t>AH</a:t>
            </a:r>
            <a:r>
              <a:rPr lang="zh-CN" altLang="en-US" sz="2400" b="1" i="0">
                <a:latin typeface="Times New Roman" panose="02020603050405020304"/>
                <a:ea typeface="宋体" panose="02010600030101010101" pitchFamily="2" charset="-122"/>
              </a:rPr>
              <a:t>报头首部</a:t>
            </a:r>
            <a:endParaRPr lang="zh-CN" altLang="en-US" sz="2400" b="1" i="0">
              <a:latin typeface="Times New Roman" panose="02020603050405020304"/>
              <a:ea typeface="宋体" panose="02010600030101010101" pitchFamily="2" charset="-122"/>
            </a:endParaRPr>
          </a:p>
        </p:txBody>
      </p:sp>
      <p:graphicFrame>
        <p:nvGraphicFramePr>
          <p:cNvPr id="3" name="对象 -2147482609"/>
          <p:cNvGraphicFramePr>
            <a:graphicFrameLocks noChangeAspect="1"/>
          </p:cNvGraphicFramePr>
          <p:nvPr/>
        </p:nvGraphicFramePr>
        <p:xfrm>
          <a:off x="748665" y="2526030"/>
          <a:ext cx="10791825" cy="2610485"/>
        </p:xfrm>
        <a:graphic>
          <a:graphicData uri="http://schemas.openxmlformats.org/presentationml/2006/ole">
            <mc:AlternateContent xmlns:mc="http://schemas.openxmlformats.org/markup-compatibility/2006">
              <mc:Choice xmlns:v="urn:schemas-microsoft-com:vml" Requires="v">
                <p:oleObj spid="_x0000_s3076" name="" r:id="rId1" imgW="4093845" imgH="989965" progId="Visio.Drawing.15">
                  <p:embed/>
                </p:oleObj>
              </mc:Choice>
              <mc:Fallback>
                <p:oleObj name="" r:id="rId1" imgW="4093845" imgH="989965" progId="Visio.Drawing.15">
                  <p:embed/>
                  <p:pic>
                    <p:nvPicPr>
                      <p:cNvPr id="0" name="图片 3075"/>
                      <p:cNvPicPr/>
                      <p:nvPr/>
                    </p:nvPicPr>
                    <p:blipFill>
                      <a:blip r:embed="rId2"/>
                      <a:stretch>
                        <a:fillRect/>
                      </a:stretch>
                    </p:blipFill>
                    <p:spPr>
                      <a:xfrm>
                        <a:off x="748665" y="2526030"/>
                        <a:ext cx="10791825" cy="261048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1025334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5</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 </a:t>
            </a:r>
            <a:r>
              <a:rPr lang="en-US" altLang="zh-CN" sz="4000" dirty="0">
                <a:latin typeface="+mj-ea"/>
                <a:sym typeface="+mn-ea"/>
              </a:rPr>
              <a:t>ESP</a:t>
            </a:r>
            <a:r>
              <a:rPr lang="zh-CN" altLang="en-US" sz="4000" dirty="0">
                <a:latin typeface="+mj-ea"/>
                <a:sym typeface="+mn-ea"/>
              </a:rPr>
              <a:t>报文</a:t>
            </a:r>
            <a:endParaRPr lang="zh-CN" altLang="en-US" sz="4000" dirty="0">
              <a:latin typeface="+mj-ea"/>
              <a:sym typeface="+mn-ea"/>
            </a:endParaRPr>
          </a:p>
        </p:txBody>
      </p:sp>
      <p:grpSp>
        <p:nvGrpSpPr>
          <p:cNvPr id="7" name="组合 6"/>
          <p:cNvGrpSpPr/>
          <p:nvPr/>
        </p:nvGrpSpPr>
        <p:grpSpPr>
          <a:xfrm>
            <a:off x="542290" y="1898650"/>
            <a:ext cx="10949305" cy="3860800"/>
            <a:chOff x="854" y="4447"/>
            <a:chExt cx="17243" cy="6080"/>
          </a:xfrm>
        </p:grpSpPr>
        <p:graphicFrame>
          <p:nvGraphicFramePr>
            <p:cNvPr id="3" name="对象 -2147482608"/>
            <p:cNvGraphicFramePr/>
            <p:nvPr/>
          </p:nvGraphicFramePr>
          <p:xfrm>
            <a:off x="953" y="4447"/>
            <a:ext cx="17144" cy="3355"/>
          </p:xfrm>
          <a:graphic>
            <a:graphicData uri="http://schemas.openxmlformats.org/presentationml/2006/ole">
              <mc:AlternateContent xmlns:mc="http://schemas.openxmlformats.org/markup-compatibility/2006">
                <mc:Choice xmlns:v="urn:schemas-microsoft-com:vml" Requires="v">
                  <p:oleObj spid="_x0000_s3076" name="" r:id="rId1" imgW="5771515" imgH="1048385" progId="Visio.DrawingConvertable.15">
                    <p:embed/>
                  </p:oleObj>
                </mc:Choice>
                <mc:Fallback>
                  <p:oleObj name="" r:id="rId1" imgW="5771515" imgH="1048385" progId="Visio.DrawingConvertable.15">
                    <p:embed/>
                    <p:pic>
                      <p:nvPicPr>
                        <p:cNvPr id="0" name="图片 3075"/>
                        <p:cNvPicPr/>
                        <p:nvPr/>
                      </p:nvPicPr>
                      <p:blipFill>
                        <a:blip r:embed="rId2"/>
                        <a:stretch>
                          <a:fillRect/>
                        </a:stretch>
                      </p:blipFill>
                      <p:spPr>
                        <a:xfrm>
                          <a:off x="953" y="4447"/>
                          <a:ext cx="17144" cy="3355"/>
                        </a:xfrm>
                        <a:prstGeom prst="rect">
                          <a:avLst/>
                        </a:prstGeom>
                        <a:noFill/>
                        <a:ln w="38100">
                          <a:noFill/>
                          <a:miter/>
                        </a:ln>
                      </p:spPr>
                    </p:pic>
                  </p:oleObj>
                </mc:Fallback>
              </mc:AlternateContent>
            </a:graphicData>
          </a:graphic>
        </p:graphicFrame>
        <p:sp>
          <p:nvSpPr>
            <p:cNvPr id="5" name="矩形 4"/>
            <p:cNvSpPr/>
            <p:nvPr/>
          </p:nvSpPr>
          <p:spPr>
            <a:xfrm>
              <a:off x="2716" y="6546"/>
              <a:ext cx="2162" cy="1013"/>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lnSpc>
                  <a:spcPct val="150000"/>
                </a:lnSpc>
              </a:pPr>
              <a:endParaRPr lang="zh-CN" altLang="en-US" smtClean="0"/>
            </a:p>
          </p:txBody>
        </p:sp>
        <p:sp>
          <p:nvSpPr>
            <p:cNvPr id="6" name="圆角矩形标注 5"/>
            <p:cNvSpPr/>
            <p:nvPr/>
          </p:nvSpPr>
          <p:spPr>
            <a:xfrm>
              <a:off x="854" y="9185"/>
              <a:ext cx="17243" cy="1342"/>
            </a:xfrm>
            <a:prstGeom prst="wedgeRoundRectCallout">
              <a:avLst>
                <a:gd name="adj1" fmla="val -33641"/>
                <a:gd name="adj2" fmla="val -173237"/>
                <a:gd name="adj3" fmla="val 16667"/>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lnSpc>
                  <a:spcPct val="150000"/>
                </a:lnSpc>
              </a:pPr>
              <a:endParaRPr lang="zh-CN" altLang="en-US" smtClean="0"/>
            </a:p>
          </p:txBody>
        </p:sp>
        <p:sp>
          <p:nvSpPr>
            <p:cNvPr id="8" name="文本框 7"/>
            <p:cNvSpPr txBox="1"/>
            <p:nvPr/>
          </p:nvSpPr>
          <p:spPr>
            <a:xfrm>
              <a:off x="953" y="9257"/>
              <a:ext cx="17144" cy="888"/>
            </a:xfrm>
            <a:prstGeom prst="rect">
              <a:avLst/>
            </a:prstGeom>
            <a:noFill/>
          </p:spPr>
          <p:txBody>
            <a:bodyPr wrap="square" rtlCol="0">
              <a:noAutofit/>
            </a:bodyPr>
            <a:p>
              <a:pPr marL="0" lvl="2"/>
              <a:r>
                <a:rPr lang="zh-CN" altLang="en-US" sz="2400" b="1" kern="0" dirty="0">
                  <a:latin typeface="Times New Roman" panose="02020603050405020304" charset="0"/>
                  <a:ea typeface="宋体" panose="02010600030101010101" pitchFamily="2" charset="-122"/>
                  <a:cs typeface="Times New Roman" panose="02020603050405020304" charset="0"/>
                  <a:sym typeface="+mn-ea"/>
                </a:rPr>
                <a:t>安全参数索引SPI(Security Parameters Index，32位)：用于标识安全关联（SA），帮助接收方确定用于解密和验证ESP报文的密钥和算法；</a:t>
              </a:r>
              <a:endParaRPr lang="zh-CN" altLang="en-US" sz="2400" b="1" kern="0" dirty="0">
                <a:latin typeface="Times New Roman" panose="02020603050405020304" charset="0"/>
                <a:ea typeface="宋体" panose="02010600030101010101" pitchFamily="2" charset="-122"/>
                <a:cs typeface="Times New Roman" panose="02020603050405020304" charset="0"/>
              </a:endParaRPr>
            </a:p>
            <a:p>
              <a:pPr marL="0" lvl="1"/>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endParaRPr lang="zh-CN" altLang="en-US" sz="2400"/>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7780" y="270510"/>
            <a:ext cx="1025334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5</a:t>
            </a:r>
            <a:r>
              <a:rPr lang="zh-CN" altLang="en-US" sz="4000" dirty="0">
                <a:latin typeface="+mj-ea"/>
                <a:sym typeface="+mn-ea"/>
              </a:rPr>
              <a:t>.</a:t>
            </a:r>
            <a:r>
              <a:rPr lang="en-US" altLang="zh-CN" sz="4000" dirty="0">
                <a:latin typeface="+mj-ea"/>
                <a:sym typeface="+mn-ea"/>
              </a:rPr>
              <a:t>6</a:t>
            </a:r>
            <a:r>
              <a:rPr lang="zh-CN" altLang="en-US" sz="4000" dirty="0">
                <a:latin typeface="+mj-ea"/>
                <a:sym typeface="+mn-ea"/>
              </a:rPr>
              <a:t> </a:t>
            </a:r>
            <a:r>
              <a:rPr lang="en-US" altLang="zh-CN" sz="4000" dirty="0">
                <a:latin typeface="+mj-ea"/>
                <a:sym typeface="+mn-ea"/>
              </a:rPr>
              <a:t>IPSec</a:t>
            </a:r>
            <a:r>
              <a:rPr lang="zh-CN" altLang="en-US" sz="4000" dirty="0">
                <a:latin typeface="+mj-ea"/>
                <a:sym typeface="+mn-ea"/>
              </a:rPr>
              <a:t>安全策略</a:t>
            </a:r>
            <a:endParaRPr lang="zh-CN" altLang="en-US" sz="4000" dirty="0">
              <a:latin typeface="+mj-ea"/>
              <a:sym typeface="+mn-ea"/>
            </a:endParaRPr>
          </a:p>
        </p:txBody>
      </p:sp>
      <p:pic>
        <p:nvPicPr>
          <p:cNvPr id="24577" name="Picture 4" descr="0803"/>
          <p:cNvPicPr>
            <a:picLocks noChangeAspect="1"/>
          </p:cNvPicPr>
          <p:nvPr/>
        </p:nvPicPr>
        <p:blipFill>
          <a:blip r:embed="rId1"/>
          <a:stretch>
            <a:fillRect/>
          </a:stretch>
        </p:blipFill>
        <p:spPr>
          <a:xfrm>
            <a:off x="1715770" y="1757680"/>
            <a:ext cx="8002905" cy="384619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10253345" cy="583565"/>
          </a:xfrm>
        </p:spPr>
        <p:txBody>
          <a:bodyPr/>
          <a:p>
            <a:pPr algn="l">
              <a:buClrTx/>
              <a:buSzTx/>
              <a:buFontTx/>
            </a:pPr>
            <a:r>
              <a:rPr lang="en-US" altLang="zh-CN" sz="4000" dirty="0">
                <a:latin typeface="+mj-ea"/>
                <a:sym typeface="+mn-ea"/>
              </a:rPr>
              <a:t>3</a:t>
            </a:r>
            <a:r>
              <a:rPr lang="zh-CN" altLang="en-US" sz="4000" dirty="0">
                <a:latin typeface="+mj-ea"/>
                <a:sym typeface="+mn-ea"/>
              </a:rPr>
              <a:t>.</a:t>
            </a:r>
            <a:r>
              <a:rPr lang="en-US" altLang="zh-CN" sz="4000" dirty="0">
                <a:latin typeface="+mj-ea"/>
                <a:sym typeface="+mn-ea"/>
              </a:rPr>
              <a:t>5</a:t>
            </a:r>
            <a:r>
              <a:rPr lang="zh-CN" altLang="en-US" sz="4000" dirty="0">
                <a:latin typeface="+mj-ea"/>
                <a:sym typeface="+mn-ea"/>
              </a:rPr>
              <a:t>.</a:t>
            </a:r>
            <a:r>
              <a:rPr lang="en-US" altLang="zh-CN" sz="4000" dirty="0">
                <a:latin typeface="+mj-ea"/>
                <a:sym typeface="+mn-ea"/>
              </a:rPr>
              <a:t>6</a:t>
            </a:r>
            <a:r>
              <a:rPr lang="zh-CN" altLang="en-US" sz="4000" dirty="0">
                <a:latin typeface="+mj-ea"/>
                <a:sym typeface="+mn-ea"/>
              </a:rPr>
              <a:t> </a:t>
            </a:r>
            <a:r>
              <a:rPr lang="en-US" altLang="zh-CN" sz="4000" dirty="0">
                <a:latin typeface="+mj-ea"/>
                <a:sym typeface="+mn-ea"/>
              </a:rPr>
              <a:t>IPSec</a:t>
            </a:r>
            <a:r>
              <a:rPr lang="zh-CN" altLang="en-US" sz="4000" dirty="0">
                <a:latin typeface="+mj-ea"/>
                <a:sym typeface="+mn-ea"/>
              </a:rPr>
              <a:t>安全策略</a:t>
            </a:r>
            <a:endParaRPr lang="zh-CN" altLang="en-US" sz="4000" dirty="0">
              <a:latin typeface="+mj-ea"/>
              <a:sym typeface="+mn-ea"/>
            </a:endParaRPr>
          </a:p>
        </p:txBody>
      </p:sp>
      <p:grpSp>
        <p:nvGrpSpPr>
          <p:cNvPr id="26627" name="组合 28675"/>
          <p:cNvGrpSpPr/>
          <p:nvPr/>
        </p:nvGrpSpPr>
        <p:grpSpPr>
          <a:xfrm>
            <a:off x="2287905" y="1279525"/>
            <a:ext cx="6480175" cy="5111750"/>
            <a:chOff x="1980" y="1908"/>
            <a:chExt cx="4860" cy="5668"/>
          </a:xfrm>
        </p:grpSpPr>
        <p:sp>
          <p:nvSpPr>
            <p:cNvPr id="26628" name="文本框 28676"/>
            <p:cNvSpPr txBox="1"/>
            <p:nvPr/>
          </p:nvSpPr>
          <p:spPr>
            <a:xfrm>
              <a:off x="6156" y="2361"/>
              <a:ext cx="576" cy="1047"/>
            </a:xfrm>
            <a:prstGeom prst="rect">
              <a:avLst/>
            </a:prstGeom>
            <a:noFill/>
            <a:ln w="9525">
              <a:noFill/>
            </a:ln>
          </p:spPr>
          <p:txBody>
            <a:bodyPr lIns="0" tIns="0" rIns="0" bIns="0" anchor="t" anchorCtr="0"/>
            <a:p>
              <a:pPr marL="342900" indent="-342900" algn="ctr"/>
              <a:endParaRPr lang="zh-CN" altLang="zh-CN" dirty="0">
                <a:latin typeface="Times New Roman" panose="02020603050405020304" charset="0"/>
                <a:ea typeface="黑体" panose="02010609060101010101" charset="-122"/>
              </a:endParaRPr>
            </a:p>
          </p:txBody>
        </p:sp>
        <p:grpSp>
          <p:nvGrpSpPr>
            <p:cNvPr id="26629" name="组合 28677"/>
            <p:cNvGrpSpPr/>
            <p:nvPr/>
          </p:nvGrpSpPr>
          <p:grpSpPr>
            <a:xfrm>
              <a:off x="1980" y="1908"/>
              <a:ext cx="4860" cy="5668"/>
              <a:chOff x="1980" y="1908"/>
              <a:chExt cx="4860" cy="5668"/>
            </a:xfrm>
          </p:grpSpPr>
          <p:grpSp>
            <p:nvGrpSpPr>
              <p:cNvPr id="26630" name="组合 28678"/>
              <p:cNvGrpSpPr/>
              <p:nvPr/>
            </p:nvGrpSpPr>
            <p:grpSpPr>
              <a:xfrm>
                <a:off x="1980" y="1908"/>
                <a:ext cx="4860" cy="5668"/>
                <a:chOff x="1980" y="1908"/>
                <a:chExt cx="4860" cy="5668"/>
              </a:xfrm>
            </p:grpSpPr>
            <p:grpSp>
              <p:nvGrpSpPr>
                <p:cNvPr id="26631" name="组合 28679"/>
                <p:cNvGrpSpPr/>
                <p:nvPr/>
              </p:nvGrpSpPr>
              <p:grpSpPr>
                <a:xfrm>
                  <a:off x="2160" y="4316"/>
                  <a:ext cx="2880" cy="1576"/>
                  <a:chOff x="2160" y="4316"/>
                  <a:chExt cx="2880" cy="1576"/>
                </a:xfrm>
              </p:grpSpPr>
              <p:grpSp>
                <p:nvGrpSpPr>
                  <p:cNvPr id="26632" name="组合 28680"/>
                  <p:cNvGrpSpPr/>
                  <p:nvPr/>
                </p:nvGrpSpPr>
                <p:grpSpPr>
                  <a:xfrm>
                    <a:off x="2352" y="4952"/>
                    <a:ext cx="1401" cy="624"/>
                    <a:chOff x="7560" y="1440"/>
                    <a:chExt cx="1080" cy="624"/>
                  </a:xfrm>
                </p:grpSpPr>
                <p:sp>
                  <p:nvSpPr>
                    <p:cNvPr id="26633" name="菱形 28681"/>
                    <p:cNvSpPr/>
                    <p:nvPr/>
                  </p:nvSpPr>
                  <p:spPr>
                    <a:xfrm>
                      <a:off x="7560" y="1440"/>
                      <a:ext cx="1080" cy="624"/>
                    </a:xfrm>
                    <a:prstGeom prst="diamond">
                      <a:avLst/>
                    </a:prstGeom>
                    <a:noFill/>
                    <a:ln w="9525" cap="flat" cmpd="sng">
                      <a:solidFill>
                        <a:srgbClr val="000000"/>
                      </a:solidFill>
                      <a:prstDash val="solid"/>
                      <a:miter/>
                      <a:headEnd type="none" w="med" len="med"/>
                      <a:tailEnd type="none" w="med" len="med"/>
                    </a:ln>
                  </p:spPr>
                  <p:txBody>
                    <a:bodyPr anchor="t" anchorCtr="0"/>
                    <a:p>
                      <a:pPr algn="ctr"/>
                      <a:endParaRPr lang="zh-CN" altLang="en-US" dirty="0">
                        <a:latin typeface="Times New Roman" panose="02020603050405020304" charset="0"/>
                        <a:ea typeface="黑体" panose="02010609060101010101" charset="-122"/>
                      </a:endParaRPr>
                    </a:p>
                  </p:txBody>
                </p:sp>
                <p:sp>
                  <p:nvSpPr>
                    <p:cNvPr id="26634" name="文本框 28682"/>
                    <p:cNvSpPr txBox="1"/>
                    <p:nvPr/>
                  </p:nvSpPr>
                  <p:spPr>
                    <a:xfrm>
                      <a:off x="7788" y="1632"/>
                      <a:ext cx="720" cy="312"/>
                    </a:xfrm>
                    <a:prstGeom prst="rect">
                      <a:avLst/>
                    </a:prstGeom>
                    <a:noFill/>
                    <a:ln w="9525">
                      <a:noFill/>
                    </a:ln>
                  </p:spPr>
                  <p:txBody>
                    <a:bodyPr lIns="0" tIns="0" rIns="0" bIns="0" anchor="t" anchorCtr="0"/>
                    <a:p>
                      <a:pPr marL="342900" indent="-342900" algn="just"/>
                      <a:r>
                        <a:rPr lang="en-US" altLang="zh-CN" sz="1400" b="1" dirty="0">
                          <a:solidFill>
                            <a:srgbClr val="06661B"/>
                          </a:solidFill>
                          <a:latin typeface="Times New Roman" panose="02020603050405020304" charset="0"/>
                          <a:ea typeface="宋体" panose="02010600030101010101" pitchFamily="2" charset="-122"/>
                        </a:rPr>
                        <a:t>   </a:t>
                      </a:r>
                      <a:r>
                        <a:rPr lang="zh-CN" altLang="en-US" sz="1400" b="1" dirty="0">
                          <a:solidFill>
                            <a:srgbClr val="06661B"/>
                          </a:solidFill>
                          <a:latin typeface="Times New Roman" panose="02020603050405020304" charset="0"/>
                          <a:ea typeface="宋体" panose="02010600030101010101" pitchFamily="2" charset="-122"/>
                        </a:rPr>
                        <a:t>协商成功？</a:t>
                      </a:r>
                      <a:endParaRPr lang="zh-CN" altLang="en-US" sz="1400" b="1" dirty="0">
                        <a:solidFill>
                          <a:srgbClr val="06661B"/>
                        </a:solidFill>
                        <a:latin typeface="Times New Roman" panose="02020603050405020304" charset="0"/>
                        <a:ea typeface="黑体" panose="02010609060101010101" charset="-122"/>
                      </a:endParaRPr>
                    </a:p>
                  </p:txBody>
                </p:sp>
              </p:grpSp>
              <p:sp>
                <p:nvSpPr>
                  <p:cNvPr id="26635" name="文本框 28683"/>
                  <p:cNvSpPr txBox="1"/>
                  <p:nvPr/>
                </p:nvSpPr>
                <p:spPr>
                  <a:xfrm>
                    <a:off x="2500" y="4316"/>
                    <a:ext cx="1053" cy="312"/>
                  </a:xfrm>
                  <a:prstGeom prst="rect">
                    <a:avLst/>
                  </a:prstGeom>
                  <a:noFill/>
                  <a:ln w="9525" cap="flat" cmpd="sng">
                    <a:solidFill>
                      <a:srgbClr val="000000"/>
                    </a:solidFill>
                    <a:prstDash val="solid"/>
                    <a:miter/>
                    <a:headEnd type="none" w="med" len="med"/>
                    <a:tailEnd type="none" w="med" len="med"/>
                  </a:ln>
                </p:spPr>
                <p:txBody>
                  <a:bodyPr lIns="0" tIns="0" rIns="0" bIns="0" anchor="t" anchorCtr="0"/>
                  <a:p>
                    <a:pPr marL="342900" indent="-342900" algn="ctr"/>
                    <a:r>
                      <a:rPr lang="zh-CN" altLang="en-US" sz="1400" b="1" dirty="0">
                        <a:solidFill>
                          <a:srgbClr val="06661B"/>
                        </a:solidFill>
                        <a:latin typeface="Times New Roman" panose="02020603050405020304" charset="0"/>
                        <a:ea typeface="宋体" panose="02010600030101010101" pitchFamily="2" charset="-122"/>
                      </a:rPr>
                      <a:t>启动</a:t>
                    </a:r>
                    <a:r>
                      <a:rPr lang="en-US" altLang="zh-CN" sz="1400" b="1" dirty="0">
                        <a:solidFill>
                          <a:srgbClr val="06661B"/>
                        </a:solidFill>
                        <a:latin typeface="Times New Roman" panose="02020603050405020304" charset="0"/>
                        <a:ea typeface="宋体" panose="02010600030101010101" pitchFamily="2" charset="-122"/>
                      </a:rPr>
                      <a:t>IKE</a:t>
                    </a:r>
                    <a:r>
                      <a:rPr lang="zh-CN" altLang="en-US" sz="1400" b="1" dirty="0">
                        <a:solidFill>
                          <a:srgbClr val="06661B"/>
                        </a:solidFill>
                        <a:latin typeface="Times New Roman" panose="02020603050405020304" charset="0"/>
                        <a:ea typeface="宋体" panose="02010600030101010101" pitchFamily="2" charset="-122"/>
                      </a:rPr>
                      <a:t>协商</a:t>
                    </a:r>
                    <a:endParaRPr lang="zh-CN" altLang="en-US" sz="1400" b="1" dirty="0">
                      <a:solidFill>
                        <a:srgbClr val="06661B"/>
                      </a:solidFill>
                      <a:latin typeface="Times New Roman" panose="02020603050405020304" charset="0"/>
                      <a:ea typeface="黑体" panose="02010609060101010101" charset="-122"/>
                    </a:endParaRPr>
                  </a:p>
                </p:txBody>
              </p:sp>
              <p:sp>
                <p:nvSpPr>
                  <p:cNvPr id="26636" name="直接连接符 28684"/>
                  <p:cNvSpPr/>
                  <p:nvPr/>
                </p:nvSpPr>
                <p:spPr>
                  <a:xfrm>
                    <a:off x="3055" y="4636"/>
                    <a:ext cx="0" cy="312"/>
                  </a:xfrm>
                  <a:prstGeom prst="line">
                    <a:avLst/>
                  </a:prstGeom>
                  <a:ln w="9525" cap="flat" cmpd="sng">
                    <a:solidFill>
                      <a:srgbClr val="000000"/>
                    </a:solidFill>
                    <a:prstDash val="solid"/>
                    <a:round/>
                    <a:headEnd type="none" w="med" len="med"/>
                    <a:tailEnd type="triangle" w="med" len="med"/>
                  </a:ln>
                </p:spPr>
              </p:sp>
              <p:sp>
                <p:nvSpPr>
                  <p:cNvPr id="26637" name="直接连接符 28685"/>
                  <p:cNvSpPr/>
                  <p:nvPr/>
                </p:nvSpPr>
                <p:spPr>
                  <a:xfrm>
                    <a:off x="3751" y="5273"/>
                    <a:ext cx="180" cy="0"/>
                  </a:xfrm>
                  <a:prstGeom prst="line">
                    <a:avLst/>
                  </a:prstGeom>
                  <a:ln w="9525" cap="flat" cmpd="sng">
                    <a:solidFill>
                      <a:srgbClr val="000000"/>
                    </a:solidFill>
                    <a:prstDash val="solid"/>
                    <a:round/>
                    <a:headEnd type="none" w="med" len="med"/>
                    <a:tailEnd type="none" w="med" len="med"/>
                  </a:ln>
                </p:spPr>
              </p:sp>
              <p:sp>
                <p:nvSpPr>
                  <p:cNvPr id="26638" name="直接连接符 28686"/>
                  <p:cNvSpPr/>
                  <p:nvPr/>
                </p:nvSpPr>
                <p:spPr>
                  <a:xfrm flipV="1">
                    <a:off x="3949" y="4870"/>
                    <a:ext cx="0" cy="403"/>
                  </a:xfrm>
                  <a:prstGeom prst="line">
                    <a:avLst/>
                  </a:prstGeom>
                  <a:ln w="9525" cap="flat" cmpd="sng">
                    <a:solidFill>
                      <a:srgbClr val="000000"/>
                    </a:solidFill>
                    <a:prstDash val="solid"/>
                    <a:round/>
                    <a:headEnd type="none" w="med" len="med"/>
                    <a:tailEnd type="none" w="med" len="med"/>
                  </a:ln>
                </p:spPr>
              </p:sp>
              <p:sp>
                <p:nvSpPr>
                  <p:cNvPr id="26639" name="直接连接符 28687"/>
                  <p:cNvSpPr/>
                  <p:nvPr/>
                </p:nvSpPr>
                <p:spPr>
                  <a:xfrm>
                    <a:off x="3960" y="4879"/>
                    <a:ext cx="1080" cy="0"/>
                  </a:xfrm>
                  <a:prstGeom prst="line">
                    <a:avLst/>
                  </a:prstGeom>
                  <a:ln w="9525" cap="flat" cmpd="sng">
                    <a:solidFill>
                      <a:srgbClr val="000000"/>
                    </a:solidFill>
                    <a:prstDash val="solid"/>
                    <a:round/>
                    <a:headEnd type="none" w="med" len="med"/>
                    <a:tailEnd type="triangle" w="med" len="med"/>
                  </a:ln>
                </p:spPr>
              </p:sp>
              <p:sp>
                <p:nvSpPr>
                  <p:cNvPr id="26640" name="文本框 28688"/>
                  <p:cNvSpPr txBox="1"/>
                  <p:nvPr/>
                </p:nvSpPr>
                <p:spPr>
                  <a:xfrm>
                    <a:off x="3175" y="5513"/>
                    <a:ext cx="404" cy="324"/>
                  </a:xfrm>
                  <a:prstGeom prst="rect">
                    <a:avLst/>
                  </a:prstGeom>
                  <a:noFill/>
                  <a:ln w="9525">
                    <a:noFill/>
                  </a:ln>
                </p:spPr>
                <p:txBody>
                  <a:bodyPr lIns="0" tIns="0" rIns="0" bIns="0" anchor="t" anchorCtr="0"/>
                  <a:p>
                    <a:pPr marL="342900" indent="-342900" algn="just"/>
                    <a:r>
                      <a:rPr lang="zh-CN" altLang="en-US" sz="1400" b="1" dirty="0">
                        <a:solidFill>
                          <a:srgbClr val="06661B"/>
                        </a:solidFill>
                        <a:latin typeface="Times New Roman" panose="02020603050405020304" charset="0"/>
                        <a:ea typeface="宋体" panose="02010600030101010101" pitchFamily="2" charset="-122"/>
                      </a:rPr>
                      <a:t>否</a:t>
                    </a:r>
                    <a:endParaRPr lang="zh-CN" altLang="en-US" sz="1400" b="1" dirty="0">
                      <a:solidFill>
                        <a:srgbClr val="06661B"/>
                      </a:solidFill>
                      <a:latin typeface="Times New Roman" panose="02020603050405020304" charset="0"/>
                      <a:ea typeface="黑体" panose="02010609060101010101" charset="-122"/>
                    </a:endParaRPr>
                  </a:p>
                </p:txBody>
              </p:sp>
              <p:sp>
                <p:nvSpPr>
                  <p:cNvPr id="26641" name="直接连接符 28689"/>
                  <p:cNvSpPr/>
                  <p:nvPr/>
                </p:nvSpPr>
                <p:spPr>
                  <a:xfrm>
                    <a:off x="3056" y="5580"/>
                    <a:ext cx="0" cy="312"/>
                  </a:xfrm>
                  <a:prstGeom prst="line">
                    <a:avLst/>
                  </a:prstGeom>
                  <a:ln w="9525" cap="flat" cmpd="sng">
                    <a:solidFill>
                      <a:srgbClr val="000000"/>
                    </a:solidFill>
                    <a:prstDash val="solid"/>
                    <a:round/>
                    <a:headEnd type="none" w="med" len="med"/>
                    <a:tailEnd type="triangle" w="med" len="med"/>
                  </a:ln>
                </p:spPr>
              </p:sp>
              <p:sp>
                <p:nvSpPr>
                  <p:cNvPr id="26642" name="直接连接符 28690"/>
                  <p:cNvSpPr/>
                  <p:nvPr/>
                </p:nvSpPr>
                <p:spPr>
                  <a:xfrm>
                    <a:off x="2160" y="5668"/>
                    <a:ext cx="900" cy="0"/>
                  </a:xfrm>
                  <a:prstGeom prst="line">
                    <a:avLst/>
                  </a:prstGeom>
                  <a:ln w="9525" cap="flat" cmpd="sng">
                    <a:solidFill>
                      <a:srgbClr val="000000"/>
                    </a:solidFill>
                    <a:prstDash val="solid"/>
                    <a:round/>
                    <a:headEnd type="none" w="med" len="med"/>
                    <a:tailEnd type="triangle" w="med" len="med"/>
                  </a:ln>
                </p:spPr>
              </p:sp>
            </p:grpSp>
            <p:grpSp>
              <p:nvGrpSpPr>
                <p:cNvPr id="26643" name="组合 28691"/>
                <p:cNvGrpSpPr/>
                <p:nvPr/>
              </p:nvGrpSpPr>
              <p:grpSpPr>
                <a:xfrm>
                  <a:off x="1980" y="1908"/>
                  <a:ext cx="4860" cy="5100"/>
                  <a:chOff x="1980" y="1908"/>
                  <a:chExt cx="4860" cy="5100"/>
                </a:xfrm>
              </p:grpSpPr>
              <p:sp>
                <p:nvSpPr>
                  <p:cNvPr id="26644" name="直接连接符 28692"/>
                  <p:cNvSpPr/>
                  <p:nvPr/>
                </p:nvSpPr>
                <p:spPr>
                  <a:xfrm>
                    <a:off x="3060" y="6297"/>
                    <a:ext cx="0" cy="540"/>
                  </a:xfrm>
                  <a:prstGeom prst="line">
                    <a:avLst/>
                  </a:prstGeom>
                  <a:ln w="9525" cap="flat" cmpd="sng">
                    <a:solidFill>
                      <a:srgbClr val="000000"/>
                    </a:solidFill>
                    <a:prstDash val="solid"/>
                    <a:round/>
                    <a:headEnd type="none" w="med" len="med"/>
                    <a:tailEnd type="none" w="med" len="med"/>
                  </a:ln>
                </p:spPr>
              </p:sp>
              <p:sp>
                <p:nvSpPr>
                  <p:cNvPr id="26645" name="文本框 28693"/>
                  <p:cNvSpPr txBox="1"/>
                  <p:nvPr/>
                </p:nvSpPr>
                <p:spPr>
                  <a:xfrm>
                    <a:off x="3780" y="1908"/>
                    <a:ext cx="2784" cy="312"/>
                  </a:xfrm>
                  <a:prstGeom prst="rect">
                    <a:avLst/>
                  </a:prstGeom>
                  <a:noFill/>
                  <a:ln w="9525" cap="flat" cmpd="sng">
                    <a:solidFill>
                      <a:srgbClr val="000000"/>
                    </a:solidFill>
                    <a:prstDash val="solid"/>
                    <a:miter/>
                    <a:headEnd type="none" w="med" len="med"/>
                    <a:tailEnd type="none" w="med" len="med"/>
                  </a:ln>
                </p:spPr>
                <p:txBody>
                  <a:bodyPr lIns="0" tIns="72000" rIns="0" bIns="0" anchor="t" anchorCtr="0"/>
                  <a:p>
                    <a:pPr marL="342900" indent="-342900" algn="ctr"/>
                    <a:r>
                      <a:rPr lang="en-US" altLang="zh-CN" sz="1400" b="1" dirty="0">
                        <a:solidFill>
                          <a:srgbClr val="06661B"/>
                        </a:solidFill>
                        <a:latin typeface="Times New Roman" panose="02020603050405020304" charset="0"/>
                        <a:ea typeface="宋体" panose="02010600030101010101" pitchFamily="2" charset="-122"/>
                      </a:rPr>
                      <a:t>TCP</a:t>
                    </a:r>
                    <a:r>
                      <a:rPr lang="zh-CN" altLang="en-US" sz="1400" b="1" dirty="0">
                        <a:solidFill>
                          <a:srgbClr val="06661B"/>
                        </a:solidFill>
                        <a:latin typeface="Times New Roman" panose="02020603050405020304" charset="0"/>
                        <a:ea typeface="宋体" panose="02010600030101010101" pitchFamily="2" charset="-122"/>
                      </a:rPr>
                      <a:t>层产生的或者需要转发的数据包</a:t>
                    </a:r>
                    <a:endParaRPr lang="zh-CN" altLang="en-US" sz="1400" b="1" dirty="0">
                      <a:solidFill>
                        <a:srgbClr val="06661B"/>
                      </a:solidFill>
                      <a:latin typeface="Times New Roman" panose="02020603050405020304" charset="0"/>
                      <a:ea typeface="黑体" panose="02010609060101010101" charset="-122"/>
                    </a:endParaRPr>
                  </a:p>
                </p:txBody>
              </p:sp>
              <p:sp>
                <p:nvSpPr>
                  <p:cNvPr id="26646" name="文本框 28694"/>
                  <p:cNvSpPr txBox="1"/>
                  <p:nvPr/>
                </p:nvSpPr>
                <p:spPr>
                  <a:xfrm>
                    <a:off x="2160" y="1908"/>
                    <a:ext cx="1440" cy="1560"/>
                  </a:xfrm>
                  <a:prstGeom prst="rect">
                    <a:avLst/>
                  </a:prstGeom>
                  <a:noFill/>
                  <a:ln w="9525">
                    <a:noFill/>
                  </a:ln>
                </p:spPr>
                <p:txBody>
                  <a:bodyPr lIns="0" tIns="0" rIns="0" bIns="0" anchor="t" anchorCtr="0"/>
                  <a:p>
                    <a:pPr marL="342900" indent="-342900" algn="ctr">
                      <a:buFont typeface="Arial" panose="020B0604020202020204" pitchFamily="34" charset="0"/>
                      <a:buChar char="•"/>
                    </a:pPr>
                    <a:endParaRPr lang="zh-CN" altLang="zh-CN" dirty="0">
                      <a:latin typeface="Times New Roman" panose="02020603050405020304" charset="0"/>
                      <a:ea typeface="黑体" panose="02010609060101010101" charset="-122"/>
                    </a:endParaRPr>
                  </a:p>
                </p:txBody>
              </p:sp>
              <p:grpSp>
                <p:nvGrpSpPr>
                  <p:cNvPr id="26647" name="组合 28695"/>
                  <p:cNvGrpSpPr/>
                  <p:nvPr/>
                </p:nvGrpSpPr>
                <p:grpSpPr>
                  <a:xfrm>
                    <a:off x="4430" y="4144"/>
                    <a:ext cx="1247" cy="624"/>
                    <a:chOff x="7560" y="1440"/>
                    <a:chExt cx="1080" cy="624"/>
                  </a:xfrm>
                </p:grpSpPr>
                <p:sp>
                  <p:nvSpPr>
                    <p:cNvPr id="26648" name="菱形 28696"/>
                    <p:cNvSpPr/>
                    <p:nvPr/>
                  </p:nvSpPr>
                  <p:spPr>
                    <a:xfrm>
                      <a:off x="7560" y="1440"/>
                      <a:ext cx="1080" cy="624"/>
                    </a:xfrm>
                    <a:prstGeom prst="diamond">
                      <a:avLst/>
                    </a:prstGeom>
                    <a:solidFill>
                      <a:srgbClr val="FFFFFF"/>
                    </a:solidFill>
                    <a:ln w="9525" cap="flat" cmpd="sng">
                      <a:solidFill>
                        <a:srgbClr val="000000"/>
                      </a:solidFill>
                      <a:prstDash val="solid"/>
                      <a:miter/>
                      <a:headEnd type="none" w="med" len="med"/>
                      <a:tailEnd type="none" w="med" len="med"/>
                    </a:ln>
                  </p:spPr>
                  <p:txBody>
                    <a:bodyPr anchor="t" anchorCtr="0"/>
                    <a:p>
                      <a:pPr algn="ctr"/>
                      <a:endParaRPr lang="zh-CN" altLang="en-US" dirty="0">
                        <a:latin typeface="Times New Roman" panose="02020603050405020304" charset="0"/>
                        <a:ea typeface="黑体" panose="02010609060101010101" charset="-122"/>
                      </a:endParaRPr>
                    </a:p>
                  </p:txBody>
                </p:sp>
                <p:sp>
                  <p:nvSpPr>
                    <p:cNvPr id="26649" name="文本框 28697"/>
                    <p:cNvSpPr txBox="1"/>
                    <p:nvPr/>
                  </p:nvSpPr>
                  <p:spPr>
                    <a:xfrm>
                      <a:off x="7788" y="1632"/>
                      <a:ext cx="720" cy="312"/>
                    </a:xfrm>
                    <a:prstGeom prst="rect">
                      <a:avLst/>
                    </a:prstGeom>
                    <a:noFill/>
                    <a:ln w="9525">
                      <a:noFill/>
                    </a:ln>
                  </p:spPr>
                  <p:txBody>
                    <a:bodyPr lIns="0" tIns="0" rIns="0" bIns="0" anchor="t" anchorCtr="0"/>
                    <a:p>
                      <a:pPr marL="342900" indent="-342900" algn="ctr"/>
                      <a:r>
                        <a:rPr lang="zh-CN" altLang="en-US" sz="1400" b="1" dirty="0">
                          <a:solidFill>
                            <a:srgbClr val="06661B"/>
                          </a:solidFill>
                          <a:latin typeface="Times New Roman" panose="02020603050405020304" charset="0"/>
                          <a:ea typeface="宋体" panose="02010600030101010101" pitchFamily="2" charset="-122"/>
                        </a:rPr>
                        <a:t>安全关联？</a:t>
                      </a:r>
                      <a:endParaRPr lang="zh-CN" altLang="en-US" sz="1400" b="1" dirty="0">
                        <a:solidFill>
                          <a:srgbClr val="06661B"/>
                        </a:solidFill>
                        <a:latin typeface="Times New Roman" panose="02020603050405020304" charset="0"/>
                        <a:ea typeface="黑体" panose="02010609060101010101" charset="-122"/>
                      </a:endParaRPr>
                    </a:p>
                  </p:txBody>
                </p:sp>
              </p:grpSp>
              <p:grpSp>
                <p:nvGrpSpPr>
                  <p:cNvPr id="26650" name="组合 28698"/>
                  <p:cNvGrpSpPr/>
                  <p:nvPr/>
                </p:nvGrpSpPr>
                <p:grpSpPr>
                  <a:xfrm>
                    <a:off x="4402" y="3207"/>
                    <a:ext cx="1260" cy="624"/>
                    <a:chOff x="7560" y="1440"/>
                    <a:chExt cx="1080" cy="624"/>
                  </a:xfrm>
                </p:grpSpPr>
                <p:sp>
                  <p:nvSpPr>
                    <p:cNvPr id="26651" name="菱形 28699"/>
                    <p:cNvSpPr/>
                    <p:nvPr/>
                  </p:nvSpPr>
                  <p:spPr>
                    <a:xfrm>
                      <a:off x="7560" y="1440"/>
                      <a:ext cx="1080" cy="624"/>
                    </a:xfrm>
                    <a:prstGeom prst="diamond">
                      <a:avLst/>
                    </a:prstGeom>
                    <a:solidFill>
                      <a:srgbClr val="FFFFFF"/>
                    </a:solidFill>
                    <a:ln w="9525" cap="flat" cmpd="sng">
                      <a:solidFill>
                        <a:srgbClr val="000000"/>
                      </a:solidFill>
                      <a:prstDash val="solid"/>
                      <a:miter/>
                      <a:headEnd type="none" w="med" len="med"/>
                      <a:tailEnd type="none" w="med" len="med"/>
                    </a:ln>
                  </p:spPr>
                  <p:txBody>
                    <a:bodyPr anchor="t" anchorCtr="0"/>
                    <a:p>
                      <a:pPr algn="ctr"/>
                      <a:endParaRPr lang="zh-CN" altLang="en-US" dirty="0">
                        <a:latin typeface="Times New Roman" panose="02020603050405020304" charset="0"/>
                        <a:ea typeface="黑体" panose="02010609060101010101" charset="-122"/>
                      </a:endParaRPr>
                    </a:p>
                  </p:txBody>
                </p:sp>
                <p:sp>
                  <p:nvSpPr>
                    <p:cNvPr id="26652" name="文本框 28700"/>
                    <p:cNvSpPr txBox="1"/>
                    <p:nvPr/>
                  </p:nvSpPr>
                  <p:spPr>
                    <a:xfrm>
                      <a:off x="7788" y="1632"/>
                      <a:ext cx="720" cy="312"/>
                    </a:xfrm>
                    <a:prstGeom prst="rect">
                      <a:avLst/>
                    </a:prstGeom>
                    <a:noFill/>
                    <a:ln w="9525">
                      <a:noFill/>
                    </a:ln>
                  </p:spPr>
                  <p:txBody>
                    <a:bodyPr lIns="0" tIns="0" rIns="0" bIns="0" anchor="t" anchorCtr="0"/>
                    <a:p>
                      <a:pPr marL="342900" indent="-342900" algn="ctr"/>
                      <a:r>
                        <a:rPr lang="zh-CN" altLang="en-US" sz="1400" b="1" dirty="0">
                          <a:solidFill>
                            <a:srgbClr val="06661B"/>
                          </a:solidFill>
                          <a:latin typeface="Times New Roman" panose="02020603050405020304" charset="0"/>
                          <a:ea typeface="宋体" panose="02010600030101010101" pitchFamily="2" charset="-122"/>
                        </a:rPr>
                        <a:t>处理策略？</a:t>
                      </a:r>
                      <a:endParaRPr lang="zh-CN" altLang="en-US" sz="1400" b="1" dirty="0">
                        <a:solidFill>
                          <a:srgbClr val="06661B"/>
                        </a:solidFill>
                        <a:latin typeface="Times New Roman" panose="02020603050405020304" charset="0"/>
                        <a:ea typeface="黑体" panose="02010609060101010101" charset="-122"/>
                      </a:endParaRPr>
                    </a:p>
                  </p:txBody>
                </p:sp>
              </p:grpSp>
              <p:sp>
                <p:nvSpPr>
                  <p:cNvPr id="26653" name="直接连接符 28701"/>
                  <p:cNvSpPr/>
                  <p:nvPr/>
                </p:nvSpPr>
                <p:spPr>
                  <a:xfrm>
                    <a:off x="5040" y="2220"/>
                    <a:ext cx="0" cy="312"/>
                  </a:xfrm>
                  <a:prstGeom prst="line">
                    <a:avLst/>
                  </a:prstGeom>
                  <a:ln w="9525" cap="flat" cmpd="sng">
                    <a:solidFill>
                      <a:srgbClr val="000000"/>
                    </a:solidFill>
                    <a:prstDash val="solid"/>
                    <a:round/>
                    <a:headEnd type="none" w="med" len="med"/>
                    <a:tailEnd type="triangle" w="med" len="med"/>
                  </a:ln>
                </p:spPr>
              </p:sp>
              <p:sp>
                <p:nvSpPr>
                  <p:cNvPr id="26654" name="文本框 28702"/>
                  <p:cNvSpPr txBox="1"/>
                  <p:nvPr/>
                </p:nvSpPr>
                <p:spPr>
                  <a:xfrm>
                    <a:off x="4512" y="2568"/>
                    <a:ext cx="1080" cy="312"/>
                  </a:xfrm>
                  <a:prstGeom prst="rect">
                    <a:avLst/>
                  </a:prstGeom>
                  <a:noFill/>
                  <a:ln w="9525" cap="flat" cmpd="sng">
                    <a:solidFill>
                      <a:srgbClr val="000000"/>
                    </a:solidFill>
                    <a:prstDash val="solid"/>
                    <a:miter/>
                    <a:headEnd type="none" w="med" len="med"/>
                    <a:tailEnd type="none" w="med" len="med"/>
                  </a:ln>
                </p:spPr>
                <p:txBody>
                  <a:bodyPr lIns="0" tIns="72000" rIns="0" bIns="0" anchor="t" anchorCtr="0"/>
                  <a:p>
                    <a:pPr marL="342900" indent="-342900" algn="ctr"/>
                    <a:r>
                      <a:rPr lang="zh-CN" altLang="en-US" sz="1400" b="1" dirty="0">
                        <a:solidFill>
                          <a:srgbClr val="06661B"/>
                        </a:solidFill>
                        <a:latin typeface="Times New Roman" panose="02020603050405020304" charset="0"/>
                        <a:ea typeface="宋体" panose="02010600030101010101" pitchFamily="2" charset="-122"/>
                      </a:rPr>
                      <a:t>查询</a:t>
                    </a:r>
                    <a:r>
                      <a:rPr lang="en-US" altLang="zh-CN" sz="1400" b="1" dirty="0">
                        <a:solidFill>
                          <a:srgbClr val="06661B"/>
                        </a:solidFill>
                        <a:latin typeface="Times New Roman" panose="02020603050405020304" charset="0"/>
                        <a:ea typeface="宋体" panose="02010600030101010101" pitchFamily="2" charset="-122"/>
                      </a:rPr>
                      <a:t>SPD</a:t>
                    </a:r>
                    <a:endParaRPr lang="en-US" altLang="zh-CN" sz="1400" b="1" dirty="0">
                      <a:solidFill>
                        <a:srgbClr val="06661B"/>
                      </a:solidFill>
                      <a:latin typeface="Times New Roman" panose="02020603050405020304" charset="0"/>
                      <a:ea typeface="黑体" panose="02010609060101010101" charset="-122"/>
                    </a:endParaRPr>
                  </a:p>
                </p:txBody>
              </p:sp>
              <p:sp>
                <p:nvSpPr>
                  <p:cNvPr id="26655" name="直接连接符 28703"/>
                  <p:cNvSpPr/>
                  <p:nvPr/>
                </p:nvSpPr>
                <p:spPr>
                  <a:xfrm>
                    <a:off x="5040" y="2895"/>
                    <a:ext cx="0" cy="312"/>
                  </a:xfrm>
                  <a:prstGeom prst="line">
                    <a:avLst/>
                  </a:prstGeom>
                  <a:ln w="9525" cap="flat" cmpd="sng">
                    <a:solidFill>
                      <a:srgbClr val="000000"/>
                    </a:solidFill>
                    <a:prstDash val="solid"/>
                    <a:round/>
                    <a:headEnd type="none" w="med" len="med"/>
                    <a:tailEnd type="triangle" w="med" len="med"/>
                  </a:ln>
                </p:spPr>
              </p:sp>
              <p:sp>
                <p:nvSpPr>
                  <p:cNvPr id="26656" name="文本框 28704"/>
                  <p:cNvSpPr txBox="1"/>
                  <p:nvPr/>
                </p:nvSpPr>
                <p:spPr>
                  <a:xfrm>
                    <a:off x="4092" y="3252"/>
                    <a:ext cx="444" cy="324"/>
                  </a:xfrm>
                  <a:prstGeom prst="rect">
                    <a:avLst/>
                  </a:prstGeom>
                  <a:noFill/>
                  <a:ln w="9525">
                    <a:noFill/>
                  </a:ln>
                </p:spPr>
                <p:txBody>
                  <a:bodyPr lIns="0" tIns="0" rIns="0" bIns="0" anchor="t" anchorCtr="0"/>
                  <a:p>
                    <a:pPr marL="342900" indent="-342900" algn="just"/>
                    <a:r>
                      <a:rPr lang="zh-CN" altLang="en-US" sz="1400" b="1" dirty="0">
                        <a:solidFill>
                          <a:srgbClr val="06661B"/>
                        </a:solidFill>
                        <a:latin typeface="Times New Roman" panose="02020603050405020304" charset="0"/>
                        <a:ea typeface="宋体" panose="02010600030101010101" pitchFamily="2" charset="-122"/>
                      </a:rPr>
                      <a:t>丢弃</a:t>
                    </a:r>
                    <a:endParaRPr lang="zh-CN" altLang="en-US" sz="1400" b="1" dirty="0">
                      <a:solidFill>
                        <a:srgbClr val="06661B"/>
                      </a:solidFill>
                      <a:latin typeface="Times New Roman" panose="02020603050405020304" charset="0"/>
                      <a:ea typeface="宋体" panose="02010600030101010101" pitchFamily="2" charset="-122"/>
                    </a:endParaRPr>
                  </a:p>
                </p:txBody>
              </p:sp>
              <p:sp>
                <p:nvSpPr>
                  <p:cNvPr id="26657" name="文本框 28705"/>
                  <p:cNvSpPr txBox="1"/>
                  <p:nvPr/>
                </p:nvSpPr>
                <p:spPr>
                  <a:xfrm>
                    <a:off x="5640" y="3228"/>
                    <a:ext cx="1020" cy="324"/>
                  </a:xfrm>
                  <a:prstGeom prst="rect">
                    <a:avLst/>
                  </a:prstGeom>
                  <a:noFill/>
                  <a:ln w="9525">
                    <a:noFill/>
                  </a:ln>
                </p:spPr>
                <p:txBody>
                  <a:bodyPr lIns="0" tIns="0" rIns="0" bIns="0" anchor="t" anchorCtr="0"/>
                  <a:p>
                    <a:pPr marL="342900" indent="-342900" algn="just"/>
                    <a:r>
                      <a:rPr lang="zh-CN" altLang="en-US" sz="1400" b="1" dirty="0">
                        <a:solidFill>
                          <a:srgbClr val="06661B"/>
                        </a:solidFill>
                        <a:latin typeface="Times New Roman" panose="02020603050405020304" charset="0"/>
                        <a:ea typeface="宋体" panose="02010600030101010101" pitchFamily="2" charset="-122"/>
                      </a:rPr>
                      <a:t>绕过</a:t>
                    </a:r>
                    <a:r>
                      <a:rPr lang="en-US" altLang="zh-CN" sz="1400" b="1" dirty="0">
                        <a:solidFill>
                          <a:srgbClr val="06661B"/>
                        </a:solidFill>
                        <a:latin typeface="Times New Roman" panose="02020603050405020304" charset="0"/>
                        <a:ea typeface="宋体" panose="02010600030101010101" pitchFamily="2" charset="-122"/>
                      </a:rPr>
                      <a:t>IPSec</a:t>
                    </a:r>
                    <a:endParaRPr lang="en-US" altLang="zh-CN" sz="1400" b="1" dirty="0">
                      <a:solidFill>
                        <a:srgbClr val="06661B"/>
                      </a:solidFill>
                      <a:latin typeface="Times New Roman" panose="02020603050405020304" charset="0"/>
                      <a:ea typeface="黑体" panose="02010609060101010101" charset="-122"/>
                    </a:endParaRPr>
                  </a:p>
                </p:txBody>
              </p:sp>
              <p:sp>
                <p:nvSpPr>
                  <p:cNvPr id="26658" name="文本框 28706"/>
                  <p:cNvSpPr txBox="1"/>
                  <p:nvPr/>
                </p:nvSpPr>
                <p:spPr>
                  <a:xfrm>
                    <a:off x="5220" y="3820"/>
                    <a:ext cx="1620" cy="324"/>
                  </a:xfrm>
                  <a:prstGeom prst="rect">
                    <a:avLst/>
                  </a:prstGeom>
                  <a:noFill/>
                  <a:ln w="9525">
                    <a:noFill/>
                  </a:ln>
                </p:spPr>
                <p:txBody>
                  <a:bodyPr lIns="0" tIns="0" rIns="0" bIns="0" anchor="t" anchorCtr="0"/>
                  <a:p>
                    <a:pPr marL="342900" indent="-342900" algn="just"/>
                    <a:r>
                      <a:rPr lang="zh-CN" altLang="en-US" sz="1400" b="1" dirty="0">
                        <a:solidFill>
                          <a:srgbClr val="06661B"/>
                        </a:solidFill>
                        <a:latin typeface="Times New Roman" panose="02020603050405020304" charset="0"/>
                        <a:ea typeface="宋体" panose="02010600030101010101" pitchFamily="2" charset="-122"/>
                      </a:rPr>
                      <a:t>应用</a:t>
                    </a:r>
                    <a:r>
                      <a:rPr lang="en-US" altLang="zh-CN" sz="1400" b="1" dirty="0">
                        <a:solidFill>
                          <a:srgbClr val="06661B"/>
                        </a:solidFill>
                        <a:latin typeface="Times New Roman" panose="02020603050405020304" charset="0"/>
                        <a:ea typeface="宋体" panose="02010600030101010101" pitchFamily="2" charset="-122"/>
                      </a:rPr>
                      <a:t>IPSec</a:t>
                    </a:r>
                    <a:r>
                      <a:rPr lang="zh-CN" altLang="en-US" sz="1400" b="1" dirty="0">
                        <a:solidFill>
                          <a:srgbClr val="06661B"/>
                        </a:solidFill>
                        <a:latin typeface="Times New Roman" panose="02020603050405020304" charset="0"/>
                        <a:ea typeface="宋体" panose="02010600030101010101" pitchFamily="2" charset="-122"/>
                      </a:rPr>
                      <a:t>，查询</a:t>
                    </a:r>
                    <a:r>
                      <a:rPr lang="en-US" altLang="zh-CN" sz="1400" b="1" dirty="0">
                        <a:solidFill>
                          <a:srgbClr val="06661B"/>
                        </a:solidFill>
                        <a:latin typeface="Times New Roman" panose="02020603050405020304" charset="0"/>
                        <a:ea typeface="宋体" panose="02010600030101010101" pitchFamily="2" charset="-122"/>
                      </a:rPr>
                      <a:t>SAD</a:t>
                    </a:r>
                    <a:endParaRPr lang="en-US" altLang="zh-CN" sz="1400" b="1" dirty="0">
                      <a:solidFill>
                        <a:srgbClr val="06661B"/>
                      </a:solidFill>
                      <a:latin typeface="Times New Roman" panose="02020603050405020304" charset="0"/>
                      <a:ea typeface="黑体" panose="02010609060101010101" charset="-122"/>
                    </a:endParaRPr>
                  </a:p>
                </p:txBody>
              </p:sp>
              <p:sp>
                <p:nvSpPr>
                  <p:cNvPr id="26659" name="直接连接符 28707"/>
                  <p:cNvSpPr/>
                  <p:nvPr/>
                </p:nvSpPr>
                <p:spPr>
                  <a:xfrm>
                    <a:off x="5041" y="3832"/>
                    <a:ext cx="0" cy="312"/>
                  </a:xfrm>
                  <a:prstGeom prst="line">
                    <a:avLst/>
                  </a:prstGeom>
                  <a:ln w="9525" cap="flat" cmpd="sng">
                    <a:solidFill>
                      <a:srgbClr val="000000"/>
                    </a:solidFill>
                    <a:prstDash val="solid"/>
                    <a:round/>
                    <a:headEnd type="none" w="med" len="med"/>
                    <a:tailEnd type="triangle" w="med" len="med"/>
                  </a:ln>
                </p:spPr>
              </p:sp>
              <p:sp>
                <p:nvSpPr>
                  <p:cNvPr id="26660" name="文本框 28708"/>
                  <p:cNvSpPr txBox="1"/>
                  <p:nvPr/>
                </p:nvSpPr>
                <p:spPr>
                  <a:xfrm>
                    <a:off x="3695" y="4066"/>
                    <a:ext cx="796" cy="494"/>
                  </a:xfrm>
                  <a:prstGeom prst="rect">
                    <a:avLst/>
                  </a:prstGeom>
                  <a:noFill/>
                  <a:ln w="9525">
                    <a:noFill/>
                  </a:ln>
                </p:spPr>
                <p:txBody>
                  <a:bodyPr lIns="0" tIns="0" rIns="0" bIns="0" anchor="t" anchorCtr="0"/>
                  <a:p>
                    <a:pPr marL="342900" indent="-342900" algn="ctr"/>
                    <a:r>
                      <a:rPr lang="en-US" altLang="zh-CN" sz="1400" b="1" dirty="0">
                        <a:solidFill>
                          <a:srgbClr val="06661B"/>
                        </a:solidFill>
                        <a:latin typeface="宋体" panose="02010600030101010101" pitchFamily="2" charset="-122"/>
                        <a:ea typeface="宋体" panose="02010600030101010101" pitchFamily="2" charset="-122"/>
                      </a:rPr>
                      <a:t>SA</a:t>
                    </a:r>
                    <a:r>
                      <a:rPr lang="zh-CN" altLang="en-US" sz="1400" b="1" dirty="0">
                        <a:solidFill>
                          <a:srgbClr val="06661B"/>
                        </a:solidFill>
                        <a:latin typeface="宋体" panose="02010600030101010101" pitchFamily="2" charset="-122"/>
                        <a:ea typeface="宋体" panose="02010600030101010101" pitchFamily="2" charset="-122"/>
                      </a:rPr>
                      <a:t>不存在或</a:t>
                    </a:r>
                    <a:r>
                      <a:rPr lang="en-US" altLang="zh-CN" sz="1400" b="1" dirty="0">
                        <a:solidFill>
                          <a:srgbClr val="06661B"/>
                        </a:solidFill>
                        <a:latin typeface="宋体" panose="02010600030101010101" pitchFamily="2" charset="-122"/>
                        <a:ea typeface="宋体" panose="02010600030101010101" pitchFamily="2" charset="-122"/>
                      </a:rPr>
                      <a:t>SA</a:t>
                    </a:r>
                    <a:r>
                      <a:rPr lang="zh-CN" altLang="en-US" sz="1400" b="1" dirty="0">
                        <a:solidFill>
                          <a:srgbClr val="06661B"/>
                        </a:solidFill>
                        <a:latin typeface="宋体" panose="02010600030101010101" pitchFamily="2" charset="-122"/>
                        <a:ea typeface="宋体" panose="02010600030101010101" pitchFamily="2" charset="-122"/>
                      </a:rPr>
                      <a:t>无效</a:t>
                    </a:r>
                    <a:endParaRPr lang="zh-CN" altLang="en-US" sz="1400" b="1" dirty="0">
                      <a:solidFill>
                        <a:srgbClr val="06661B"/>
                      </a:solidFill>
                      <a:latin typeface="宋体" panose="02010600030101010101" pitchFamily="2" charset="-122"/>
                      <a:ea typeface="宋体" panose="02010600030101010101" pitchFamily="2" charset="-122"/>
                    </a:endParaRPr>
                  </a:p>
                </p:txBody>
              </p:sp>
              <p:sp>
                <p:nvSpPr>
                  <p:cNvPr id="26661" name="直接连接符 28709"/>
                  <p:cNvSpPr/>
                  <p:nvPr/>
                </p:nvSpPr>
                <p:spPr>
                  <a:xfrm flipH="1">
                    <a:off x="3546" y="4465"/>
                    <a:ext cx="900" cy="0"/>
                  </a:xfrm>
                  <a:prstGeom prst="line">
                    <a:avLst/>
                  </a:prstGeom>
                  <a:ln w="9525" cap="flat" cmpd="sng">
                    <a:solidFill>
                      <a:srgbClr val="000000"/>
                    </a:solidFill>
                    <a:prstDash val="solid"/>
                    <a:round/>
                    <a:headEnd type="none" w="med" len="med"/>
                    <a:tailEnd type="triangle" w="med" len="med"/>
                  </a:ln>
                </p:spPr>
              </p:sp>
              <p:sp>
                <p:nvSpPr>
                  <p:cNvPr id="26662" name="文本框 28710"/>
                  <p:cNvSpPr txBox="1"/>
                  <p:nvPr/>
                </p:nvSpPr>
                <p:spPr>
                  <a:xfrm>
                    <a:off x="4403" y="5109"/>
                    <a:ext cx="1638" cy="390"/>
                  </a:xfrm>
                  <a:prstGeom prst="rect">
                    <a:avLst/>
                  </a:prstGeom>
                  <a:noFill/>
                  <a:ln w="9525" cap="flat" cmpd="sng">
                    <a:solidFill>
                      <a:srgbClr val="000000"/>
                    </a:solidFill>
                    <a:prstDash val="solid"/>
                    <a:miter/>
                    <a:headEnd type="none" w="med" len="med"/>
                    <a:tailEnd type="none" w="med" len="med"/>
                  </a:ln>
                </p:spPr>
                <p:txBody>
                  <a:bodyPr lIns="0" tIns="0" rIns="0" bIns="0" anchor="t" anchorCtr="0"/>
                  <a:p>
                    <a:pPr marL="342900" indent="-342900" algn="l"/>
                    <a:r>
                      <a:rPr lang="zh-CN" altLang="en-US" sz="1400" b="1" dirty="0">
                        <a:solidFill>
                          <a:srgbClr val="06661B"/>
                        </a:solidFill>
                        <a:latin typeface="Times New Roman" panose="02020603050405020304" charset="0"/>
                        <a:ea typeface="宋体" panose="02010600030101010101" pitchFamily="2" charset="-122"/>
                      </a:rPr>
                      <a:t>进行</a:t>
                    </a:r>
                    <a:r>
                      <a:rPr lang="en-US" altLang="zh-CN" sz="1400" b="1" dirty="0">
                        <a:solidFill>
                          <a:srgbClr val="06661B"/>
                        </a:solidFill>
                        <a:latin typeface="Times New Roman" panose="02020603050405020304" charset="0"/>
                        <a:ea typeface="宋体" panose="02010600030101010101" pitchFamily="2" charset="-122"/>
                      </a:rPr>
                      <a:t>IPSec</a:t>
                    </a:r>
                    <a:r>
                      <a:rPr lang="zh-CN" altLang="en-US" sz="1400" b="1" dirty="0">
                        <a:solidFill>
                          <a:srgbClr val="06661B"/>
                        </a:solidFill>
                        <a:latin typeface="Times New Roman" panose="02020603050405020304" charset="0"/>
                        <a:ea typeface="宋体" panose="02010600030101010101" pitchFamily="2" charset="-122"/>
                      </a:rPr>
                      <a:t>处理添</a:t>
                    </a:r>
                    <a:r>
                      <a:rPr lang="en-US" altLang="zh-CN" sz="1400" b="1" dirty="0">
                        <a:solidFill>
                          <a:srgbClr val="06661B"/>
                        </a:solidFill>
                        <a:latin typeface="Times New Roman" panose="02020603050405020304" charset="0"/>
                        <a:ea typeface="宋体" panose="02010600030101010101" pitchFamily="2" charset="-122"/>
                      </a:rPr>
                      <a:t>IPSec</a:t>
                    </a:r>
                    <a:r>
                      <a:rPr lang="zh-CN" altLang="en-US" sz="1400" b="1" dirty="0">
                        <a:solidFill>
                          <a:srgbClr val="06661B"/>
                        </a:solidFill>
                        <a:latin typeface="Times New Roman" panose="02020603050405020304" charset="0"/>
                        <a:ea typeface="宋体" panose="02010600030101010101" pitchFamily="2" charset="-122"/>
                      </a:rPr>
                      <a:t>头</a:t>
                    </a:r>
                    <a:endParaRPr lang="zh-CN" altLang="en-US" sz="1400" b="1" dirty="0">
                      <a:solidFill>
                        <a:srgbClr val="06661B"/>
                      </a:solidFill>
                      <a:latin typeface="Times New Roman" panose="02020603050405020304" charset="0"/>
                      <a:ea typeface="黑体" panose="02010609060101010101" charset="-122"/>
                    </a:endParaRPr>
                  </a:p>
                </p:txBody>
              </p:sp>
              <p:sp>
                <p:nvSpPr>
                  <p:cNvPr id="26663" name="文本框 28711"/>
                  <p:cNvSpPr txBox="1"/>
                  <p:nvPr/>
                </p:nvSpPr>
                <p:spPr>
                  <a:xfrm>
                    <a:off x="5304" y="4704"/>
                    <a:ext cx="636" cy="324"/>
                  </a:xfrm>
                  <a:prstGeom prst="rect">
                    <a:avLst/>
                  </a:prstGeom>
                  <a:noFill/>
                  <a:ln w="9525">
                    <a:noFill/>
                  </a:ln>
                </p:spPr>
                <p:txBody>
                  <a:bodyPr lIns="0" tIns="0" rIns="0" bIns="0" anchor="t" anchorCtr="0"/>
                  <a:p>
                    <a:pPr marL="342900" indent="-342900" algn="just"/>
                    <a:r>
                      <a:rPr lang="en-US" altLang="zh-CN" sz="1400" b="1" dirty="0">
                        <a:solidFill>
                          <a:srgbClr val="06661B"/>
                        </a:solidFill>
                        <a:latin typeface="Times New Roman" panose="02020603050405020304" charset="0"/>
                        <a:ea typeface="宋体" panose="02010600030101010101" pitchFamily="2" charset="-122"/>
                      </a:rPr>
                      <a:t>SA</a:t>
                    </a:r>
                    <a:r>
                      <a:rPr lang="zh-CN" altLang="en-US" sz="1400" b="1" dirty="0">
                        <a:solidFill>
                          <a:srgbClr val="06661B"/>
                        </a:solidFill>
                        <a:latin typeface="Times New Roman" panose="02020603050405020304" charset="0"/>
                        <a:ea typeface="宋体" panose="02010600030101010101" pitchFamily="2" charset="-122"/>
                      </a:rPr>
                      <a:t>有效</a:t>
                    </a:r>
                    <a:endParaRPr lang="zh-CN" altLang="en-US" sz="1400" b="1" dirty="0">
                      <a:solidFill>
                        <a:srgbClr val="06661B"/>
                      </a:solidFill>
                      <a:latin typeface="Times New Roman" panose="02020603050405020304" charset="0"/>
                      <a:ea typeface="黑体" panose="02010609060101010101" charset="-122"/>
                    </a:endParaRPr>
                  </a:p>
                </p:txBody>
              </p:sp>
              <p:sp>
                <p:nvSpPr>
                  <p:cNvPr id="26664" name="文本框 28712"/>
                  <p:cNvSpPr txBox="1"/>
                  <p:nvPr/>
                </p:nvSpPr>
                <p:spPr>
                  <a:xfrm>
                    <a:off x="4495" y="5962"/>
                    <a:ext cx="1145" cy="403"/>
                  </a:xfrm>
                  <a:prstGeom prst="rect">
                    <a:avLst/>
                  </a:prstGeom>
                  <a:noFill/>
                  <a:ln w="9525" cap="flat" cmpd="sng">
                    <a:solidFill>
                      <a:srgbClr val="000000"/>
                    </a:solidFill>
                    <a:prstDash val="solid"/>
                    <a:miter/>
                    <a:headEnd type="none" w="med" len="med"/>
                    <a:tailEnd type="none" w="med" len="med"/>
                  </a:ln>
                </p:spPr>
                <p:txBody>
                  <a:bodyPr lIns="0" tIns="0" rIns="0" bIns="0" anchor="t" anchorCtr="0"/>
                  <a:p>
                    <a:pPr marL="342900" indent="-342900"/>
                    <a:r>
                      <a:rPr lang="zh-CN" altLang="en-US" sz="1300" b="1" dirty="0">
                        <a:solidFill>
                          <a:srgbClr val="06661B"/>
                        </a:solidFill>
                        <a:latin typeface="Times New Roman" panose="02020603050405020304" charset="0"/>
                        <a:ea typeface="宋体" panose="02010600030101010101" pitchFamily="2" charset="-122"/>
                      </a:rPr>
                      <a:t>添加</a:t>
                    </a:r>
                    <a:r>
                      <a:rPr lang="en-US" altLang="zh-CN" sz="1300" b="1" dirty="0">
                        <a:solidFill>
                          <a:srgbClr val="06661B"/>
                        </a:solidFill>
                        <a:latin typeface="Times New Roman" panose="02020603050405020304" charset="0"/>
                        <a:ea typeface="宋体" panose="02010600030101010101" pitchFamily="2" charset="-122"/>
                      </a:rPr>
                      <a:t>IP</a:t>
                    </a:r>
                    <a:r>
                      <a:rPr lang="zh-CN" altLang="en-US" sz="1300" b="1" dirty="0">
                        <a:solidFill>
                          <a:srgbClr val="06661B"/>
                        </a:solidFill>
                        <a:latin typeface="Times New Roman" panose="02020603050405020304" charset="0"/>
                        <a:ea typeface="宋体" panose="02010600030101010101" pitchFamily="2" charset="-122"/>
                      </a:rPr>
                      <a:t>头，送到</a:t>
                    </a:r>
                    <a:r>
                      <a:rPr lang="en-US" altLang="zh-CN" sz="1300" b="1" dirty="0">
                        <a:solidFill>
                          <a:srgbClr val="06661B"/>
                        </a:solidFill>
                        <a:latin typeface="Times New Roman" panose="02020603050405020304" charset="0"/>
                        <a:ea typeface="宋体" panose="02010600030101010101" pitchFamily="2" charset="-122"/>
                      </a:rPr>
                      <a:t>IP</a:t>
                    </a:r>
                    <a:r>
                      <a:rPr lang="zh-CN" altLang="en-US" sz="1300" b="1" dirty="0">
                        <a:solidFill>
                          <a:srgbClr val="06661B"/>
                        </a:solidFill>
                        <a:latin typeface="Times New Roman" panose="02020603050405020304" charset="0"/>
                        <a:ea typeface="宋体" panose="02010600030101010101" pitchFamily="2" charset="-122"/>
                      </a:rPr>
                      <a:t>层发送队列</a:t>
                    </a:r>
                    <a:endParaRPr lang="zh-CN" altLang="en-US" sz="1300" b="1" dirty="0">
                      <a:solidFill>
                        <a:srgbClr val="06661B"/>
                      </a:solidFill>
                      <a:latin typeface="Times New Roman" panose="02020603050405020304" charset="0"/>
                      <a:ea typeface="黑体" panose="02010609060101010101" charset="-122"/>
                    </a:endParaRPr>
                  </a:p>
                </p:txBody>
              </p:sp>
              <p:sp>
                <p:nvSpPr>
                  <p:cNvPr id="26665" name="文本框 28713"/>
                  <p:cNvSpPr txBox="1"/>
                  <p:nvPr/>
                </p:nvSpPr>
                <p:spPr>
                  <a:xfrm>
                    <a:off x="4716" y="6696"/>
                    <a:ext cx="720" cy="312"/>
                  </a:xfrm>
                  <a:prstGeom prst="rect">
                    <a:avLst/>
                  </a:prstGeom>
                  <a:noFill/>
                  <a:ln w="9525" cap="flat" cmpd="sng">
                    <a:solidFill>
                      <a:srgbClr val="000000"/>
                    </a:solidFill>
                    <a:prstDash val="solid"/>
                    <a:miter/>
                    <a:headEnd type="none" w="med" len="med"/>
                    <a:tailEnd type="none" w="med" len="med"/>
                  </a:ln>
                </p:spPr>
                <p:txBody>
                  <a:bodyPr lIns="0" tIns="36000" rIns="0" bIns="0" anchor="t" anchorCtr="0"/>
                  <a:p>
                    <a:pPr marL="342900" indent="-342900" algn="ctr"/>
                    <a:r>
                      <a:rPr lang="zh-CN" altLang="en-US" sz="1400" b="1" dirty="0">
                        <a:solidFill>
                          <a:srgbClr val="06661B"/>
                        </a:solidFill>
                        <a:latin typeface="Times New Roman" panose="02020603050405020304" charset="0"/>
                        <a:ea typeface="宋体" panose="02010600030101010101" pitchFamily="2" charset="-122"/>
                      </a:rPr>
                      <a:t>返回</a:t>
                    </a:r>
                    <a:endParaRPr lang="zh-CN" altLang="en-US" sz="1400" b="1" dirty="0">
                      <a:solidFill>
                        <a:srgbClr val="06661B"/>
                      </a:solidFill>
                      <a:latin typeface="Times New Roman" panose="02020603050405020304" charset="0"/>
                      <a:ea typeface="黑体" panose="02010609060101010101" charset="-122"/>
                    </a:endParaRPr>
                  </a:p>
                </p:txBody>
              </p:sp>
              <p:sp>
                <p:nvSpPr>
                  <p:cNvPr id="26666" name="文本框 28714"/>
                  <p:cNvSpPr txBox="1"/>
                  <p:nvPr/>
                </p:nvSpPr>
                <p:spPr>
                  <a:xfrm>
                    <a:off x="2515" y="5889"/>
                    <a:ext cx="1084" cy="449"/>
                  </a:xfrm>
                  <a:prstGeom prst="rect">
                    <a:avLst/>
                  </a:prstGeom>
                  <a:noFill/>
                  <a:ln w="9525" cap="flat" cmpd="sng">
                    <a:solidFill>
                      <a:srgbClr val="000000"/>
                    </a:solidFill>
                    <a:prstDash val="solid"/>
                    <a:miter/>
                    <a:headEnd type="none" w="med" len="med"/>
                    <a:tailEnd type="none" w="med" len="med"/>
                  </a:ln>
                </p:spPr>
                <p:txBody>
                  <a:bodyPr lIns="0" tIns="0" rIns="0" bIns="0" anchor="t" anchorCtr="0"/>
                  <a:p>
                    <a:pPr marL="342900" indent="-342900" algn="ctr"/>
                    <a:r>
                      <a:rPr lang="zh-CN" altLang="en-US" sz="1300" b="1" dirty="0">
                        <a:solidFill>
                          <a:srgbClr val="06661B"/>
                        </a:solidFill>
                        <a:latin typeface="Times New Roman" panose="02020603050405020304" charset="0"/>
                        <a:ea typeface="宋体" panose="02010600030101010101" pitchFamily="2" charset="-122"/>
                      </a:rPr>
                      <a:t>丢弃数据包，记录出错信息</a:t>
                    </a:r>
                    <a:endParaRPr lang="zh-CN" altLang="en-US" sz="1300" b="1" dirty="0">
                      <a:solidFill>
                        <a:srgbClr val="06661B"/>
                      </a:solidFill>
                      <a:latin typeface="Times New Roman" panose="02020603050405020304" charset="0"/>
                      <a:ea typeface="黑体" panose="02010609060101010101" charset="-122"/>
                    </a:endParaRPr>
                  </a:p>
                </p:txBody>
              </p:sp>
              <p:sp>
                <p:nvSpPr>
                  <p:cNvPr id="26667" name="直接连接符 28715"/>
                  <p:cNvSpPr/>
                  <p:nvPr/>
                </p:nvSpPr>
                <p:spPr>
                  <a:xfrm>
                    <a:off x="5066" y="6371"/>
                    <a:ext cx="0" cy="312"/>
                  </a:xfrm>
                  <a:prstGeom prst="line">
                    <a:avLst/>
                  </a:prstGeom>
                  <a:ln w="9525" cap="flat" cmpd="sng">
                    <a:solidFill>
                      <a:srgbClr val="000000"/>
                    </a:solidFill>
                    <a:prstDash val="solid"/>
                    <a:round/>
                    <a:headEnd type="none" w="med" len="med"/>
                    <a:tailEnd type="triangle" w="med" len="med"/>
                  </a:ln>
                </p:spPr>
              </p:sp>
              <p:sp>
                <p:nvSpPr>
                  <p:cNvPr id="26668" name="直接连接符 28716"/>
                  <p:cNvSpPr/>
                  <p:nvPr/>
                </p:nvSpPr>
                <p:spPr>
                  <a:xfrm>
                    <a:off x="3060" y="6843"/>
                    <a:ext cx="1620" cy="0"/>
                  </a:xfrm>
                  <a:prstGeom prst="line">
                    <a:avLst/>
                  </a:prstGeom>
                  <a:ln w="9525" cap="flat" cmpd="sng">
                    <a:solidFill>
                      <a:srgbClr val="000000"/>
                    </a:solidFill>
                    <a:prstDash val="solid"/>
                    <a:round/>
                    <a:headEnd type="none" w="med" len="med"/>
                    <a:tailEnd type="triangle" w="med" len="med"/>
                  </a:ln>
                </p:spPr>
              </p:sp>
              <p:sp>
                <p:nvSpPr>
                  <p:cNvPr id="26669" name="直接连接符 28717"/>
                  <p:cNvSpPr/>
                  <p:nvPr/>
                </p:nvSpPr>
                <p:spPr>
                  <a:xfrm>
                    <a:off x="5668" y="3524"/>
                    <a:ext cx="1145" cy="0"/>
                  </a:xfrm>
                  <a:prstGeom prst="line">
                    <a:avLst/>
                  </a:prstGeom>
                  <a:ln w="9525" cap="flat" cmpd="sng">
                    <a:solidFill>
                      <a:srgbClr val="000000"/>
                    </a:solidFill>
                    <a:prstDash val="solid"/>
                    <a:round/>
                    <a:headEnd type="none" w="med" len="med"/>
                    <a:tailEnd type="none" w="med" len="med"/>
                  </a:ln>
                </p:spPr>
              </p:sp>
              <p:sp>
                <p:nvSpPr>
                  <p:cNvPr id="26670" name="直接连接符 28718"/>
                  <p:cNvSpPr/>
                  <p:nvPr/>
                </p:nvSpPr>
                <p:spPr>
                  <a:xfrm>
                    <a:off x="6825" y="3533"/>
                    <a:ext cx="0" cy="2119"/>
                  </a:xfrm>
                  <a:prstGeom prst="line">
                    <a:avLst/>
                  </a:prstGeom>
                  <a:ln w="9525" cap="flat" cmpd="sng">
                    <a:solidFill>
                      <a:srgbClr val="000000"/>
                    </a:solidFill>
                    <a:prstDash val="solid"/>
                    <a:round/>
                    <a:headEnd type="none" w="med" len="med"/>
                    <a:tailEnd type="none" w="med" len="med"/>
                  </a:ln>
                </p:spPr>
              </p:sp>
              <p:sp>
                <p:nvSpPr>
                  <p:cNvPr id="26671" name="直接连接符 28719"/>
                  <p:cNvSpPr/>
                  <p:nvPr/>
                </p:nvSpPr>
                <p:spPr>
                  <a:xfrm flipH="1">
                    <a:off x="5059" y="5643"/>
                    <a:ext cx="1763" cy="0"/>
                  </a:xfrm>
                  <a:prstGeom prst="line">
                    <a:avLst/>
                  </a:prstGeom>
                  <a:ln w="9525" cap="flat" cmpd="sng">
                    <a:solidFill>
                      <a:srgbClr val="000000"/>
                    </a:solidFill>
                    <a:prstDash val="solid"/>
                    <a:round/>
                    <a:headEnd type="none" w="med" len="med"/>
                    <a:tailEnd type="triangle" w="med" len="med"/>
                  </a:ln>
                </p:spPr>
              </p:sp>
              <p:sp>
                <p:nvSpPr>
                  <p:cNvPr id="26672" name="直接连接符 28720"/>
                  <p:cNvSpPr/>
                  <p:nvPr/>
                </p:nvSpPr>
                <p:spPr>
                  <a:xfrm>
                    <a:off x="5049" y="5505"/>
                    <a:ext cx="0" cy="459"/>
                  </a:xfrm>
                  <a:prstGeom prst="line">
                    <a:avLst/>
                  </a:prstGeom>
                  <a:ln w="9525" cap="flat" cmpd="sng">
                    <a:solidFill>
                      <a:srgbClr val="000000"/>
                    </a:solidFill>
                    <a:prstDash val="solid"/>
                    <a:round/>
                    <a:headEnd type="none" w="med" len="med"/>
                    <a:tailEnd type="triangle" w="med" len="med"/>
                  </a:ln>
                </p:spPr>
              </p:sp>
              <p:sp>
                <p:nvSpPr>
                  <p:cNvPr id="26673" name="直接连接符 28721"/>
                  <p:cNvSpPr/>
                  <p:nvPr/>
                </p:nvSpPr>
                <p:spPr>
                  <a:xfrm flipH="1">
                    <a:off x="2160" y="3522"/>
                    <a:ext cx="2241" cy="0"/>
                  </a:xfrm>
                  <a:prstGeom prst="line">
                    <a:avLst/>
                  </a:prstGeom>
                  <a:ln w="9525" cap="flat" cmpd="sng">
                    <a:solidFill>
                      <a:srgbClr val="000000"/>
                    </a:solidFill>
                    <a:prstDash val="solid"/>
                    <a:round/>
                    <a:headEnd type="none" w="med" len="med"/>
                    <a:tailEnd type="none" w="med" len="med"/>
                  </a:ln>
                </p:spPr>
              </p:sp>
              <p:sp>
                <p:nvSpPr>
                  <p:cNvPr id="26674" name="直接连接符 28722"/>
                  <p:cNvSpPr/>
                  <p:nvPr/>
                </p:nvSpPr>
                <p:spPr>
                  <a:xfrm>
                    <a:off x="2169" y="3522"/>
                    <a:ext cx="0" cy="2130"/>
                  </a:xfrm>
                  <a:prstGeom prst="line">
                    <a:avLst/>
                  </a:prstGeom>
                  <a:ln w="9525" cap="flat" cmpd="sng">
                    <a:solidFill>
                      <a:srgbClr val="000000"/>
                    </a:solidFill>
                    <a:prstDash val="solid"/>
                    <a:round/>
                    <a:headEnd type="none" w="med" len="med"/>
                    <a:tailEnd type="none" w="med" len="med"/>
                  </a:ln>
                </p:spPr>
              </p:sp>
              <p:sp>
                <p:nvSpPr>
                  <p:cNvPr id="26675" name="文本框 28723"/>
                  <p:cNvSpPr txBox="1"/>
                  <p:nvPr/>
                </p:nvSpPr>
                <p:spPr>
                  <a:xfrm>
                    <a:off x="5760" y="5808"/>
                    <a:ext cx="1080" cy="1092"/>
                  </a:xfrm>
                  <a:prstGeom prst="rect">
                    <a:avLst/>
                  </a:prstGeom>
                  <a:noFill/>
                  <a:ln w="9525">
                    <a:noFill/>
                  </a:ln>
                </p:spPr>
                <p:txBody>
                  <a:bodyPr lIns="0" tIns="0" rIns="0" bIns="0" anchor="t" anchorCtr="0"/>
                  <a:p>
                    <a:pPr marL="342900" indent="-342900" algn="ctr"/>
                    <a:endParaRPr lang="zh-CN" altLang="zh-CN" dirty="0">
                      <a:latin typeface="Times New Roman" panose="02020603050405020304" charset="0"/>
                      <a:ea typeface="黑体" panose="02010609060101010101" charset="-122"/>
                    </a:endParaRPr>
                  </a:p>
                </p:txBody>
              </p:sp>
              <p:sp>
                <p:nvSpPr>
                  <p:cNvPr id="26676" name="文本框 28724"/>
                  <p:cNvSpPr txBox="1"/>
                  <p:nvPr/>
                </p:nvSpPr>
                <p:spPr>
                  <a:xfrm>
                    <a:off x="1980" y="5790"/>
                    <a:ext cx="360" cy="1110"/>
                  </a:xfrm>
                  <a:prstGeom prst="rect">
                    <a:avLst/>
                  </a:prstGeom>
                  <a:noFill/>
                  <a:ln w="9525">
                    <a:noFill/>
                  </a:ln>
                </p:spPr>
                <p:txBody>
                  <a:bodyPr lIns="0" tIns="0" rIns="0" bIns="0" anchor="t" anchorCtr="0"/>
                  <a:p>
                    <a:pPr marL="342900" indent="-342900" algn="ctr">
                      <a:buFont typeface="Arial" panose="020B0604020202020204" pitchFamily="34" charset="0"/>
                      <a:buChar char="•"/>
                    </a:pPr>
                    <a:endParaRPr lang="zh-CN" altLang="zh-CN" dirty="0">
                      <a:latin typeface="Times New Roman" panose="02020603050405020304" charset="0"/>
                      <a:ea typeface="黑体" panose="02010609060101010101" charset="-122"/>
                    </a:endParaRPr>
                  </a:p>
                </p:txBody>
              </p:sp>
            </p:grpSp>
            <p:sp>
              <p:nvSpPr>
                <p:cNvPr id="26677" name="文本框 28725"/>
                <p:cNvSpPr txBox="1"/>
                <p:nvPr/>
              </p:nvSpPr>
              <p:spPr>
                <a:xfrm>
                  <a:off x="2160" y="7108"/>
                  <a:ext cx="4680" cy="468"/>
                </a:xfrm>
                <a:prstGeom prst="rect">
                  <a:avLst/>
                </a:prstGeom>
                <a:noFill/>
                <a:ln w="9525">
                  <a:noFill/>
                </a:ln>
              </p:spPr>
              <p:txBody>
                <a:bodyPr lIns="0" tIns="0" rIns="0" bIns="0" anchor="t" anchorCtr="0"/>
                <a:p>
                  <a:pPr marL="342900" indent="-342900" algn="ctr"/>
                  <a:r>
                    <a:rPr lang="en-US" altLang="zh-CN" sz="2400" b="1" dirty="0">
                      <a:solidFill>
                        <a:srgbClr val="06661B"/>
                      </a:solidFill>
                      <a:latin typeface="黑体" panose="02010609060101010101" charset="-122"/>
                      <a:ea typeface="黑体" panose="02010609060101010101" charset="-122"/>
                    </a:rPr>
                    <a:t> </a:t>
                  </a:r>
                  <a:r>
                    <a:rPr lang="zh-CN" altLang="en-US" sz="2000" b="1" dirty="0">
                      <a:latin typeface="黑体" panose="02010609060101010101" charset="-122"/>
                      <a:ea typeface="黑体" panose="02010609060101010101" charset="-122"/>
                    </a:rPr>
                    <a:t>图</a:t>
                  </a:r>
                  <a:r>
                    <a:rPr lang="en-US" altLang="zh-CN" sz="2000" b="1" dirty="0">
                      <a:latin typeface="黑体" panose="02010609060101010101" charset="-122"/>
                      <a:ea typeface="黑体" panose="02010609060101010101" charset="-122"/>
                    </a:rPr>
                    <a:t>  IPSec</a:t>
                  </a:r>
                  <a:r>
                    <a:rPr lang="zh-CN" altLang="en-US" sz="2000" b="1" dirty="0">
                      <a:latin typeface="黑体" panose="02010609060101010101" charset="-122"/>
                      <a:ea typeface="黑体" panose="02010609060101010101" charset="-122"/>
                    </a:rPr>
                    <a:t>对数据包的处理</a:t>
                  </a:r>
                  <a:endParaRPr lang="zh-CN" altLang="en-US" sz="2000" b="1" dirty="0">
                    <a:latin typeface="黑体" panose="02010609060101010101" charset="-122"/>
                    <a:ea typeface="黑体" panose="02010609060101010101" charset="-122"/>
                  </a:endParaRPr>
                </a:p>
              </p:txBody>
            </p:sp>
          </p:grpSp>
          <p:sp>
            <p:nvSpPr>
              <p:cNvPr id="26678" name="直接连接符 28726"/>
              <p:cNvSpPr/>
              <p:nvPr/>
            </p:nvSpPr>
            <p:spPr>
              <a:xfrm>
                <a:off x="5064" y="4768"/>
                <a:ext cx="0" cy="312"/>
              </a:xfrm>
              <a:prstGeom prst="line">
                <a:avLst/>
              </a:prstGeom>
              <a:ln w="9525" cap="flat" cmpd="sng">
                <a:solidFill>
                  <a:srgbClr val="000000"/>
                </a:solidFill>
                <a:prstDash val="solid"/>
                <a:round/>
                <a:headEnd type="none" w="med" len="med"/>
                <a:tailEnd type="triangle" w="med" len="med"/>
              </a:ln>
            </p:spPr>
          </p:sp>
          <p:sp>
            <p:nvSpPr>
              <p:cNvPr id="26679" name="文本框 28727"/>
              <p:cNvSpPr txBox="1"/>
              <p:nvPr/>
            </p:nvSpPr>
            <p:spPr>
              <a:xfrm>
                <a:off x="3768" y="5032"/>
                <a:ext cx="404" cy="324"/>
              </a:xfrm>
              <a:prstGeom prst="rect">
                <a:avLst/>
              </a:prstGeom>
              <a:noFill/>
              <a:ln w="9525">
                <a:noFill/>
              </a:ln>
            </p:spPr>
            <p:txBody>
              <a:bodyPr lIns="0" tIns="0" rIns="0" bIns="0" anchor="t" anchorCtr="0"/>
              <a:p>
                <a:pPr marL="342900" indent="-342900" algn="just"/>
                <a:r>
                  <a:rPr lang="zh-CN" altLang="en-US" sz="1400" b="1" dirty="0">
                    <a:solidFill>
                      <a:srgbClr val="06661B"/>
                    </a:solidFill>
                    <a:latin typeface="Times New Roman" panose="02020603050405020304" charset="0"/>
                    <a:ea typeface="宋体" panose="02010600030101010101" pitchFamily="2" charset="-122"/>
                  </a:rPr>
                  <a:t>是</a:t>
                </a:r>
                <a:endParaRPr lang="zh-CN" altLang="en-US" sz="1400" b="1" dirty="0">
                  <a:solidFill>
                    <a:srgbClr val="06661B"/>
                  </a:solidFill>
                  <a:latin typeface="Times New Roman" panose="02020603050405020304" charset="0"/>
                  <a:ea typeface="黑体" panose="02010609060101010101"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descr="日程表&#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55710" y="1141537"/>
            <a:ext cx="8080580" cy="3555608"/>
          </a:xfrm>
          <a:prstGeom prst="rect">
            <a:avLst/>
          </a:prstGeom>
        </p:spPr>
      </p:pic>
      <p:sp>
        <p:nvSpPr>
          <p:cNvPr id="19" name="矩形 18"/>
          <p:cNvSpPr/>
          <p:nvPr/>
        </p:nvSpPr>
        <p:spPr>
          <a:xfrm>
            <a:off x="304800" y="4762774"/>
            <a:ext cx="11523194" cy="16245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b="1" dirty="0"/>
              <a:t>若某个</a:t>
            </a:r>
            <a:r>
              <a:rPr lang="en-US" altLang="zh-CN" b="1" dirty="0"/>
              <a:t>IP</a:t>
            </a:r>
            <a:r>
              <a:rPr lang="zh-CN" altLang="en-US" b="1" dirty="0"/>
              <a:t>安全数据报在因特网中被某个攻击者截获，只要攻击者不知道该</a:t>
            </a:r>
            <a:r>
              <a:rPr lang="en-US" altLang="zh-CN" b="1" dirty="0"/>
              <a:t>IP</a:t>
            </a:r>
            <a:r>
              <a:rPr lang="zh-CN" altLang="en-US" b="1" dirty="0"/>
              <a:t>安全数据报的密码：</a:t>
            </a:r>
            <a:endParaRPr lang="en-US" altLang="zh-CN" b="1" dirty="0"/>
          </a:p>
          <a:p>
            <a:pPr marL="342900" indent="-342900">
              <a:buFont typeface="Wingdings" panose="05000000000000000000" pitchFamily="2" charset="2"/>
              <a:buChar char="l"/>
            </a:pPr>
            <a:r>
              <a:rPr lang="zh-CN" altLang="en-US" b="1" dirty="0"/>
              <a:t>攻击者就仅能知道该</a:t>
            </a:r>
            <a:r>
              <a:rPr lang="en-US" altLang="zh-CN" b="1" dirty="0"/>
              <a:t>IP</a:t>
            </a:r>
            <a:r>
              <a:rPr lang="zh-CN" altLang="en-US" b="1" dirty="0"/>
              <a:t>安全数据报的首部信息（例如源</a:t>
            </a:r>
            <a:r>
              <a:rPr lang="en-US" altLang="zh-CN" b="1" dirty="0"/>
              <a:t>IP</a:t>
            </a:r>
            <a:r>
              <a:rPr lang="zh-CN" altLang="en-US" b="1" dirty="0"/>
              <a:t>地址和目的</a:t>
            </a:r>
            <a:r>
              <a:rPr lang="en-US" altLang="zh-CN" b="1" dirty="0"/>
              <a:t>IP</a:t>
            </a:r>
            <a:r>
              <a:rPr lang="zh-CN" altLang="en-US" b="1" dirty="0"/>
              <a:t>地址），但无法看懂其数据载荷的含义。</a:t>
            </a:r>
            <a:endParaRPr lang="en-US" altLang="zh-CN" b="1" dirty="0"/>
          </a:p>
          <a:p>
            <a:pPr marL="342900" indent="-342900">
              <a:buFont typeface="Wingdings" panose="05000000000000000000" pitchFamily="2" charset="2"/>
              <a:buChar char="l"/>
            </a:pPr>
            <a:r>
              <a:rPr lang="zh-CN" altLang="en-US" b="1" dirty="0"/>
              <a:t>即使攻击者故意删除了该</a:t>
            </a:r>
            <a:r>
              <a:rPr lang="en-US" altLang="zh-CN" b="1" dirty="0"/>
              <a:t>IP</a:t>
            </a:r>
            <a:r>
              <a:rPr lang="zh-CN" altLang="en-US" b="1" dirty="0"/>
              <a:t>安全数据报的数据载荷中的一些字节，由于接收端能够进行完整性验证，因此不会接受这种含有差错的数据报。</a:t>
            </a:r>
            <a:endParaRPr lang="en-US" altLang="zh-CN" b="1" dirty="0"/>
          </a:p>
          <a:p>
            <a:pPr marL="342900" indent="-342900">
              <a:buFont typeface="Wingdings" panose="05000000000000000000" pitchFamily="2" charset="2"/>
              <a:buChar char="l"/>
            </a:pPr>
            <a:r>
              <a:rPr lang="zh-CN" altLang="en-US" b="1" dirty="0"/>
              <a:t>如果攻击者尝试重放攻击，但由于</a:t>
            </a:r>
            <a:r>
              <a:rPr lang="en-US" altLang="zh-CN" b="1" dirty="0"/>
              <a:t>IP</a:t>
            </a:r>
            <a:r>
              <a:rPr lang="zh-CN" altLang="en-US" b="1" dirty="0"/>
              <a:t>安全数据报使用了有效的序号，因此使得重放攻击也不能成功。</a:t>
            </a:r>
            <a:endParaRPr lang="zh-CN" altLang="en-US" b="1"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ppt_y</p:attrName>
                                        </p:attrNameLst>
                                      </p:cBhvr>
                                      <p:tavLst>
                                        <p:tav tm="0">
                                          <p:val>
                                            <p:strVal val="#ppt_y+#ppt_h*1.125000"/>
                                          </p:val>
                                        </p:tav>
                                        <p:tav tm="100000">
                                          <p:val>
                                            <p:strVal val="#ppt_y"/>
                                          </p:val>
                                        </p:tav>
                                      </p:tavLst>
                                    </p:anim>
                                    <p:animEffect transition="in" filter="wipe(up)">
                                      <p:cBhvr>
                                        <p:cTn id="8" dur="500"/>
                                        <p:tgtEl>
                                          <p:spTgt spid="18"/>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p:tgtEl>
                                          <p:spTgt spid="19"/>
                                        </p:tgtEl>
                                        <p:attrNameLst>
                                          <p:attrName>ppt_y</p:attrName>
                                        </p:attrNameLst>
                                      </p:cBhvr>
                                      <p:tavLst>
                                        <p:tav tm="0">
                                          <p:val>
                                            <p:strVal val="#ppt_y-#ppt_h*1.125000"/>
                                          </p:val>
                                        </p:tav>
                                        <p:tav tm="100000">
                                          <p:val>
                                            <p:strVal val="#ppt_y"/>
                                          </p:val>
                                        </p:tav>
                                      </p:tavLst>
                                    </p:anim>
                                    <p:animEffect transition="in" filter="wipe(down)">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组合 2"/>
          <p:cNvGrpSpPr/>
          <p:nvPr>
            <p:custDataLst>
              <p:tags r:id="rId1"/>
            </p:custDataLst>
          </p:nvPr>
        </p:nvGrpSpPr>
        <p:grpSpPr>
          <a:xfrm>
            <a:off x="2994025" y="1340485"/>
            <a:ext cx="6081395" cy="4745990"/>
            <a:chOff x="310416" y="1325560"/>
            <a:chExt cx="5636475" cy="4131786"/>
          </a:xfrm>
        </p:grpSpPr>
        <p:grpSp>
          <p:nvGrpSpPr>
            <p:cNvPr id="22" name="组合 21"/>
            <p:cNvGrpSpPr/>
            <p:nvPr/>
          </p:nvGrpSpPr>
          <p:grpSpPr>
            <a:xfrm>
              <a:off x="310416" y="1325560"/>
              <a:ext cx="5636475" cy="499963"/>
              <a:chOff x="1592243" y="802566"/>
              <a:chExt cx="5636475" cy="499963"/>
            </a:xfrm>
          </p:grpSpPr>
          <p:sp>
            <p:nvSpPr>
              <p:cNvPr id="5" name="矩形 4"/>
              <p:cNvSpPr/>
              <p:nvPr>
                <p:custDataLst>
                  <p:tags r:id="rId2"/>
                </p:custDataLst>
              </p:nvPr>
            </p:nvSpPr>
            <p:spPr>
              <a:xfrm>
                <a:off x="1592243" y="802567"/>
                <a:ext cx="1027894" cy="499962"/>
              </a:xfrm>
              <a:prstGeom prst="rect">
                <a:avLst/>
              </a:prstGeom>
              <a:solidFill>
                <a:schemeClr val="accent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4.1</a:t>
                </a:r>
                <a:endParaRPr lang="en-US" altLang="zh-CN" sz="2800" b="1" spc="300" dirty="0">
                  <a:latin typeface="Impact" panose="020B0806030902050204" pitchFamily="34" charset="0"/>
                </a:endParaRPr>
              </a:p>
            </p:txBody>
          </p:sp>
          <p:sp>
            <p:nvSpPr>
              <p:cNvPr id="6" name="矩形 5"/>
              <p:cNvSpPr/>
              <p:nvPr>
                <p:custDataLst>
                  <p:tags r:id="rId3"/>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zh-CN" altLang="en-US" sz="2800" b="1" spc="300" dirty="0">
                    <a:solidFill>
                      <a:srgbClr val="FF0000"/>
                    </a:solidFill>
                    <a:latin typeface="Impact" panose="020B0806030902050204" pitchFamily="34" charset="0"/>
                  </a:rPr>
                  <a:t> </a:t>
                </a:r>
                <a:r>
                  <a:rPr lang="zh-CN" altLang="en-US" sz="2800" b="1" spc="300" dirty="0">
                    <a:solidFill>
                      <a:schemeClr val="tx1"/>
                    </a:solidFill>
                    <a:latin typeface="Impact" panose="020B0806030902050204" pitchFamily="34" charset="0"/>
                  </a:rPr>
                  <a:t>传输层概述</a:t>
                </a:r>
                <a:endParaRPr lang="zh-CN" altLang="en-US" sz="2800" b="1" spc="300" dirty="0">
                  <a:solidFill>
                    <a:schemeClr val="tx1"/>
                  </a:solidFill>
                  <a:latin typeface="Impact" panose="020B0806030902050204" pitchFamily="34" charset="0"/>
                </a:endParaRPr>
              </a:p>
            </p:txBody>
          </p:sp>
        </p:grpSp>
        <p:grpSp>
          <p:nvGrpSpPr>
            <p:cNvPr id="42" name="组合 41"/>
            <p:cNvGrpSpPr/>
            <p:nvPr/>
          </p:nvGrpSpPr>
          <p:grpSpPr>
            <a:xfrm>
              <a:off x="310416" y="2233516"/>
              <a:ext cx="5636475" cy="499963"/>
              <a:chOff x="1592243" y="802566"/>
              <a:chExt cx="5636475" cy="499963"/>
            </a:xfrm>
          </p:grpSpPr>
          <p:sp>
            <p:nvSpPr>
              <p:cNvPr id="43" name="矩形 42"/>
              <p:cNvSpPr/>
              <p:nvPr>
                <p:custDataLst>
                  <p:tags r:id="rId4"/>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4.2</a:t>
                </a:r>
                <a:endParaRPr lang="en-US" altLang="zh-CN" sz="2800" b="1" spc="300" dirty="0">
                  <a:latin typeface="Impact" panose="020B0806030902050204" pitchFamily="34" charset="0"/>
                </a:endParaRPr>
              </a:p>
            </p:txBody>
          </p:sp>
          <p:sp>
            <p:nvSpPr>
              <p:cNvPr id="44" name="矩形 43"/>
              <p:cNvSpPr/>
              <p:nvPr>
                <p:custDataLst>
                  <p:tags r:id="rId5"/>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rgbClr val="FF0000"/>
                    </a:solidFill>
                    <a:latin typeface="Impact" panose="020B0806030902050204" pitchFamily="34" charset="0"/>
                  </a:rPr>
                  <a:t>  </a:t>
                </a:r>
                <a:r>
                  <a:rPr lang="en-US" altLang="zh-CN" sz="2800" b="1" spc="300" dirty="0">
                    <a:solidFill>
                      <a:schemeClr val="tx1"/>
                    </a:solidFill>
                    <a:latin typeface="Impact" panose="020B0806030902050204" pitchFamily="34" charset="0"/>
                  </a:rPr>
                  <a:t>TCP</a:t>
                </a:r>
                <a:r>
                  <a:rPr lang="zh-CN" altLang="en-US" sz="2800" b="1" spc="300" dirty="0">
                    <a:solidFill>
                      <a:schemeClr val="tx1"/>
                    </a:solidFill>
                    <a:latin typeface="Impact" panose="020B0806030902050204" pitchFamily="34" charset="0"/>
                  </a:rPr>
                  <a:t>协议安全</a:t>
                </a:r>
                <a:endParaRPr lang="zh-CN" altLang="en-US" sz="2800" b="1" spc="300" dirty="0">
                  <a:solidFill>
                    <a:schemeClr val="tx1"/>
                  </a:solidFill>
                  <a:latin typeface="Impact" panose="020B0806030902050204" pitchFamily="34" charset="0"/>
                </a:endParaRPr>
              </a:p>
            </p:txBody>
          </p:sp>
        </p:grpSp>
        <p:grpSp>
          <p:nvGrpSpPr>
            <p:cNvPr id="45" name="组合 44"/>
            <p:cNvGrpSpPr/>
            <p:nvPr/>
          </p:nvGrpSpPr>
          <p:grpSpPr>
            <a:xfrm>
              <a:off x="310416" y="3141472"/>
              <a:ext cx="5636475" cy="499963"/>
              <a:chOff x="1592243" y="802566"/>
              <a:chExt cx="5636475" cy="499963"/>
            </a:xfrm>
          </p:grpSpPr>
          <p:sp>
            <p:nvSpPr>
              <p:cNvPr id="46" name="矩形 45"/>
              <p:cNvSpPr/>
              <p:nvPr>
                <p:custDataLst>
                  <p:tags r:id="rId6"/>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4.3</a:t>
                </a:r>
                <a:endParaRPr lang="en-US" altLang="zh-CN" sz="2800" b="1" spc="300" dirty="0">
                  <a:latin typeface="Impact" panose="020B0806030902050204" pitchFamily="34" charset="0"/>
                </a:endParaRPr>
              </a:p>
            </p:txBody>
          </p:sp>
          <p:sp>
            <p:nvSpPr>
              <p:cNvPr id="47" name="矩形 46"/>
              <p:cNvSpPr/>
              <p:nvPr>
                <p:custDataLst>
                  <p:tags r:id="rId7"/>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UDP</a:t>
                </a:r>
                <a:r>
                  <a:rPr lang="zh-CN" altLang="en-US" sz="2800" b="1" spc="300" dirty="0">
                    <a:solidFill>
                      <a:schemeClr val="tx1"/>
                    </a:solidFill>
                    <a:latin typeface="Impact" panose="020B0806030902050204" pitchFamily="34" charset="0"/>
                  </a:rPr>
                  <a:t>协议安全</a:t>
                </a:r>
                <a:endParaRPr lang="zh-CN" altLang="en-US" sz="2800" b="1" spc="300" dirty="0">
                  <a:solidFill>
                    <a:schemeClr val="tx1"/>
                  </a:solidFill>
                  <a:latin typeface="Impact" panose="020B0806030902050204" pitchFamily="34" charset="0"/>
                </a:endParaRPr>
              </a:p>
            </p:txBody>
          </p:sp>
        </p:grpSp>
        <p:grpSp>
          <p:nvGrpSpPr>
            <p:cNvPr id="48" name="组合 47"/>
            <p:cNvGrpSpPr/>
            <p:nvPr/>
          </p:nvGrpSpPr>
          <p:grpSpPr>
            <a:xfrm>
              <a:off x="310416" y="4049428"/>
              <a:ext cx="5636475" cy="499963"/>
              <a:chOff x="1592243" y="802566"/>
              <a:chExt cx="5636475" cy="499963"/>
            </a:xfrm>
          </p:grpSpPr>
          <p:sp>
            <p:nvSpPr>
              <p:cNvPr id="49" name="矩形 48"/>
              <p:cNvSpPr/>
              <p:nvPr>
                <p:custDataLst>
                  <p:tags r:id="rId8"/>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4.4</a:t>
                </a:r>
                <a:endParaRPr lang="en-US" altLang="zh-CN" sz="2800" b="1" spc="300" dirty="0">
                  <a:latin typeface="Impact" panose="020B0806030902050204" pitchFamily="34" charset="0"/>
                </a:endParaRPr>
              </a:p>
            </p:txBody>
          </p:sp>
          <p:sp>
            <p:nvSpPr>
              <p:cNvPr id="50" name="矩形 49"/>
              <p:cNvSpPr/>
              <p:nvPr>
                <p:custDataLst>
                  <p:tags r:id="rId9"/>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SSL</a:t>
                </a:r>
                <a:endParaRPr lang="en-US" altLang="zh-CN" sz="2800" b="1" spc="300" dirty="0">
                  <a:solidFill>
                    <a:schemeClr val="tx1"/>
                  </a:solidFill>
                  <a:latin typeface="Impact" panose="020B0806030902050204" pitchFamily="34" charset="0"/>
                </a:endParaRPr>
              </a:p>
            </p:txBody>
          </p:sp>
        </p:grpSp>
        <p:grpSp>
          <p:nvGrpSpPr>
            <p:cNvPr id="51" name="组合 50"/>
            <p:cNvGrpSpPr/>
            <p:nvPr/>
          </p:nvGrpSpPr>
          <p:grpSpPr>
            <a:xfrm>
              <a:off x="310416" y="4957383"/>
              <a:ext cx="5636475" cy="499963"/>
              <a:chOff x="1592243" y="802566"/>
              <a:chExt cx="5636475" cy="499963"/>
            </a:xfrm>
          </p:grpSpPr>
          <p:sp>
            <p:nvSpPr>
              <p:cNvPr id="52" name="矩形 51"/>
              <p:cNvSpPr/>
              <p:nvPr>
                <p:custDataLst>
                  <p:tags r:id="rId10"/>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4.5</a:t>
                </a:r>
                <a:endParaRPr lang="en-US" altLang="zh-CN" sz="2800" b="1" spc="300" dirty="0">
                  <a:latin typeface="Impact" panose="020B0806030902050204" pitchFamily="34" charset="0"/>
                </a:endParaRPr>
              </a:p>
            </p:txBody>
          </p:sp>
          <p:sp>
            <p:nvSpPr>
              <p:cNvPr id="53" name="矩形 52"/>
              <p:cNvSpPr/>
              <p:nvPr>
                <p:custDataLst>
                  <p:tags r:id="rId11"/>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TLS</a:t>
                </a:r>
                <a:endParaRPr lang="en-US" altLang="zh-CN" sz="2800" b="1" spc="300" dirty="0">
                  <a:solidFill>
                    <a:schemeClr val="tx1"/>
                  </a:solidFill>
                  <a:latin typeface="Impact" panose="020B0806030902050204" pitchFamily="34" charset="0"/>
                </a:endParaRPr>
              </a:p>
            </p:txBody>
          </p:sp>
        </p:grpSp>
      </p:grpSp>
      <p:sp>
        <p:nvSpPr>
          <p:cNvPr id="2" name="矩形 1"/>
          <p:cNvSpPr/>
          <p:nvPr>
            <p:custDataLst>
              <p:tags r:id="rId12"/>
            </p:custDataLst>
          </p:nvPr>
        </p:nvSpPr>
        <p:spPr>
          <a:xfrm>
            <a:off x="50164" y="106880"/>
            <a:ext cx="5565140" cy="860425"/>
          </a:xfrm>
          <a:prstGeom prst="rect">
            <a:avLst/>
          </a:prstGeom>
          <a:noFill/>
        </p:spPr>
        <p:txBody>
          <a:bodyPr wrap="none" lIns="91440" tIns="45720" rIns="91440" bIns="45720">
            <a:spAutoFit/>
          </a:bodyPr>
          <a:p>
            <a:pPr algn="ctr">
              <a:lnSpc>
                <a:spcPct val="125000"/>
              </a:lnSpc>
            </a:pP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第四章</a:t>
            </a:r>
            <a:r>
              <a:rPr lang="en-US" altLang="zh-CN"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  </a:t>
            </a: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传输层协议安全</a:t>
            </a:r>
            <a:endPar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750" y="298450"/>
            <a:ext cx="7130415" cy="583565"/>
          </a:xfrm>
        </p:spPr>
        <p:txBody>
          <a:bodyPr/>
          <a:lstStyle/>
          <a:p>
            <a:pPr algn="l">
              <a:buClrTx/>
              <a:buSzTx/>
              <a:buFontTx/>
            </a:pPr>
            <a:r>
              <a:rPr lang="en-US" altLang="zh-CN" sz="4000" dirty="0">
                <a:latin typeface="+mj-ea"/>
                <a:sym typeface="+mn-ea"/>
              </a:rPr>
              <a:t>4</a:t>
            </a:r>
            <a:r>
              <a:rPr lang="zh-CN" altLang="en-US" sz="4000" dirty="0">
                <a:latin typeface="+mj-ea"/>
                <a:sym typeface="+mn-ea"/>
              </a:rPr>
              <a:t>.1.1 传输层定义</a:t>
            </a:r>
            <a:endParaRPr lang="zh-CN" altLang="en-US" sz="4000" dirty="0">
              <a:latin typeface="+mj-ea"/>
              <a:sym typeface="+mn-ea"/>
            </a:endParaRPr>
          </a:p>
        </p:txBody>
      </p:sp>
      <p:sp>
        <p:nvSpPr>
          <p:cNvPr id="3" name="文本框 2"/>
          <p:cNvSpPr txBox="1"/>
          <p:nvPr/>
        </p:nvSpPr>
        <p:spPr>
          <a:xfrm>
            <a:off x="107950" y="1190625"/>
            <a:ext cx="6774180" cy="5302250"/>
          </a:xfrm>
          <a:prstGeom prst="rect">
            <a:avLst/>
          </a:prstGeom>
          <a:noFill/>
        </p:spPr>
        <p:txBody>
          <a:bodyPr wrap="square" rtlCol="0" anchor="t">
            <a:noAutofit/>
          </a:bodyPr>
          <a:lstStyle/>
          <a:p>
            <a:pPr marL="342900" indent="-342900" algn="l">
              <a:lnSpc>
                <a:spcPct val="150000"/>
              </a:lnSpc>
              <a:buClr>
                <a:srgbClr val="DF4F21"/>
              </a:buClr>
              <a:buSzTx/>
              <a:buFont typeface="Wingdings" panose="05000000000000000000" charset="0"/>
              <a:buChar char="p"/>
            </a:pPr>
            <a:r>
              <a:rPr kumimoji="1" lang="zh-CN" altLang="en-US"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在典型的</a:t>
            </a:r>
            <a:r>
              <a:rPr kumimoji="1" lang="en-US" altLang="zh-CN"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5</a:t>
            </a:r>
            <a:r>
              <a:rPr kumimoji="1" lang="zh-CN" altLang="en-US"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层体系结构中，传输层向应用层提供通信服务，属于面向通信部分的最高层，同时也是用户功能中的最低层。</a:t>
            </a:r>
            <a:endParaRPr kumimoji="1" lang="en-US" altLang="zh-CN"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r>
              <a:rPr kumimoji="1" lang="zh-CN" altLang="en-US"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传输层协议的功能是</a:t>
            </a:r>
            <a:r>
              <a:rPr kumimoji="1" lang="zh-CN" altLang="en-US" sz="2400" b="1" dirty="0">
                <a:ln w="12700">
                  <a:noFill/>
                </a:ln>
                <a:solidFill>
                  <a:schemeClr val="accent2"/>
                </a:solidFill>
                <a:latin typeface="Times New Roman" panose="02020603050405020304" charset="0"/>
                <a:ea typeface="宋体" panose="02010600030101010101" pitchFamily="2" charset="-122"/>
                <a:cs typeface="Times New Roman" panose="02020603050405020304" charset="0"/>
                <a:sym typeface="+mn-ea"/>
              </a:rPr>
              <a:t>为不同主机上的应用进程之间提供端到端的逻辑通信</a:t>
            </a:r>
            <a:r>
              <a:rPr kumimoji="1" lang="zh-CN" altLang="en-US"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endParaRPr kumimoji="1" lang="en-US" altLang="zh-CN"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nSpc>
                <a:spcPct val="150000"/>
              </a:lnSpc>
              <a:buClr>
                <a:srgbClr val="DF4F21"/>
              </a:buClr>
              <a:buFont typeface="Wingdings" panose="05000000000000000000" pitchFamily="2" charset="2"/>
              <a:buChar char="Ø"/>
            </a:pPr>
            <a:r>
              <a:rPr kumimoji="1" lang="zh-CN" altLang="en-US"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发送端将应用程序消息分成若干段，向下传递到网络层；</a:t>
            </a:r>
            <a:endParaRPr kumimoji="1" lang="en-US" altLang="zh-CN"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914400" lvl="1" indent="-457200">
              <a:lnSpc>
                <a:spcPct val="150000"/>
              </a:lnSpc>
              <a:buClr>
                <a:srgbClr val="DF4F21"/>
              </a:buClr>
              <a:buFont typeface="Wingdings" panose="05000000000000000000" pitchFamily="2" charset="2"/>
              <a:buChar char="Ø"/>
            </a:pPr>
            <a:r>
              <a:rPr kumimoji="1" lang="zh-CN" altLang="en-US"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接收端将段重新组装成消息，向上传递到应用层。</a:t>
            </a:r>
            <a:endParaRPr kumimoji="1" lang="en-US" altLang="zh-CN"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pic>
        <p:nvPicPr>
          <p:cNvPr id="4" name="图片 3"/>
          <p:cNvPicPr>
            <a:picLocks noChangeAspect="1"/>
          </p:cNvPicPr>
          <p:nvPr/>
        </p:nvPicPr>
        <p:blipFill>
          <a:blip r:embed="rId1"/>
          <a:stretch>
            <a:fillRect/>
          </a:stretch>
        </p:blipFill>
        <p:spPr>
          <a:xfrm>
            <a:off x="7057390" y="2312670"/>
            <a:ext cx="4886325" cy="26523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31750" y="298450"/>
            <a:ext cx="7110730" cy="583565"/>
          </a:xfrm>
        </p:spPr>
        <p:txBody>
          <a:bodyPr/>
          <a:lstStyle/>
          <a:p>
            <a:pPr algn="l">
              <a:buClrTx/>
              <a:buSzTx/>
              <a:buFontTx/>
            </a:pPr>
            <a:r>
              <a:rPr lang="en-US" altLang="zh-CN" sz="4000" dirty="0">
                <a:latin typeface="+mj-ea"/>
                <a:sym typeface="+mn-ea"/>
              </a:rPr>
              <a:t>4</a:t>
            </a:r>
            <a:r>
              <a:rPr lang="zh-CN" altLang="en-US" sz="4000" dirty="0">
                <a:latin typeface="+mj-ea"/>
                <a:sym typeface="+mn-ea"/>
              </a:rPr>
              <a:t>.1.</a:t>
            </a:r>
            <a:r>
              <a:rPr lang="en-US" altLang="zh-CN" sz="4000" dirty="0">
                <a:latin typeface="+mj-ea"/>
                <a:sym typeface="+mn-ea"/>
              </a:rPr>
              <a:t>1 </a:t>
            </a:r>
            <a:r>
              <a:rPr lang="zh-CN" altLang="en-US" sz="4000" dirty="0">
                <a:latin typeface="+mj-ea"/>
                <a:sym typeface="+mn-ea"/>
              </a:rPr>
              <a:t>端口号分类</a:t>
            </a:r>
            <a:endParaRPr lang="zh-CN" altLang="en-US" sz="4400" dirty="0">
              <a:latin typeface="+mj-ea"/>
              <a:sym typeface="+mn-ea"/>
            </a:endParaRPr>
          </a:p>
        </p:txBody>
      </p:sp>
      <p:sp>
        <p:nvSpPr>
          <p:cNvPr id="4" name="矩形 3"/>
          <p:cNvSpPr/>
          <p:nvPr/>
        </p:nvSpPr>
        <p:spPr>
          <a:xfrm>
            <a:off x="294043" y="3688400"/>
            <a:ext cx="1608913" cy="6400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端口号</a:t>
            </a:r>
            <a:endParaRPr lang="en-US" altLang="zh-CN" b="1" dirty="0"/>
          </a:p>
          <a:p>
            <a:pPr algn="ctr"/>
            <a:r>
              <a:rPr lang="en-US" altLang="zh-CN" b="1" dirty="0"/>
              <a:t>0~65535</a:t>
            </a:r>
            <a:endParaRPr lang="en-US" altLang="zh-CN" b="1" dirty="0"/>
          </a:p>
        </p:txBody>
      </p:sp>
      <p:sp>
        <p:nvSpPr>
          <p:cNvPr id="5" name="文本框 4"/>
          <p:cNvSpPr txBox="1"/>
          <p:nvPr/>
        </p:nvSpPr>
        <p:spPr>
          <a:xfrm>
            <a:off x="7112849" y="1884210"/>
            <a:ext cx="4763591" cy="1476375"/>
          </a:xfrm>
          <a:prstGeom prst="rect">
            <a:avLst/>
          </a:prstGeom>
          <a:noFill/>
        </p:spPr>
        <p:txBody>
          <a:bodyPr wrap="square" rtlCol="0">
            <a:spAutoFit/>
          </a:bodyPr>
          <a:lstStyle/>
          <a:p>
            <a:r>
              <a:rPr lang="zh-CN" altLang="en-US" b="1" dirty="0">
                <a:latin typeface="Times New Roman" panose="02020603050405020304" charset="0"/>
                <a:ea typeface="黑体" panose="02010609060101010101" charset="-122"/>
                <a:cs typeface="Times New Roman" panose="02020603050405020304" charset="0"/>
              </a:rPr>
              <a:t>由 </a:t>
            </a:r>
            <a:r>
              <a:rPr lang="en-US" altLang="zh-CN" b="1" dirty="0">
                <a:latin typeface="Times New Roman" panose="02020603050405020304" charset="0"/>
                <a:ea typeface="黑体" panose="02010609060101010101" charset="-122"/>
                <a:cs typeface="Times New Roman" panose="02020603050405020304" charset="0"/>
              </a:rPr>
              <a:t>IANA</a:t>
            </a:r>
            <a:r>
              <a:rPr lang="zh-CN" altLang="en-US" b="1" dirty="0">
                <a:latin typeface="Times New Roman" panose="02020603050405020304" charset="0"/>
                <a:ea typeface="黑体" panose="02010609060101010101" charset="-122"/>
                <a:cs typeface="Times New Roman" panose="02020603050405020304" charset="0"/>
              </a:rPr>
              <a:t>分配和管理的，确保网络中所有设备能够识别并统一使用它们。被保留给一些常用的、知名的应用层协议使用，也被称为“系统端口”。</a:t>
            </a:r>
            <a:endParaRPr lang="zh-CN" altLang="en-US" b="1" dirty="0">
              <a:latin typeface="Times New Roman" panose="02020603050405020304" charset="0"/>
              <a:ea typeface="黑体" panose="02010609060101010101" charset="-122"/>
              <a:cs typeface="Times New Roman" panose="02020603050405020304" charset="0"/>
            </a:endParaRPr>
          </a:p>
          <a:p>
            <a:endParaRPr lang="zh-CN" altLang="en-US" b="1" dirty="0">
              <a:latin typeface="Times New Roman" panose="02020603050405020304" charset="0"/>
              <a:ea typeface="黑体" panose="02010609060101010101" charset="-122"/>
              <a:cs typeface="Times New Roman" panose="02020603050405020304" charset="0"/>
            </a:endParaRPr>
          </a:p>
        </p:txBody>
      </p:sp>
      <p:graphicFrame>
        <p:nvGraphicFramePr>
          <p:cNvPr id="6" name="表格 8"/>
          <p:cNvGraphicFramePr>
            <a:graphicFrameLocks noGrp="1"/>
          </p:cNvGraphicFramePr>
          <p:nvPr/>
        </p:nvGraphicFramePr>
        <p:xfrm>
          <a:off x="294043" y="1175626"/>
          <a:ext cx="5744202" cy="736600"/>
        </p:xfrm>
        <a:graphic>
          <a:graphicData uri="http://schemas.openxmlformats.org/drawingml/2006/table">
            <a:tbl>
              <a:tblPr firstRow="1" bandRow="1">
                <a:tableStyleId>{5C22544A-7EE6-4342-B048-85BDC9FD1C3A}</a:tableStyleId>
              </a:tblPr>
              <a:tblGrid>
                <a:gridCol w="927751"/>
                <a:gridCol w="927751"/>
                <a:gridCol w="927751"/>
                <a:gridCol w="927751"/>
                <a:gridCol w="927751"/>
                <a:gridCol w="1105447"/>
              </a:tblGrid>
              <a:tr h="148930">
                <a:tc>
                  <a:txBody>
                    <a:bodyPr/>
                    <a:lstStyle/>
                    <a:p>
                      <a:pPr algn="ctr"/>
                      <a:r>
                        <a:rPr lang="en-US" altLang="zh-CN" b="1" dirty="0">
                          <a:solidFill>
                            <a:schemeClr val="tx1"/>
                          </a:solidFill>
                        </a:rPr>
                        <a:t>FTP</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SMTP</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DNS</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DHCP</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HTTP</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HTTPS</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r>
                        <a:rPr lang="en-US" altLang="zh-CN" b="1" dirty="0">
                          <a:solidFill>
                            <a:schemeClr val="tx1"/>
                          </a:solidFill>
                        </a:rPr>
                        <a:t>21/20</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25</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53</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67/68</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80</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443</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8" name="文本框 7"/>
          <p:cNvSpPr txBox="1"/>
          <p:nvPr/>
        </p:nvSpPr>
        <p:spPr>
          <a:xfrm>
            <a:off x="7112849" y="3165387"/>
            <a:ext cx="4763591" cy="646331"/>
          </a:xfrm>
          <a:prstGeom prst="rect">
            <a:avLst/>
          </a:prstGeom>
          <a:noFill/>
        </p:spPr>
        <p:txBody>
          <a:bodyPr wrap="square" rtlCol="0">
            <a:spAutoFit/>
          </a:bodyPr>
          <a:lstStyle>
            <a:defPPr>
              <a:defRPr lang="en-US"/>
            </a:defPPr>
            <a:lvl1pPr>
              <a:defRPr b="1">
                <a:latin typeface="Times New Roman" panose="02020603050405020304" charset="0"/>
                <a:ea typeface="黑体" panose="02010609060101010101" charset="-122"/>
                <a:cs typeface="Times New Roman" panose="02020603050405020304" charset="0"/>
              </a:defRPr>
            </a:lvl1pPr>
          </a:lstStyle>
          <a:p>
            <a:r>
              <a:rPr lang="zh-CN" altLang="en-US" dirty="0"/>
              <a:t>通常由 </a:t>
            </a:r>
            <a:r>
              <a:rPr lang="en-US" altLang="zh-CN" dirty="0"/>
              <a:t>IANA </a:t>
            </a:r>
            <a:r>
              <a:rPr lang="zh-CN" altLang="en-US" dirty="0"/>
              <a:t>为用户空间应用程序分配，供一些相对比较知名的应用或服务使用。</a:t>
            </a:r>
            <a:endParaRPr lang="zh-CN" altLang="en-US" dirty="0"/>
          </a:p>
        </p:txBody>
      </p:sp>
      <p:sp>
        <p:nvSpPr>
          <p:cNvPr id="9" name="文本框 8"/>
          <p:cNvSpPr txBox="1"/>
          <p:nvPr/>
        </p:nvSpPr>
        <p:spPr>
          <a:xfrm>
            <a:off x="7112848" y="4642715"/>
            <a:ext cx="4886112" cy="1200329"/>
          </a:xfrm>
          <a:prstGeom prst="rect">
            <a:avLst/>
          </a:prstGeom>
          <a:noFill/>
        </p:spPr>
        <p:txBody>
          <a:bodyPr wrap="square" rtlCol="0">
            <a:spAutoFit/>
          </a:bodyPr>
          <a:lstStyle/>
          <a:p>
            <a:r>
              <a:rPr lang="zh-CN" altLang="en-US" b="1" dirty="0">
                <a:latin typeface="Times New Roman" panose="02020603050405020304" charset="0"/>
                <a:ea typeface="黑体" panose="02010609060101010101" charset="-122"/>
                <a:cs typeface="Times New Roman" panose="02020603050405020304" charset="0"/>
              </a:rPr>
              <a:t>这些端口号不需要注册，通常用于客户端应用程序在与服务器建立连接时临时使用。每当</a:t>
            </a:r>
            <a:r>
              <a:rPr lang="en-US" altLang="zh-CN" b="1" dirty="0">
                <a:latin typeface="Times New Roman" panose="02020603050405020304" charset="0"/>
                <a:ea typeface="黑体" panose="02010609060101010101" charset="-122"/>
                <a:cs typeface="Times New Roman" panose="02020603050405020304" charset="0"/>
              </a:rPr>
              <a:t>client</a:t>
            </a:r>
            <a:r>
              <a:rPr lang="zh-CN" altLang="en-US" b="1" dirty="0">
                <a:latin typeface="Times New Roman" panose="02020603050405020304" charset="0"/>
                <a:ea typeface="黑体" panose="02010609060101010101" charset="-122"/>
                <a:cs typeface="Times New Roman" panose="02020603050405020304" charset="0"/>
              </a:rPr>
              <a:t>需要与</a:t>
            </a:r>
            <a:r>
              <a:rPr lang="en-US" altLang="zh-CN" b="1" dirty="0">
                <a:latin typeface="Times New Roman" panose="02020603050405020304" charset="0"/>
                <a:ea typeface="黑体" panose="02010609060101010101" charset="-122"/>
                <a:cs typeface="Times New Roman" panose="02020603050405020304" charset="0"/>
              </a:rPr>
              <a:t>server</a:t>
            </a:r>
            <a:r>
              <a:rPr lang="zh-CN" altLang="en-US" b="1" dirty="0">
                <a:latin typeface="Times New Roman" panose="02020603050405020304" charset="0"/>
                <a:ea typeface="黑体" panose="02010609060101010101" charset="-122"/>
                <a:cs typeface="Times New Roman" panose="02020603050405020304" charset="0"/>
              </a:rPr>
              <a:t>通信时，操作系统会动态分配一个临时端口号，并在通信结束后释放。</a:t>
            </a:r>
            <a:endParaRPr lang="zh-CN" altLang="en-US" b="1" dirty="0">
              <a:latin typeface="Times New Roman" panose="02020603050405020304" charset="0"/>
              <a:ea typeface="黑体" panose="02010609060101010101" charset="-122"/>
              <a:cs typeface="Times New Roman" panose="02020603050405020304" charset="0"/>
            </a:endParaRPr>
          </a:p>
        </p:txBody>
      </p:sp>
      <p:grpSp>
        <p:nvGrpSpPr>
          <p:cNvPr id="10" name="组合 9"/>
          <p:cNvGrpSpPr/>
          <p:nvPr/>
        </p:nvGrpSpPr>
        <p:grpSpPr>
          <a:xfrm>
            <a:off x="1902956" y="2622874"/>
            <a:ext cx="2551481" cy="2771131"/>
            <a:chOff x="1902956" y="2490159"/>
            <a:chExt cx="2551481" cy="2771131"/>
          </a:xfrm>
        </p:grpSpPr>
        <p:sp>
          <p:nvSpPr>
            <p:cNvPr id="11" name="矩形 10"/>
            <p:cNvSpPr/>
            <p:nvPr/>
          </p:nvSpPr>
          <p:spPr>
            <a:xfrm>
              <a:off x="2845526" y="2490159"/>
              <a:ext cx="1608911" cy="6400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服务器端使用端口号</a:t>
              </a:r>
              <a:endParaRPr lang="en-US" altLang="zh-CN" b="1" dirty="0"/>
            </a:p>
          </p:txBody>
        </p:sp>
        <p:sp>
          <p:nvSpPr>
            <p:cNvPr id="12" name="矩形 11"/>
            <p:cNvSpPr/>
            <p:nvPr/>
          </p:nvSpPr>
          <p:spPr>
            <a:xfrm>
              <a:off x="2845525" y="4621210"/>
              <a:ext cx="1608912" cy="6400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客户端使用</a:t>
              </a:r>
              <a:endParaRPr lang="en-US" altLang="zh-CN" b="1" dirty="0"/>
            </a:p>
            <a:p>
              <a:pPr algn="ctr"/>
              <a:r>
                <a:rPr lang="zh-CN" altLang="en-US" b="1" dirty="0"/>
                <a:t>端口号</a:t>
              </a:r>
              <a:endParaRPr lang="en-US" altLang="zh-CN" b="1" dirty="0"/>
            </a:p>
          </p:txBody>
        </p:sp>
        <p:cxnSp>
          <p:nvCxnSpPr>
            <p:cNvPr id="13" name="连接符: 肘形 12"/>
            <p:cNvCxnSpPr>
              <a:stCxn id="11" idx="1"/>
              <a:endCxn id="4" idx="3"/>
            </p:cNvCxnSpPr>
            <p:nvPr/>
          </p:nvCxnSpPr>
          <p:spPr>
            <a:xfrm rot="10800000" flipV="1">
              <a:off x="1902956" y="2810198"/>
              <a:ext cx="942570" cy="1198241"/>
            </a:xfrm>
            <a:prstGeom prst="bentConnector3">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连接符: 肘形 13"/>
            <p:cNvCxnSpPr>
              <a:stCxn id="12" idx="1"/>
              <a:endCxn id="4" idx="3"/>
            </p:cNvCxnSpPr>
            <p:nvPr/>
          </p:nvCxnSpPr>
          <p:spPr>
            <a:xfrm rot="10800000">
              <a:off x="1902957" y="4008440"/>
              <a:ext cx="942569" cy="932810"/>
            </a:xfrm>
            <a:prstGeom prst="bentConnector3">
              <a:avLst>
                <a:gd name="adj1"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4443680" y="2087172"/>
            <a:ext cx="2540724" cy="1724546"/>
            <a:chOff x="4454437" y="1954457"/>
            <a:chExt cx="2540724" cy="1724546"/>
          </a:xfrm>
        </p:grpSpPr>
        <p:sp>
          <p:nvSpPr>
            <p:cNvPr id="16" name="矩形 15"/>
            <p:cNvSpPr/>
            <p:nvPr/>
          </p:nvSpPr>
          <p:spPr>
            <a:xfrm>
              <a:off x="5386251" y="1954457"/>
              <a:ext cx="1608910" cy="6400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周知端口号</a:t>
              </a:r>
              <a:endParaRPr lang="en-US" altLang="zh-CN" b="1" dirty="0"/>
            </a:p>
            <a:p>
              <a:pPr algn="ctr"/>
              <a:r>
                <a:rPr lang="en-US" altLang="zh-CN" b="1" dirty="0"/>
                <a:t>0~1023</a:t>
              </a:r>
              <a:endParaRPr lang="en-US" altLang="zh-CN" b="1" dirty="0"/>
            </a:p>
          </p:txBody>
        </p:sp>
        <p:sp>
          <p:nvSpPr>
            <p:cNvPr id="17" name="矩形 16"/>
            <p:cNvSpPr/>
            <p:nvPr/>
          </p:nvSpPr>
          <p:spPr>
            <a:xfrm>
              <a:off x="5386251" y="3038923"/>
              <a:ext cx="1608910" cy="6400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注册端口号</a:t>
              </a:r>
              <a:endParaRPr lang="en-US" altLang="zh-CN" b="1" dirty="0"/>
            </a:p>
            <a:p>
              <a:pPr algn="ctr"/>
              <a:r>
                <a:rPr lang="en-US" altLang="zh-CN" b="1" dirty="0"/>
                <a:t>1024~49151</a:t>
              </a:r>
              <a:endParaRPr lang="en-US" altLang="zh-CN" b="1" dirty="0"/>
            </a:p>
          </p:txBody>
        </p:sp>
        <p:cxnSp>
          <p:nvCxnSpPr>
            <p:cNvPr id="18" name="连接符: 肘形 17"/>
            <p:cNvCxnSpPr>
              <a:stCxn id="16" idx="1"/>
              <a:endCxn id="11" idx="3"/>
            </p:cNvCxnSpPr>
            <p:nvPr/>
          </p:nvCxnSpPr>
          <p:spPr>
            <a:xfrm rot="10800000" flipV="1">
              <a:off x="4454437" y="2274496"/>
              <a:ext cx="931814" cy="668417"/>
            </a:xfrm>
            <a:prstGeom prst="bentConnector3">
              <a:avLst>
                <a:gd name="adj1"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连接符: 肘形 18"/>
            <p:cNvCxnSpPr>
              <a:stCxn id="17" idx="1"/>
              <a:endCxn id="11" idx="3"/>
            </p:cNvCxnSpPr>
            <p:nvPr/>
          </p:nvCxnSpPr>
          <p:spPr>
            <a:xfrm rot="10800000">
              <a:off x="4454437" y="2942915"/>
              <a:ext cx="931814" cy="416049"/>
            </a:xfrm>
            <a:prstGeom prst="bentConnector3">
              <a:avLst>
                <a:gd name="adj1"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4454437" y="4753925"/>
            <a:ext cx="2529967" cy="640080"/>
            <a:chOff x="4465194" y="4621210"/>
            <a:chExt cx="2529967" cy="640080"/>
          </a:xfrm>
        </p:grpSpPr>
        <p:sp>
          <p:nvSpPr>
            <p:cNvPr id="21" name="矩形 20"/>
            <p:cNvSpPr/>
            <p:nvPr/>
          </p:nvSpPr>
          <p:spPr>
            <a:xfrm>
              <a:off x="4959275" y="4621210"/>
              <a:ext cx="2035886" cy="6400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动态或临时端口号</a:t>
              </a:r>
              <a:endParaRPr lang="en-US" altLang="zh-CN" b="1" dirty="0"/>
            </a:p>
            <a:p>
              <a:pPr algn="ctr"/>
              <a:r>
                <a:rPr lang="en-US" altLang="zh-CN" b="1" dirty="0"/>
                <a:t>49152~65535</a:t>
              </a:r>
              <a:endParaRPr lang="en-US" altLang="zh-CN" b="1" dirty="0"/>
            </a:p>
          </p:txBody>
        </p:sp>
        <p:cxnSp>
          <p:nvCxnSpPr>
            <p:cNvPr id="22" name="直接连接符 21"/>
            <p:cNvCxnSpPr>
              <a:stCxn id="12" idx="3"/>
              <a:endCxn id="21" idx="1"/>
            </p:cNvCxnSpPr>
            <p:nvPr/>
          </p:nvCxnSpPr>
          <p:spPr>
            <a:xfrm>
              <a:off x="4465194" y="4941250"/>
              <a:ext cx="49408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矩形 22"/>
          <p:cNvSpPr/>
          <p:nvPr/>
        </p:nvSpPr>
        <p:spPr>
          <a:xfrm>
            <a:off x="294043" y="5836730"/>
            <a:ext cx="11582398" cy="9110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b="1" dirty="0"/>
              <a:t>         端口号只具有本地意义，即端口号只是为了标识本计算机网络协议栈应用层中的各应用进程。在因特网中，不同计算机中的相同端口号是没有关系的，即相互独立。另外，</a:t>
            </a:r>
            <a:r>
              <a:rPr lang="en-US" altLang="zh-CN" b="1" dirty="0"/>
              <a:t>TCP</a:t>
            </a:r>
            <a:r>
              <a:rPr lang="zh-CN" altLang="en-US" b="1" dirty="0"/>
              <a:t>和</a:t>
            </a:r>
            <a:r>
              <a:rPr lang="en-US" altLang="zh-CN" b="1" dirty="0"/>
              <a:t>UDP</a:t>
            </a:r>
            <a:r>
              <a:rPr lang="zh-CN" altLang="en-US" b="1" dirty="0"/>
              <a:t>端口号之间也是没有关系的。</a:t>
            </a:r>
            <a:endParaRPr lang="zh-CN" altLang="en-US" b="1" dirty="0"/>
          </a:p>
        </p:txBody>
      </p:sp>
      <p:graphicFrame>
        <p:nvGraphicFramePr>
          <p:cNvPr id="54" name="表格 8"/>
          <p:cNvGraphicFramePr>
            <a:graphicFrameLocks noGrp="1"/>
          </p:cNvGraphicFramePr>
          <p:nvPr/>
        </p:nvGraphicFramePr>
        <p:xfrm>
          <a:off x="4454437" y="3900853"/>
          <a:ext cx="7422002" cy="731520"/>
        </p:xfrm>
        <a:graphic>
          <a:graphicData uri="http://schemas.openxmlformats.org/drawingml/2006/table">
            <a:tbl>
              <a:tblPr firstRow="1" bandRow="1">
                <a:tableStyleId>{5C22544A-7EE6-4342-B048-85BDC9FD1C3A}</a:tableStyleId>
              </a:tblPr>
              <a:tblGrid>
                <a:gridCol w="1171812"/>
                <a:gridCol w="1742739"/>
                <a:gridCol w="2726722"/>
                <a:gridCol w="923625"/>
                <a:gridCol w="857104"/>
              </a:tblGrid>
              <a:tr h="304308">
                <a:tc>
                  <a:txBody>
                    <a:bodyPr/>
                    <a:lstStyle/>
                    <a:p>
                      <a:pPr algn="ctr"/>
                      <a:r>
                        <a:rPr lang="en-US" altLang="zh-CN" b="1" dirty="0">
                          <a:solidFill>
                            <a:schemeClr val="tx1"/>
                          </a:solidFill>
                        </a:rPr>
                        <a:t>MySQL</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SQL Server</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RDP</a:t>
                      </a:r>
                      <a:r>
                        <a:rPr lang="zh-CN" altLang="en-US" b="1" dirty="0">
                          <a:solidFill>
                            <a:schemeClr val="tx1"/>
                          </a:solidFill>
                        </a:rPr>
                        <a:t>（远程桌面协议）</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Redis</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oracle</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42023">
                <a:tc>
                  <a:txBody>
                    <a:bodyPr/>
                    <a:lstStyle/>
                    <a:p>
                      <a:pPr algn="ctr"/>
                      <a:r>
                        <a:rPr lang="en-US" altLang="zh-CN" b="1" dirty="0">
                          <a:solidFill>
                            <a:schemeClr val="tx1"/>
                          </a:solidFill>
                        </a:rPr>
                        <a:t>3306</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1433</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3389</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6379</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b="1" dirty="0">
                          <a:solidFill>
                            <a:schemeClr val="tx1"/>
                          </a:solidFill>
                        </a:rPr>
                        <a:t>1524</a:t>
                      </a:r>
                      <a:endParaRPr lang="zh-CN" alt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1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10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p:tgtEl>
                                          <p:spTgt spid="5"/>
                                        </p:tgtEl>
                                        <p:attrNameLst>
                                          <p:attrName>ppt_x</p:attrName>
                                        </p:attrNameLst>
                                      </p:cBhvr>
                                      <p:tavLst>
                                        <p:tav tm="0">
                                          <p:val>
                                            <p:strVal val="#ppt_x-#ppt_w*1.125000"/>
                                          </p:val>
                                        </p:tav>
                                        <p:tav tm="100000">
                                          <p:val>
                                            <p:strVal val="#ppt_x"/>
                                          </p:val>
                                        </p:tav>
                                      </p:tavLst>
                                    </p:anim>
                                    <p:animEffect transition="in" filter="wipe(righ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p:tgtEl>
                                          <p:spTgt spid="6"/>
                                        </p:tgtEl>
                                        <p:attrNameLst>
                                          <p:attrName>ppt_y</p:attrName>
                                        </p:attrNameLst>
                                      </p:cBhvr>
                                      <p:tavLst>
                                        <p:tav tm="0">
                                          <p:val>
                                            <p:strVal val="#ppt_y+#ppt_h*1.125000"/>
                                          </p:val>
                                        </p:tav>
                                        <p:tav tm="100000">
                                          <p:val>
                                            <p:strVal val="#ppt_y"/>
                                          </p:val>
                                        </p:tav>
                                      </p:tavLst>
                                    </p:anim>
                                    <p:animEffect transition="in" filter="wipe(up)">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p:tgtEl>
                                          <p:spTgt spid="8"/>
                                        </p:tgtEl>
                                        <p:attrNameLst>
                                          <p:attrName>ppt_x</p:attrName>
                                        </p:attrNameLst>
                                      </p:cBhvr>
                                      <p:tavLst>
                                        <p:tav tm="0">
                                          <p:val>
                                            <p:strVal val="#ppt_x-#ppt_w*1.125000"/>
                                          </p:val>
                                        </p:tav>
                                        <p:tav tm="100000">
                                          <p:val>
                                            <p:strVal val="#ppt_x"/>
                                          </p:val>
                                        </p:tav>
                                      </p:tavLst>
                                    </p:anim>
                                    <p:animEffect transition="in" filter="wipe(right)">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54"/>
                                        </p:tgtEl>
                                        <p:attrNameLst>
                                          <p:attrName>style.visibility</p:attrName>
                                        </p:attrNameLst>
                                      </p:cBhvr>
                                      <p:to>
                                        <p:strVal val="visible"/>
                                      </p:to>
                                    </p:set>
                                    <p:anim calcmode="lin" valueType="num">
                                      <p:cBhvr additive="base">
                                        <p:cTn id="43" dur="500"/>
                                        <p:tgtEl>
                                          <p:spTgt spid="54"/>
                                        </p:tgtEl>
                                        <p:attrNameLst>
                                          <p:attrName>ppt_y</p:attrName>
                                        </p:attrNameLst>
                                      </p:cBhvr>
                                      <p:tavLst>
                                        <p:tav tm="0">
                                          <p:val>
                                            <p:strVal val="#ppt_y+#ppt_h*1.125000"/>
                                          </p:val>
                                        </p:tav>
                                        <p:tav tm="100000">
                                          <p:val>
                                            <p:strVal val="#ppt_y"/>
                                          </p:val>
                                        </p:tav>
                                      </p:tavLst>
                                    </p:anim>
                                    <p:animEffect transition="in" filter="wipe(up)">
                                      <p:cBhvr>
                                        <p:cTn id="44" dur="500"/>
                                        <p:tgtEl>
                                          <p:spTgt spid="5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10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8" fill="hold" grpId="0" nodeType="clickEffect">
                                  <p:stCondLst>
                                    <p:cond delay="0"/>
                                  </p:stCondLst>
                                  <p:childTnLst>
                                    <p:set>
                                      <p:cBhvr>
                                        <p:cTn id="53" dur="1" fill="hold">
                                          <p:stCondLst>
                                            <p:cond delay="0"/>
                                          </p:stCondLst>
                                        </p:cTn>
                                        <p:tgtEl>
                                          <p:spTgt spid="9"/>
                                        </p:tgtEl>
                                        <p:attrNameLst>
                                          <p:attrName>style.visibility</p:attrName>
                                        </p:attrNameLst>
                                      </p:cBhvr>
                                      <p:to>
                                        <p:strVal val="visible"/>
                                      </p:to>
                                    </p:set>
                                    <p:anim calcmode="lin" valueType="num">
                                      <p:cBhvr additive="base">
                                        <p:cTn id="54" dur="500"/>
                                        <p:tgtEl>
                                          <p:spTgt spid="9"/>
                                        </p:tgtEl>
                                        <p:attrNameLst>
                                          <p:attrName>ppt_x</p:attrName>
                                        </p:attrNameLst>
                                      </p:cBhvr>
                                      <p:tavLst>
                                        <p:tav tm="0">
                                          <p:val>
                                            <p:strVal val="#ppt_x-#ppt_w*1.125000"/>
                                          </p:val>
                                        </p:tav>
                                        <p:tav tm="100000">
                                          <p:val>
                                            <p:strVal val="#ppt_x"/>
                                          </p:val>
                                        </p:tav>
                                      </p:tavLst>
                                    </p:anim>
                                    <p:animEffect transition="in" filter="wipe(right)">
                                      <p:cBhvr>
                                        <p:cTn id="55" dur="500"/>
                                        <p:tgtEl>
                                          <p:spTgt spid="9"/>
                                        </p:tgtEl>
                                      </p:cBhvr>
                                    </p:animEffect>
                                  </p:childTnLst>
                                </p:cTn>
                              </p:par>
                            </p:childTnLst>
                          </p:cTn>
                        </p:par>
                      </p:childTnLst>
                    </p:cTn>
                  </p:par>
                  <p:par>
                    <p:cTn id="56" fill="hold">
                      <p:stCondLst>
                        <p:cond delay="indefinite"/>
                      </p:stCondLst>
                      <p:childTnLst>
                        <p:par>
                          <p:cTn id="57" fill="hold">
                            <p:stCondLst>
                              <p:cond delay="0"/>
                            </p:stCondLst>
                            <p:childTnLst>
                              <p:par>
                                <p:cTn id="58" presetID="30" presetClass="entr" presetSubtype="0"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800" decel="100000"/>
                                        <p:tgtEl>
                                          <p:spTgt spid="23"/>
                                        </p:tgtEl>
                                      </p:cBhvr>
                                    </p:animEffect>
                                    <p:anim calcmode="lin" valueType="num">
                                      <p:cBhvr>
                                        <p:cTn id="61" dur="800" decel="100000" fill="hold"/>
                                        <p:tgtEl>
                                          <p:spTgt spid="23"/>
                                        </p:tgtEl>
                                        <p:attrNameLst>
                                          <p:attrName>style.rotation</p:attrName>
                                        </p:attrNameLst>
                                      </p:cBhvr>
                                      <p:tavLst>
                                        <p:tav tm="0">
                                          <p:val>
                                            <p:fltVal val="-90"/>
                                          </p:val>
                                        </p:tav>
                                        <p:tav tm="100000">
                                          <p:val>
                                            <p:fltVal val="0"/>
                                          </p:val>
                                        </p:tav>
                                      </p:tavLst>
                                    </p:anim>
                                    <p:anim calcmode="lin" valueType="num">
                                      <p:cBhvr>
                                        <p:cTn id="62" dur="800" decel="100000" fill="hold"/>
                                        <p:tgtEl>
                                          <p:spTgt spid="23"/>
                                        </p:tgtEl>
                                        <p:attrNameLst>
                                          <p:attrName>ppt_x</p:attrName>
                                        </p:attrNameLst>
                                      </p:cBhvr>
                                      <p:tavLst>
                                        <p:tav tm="0">
                                          <p:val>
                                            <p:strVal val="#ppt_x+0.4"/>
                                          </p:val>
                                        </p:tav>
                                        <p:tav tm="100000">
                                          <p:val>
                                            <p:strVal val="#ppt_x-0.05"/>
                                          </p:val>
                                        </p:tav>
                                      </p:tavLst>
                                    </p:anim>
                                    <p:anim calcmode="lin" valueType="num">
                                      <p:cBhvr>
                                        <p:cTn id="63" dur="800" decel="100000" fill="hold"/>
                                        <p:tgtEl>
                                          <p:spTgt spid="23"/>
                                        </p:tgtEl>
                                        <p:attrNameLst>
                                          <p:attrName>ppt_y</p:attrName>
                                        </p:attrNameLst>
                                      </p:cBhvr>
                                      <p:tavLst>
                                        <p:tav tm="0">
                                          <p:val>
                                            <p:strVal val="#ppt_y-0.4"/>
                                          </p:val>
                                        </p:tav>
                                        <p:tav tm="100000">
                                          <p:val>
                                            <p:strVal val="#ppt_y+0.1"/>
                                          </p:val>
                                        </p:tav>
                                      </p:tavLst>
                                    </p:anim>
                                    <p:anim calcmode="lin" valueType="num">
                                      <p:cBhvr>
                                        <p:cTn id="64" dur="200" accel="100000" fill="hold">
                                          <p:stCondLst>
                                            <p:cond delay="800"/>
                                          </p:stCondLst>
                                        </p:cTn>
                                        <p:tgtEl>
                                          <p:spTgt spid="23"/>
                                        </p:tgtEl>
                                        <p:attrNameLst>
                                          <p:attrName>ppt_x</p:attrName>
                                        </p:attrNameLst>
                                      </p:cBhvr>
                                      <p:tavLst>
                                        <p:tav tm="0">
                                          <p:val>
                                            <p:strVal val="#ppt_x-0.05"/>
                                          </p:val>
                                        </p:tav>
                                        <p:tav tm="100000">
                                          <p:val>
                                            <p:strVal val="#ppt_x"/>
                                          </p:val>
                                        </p:tav>
                                      </p:tavLst>
                                    </p:anim>
                                    <p:anim calcmode="lin" valueType="num">
                                      <p:cBhvr>
                                        <p:cTn id="65" dur="200" accel="100000" fill="hold">
                                          <p:stCondLst>
                                            <p:cond delay="800"/>
                                          </p:stCondLst>
                                        </p:cTn>
                                        <p:tgtEl>
                                          <p:spTgt spid="23"/>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p:bldP spid="8" grpId="0"/>
      <p:bldP spid="9" grpId="0"/>
      <p:bldP spid="23"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750" y="298450"/>
            <a:ext cx="7130415" cy="583565"/>
          </a:xfrm>
        </p:spPr>
        <p:txBody>
          <a:bodyPr/>
          <a:lstStyle/>
          <a:p>
            <a:pPr algn="l">
              <a:buClrTx/>
              <a:buSzTx/>
              <a:buFontTx/>
            </a:pPr>
            <a:r>
              <a:rPr lang="en-US" altLang="zh-CN" sz="4000" dirty="0">
                <a:latin typeface="+mj-ea"/>
                <a:sym typeface="+mn-ea"/>
              </a:rPr>
              <a:t>4</a:t>
            </a:r>
            <a:r>
              <a:rPr lang="zh-CN" altLang="en-US" sz="4000" dirty="0">
                <a:latin typeface="+mj-ea"/>
                <a:sym typeface="+mn-ea"/>
              </a:rPr>
              <a:t>.1.</a:t>
            </a:r>
            <a:r>
              <a:rPr lang="en-US" altLang="zh-CN" sz="4000" dirty="0">
                <a:latin typeface="+mj-ea"/>
                <a:sym typeface="+mn-ea"/>
              </a:rPr>
              <a:t>2 TCP</a:t>
            </a:r>
            <a:r>
              <a:rPr lang="zh-CN" altLang="en-US" sz="4000" dirty="0">
                <a:latin typeface="+mj-ea"/>
                <a:sym typeface="+mn-ea"/>
              </a:rPr>
              <a:t>和</a:t>
            </a:r>
            <a:r>
              <a:rPr lang="en-US" altLang="zh-CN" sz="4000" dirty="0">
                <a:latin typeface="+mj-ea"/>
                <a:sym typeface="+mn-ea"/>
              </a:rPr>
              <a:t>UDP</a:t>
            </a:r>
            <a:endParaRPr lang="zh-CN" altLang="en-US" sz="4000" dirty="0">
              <a:latin typeface="+mj-ea"/>
              <a:sym typeface="+mn-ea"/>
            </a:endParaRPr>
          </a:p>
        </p:txBody>
      </p:sp>
      <p:sp>
        <p:nvSpPr>
          <p:cNvPr id="3" name="文本框 2"/>
          <p:cNvSpPr txBox="1"/>
          <p:nvPr/>
        </p:nvSpPr>
        <p:spPr>
          <a:xfrm>
            <a:off x="773216" y="1251271"/>
            <a:ext cx="10645567" cy="1130246"/>
          </a:xfrm>
          <a:prstGeom prst="rect">
            <a:avLst/>
          </a:prstGeom>
          <a:noFill/>
        </p:spPr>
        <p:txBody>
          <a:bodyPr wrap="square" rtlCol="0" anchor="t">
            <a:spAutoFit/>
          </a:bodyPr>
          <a:lstStyle/>
          <a:p>
            <a:pPr marL="342900" indent="-342900">
              <a:lnSpc>
                <a:spcPct val="150000"/>
              </a:lnSpc>
              <a:buClr>
                <a:srgbClr val="DF4F21"/>
              </a:buClr>
              <a:buFont typeface="Wingdings" panose="05000000000000000000" charset="0"/>
              <a:buChar char="p"/>
            </a:pPr>
            <a:r>
              <a:rPr kumimoji="1" lang="zh-CN" altLang="en-US"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根据应用需求的不同，因特网的运输层为应用层提供了两种不同的运输层协议，即</a:t>
            </a:r>
            <a:r>
              <a:rPr kumimoji="1" lang="zh-CN" altLang="en-US" sz="2400" b="1" dirty="0">
                <a:ln w="12700">
                  <a:noFill/>
                </a:ln>
                <a:solidFill>
                  <a:schemeClr val="accent2"/>
                </a:solidFill>
                <a:latin typeface="Times New Roman" panose="02020603050405020304" charset="0"/>
                <a:ea typeface="宋体" panose="02010600030101010101" pitchFamily="2" charset="-122"/>
                <a:cs typeface="Times New Roman" panose="02020603050405020304" charset="0"/>
                <a:sym typeface="+mn-ea"/>
              </a:rPr>
              <a:t>面向连接的</a:t>
            </a:r>
            <a:r>
              <a:rPr kumimoji="1" lang="en-US" altLang="zh-CN" sz="2400" b="1" dirty="0">
                <a:ln w="12700">
                  <a:noFill/>
                </a:ln>
                <a:solidFill>
                  <a:schemeClr val="accent2"/>
                </a:solidFill>
                <a:latin typeface="Times New Roman" panose="02020603050405020304" charset="0"/>
                <a:ea typeface="宋体" panose="02010600030101010101" pitchFamily="2" charset="-122"/>
                <a:cs typeface="Times New Roman" panose="02020603050405020304" charset="0"/>
                <a:sym typeface="+mn-ea"/>
              </a:rPr>
              <a:t>TCP</a:t>
            </a:r>
            <a:r>
              <a:rPr kumimoji="1" lang="zh-CN" altLang="en-US"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和</a:t>
            </a:r>
            <a:r>
              <a:rPr kumimoji="1" lang="zh-CN" altLang="en-US" sz="2400" b="1" dirty="0">
                <a:ln w="12700">
                  <a:noFill/>
                </a:ln>
                <a:solidFill>
                  <a:schemeClr val="accent2"/>
                </a:solidFill>
                <a:latin typeface="Times New Roman" panose="02020603050405020304" charset="0"/>
                <a:ea typeface="宋体" panose="02010600030101010101" pitchFamily="2" charset="-122"/>
                <a:cs typeface="Times New Roman" panose="02020603050405020304" charset="0"/>
                <a:sym typeface="+mn-ea"/>
              </a:rPr>
              <a:t>无连接的</a:t>
            </a:r>
            <a:r>
              <a:rPr kumimoji="1" lang="en-US" altLang="zh-CN" sz="2400" b="1" dirty="0">
                <a:ln w="12700">
                  <a:noFill/>
                </a:ln>
                <a:solidFill>
                  <a:schemeClr val="accent2"/>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endParaRPr kumimoji="1" lang="en-US" altLang="zh-CN" sz="24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
        <p:nvSpPr>
          <p:cNvPr id="5" name="矩形 4"/>
          <p:cNvSpPr/>
          <p:nvPr/>
        </p:nvSpPr>
        <p:spPr>
          <a:xfrm>
            <a:off x="335281" y="2687077"/>
            <a:ext cx="5564038" cy="592002"/>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Times New Roman" panose="02020603050405020304" charset="0"/>
                <a:ea typeface="黑体" panose="02010609060101010101" charset="-122"/>
                <a:cs typeface="Times New Roman" panose="02020603050405020304" charset="0"/>
              </a:rPr>
              <a:t>TCP</a:t>
            </a:r>
            <a:endParaRPr lang="zh-CN" altLang="en-US" sz="2800" b="1" dirty="0">
              <a:latin typeface="Times New Roman" panose="02020603050405020304" charset="0"/>
              <a:ea typeface="黑体" panose="02010609060101010101" charset="-122"/>
              <a:cs typeface="Times New Roman" panose="02020603050405020304" charset="0"/>
            </a:endParaRPr>
          </a:p>
        </p:txBody>
      </p:sp>
      <p:sp>
        <p:nvSpPr>
          <p:cNvPr id="6" name="矩形 5"/>
          <p:cNvSpPr/>
          <p:nvPr/>
        </p:nvSpPr>
        <p:spPr>
          <a:xfrm>
            <a:off x="335281" y="3279078"/>
            <a:ext cx="5564038" cy="331624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Times New Roman" panose="02020603050405020304" charset="0"/>
              <a:ea typeface="黑体" panose="02010609060101010101" charset="-122"/>
              <a:cs typeface="Times New Roman" panose="02020603050405020304" charset="0"/>
            </a:endParaRPr>
          </a:p>
        </p:txBody>
      </p:sp>
      <p:sp>
        <p:nvSpPr>
          <p:cNvPr id="7" name="椭圆 6"/>
          <p:cNvSpPr/>
          <p:nvPr/>
        </p:nvSpPr>
        <p:spPr>
          <a:xfrm>
            <a:off x="453396" y="3473271"/>
            <a:ext cx="169817" cy="1698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8" name="文本框 7"/>
          <p:cNvSpPr txBox="1"/>
          <p:nvPr/>
        </p:nvSpPr>
        <p:spPr>
          <a:xfrm>
            <a:off x="623213" y="3382984"/>
            <a:ext cx="5276105" cy="645160"/>
          </a:xfrm>
          <a:prstGeom prst="rect">
            <a:avLst/>
          </a:prstGeom>
          <a:noFill/>
        </p:spPr>
        <p:txBody>
          <a:bodyPr wrap="square" rtlCol="0">
            <a:spAutoFit/>
          </a:bodyPr>
          <a:lstStyle/>
          <a:p>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传输控制协议</a:t>
            </a:r>
            <a:r>
              <a:rPr lang="zh-CN" altLang="en-US" b="1" dirty="0">
                <a:latin typeface="Times New Roman" panose="02020603050405020304" charset="0"/>
                <a:ea typeface="黑体" panose="02010609060101010101" charset="-122"/>
                <a:cs typeface="Times New Roman" panose="02020603050405020304" charset="0"/>
              </a:rPr>
              <a:t>为其上层提供的是</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面向连接</a:t>
            </a:r>
            <a:r>
              <a:rPr lang="zh-CN" altLang="en-US" b="1" dirty="0">
                <a:latin typeface="Times New Roman" panose="02020603050405020304" charset="0"/>
                <a:ea typeface="黑体" panose="02010609060101010101" charset="-122"/>
                <a:cs typeface="Times New Roman" panose="02020603050405020304" charset="0"/>
              </a:rPr>
              <a:t>的</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可靠</a:t>
            </a:r>
            <a:r>
              <a:rPr lang="zh-CN" altLang="en-US" b="1" dirty="0">
                <a:latin typeface="Times New Roman" panose="02020603050405020304" charset="0"/>
                <a:ea typeface="黑体" panose="02010609060101010101" charset="-122"/>
                <a:cs typeface="Times New Roman" panose="02020603050405020304" charset="0"/>
              </a:rPr>
              <a:t>的数据传输服务。</a:t>
            </a:r>
            <a:endParaRPr lang="zh-CN" altLang="en-US" b="1" dirty="0">
              <a:latin typeface="Times New Roman" panose="02020603050405020304" charset="0"/>
              <a:ea typeface="黑体" panose="02010609060101010101" charset="-122"/>
              <a:cs typeface="Times New Roman" panose="02020603050405020304" charset="0"/>
            </a:endParaRPr>
          </a:p>
        </p:txBody>
      </p:sp>
      <p:sp>
        <p:nvSpPr>
          <p:cNvPr id="9" name="椭圆 8"/>
          <p:cNvSpPr/>
          <p:nvPr/>
        </p:nvSpPr>
        <p:spPr>
          <a:xfrm>
            <a:off x="453396" y="4303495"/>
            <a:ext cx="169817" cy="1698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0" name="文本框 9"/>
          <p:cNvSpPr txBox="1"/>
          <p:nvPr/>
        </p:nvSpPr>
        <p:spPr>
          <a:xfrm>
            <a:off x="649433" y="4207338"/>
            <a:ext cx="5249885" cy="645160"/>
          </a:xfrm>
          <a:prstGeom prst="rect">
            <a:avLst/>
          </a:prstGeom>
          <a:noFill/>
        </p:spPr>
        <p:txBody>
          <a:bodyPr wrap="square" rtlCol="0">
            <a:spAutoFit/>
          </a:bodyPr>
          <a:lstStyle/>
          <a:p>
            <a:r>
              <a:rPr lang="zh-CN" altLang="en-US" b="1" dirty="0">
                <a:latin typeface="Times New Roman" panose="02020603050405020304" charset="0"/>
                <a:ea typeface="黑体" panose="02010609060101010101" charset="-122"/>
                <a:cs typeface="Times New Roman" panose="02020603050405020304" charset="0"/>
              </a:rPr>
              <a:t>使用</a:t>
            </a:r>
            <a:r>
              <a:rPr lang="en-US" altLang="zh-CN" b="1" dirty="0">
                <a:latin typeface="Times New Roman" panose="02020603050405020304" charset="0"/>
                <a:ea typeface="黑体" panose="02010609060101010101" charset="-122"/>
                <a:cs typeface="Times New Roman" panose="02020603050405020304" charset="0"/>
              </a:rPr>
              <a:t>TCP</a:t>
            </a:r>
            <a:r>
              <a:rPr lang="zh-CN" altLang="en-US" b="1" dirty="0">
                <a:latin typeface="Times New Roman" panose="02020603050405020304" charset="0"/>
                <a:ea typeface="黑体" panose="02010609060101010101" charset="-122"/>
                <a:cs typeface="Times New Roman" panose="02020603050405020304" charset="0"/>
              </a:rPr>
              <a:t>通信的双方，在传送数据之前</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必须首先建立</a:t>
            </a:r>
            <a:r>
              <a:rPr lang="en-US" altLang="zh-CN" b="1" dirty="0">
                <a:solidFill>
                  <a:schemeClr val="accent1">
                    <a:lumMod val="75000"/>
                  </a:schemeClr>
                </a:solidFill>
                <a:latin typeface="Times New Roman" panose="02020603050405020304" charset="0"/>
                <a:ea typeface="黑体" panose="02010609060101010101" charset="-122"/>
                <a:cs typeface="Times New Roman" panose="02020603050405020304" charset="0"/>
              </a:rPr>
              <a:t>TCP</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连接</a:t>
            </a:r>
            <a:r>
              <a:rPr lang="zh-CN" altLang="en-US" b="1" dirty="0">
                <a:latin typeface="Times New Roman" panose="02020603050405020304" charset="0"/>
                <a:ea typeface="黑体" panose="02010609060101010101" charset="-122"/>
                <a:cs typeface="Times New Roman" panose="02020603050405020304" charset="0"/>
              </a:rPr>
              <a:t>。数据传输结束后</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必须要释放</a:t>
            </a:r>
            <a:r>
              <a:rPr lang="en-US" altLang="zh-CN" b="1" dirty="0">
                <a:solidFill>
                  <a:schemeClr val="accent1">
                    <a:lumMod val="75000"/>
                  </a:schemeClr>
                </a:solidFill>
                <a:latin typeface="Times New Roman" panose="02020603050405020304" charset="0"/>
                <a:ea typeface="黑体" panose="02010609060101010101" charset="-122"/>
                <a:cs typeface="Times New Roman" panose="02020603050405020304" charset="0"/>
              </a:rPr>
              <a:t>TCP</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连接</a:t>
            </a:r>
            <a:r>
              <a:rPr lang="zh-CN" altLang="en-US" b="1" dirty="0">
                <a:latin typeface="Times New Roman" panose="02020603050405020304" charset="0"/>
                <a:ea typeface="黑体" panose="02010609060101010101" charset="-122"/>
                <a:cs typeface="Times New Roman" panose="02020603050405020304" charset="0"/>
              </a:rPr>
              <a:t>。</a:t>
            </a:r>
            <a:endParaRPr lang="zh-CN" altLang="en-US" b="1" dirty="0">
              <a:latin typeface="Times New Roman" panose="02020603050405020304" charset="0"/>
              <a:ea typeface="黑体" panose="02010609060101010101" charset="-122"/>
              <a:cs typeface="Times New Roman" panose="02020603050405020304" charset="0"/>
            </a:endParaRPr>
          </a:p>
        </p:txBody>
      </p:sp>
      <p:sp>
        <p:nvSpPr>
          <p:cNvPr id="11" name="椭圆 10"/>
          <p:cNvSpPr/>
          <p:nvPr/>
        </p:nvSpPr>
        <p:spPr>
          <a:xfrm>
            <a:off x="453395" y="5193604"/>
            <a:ext cx="169817" cy="1698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charset="0"/>
              <a:ea typeface="黑体" panose="02010609060101010101" charset="-122"/>
              <a:cs typeface="Times New Roman" panose="02020603050405020304" charset="0"/>
            </a:endParaRPr>
          </a:p>
        </p:txBody>
      </p:sp>
      <p:sp>
        <p:nvSpPr>
          <p:cNvPr id="12" name="文本框 11"/>
          <p:cNvSpPr txBox="1"/>
          <p:nvPr/>
        </p:nvSpPr>
        <p:spPr>
          <a:xfrm>
            <a:off x="649433" y="5103150"/>
            <a:ext cx="5249885" cy="645160"/>
          </a:xfrm>
          <a:prstGeom prst="rect">
            <a:avLst/>
          </a:prstGeom>
          <a:noFill/>
        </p:spPr>
        <p:txBody>
          <a:bodyPr wrap="square" rtlCol="0">
            <a:spAutoFit/>
          </a:bodyPr>
          <a:lstStyle/>
          <a:p>
            <a:r>
              <a:rPr lang="en-US" altLang="zh-CN" b="1" dirty="0">
                <a:latin typeface="Times New Roman" panose="02020603050405020304" charset="0"/>
                <a:ea typeface="黑体" panose="02010609060101010101" charset="-122"/>
                <a:cs typeface="Times New Roman" panose="02020603050405020304" charset="0"/>
              </a:rPr>
              <a:t>TCP</a:t>
            </a:r>
            <a:r>
              <a:rPr lang="zh-CN" altLang="en-US" b="1" dirty="0">
                <a:latin typeface="Times New Roman" panose="02020603050405020304" charset="0"/>
                <a:ea typeface="黑体" panose="02010609060101010101" charset="-122"/>
                <a:cs typeface="Times New Roman" panose="02020603050405020304" charset="0"/>
              </a:rPr>
              <a:t>为了实现可靠传输，就必须使用很多措施，例如</a:t>
            </a:r>
            <a:r>
              <a:rPr lang="en-US" altLang="zh-CN" b="1" dirty="0">
                <a:solidFill>
                  <a:schemeClr val="accent1">
                    <a:lumMod val="75000"/>
                  </a:schemeClr>
                </a:solidFill>
                <a:latin typeface="Times New Roman" panose="02020603050405020304" charset="0"/>
                <a:ea typeface="黑体" panose="02010609060101010101" charset="-122"/>
                <a:cs typeface="Times New Roman" panose="02020603050405020304" charset="0"/>
              </a:rPr>
              <a:t>TCP</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连接管理</a:t>
            </a:r>
            <a:r>
              <a:rPr lang="zh-CN" altLang="en-US" b="1" dirty="0">
                <a:latin typeface="Times New Roman" panose="02020603050405020304" charset="0"/>
                <a:ea typeface="黑体" panose="02010609060101010101" charset="-122"/>
                <a:cs typeface="Times New Roman" panose="02020603050405020304" charset="0"/>
              </a:rPr>
              <a:t>、</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确认机制</a:t>
            </a:r>
            <a:r>
              <a:rPr lang="zh-CN" altLang="en-US" b="1" dirty="0">
                <a:latin typeface="Times New Roman" panose="02020603050405020304" charset="0"/>
                <a:ea typeface="黑体" panose="02010609060101010101" charset="-122"/>
                <a:cs typeface="Times New Roman" panose="02020603050405020304" charset="0"/>
              </a:rPr>
              <a:t>、</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流量控制</a:t>
            </a:r>
            <a:r>
              <a:rPr lang="zh-CN" altLang="en-US" b="1" dirty="0">
                <a:latin typeface="Times New Roman" panose="02020603050405020304" charset="0"/>
                <a:ea typeface="黑体" panose="02010609060101010101" charset="-122"/>
                <a:cs typeface="Times New Roman" panose="02020603050405020304" charset="0"/>
              </a:rPr>
              <a:t>等。</a:t>
            </a:r>
            <a:endParaRPr lang="zh-CN" altLang="en-US" b="1" dirty="0">
              <a:latin typeface="Times New Roman" panose="02020603050405020304" charset="0"/>
              <a:ea typeface="黑体" panose="02010609060101010101" charset="-122"/>
              <a:cs typeface="Times New Roman" panose="02020603050405020304" charset="0"/>
            </a:endParaRPr>
          </a:p>
        </p:txBody>
      </p:sp>
      <p:sp>
        <p:nvSpPr>
          <p:cNvPr id="13" name="椭圆 12"/>
          <p:cNvSpPr/>
          <p:nvPr/>
        </p:nvSpPr>
        <p:spPr>
          <a:xfrm>
            <a:off x="453395" y="6039444"/>
            <a:ext cx="169817" cy="1698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4" name="文本框 13"/>
          <p:cNvSpPr txBox="1"/>
          <p:nvPr/>
        </p:nvSpPr>
        <p:spPr>
          <a:xfrm>
            <a:off x="649433" y="5948990"/>
            <a:ext cx="5249885" cy="646331"/>
          </a:xfrm>
          <a:prstGeom prst="rect">
            <a:avLst/>
          </a:prstGeom>
          <a:noFill/>
        </p:spPr>
        <p:txBody>
          <a:bodyPr wrap="square" rtlCol="0">
            <a:spAutoFit/>
          </a:bodyPr>
          <a:lstStyle/>
          <a:p>
            <a:r>
              <a:rPr lang="en-US" altLang="zh-CN" b="1" dirty="0">
                <a:latin typeface="Times New Roman" panose="02020603050405020304" charset="0"/>
                <a:ea typeface="黑体" panose="02010609060101010101" charset="-122"/>
                <a:cs typeface="Times New Roman" panose="02020603050405020304" charset="0"/>
              </a:rPr>
              <a:t>TCP</a:t>
            </a:r>
            <a:r>
              <a:rPr lang="zh-CN" altLang="en-US" b="1" dirty="0">
                <a:latin typeface="Times New Roman" panose="02020603050405020304" charset="0"/>
                <a:ea typeface="黑体" panose="02010609060101010101" charset="-122"/>
                <a:cs typeface="Times New Roman" panose="02020603050405020304" charset="0"/>
              </a:rPr>
              <a:t>的</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实现复杂</a:t>
            </a:r>
            <a:r>
              <a:rPr lang="zh-CN" altLang="en-US" b="1" dirty="0">
                <a:latin typeface="Times New Roman" panose="02020603050405020304" charset="0"/>
                <a:ea typeface="黑体" panose="02010609060101010101" charset="-122"/>
                <a:cs typeface="Times New Roman" panose="02020603050405020304" charset="0"/>
              </a:rPr>
              <a:t>，</a:t>
            </a:r>
            <a:r>
              <a:rPr lang="en-US" altLang="zh-CN" b="1" dirty="0">
                <a:latin typeface="Times New Roman" panose="02020603050405020304" charset="0"/>
                <a:ea typeface="黑体" panose="02010609060101010101" charset="-122"/>
                <a:cs typeface="Times New Roman" panose="02020603050405020304" charset="0"/>
              </a:rPr>
              <a:t>TCP</a:t>
            </a:r>
            <a:r>
              <a:rPr lang="zh-CN" altLang="en-US" b="1" dirty="0">
                <a:latin typeface="Times New Roman" panose="02020603050405020304" charset="0"/>
                <a:ea typeface="黑体" panose="02010609060101010101" charset="-122"/>
                <a:cs typeface="Times New Roman" panose="02020603050405020304" charset="0"/>
              </a:rPr>
              <a:t>报文段的</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首部比较大</a:t>
            </a:r>
            <a:r>
              <a:rPr lang="zh-CN" altLang="en-US" b="1" dirty="0">
                <a:latin typeface="Times New Roman" panose="02020603050405020304" charset="0"/>
                <a:ea typeface="黑体" panose="02010609060101010101" charset="-122"/>
                <a:cs typeface="Times New Roman" panose="02020603050405020304" charset="0"/>
              </a:rPr>
              <a:t>，</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占用处理机资源比较多</a:t>
            </a:r>
            <a:r>
              <a:rPr lang="zh-CN" altLang="en-US" b="1" dirty="0">
                <a:latin typeface="Times New Roman" panose="02020603050405020304" charset="0"/>
                <a:ea typeface="黑体" panose="02010609060101010101" charset="-122"/>
                <a:cs typeface="Times New Roman" panose="02020603050405020304" charset="0"/>
              </a:rPr>
              <a:t>。</a:t>
            </a:r>
            <a:endParaRPr lang="zh-CN" altLang="en-US" b="1" dirty="0">
              <a:latin typeface="Times New Roman" panose="02020603050405020304" charset="0"/>
              <a:ea typeface="黑体" panose="02010609060101010101" charset="-122"/>
              <a:cs typeface="Times New Roman" panose="02020603050405020304" charset="0"/>
            </a:endParaRPr>
          </a:p>
        </p:txBody>
      </p:sp>
      <p:sp>
        <p:nvSpPr>
          <p:cNvPr id="15" name="矩形 14"/>
          <p:cNvSpPr/>
          <p:nvPr/>
        </p:nvSpPr>
        <p:spPr>
          <a:xfrm>
            <a:off x="6353640" y="2687077"/>
            <a:ext cx="5564038" cy="592002"/>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Times New Roman" panose="02020603050405020304" charset="0"/>
                <a:ea typeface="黑体" panose="02010609060101010101" charset="-122"/>
                <a:cs typeface="Times New Roman" panose="02020603050405020304" charset="0"/>
              </a:rPr>
              <a:t>UDP</a:t>
            </a:r>
            <a:endParaRPr lang="zh-CN" altLang="en-US" sz="2800" b="1" dirty="0">
              <a:latin typeface="Times New Roman" panose="02020603050405020304" charset="0"/>
              <a:ea typeface="黑体" panose="02010609060101010101" charset="-122"/>
              <a:cs typeface="Times New Roman" panose="02020603050405020304" charset="0"/>
            </a:endParaRPr>
          </a:p>
        </p:txBody>
      </p:sp>
      <p:sp>
        <p:nvSpPr>
          <p:cNvPr id="16" name="矩形 15"/>
          <p:cNvSpPr/>
          <p:nvPr/>
        </p:nvSpPr>
        <p:spPr>
          <a:xfrm>
            <a:off x="6353641" y="3279078"/>
            <a:ext cx="5564038" cy="33162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Times New Roman" panose="02020603050405020304" charset="0"/>
              <a:ea typeface="黑体" panose="02010609060101010101" charset="-122"/>
              <a:cs typeface="Times New Roman" panose="02020603050405020304" charset="0"/>
            </a:endParaRPr>
          </a:p>
        </p:txBody>
      </p:sp>
      <p:sp>
        <p:nvSpPr>
          <p:cNvPr id="17" name="椭圆 16"/>
          <p:cNvSpPr/>
          <p:nvPr/>
        </p:nvSpPr>
        <p:spPr>
          <a:xfrm>
            <a:off x="6471756" y="3473271"/>
            <a:ext cx="169817" cy="1698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8" name="文本框 17"/>
          <p:cNvSpPr txBox="1"/>
          <p:nvPr/>
        </p:nvSpPr>
        <p:spPr>
          <a:xfrm>
            <a:off x="6641573" y="3382984"/>
            <a:ext cx="5276105" cy="645160"/>
          </a:xfrm>
          <a:prstGeom prst="rect">
            <a:avLst/>
          </a:prstGeom>
          <a:noFill/>
        </p:spPr>
        <p:txBody>
          <a:bodyPr wrap="square" rtlCol="0">
            <a:spAutoFit/>
          </a:bodyPr>
          <a:lstStyle/>
          <a:p>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用户数据报协议</a:t>
            </a:r>
            <a:r>
              <a:rPr lang="zh-CN" altLang="en-US" b="1" dirty="0">
                <a:latin typeface="Times New Roman" panose="02020603050405020304" charset="0"/>
                <a:ea typeface="黑体" panose="02010609060101010101" charset="-122"/>
                <a:cs typeface="Times New Roman" panose="02020603050405020304" charset="0"/>
              </a:rPr>
              <a:t>为其上层提供的是</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无连接</a:t>
            </a:r>
            <a:r>
              <a:rPr lang="zh-CN" altLang="en-US" b="1" dirty="0">
                <a:latin typeface="Times New Roman" panose="02020603050405020304" charset="0"/>
                <a:ea typeface="黑体" panose="02010609060101010101" charset="-122"/>
                <a:cs typeface="Times New Roman" panose="02020603050405020304" charset="0"/>
              </a:rPr>
              <a:t>的</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不可靠</a:t>
            </a:r>
            <a:r>
              <a:rPr lang="zh-CN" altLang="en-US" b="1" dirty="0">
                <a:latin typeface="Times New Roman" panose="02020603050405020304" charset="0"/>
                <a:ea typeface="黑体" panose="02010609060101010101" charset="-122"/>
                <a:cs typeface="Times New Roman" panose="02020603050405020304" charset="0"/>
              </a:rPr>
              <a:t>的数据传输服务。</a:t>
            </a:r>
            <a:endParaRPr lang="zh-CN" altLang="en-US" b="1" dirty="0">
              <a:latin typeface="Times New Roman" panose="02020603050405020304" charset="0"/>
              <a:ea typeface="黑体" panose="02010609060101010101" charset="-122"/>
              <a:cs typeface="Times New Roman" panose="02020603050405020304" charset="0"/>
            </a:endParaRPr>
          </a:p>
        </p:txBody>
      </p:sp>
      <p:sp>
        <p:nvSpPr>
          <p:cNvPr id="19" name="椭圆 18"/>
          <p:cNvSpPr/>
          <p:nvPr/>
        </p:nvSpPr>
        <p:spPr>
          <a:xfrm>
            <a:off x="6471756" y="4215759"/>
            <a:ext cx="169817" cy="1698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20" name="文本框 19"/>
          <p:cNvSpPr txBox="1"/>
          <p:nvPr/>
        </p:nvSpPr>
        <p:spPr>
          <a:xfrm>
            <a:off x="6667793" y="4119602"/>
            <a:ext cx="5249885" cy="646331"/>
          </a:xfrm>
          <a:prstGeom prst="rect">
            <a:avLst/>
          </a:prstGeom>
          <a:noFill/>
        </p:spPr>
        <p:txBody>
          <a:bodyPr wrap="square" rtlCol="0">
            <a:spAutoFit/>
          </a:bodyPr>
          <a:lstStyle/>
          <a:p>
            <a:r>
              <a:rPr lang="zh-CN" altLang="en-US" b="1" dirty="0">
                <a:latin typeface="Times New Roman" panose="02020603050405020304" charset="0"/>
                <a:ea typeface="黑体" panose="02010609060101010101" charset="-122"/>
                <a:cs typeface="Times New Roman" panose="02020603050405020304" charset="0"/>
              </a:rPr>
              <a:t>使用</a:t>
            </a:r>
            <a:r>
              <a:rPr lang="en-US" altLang="zh-CN" b="1" dirty="0">
                <a:latin typeface="Times New Roman" panose="02020603050405020304" charset="0"/>
                <a:ea typeface="黑体" panose="02010609060101010101" charset="-122"/>
                <a:cs typeface="Times New Roman" panose="02020603050405020304" charset="0"/>
              </a:rPr>
              <a:t>UDP</a:t>
            </a:r>
            <a:r>
              <a:rPr lang="zh-CN" altLang="en-US" b="1" dirty="0">
                <a:latin typeface="Times New Roman" panose="02020603050405020304" charset="0"/>
                <a:ea typeface="黑体" panose="02010609060101010101" charset="-122"/>
                <a:cs typeface="Times New Roman" panose="02020603050405020304" charset="0"/>
              </a:rPr>
              <a:t>通信的双方，在传送数据之前</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不需要建立连接</a:t>
            </a:r>
            <a:r>
              <a:rPr lang="zh-CN" altLang="en-US" b="1" dirty="0">
                <a:latin typeface="Times New Roman" panose="02020603050405020304" charset="0"/>
                <a:ea typeface="黑体" panose="02010609060101010101" charset="-122"/>
                <a:cs typeface="Times New Roman" panose="02020603050405020304" charset="0"/>
              </a:rPr>
              <a:t>。</a:t>
            </a:r>
            <a:endParaRPr lang="zh-CN" altLang="en-US" b="1" dirty="0">
              <a:latin typeface="Times New Roman" panose="02020603050405020304" charset="0"/>
              <a:ea typeface="黑体" panose="02010609060101010101" charset="-122"/>
              <a:cs typeface="Times New Roman" panose="02020603050405020304" charset="0"/>
            </a:endParaRPr>
          </a:p>
        </p:txBody>
      </p:sp>
      <p:sp>
        <p:nvSpPr>
          <p:cNvPr id="21" name="椭圆 20"/>
          <p:cNvSpPr/>
          <p:nvPr/>
        </p:nvSpPr>
        <p:spPr>
          <a:xfrm>
            <a:off x="6471755" y="5193604"/>
            <a:ext cx="169817" cy="1698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22" name="文本框 21"/>
          <p:cNvSpPr txBox="1"/>
          <p:nvPr/>
        </p:nvSpPr>
        <p:spPr>
          <a:xfrm>
            <a:off x="6667793" y="5103150"/>
            <a:ext cx="5249885" cy="646331"/>
          </a:xfrm>
          <a:prstGeom prst="rect">
            <a:avLst/>
          </a:prstGeom>
          <a:noFill/>
        </p:spPr>
        <p:txBody>
          <a:bodyPr wrap="square" rtlCol="0">
            <a:spAutoFit/>
          </a:bodyPr>
          <a:lstStyle/>
          <a:p>
            <a:r>
              <a:rPr lang="en-US" altLang="zh-CN" b="1" dirty="0">
                <a:latin typeface="Times New Roman" panose="02020603050405020304" charset="0"/>
                <a:ea typeface="黑体" panose="02010609060101010101" charset="-122"/>
                <a:cs typeface="Times New Roman" panose="02020603050405020304" charset="0"/>
              </a:rPr>
              <a:t>UDP</a:t>
            </a:r>
            <a:r>
              <a:rPr lang="zh-CN" altLang="en-US" b="1" dirty="0">
                <a:latin typeface="Times New Roman" panose="02020603050405020304" charset="0"/>
                <a:ea typeface="黑体" panose="02010609060101010101" charset="-122"/>
                <a:cs typeface="Times New Roman" panose="02020603050405020304" charset="0"/>
              </a:rPr>
              <a:t>不需要实现可靠传输，因此</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不需要使用实现可靠传输的各种机制</a:t>
            </a:r>
            <a:r>
              <a:rPr lang="zh-CN" altLang="en-US" b="1" dirty="0">
                <a:latin typeface="Times New Roman" panose="02020603050405020304" charset="0"/>
                <a:ea typeface="黑体" panose="02010609060101010101" charset="-122"/>
                <a:cs typeface="Times New Roman" panose="02020603050405020304" charset="0"/>
              </a:rPr>
              <a:t>。</a:t>
            </a:r>
            <a:endParaRPr lang="zh-CN" altLang="en-US" b="1" dirty="0">
              <a:latin typeface="Times New Roman" panose="02020603050405020304" charset="0"/>
              <a:ea typeface="黑体" panose="02010609060101010101" charset="-122"/>
              <a:cs typeface="Times New Roman" panose="02020603050405020304" charset="0"/>
            </a:endParaRPr>
          </a:p>
        </p:txBody>
      </p:sp>
      <p:sp>
        <p:nvSpPr>
          <p:cNvPr id="23" name="椭圆 22"/>
          <p:cNvSpPr/>
          <p:nvPr/>
        </p:nvSpPr>
        <p:spPr>
          <a:xfrm>
            <a:off x="6471755" y="5988527"/>
            <a:ext cx="169817" cy="1698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24" name="文本框 23"/>
          <p:cNvSpPr txBox="1"/>
          <p:nvPr/>
        </p:nvSpPr>
        <p:spPr>
          <a:xfrm>
            <a:off x="6667793" y="5898073"/>
            <a:ext cx="5249885" cy="369332"/>
          </a:xfrm>
          <a:prstGeom prst="rect">
            <a:avLst/>
          </a:prstGeom>
          <a:noFill/>
        </p:spPr>
        <p:txBody>
          <a:bodyPr wrap="square" rtlCol="0">
            <a:spAutoFit/>
          </a:bodyPr>
          <a:lstStyle/>
          <a:p>
            <a:r>
              <a:rPr lang="en-US" altLang="zh-CN" b="1" dirty="0">
                <a:latin typeface="Times New Roman" panose="02020603050405020304" charset="0"/>
                <a:ea typeface="黑体" panose="02010609060101010101" charset="-122"/>
                <a:cs typeface="Times New Roman" panose="02020603050405020304" charset="0"/>
              </a:rPr>
              <a:t>UDP</a:t>
            </a:r>
            <a:r>
              <a:rPr lang="zh-CN" altLang="en-US" b="1" dirty="0">
                <a:latin typeface="Times New Roman" panose="02020603050405020304" charset="0"/>
                <a:ea typeface="黑体" panose="02010609060101010101" charset="-122"/>
                <a:cs typeface="Times New Roman" panose="02020603050405020304" charset="0"/>
              </a:rPr>
              <a:t>的</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实现简单</a:t>
            </a:r>
            <a:r>
              <a:rPr lang="zh-CN" altLang="en-US" b="1" dirty="0">
                <a:latin typeface="Times New Roman" panose="02020603050405020304" charset="0"/>
                <a:ea typeface="黑体" panose="02010609060101010101" charset="-122"/>
                <a:cs typeface="Times New Roman" panose="02020603050405020304" charset="0"/>
              </a:rPr>
              <a:t>，</a:t>
            </a:r>
            <a:r>
              <a:rPr lang="en-US" altLang="zh-CN" b="1" dirty="0">
                <a:latin typeface="Times New Roman" panose="02020603050405020304" charset="0"/>
                <a:ea typeface="黑体" panose="02010609060101010101" charset="-122"/>
                <a:cs typeface="Times New Roman" panose="02020603050405020304" charset="0"/>
              </a:rPr>
              <a:t>UDP</a:t>
            </a:r>
            <a:r>
              <a:rPr lang="zh-CN" altLang="en-US" b="1" dirty="0">
                <a:latin typeface="Times New Roman" panose="02020603050405020304" charset="0"/>
                <a:ea typeface="黑体" panose="02010609060101010101" charset="-122"/>
                <a:cs typeface="Times New Roman" panose="02020603050405020304" charset="0"/>
              </a:rPr>
              <a:t>用户数据报的</a:t>
            </a:r>
            <a:r>
              <a:rPr lang="zh-CN" altLang="en-US" b="1" dirty="0">
                <a:solidFill>
                  <a:schemeClr val="accent1">
                    <a:lumMod val="75000"/>
                  </a:schemeClr>
                </a:solidFill>
                <a:latin typeface="Times New Roman" panose="02020603050405020304" charset="0"/>
                <a:ea typeface="黑体" panose="02010609060101010101" charset="-122"/>
                <a:cs typeface="Times New Roman" panose="02020603050405020304" charset="0"/>
              </a:rPr>
              <a:t>首部比较小</a:t>
            </a:r>
            <a:r>
              <a:rPr lang="zh-CN" altLang="en-US" b="1" dirty="0">
                <a:latin typeface="Times New Roman" panose="02020603050405020304" charset="0"/>
                <a:ea typeface="黑体" panose="02010609060101010101" charset="-122"/>
                <a:cs typeface="Times New Roman" panose="02020603050405020304" charset="0"/>
              </a:rPr>
              <a:t>。</a:t>
            </a:r>
            <a:endParaRPr lang="zh-CN" altLang="en-US" b="1" dirty="0">
              <a:latin typeface="Times New Roman" panose="02020603050405020304" charset="0"/>
              <a:ea typeface="黑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8226425"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a:t>
            </a:r>
            <a:r>
              <a:rPr lang="en-US" altLang="zh-CN" sz="4000" dirty="0">
                <a:latin typeface="+mj-ea"/>
                <a:sym typeface="+mn-ea"/>
              </a:rPr>
              <a:t>1</a:t>
            </a:r>
            <a:r>
              <a:rPr lang="zh-CN" altLang="en-US" sz="4000" dirty="0">
                <a:latin typeface="+mj-ea"/>
                <a:sym typeface="+mn-ea"/>
              </a:rPr>
              <a:t> </a:t>
            </a:r>
            <a:r>
              <a:rPr lang="en-US" altLang="zh-CN" sz="4000" dirty="0">
                <a:latin typeface="+mj-ea"/>
                <a:sym typeface="+mn-ea"/>
              </a:rPr>
              <a:t>TCP</a:t>
            </a:r>
            <a:r>
              <a:rPr lang="zh-CN" altLang="en-US" sz="4000" dirty="0">
                <a:latin typeface="+mj-ea"/>
                <a:sym typeface="+mn-ea"/>
              </a:rPr>
              <a:t>报文格式</a:t>
            </a:r>
            <a:endParaRPr lang="zh-CN" altLang="en-US" sz="4000" dirty="0">
              <a:latin typeface="+mj-ea"/>
              <a:sym typeface="+mn-ea"/>
            </a:endParaRPr>
          </a:p>
        </p:txBody>
      </p:sp>
      <p:sp>
        <p:nvSpPr>
          <p:cNvPr id="11" name="文本框 10"/>
          <p:cNvSpPr txBox="1"/>
          <p:nvPr/>
        </p:nvSpPr>
        <p:spPr>
          <a:xfrm>
            <a:off x="558800" y="1170305"/>
            <a:ext cx="11361420" cy="1136650"/>
          </a:xfrm>
          <a:prstGeom prst="rect">
            <a:avLst/>
          </a:prstGeom>
          <a:noFill/>
        </p:spPr>
        <p:txBody>
          <a:bodyPr wrap="square" rtlCol="0">
            <a:noAutofit/>
          </a:bodyPr>
          <a:lstStyle/>
          <a:p>
            <a:pPr marL="342900" indent="-342900" algn="l" latinLnBrk="0">
              <a:lnSpc>
                <a:spcPct val="150000"/>
              </a:lnSpc>
              <a:spcBef>
                <a:spcPts val="0"/>
              </a:spcBef>
              <a:buClr>
                <a:srgbClr val="DF4F21"/>
              </a:buClr>
              <a:buSzTx/>
              <a:buFont typeface="Wingdings" panose="05000000000000000000" charset="0"/>
              <a:buChar char="p"/>
            </a:pPr>
            <a:r>
              <a:rPr kumimoji="1" lang="zh-CN" altLang="en-US" sz="28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一个</a:t>
            </a:r>
            <a:r>
              <a:rPr kumimoji="1" lang="en-US" altLang="zh-CN" sz="28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a:t>
            </a:r>
            <a:r>
              <a:rPr kumimoji="1" lang="zh-CN" altLang="en-US" sz="28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报文段分为首部和数据两部分，而</a:t>
            </a:r>
            <a:r>
              <a:rPr kumimoji="1" lang="en-US" altLang="zh-CN" sz="28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a:t>
            </a:r>
            <a:r>
              <a:rPr kumimoji="1" lang="zh-CN" altLang="en-US" sz="2800" b="1"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的全部功能都体现在其首部中各字段中。</a:t>
            </a:r>
            <a:endParaRPr lang="zh-CN" altLang="en-US" sz="3200" b="1" dirty="0">
              <a:latin typeface="黑体" panose="02010609060101010101" charset="-122"/>
              <a:ea typeface="黑体" panose="02010609060101010101" charset="-122"/>
            </a:endParaRPr>
          </a:p>
        </p:txBody>
      </p:sp>
      <p:pic>
        <p:nvPicPr>
          <p:cNvPr id="3" name="图片 2"/>
          <p:cNvPicPr>
            <a:picLocks noChangeAspect="1"/>
          </p:cNvPicPr>
          <p:nvPr/>
        </p:nvPicPr>
        <p:blipFill>
          <a:blip r:embed="rId1"/>
          <a:stretch>
            <a:fillRect/>
          </a:stretch>
        </p:blipFill>
        <p:spPr>
          <a:xfrm>
            <a:off x="2997200" y="2501139"/>
            <a:ext cx="6428527" cy="397268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8226425"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a:t>
            </a:r>
            <a:r>
              <a:rPr lang="en-US" altLang="zh-CN" sz="4000" dirty="0">
                <a:latin typeface="+mj-ea"/>
                <a:sym typeface="+mn-ea"/>
              </a:rPr>
              <a:t>1</a:t>
            </a:r>
            <a:r>
              <a:rPr lang="zh-CN" altLang="en-US" sz="4000" dirty="0">
                <a:latin typeface="+mj-ea"/>
                <a:sym typeface="+mn-ea"/>
              </a:rPr>
              <a:t> </a:t>
            </a:r>
            <a:r>
              <a:rPr lang="en-US" altLang="zh-CN" sz="4000" dirty="0">
                <a:latin typeface="+mj-ea"/>
                <a:sym typeface="+mn-ea"/>
              </a:rPr>
              <a:t>TCP</a:t>
            </a:r>
            <a:r>
              <a:rPr lang="zh-CN" altLang="en-US" sz="4000" dirty="0">
                <a:latin typeface="+mj-ea"/>
                <a:sym typeface="+mn-ea"/>
              </a:rPr>
              <a:t>报文段首部</a:t>
            </a:r>
            <a:endParaRPr lang="zh-CN" altLang="en-US" sz="4000" dirty="0">
              <a:latin typeface="+mj-ea"/>
              <a:sym typeface="+mn-ea"/>
            </a:endParaRPr>
          </a:p>
        </p:txBody>
      </p:sp>
      <p:graphicFrame>
        <p:nvGraphicFramePr>
          <p:cNvPr id="3" name="表格 2"/>
          <p:cNvGraphicFramePr>
            <a:graphicFrameLocks noGrp="1"/>
          </p:cNvGraphicFramePr>
          <p:nvPr>
            <p:custDataLst>
              <p:tags r:id="rId1"/>
            </p:custDataLst>
          </p:nvPr>
        </p:nvGraphicFramePr>
        <p:xfrm>
          <a:off x="0" y="1082040"/>
          <a:ext cx="12259945" cy="5775325"/>
        </p:xfrm>
        <a:graphic>
          <a:graphicData uri="http://schemas.openxmlformats.org/drawingml/2006/table">
            <a:tbl>
              <a:tblPr firstRow="1" bandRow="1">
                <a:tableStyleId>{5C22544A-7EE6-4342-B048-85BDC9FD1C3A}</a:tableStyleId>
              </a:tblPr>
              <a:tblGrid>
                <a:gridCol w="1762125"/>
                <a:gridCol w="10497820"/>
              </a:tblGrid>
              <a:tr h="585470">
                <a:tc>
                  <a:txBody>
                    <a:bodyPr/>
                    <a:lstStyle/>
                    <a:p>
                      <a:pPr algn="ctr"/>
                      <a:r>
                        <a:rPr lang="zh-CN" altLang="en-US" dirty="0"/>
                        <a:t>标志位</a:t>
                      </a:r>
                      <a:endParaRPr lang="zh-CN" altLang="en-US" dirty="0"/>
                    </a:p>
                  </a:txBody>
                  <a:tcPr anchor="ctr"/>
                </a:tc>
                <a:tc>
                  <a:txBody>
                    <a:bodyPr/>
                    <a:lstStyle/>
                    <a:p>
                      <a:pPr algn="ctr"/>
                      <a:r>
                        <a:rPr lang="zh-CN" altLang="en-US" dirty="0"/>
                        <a:t>标志位置</a:t>
                      </a:r>
                      <a:r>
                        <a:rPr lang="en-US" altLang="zh-CN" dirty="0"/>
                        <a:t>1</a:t>
                      </a:r>
                      <a:r>
                        <a:rPr lang="zh-CN" altLang="en-US" dirty="0"/>
                        <a:t>时所表示含义</a:t>
                      </a:r>
                      <a:endParaRPr lang="zh-CN" altLang="en-US" dirty="0"/>
                    </a:p>
                  </a:txBody>
                  <a:tcPr anchor="ctr"/>
                </a:tc>
              </a:tr>
              <a:tr h="1010920">
                <a:tc>
                  <a:txBody>
                    <a:bodyPr/>
                    <a:lstStyle/>
                    <a:p>
                      <a:pPr algn="ctr"/>
                      <a:r>
                        <a:rPr lang="zh-CN" altLang="en-US" dirty="0"/>
                        <a:t>紧急</a:t>
                      </a:r>
                      <a:r>
                        <a:rPr lang="en-US" altLang="zh-CN" dirty="0"/>
                        <a:t>URG</a:t>
                      </a:r>
                      <a:endParaRPr lang="zh-CN" altLang="en-US" dirty="0"/>
                    </a:p>
                  </a:txBody>
                  <a:tcPr anchor="ctr"/>
                </a:tc>
                <a:tc>
                  <a:txBody>
                    <a:bodyPr/>
                    <a:lstStyle/>
                    <a:p>
                      <a:pPr algn="l"/>
                      <a:r>
                        <a:rPr lang="zh-CN" altLang="zh-CN" sz="1800" kern="1200" dirty="0">
                          <a:solidFill>
                            <a:schemeClr val="dk1"/>
                          </a:solidFill>
                          <a:effectLst/>
                          <a:latin typeface="+mn-lt"/>
                          <a:ea typeface="+mn-ea"/>
                          <a:cs typeface="+mn-cs"/>
                        </a:rPr>
                        <a:t>当</a:t>
                      </a:r>
                      <a:r>
                        <a:rPr lang="en-US" altLang="zh-CN" sz="1800" kern="1200" dirty="0">
                          <a:solidFill>
                            <a:schemeClr val="dk1"/>
                          </a:solidFill>
                          <a:effectLst/>
                          <a:latin typeface="+mn-lt"/>
                          <a:ea typeface="+mn-ea"/>
                          <a:cs typeface="+mn-cs"/>
                        </a:rPr>
                        <a:t>URG=1</a:t>
                      </a:r>
                      <a:r>
                        <a:rPr lang="zh-CN" altLang="zh-CN" sz="1800" kern="1200" dirty="0">
                          <a:solidFill>
                            <a:schemeClr val="dk1"/>
                          </a:solidFill>
                          <a:effectLst/>
                          <a:latin typeface="+mn-lt"/>
                          <a:ea typeface="+mn-ea"/>
                          <a:cs typeface="+mn-cs"/>
                        </a:rPr>
                        <a:t>时，表明紧急指针字段有效，</a:t>
                      </a:r>
                      <a:r>
                        <a:rPr lang="zh-CN" altLang="en-US" dirty="0"/>
                        <a:t>报文段中有紧急数据，应尽快传送，紧急数据在数据字段的位置由紧急指针字段给出。</a:t>
                      </a:r>
                      <a:endParaRPr lang="zh-CN" altLang="en-US" dirty="0"/>
                    </a:p>
                  </a:txBody>
                  <a:tcPr anchor="ctr"/>
                </a:tc>
              </a:tr>
              <a:tr h="760730">
                <a:tc>
                  <a:txBody>
                    <a:bodyPr/>
                    <a:lstStyle/>
                    <a:p>
                      <a:pPr algn="ctr"/>
                      <a:r>
                        <a:rPr lang="zh-CN" altLang="en-US" dirty="0">
                          <a:solidFill>
                            <a:srgbClr val="FF0000"/>
                          </a:solidFill>
                        </a:rPr>
                        <a:t>确认</a:t>
                      </a:r>
                      <a:r>
                        <a:rPr lang="en-US" altLang="zh-CN" dirty="0">
                          <a:solidFill>
                            <a:srgbClr val="FF0000"/>
                          </a:solidFill>
                        </a:rPr>
                        <a:t>ACK</a:t>
                      </a:r>
                      <a:endParaRPr lang="en-US" altLang="zh-CN" dirty="0">
                        <a:solidFill>
                          <a:srgbClr val="FF0000"/>
                        </a:solidFill>
                      </a:endParaRPr>
                    </a:p>
                  </a:txBody>
                  <a:tcPr anchor="ctr"/>
                </a:tc>
                <a:tc>
                  <a:txBody>
                    <a:bodyPr/>
                    <a:lstStyle/>
                    <a:p>
                      <a:pPr algn="l"/>
                      <a:r>
                        <a:rPr lang="en-US" altLang="zh-CN" sz="1800" kern="1200" dirty="0">
                          <a:solidFill>
                            <a:srgbClr val="FF0000"/>
                          </a:solidFill>
                          <a:effectLst/>
                          <a:latin typeface="+mn-lt"/>
                          <a:ea typeface="+mn-ea"/>
                          <a:cs typeface="+mn-cs"/>
                        </a:rPr>
                        <a:t>ACK=1</a:t>
                      </a:r>
                      <a:r>
                        <a:rPr lang="zh-CN" altLang="zh-CN" sz="1800" kern="1200" dirty="0">
                          <a:solidFill>
                            <a:srgbClr val="FF0000"/>
                          </a:solidFill>
                          <a:effectLst/>
                          <a:latin typeface="+mn-lt"/>
                          <a:ea typeface="+mn-ea"/>
                          <a:cs typeface="+mn-cs"/>
                        </a:rPr>
                        <a:t>时</a:t>
                      </a:r>
                      <a:r>
                        <a:rPr lang="zh-CN" altLang="en-US" sz="1800" kern="1200" dirty="0">
                          <a:solidFill>
                            <a:srgbClr val="FF0000"/>
                          </a:solidFill>
                          <a:effectLst/>
                          <a:latin typeface="+mn-lt"/>
                          <a:ea typeface="+mn-ea"/>
                          <a:cs typeface="+mn-cs"/>
                        </a:rPr>
                        <a:t>，</a:t>
                      </a:r>
                      <a:r>
                        <a:rPr lang="zh-CN" altLang="zh-CN" sz="1800" kern="1200" dirty="0">
                          <a:solidFill>
                            <a:srgbClr val="FF0000"/>
                          </a:solidFill>
                          <a:effectLst/>
                          <a:latin typeface="+mn-lt"/>
                          <a:ea typeface="+mn-ea"/>
                          <a:cs typeface="+mn-cs"/>
                        </a:rPr>
                        <a:t>确认</a:t>
                      </a:r>
                      <a:r>
                        <a:rPr lang="zh-CN" altLang="en-US" sz="1800" kern="1200" dirty="0">
                          <a:solidFill>
                            <a:srgbClr val="FF0000"/>
                          </a:solidFill>
                          <a:effectLst/>
                          <a:latin typeface="+mn-lt"/>
                          <a:ea typeface="+mn-ea"/>
                          <a:cs typeface="+mn-cs"/>
                        </a:rPr>
                        <a:t>号</a:t>
                      </a:r>
                      <a:r>
                        <a:rPr lang="zh-CN" altLang="zh-CN" sz="1800" kern="1200" dirty="0">
                          <a:solidFill>
                            <a:srgbClr val="FF0000"/>
                          </a:solidFill>
                          <a:effectLst/>
                          <a:latin typeface="+mn-lt"/>
                          <a:ea typeface="+mn-ea"/>
                          <a:cs typeface="+mn-cs"/>
                        </a:rPr>
                        <a:t>字段有效</a:t>
                      </a:r>
                      <a:r>
                        <a:rPr lang="zh-CN" altLang="en-US" sz="1800" kern="1200" dirty="0">
                          <a:solidFill>
                            <a:srgbClr val="FF0000"/>
                          </a:solidFill>
                          <a:effectLst/>
                          <a:latin typeface="+mn-lt"/>
                          <a:ea typeface="+mn-ea"/>
                          <a:cs typeface="+mn-cs"/>
                        </a:rPr>
                        <a:t>。</a:t>
                      </a:r>
                      <a:endParaRPr lang="zh-CN" altLang="en-US" sz="1800" kern="1200" dirty="0">
                        <a:solidFill>
                          <a:srgbClr val="FF0000"/>
                        </a:solidFill>
                        <a:effectLst/>
                        <a:latin typeface="+mn-lt"/>
                        <a:ea typeface="+mn-ea"/>
                        <a:cs typeface="+mn-cs"/>
                      </a:endParaRPr>
                    </a:p>
                  </a:txBody>
                  <a:tcPr anchor="ctr"/>
                </a:tc>
              </a:tr>
              <a:tr h="1093470">
                <a:tc>
                  <a:txBody>
                    <a:bodyPr/>
                    <a:lstStyle/>
                    <a:p>
                      <a:pPr algn="ctr"/>
                      <a:r>
                        <a:rPr lang="zh-CN" altLang="zh-CN" sz="1800" kern="1200" dirty="0">
                          <a:solidFill>
                            <a:schemeClr val="dk1"/>
                          </a:solidFill>
                          <a:effectLst/>
                          <a:latin typeface="+mn-lt"/>
                          <a:ea typeface="+mn-ea"/>
                          <a:cs typeface="+mn-cs"/>
                        </a:rPr>
                        <a:t>推送</a:t>
                      </a:r>
                      <a:r>
                        <a:rPr lang="en-US" altLang="zh-CN" sz="1800" kern="1200" dirty="0">
                          <a:solidFill>
                            <a:schemeClr val="dk1"/>
                          </a:solidFill>
                          <a:effectLst/>
                          <a:latin typeface="+mn-lt"/>
                          <a:ea typeface="+mn-ea"/>
                          <a:cs typeface="+mn-cs"/>
                        </a:rPr>
                        <a:t>PSH</a:t>
                      </a:r>
                      <a:endParaRPr lang="zh-CN" altLang="en-US" dirty="0"/>
                    </a:p>
                  </a:txBody>
                  <a:tcPr anchor="ctr"/>
                </a:tc>
                <a:tc>
                  <a:txBody>
                    <a:bodyPr/>
                    <a:lstStyle/>
                    <a:p>
                      <a:pPr algn="l"/>
                      <a:r>
                        <a:rPr lang="zh-CN" altLang="en-US" dirty="0"/>
                        <a:t>当发送方</a:t>
                      </a:r>
                      <a:r>
                        <a:rPr lang="en-US" altLang="zh-CN" dirty="0"/>
                        <a:t>TCP</a:t>
                      </a:r>
                      <a:r>
                        <a:rPr lang="zh-CN" altLang="en-US" dirty="0"/>
                        <a:t>把报文段的</a:t>
                      </a:r>
                      <a:r>
                        <a:rPr lang="en-US" altLang="zh-CN" dirty="0"/>
                        <a:t>PSH</a:t>
                      </a:r>
                      <a:r>
                        <a:rPr lang="zh-CN" altLang="en-US" dirty="0"/>
                        <a:t>置</a:t>
                      </a:r>
                      <a:r>
                        <a:rPr lang="en-US" altLang="zh-CN" dirty="0"/>
                        <a:t>1</a:t>
                      </a:r>
                      <a:r>
                        <a:rPr lang="zh-CN" altLang="en-US" dirty="0"/>
                        <a:t>，发送缓冲区即使有发送窗口限制，也要立即发送；接收方</a:t>
                      </a:r>
                      <a:r>
                        <a:rPr lang="en-US" altLang="zh-CN" dirty="0"/>
                        <a:t>TCP</a:t>
                      </a:r>
                      <a:r>
                        <a:rPr lang="zh-CN" altLang="en-US" dirty="0"/>
                        <a:t>收到</a:t>
                      </a:r>
                      <a:r>
                        <a:rPr lang="en-US" altLang="zh-CN" dirty="0"/>
                        <a:t>PSH=1</a:t>
                      </a:r>
                      <a:r>
                        <a:rPr lang="zh-CN" altLang="en-US" dirty="0"/>
                        <a:t>的报文段，不需要在接收缓冲区中排队，可尽快地交付给接收应用进程。</a:t>
                      </a:r>
                      <a:endParaRPr lang="zh-CN" altLang="en-US" dirty="0"/>
                    </a:p>
                  </a:txBody>
                  <a:tcPr anchor="ctr"/>
                </a:tc>
              </a:tr>
              <a:tr h="1011555">
                <a:tc>
                  <a:txBody>
                    <a:bodyPr/>
                    <a:lstStyle/>
                    <a:p>
                      <a:pPr algn="ctr"/>
                      <a:r>
                        <a:rPr lang="zh-CN" altLang="zh-CN" sz="1800" kern="1200" dirty="0">
                          <a:solidFill>
                            <a:srgbClr val="FF0000"/>
                          </a:solidFill>
                          <a:effectLst/>
                          <a:latin typeface="+mn-lt"/>
                          <a:ea typeface="+mn-ea"/>
                          <a:cs typeface="+mn-cs"/>
                        </a:rPr>
                        <a:t>复位</a:t>
                      </a:r>
                      <a:r>
                        <a:rPr lang="en-US" altLang="zh-CN" sz="1800" kern="1200" dirty="0">
                          <a:solidFill>
                            <a:srgbClr val="FF0000"/>
                          </a:solidFill>
                          <a:effectLst/>
                          <a:latin typeface="+mn-lt"/>
                          <a:ea typeface="+mn-ea"/>
                          <a:cs typeface="+mn-cs"/>
                        </a:rPr>
                        <a:t>RST</a:t>
                      </a:r>
                      <a:endParaRPr lang="en-US" altLang="zh-CN" sz="1800" kern="1200" dirty="0">
                        <a:solidFill>
                          <a:srgbClr val="FF0000"/>
                        </a:solidFill>
                        <a:effectLst/>
                        <a:latin typeface="+mn-lt"/>
                        <a:ea typeface="+mn-ea"/>
                        <a:cs typeface="+mn-cs"/>
                      </a:endParaRPr>
                    </a:p>
                  </a:txBody>
                  <a:tcPr anchor="ctr"/>
                </a:tc>
                <a:tc>
                  <a:txBody>
                    <a:bodyPr/>
                    <a:lstStyle/>
                    <a:p>
                      <a:pPr algn="l"/>
                      <a:r>
                        <a:rPr lang="zh-CN" altLang="en-US" dirty="0">
                          <a:solidFill>
                            <a:srgbClr val="FF0000"/>
                          </a:solidFill>
                        </a:rPr>
                        <a:t>当</a:t>
                      </a:r>
                      <a:r>
                        <a:rPr lang="en-US" altLang="zh-CN" dirty="0">
                          <a:solidFill>
                            <a:srgbClr val="FF0000"/>
                          </a:solidFill>
                        </a:rPr>
                        <a:t>RST=1</a:t>
                      </a:r>
                      <a:r>
                        <a:rPr lang="zh-CN" altLang="en-US" dirty="0">
                          <a:solidFill>
                            <a:srgbClr val="FF0000"/>
                          </a:solidFill>
                        </a:rPr>
                        <a:t>时，表明</a:t>
                      </a:r>
                      <a:r>
                        <a:rPr lang="en-US" altLang="zh-CN" dirty="0">
                          <a:solidFill>
                            <a:srgbClr val="FF0000"/>
                          </a:solidFill>
                        </a:rPr>
                        <a:t>TCP</a:t>
                      </a:r>
                      <a:r>
                        <a:rPr lang="zh-CN" altLang="en-US" dirty="0">
                          <a:solidFill>
                            <a:srgbClr val="FF0000"/>
                          </a:solidFill>
                        </a:rPr>
                        <a:t>连接中出现严重差错，如由于主机崩溃或其他原因，必须释放连接，然后再重新建立连接。</a:t>
                      </a:r>
                      <a:endParaRPr lang="zh-CN" altLang="en-US" dirty="0">
                        <a:solidFill>
                          <a:srgbClr val="FF0000"/>
                        </a:solidFill>
                      </a:endParaRPr>
                    </a:p>
                  </a:txBody>
                  <a:tcPr anchor="ctr"/>
                </a:tc>
              </a:tr>
              <a:tr h="727710">
                <a:tc>
                  <a:txBody>
                    <a:bodyPr/>
                    <a:lstStyle/>
                    <a:p>
                      <a:pPr algn="ctr"/>
                      <a:r>
                        <a:rPr lang="zh-CN" altLang="zh-CN" sz="1800" kern="1200" dirty="0">
                          <a:solidFill>
                            <a:srgbClr val="FF0000"/>
                          </a:solidFill>
                          <a:effectLst/>
                          <a:latin typeface="+mn-lt"/>
                          <a:ea typeface="+mn-ea"/>
                          <a:cs typeface="+mn-cs"/>
                        </a:rPr>
                        <a:t>同步</a:t>
                      </a:r>
                      <a:r>
                        <a:rPr lang="en-US" altLang="zh-CN" sz="1800" kern="1200" dirty="0">
                          <a:solidFill>
                            <a:srgbClr val="FF0000"/>
                          </a:solidFill>
                          <a:effectLst/>
                          <a:latin typeface="+mn-lt"/>
                          <a:ea typeface="+mn-ea"/>
                          <a:cs typeface="+mn-cs"/>
                        </a:rPr>
                        <a:t>SYN</a:t>
                      </a:r>
                      <a:endParaRPr lang="en-US" altLang="zh-CN" sz="1800" kern="1200" dirty="0">
                        <a:solidFill>
                          <a:srgbClr val="FF0000"/>
                        </a:solidFill>
                        <a:effectLst/>
                        <a:latin typeface="+mn-lt"/>
                        <a:ea typeface="+mn-ea"/>
                        <a:cs typeface="+mn-cs"/>
                      </a:endParaRPr>
                    </a:p>
                  </a:txBody>
                  <a:tcPr anchor="ctr"/>
                </a:tc>
                <a:tc>
                  <a:txBody>
                    <a:bodyPr/>
                    <a:lstStyle/>
                    <a:p>
                      <a:pPr algn="l"/>
                      <a:r>
                        <a:rPr lang="en-US" altLang="zh-CN" sz="1800" kern="1200" dirty="0">
                          <a:solidFill>
                            <a:srgbClr val="FF0000"/>
                          </a:solidFill>
                          <a:effectLst/>
                          <a:latin typeface="+mn-lt"/>
                          <a:ea typeface="+mn-ea"/>
                          <a:cs typeface="+mn-cs"/>
                        </a:rPr>
                        <a:t>SYN=1</a:t>
                      </a:r>
                      <a:r>
                        <a:rPr lang="zh-CN" altLang="zh-CN" sz="1800" kern="1200" dirty="0">
                          <a:solidFill>
                            <a:srgbClr val="FF0000"/>
                          </a:solidFill>
                          <a:effectLst/>
                          <a:latin typeface="+mn-lt"/>
                          <a:ea typeface="+mn-ea"/>
                          <a:cs typeface="+mn-cs"/>
                        </a:rPr>
                        <a:t>表示这是一个连接请求或连接接收报文。</a:t>
                      </a:r>
                      <a:endParaRPr lang="zh-CN" altLang="zh-CN" sz="1800" kern="1200" dirty="0">
                        <a:solidFill>
                          <a:srgbClr val="FF0000"/>
                        </a:solidFill>
                        <a:effectLst/>
                        <a:latin typeface="+mn-lt"/>
                        <a:ea typeface="+mn-ea"/>
                        <a:cs typeface="+mn-cs"/>
                      </a:endParaRPr>
                    </a:p>
                  </a:txBody>
                  <a:tcPr anchor="ctr"/>
                </a:tc>
              </a:tr>
              <a:tr h="585470">
                <a:tc>
                  <a:txBody>
                    <a:bodyPr/>
                    <a:lstStyle/>
                    <a:p>
                      <a:pPr algn="ctr"/>
                      <a:r>
                        <a:rPr lang="zh-CN" altLang="zh-CN" sz="1800" kern="1200" dirty="0">
                          <a:solidFill>
                            <a:srgbClr val="FF0000"/>
                          </a:solidFill>
                          <a:effectLst/>
                          <a:latin typeface="+mn-lt"/>
                          <a:ea typeface="+mn-ea"/>
                          <a:cs typeface="+mn-cs"/>
                        </a:rPr>
                        <a:t>终止</a:t>
                      </a:r>
                      <a:r>
                        <a:rPr lang="en-US" altLang="zh-CN" sz="1800" kern="1200" dirty="0">
                          <a:solidFill>
                            <a:srgbClr val="FF0000"/>
                          </a:solidFill>
                          <a:effectLst/>
                          <a:latin typeface="+mn-lt"/>
                          <a:ea typeface="+mn-ea"/>
                          <a:cs typeface="+mn-cs"/>
                        </a:rPr>
                        <a:t>FIN</a:t>
                      </a:r>
                      <a:endParaRPr lang="en-US" altLang="zh-CN" sz="1800" kern="1200" dirty="0">
                        <a:solidFill>
                          <a:srgbClr val="FF0000"/>
                        </a:solidFill>
                        <a:effectLst/>
                        <a:latin typeface="+mn-lt"/>
                        <a:ea typeface="+mn-ea"/>
                        <a:cs typeface="+mn-cs"/>
                      </a:endParaRPr>
                    </a:p>
                  </a:txBody>
                  <a:tcPr anchor="ctr"/>
                </a:tc>
                <a:tc>
                  <a:txBody>
                    <a:bodyPr/>
                    <a:lstStyle/>
                    <a:p>
                      <a:pPr algn="l"/>
                      <a:r>
                        <a:rPr lang="zh-CN" altLang="en-US" dirty="0">
                          <a:solidFill>
                            <a:srgbClr val="FF0000"/>
                          </a:solidFill>
                        </a:rPr>
                        <a:t>当</a:t>
                      </a:r>
                      <a:r>
                        <a:rPr lang="en-US" altLang="zh-CN" dirty="0">
                          <a:solidFill>
                            <a:srgbClr val="FF0000"/>
                          </a:solidFill>
                        </a:rPr>
                        <a:t>FIN=1</a:t>
                      </a:r>
                      <a:r>
                        <a:rPr lang="zh-CN" altLang="en-US" dirty="0">
                          <a:solidFill>
                            <a:srgbClr val="FF0000"/>
                          </a:solidFill>
                        </a:rPr>
                        <a:t>时，表明发送方的数据已发送完毕，要求释放连接。</a:t>
                      </a:r>
                      <a:endParaRPr lang="zh-CN" altLang="en-US" dirty="0">
                        <a:solidFill>
                          <a:srgbClr val="FF0000"/>
                        </a:solidFill>
                      </a:endParaRPr>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8226425"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.2 </a:t>
            </a:r>
            <a:r>
              <a:rPr lang="en-US" altLang="zh-CN" sz="4000" dirty="0">
                <a:latin typeface="+mj-ea"/>
                <a:sym typeface="+mn-ea"/>
              </a:rPr>
              <a:t>TCP</a:t>
            </a:r>
            <a:r>
              <a:rPr lang="zh-CN" altLang="en-US" sz="4000" dirty="0">
                <a:latin typeface="+mj-ea"/>
                <a:sym typeface="+mn-ea"/>
              </a:rPr>
              <a:t>连接</a:t>
            </a:r>
            <a:endParaRPr lang="zh-CN" altLang="en-US" sz="4000" dirty="0">
              <a:latin typeface="+mj-ea"/>
              <a:sym typeface="+mn-ea"/>
            </a:endParaRPr>
          </a:p>
        </p:txBody>
      </p:sp>
      <p:sp>
        <p:nvSpPr>
          <p:cNvPr id="11" name="文本框 10"/>
          <p:cNvSpPr txBox="1"/>
          <p:nvPr/>
        </p:nvSpPr>
        <p:spPr>
          <a:xfrm>
            <a:off x="984885" y="1151255"/>
            <a:ext cx="10737215" cy="5040630"/>
          </a:xfrm>
          <a:prstGeom prst="rect">
            <a:avLst/>
          </a:prstGeom>
          <a:noFill/>
        </p:spPr>
        <p:txBody>
          <a:bodyPr wrap="square" rtlCol="0">
            <a:noAutofit/>
          </a:bodyPr>
          <a:lstStyle/>
          <a:p>
            <a:pPr marL="342900" indent="-342900" algn="l" latinLnBrk="0">
              <a:lnSpc>
                <a:spcPct val="150000"/>
              </a:lnSpc>
              <a:spcBef>
                <a:spcPts val="0"/>
              </a:spcBef>
              <a:buClr>
                <a:srgbClr val="DF4F21"/>
              </a:buClr>
              <a:buSzTx/>
              <a:buFont typeface="Wingdings" panose="05000000000000000000" charset="0"/>
              <a:buChar char="p"/>
            </a:pP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是面向连接的传输层协议，每一条</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连接有两个端点。</a:t>
            </a:r>
            <a:endPar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latinLnBrk="0">
              <a:lnSpc>
                <a:spcPct val="150000"/>
              </a:lnSpc>
              <a:spcBef>
                <a:spcPts val="0"/>
              </a:spcBef>
              <a:buClr>
                <a:srgbClr val="DF4F21"/>
              </a:buClr>
              <a:buSzTx/>
              <a:buFont typeface="Wingdings" panose="05000000000000000000" charset="0"/>
              <a:buChar char="p"/>
            </a:pP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 </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连接的端点叫做套接字（</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socket</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）或插口。记为：</a:t>
            </a:r>
            <a:endParaRPr lang="zh-CN" altLang="zh-CN" sz="2800" b="1" kern="0" dirty="0">
              <a:latin typeface="Times New Roman" panose="02020603050405020304" charset="0"/>
              <a:ea typeface="宋体" panose="02010600030101010101" pitchFamily="2" charset="-122"/>
              <a:cs typeface="Times New Roman" panose="02020603050405020304" charset="0"/>
              <a:sym typeface="+mn-ea"/>
            </a:endParaRPr>
          </a:p>
          <a:p>
            <a:pPr lvl="2" indent="-457200" fontAlgn="base">
              <a:lnSpc>
                <a:spcPct val="150000"/>
              </a:lnSpc>
              <a:spcBef>
                <a:spcPts val="600"/>
              </a:spcBef>
              <a:buClr>
                <a:srgbClr val="DF4F21"/>
              </a:buClr>
              <a:buSzPct val="70000"/>
              <a:buFont typeface="Wingdings" panose="05000000000000000000" pitchFamily="2" charset="2"/>
              <a:buChar char="Ø"/>
            </a:pP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套接字 </a:t>
            </a:r>
            <a:r>
              <a:rPr kumimoji="1" 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socket = (IP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地址：端口号</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a:t>
            </a:r>
            <a:r>
              <a:rPr kumimoji="1" 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 </a:t>
            </a:r>
            <a:endParaRPr kumimoji="1" 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lvl="1" indent="-342900" fontAlgn="base">
              <a:lnSpc>
                <a:spcPct val="150000"/>
              </a:lnSpc>
              <a:buClr>
                <a:srgbClr val="DF4F21"/>
              </a:buClr>
              <a:buFont typeface="Wingdings" panose="05000000000000000000" charset="0"/>
              <a:buChar char="p"/>
            </a:pP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 </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 </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连接被通信两端的两个端点（即两个套接字）所确定。记为：</a:t>
            </a:r>
            <a:endPar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lvl="2" indent="-457200" fontAlgn="base">
              <a:lnSpc>
                <a:spcPct val="150000"/>
              </a:lnSpc>
              <a:buClr>
                <a:srgbClr val="DF4F21"/>
              </a:buClr>
              <a:buFont typeface="Wingdings" panose="05000000000000000000" pitchFamily="2" charset="2"/>
              <a:buChar char="Ø"/>
            </a:pP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TCP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连接</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rPr>
              <a:t>::={socket1, socket2} = {(IP1:Port1), (IP2:Port2)}</a:t>
            </a:r>
            <a:endPar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indent="-342900" algn="l" latinLnBrk="0">
              <a:lnSpc>
                <a:spcPct val="150000"/>
              </a:lnSpc>
              <a:spcBef>
                <a:spcPts val="0"/>
              </a:spcBef>
              <a:buClr>
                <a:srgbClr val="DF4F21"/>
              </a:buClr>
              <a:buSzTx/>
              <a:buFont typeface="Wingdings" panose="05000000000000000000" charset="0"/>
              <a:buChar char="p"/>
            </a:pP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TCP采用三次握手建立一个连接，数据传输结束后，采用四次挥手释放连接。</a:t>
            </a:r>
            <a:endPar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lvl="2" indent="-457200" fontAlgn="base">
              <a:lnSpc>
                <a:spcPct val="150000"/>
              </a:lnSpc>
              <a:buClr>
                <a:srgbClr val="DF4F21"/>
              </a:buClr>
              <a:buFont typeface="Wingdings" panose="05000000000000000000" pitchFamily="2" charset="2"/>
              <a:buChar char="Ø"/>
            </a:pPr>
            <a:endPar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8226425"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 </a:t>
            </a:r>
            <a:r>
              <a:rPr lang="en-US" altLang="zh-CN" sz="4000" dirty="0">
                <a:latin typeface="+mj-ea"/>
                <a:sym typeface="+mn-ea"/>
              </a:rPr>
              <a:t>TCP</a:t>
            </a:r>
            <a:r>
              <a:rPr lang="zh-CN" altLang="en-US" sz="4000" dirty="0">
                <a:latin typeface="+mj-ea"/>
                <a:sym typeface="+mn-ea"/>
              </a:rPr>
              <a:t> </a:t>
            </a:r>
            <a:r>
              <a:rPr lang="en-US" altLang="zh-CN" sz="4000" dirty="0">
                <a:latin typeface="+mj-ea"/>
                <a:sym typeface="+mn-ea"/>
              </a:rPr>
              <a:t>SYN</a:t>
            </a:r>
            <a:r>
              <a:rPr lang="zh-CN" altLang="en-US" sz="4000" dirty="0">
                <a:latin typeface="+mj-ea"/>
                <a:sym typeface="+mn-ea"/>
              </a:rPr>
              <a:t>泛洪攻击</a:t>
            </a:r>
            <a:endParaRPr lang="zh-CN" altLang="en-US" sz="4000" dirty="0">
              <a:latin typeface="+mj-ea"/>
              <a:sym typeface="+mn-ea"/>
            </a:endParaRPr>
          </a:p>
        </p:txBody>
      </p:sp>
      <p:sp>
        <p:nvSpPr>
          <p:cNvPr id="3" name="文本框 2"/>
          <p:cNvSpPr txBox="1"/>
          <p:nvPr/>
        </p:nvSpPr>
        <p:spPr>
          <a:xfrm>
            <a:off x="4315035" y="2022114"/>
            <a:ext cx="2684191" cy="922020"/>
          </a:xfrm>
          <a:prstGeom prst="rect">
            <a:avLst/>
          </a:prstGeom>
          <a:noFill/>
        </p:spPr>
        <p:txBody>
          <a:bodyPr wrap="square" rtlCol="0">
            <a:spAutoFit/>
          </a:bodyPr>
          <a:lstStyle/>
          <a:p>
            <a:r>
              <a:rPr lang="zh-CN" altLang="en-US" b="1" dirty="0">
                <a:solidFill>
                  <a:schemeClr val="accent5"/>
                </a:solidFill>
              </a:rPr>
              <a:t>伪造大量不同的</a:t>
            </a:r>
            <a:r>
              <a:rPr lang="en-US" altLang="zh-CN" b="1" dirty="0">
                <a:solidFill>
                  <a:schemeClr val="accent5"/>
                </a:solidFill>
              </a:rPr>
              <a:t>IP</a:t>
            </a:r>
            <a:r>
              <a:rPr lang="zh-CN" altLang="en-US" b="1" dirty="0">
                <a:solidFill>
                  <a:schemeClr val="accent5"/>
                </a:solidFill>
              </a:rPr>
              <a:t>地址，并以这些</a:t>
            </a:r>
            <a:r>
              <a:rPr lang="en-US" altLang="zh-CN" b="1" dirty="0">
                <a:solidFill>
                  <a:schemeClr val="accent5"/>
                </a:solidFill>
              </a:rPr>
              <a:t>IP</a:t>
            </a:r>
            <a:r>
              <a:rPr lang="zh-CN" altLang="en-US" b="1" dirty="0">
                <a:solidFill>
                  <a:schemeClr val="accent5"/>
                </a:solidFill>
              </a:rPr>
              <a:t>地址发送大量</a:t>
            </a:r>
            <a:r>
              <a:rPr lang="en-US" altLang="zh-CN" b="1" dirty="0">
                <a:solidFill>
                  <a:schemeClr val="accent5"/>
                </a:solidFill>
              </a:rPr>
              <a:t>TCP</a:t>
            </a:r>
            <a:r>
              <a:rPr lang="zh-CN" altLang="en-US" b="1" dirty="0">
                <a:solidFill>
                  <a:schemeClr val="accent5"/>
                </a:solidFill>
              </a:rPr>
              <a:t>连接请求</a:t>
            </a:r>
            <a:endParaRPr lang="zh-CN" altLang="en-US" b="1" dirty="0">
              <a:solidFill>
                <a:schemeClr val="accent5"/>
              </a:solidFill>
            </a:endParaRPr>
          </a:p>
        </p:txBody>
      </p:sp>
      <p:grpSp>
        <p:nvGrpSpPr>
          <p:cNvPr id="6" name="组合 5"/>
          <p:cNvGrpSpPr/>
          <p:nvPr/>
        </p:nvGrpSpPr>
        <p:grpSpPr>
          <a:xfrm>
            <a:off x="2931484" y="3220481"/>
            <a:ext cx="7891870" cy="871711"/>
            <a:chOff x="2733737" y="3762035"/>
            <a:chExt cx="7891870" cy="871711"/>
          </a:xfrm>
        </p:grpSpPr>
        <p:sp>
          <p:nvSpPr>
            <p:cNvPr id="7" name="矩形 6"/>
            <p:cNvSpPr/>
            <p:nvPr/>
          </p:nvSpPr>
          <p:spPr>
            <a:xfrm>
              <a:off x="2733737" y="3762035"/>
              <a:ext cx="7795425" cy="871711"/>
            </a:xfrm>
            <a:prstGeom prst="rect">
              <a:avLst/>
            </a:prstGeom>
            <a:solidFill>
              <a:schemeClr val="bg2">
                <a:lumMod val="9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9230983" y="4262121"/>
              <a:ext cx="1394624" cy="369332"/>
            </a:xfrm>
            <a:prstGeom prst="rect">
              <a:avLst/>
            </a:prstGeom>
            <a:noFill/>
          </p:spPr>
          <p:txBody>
            <a:bodyPr wrap="square" rtlCol="0">
              <a:spAutoFit/>
            </a:bodyPr>
            <a:lstStyle/>
            <a:p>
              <a:r>
                <a:rPr lang="en-US" altLang="zh-CN" b="1" dirty="0">
                  <a:solidFill>
                    <a:srgbClr val="FF0000"/>
                  </a:solidFill>
                </a:rPr>
                <a:t>TCP</a:t>
              </a:r>
              <a:r>
                <a:rPr lang="zh-CN" altLang="en-US" b="1" dirty="0">
                  <a:solidFill>
                    <a:srgbClr val="FF0000"/>
                  </a:solidFill>
                </a:rPr>
                <a:t>半连接</a:t>
              </a:r>
              <a:endParaRPr lang="zh-CN" altLang="en-US" b="1" dirty="0">
                <a:solidFill>
                  <a:srgbClr val="FF0000"/>
                </a:solidFill>
              </a:endParaRPr>
            </a:p>
          </p:txBody>
        </p:sp>
      </p:grpSp>
      <p:grpSp>
        <p:nvGrpSpPr>
          <p:cNvPr id="9" name="组合 8"/>
          <p:cNvGrpSpPr/>
          <p:nvPr/>
        </p:nvGrpSpPr>
        <p:grpSpPr>
          <a:xfrm>
            <a:off x="2416254" y="1588957"/>
            <a:ext cx="5980581" cy="1330531"/>
            <a:chOff x="2655363" y="2400539"/>
            <a:chExt cx="5980581" cy="1330531"/>
          </a:xfrm>
        </p:grpSpPr>
        <p:pic>
          <p:nvPicPr>
            <p:cNvPr id="10" name="图形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922592" y="3089988"/>
              <a:ext cx="662814" cy="641082"/>
            </a:xfrm>
            <a:prstGeom prst="rect">
              <a:avLst/>
            </a:prstGeom>
          </p:spPr>
        </p:pic>
        <p:sp>
          <p:nvSpPr>
            <p:cNvPr id="12" name="文本框 11"/>
            <p:cNvSpPr txBox="1"/>
            <p:nvPr/>
          </p:nvSpPr>
          <p:spPr>
            <a:xfrm>
              <a:off x="2655363" y="2400539"/>
              <a:ext cx="1197272" cy="369332"/>
            </a:xfrm>
            <a:prstGeom prst="rect">
              <a:avLst/>
            </a:prstGeom>
            <a:noFill/>
          </p:spPr>
          <p:txBody>
            <a:bodyPr wrap="square" rtlCol="0">
              <a:spAutoFit/>
            </a:bodyPr>
            <a:lstStyle/>
            <a:p>
              <a:pPr algn="ctr"/>
              <a:r>
                <a:rPr lang="zh-CN" altLang="en-US" b="1" dirty="0"/>
                <a:t>攻击者</a:t>
              </a:r>
              <a:endParaRPr lang="zh-CN" altLang="en-US" b="1" dirty="0"/>
            </a:p>
          </p:txBody>
        </p:sp>
        <p:sp>
          <p:nvSpPr>
            <p:cNvPr id="13" name="文本框 12"/>
            <p:cNvSpPr txBox="1"/>
            <p:nvPr/>
          </p:nvSpPr>
          <p:spPr>
            <a:xfrm>
              <a:off x="7218755" y="2584268"/>
              <a:ext cx="1417189" cy="369332"/>
            </a:xfrm>
            <a:prstGeom prst="rect">
              <a:avLst/>
            </a:prstGeom>
            <a:noFill/>
          </p:spPr>
          <p:txBody>
            <a:bodyPr wrap="square" rtlCol="0">
              <a:spAutoFit/>
            </a:bodyPr>
            <a:lstStyle/>
            <a:p>
              <a:pPr algn="ctr"/>
              <a:r>
                <a:rPr lang="en-US" altLang="zh-CN" b="1" dirty="0"/>
                <a:t>TCP</a:t>
              </a:r>
              <a:r>
                <a:rPr lang="zh-CN" altLang="en-US" b="1" dirty="0"/>
                <a:t>服务器</a:t>
              </a:r>
              <a:endParaRPr lang="zh-CN" altLang="en-US" b="1" dirty="0"/>
            </a:p>
          </p:txBody>
        </p: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01971" y="3049223"/>
              <a:ext cx="488441" cy="641079"/>
            </a:xfrm>
            <a:prstGeom prst="rect">
              <a:avLst/>
            </a:prstGeom>
          </p:spPr>
        </p:pic>
        <p:sp>
          <p:nvSpPr>
            <p:cNvPr id="15" name="文本框 14"/>
            <p:cNvSpPr txBox="1"/>
            <p:nvPr/>
          </p:nvSpPr>
          <p:spPr>
            <a:xfrm>
              <a:off x="2669449" y="2677115"/>
              <a:ext cx="1197272" cy="369332"/>
            </a:xfrm>
            <a:prstGeom prst="rect">
              <a:avLst/>
            </a:prstGeom>
            <a:noFill/>
          </p:spPr>
          <p:txBody>
            <a:bodyPr wrap="square" rtlCol="0">
              <a:spAutoFit/>
            </a:bodyPr>
            <a:lstStyle/>
            <a:p>
              <a:pPr algn="ctr"/>
              <a:r>
                <a:rPr lang="en-US" altLang="zh-CN" b="1" dirty="0"/>
                <a:t>TCP</a:t>
              </a:r>
              <a:r>
                <a:rPr lang="zh-CN" altLang="en-US" b="1" dirty="0"/>
                <a:t>客户</a:t>
              </a:r>
              <a:endParaRPr lang="zh-CN" altLang="en-US" b="1" dirty="0"/>
            </a:p>
          </p:txBody>
        </p:sp>
      </p:grpSp>
      <p:grpSp>
        <p:nvGrpSpPr>
          <p:cNvPr id="16" name="组合 15"/>
          <p:cNvGrpSpPr/>
          <p:nvPr/>
        </p:nvGrpSpPr>
        <p:grpSpPr>
          <a:xfrm>
            <a:off x="2986219" y="3233167"/>
            <a:ext cx="4729763" cy="369332"/>
            <a:chOff x="4384050" y="4502968"/>
            <a:chExt cx="4729763" cy="369332"/>
          </a:xfrm>
        </p:grpSpPr>
        <p:cxnSp>
          <p:nvCxnSpPr>
            <p:cNvPr id="17" name="直接箭头连接符 16"/>
            <p:cNvCxnSpPr/>
            <p:nvPr/>
          </p:nvCxnSpPr>
          <p:spPr>
            <a:xfrm>
              <a:off x="4384050" y="4870355"/>
              <a:ext cx="47297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4894724" y="4502968"/>
              <a:ext cx="3598394" cy="369332"/>
            </a:xfrm>
            <a:prstGeom prst="rect">
              <a:avLst/>
            </a:prstGeom>
            <a:noFill/>
          </p:spPr>
          <p:txBody>
            <a:bodyPr wrap="square" rtlCol="0">
              <a:spAutoFit/>
            </a:bodyPr>
            <a:lstStyle/>
            <a:p>
              <a:r>
                <a:rPr lang="en-US" altLang="zh-CN" b="1" dirty="0"/>
                <a:t>TCP</a:t>
              </a:r>
              <a:r>
                <a:rPr lang="zh-CN" altLang="en-US" b="1" dirty="0"/>
                <a:t>连接请求报文段（</a:t>
              </a:r>
              <a:r>
                <a:rPr lang="en-US" altLang="zh-CN" b="1" dirty="0"/>
                <a:t>TCP SYN</a:t>
              </a:r>
              <a:r>
                <a:rPr lang="zh-CN" altLang="en-US" b="1" dirty="0"/>
                <a:t>）</a:t>
              </a:r>
              <a:endParaRPr lang="zh-CN" altLang="en-US" b="1" dirty="0"/>
            </a:p>
          </p:txBody>
        </p:sp>
      </p:grpSp>
      <p:grpSp>
        <p:nvGrpSpPr>
          <p:cNvPr id="19" name="组合 18"/>
          <p:cNvGrpSpPr/>
          <p:nvPr/>
        </p:nvGrpSpPr>
        <p:grpSpPr>
          <a:xfrm>
            <a:off x="2986219" y="3667126"/>
            <a:ext cx="4826207" cy="369332"/>
            <a:chOff x="4384050" y="4936927"/>
            <a:chExt cx="4826207" cy="369332"/>
          </a:xfrm>
        </p:grpSpPr>
        <p:cxnSp>
          <p:nvCxnSpPr>
            <p:cNvPr id="20" name="直接箭头连接符 19"/>
            <p:cNvCxnSpPr/>
            <p:nvPr/>
          </p:nvCxnSpPr>
          <p:spPr>
            <a:xfrm flipH="1">
              <a:off x="4384050" y="5291374"/>
              <a:ext cx="47297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629223" y="4936927"/>
              <a:ext cx="4581034" cy="369332"/>
            </a:xfrm>
            <a:prstGeom prst="rect">
              <a:avLst/>
            </a:prstGeom>
            <a:noFill/>
          </p:spPr>
          <p:txBody>
            <a:bodyPr wrap="square" rtlCol="0">
              <a:spAutoFit/>
            </a:bodyPr>
            <a:lstStyle/>
            <a:p>
              <a:r>
                <a:rPr lang="en-US" altLang="zh-CN" b="1" dirty="0"/>
                <a:t>TCP</a:t>
              </a:r>
              <a:r>
                <a:rPr lang="zh-CN" altLang="en-US" b="1" dirty="0"/>
                <a:t>连接请求确认报文段（</a:t>
              </a:r>
              <a:r>
                <a:rPr lang="en-US" altLang="zh-CN" b="1" dirty="0"/>
                <a:t>TCP SYN+ACK</a:t>
              </a:r>
              <a:r>
                <a:rPr lang="zh-CN" altLang="en-US" b="1" dirty="0"/>
                <a:t>）</a:t>
              </a:r>
              <a:endParaRPr lang="zh-CN" altLang="en-US" b="1" dirty="0"/>
            </a:p>
          </p:txBody>
        </p:sp>
      </p:grpSp>
      <p:sp>
        <p:nvSpPr>
          <p:cNvPr id="22" name="文本框 21"/>
          <p:cNvSpPr txBox="1"/>
          <p:nvPr/>
        </p:nvSpPr>
        <p:spPr>
          <a:xfrm>
            <a:off x="7812427" y="3404676"/>
            <a:ext cx="2001731" cy="369332"/>
          </a:xfrm>
          <a:prstGeom prst="rect">
            <a:avLst/>
          </a:prstGeom>
          <a:noFill/>
        </p:spPr>
        <p:txBody>
          <a:bodyPr wrap="square" rtlCol="0">
            <a:spAutoFit/>
          </a:bodyPr>
          <a:lstStyle/>
          <a:p>
            <a:r>
              <a:rPr lang="zh-CN" altLang="en-US" b="1" dirty="0"/>
              <a:t>分配缓存等资源</a:t>
            </a:r>
            <a:endParaRPr lang="zh-CN" altLang="en-US" b="1" dirty="0"/>
          </a:p>
        </p:txBody>
      </p:sp>
      <p:sp>
        <p:nvSpPr>
          <p:cNvPr id="23" name="文本框 22"/>
          <p:cNvSpPr txBox="1"/>
          <p:nvPr/>
        </p:nvSpPr>
        <p:spPr>
          <a:xfrm>
            <a:off x="2020798" y="3799294"/>
            <a:ext cx="910685" cy="369332"/>
          </a:xfrm>
          <a:prstGeom prst="rect">
            <a:avLst/>
          </a:prstGeom>
          <a:noFill/>
        </p:spPr>
        <p:txBody>
          <a:bodyPr wrap="square" rtlCol="0">
            <a:spAutoFit/>
          </a:bodyPr>
          <a:lstStyle/>
          <a:p>
            <a:r>
              <a:rPr lang="zh-CN" altLang="en-US" b="1" dirty="0"/>
              <a:t>不响应</a:t>
            </a:r>
            <a:endParaRPr lang="zh-CN" altLang="en-US" b="1" dirty="0"/>
          </a:p>
        </p:txBody>
      </p:sp>
      <p:grpSp>
        <p:nvGrpSpPr>
          <p:cNvPr id="24" name="组合 23"/>
          <p:cNvGrpSpPr/>
          <p:nvPr/>
        </p:nvGrpSpPr>
        <p:grpSpPr>
          <a:xfrm>
            <a:off x="2020798" y="4194983"/>
            <a:ext cx="8802556" cy="1413661"/>
            <a:chOff x="2312043" y="4743116"/>
            <a:chExt cx="8802556" cy="1413661"/>
          </a:xfrm>
        </p:grpSpPr>
        <p:grpSp>
          <p:nvGrpSpPr>
            <p:cNvPr id="25" name="组合 24"/>
            <p:cNvGrpSpPr/>
            <p:nvPr/>
          </p:nvGrpSpPr>
          <p:grpSpPr>
            <a:xfrm>
              <a:off x="3222728" y="5236604"/>
              <a:ext cx="7891871" cy="882602"/>
              <a:chOff x="2733736" y="5230025"/>
              <a:chExt cx="7891871" cy="882602"/>
            </a:xfrm>
          </p:grpSpPr>
          <p:sp>
            <p:nvSpPr>
              <p:cNvPr id="1028" name="矩形 1027"/>
              <p:cNvSpPr/>
              <p:nvPr/>
            </p:nvSpPr>
            <p:spPr>
              <a:xfrm>
                <a:off x="2733736" y="5230025"/>
                <a:ext cx="7795425" cy="871711"/>
              </a:xfrm>
              <a:prstGeom prst="rect">
                <a:avLst/>
              </a:prstGeom>
              <a:solidFill>
                <a:schemeClr val="bg2">
                  <a:lumMod val="9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9" name="文本框 1028"/>
              <p:cNvSpPr txBox="1"/>
              <p:nvPr/>
            </p:nvSpPr>
            <p:spPr>
              <a:xfrm>
                <a:off x="9230983" y="5743295"/>
                <a:ext cx="1394624" cy="369332"/>
              </a:xfrm>
              <a:prstGeom prst="rect">
                <a:avLst/>
              </a:prstGeom>
              <a:noFill/>
            </p:spPr>
            <p:txBody>
              <a:bodyPr wrap="square" rtlCol="0">
                <a:spAutoFit/>
              </a:bodyPr>
              <a:lstStyle/>
              <a:p>
                <a:r>
                  <a:rPr lang="en-US" altLang="zh-CN" b="1" dirty="0">
                    <a:solidFill>
                      <a:srgbClr val="FF0000"/>
                    </a:solidFill>
                  </a:rPr>
                  <a:t>TCP</a:t>
                </a:r>
                <a:r>
                  <a:rPr lang="zh-CN" altLang="en-US" b="1" dirty="0">
                    <a:solidFill>
                      <a:srgbClr val="FF0000"/>
                    </a:solidFill>
                  </a:rPr>
                  <a:t>半连接</a:t>
                </a:r>
                <a:endParaRPr lang="zh-CN" altLang="en-US" b="1" dirty="0">
                  <a:solidFill>
                    <a:srgbClr val="FF0000"/>
                  </a:solidFill>
                </a:endParaRPr>
              </a:p>
            </p:txBody>
          </p:sp>
        </p:grpSp>
        <p:sp>
          <p:nvSpPr>
            <p:cNvPr id="26" name="文本框 25"/>
            <p:cNvSpPr txBox="1"/>
            <p:nvPr/>
          </p:nvSpPr>
          <p:spPr>
            <a:xfrm>
              <a:off x="5255687" y="4743116"/>
              <a:ext cx="461665" cy="411019"/>
            </a:xfrm>
            <a:prstGeom prst="rect">
              <a:avLst/>
            </a:prstGeom>
            <a:noFill/>
          </p:spPr>
          <p:txBody>
            <a:bodyPr vert="eaVert" wrap="square" rtlCol="0">
              <a:spAutoFit/>
            </a:bodyPr>
            <a:lstStyle/>
            <a:p>
              <a:r>
                <a:rPr lang="en-US" altLang="zh-CN"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grpSp>
          <p:nvGrpSpPr>
            <p:cNvPr id="27" name="组合 26"/>
            <p:cNvGrpSpPr/>
            <p:nvPr/>
          </p:nvGrpSpPr>
          <p:grpSpPr>
            <a:xfrm>
              <a:off x="3277464" y="5225713"/>
              <a:ext cx="4729763" cy="369332"/>
              <a:chOff x="4384050" y="4502968"/>
              <a:chExt cx="4729763" cy="369332"/>
            </a:xfrm>
          </p:grpSpPr>
          <p:cxnSp>
            <p:nvCxnSpPr>
              <p:cNvPr id="1025" name="直接箭头连接符 1024"/>
              <p:cNvCxnSpPr/>
              <p:nvPr/>
            </p:nvCxnSpPr>
            <p:spPr>
              <a:xfrm>
                <a:off x="4384050" y="4870355"/>
                <a:ext cx="47297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7" name="文本框 1026"/>
              <p:cNvSpPr txBox="1"/>
              <p:nvPr/>
            </p:nvSpPr>
            <p:spPr>
              <a:xfrm>
                <a:off x="4894724" y="4502968"/>
                <a:ext cx="3598394" cy="369332"/>
              </a:xfrm>
              <a:prstGeom prst="rect">
                <a:avLst/>
              </a:prstGeom>
              <a:noFill/>
            </p:spPr>
            <p:txBody>
              <a:bodyPr wrap="square" rtlCol="0">
                <a:spAutoFit/>
              </a:bodyPr>
              <a:lstStyle/>
              <a:p>
                <a:r>
                  <a:rPr lang="en-US" altLang="zh-CN" b="1" dirty="0"/>
                  <a:t>TCP</a:t>
                </a:r>
                <a:r>
                  <a:rPr lang="zh-CN" altLang="en-US" b="1" dirty="0"/>
                  <a:t>连接请求报文段（</a:t>
                </a:r>
                <a:r>
                  <a:rPr lang="en-US" altLang="zh-CN" b="1" dirty="0"/>
                  <a:t>TCP SYN</a:t>
                </a:r>
                <a:r>
                  <a:rPr lang="zh-CN" altLang="en-US" b="1" dirty="0"/>
                  <a:t>）</a:t>
                </a:r>
                <a:endParaRPr lang="zh-CN" altLang="en-US" b="1" dirty="0"/>
              </a:p>
            </p:txBody>
          </p:sp>
        </p:grpSp>
        <p:grpSp>
          <p:nvGrpSpPr>
            <p:cNvPr id="28" name="组合 27"/>
            <p:cNvGrpSpPr/>
            <p:nvPr/>
          </p:nvGrpSpPr>
          <p:grpSpPr>
            <a:xfrm>
              <a:off x="3277464" y="5659672"/>
              <a:ext cx="4826207" cy="369332"/>
              <a:chOff x="4384050" y="4936927"/>
              <a:chExt cx="4826207" cy="369332"/>
            </a:xfrm>
          </p:grpSpPr>
          <p:cxnSp>
            <p:nvCxnSpPr>
              <p:cNvPr id="31" name="直接箭头连接符 30"/>
              <p:cNvCxnSpPr/>
              <p:nvPr/>
            </p:nvCxnSpPr>
            <p:spPr>
              <a:xfrm flipH="1">
                <a:off x="4384050" y="5291374"/>
                <a:ext cx="47297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4" name="文本框 1023"/>
              <p:cNvSpPr txBox="1"/>
              <p:nvPr/>
            </p:nvSpPr>
            <p:spPr>
              <a:xfrm>
                <a:off x="4629223" y="4936927"/>
                <a:ext cx="4581034" cy="369332"/>
              </a:xfrm>
              <a:prstGeom prst="rect">
                <a:avLst/>
              </a:prstGeom>
              <a:noFill/>
            </p:spPr>
            <p:txBody>
              <a:bodyPr wrap="square" rtlCol="0">
                <a:spAutoFit/>
              </a:bodyPr>
              <a:lstStyle/>
              <a:p>
                <a:r>
                  <a:rPr lang="en-US" altLang="zh-CN" b="1" dirty="0"/>
                  <a:t>TCP</a:t>
                </a:r>
                <a:r>
                  <a:rPr lang="zh-CN" altLang="en-US" b="1" dirty="0"/>
                  <a:t>连接请求确认报文段（</a:t>
                </a:r>
                <a:r>
                  <a:rPr lang="en-US" altLang="zh-CN" b="1" dirty="0"/>
                  <a:t>TCP SYN+ACK</a:t>
                </a:r>
                <a:r>
                  <a:rPr lang="zh-CN" altLang="en-US" b="1" dirty="0"/>
                  <a:t>）</a:t>
                </a:r>
                <a:endParaRPr lang="zh-CN" altLang="en-US" b="1" dirty="0"/>
              </a:p>
            </p:txBody>
          </p:sp>
        </p:grpSp>
        <p:sp>
          <p:nvSpPr>
            <p:cNvPr id="29" name="文本框 28"/>
            <p:cNvSpPr txBox="1"/>
            <p:nvPr/>
          </p:nvSpPr>
          <p:spPr>
            <a:xfrm>
              <a:off x="8103672" y="5397222"/>
              <a:ext cx="2001731" cy="369332"/>
            </a:xfrm>
            <a:prstGeom prst="rect">
              <a:avLst/>
            </a:prstGeom>
            <a:noFill/>
          </p:spPr>
          <p:txBody>
            <a:bodyPr wrap="square" rtlCol="0">
              <a:spAutoFit/>
            </a:bodyPr>
            <a:lstStyle/>
            <a:p>
              <a:r>
                <a:rPr lang="zh-CN" altLang="en-US" b="1" dirty="0"/>
                <a:t>分配缓存等资源</a:t>
              </a:r>
              <a:endParaRPr lang="zh-CN" altLang="en-US" b="1" dirty="0"/>
            </a:p>
          </p:txBody>
        </p:sp>
        <p:sp>
          <p:nvSpPr>
            <p:cNvPr id="30" name="文本框 29"/>
            <p:cNvSpPr txBox="1"/>
            <p:nvPr/>
          </p:nvSpPr>
          <p:spPr>
            <a:xfrm>
              <a:off x="2312043" y="5787445"/>
              <a:ext cx="910685" cy="369332"/>
            </a:xfrm>
            <a:prstGeom prst="rect">
              <a:avLst/>
            </a:prstGeom>
            <a:noFill/>
          </p:spPr>
          <p:txBody>
            <a:bodyPr wrap="square" rtlCol="0">
              <a:spAutoFit/>
            </a:bodyPr>
            <a:lstStyle/>
            <a:p>
              <a:r>
                <a:rPr lang="zh-CN" altLang="en-US" b="1" dirty="0"/>
                <a:t>不响应</a:t>
              </a:r>
              <a:endParaRPr lang="zh-CN" altLang="en-US" b="1" dirty="0"/>
            </a:p>
          </p:txBody>
        </p:sp>
      </p:grpSp>
      <p:sp>
        <p:nvSpPr>
          <p:cNvPr id="1030" name="矩形 1029"/>
          <p:cNvSpPr/>
          <p:nvPr/>
        </p:nvSpPr>
        <p:spPr>
          <a:xfrm>
            <a:off x="2931795" y="5893435"/>
            <a:ext cx="7795895" cy="749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当半连接的数量超过了系统允许的上限时，系统就不会再接受任何</a:t>
            </a:r>
            <a:r>
              <a:rPr lang="en-US" altLang="zh-CN" b="1" dirty="0"/>
              <a:t>TCP</a:t>
            </a:r>
            <a:r>
              <a:rPr lang="zh-CN" altLang="en-US" b="1" dirty="0"/>
              <a:t>连接请求，这将导致</a:t>
            </a:r>
            <a:r>
              <a:rPr lang="en-US" altLang="zh-CN" b="1" dirty="0"/>
              <a:t>TCP</a:t>
            </a:r>
            <a:r>
              <a:rPr lang="zh-CN" altLang="en-US" b="1" dirty="0"/>
              <a:t>服务器无法为正常客户提供服务。</a:t>
            </a:r>
            <a:endParaRPr lang="zh-CN" altLang="en-US" b="1" dirty="0"/>
          </a:p>
        </p:txBody>
      </p:sp>
      <p:sp>
        <p:nvSpPr>
          <p:cNvPr id="1064" name="对话气泡: 矩形 1063"/>
          <p:cNvSpPr/>
          <p:nvPr/>
        </p:nvSpPr>
        <p:spPr>
          <a:xfrm>
            <a:off x="8845705" y="1145857"/>
            <a:ext cx="3260298" cy="1796736"/>
          </a:xfrm>
          <a:prstGeom prst="wedgeRectCallout">
            <a:avLst>
              <a:gd name="adj1" fmla="val -13033"/>
              <a:gd name="adj2" fmla="val 96668"/>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rPr>
              <a:t>服务器收到来自客户端的</a:t>
            </a:r>
            <a:r>
              <a:rPr lang="en-US" altLang="zh-CN" b="1" dirty="0">
                <a:solidFill>
                  <a:schemeClr val="tx1"/>
                </a:solidFill>
              </a:rPr>
              <a:t>SYN</a:t>
            </a:r>
            <a:r>
              <a:rPr lang="zh-CN" altLang="en-US" b="1" dirty="0">
                <a:solidFill>
                  <a:schemeClr val="tx1"/>
                </a:solidFill>
              </a:rPr>
              <a:t>连接请求时，向客户端返回一个</a:t>
            </a:r>
            <a:r>
              <a:rPr lang="en-US" altLang="zh-CN" b="1" dirty="0">
                <a:solidFill>
                  <a:schemeClr val="tx1"/>
                </a:solidFill>
              </a:rPr>
              <a:t>SYN+ACK</a:t>
            </a:r>
            <a:r>
              <a:rPr lang="zh-CN" altLang="en-US" b="1" dirty="0">
                <a:solidFill>
                  <a:schemeClr val="tx1"/>
                </a:solidFill>
              </a:rPr>
              <a:t>报文段，服务器等待客户端返回</a:t>
            </a:r>
            <a:r>
              <a:rPr lang="en-US" altLang="zh-CN" b="1" dirty="0">
                <a:solidFill>
                  <a:schemeClr val="tx1"/>
                </a:solidFill>
              </a:rPr>
              <a:t>ACK</a:t>
            </a:r>
            <a:r>
              <a:rPr lang="zh-CN" altLang="en-US" b="1" dirty="0">
                <a:solidFill>
                  <a:schemeClr val="tx1"/>
                </a:solidFill>
              </a:rPr>
              <a:t>报文段，此时该连接一直处于半连接状态（</a:t>
            </a:r>
            <a:r>
              <a:rPr lang="en-US" altLang="zh-CN" b="1" dirty="0">
                <a:solidFill>
                  <a:schemeClr val="tx1"/>
                </a:solidFill>
              </a:rPr>
              <a:t>Half-Open</a:t>
            </a:r>
            <a:r>
              <a:rPr lang="zh-CN" altLang="en-US" b="1" dirty="0">
                <a:solidFill>
                  <a:schemeClr val="tx1"/>
                </a:solidFill>
              </a:rPr>
              <a:t>）。</a:t>
            </a:r>
            <a:endParaRPr lang="zh-CN" altLang="en-US" b="1" dirty="0">
              <a:solidFill>
                <a:schemeClr val="tx1"/>
              </a:solidFill>
            </a:endParaRPr>
          </a:p>
        </p:txBody>
      </p:sp>
      <p:sp>
        <p:nvSpPr>
          <p:cNvPr id="1068" name="文本框 1067"/>
          <p:cNvSpPr txBox="1"/>
          <p:nvPr/>
        </p:nvSpPr>
        <p:spPr>
          <a:xfrm>
            <a:off x="70485" y="1574165"/>
            <a:ext cx="2397760" cy="1476375"/>
          </a:xfrm>
          <a:prstGeom prst="rect">
            <a:avLst/>
          </a:prstGeom>
          <a:noFill/>
          <a:ln w="25400" cmpd="sng">
            <a:solidFill>
              <a:srgbClr val="FF0000"/>
            </a:solidFill>
            <a:prstDash val="solid"/>
          </a:ln>
        </p:spPr>
        <p:txBody>
          <a:bodyPr wrap="square" rtlCol="0">
            <a:spAutoFit/>
          </a:bodyPr>
          <a:lstStyle/>
          <a:p>
            <a:r>
              <a:rPr lang="zh-CN" altLang="en-US" b="1" dirty="0">
                <a:solidFill>
                  <a:schemeClr val="accent5"/>
                </a:solidFill>
              </a:rPr>
              <a:t>若服务器无法收到客户端的</a:t>
            </a:r>
            <a:r>
              <a:rPr lang="en-US" altLang="zh-CN" b="1" dirty="0">
                <a:solidFill>
                  <a:schemeClr val="accent5"/>
                </a:solidFill>
              </a:rPr>
              <a:t>ACK</a:t>
            </a:r>
            <a:r>
              <a:rPr lang="zh-CN" altLang="en-US" b="1" dirty="0">
                <a:solidFill>
                  <a:schemeClr val="accent5"/>
                </a:solidFill>
              </a:rPr>
              <a:t>报文段，一般会超时重传，并等待</a:t>
            </a:r>
            <a:r>
              <a:rPr lang="en-US" altLang="zh-CN" b="1" dirty="0">
                <a:solidFill>
                  <a:schemeClr val="accent5"/>
                </a:solidFill>
              </a:rPr>
              <a:t>SYN Timeout</a:t>
            </a:r>
            <a:r>
              <a:rPr lang="zh-CN" altLang="en-US" b="1" dirty="0">
                <a:solidFill>
                  <a:schemeClr val="accent5"/>
                </a:solidFill>
              </a:rPr>
              <a:t>时间后丢弃该连接。</a:t>
            </a:r>
            <a:endParaRPr lang="en-US" altLang="zh-CN" b="1" dirty="0">
              <a:solidFill>
                <a:schemeClr val="accent5"/>
              </a:solidFill>
            </a:endParaRPr>
          </a:p>
        </p:txBody>
      </p:sp>
      <p:sp>
        <p:nvSpPr>
          <p:cNvPr id="1071" name="文本框 1070"/>
          <p:cNvSpPr txBox="1"/>
          <p:nvPr/>
        </p:nvSpPr>
        <p:spPr>
          <a:xfrm>
            <a:off x="215583" y="4875629"/>
            <a:ext cx="1857886" cy="1200329"/>
          </a:xfrm>
          <a:prstGeom prst="rect">
            <a:avLst/>
          </a:prstGeom>
          <a:noFill/>
          <a:ln w="25400" cmpd="sng">
            <a:solidFill>
              <a:srgbClr val="FF0000"/>
            </a:solidFill>
            <a:prstDash val="soli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374B63"/>
                </a:solidFill>
                <a:effectLst/>
                <a:uLnTx/>
                <a:uFillTx/>
                <a:latin typeface="Arial" panose="020B0604020202020204"/>
                <a:ea typeface="微软雅黑" panose="020B0503020204020204" pitchFamily="34" charset="-122"/>
                <a:cs typeface="Calibri" panose="020F0502020204030204"/>
              </a:rPr>
              <a:t>若出现大量的半连接，服务器需要消耗相当多的资源。</a:t>
            </a:r>
            <a:endParaRPr kumimoji="0" lang="zh-CN" altLang="en-US" sz="1800" b="1" i="0" u="none" strike="noStrike" kern="1200" cap="none" spc="0" normalizeH="0" baseline="0" noProof="0" dirty="0">
              <a:ln>
                <a:noFill/>
              </a:ln>
              <a:solidFill>
                <a:srgbClr val="374B63"/>
              </a:solidFill>
              <a:effectLst/>
              <a:uLnTx/>
              <a:uFillTx/>
              <a:latin typeface="Arial" panose="020B0604020202020204"/>
              <a:ea typeface="微软雅黑" panose="020B0503020204020204" pitchFamily="34" charset="-122"/>
              <a:cs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00" decel="100000"/>
                                        <p:tgtEl>
                                          <p:spTgt spid="9"/>
                                        </p:tgtEl>
                                      </p:cBhvr>
                                    </p:animEffect>
                                    <p:anim calcmode="lin" valueType="num">
                                      <p:cBhvr>
                                        <p:cTn id="8" dur="800" decel="100000" fill="hold"/>
                                        <p:tgtEl>
                                          <p:spTgt spid="9"/>
                                        </p:tgtEl>
                                        <p:attrNameLst>
                                          <p:attrName>style.rotation</p:attrName>
                                        </p:attrNameLst>
                                      </p:cBhvr>
                                      <p:tavLst>
                                        <p:tav tm="0">
                                          <p:val>
                                            <p:fltVal val="-90"/>
                                          </p:val>
                                        </p:tav>
                                        <p:tav tm="100000">
                                          <p:val>
                                            <p:fltVal val="0"/>
                                          </p:val>
                                        </p:tav>
                                      </p:tavLst>
                                    </p:anim>
                                    <p:anim calcmode="lin" valueType="num">
                                      <p:cBhvr>
                                        <p:cTn id="9" dur="800" decel="100000" fill="hold"/>
                                        <p:tgtEl>
                                          <p:spTgt spid="9"/>
                                        </p:tgtEl>
                                        <p:attrNameLst>
                                          <p:attrName>ppt_x</p:attrName>
                                        </p:attrNameLst>
                                      </p:cBhvr>
                                      <p:tavLst>
                                        <p:tav tm="0">
                                          <p:val>
                                            <p:strVal val="#ppt_x+0.4"/>
                                          </p:val>
                                        </p:tav>
                                        <p:tav tm="100000">
                                          <p:val>
                                            <p:strVal val="#ppt_x-0.05"/>
                                          </p:val>
                                        </p:tav>
                                      </p:tavLst>
                                    </p:anim>
                                    <p:anim calcmode="lin" valueType="num">
                                      <p:cBhvr>
                                        <p:cTn id="10" dur="800" decel="100000" fill="hold"/>
                                        <p:tgtEl>
                                          <p:spTgt spid="9"/>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9"/>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9"/>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p:tgtEl>
                                          <p:spTgt spid="3"/>
                                        </p:tgtEl>
                                        <p:attrNameLst>
                                          <p:attrName>ppt_x</p:attrName>
                                        </p:attrNameLst>
                                      </p:cBhvr>
                                      <p:tavLst>
                                        <p:tav tm="0">
                                          <p:val>
                                            <p:strVal val="#ppt_x+#ppt_w*1.125000"/>
                                          </p:val>
                                        </p:tav>
                                        <p:tav tm="100000">
                                          <p:val>
                                            <p:strVal val="#ppt_x"/>
                                          </p:val>
                                        </p:tav>
                                      </p:tavLst>
                                    </p:anim>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p:cTn id="28" dur="500" fill="hold"/>
                                        <p:tgtEl>
                                          <p:spTgt spid="22"/>
                                        </p:tgtEl>
                                        <p:attrNameLst>
                                          <p:attrName>ppt_w</p:attrName>
                                        </p:attrNameLst>
                                      </p:cBhvr>
                                      <p:tavLst>
                                        <p:tav tm="0">
                                          <p:val>
                                            <p:fltVal val="0"/>
                                          </p:val>
                                        </p:tav>
                                        <p:tav tm="100000">
                                          <p:val>
                                            <p:strVal val="#ppt_w"/>
                                          </p:val>
                                        </p:tav>
                                      </p:tavLst>
                                    </p:anim>
                                    <p:anim calcmode="lin" valueType="num">
                                      <p:cBhvr>
                                        <p:cTn id="29" dur="500" fill="hold"/>
                                        <p:tgtEl>
                                          <p:spTgt spid="22"/>
                                        </p:tgtEl>
                                        <p:attrNameLst>
                                          <p:attrName>ppt_h</p:attrName>
                                        </p:attrNameLst>
                                      </p:cBhvr>
                                      <p:tavLst>
                                        <p:tav tm="0">
                                          <p:val>
                                            <p:fltVal val="0"/>
                                          </p:val>
                                        </p:tav>
                                        <p:tav tm="100000">
                                          <p:val>
                                            <p:strVal val="#ppt_h"/>
                                          </p:val>
                                        </p:tav>
                                      </p:tavLst>
                                    </p:anim>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right)">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p:cTn id="40" dur="500" fill="hold"/>
                                        <p:tgtEl>
                                          <p:spTgt spid="23"/>
                                        </p:tgtEl>
                                        <p:attrNameLst>
                                          <p:attrName>ppt_w</p:attrName>
                                        </p:attrNameLst>
                                      </p:cBhvr>
                                      <p:tavLst>
                                        <p:tav tm="0">
                                          <p:val>
                                            <p:fltVal val="0"/>
                                          </p:val>
                                        </p:tav>
                                        <p:tav tm="100000">
                                          <p:val>
                                            <p:strVal val="#ppt_w"/>
                                          </p:val>
                                        </p:tav>
                                      </p:tavLst>
                                    </p:anim>
                                    <p:anim calcmode="lin" valueType="num">
                                      <p:cBhvr>
                                        <p:cTn id="41" dur="500" fill="hold"/>
                                        <p:tgtEl>
                                          <p:spTgt spid="23"/>
                                        </p:tgtEl>
                                        <p:attrNameLst>
                                          <p:attrName>ppt_h</p:attrName>
                                        </p:attrNameLst>
                                      </p:cBhvr>
                                      <p:tavLst>
                                        <p:tav tm="0">
                                          <p:val>
                                            <p:fltVal val="0"/>
                                          </p:val>
                                        </p:tav>
                                        <p:tav tm="100000">
                                          <p:val>
                                            <p:strVal val="#ppt_h"/>
                                          </p:val>
                                        </p:tav>
                                      </p:tavLst>
                                    </p:anim>
                                    <p:anim calcmode="lin" valueType="num">
                                      <p:cBhvr>
                                        <p:cTn id="42" dur="500" fill="hold"/>
                                        <p:tgtEl>
                                          <p:spTgt spid="23"/>
                                        </p:tgtEl>
                                        <p:attrNameLst>
                                          <p:attrName>style.rotation</p:attrName>
                                        </p:attrNameLst>
                                      </p:cBhvr>
                                      <p:tavLst>
                                        <p:tav tm="0">
                                          <p:val>
                                            <p:fltVal val="360"/>
                                          </p:val>
                                        </p:tav>
                                        <p:tav tm="100000">
                                          <p:val>
                                            <p:fltVal val="0"/>
                                          </p:val>
                                        </p:tav>
                                      </p:tavLst>
                                    </p:anim>
                                    <p:animEffect transition="in" filter="fade">
                                      <p:cBhvr>
                                        <p:cTn id="43"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down)">
                                      <p:cBhvr>
                                        <p:cTn id="48" dur="5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064"/>
                                        </p:tgtEl>
                                        <p:attrNameLst>
                                          <p:attrName>style.visibility</p:attrName>
                                        </p:attrNameLst>
                                      </p:cBhvr>
                                      <p:to>
                                        <p:strVal val="visible"/>
                                      </p:to>
                                    </p:set>
                                    <p:animEffect transition="in" filter="fade">
                                      <p:cBhvr>
                                        <p:cTn id="53" dur="500"/>
                                        <p:tgtEl>
                                          <p:spTgt spid="1064"/>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2" fill="hold" grpId="0" nodeType="clickEffect">
                                  <p:stCondLst>
                                    <p:cond delay="0"/>
                                  </p:stCondLst>
                                  <p:childTnLst>
                                    <p:set>
                                      <p:cBhvr>
                                        <p:cTn id="57" dur="1" fill="hold">
                                          <p:stCondLst>
                                            <p:cond delay="0"/>
                                          </p:stCondLst>
                                        </p:cTn>
                                        <p:tgtEl>
                                          <p:spTgt spid="1068"/>
                                        </p:tgtEl>
                                        <p:attrNameLst>
                                          <p:attrName>style.visibility</p:attrName>
                                        </p:attrNameLst>
                                      </p:cBhvr>
                                      <p:to>
                                        <p:strVal val="visible"/>
                                      </p:to>
                                    </p:set>
                                    <p:anim calcmode="lin" valueType="num">
                                      <p:cBhvr additive="base">
                                        <p:cTn id="58" dur="500"/>
                                        <p:tgtEl>
                                          <p:spTgt spid="1068"/>
                                        </p:tgtEl>
                                        <p:attrNameLst>
                                          <p:attrName>ppt_x</p:attrName>
                                        </p:attrNameLst>
                                      </p:cBhvr>
                                      <p:tavLst>
                                        <p:tav tm="0">
                                          <p:val>
                                            <p:strVal val="#ppt_x+#ppt_w*1.125000"/>
                                          </p:val>
                                        </p:tav>
                                        <p:tav tm="100000">
                                          <p:val>
                                            <p:strVal val="#ppt_x"/>
                                          </p:val>
                                        </p:tav>
                                      </p:tavLst>
                                    </p:anim>
                                    <p:animEffect transition="in" filter="wipe(left)">
                                      <p:cBhvr>
                                        <p:cTn id="59" dur="500"/>
                                        <p:tgtEl>
                                          <p:spTgt spid="106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ipe(up)">
                                      <p:cBhvr>
                                        <p:cTn id="64" dur="1000"/>
                                        <p:tgtEl>
                                          <p:spTgt spid="24"/>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071"/>
                                        </p:tgtEl>
                                        <p:attrNameLst>
                                          <p:attrName>style.visibility</p:attrName>
                                        </p:attrNameLst>
                                      </p:cBhvr>
                                      <p:to>
                                        <p:strVal val="visible"/>
                                      </p:to>
                                    </p:set>
                                    <p:animEffect transition="in" filter="fade">
                                      <p:cBhvr>
                                        <p:cTn id="69" dur="1000"/>
                                        <p:tgtEl>
                                          <p:spTgt spid="1071"/>
                                        </p:tgtEl>
                                      </p:cBhvr>
                                    </p:animEffect>
                                    <p:anim calcmode="lin" valueType="num">
                                      <p:cBhvr>
                                        <p:cTn id="70" dur="1000" fill="hold"/>
                                        <p:tgtEl>
                                          <p:spTgt spid="1071"/>
                                        </p:tgtEl>
                                        <p:attrNameLst>
                                          <p:attrName>ppt_x</p:attrName>
                                        </p:attrNameLst>
                                      </p:cBhvr>
                                      <p:tavLst>
                                        <p:tav tm="0">
                                          <p:val>
                                            <p:strVal val="#ppt_x"/>
                                          </p:val>
                                        </p:tav>
                                        <p:tav tm="100000">
                                          <p:val>
                                            <p:strVal val="#ppt_x"/>
                                          </p:val>
                                        </p:tav>
                                      </p:tavLst>
                                    </p:anim>
                                    <p:anim calcmode="lin" valueType="num">
                                      <p:cBhvr>
                                        <p:cTn id="71" dur="1000" fill="hold"/>
                                        <p:tgtEl>
                                          <p:spTgt spid="1071"/>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2" presetClass="entr" presetSubtype="8" fill="hold" grpId="0" nodeType="clickEffect">
                                  <p:stCondLst>
                                    <p:cond delay="0"/>
                                  </p:stCondLst>
                                  <p:childTnLst>
                                    <p:set>
                                      <p:cBhvr>
                                        <p:cTn id="75" dur="1" fill="hold">
                                          <p:stCondLst>
                                            <p:cond delay="0"/>
                                          </p:stCondLst>
                                        </p:cTn>
                                        <p:tgtEl>
                                          <p:spTgt spid="1030"/>
                                        </p:tgtEl>
                                        <p:attrNameLst>
                                          <p:attrName>style.visibility</p:attrName>
                                        </p:attrNameLst>
                                      </p:cBhvr>
                                      <p:to>
                                        <p:strVal val="visible"/>
                                      </p:to>
                                    </p:set>
                                    <p:anim calcmode="lin" valueType="num">
                                      <p:cBhvr additive="base">
                                        <p:cTn id="76" dur="500"/>
                                        <p:tgtEl>
                                          <p:spTgt spid="1030"/>
                                        </p:tgtEl>
                                        <p:attrNameLst>
                                          <p:attrName>ppt_x</p:attrName>
                                        </p:attrNameLst>
                                      </p:cBhvr>
                                      <p:tavLst>
                                        <p:tav tm="0">
                                          <p:val>
                                            <p:strVal val="#ppt_x-#ppt_w*1.125000"/>
                                          </p:val>
                                        </p:tav>
                                        <p:tav tm="100000">
                                          <p:val>
                                            <p:strVal val="#ppt_x"/>
                                          </p:val>
                                        </p:tav>
                                      </p:tavLst>
                                    </p:anim>
                                    <p:animEffect transition="in" filter="wipe(right)">
                                      <p:cBhvr>
                                        <p:cTn id="77"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2" grpId="0"/>
      <p:bldP spid="23" grpId="0"/>
      <p:bldP spid="1030" grpId="0" bldLvl="0" animBg="1"/>
      <p:bldP spid="1064" grpId="0" bldLvl="0" animBg="1"/>
      <p:bldP spid="1068" grpId="0" bldLvl="0" animBg="1"/>
      <p:bldP spid="1071"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8226425"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 </a:t>
            </a:r>
            <a:r>
              <a:rPr lang="en-US" altLang="zh-CN" sz="4000" dirty="0">
                <a:latin typeface="+mj-ea"/>
                <a:sym typeface="+mn-ea"/>
              </a:rPr>
              <a:t>TCP RST</a:t>
            </a:r>
            <a:r>
              <a:rPr lang="zh-CN" altLang="en-US" sz="4000" dirty="0">
                <a:latin typeface="+mj-ea"/>
                <a:sym typeface="+mn-ea"/>
              </a:rPr>
              <a:t>攻击</a:t>
            </a:r>
            <a:endParaRPr lang="zh-CN" altLang="en-US" sz="4000" dirty="0">
              <a:latin typeface="+mj-ea"/>
              <a:sym typeface="+mn-ea"/>
            </a:endParaRPr>
          </a:p>
        </p:txBody>
      </p:sp>
      <p:grpSp>
        <p:nvGrpSpPr>
          <p:cNvPr id="52" name="组合 51"/>
          <p:cNvGrpSpPr/>
          <p:nvPr/>
        </p:nvGrpSpPr>
        <p:grpSpPr>
          <a:xfrm>
            <a:off x="3094859" y="1381571"/>
            <a:ext cx="6955158" cy="1173878"/>
            <a:chOff x="3094859" y="1381571"/>
            <a:chExt cx="6955158" cy="1173878"/>
          </a:xfrm>
        </p:grpSpPr>
        <p:pic>
          <p:nvPicPr>
            <p:cNvPr id="4" name="图形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362088" y="1914367"/>
              <a:ext cx="662814" cy="641082"/>
            </a:xfrm>
            <a:prstGeom prst="rect">
              <a:avLst/>
            </a:prstGeom>
          </p:spPr>
        </p:pic>
        <p:sp>
          <p:nvSpPr>
            <p:cNvPr id="5" name="文本框 4"/>
            <p:cNvSpPr txBox="1"/>
            <p:nvPr/>
          </p:nvSpPr>
          <p:spPr>
            <a:xfrm>
              <a:off x="3094859" y="1413762"/>
              <a:ext cx="1197272" cy="369332"/>
            </a:xfrm>
            <a:prstGeom prst="rect">
              <a:avLst/>
            </a:prstGeom>
            <a:noFill/>
          </p:spPr>
          <p:txBody>
            <a:bodyPr wrap="square" rtlCol="0">
              <a:spAutoFit/>
            </a:bodyPr>
            <a:lstStyle/>
            <a:p>
              <a:pPr algn="ctr"/>
              <a:r>
                <a:rPr lang="zh-CN" altLang="en-US" b="1" dirty="0"/>
                <a:t>客户端</a:t>
              </a:r>
              <a:r>
                <a:rPr lang="en-US" altLang="zh-CN" b="1" dirty="0"/>
                <a:t>A</a:t>
              </a:r>
              <a:endParaRPr lang="zh-CN" altLang="en-US" b="1" dirty="0"/>
            </a:p>
          </p:txBody>
        </p:sp>
        <p:sp>
          <p:nvSpPr>
            <p:cNvPr id="8" name="文本框 7"/>
            <p:cNvSpPr txBox="1"/>
            <p:nvPr/>
          </p:nvSpPr>
          <p:spPr>
            <a:xfrm>
              <a:off x="8632828" y="1381571"/>
              <a:ext cx="1417189" cy="369332"/>
            </a:xfrm>
            <a:prstGeom prst="rect">
              <a:avLst/>
            </a:prstGeom>
            <a:noFill/>
          </p:spPr>
          <p:txBody>
            <a:bodyPr wrap="square" rtlCol="0">
              <a:spAutoFit/>
            </a:bodyPr>
            <a:lstStyle/>
            <a:p>
              <a:pPr algn="ctr"/>
              <a:r>
                <a:rPr lang="zh-CN" altLang="en-US" b="1" dirty="0"/>
                <a:t>服务器</a:t>
              </a:r>
              <a:r>
                <a:rPr lang="en-US" altLang="zh-CN" b="1" dirty="0"/>
                <a:t>B</a:t>
              </a:r>
              <a:endParaRPr lang="zh-CN" altLang="en-US" b="1" dirty="0"/>
            </a:p>
          </p:txBody>
        </p:sp>
        <p:pic>
          <p:nvPicPr>
            <p:cNvPr id="9" name="图形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6044" y="1846526"/>
              <a:ext cx="488441" cy="641079"/>
            </a:xfrm>
            <a:prstGeom prst="rect">
              <a:avLst/>
            </a:prstGeom>
          </p:spPr>
        </p:pic>
      </p:grpSp>
      <p:grpSp>
        <p:nvGrpSpPr>
          <p:cNvPr id="13" name="组合 12"/>
          <p:cNvGrpSpPr/>
          <p:nvPr/>
        </p:nvGrpSpPr>
        <p:grpSpPr>
          <a:xfrm>
            <a:off x="4195912" y="2358020"/>
            <a:ext cx="4729763" cy="369332"/>
            <a:chOff x="4384050" y="4502968"/>
            <a:chExt cx="4729763" cy="369332"/>
          </a:xfrm>
        </p:grpSpPr>
        <p:cxnSp>
          <p:nvCxnSpPr>
            <p:cNvPr id="14" name="直接箭头连接符 13"/>
            <p:cNvCxnSpPr/>
            <p:nvPr/>
          </p:nvCxnSpPr>
          <p:spPr>
            <a:xfrm>
              <a:off x="4384050" y="4870355"/>
              <a:ext cx="47297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4894724" y="4502968"/>
              <a:ext cx="3598394" cy="369332"/>
            </a:xfrm>
            <a:prstGeom prst="rect">
              <a:avLst/>
            </a:prstGeom>
            <a:noFill/>
          </p:spPr>
          <p:txBody>
            <a:bodyPr wrap="square" rtlCol="0">
              <a:spAutoFit/>
            </a:bodyPr>
            <a:lstStyle/>
            <a:p>
              <a:r>
                <a:rPr lang="en-US" altLang="zh-CN" b="1" dirty="0"/>
                <a:t>TCP</a:t>
              </a:r>
              <a:r>
                <a:rPr lang="zh-CN" altLang="en-US" b="1" dirty="0"/>
                <a:t>报文段（</a:t>
              </a:r>
              <a:r>
                <a:rPr lang="en-US" altLang="zh-CN" b="1" dirty="0"/>
                <a:t>seq=x</a:t>
              </a:r>
              <a:r>
                <a:rPr lang="zh-CN" altLang="en-US" b="1" dirty="0"/>
                <a:t>，</a:t>
              </a:r>
              <a:r>
                <a:rPr lang="en-US" altLang="zh-CN" b="1" dirty="0"/>
                <a:t>ack=y</a:t>
              </a:r>
              <a:r>
                <a:rPr lang="zh-CN" altLang="en-US" b="1" dirty="0"/>
                <a:t>）</a:t>
              </a:r>
              <a:endParaRPr lang="zh-CN" altLang="en-US" b="1" dirty="0"/>
            </a:p>
          </p:txBody>
        </p:sp>
      </p:grpSp>
      <p:grpSp>
        <p:nvGrpSpPr>
          <p:cNvPr id="19" name="组合 18"/>
          <p:cNvGrpSpPr/>
          <p:nvPr/>
        </p:nvGrpSpPr>
        <p:grpSpPr>
          <a:xfrm>
            <a:off x="4147689" y="2778699"/>
            <a:ext cx="4729764" cy="369332"/>
            <a:chOff x="4384050" y="4936927"/>
            <a:chExt cx="4729764" cy="369332"/>
          </a:xfrm>
        </p:grpSpPr>
        <p:cxnSp>
          <p:nvCxnSpPr>
            <p:cNvPr id="20" name="直接箭头连接符 19"/>
            <p:cNvCxnSpPr/>
            <p:nvPr/>
          </p:nvCxnSpPr>
          <p:spPr>
            <a:xfrm flipH="1">
              <a:off x="4384050" y="5291374"/>
              <a:ext cx="47297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942947" y="4936927"/>
              <a:ext cx="4170867" cy="369332"/>
            </a:xfrm>
            <a:prstGeom prst="rect">
              <a:avLst/>
            </a:prstGeom>
            <a:noFill/>
          </p:spPr>
          <p:txBody>
            <a:bodyPr wrap="square" rtlCol="0">
              <a:spAutoFit/>
            </a:bodyPr>
            <a:lstStyle/>
            <a:p>
              <a:r>
                <a:rPr lang="en-US" altLang="zh-CN" b="1" dirty="0"/>
                <a:t>TCP</a:t>
              </a:r>
              <a:r>
                <a:rPr lang="zh-CN" altLang="en-US" b="1" dirty="0"/>
                <a:t>报文段（</a:t>
              </a:r>
              <a:r>
                <a:rPr lang="en-US" altLang="zh-CN" b="1" dirty="0"/>
                <a:t>seq=y</a:t>
              </a:r>
              <a:r>
                <a:rPr lang="zh-CN" altLang="en-US" b="1" dirty="0"/>
                <a:t>，</a:t>
              </a:r>
              <a:r>
                <a:rPr lang="en-US" altLang="zh-CN" b="1" dirty="0"/>
                <a:t>ack=x+1</a:t>
              </a:r>
              <a:r>
                <a:rPr lang="zh-CN" altLang="en-US" b="1" dirty="0"/>
                <a:t>）</a:t>
              </a:r>
              <a:endParaRPr lang="zh-CN" altLang="en-US" b="1" dirty="0"/>
            </a:p>
          </p:txBody>
        </p:sp>
      </p:grpSp>
      <p:grpSp>
        <p:nvGrpSpPr>
          <p:cNvPr id="53" name="组合 52"/>
          <p:cNvGrpSpPr/>
          <p:nvPr/>
        </p:nvGrpSpPr>
        <p:grpSpPr>
          <a:xfrm>
            <a:off x="5666970" y="3219922"/>
            <a:ext cx="3287773" cy="2367214"/>
            <a:chOff x="5666970" y="3219922"/>
            <a:chExt cx="3287773" cy="2367214"/>
          </a:xfrm>
        </p:grpSpPr>
        <p:cxnSp>
          <p:nvCxnSpPr>
            <p:cNvPr id="26" name="直接箭头连接符 25"/>
            <p:cNvCxnSpPr/>
            <p:nvPr/>
          </p:nvCxnSpPr>
          <p:spPr>
            <a:xfrm flipV="1">
              <a:off x="6306553" y="3219922"/>
              <a:ext cx="2648190" cy="23672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rot="19122633">
              <a:off x="5666970" y="3974143"/>
              <a:ext cx="3153731" cy="646331"/>
            </a:xfrm>
            <a:prstGeom prst="rect">
              <a:avLst/>
            </a:prstGeom>
            <a:noFill/>
          </p:spPr>
          <p:txBody>
            <a:bodyPr wrap="square" rtlCol="0">
              <a:spAutoFit/>
            </a:bodyPr>
            <a:lstStyle/>
            <a:p>
              <a:pPr algn="ctr"/>
              <a:r>
                <a:rPr lang="zh-CN" altLang="en-US" b="1" dirty="0"/>
                <a:t>虚假的</a:t>
              </a:r>
              <a:r>
                <a:rPr lang="en-US" altLang="zh-CN" b="1" dirty="0"/>
                <a:t>TCP</a:t>
              </a:r>
              <a:r>
                <a:rPr lang="zh-CN" altLang="en-US" b="1" dirty="0"/>
                <a:t>报文段</a:t>
              </a:r>
              <a:endParaRPr lang="en-US" altLang="zh-CN" b="1" dirty="0"/>
            </a:p>
            <a:p>
              <a:r>
                <a:rPr lang="zh-CN" altLang="en-US" b="1" dirty="0"/>
                <a:t>（</a:t>
              </a:r>
              <a:r>
                <a:rPr lang="en-US" altLang="zh-CN" b="1" dirty="0"/>
                <a:t>seq=x+1</a:t>
              </a:r>
              <a:r>
                <a:rPr lang="zh-CN" altLang="en-US" b="1" dirty="0"/>
                <a:t>，</a:t>
              </a:r>
              <a:r>
                <a:rPr lang="en-US" altLang="zh-CN" b="1" dirty="0"/>
                <a:t>ack=y+1</a:t>
              </a:r>
              <a:r>
                <a:rPr lang="zh-CN" altLang="en-US" b="1" dirty="0"/>
                <a:t>，</a:t>
              </a:r>
              <a:r>
                <a:rPr lang="en-US" altLang="zh-CN" b="1" dirty="0"/>
                <a:t>RST</a:t>
              </a:r>
              <a:r>
                <a:rPr lang="zh-CN" altLang="en-US" b="1" dirty="0"/>
                <a:t>）</a:t>
              </a:r>
              <a:endParaRPr lang="zh-CN" altLang="en-US" b="1" dirty="0"/>
            </a:p>
          </p:txBody>
        </p:sp>
      </p:grpSp>
      <p:grpSp>
        <p:nvGrpSpPr>
          <p:cNvPr id="55" name="组合 54"/>
          <p:cNvGrpSpPr/>
          <p:nvPr/>
        </p:nvGrpSpPr>
        <p:grpSpPr>
          <a:xfrm>
            <a:off x="5842969" y="5336000"/>
            <a:ext cx="1860086" cy="641082"/>
            <a:chOff x="5842969" y="5336000"/>
            <a:chExt cx="1860086" cy="641082"/>
          </a:xfrm>
        </p:grpSpPr>
        <p:pic>
          <p:nvPicPr>
            <p:cNvPr id="31" name="图形 3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42969" y="5336000"/>
              <a:ext cx="662814" cy="641082"/>
            </a:xfrm>
            <a:prstGeom prst="rect">
              <a:avLst/>
            </a:prstGeom>
          </p:spPr>
        </p:pic>
        <p:sp>
          <p:nvSpPr>
            <p:cNvPr id="32" name="文本框 31"/>
            <p:cNvSpPr txBox="1"/>
            <p:nvPr/>
          </p:nvSpPr>
          <p:spPr>
            <a:xfrm>
              <a:off x="6505783" y="5471875"/>
              <a:ext cx="1197272" cy="369332"/>
            </a:xfrm>
            <a:prstGeom prst="rect">
              <a:avLst/>
            </a:prstGeom>
            <a:noFill/>
          </p:spPr>
          <p:txBody>
            <a:bodyPr wrap="square" rtlCol="0">
              <a:spAutoFit/>
            </a:bodyPr>
            <a:lstStyle/>
            <a:p>
              <a:pPr algn="ctr"/>
              <a:r>
                <a:rPr lang="zh-CN" altLang="en-US" b="1" dirty="0"/>
                <a:t>攻击者</a:t>
              </a:r>
              <a:r>
                <a:rPr lang="en-US" altLang="zh-CN" b="1" dirty="0"/>
                <a:t>C</a:t>
              </a:r>
              <a:endParaRPr lang="zh-CN" altLang="en-US" b="1" dirty="0"/>
            </a:p>
          </p:txBody>
        </p:sp>
      </p:grpSp>
      <p:grpSp>
        <p:nvGrpSpPr>
          <p:cNvPr id="54" name="组合 53"/>
          <p:cNvGrpSpPr/>
          <p:nvPr/>
        </p:nvGrpSpPr>
        <p:grpSpPr>
          <a:xfrm>
            <a:off x="5401986" y="3258617"/>
            <a:ext cx="662814" cy="2287338"/>
            <a:chOff x="5401986" y="3258617"/>
            <a:chExt cx="662814" cy="2287338"/>
          </a:xfrm>
        </p:grpSpPr>
        <p:cxnSp>
          <p:nvCxnSpPr>
            <p:cNvPr id="35" name="直接箭头连接符 34"/>
            <p:cNvCxnSpPr/>
            <p:nvPr/>
          </p:nvCxnSpPr>
          <p:spPr>
            <a:xfrm flipH="1" flipV="1">
              <a:off x="6034150" y="3258617"/>
              <a:ext cx="30650" cy="2287338"/>
            </a:xfrm>
            <a:prstGeom prst="straightConnector1">
              <a:avLst/>
            </a:prstGeom>
            <a:ln w="25400">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5401986" y="4179725"/>
              <a:ext cx="662814" cy="369332"/>
            </a:xfrm>
            <a:prstGeom prst="rect">
              <a:avLst/>
            </a:prstGeom>
            <a:noFill/>
          </p:spPr>
          <p:txBody>
            <a:bodyPr wrap="square" rtlCol="0">
              <a:spAutoFit/>
            </a:bodyPr>
            <a:lstStyle/>
            <a:p>
              <a:r>
                <a:rPr lang="zh-CN" altLang="en-US" b="1" dirty="0"/>
                <a:t>监听</a:t>
              </a:r>
              <a:endParaRPr lang="zh-CN" altLang="en-US" b="1" dirty="0"/>
            </a:p>
          </p:txBody>
        </p:sp>
      </p:grpSp>
      <p:sp>
        <p:nvSpPr>
          <p:cNvPr id="42" name="文本框 41"/>
          <p:cNvSpPr txBox="1"/>
          <p:nvPr/>
        </p:nvSpPr>
        <p:spPr>
          <a:xfrm>
            <a:off x="2314811" y="5515417"/>
            <a:ext cx="3405091" cy="923330"/>
          </a:xfrm>
          <a:prstGeom prst="rect">
            <a:avLst/>
          </a:prstGeom>
          <a:noFill/>
        </p:spPr>
        <p:txBody>
          <a:bodyPr wrap="square" rtlCol="0">
            <a:spAutoFit/>
          </a:bodyPr>
          <a:lstStyle/>
          <a:p>
            <a:r>
              <a:rPr lang="en-US" altLang="zh-CN" b="1" dirty="0">
                <a:solidFill>
                  <a:schemeClr val="accent5"/>
                </a:solidFill>
              </a:rPr>
              <a:t>C</a:t>
            </a:r>
            <a:r>
              <a:rPr lang="zh-CN" altLang="en-US" b="1" dirty="0">
                <a:solidFill>
                  <a:schemeClr val="accent5"/>
                </a:solidFill>
              </a:rPr>
              <a:t>伪造</a:t>
            </a:r>
            <a:r>
              <a:rPr lang="en-US" altLang="zh-CN" b="1" dirty="0">
                <a:solidFill>
                  <a:schemeClr val="accent5"/>
                </a:solidFill>
              </a:rPr>
              <a:t>RST</a:t>
            </a:r>
            <a:r>
              <a:rPr lang="zh-CN" altLang="en-US" b="1" dirty="0">
                <a:solidFill>
                  <a:schemeClr val="accent5"/>
                </a:solidFill>
              </a:rPr>
              <a:t>报文的过程中，需要保证端口一致并且使</a:t>
            </a:r>
            <a:r>
              <a:rPr lang="en-US" altLang="zh-CN" b="1" dirty="0">
                <a:solidFill>
                  <a:schemeClr val="accent5"/>
                </a:solidFill>
              </a:rPr>
              <a:t>RST</a:t>
            </a:r>
            <a:r>
              <a:rPr lang="zh-CN" altLang="en-US" b="1" dirty="0">
                <a:solidFill>
                  <a:schemeClr val="accent5"/>
                </a:solidFill>
              </a:rPr>
              <a:t>报文的序列号落在</a:t>
            </a:r>
            <a:r>
              <a:rPr lang="en-US" altLang="zh-CN" b="1" dirty="0">
                <a:solidFill>
                  <a:schemeClr val="accent5"/>
                </a:solidFill>
              </a:rPr>
              <a:t>B</a:t>
            </a:r>
            <a:r>
              <a:rPr lang="zh-CN" altLang="en-US" b="1" dirty="0">
                <a:solidFill>
                  <a:schemeClr val="accent5"/>
                </a:solidFill>
              </a:rPr>
              <a:t>的接收窗口之内。</a:t>
            </a:r>
            <a:endParaRPr lang="zh-CN" altLang="en-US" b="1" dirty="0">
              <a:solidFill>
                <a:schemeClr val="accent5"/>
              </a:solidFill>
            </a:endParaRPr>
          </a:p>
        </p:txBody>
      </p:sp>
      <p:sp>
        <p:nvSpPr>
          <p:cNvPr id="44" name="文本框 43"/>
          <p:cNvSpPr txBox="1"/>
          <p:nvPr/>
        </p:nvSpPr>
        <p:spPr>
          <a:xfrm>
            <a:off x="9260264" y="2440726"/>
            <a:ext cx="2961428" cy="1200329"/>
          </a:xfrm>
          <a:prstGeom prst="rect">
            <a:avLst/>
          </a:prstGeom>
          <a:noFill/>
        </p:spPr>
        <p:txBody>
          <a:bodyPr wrap="square" rtlCol="0">
            <a:spAutoFit/>
          </a:bodyPr>
          <a:lstStyle/>
          <a:p>
            <a:r>
              <a:rPr lang="zh-CN" altLang="en-US" b="1" dirty="0">
                <a:solidFill>
                  <a:schemeClr val="accent5"/>
                </a:solidFill>
              </a:rPr>
              <a:t>该报文段使</a:t>
            </a:r>
            <a:r>
              <a:rPr lang="en-US" altLang="zh-CN" b="1" dirty="0">
                <a:solidFill>
                  <a:schemeClr val="accent5"/>
                </a:solidFill>
              </a:rPr>
              <a:t>B</a:t>
            </a:r>
            <a:r>
              <a:rPr lang="zh-CN" altLang="en-US" b="1" dirty="0">
                <a:solidFill>
                  <a:schemeClr val="accent5"/>
                </a:solidFill>
              </a:rPr>
              <a:t>认为来自</a:t>
            </a:r>
            <a:r>
              <a:rPr lang="en-US" altLang="zh-CN" b="1" dirty="0">
                <a:solidFill>
                  <a:schemeClr val="accent5"/>
                </a:solidFill>
              </a:rPr>
              <a:t>A</a:t>
            </a:r>
            <a:r>
              <a:rPr lang="zh-CN" altLang="en-US" b="1" dirty="0">
                <a:solidFill>
                  <a:schemeClr val="accent5"/>
                </a:solidFill>
              </a:rPr>
              <a:t>的连接有错误，将丢弃与</a:t>
            </a:r>
            <a:r>
              <a:rPr lang="en-US" altLang="zh-CN" b="1" dirty="0">
                <a:solidFill>
                  <a:schemeClr val="accent5"/>
                </a:solidFill>
              </a:rPr>
              <a:t>A</a:t>
            </a:r>
            <a:r>
              <a:rPr lang="zh-CN" altLang="en-US" b="1" dirty="0">
                <a:solidFill>
                  <a:schemeClr val="accent5"/>
                </a:solidFill>
              </a:rPr>
              <a:t>连接缓冲区上的所有数据，并强制</a:t>
            </a:r>
            <a:r>
              <a:rPr lang="zh-CN" altLang="en-US" b="1" dirty="0">
                <a:solidFill>
                  <a:srgbClr val="FF0000"/>
                </a:solidFill>
              </a:rPr>
              <a:t>关闭连接</a:t>
            </a:r>
            <a:r>
              <a:rPr lang="zh-CN" altLang="en-US" b="1" dirty="0">
                <a:solidFill>
                  <a:schemeClr val="accent5"/>
                </a:solidFill>
              </a:rPr>
              <a:t>。</a:t>
            </a:r>
            <a:endParaRPr lang="zh-CN" altLang="en-US" b="1" dirty="0">
              <a:solidFill>
                <a:schemeClr val="accent5"/>
              </a:solidFill>
            </a:endParaRPr>
          </a:p>
        </p:txBody>
      </p:sp>
      <p:sp>
        <p:nvSpPr>
          <p:cNvPr id="46" name="对话气泡: 矩形 45"/>
          <p:cNvSpPr/>
          <p:nvPr/>
        </p:nvSpPr>
        <p:spPr>
          <a:xfrm>
            <a:off x="8764982" y="3730101"/>
            <a:ext cx="2346148" cy="1068606"/>
          </a:xfrm>
          <a:prstGeom prst="wedgeRectCallout">
            <a:avLst>
              <a:gd name="adj1" fmla="val -68623"/>
              <a:gd name="adj2" fmla="val -5127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tx1"/>
                </a:solidFill>
              </a:rPr>
              <a:t>TCP</a:t>
            </a:r>
            <a:r>
              <a:rPr lang="zh-CN" altLang="en-US" b="1" dirty="0">
                <a:solidFill>
                  <a:schemeClr val="tx1"/>
                </a:solidFill>
              </a:rPr>
              <a:t>报文段中的标志位</a:t>
            </a:r>
            <a:r>
              <a:rPr lang="en-US" altLang="zh-CN" b="1" dirty="0">
                <a:solidFill>
                  <a:schemeClr val="tx1"/>
                </a:solidFill>
              </a:rPr>
              <a:t>RST</a:t>
            </a:r>
            <a:r>
              <a:rPr lang="zh-CN" altLang="en-US" b="1" dirty="0">
                <a:solidFill>
                  <a:schemeClr val="tx1"/>
                </a:solidFill>
              </a:rPr>
              <a:t>置</a:t>
            </a:r>
            <a:r>
              <a:rPr lang="en-US" altLang="zh-CN" b="1" dirty="0">
                <a:solidFill>
                  <a:schemeClr val="tx1"/>
                </a:solidFill>
              </a:rPr>
              <a:t>1</a:t>
            </a:r>
            <a:r>
              <a:rPr lang="zh-CN" altLang="en-US" b="1" dirty="0">
                <a:solidFill>
                  <a:schemeClr val="tx1"/>
                </a:solidFill>
              </a:rPr>
              <a:t>能够关闭掉一个</a:t>
            </a:r>
            <a:r>
              <a:rPr lang="en-US" altLang="zh-CN" b="1" dirty="0">
                <a:solidFill>
                  <a:schemeClr val="tx1"/>
                </a:solidFill>
              </a:rPr>
              <a:t>TCP</a:t>
            </a:r>
            <a:r>
              <a:rPr lang="zh-CN" altLang="en-US" b="1" dirty="0">
                <a:solidFill>
                  <a:schemeClr val="tx1"/>
                </a:solidFill>
              </a:rPr>
              <a:t>连接。</a:t>
            </a:r>
            <a:endParaRPr lang="zh-CN" altLang="en-US" b="1" dirty="0">
              <a:solidFill>
                <a:schemeClr val="tx1"/>
              </a:solidFill>
            </a:endParaRPr>
          </a:p>
        </p:txBody>
      </p:sp>
      <p:sp>
        <p:nvSpPr>
          <p:cNvPr id="48" name="矩形 47"/>
          <p:cNvSpPr/>
          <p:nvPr/>
        </p:nvSpPr>
        <p:spPr>
          <a:xfrm>
            <a:off x="238293" y="3401647"/>
            <a:ext cx="4170867" cy="15342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a:t>
            </a:r>
            <a:r>
              <a:rPr lang="en-US" altLang="zh-CN" b="1" dirty="0"/>
              <a:t>C</a:t>
            </a:r>
            <a:r>
              <a:rPr lang="zh-CN" altLang="en-US" b="1" dirty="0"/>
              <a:t>伪造报文段的前提是需要获知</a:t>
            </a:r>
            <a:r>
              <a:rPr lang="en-US" altLang="zh-CN" b="1" dirty="0"/>
              <a:t>A</a:t>
            </a:r>
            <a:r>
              <a:rPr lang="zh-CN" altLang="en-US" b="1" dirty="0"/>
              <a:t>的</a:t>
            </a:r>
            <a:r>
              <a:rPr lang="en-US" altLang="zh-CN" b="1" dirty="0"/>
              <a:t>IP</a:t>
            </a:r>
            <a:r>
              <a:rPr lang="zh-CN" altLang="en-US" b="1" dirty="0"/>
              <a:t>地址、端口以及</a:t>
            </a:r>
            <a:r>
              <a:rPr lang="en-US" altLang="zh-CN" b="1" dirty="0"/>
              <a:t>A</a:t>
            </a:r>
            <a:r>
              <a:rPr lang="zh-CN" altLang="en-US" b="1" dirty="0"/>
              <a:t>和</a:t>
            </a:r>
            <a:r>
              <a:rPr lang="en-US" altLang="zh-CN" b="1" dirty="0"/>
              <a:t>B</a:t>
            </a:r>
            <a:r>
              <a:rPr lang="zh-CN" altLang="en-US" b="1" dirty="0"/>
              <a:t>的</a:t>
            </a:r>
            <a:r>
              <a:rPr lang="en-US" altLang="zh-CN" b="1" dirty="0"/>
              <a:t>TCP</a:t>
            </a:r>
            <a:r>
              <a:rPr lang="zh-CN" altLang="en-US" b="1" dirty="0"/>
              <a:t>序列号。</a:t>
            </a:r>
            <a:endParaRPr lang="zh-CN" altLang="en-US" b="1" dirty="0"/>
          </a:p>
          <a:p>
            <a:r>
              <a:rPr lang="zh-CN" altLang="en-US" b="1" dirty="0"/>
              <a:t>        位于同一内网：欺骗或嗅探</a:t>
            </a:r>
            <a:endParaRPr lang="zh-CN" altLang="en-US" b="1" dirty="0"/>
          </a:p>
          <a:p>
            <a:r>
              <a:rPr lang="zh-CN" altLang="en-US" b="1" dirty="0"/>
              <a:t>        处于不同网络：伪造大量的</a:t>
            </a:r>
            <a:r>
              <a:rPr lang="en-US" altLang="zh-CN" b="1" dirty="0"/>
              <a:t>RST</a:t>
            </a:r>
            <a:r>
              <a:rPr lang="zh-CN" altLang="en-US" b="1" dirty="0"/>
              <a:t>，随机猜测端口和序列号</a:t>
            </a:r>
            <a:endParaRPr lang="zh-CN" altLang="en-US" b="1" dirty="0"/>
          </a:p>
        </p:txBody>
      </p:sp>
      <p:sp>
        <p:nvSpPr>
          <p:cNvPr id="50" name="文本框 49"/>
          <p:cNvSpPr txBox="1"/>
          <p:nvPr/>
        </p:nvSpPr>
        <p:spPr>
          <a:xfrm>
            <a:off x="4506045" y="1277353"/>
            <a:ext cx="3601016" cy="461665"/>
          </a:xfrm>
          <a:prstGeom prst="rect">
            <a:avLst/>
          </a:prstGeom>
          <a:noFill/>
        </p:spPr>
        <p:txBody>
          <a:bodyPr wrap="square" rtlCol="0">
            <a:spAutoFit/>
          </a:bodyPr>
          <a:lstStyle/>
          <a:p>
            <a:pPr algn="ctr"/>
            <a:r>
              <a:rPr lang="en-US" altLang="zh-CN" sz="2400" b="1" dirty="0">
                <a:solidFill>
                  <a:schemeClr val="accent3">
                    <a:lumMod val="75000"/>
                  </a:schemeClr>
                </a:solidFill>
              </a:rPr>
              <a:t>TCP RST</a:t>
            </a:r>
            <a:r>
              <a:rPr lang="zh-CN" altLang="en-US" sz="2400" b="1" dirty="0">
                <a:solidFill>
                  <a:schemeClr val="accent3">
                    <a:lumMod val="75000"/>
                  </a:schemeClr>
                </a:solidFill>
              </a:rPr>
              <a:t>攻击</a:t>
            </a:r>
            <a:endParaRPr lang="zh-CN" altLang="en-US" sz="2400" b="1" dirty="0">
              <a:solidFill>
                <a:schemeClr val="accent3">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52"/>
                                        </p:tgtEl>
                                        <p:attrNameLst>
                                          <p:attrName>style.visibility</p:attrName>
                                        </p:attrNameLst>
                                      </p:cBhvr>
                                      <p:to>
                                        <p:strVal val="visible"/>
                                      </p:to>
                                    </p:set>
                                    <p:anim calcmode="lin" valueType="num">
                                      <p:cBhvr>
                                        <p:cTn id="14" dur="1000" fill="hold"/>
                                        <p:tgtEl>
                                          <p:spTgt spid="52"/>
                                        </p:tgtEl>
                                        <p:attrNameLst>
                                          <p:attrName>ppt_w</p:attrName>
                                        </p:attrNameLst>
                                      </p:cBhvr>
                                      <p:tavLst>
                                        <p:tav tm="0">
                                          <p:val>
                                            <p:fltVal val="0"/>
                                          </p:val>
                                        </p:tav>
                                        <p:tav tm="100000">
                                          <p:val>
                                            <p:strVal val="#ppt_w"/>
                                          </p:val>
                                        </p:tav>
                                      </p:tavLst>
                                    </p:anim>
                                    <p:anim calcmode="lin" valueType="num">
                                      <p:cBhvr>
                                        <p:cTn id="15" dur="1000" fill="hold"/>
                                        <p:tgtEl>
                                          <p:spTgt spid="52"/>
                                        </p:tgtEl>
                                        <p:attrNameLst>
                                          <p:attrName>ppt_h</p:attrName>
                                        </p:attrNameLst>
                                      </p:cBhvr>
                                      <p:tavLst>
                                        <p:tav tm="0">
                                          <p:val>
                                            <p:fltVal val="0"/>
                                          </p:val>
                                        </p:tav>
                                        <p:tav tm="100000">
                                          <p:val>
                                            <p:strVal val="#ppt_h"/>
                                          </p:val>
                                        </p:tav>
                                      </p:tavLst>
                                    </p:anim>
                                    <p:anim calcmode="lin" valueType="num">
                                      <p:cBhvr>
                                        <p:cTn id="16" dur="1000" fill="hold"/>
                                        <p:tgtEl>
                                          <p:spTgt spid="52"/>
                                        </p:tgtEl>
                                        <p:attrNameLst>
                                          <p:attrName>style.rotation</p:attrName>
                                        </p:attrNameLst>
                                      </p:cBhvr>
                                      <p:tavLst>
                                        <p:tav tm="0">
                                          <p:val>
                                            <p:fltVal val="90"/>
                                          </p:val>
                                        </p:tav>
                                        <p:tav tm="100000">
                                          <p:val>
                                            <p:fltVal val="0"/>
                                          </p:val>
                                        </p:tav>
                                      </p:tavLst>
                                    </p:anim>
                                    <p:animEffect transition="in" filter="fade">
                                      <p:cBhvr>
                                        <p:cTn id="17" dur="10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righ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54"/>
                                        </p:tgtEl>
                                        <p:attrNameLst>
                                          <p:attrName>style.visibility</p:attrName>
                                        </p:attrNameLst>
                                      </p:cBhvr>
                                      <p:to>
                                        <p:strVal val="visible"/>
                                      </p:to>
                                    </p:set>
                                    <p:anim calcmode="lin" valueType="num">
                                      <p:cBhvr additive="base">
                                        <p:cTn id="36" dur="500"/>
                                        <p:tgtEl>
                                          <p:spTgt spid="54"/>
                                        </p:tgtEl>
                                        <p:attrNameLst>
                                          <p:attrName>ppt_y</p:attrName>
                                        </p:attrNameLst>
                                      </p:cBhvr>
                                      <p:tavLst>
                                        <p:tav tm="0">
                                          <p:val>
                                            <p:strVal val="#ppt_y+#ppt_h*1.125000"/>
                                          </p:val>
                                        </p:tav>
                                        <p:tav tm="100000">
                                          <p:val>
                                            <p:strVal val="#ppt_y"/>
                                          </p:val>
                                        </p:tav>
                                      </p:tavLst>
                                    </p:anim>
                                    <p:animEffect transition="in" filter="wipe(up)">
                                      <p:cBhvr>
                                        <p:cTn id="37" dur="500"/>
                                        <p:tgtEl>
                                          <p:spTgt spid="54"/>
                                        </p:tgtEl>
                                      </p:cBhvr>
                                    </p:animEffect>
                                  </p:childTnLst>
                                </p:cTn>
                              </p:par>
                              <p:par>
                                <p:cTn id="38" presetID="12" presetClass="entr" presetSubtype="8"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 calcmode="lin" valueType="num">
                                      <p:cBhvr additive="base">
                                        <p:cTn id="40" dur="500"/>
                                        <p:tgtEl>
                                          <p:spTgt spid="48"/>
                                        </p:tgtEl>
                                        <p:attrNameLst>
                                          <p:attrName>ppt_x</p:attrName>
                                        </p:attrNameLst>
                                      </p:cBhvr>
                                      <p:tavLst>
                                        <p:tav tm="0">
                                          <p:val>
                                            <p:strVal val="#ppt_x-#ppt_w*1.125000"/>
                                          </p:val>
                                        </p:tav>
                                        <p:tav tm="100000">
                                          <p:val>
                                            <p:strVal val="#ppt_x"/>
                                          </p:val>
                                        </p:tav>
                                      </p:tavLst>
                                    </p:anim>
                                    <p:animEffect transition="in" filter="wipe(right)">
                                      <p:cBhvr>
                                        <p:cTn id="41" dur="500"/>
                                        <p:tgtEl>
                                          <p:spTgt spid="48"/>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2" fill="hold" grpId="0" nodeType="clickEffect">
                                  <p:stCondLst>
                                    <p:cond delay="0"/>
                                  </p:stCondLst>
                                  <p:childTnLst>
                                    <p:set>
                                      <p:cBhvr>
                                        <p:cTn id="45" dur="1" fill="hold">
                                          <p:stCondLst>
                                            <p:cond delay="0"/>
                                          </p:stCondLst>
                                        </p:cTn>
                                        <p:tgtEl>
                                          <p:spTgt spid="42"/>
                                        </p:tgtEl>
                                        <p:attrNameLst>
                                          <p:attrName>style.visibility</p:attrName>
                                        </p:attrNameLst>
                                      </p:cBhvr>
                                      <p:to>
                                        <p:strVal val="visible"/>
                                      </p:to>
                                    </p:set>
                                    <p:anim calcmode="lin" valueType="num">
                                      <p:cBhvr additive="base">
                                        <p:cTn id="46" dur="500"/>
                                        <p:tgtEl>
                                          <p:spTgt spid="42"/>
                                        </p:tgtEl>
                                        <p:attrNameLst>
                                          <p:attrName>ppt_x</p:attrName>
                                        </p:attrNameLst>
                                      </p:cBhvr>
                                      <p:tavLst>
                                        <p:tav tm="0">
                                          <p:val>
                                            <p:strVal val="#ppt_x+#ppt_w*1.125000"/>
                                          </p:val>
                                        </p:tav>
                                        <p:tav tm="100000">
                                          <p:val>
                                            <p:strVal val="#ppt_x"/>
                                          </p:val>
                                        </p:tav>
                                      </p:tavLst>
                                    </p:anim>
                                    <p:animEffect transition="in" filter="wipe(left)">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1000"/>
                                        <p:tgtEl>
                                          <p:spTgt spid="53"/>
                                        </p:tgtEl>
                                      </p:cBhvr>
                                    </p:animEffect>
                                    <p:anim calcmode="lin" valueType="num">
                                      <p:cBhvr>
                                        <p:cTn id="53" dur="1000" fill="hold"/>
                                        <p:tgtEl>
                                          <p:spTgt spid="53"/>
                                        </p:tgtEl>
                                        <p:attrNameLst>
                                          <p:attrName>ppt_x</p:attrName>
                                        </p:attrNameLst>
                                      </p:cBhvr>
                                      <p:tavLst>
                                        <p:tav tm="0">
                                          <p:val>
                                            <p:strVal val="#ppt_x"/>
                                          </p:val>
                                        </p:tav>
                                        <p:tav tm="100000">
                                          <p:val>
                                            <p:strVal val="#ppt_x"/>
                                          </p:val>
                                        </p:tav>
                                      </p:tavLst>
                                    </p:anim>
                                    <p:anim calcmode="lin" valueType="num">
                                      <p:cBhvr>
                                        <p:cTn id="54"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fade">
                                      <p:cBhvr>
                                        <p:cTn id="59" dur="500"/>
                                        <p:tgtEl>
                                          <p:spTgt spid="46"/>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2" fill="hold" grpId="0" nodeType="clickEffect">
                                  <p:stCondLst>
                                    <p:cond delay="0"/>
                                  </p:stCondLst>
                                  <p:childTnLst>
                                    <p:set>
                                      <p:cBhvr>
                                        <p:cTn id="63" dur="1" fill="hold">
                                          <p:stCondLst>
                                            <p:cond delay="0"/>
                                          </p:stCondLst>
                                        </p:cTn>
                                        <p:tgtEl>
                                          <p:spTgt spid="44"/>
                                        </p:tgtEl>
                                        <p:attrNameLst>
                                          <p:attrName>style.visibility</p:attrName>
                                        </p:attrNameLst>
                                      </p:cBhvr>
                                      <p:to>
                                        <p:strVal val="visible"/>
                                      </p:to>
                                    </p:set>
                                    <p:anim calcmode="lin" valueType="num">
                                      <p:cBhvr additive="base">
                                        <p:cTn id="64" dur="500"/>
                                        <p:tgtEl>
                                          <p:spTgt spid="44"/>
                                        </p:tgtEl>
                                        <p:attrNameLst>
                                          <p:attrName>ppt_x</p:attrName>
                                        </p:attrNameLst>
                                      </p:cBhvr>
                                      <p:tavLst>
                                        <p:tav tm="0">
                                          <p:val>
                                            <p:strVal val="#ppt_x+#ppt_w*1.125000"/>
                                          </p:val>
                                        </p:tav>
                                        <p:tav tm="100000">
                                          <p:val>
                                            <p:strVal val="#ppt_x"/>
                                          </p:val>
                                        </p:tav>
                                      </p:tavLst>
                                    </p:anim>
                                    <p:animEffect transition="in" filter="wipe(left)">
                                      <p:cBhvr>
                                        <p:cTn id="6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4" grpId="0"/>
      <p:bldP spid="46" grpId="0" bldLvl="0" animBg="1"/>
      <p:bldP spid="48" grpId="0" bldLvl="0" animBg="1"/>
      <p:bldP spid="5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直接箭头连接符 66"/>
          <p:cNvCxnSpPr/>
          <p:nvPr/>
        </p:nvCxnSpPr>
        <p:spPr>
          <a:xfrm flipV="1">
            <a:off x="6076238" y="3557086"/>
            <a:ext cx="2871676" cy="2521221"/>
          </a:xfrm>
          <a:prstGeom prst="straightConnector1">
            <a:avLst/>
          </a:prstGeom>
          <a:ln w="25400">
            <a:solidFill>
              <a:schemeClr val="accent4"/>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5109023" y="3602611"/>
            <a:ext cx="662814" cy="2287338"/>
            <a:chOff x="5401986" y="3258617"/>
            <a:chExt cx="662814" cy="2287338"/>
          </a:xfrm>
        </p:grpSpPr>
        <p:cxnSp>
          <p:nvCxnSpPr>
            <p:cNvPr id="23" name="直接箭头连接符 22"/>
            <p:cNvCxnSpPr/>
            <p:nvPr/>
          </p:nvCxnSpPr>
          <p:spPr>
            <a:xfrm flipH="1" flipV="1">
              <a:off x="6034150" y="3258617"/>
              <a:ext cx="30650" cy="2287338"/>
            </a:xfrm>
            <a:prstGeom prst="straightConnector1">
              <a:avLst/>
            </a:prstGeom>
            <a:ln w="25400">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5401986" y="4179725"/>
              <a:ext cx="662814" cy="369332"/>
            </a:xfrm>
            <a:prstGeom prst="rect">
              <a:avLst/>
            </a:prstGeom>
            <a:noFill/>
          </p:spPr>
          <p:txBody>
            <a:bodyPr wrap="square" rtlCol="0">
              <a:spAutoFit/>
            </a:bodyPr>
            <a:lstStyle/>
            <a:p>
              <a:r>
                <a:rPr lang="zh-CN" altLang="en-US" b="1" dirty="0"/>
                <a:t>监听</a:t>
              </a:r>
              <a:endParaRPr lang="zh-CN" altLang="en-US" b="1" dirty="0"/>
            </a:p>
          </p:txBody>
        </p:sp>
      </p:grpSp>
      <p:sp>
        <p:nvSpPr>
          <p:cNvPr id="2" name="标题 1"/>
          <p:cNvSpPr>
            <a:spLocks noGrp="1"/>
          </p:cNvSpPr>
          <p:nvPr>
            <p:ph type="title"/>
          </p:nvPr>
        </p:nvSpPr>
        <p:spPr>
          <a:xfrm>
            <a:off x="45720" y="270510"/>
            <a:ext cx="8226425"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 </a:t>
            </a:r>
            <a:r>
              <a:rPr lang="en-US" altLang="zh-CN" sz="4000" dirty="0">
                <a:latin typeface="+mj-ea"/>
                <a:sym typeface="+mn-ea"/>
              </a:rPr>
              <a:t>TCP</a:t>
            </a:r>
            <a:r>
              <a:rPr lang="zh-CN" altLang="en-US" sz="4000" dirty="0">
                <a:latin typeface="+mj-ea"/>
                <a:sym typeface="+mn-ea"/>
              </a:rPr>
              <a:t>会话劫持</a:t>
            </a:r>
            <a:endParaRPr lang="zh-CN" altLang="en-US" sz="4000" dirty="0">
              <a:latin typeface="+mj-ea"/>
              <a:sym typeface="+mn-ea"/>
            </a:endParaRPr>
          </a:p>
        </p:txBody>
      </p:sp>
      <p:grpSp>
        <p:nvGrpSpPr>
          <p:cNvPr id="4" name="组合 3"/>
          <p:cNvGrpSpPr/>
          <p:nvPr/>
        </p:nvGrpSpPr>
        <p:grpSpPr>
          <a:xfrm>
            <a:off x="2337650" y="1858776"/>
            <a:ext cx="7498167" cy="1156544"/>
            <a:chOff x="2630613" y="1514782"/>
            <a:chExt cx="7498167" cy="1156544"/>
          </a:xfrm>
        </p:grpSpPr>
        <p:pic>
          <p:nvPicPr>
            <p:cNvPr id="5" name="图形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97842" y="2015387"/>
              <a:ext cx="662814" cy="641082"/>
            </a:xfrm>
            <a:prstGeom prst="rect">
              <a:avLst/>
            </a:prstGeom>
          </p:spPr>
        </p:pic>
        <p:sp>
          <p:nvSpPr>
            <p:cNvPr id="6" name="文本框 5"/>
            <p:cNvSpPr txBox="1"/>
            <p:nvPr/>
          </p:nvSpPr>
          <p:spPr>
            <a:xfrm>
              <a:off x="2630613" y="1514782"/>
              <a:ext cx="1197272" cy="369332"/>
            </a:xfrm>
            <a:prstGeom prst="rect">
              <a:avLst/>
            </a:prstGeom>
            <a:noFill/>
          </p:spPr>
          <p:txBody>
            <a:bodyPr wrap="square" rtlCol="0">
              <a:spAutoFit/>
            </a:bodyPr>
            <a:lstStyle/>
            <a:p>
              <a:pPr algn="ctr"/>
              <a:r>
                <a:rPr lang="zh-CN" altLang="en-US" b="1" dirty="0"/>
                <a:t>客户端</a:t>
              </a:r>
              <a:r>
                <a:rPr lang="en-US" altLang="zh-CN" b="1" dirty="0"/>
                <a:t>A</a:t>
              </a:r>
              <a:endParaRPr lang="zh-CN" altLang="en-US" b="1" dirty="0"/>
            </a:p>
          </p:txBody>
        </p:sp>
        <p:sp>
          <p:nvSpPr>
            <p:cNvPr id="7" name="文本框 6"/>
            <p:cNvSpPr txBox="1"/>
            <p:nvPr/>
          </p:nvSpPr>
          <p:spPr>
            <a:xfrm>
              <a:off x="8711591" y="1565292"/>
              <a:ext cx="1417189" cy="369332"/>
            </a:xfrm>
            <a:prstGeom prst="rect">
              <a:avLst/>
            </a:prstGeom>
            <a:noFill/>
          </p:spPr>
          <p:txBody>
            <a:bodyPr wrap="square" rtlCol="0">
              <a:spAutoFit/>
            </a:bodyPr>
            <a:lstStyle/>
            <a:p>
              <a:pPr algn="ctr"/>
              <a:r>
                <a:rPr lang="zh-CN" altLang="en-US" b="1" dirty="0"/>
                <a:t>服务器</a:t>
              </a:r>
              <a:r>
                <a:rPr lang="en-US" altLang="zh-CN" b="1" dirty="0"/>
                <a:t>B</a:t>
              </a:r>
              <a:endParaRPr lang="zh-CN" altLang="en-US" b="1" dirty="0"/>
            </a:p>
          </p:txBody>
        </p:sp>
        <p:pic>
          <p:nvPicPr>
            <p:cNvPr id="8" name="图形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94807" y="2030247"/>
              <a:ext cx="488441" cy="641079"/>
            </a:xfrm>
            <a:prstGeom prst="rect">
              <a:avLst/>
            </a:prstGeom>
          </p:spPr>
        </p:pic>
      </p:grpSp>
      <p:grpSp>
        <p:nvGrpSpPr>
          <p:cNvPr id="72" name="组合 71"/>
          <p:cNvGrpSpPr/>
          <p:nvPr/>
        </p:nvGrpSpPr>
        <p:grpSpPr>
          <a:xfrm>
            <a:off x="3479786" y="2639706"/>
            <a:ext cx="5060247" cy="930068"/>
            <a:chOff x="3479786" y="2639706"/>
            <a:chExt cx="5060247" cy="930068"/>
          </a:xfrm>
        </p:grpSpPr>
        <p:grpSp>
          <p:nvGrpSpPr>
            <p:cNvPr id="51" name="组合 50"/>
            <p:cNvGrpSpPr/>
            <p:nvPr/>
          </p:nvGrpSpPr>
          <p:grpSpPr>
            <a:xfrm>
              <a:off x="3479786" y="2639706"/>
              <a:ext cx="5060247" cy="930068"/>
              <a:chOff x="2820896" y="3703678"/>
              <a:chExt cx="6673818" cy="930068"/>
            </a:xfrm>
          </p:grpSpPr>
          <p:sp>
            <p:nvSpPr>
              <p:cNvPr id="52" name="矩形 51"/>
              <p:cNvSpPr/>
              <p:nvPr/>
            </p:nvSpPr>
            <p:spPr>
              <a:xfrm>
                <a:off x="2820896" y="3703678"/>
                <a:ext cx="6673818" cy="930068"/>
              </a:xfrm>
              <a:prstGeom prst="rect">
                <a:avLst/>
              </a:prstGeom>
              <a:solidFill>
                <a:schemeClr val="bg2">
                  <a:lumMod val="9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5487780" y="3758753"/>
                <a:ext cx="1556154" cy="369332"/>
              </a:xfrm>
              <a:prstGeom prst="rect">
                <a:avLst/>
              </a:prstGeom>
              <a:noFill/>
            </p:spPr>
            <p:txBody>
              <a:bodyPr wrap="square" rtlCol="0">
                <a:spAutoFit/>
              </a:bodyPr>
              <a:lstStyle/>
              <a:p>
                <a:r>
                  <a:rPr lang="en-US" altLang="zh-CN" b="1" dirty="0">
                    <a:solidFill>
                      <a:srgbClr val="FF0000"/>
                    </a:solidFill>
                  </a:rPr>
                  <a:t>TCP</a:t>
                </a:r>
                <a:r>
                  <a:rPr lang="zh-CN" altLang="en-US" b="1" dirty="0">
                    <a:solidFill>
                      <a:srgbClr val="FF0000"/>
                    </a:solidFill>
                  </a:rPr>
                  <a:t>会话</a:t>
                </a:r>
                <a:endParaRPr lang="zh-CN" altLang="en-US" b="1" dirty="0">
                  <a:solidFill>
                    <a:srgbClr val="FF0000"/>
                  </a:solidFill>
                </a:endParaRPr>
              </a:p>
            </p:txBody>
          </p:sp>
        </p:grpSp>
        <p:grpSp>
          <p:nvGrpSpPr>
            <p:cNvPr id="71" name="组合 70"/>
            <p:cNvGrpSpPr/>
            <p:nvPr/>
          </p:nvGrpSpPr>
          <p:grpSpPr>
            <a:xfrm>
              <a:off x="3648317" y="3114914"/>
              <a:ext cx="4729764" cy="286763"/>
              <a:chOff x="3648317" y="3114914"/>
              <a:chExt cx="4729764" cy="286763"/>
            </a:xfrm>
          </p:grpSpPr>
          <p:cxnSp>
            <p:nvCxnSpPr>
              <p:cNvPr id="10" name="直接箭头连接符 9"/>
              <p:cNvCxnSpPr/>
              <p:nvPr/>
            </p:nvCxnSpPr>
            <p:spPr>
              <a:xfrm>
                <a:off x="3648318" y="3114914"/>
                <a:ext cx="47297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3648317" y="3401677"/>
                <a:ext cx="47297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25" name="文本框 24"/>
          <p:cNvSpPr txBox="1"/>
          <p:nvPr/>
        </p:nvSpPr>
        <p:spPr>
          <a:xfrm>
            <a:off x="7560467" y="5123371"/>
            <a:ext cx="4237956" cy="1476375"/>
          </a:xfrm>
          <a:prstGeom prst="rect">
            <a:avLst/>
          </a:prstGeom>
          <a:noFill/>
        </p:spPr>
        <p:txBody>
          <a:bodyPr wrap="square" rtlCol="0">
            <a:spAutoFit/>
          </a:bodyPr>
          <a:lstStyle/>
          <a:p>
            <a:r>
              <a:rPr lang="zh-CN" altLang="en-US" b="1" dirty="0">
                <a:solidFill>
                  <a:schemeClr val="accent5"/>
                </a:solidFill>
              </a:rPr>
              <a:t>攻击者基于从客户端截获的</a:t>
            </a:r>
            <a:r>
              <a:rPr lang="en-US" altLang="zh-CN" b="1" dirty="0">
                <a:solidFill>
                  <a:schemeClr val="accent5"/>
                </a:solidFill>
              </a:rPr>
              <a:t>TCP</a:t>
            </a:r>
            <a:r>
              <a:rPr lang="zh-CN" altLang="en-US" b="1" dirty="0">
                <a:solidFill>
                  <a:schemeClr val="accent5"/>
                </a:solidFill>
              </a:rPr>
              <a:t>报文，攻击者可以伪造</a:t>
            </a:r>
            <a:r>
              <a:rPr lang="en-US" altLang="zh-CN" b="1" dirty="0">
                <a:solidFill>
                  <a:schemeClr val="accent5"/>
                </a:solidFill>
              </a:rPr>
              <a:t>TCP</a:t>
            </a:r>
            <a:r>
              <a:rPr lang="zh-CN" altLang="en-US" b="1" dirty="0">
                <a:solidFill>
                  <a:schemeClr val="accent5"/>
                </a:solidFill>
              </a:rPr>
              <a:t>报文，并发送给服务器，若服务器先一步收到伪造报文，并且序列号在接收窗口内，则服务器会将</a:t>
            </a:r>
            <a:r>
              <a:rPr lang="en-US" altLang="zh-CN" b="1" dirty="0">
                <a:solidFill>
                  <a:schemeClr val="accent5"/>
                </a:solidFill>
              </a:rPr>
              <a:t>TCP</a:t>
            </a:r>
            <a:r>
              <a:rPr lang="zh-CN" altLang="en-US" b="1" dirty="0">
                <a:solidFill>
                  <a:schemeClr val="accent5"/>
                </a:solidFill>
              </a:rPr>
              <a:t>会话连接至攻击者主机。</a:t>
            </a:r>
            <a:endParaRPr lang="zh-CN" altLang="en-US" b="1" dirty="0">
              <a:solidFill>
                <a:schemeClr val="accent5"/>
              </a:solidFill>
            </a:endParaRPr>
          </a:p>
        </p:txBody>
      </p:sp>
      <p:sp>
        <p:nvSpPr>
          <p:cNvPr id="26" name="对话气泡: 矩形 25"/>
          <p:cNvSpPr/>
          <p:nvPr/>
        </p:nvSpPr>
        <p:spPr>
          <a:xfrm>
            <a:off x="8520718" y="4461146"/>
            <a:ext cx="1179913" cy="484365"/>
          </a:xfrm>
          <a:prstGeom prst="wedgeRectCallout">
            <a:avLst>
              <a:gd name="adj1" fmla="val -95709"/>
              <a:gd name="adj2" fmla="val -6044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rPr>
              <a:t>认证成功。</a:t>
            </a:r>
            <a:endParaRPr lang="zh-CN" altLang="en-US" b="1" dirty="0">
              <a:solidFill>
                <a:schemeClr val="tx1"/>
              </a:solidFill>
            </a:endParaRPr>
          </a:p>
        </p:txBody>
      </p:sp>
      <p:sp>
        <p:nvSpPr>
          <p:cNvPr id="27" name="文本框 26"/>
          <p:cNvSpPr txBox="1"/>
          <p:nvPr/>
        </p:nvSpPr>
        <p:spPr>
          <a:xfrm>
            <a:off x="4213082" y="1621347"/>
            <a:ext cx="3601016" cy="461665"/>
          </a:xfrm>
          <a:prstGeom prst="rect">
            <a:avLst/>
          </a:prstGeom>
          <a:noFill/>
        </p:spPr>
        <p:txBody>
          <a:bodyPr wrap="square" rtlCol="0">
            <a:spAutoFit/>
          </a:bodyPr>
          <a:lstStyle/>
          <a:p>
            <a:pPr algn="ctr"/>
            <a:r>
              <a:rPr lang="en-US" altLang="zh-CN" sz="2400" b="1" dirty="0">
                <a:solidFill>
                  <a:schemeClr val="accent3">
                    <a:lumMod val="75000"/>
                  </a:schemeClr>
                </a:solidFill>
              </a:rPr>
              <a:t>TCP</a:t>
            </a:r>
            <a:r>
              <a:rPr lang="zh-CN" altLang="en-US" sz="2400" b="1" dirty="0">
                <a:solidFill>
                  <a:schemeClr val="accent3">
                    <a:lumMod val="75000"/>
                  </a:schemeClr>
                </a:solidFill>
              </a:rPr>
              <a:t>会话劫持攻击</a:t>
            </a:r>
            <a:endParaRPr lang="zh-CN" altLang="en-US" sz="2400" b="1" dirty="0">
              <a:solidFill>
                <a:schemeClr val="accent3">
                  <a:lumMod val="75000"/>
                </a:schemeClr>
              </a:solidFill>
            </a:endParaRPr>
          </a:p>
        </p:txBody>
      </p:sp>
      <p:grpSp>
        <p:nvGrpSpPr>
          <p:cNvPr id="75" name="组合 74"/>
          <p:cNvGrpSpPr/>
          <p:nvPr/>
        </p:nvGrpSpPr>
        <p:grpSpPr>
          <a:xfrm>
            <a:off x="3014507" y="3490387"/>
            <a:ext cx="5661755" cy="2594750"/>
            <a:chOff x="3014507" y="3490387"/>
            <a:chExt cx="5661755" cy="2594750"/>
          </a:xfrm>
        </p:grpSpPr>
        <p:grpSp>
          <p:nvGrpSpPr>
            <p:cNvPr id="73" name="组合 72"/>
            <p:cNvGrpSpPr/>
            <p:nvPr/>
          </p:nvGrpSpPr>
          <p:grpSpPr>
            <a:xfrm>
              <a:off x="5522531" y="3563916"/>
              <a:ext cx="3153731" cy="2521221"/>
              <a:chOff x="5522531" y="3563916"/>
              <a:chExt cx="3153731" cy="2521221"/>
            </a:xfrm>
          </p:grpSpPr>
          <p:cxnSp>
            <p:nvCxnSpPr>
              <p:cNvPr id="17" name="直接箭头连接符 16"/>
              <p:cNvCxnSpPr/>
              <p:nvPr/>
            </p:nvCxnSpPr>
            <p:spPr>
              <a:xfrm flipV="1">
                <a:off x="5790104" y="3563916"/>
                <a:ext cx="2871676" cy="25212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rot="19122633">
                <a:off x="5522531" y="4486017"/>
                <a:ext cx="3153731" cy="369332"/>
              </a:xfrm>
              <a:prstGeom prst="rect">
                <a:avLst/>
              </a:prstGeom>
              <a:noFill/>
            </p:spPr>
            <p:txBody>
              <a:bodyPr wrap="square" rtlCol="0">
                <a:spAutoFit/>
              </a:bodyPr>
              <a:lstStyle/>
              <a:p>
                <a:pPr algn="ctr"/>
                <a:r>
                  <a:rPr lang="zh-CN" altLang="en-US" b="1" dirty="0"/>
                  <a:t>假冒客户端</a:t>
                </a:r>
                <a:r>
                  <a:rPr lang="en-US" altLang="zh-CN" b="1" dirty="0"/>
                  <a:t>A</a:t>
                </a:r>
                <a:r>
                  <a:rPr lang="zh-CN" altLang="en-US" b="1" dirty="0"/>
                  <a:t>发送数据包</a:t>
                </a:r>
                <a:endParaRPr lang="en-US" altLang="zh-CN" b="1" dirty="0"/>
              </a:p>
            </p:txBody>
          </p:sp>
        </p:grpSp>
        <p:grpSp>
          <p:nvGrpSpPr>
            <p:cNvPr id="74" name="组合 73"/>
            <p:cNvGrpSpPr/>
            <p:nvPr/>
          </p:nvGrpSpPr>
          <p:grpSpPr>
            <a:xfrm>
              <a:off x="3014507" y="3490387"/>
              <a:ext cx="3153731" cy="2510147"/>
              <a:chOff x="3014507" y="3490387"/>
              <a:chExt cx="3153731" cy="2510147"/>
            </a:xfrm>
          </p:grpSpPr>
          <p:cxnSp>
            <p:nvCxnSpPr>
              <p:cNvPr id="57" name="直接箭头连接符 56"/>
              <p:cNvCxnSpPr/>
              <p:nvPr/>
            </p:nvCxnSpPr>
            <p:spPr>
              <a:xfrm flipH="1" flipV="1">
                <a:off x="3172835" y="3490387"/>
                <a:ext cx="2568352" cy="251014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rot="2667517">
                <a:off x="3014507" y="4480569"/>
                <a:ext cx="3153731" cy="369332"/>
              </a:xfrm>
              <a:prstGeom prst="rect">
                <a:avLst/>
              </a:prstGeom>
              <a:noFill/>
            </p:spPr>
            <p:txBody>
              <a:bodyPr wrap="square" rtlCol="0">
                <a:spAutoFit/>
              </a:bodyPr>
              <a:lstStyle/>
              <a:p>
                <a:pPr algn="ctr"/>
                <a:r>
                  <a:rPr lang="zh-CN" altLang="en-US" b="1" dirty="0"/>
                  <a:t>获取与客户端</a:t>
                </a:r>
                <a:r>
                  <a:rPr lang="en-US" altLang="zh-CN" b="1" dirty="0"/>
                  <a:t>A</a:t>
                </a:r>
                <a:r>
                  <a:rPr lang="zh-CN" altLang="en-US" b="1" dirty="0"/>
                  <a:t>的连接</a:t>
                </a:r>
                <a:endParaRPr lang="en-US" altLang="zh-CN" b="1" dirty="0"/>
              </a:p>
            </p:txBody>
          </p:sp>
        </p:grpSp>
      </p:grpSp>
      <p:sp>
        <p:nvSpPr>
          <p:cNvPr id="65" name="文本框 64"/>
          <p:cNvSpPr txBox="1"/>
          <p:nvPr/>
        </p:nvSpPr>
        <p:spPr>
          <a:xfrm>
            <a:off x="3165115" y="5896140"/>
            <a:ext cx="2028593" cy="646331"/>
          </a:xfrm>
          <a:prstGeom prst="rect">
            <a:avLst/>
          </a:prstGeom>
          <a:noFill/>
        </p:spPr>
        <p:txBody>
          <a:bodyPr wrap="square" rtlCol="0">
            <a:spAutoFit/>
          </a:bodyPr>
          <a:lstStyle/>
          <a:p>
            <a:pPr algn="ctr"/>
            <a:r>
              <a:rPr lang="zh-CN" altLang="en-US" b="1" dirty="0"/>
              <a:t>发送的数据经由第三方攻击者</a:t>
            </a:r>
            <a:endParaRPr lang="en-US" altLang="zh-CN" b="1" dirty="0"/>
          </a:p>
        </p:txBody>
      </p:sp>
      <p:sp>
        <p:nvSpPr>
          <p:cNvPr id="69" name="矩形 68"/>
          <p:cNvSpPr/>
          <p:nvPr/>
        </p:nvSpPr>
        <p:spPr>
          <a:xfrm>
            <a:off x="228802" y="4157407"/>
            <a:ext cx="3419515" cy="15762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攻击者凭借从服务器获得的</a:t>
            </a:r>
            <a:r>
              <a:rPr lang="en-US" altLang="zh-CN" b="1" dirty="0"/>
              <a:t>TCP</a:t>
            </a:r>
            <a:r>
              <a:rPr lang="zh-CN" altLang="en-US" b="1" dirty="0"/>
              <a:t>连接信息，与被攻击客户端主机建立</a:t>
            </a:r>
            <a:r>
              <a:rPr lang="en-US" altLang="zh-CN" b="1" dirty="0"/>
              <a:t>TCP</a:t>
            </a:r>
            <a:r>
              <a:rPr lang="zh-CN" altLang="en-US" b="1" dirty="0"/>
              <a:t>连接，从而完成客户端与服务器之间的会话劫持，且通信双方对此毫无察觉。</a:t>
            </a:r>
            <a:endParaRPr lang="zh-CN" altLang="en-US" b="1" dirty="0"/>
          </a:p>
        </p:txBody>
      </p:sp>
      <p:grpSp>
        <p:nvGrpSpPr>
          <p:cNvPr id="19" name="组合 18"/>
          <p:cNvGrpSpPr/>
          <p:nvPr/>
        </p:nvGrpSpPr>
        <p:grpSpPr>
          <a:xfrm>
            <a:off x="5351589" y="5764596"/>
            <a:ext cx="1860086" cy="641082"/>
            <a:chOff x="5842969" y="5336000"/>
            <a:chExt cx="1860086" cy="641082"/>
          </a:xfrm>
        </p:grpSpPr>
        <p:pic>
          <p:nvPicPr>
            <p:cNvPr id="20" name="图形 1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42969" y="5336000"/>
              <a:ext cx="662814" cy="641082"/>
            </a:xfrm>
            <a:prstGeom prst="rect">
              <a:avLst/>
            </a:prstGeom>
          </p:spPr>
        </p:pic>
        <p:sp>
          <p:nvSpPr>
            <p:cNvPr id="21" name="文本框 20"/>
            <p:cNvSpPr txBox="1"/>
            <p:nvPr/>
          </p:nvSpPr>
          <p:spPr>
            <a:xfrm>
              <a:off x="6505783" y="5471875"/>
              <a:ext cx="1197272" cy="369332"/>
            </a:xfrm>
            <a:prstGeom prst="rect">
              <a:avLst/>
            </a:prstGeom>
            <a:noFill/>
          </p:spPr>
          <p:txBody>
            <a:bodyPr wrap="square" rtlCol="0">
              <a:spAutoFit/>
            </a:bodyPr>
            <a:lstStyle/>
            <a:p>
              <a:pPr algn="ctr"/>
              <a:r>
                <a:rPr lang="zh-CN" altLang="en-US" b="1" dirty="0"/>
                <a:t>攻击者</a:t>
              </a:r>
              <a:r>
                <a:rPr lang="en-US" altLang="zh-CN" b="1" dirty="0"/>
                <a:t>C</a:t>
              </a:r>
              <a:endParaRPr lang="zh-CN" altLang="en-US" b="1" dirty="0"/>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fltVal val="0"/>
                                          </p:val>
                                        </p:tav>
                                        <p:tav tm="100000">
                                          <p:val>
                                            <p:strVal val="#ppt_w"/>
                                          </p:val>
                                        </p:tav>
                                      </p:tavLst>
                                    </p:anim>
                                    <p:anim calcmode="lin" valueType="num">
                                      <p:cBhvr>
                                        <p:cTn id="15" dur="1000" fill="hold"/>
                                        <p:tgtEl>
                                          <p:spTgt spid="4"/>
                                        </p:tgtEl>
                                        <p:attrNameLst>
                                          <p:attrName>ppt_h</p:attrName>
                                        </p:attrNameLst>
                                      </p:cBhvr>
                                      <p:tavLst>
                                        <p:tav tm="0">
                                          <p:val>
                                            <p:fltVal val="0"/>
                                          </p:val>
                                        </p:tav>
                                        <p:tav tm="100000">
                                          <p:val>
                                            <p:strVal val="#ppt_h"/>
                                          </p:val>
                                        </p:tav>
                                      </p:tavLst>
                                    </p:anim>
                                    <p:anim calcmode="lin" valueType="num">
                                      <p:cBhvr>
                                        <p:cTn id="16" dur="1000" fill="hold"/>
                                        <p:tgtEl>
                                          <p:spTgt spid="4"/>
                                        </p:tgtEl>
                                        <p:attrNameLst>
                                          <p:attrName>style.rotation</p:attrName>
                                        </p:attrNameLst>
                                      </p:cBhvr>
                                      <p:tavLst>
                                        <p:tav tm="0">
                                          <p:val>
                                            <p:fltVal val="90"/>
                                          </p:val>
                                        </p:tav>
                                        <p:tav tm="100000">
                                          <p:val>
                                            <p:fltVal val="0"/>
                                          </p:val>
                                        </p:tav>
                                      </p:tavLst>
                                    </p:anim>
                                    <p:animEffect transition="in" filter="fade">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nodeType="clickEffect">
                                  <p:stCondLst>
                                    <p:cond delay="0"/>
                                  </p:stCondLst>
                                  <p:childTnLst>
                                    <p:set>
                                      <p:cBhvr>
                                        <p:cTn id="21" dur="1" fill="hold">
                                          <p:stCondLst>
                                            <p:cond delay="0"/>
                                          </p:stCondLst>
                                        </p:cTn>
                                        <p:tgtEl>
                                          <p:spTgt spid="72"/>
                                        </p:tgtEl>
                                        <p:attrNameLst>
                                          <p:attrName>style.visibility</p:attrName>
                                        </p:attrNameLst>
                                      </p:cBhvr>
                                      <p:to>
                                        <p:strVal val="visible"/>
                                      </p:to>
                                    </p:set>
                                    <p:anim calcmode="lin" valueType="num">
                                      <p:cBhvr additive="base">
                                        <p:cTn id="22" dur="500"/>
                                        <p:tgtEl>
                                          <p:spTgt spid="72"/>
                                        </p:tgtEl>
                                        <p:attrNameLst>
                                          <p:attrName>ppt_y</p:attrName>
                                        </p:attrNameLst>
                                      </p:cBhvr>
                                      <p:tavLst>
                                        <p:tav tm="0">
                                          <p:val>
                                            <p:strVal val="#ppt_y-#ppt_h*1.125000"/>
                                          </p:val>
                                        </p:tav>
                                        <p:tav tm="100000">
                                          <p:val>
                                            <p:strVal val="#ppt_y"/>
                                          </p:val>
                                        </p:tav>
                                      </p:tavLst>
                                    </p:anim>
                                    <p:animEffect transition="in" filter="wipe(down)">
                                      <p:cBhvr>
                                        <p:cTn id="23" dur="500"/>
                                        <p:tgtEl>
                                          <p:spTgt spid="7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additive="base">
                                        <p:cTn id="32" dur="500"/>
                                        <p:tgtEl>
                                          <p:spTgt spid="22"/>
                                        </p:tgtEl>
                                        <p:attrNameLst>
                                          <p:attrName>ppt_y</p:attrName>
                                        </p:attrNameLst>
                                      </p:cBhvr>
                                      <p:tavLst>
                                        <p:tav tm="0">
                                          <p:val>
                                            <p:strVal val="#ppt_y+#ppt_h*1.125000"/>
                                          </p:val>
                                        </p:tav>
                                        <p:tav tm="100000">
                                          <p:val>
                                            <p:strVal val="#ppt_y"/>
                                          </p:val>
                                        </p:tav>
                                      </p:tavLst>
                                    </p:anim>
                                    <p:animEffect transition="in" filter="wipe(up)">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nodeType="clickEffect">
                                  <p:stCondLst>
                                    <p:cond delay="0"/>
                                  </p:stCondLst>
                                  <p:childTnLst>
                                    <p:set>
                                      <p:cBhvr>
                                        <p:cTn id="37" dur="1" fill="hold">
                                          <p:stCondLst>
                                            <p:cond delay="0"/>
                                          </p:stCondLst>
                                        </p:cTn>
                                        <p:tgtEl>
                                          <p:spTgt spid="75"/>
                                        </p:tgtEl>
                                        <p:attrNameLst>
                                          <p:attrName>style.visibility</p:attrName>
                                        </p:attrNameLst>
                                      </p:cBhvr>
                                      <p:to>
                                        <p:strVal val="visible"/>
                                      </p:to>
                                    </p:set>
                                    <p:anim calcmode="lin" valueType="num">
                                      <p:cBhvr additive="base">
                                        <p:cTn id="38" dur="500"/>
                                        <p:tgtEl>
                                          <p:spTgt spid="75"/>
                                        </p:tgtEl>
                                        <p:attrNameLst>
                                          <p:attrName>ppt_y</p:attrName>
                                        </p:attrNameLst>
                                      </p:cBhvr>
                                      <p:tavLst>
                                        <p:tav tm="0">
                                          <p:val>
                                            <p:strVal val="#ppt_y+#ppt_h*1.125000"/>
                                          </p:val>
                                        </p:tav>
                                        <p:tav tm="100000">
                                          <p:val>
                                            <p:strVal val="#ppt_y"/>
                                          </p:val>
                                        </p:tav>
                                      </p:tavLst>
                                    </p:anim>
                                    <p:animEffect transition="in" filter="wipe(up)">
                                      <p:cBhvr>
                                        <p:cTn id="39" dur="500"/>
                                        <p:tgtEl>
                                          <p:spTgt spid="75"/>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2"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additive="base">
                                        <p:cTn id="44" dur="500"/>
                                        <p:tgtEl>
                                          <p:spTgt spid="25"/>
                                        </p:tgtEl>
                                        <p:attrNameLst>
                                          <p:attrName>ppt_x</p:attrName>
                                        </p:attrNameLst>
                                      </p:cBhvr>
                                      <p:tavLst>
                                        <p:tav tm="0">
                                          <p:val>
                                            <p:strVal val="#ppt_x+#ppt_w*1.125000"/>
                                          </p:val>
                                        </p:tav>
                                        <p:tav tm="100000">
                                          <p:val>
                                            <p:strVal val="#ppt_x"/>
                                          </p:val>
                                        </p:tav>
                                      </p:tavLst>
                                    </p:anim>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2" fill="hold" nodeType="clickEffect">
                                  <p:stCondLst>
                                    <p:cond delay="0"/>
                                  </p:stCondLst>
                                  <p:childTnLst>
                                    <p:set>
                                      <p:cBhvr>
                                        <p:cTn id="49" dur="1" fill="hold">
                                          <p:stCondLst>
                                            <p:cond delay="0"/>
                                          </p:stCondLst>
                                        </p:cTn>
                                        <p:tgtEl>
                                          <p:spTgt spid="67"/>
                                        </p:tgtEl>
                                        <p:attrNameLst>
                                          <p:attrName>style.visibility</p:attrName>
                                        </p:attrNameLst>
                                      </p:cBhvr>
                                      <p:to>
                                        <p:strVal val="visible"/>
                                      </p:to>
                                    </p:set>
                                    <p:anim calcmode="lin" valueType="num">
                                      <p:cBhvr additive="base">
                                        <p:cTn id="50" dur="500"/>
                                        <p:tgtEl>
                                          <p:spTgt spid="67"/>
                                        </p:tgtEl>
                                        <p:attrNameLst>
                                          <p:attrName>ppt_x</p:attrName>
                                        </p:attrNameLst>
                                      </p:cBhvr>
                                      <p:tavLst>
                                        <p:tav tm="0">
                                          <p:val>
                                            <p:strVal val="#ppt_x+#ppt_w*1.125000"/>
                                          </p:val>
                                        </p:tav>
                                        <p:tav tm="100000">
                                          <p:val>
                                            <p:strVal val="#ppt_x"/>
                                          </p:val>
                                        </p:tav>
                                      </p:tavLst>
                                    </p:anim>
                                    <p:animEffect transition="in" filter="wipe(left)">
                                      <p:cBhvr>
                                        <p:cTn id="51" dur="500"/>
                                        <p:tgtEl>
                                          <p:spTgt spid="6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2" presetClass="entr" presetSubtype="8" fill="hold" grpId="0" nodeType="withEffect">
                                  <p:stCondLst>
                                    <p:cond delay="0"/>
                                  </p:stCondLst>
                                  <p:childTnLst>
                                    <p:set>
                                      <p:cBhvr>
                                        <p:cTn id="58" dur="1" fill="hold">
                                          <p:stCondLst>
                                            <p:cond delay="0"/>
                                          </p:stCondLst>
                                        </p:cTn>
                                        <p:tgtEl>
                                          <p:spTgt spid="69"/>
                                        </p:tgtEl>
                                        <p:attrNameLst>
                                          <p:attrName>style.visibility</p:attrName>
                                        </p:attrNameLst>
                                      </p:cBhvr>
                                      <p:to>
                                        <p:strVal val="visible"/>
                                      </p:to>
                                    </p:set>
                                    <p:anim calcmode="lin" valueType="num">
                                      <p:cBhvr additive="base">
                                        <p:cTn id="59" dur="500"/>
                                        <p:tgtEl>
                                          <p:spTgt spid="69"/>
                                        </p:tgtEl>
                                        <p:attrNameLst>
                                          <p:attrName>ppt_x</p:attrName>
                                        </p:attrNameLst>
                                      </p:cBhvr>
                                      <p:tavLst>
                                        <p:tav tm="0">
                                          <p:val>
                                            <p:strVal val="#ppt_x-#ppt_w*1.125000"/>
                                          </p:val>
                                        </p:tav>
                                        <p:tav tm="100000">
                                          <p:val>
                                            <p:strVal val="#ppt_x"/>
                                          </p:val>
                                        </p:tav>
                                      </p:tavLst>
                                    </p:anim>
                                    <p:animEffect transition="in" filter="wipe(right)">
                                      <p:cBhvr>
                                        <p:cTn id="60" dur="500"/>
                                        <p:tgtEl>
                                          <p:spTgt spid="69"/>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bldLvl="0" animBg="1"/>
      <p:bldP spid="27" grpId="0"/>
      <p:bldP spid="65" grpId="0"/>
      <p:bldP spid="69"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8226425"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 </a:t>
            </a:r>
            <a:r>
              <a:rPr lang="en-US" altLang="zh-CN" sz="4000" dirty="0">
                <a:latin typeface="+mj-ea"/>
                <a:sym typeface="+mn-ea"/>
              </a:rPr>
              <a:t>UDP</a:t>
            </a:r>
            <a:endParaRPr lang="zh-CN" altLang="en-US" sz="4000" dirty="0">
              <a:latin typeface="+mj-ea"/>
              <a:sym typeface="+mn-ea"/>
            </a:endParaRPr>
          </a:p>
        </p:txBody>
      </p:sp>
      <p:sp>
        <p:nvSpPr>
          <p:cNvPr id="11" name="文本框 10"/>
          <p:cNvSpPr txBox="1"/>
          <p:nvPr/>
        </p:nvSpPr>
        <p:spPr>
          <a:xfrm>
            <a:off x="417195" y="1268095"/>
            <a:ext cx="11531600" cy="5319395"/>
          </a:xfrm>
          <a:prstGeom prst="rect">
            <a:avLst/>
          </a:prstGeom>
          <a:noFill/>
        </p:spPr>
        <p:txBody>
          <a:bodyPr wrap="square" rtlCol="0">
            <a:noAutofit/>
          </a:bodyPr>
          <a:lstStyle/>
          <a:p>
            <a:pPr marL="342900" indent="-342900" algn="l" latinLnBrk="0">
              <a:lnSpc>
                <a:spcPct val="150000"/>
              </a:lnSpc>
              <a:spcBef>
                <a:spcPts val="0"/>
              </a:spcBef>
              <a:buClr>
                <a:srgbClr val="DF4F21"/>
              </a:buClr>
              <a:buSzTx/>
              <a:buFont typeface="Wingdings" panose="05000000000000000000" charset="0"/>
              <a:buChar char="p"/>
            </a:pP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是一种无连接的、简单的传输层协议。</a:t>
            </a:r>
            <a:endPar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7245" indent="-457200" algn="l" fontAlgn="auto">
              <a:lnSpc>
                <a:spcPct val="150000"/>
              </a:lnSpc>
              <a:spcBef>
                <a:spcPts val="0"/>
              </a:spcBef>
              <a:buClr>
                <a:srgbClr val="DF4F21"/>
              </a:buClr>
              <a:buSzTx/>
              <a:buFont typeface="Wingdings" panose="05000000000000000000" pitchFamily="2" charset="2"/>
              <a:buChar char="Ø"/>
            </a:pP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无连接。在发送数据前不需要建立连接，只需要知道对方地址信息，就可以直接发送数据。</a:t>
            </a:r>
            <a:endPar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7245" indent="-457200" algn="l" fontAlgn="auto">
              <a:lnSpc>
                <a:spcPct val="150000"/>
              </a:lnSpc>
              <a:spcBef>
                <a:spcPts val="0"/>
              </a:spcBef>
              <a:buClr>
                <a:srgbClr val="DF4F21"/>
              </a:buClr>
              <a:buSzTx/>
              <a:buFont typeface="Wingdings" panose="05000000000000000000" pitchFamily="2" charset="2"/>
              <a:buChar char="Ø"/>
            </a:pP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不可靠。</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使用尽最大努力交付，即不保证可靠交付。因为没有确认机制和重传机制。</a:t>
            </a:r>
            <a:endPar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7245" indent="-457200" algn="l" fontAlgn="auto">
              <a:lnSpc>
                <a:spcPct val="150000"/>
              </a:lnSpc>
              <a:spcBef>
                <a:spcPts val="0"/>
              </a:spcBef>
              <a:buClr>
                <a:srgbClr val="DF4F21"/>
              </a:buClr>
              <a:buSzTx/>
              <a:buFont typeface="Wingdings" panose="05000000000000000000" pitchFamily="2" charset="2"/>
              <a:buChar char="Ø"/>
            </a:pP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面向报文的。应用层给</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多长的报文，</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就照样发送，即一次发一个完整报文。</a:t>
            </a:r>
            <a:endPar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latinLnBrk="0">
              <a:lnSpc>
                <a:spcPct val="150000"/>
              </a:lnSpc>
              <a:spcBef>
                <a:spcPts val="0"/>
              </a:spcBef>
              <a:buClr>
                <a:srgbClr val="DF4F21"/>
              </a:buClr>
              <a:buSzTx/>
              <a:buFont typeface="Wingdings" panose="05000000000000000000" charset="0"/>
              <a:buChar char="p"/>
            </a:pPr>
            <a:endPar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8226425"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a:t>
            </a:r>
            <a:r>
              <a:rPr lang="en-US" altLang="zh-CN" sz="4000" dirty="0">
                <a:latin typeface="+mj-ea"/>
                <a:sym typeface="+mn-ea"/>
              </a:rPr>
              <a:t>1</a:t>
            </a:r>
            <a:r>
              <a:rPr lang="zh-CN" altLang="en-US" sz="4000" dirty="0">
                <a:latin typeface="+mj-ea"/>
                <a:sym typeface="+mn-ea"/>
              </a:rPr>
              <a:t> </a:t>
            </a:r>
            <a:r>
              <a:rPr lang="en-US" altLang="zh-CN" sz="4000" dirty="0">
                <a:latin typeface="+mj-ea"/>
                <a:sym typeface="+mn-ea"/>
              </a:rPr>
              <a:t>UDP</a:t>
            </a:r>
            <a:r>
              <a:rPr lang="zh-CN" altLang="en-US" sz="4000" dirty="0">
                <a:latin typeface="+mj-ea"/>
                <a:sym typeface="+mn-ea"/>
              </a:rPr>
              <a:t>报文</a:t>
            </a:r>
            <a:endParaRPr lang="zh-CN" altLang="en-US" sz="4000" dirty="0">
              <a:latin typeface="+mj-ea"/>
              <a:sym typeface="+mn-ea"/>
            </a:endParaRPr>
          </a:p>
        </p:txBody>
      </p:sp>
      <p:sp>
        <p:nvSpPr>
          <p:cNvPr id="22" name="矩形 21"/>
          <p:cNvSpPr/>
          <p:nvPr/>
        </p:nvSpPr>
        <p:spPr>
          <a:xfrm>
            <a:off x="1671632" y="4148046"/>
            <a:ext cx="5572764" cy="304800"/>
          </a:xfrm>
          <a:prstGeom prst="rect">
            <a:avLst/>
          </a:prstGeom>
          <a:noFill/>
          <a:ln>
            <a:solidFill>
              <a:srgbClr val="374B6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rPr>
              <a:t>伪首部</a:t>
            </a:r>
            <a:endParaRPr lang="zh-CN" altLang="en-US" sz="1600" dirty="0">
              <a:solidFill>
                <a:schemeClr val="accent1"/>
              </a:solidFill>
            </a:endParaRPr>
          </a:p>
        </p:txBody>
      </p:sp>
      <p:grpSp>
        <p:nvGrpSpPr>
          <p:cNvPr id="1059" name="组合 1058"/>
          <p:cNvGrpSpPr/>
          <p:nvPr/>
        </p:nvGrpSpPr>
        <p:grpSpPr>
          <a:xfrm>
            <a:off x="1671632" y="2247357"/>
            <a:ext cx="7020252" cy="1900689"/>
            <a:chOff x="1671632" y="2247357"/>
            <a:chExt cx="7020252" cy="1900689"/>
          </a:xfrm>
        </p:grpSpPr>
        <p:cxnSp>
          <p:nvCxnSpPr>
            <p:cNvPr id="26" name="直接连接符 25"/>
            <p:cNvCxnSpPr/>
            <p:nvPr/>
          </p:nvCxnSpPr>
          <p:spPr>
            <a:xfrm flipH="1">
              <a:off x="1671632" y="2247357"/>
              <a:ext cx="1447488" cy="1900689"/>
            </a:xfrm>
            <a:prstGeom prst="line">
              <a:avLst/>
            </a:prstGeom>
            <a:ln>
              <a:solidFill>
                <a:srgbClr val="000000"/>
              </a:solidFill>
              <a:prstDash val="sys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7244396" y="2247357"/>
              <a:ext cx="1447488" cy="1900689"/>
            </a:xfrm>
            <a:prstGeom prst="line">
              <a:avLst/>
            </a:prstGeom>
            <a:ln>
              <a:solidFill>
                <a:srgbClr val="000000"/>
              </a:solidFill>
              <a:prstDash val="sysDash"/>
            </a:ln>
          </p:spPr>
          <p:style>
            <a:lnRef idx="1">
              <a:schemeClr val="accent1"/>
            </a:lnRef>
            <a:fillRef idx="0">
              <a:schemeClr val="accent1"/>
            </a:fillRef>
            <a:effectRef idx="0">
              <a:schemeClr val="accent1"/>
            </a:effectRef>
            <a:fontRef idx="minor">
              <a:schemeClr val="tx1"/>
            </a:fontRef>
          </p:style>
        </p:cxnSp>
      </p:grpSp>
      <p:grpSp>
        <p:nvGrpSpPr>
          <p:cNvPr id="1058" name="组合 1057"/>
          <p:cNvGrpSpPr/>
          <p:nvPr/>
        </p:nvGrpSpPr>
        <p:grpSpPr>
          <a:xfrm>
            <a:off x="3119119" y="1611746"/>
            <a:ext cx="5572765" cy="635611"/>
            <a:chOff x="3119119" y="1611746"/>
            <a:chExt cx="5572765" cy="635611"/>
          </a:xfrm>
        </p:grpSpPr>
        <p:grpSp>
          <p:nvGrpSpPr>
            <p:cNvPr id="24" name="组合 23"/>
            <p:cNvGrpSpPr/>
            <p:nvPr/>
          </p:nvGrpSpPr>
          <p:grpSpPr>
            <a:xfrm>
              <a:off x="3119120" y="1942557"/>
              <a:ext cx="5572764" cy="304800"/>
              <a:chOff x="3119120" y="3190657"/>
              <a:chExt cx="5572764" cy="304800"/>
            </a:xfrm>
          </p:grpSpPr>
          <p:sp>
            <p:nvSpPr>
              <p:cNvPr id="5" name="矩形 4"/>
              <p:cNvSpPr/>
              <p:nvPr/>
            </p:nvSpPr>
            <p:spPr>
              <a:xfrm>
                <a:off x="3119120" y="3190657"/>
                <a:ext cx="1838960" cy="3048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rPr>
                  <a:t>源</a:t>
                </a:r>
                <a:r>
                  <a:rPr lang="en-US" altLang="zh-CN" sz="1600" dirty="0">
                    <a:solidFill>
                      <a:schemeClr val="accent1"/>
                    </a:solidFill>
                  </a:rPr>
                  <a:t>IP</a:t>
                </a:r>
                <a:r>
                  <a:rPr lang="zh-CN" altLang="en-US" sz="1600" dirty="0">
                    <a:solidFill>
                      <a:schemeClr val="accent1"/>
                    </a:solidFill>
                  </a:rPr>
                  <a:t>地址</a:t>
                </a:r>
                <a:endParaRPr lang="zh-CN" altLang="en-US" sz="1600" dirty="0">
                  <a:solidFill>
                    <a:schemeClr val="accent1"/>
                  </a:solidFill>
                </a:endParaRPr>
              </a:p>
            </p:txBody>
          </p:sp>
          <p:sp>
            <p:nvSpPr>
              <p:cNvPr id="6" name="矩形 5"/>
              <p:cNvSpPr/>
              <p:nvPr/>
            </p:nvSpPr>
            <p:spPr>
              <a:xfrm>
                <a:off x="4958080" y="3190657"/>
                <a:ext cx="1838960" cy="304800"/>
              </a:xfrm>
              <a:prstGeom prst="rect">
                <a:avLst/>
              </a:prstGeom>
              <a:noFill/>
              <a:ln>
                <a:solidFill>
                  <a:srgbClr val="37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rPr>
                  <a:t>目的</a:t>
                </a:r>
                <a:r>
                  <a:rPr lang="en-US" altLang="zh-CN" sz="1600" dirty="0">
                    <a:solidFill>
                      <a:schemeClr val="accent1"/>
                    </a:solidFill>
                  </a:rPr>
                  <a:t>IP</a:t>
                </a:r>
                <a:r>
                  <a:rPr lang="zh-CN" altLang="en-US" sz="1600" dirty="0">
                    <a:solidFill>
                      <a:schemeClr val="accent1"/>
                    </a:solidFill>
                  </a:rPr>
                  <a:t>地址</a:t>
                </a:r>
                <a:endParaRPr lang="zh-CN" altLang="en-US" sz="1600" dirty="0">
                  <a:solidFill>
                    <a:schemeClr val="accent1"/>
                  </a:solidFill>
                </a:endParaRPr>
              </a:p>
            </p:txBody>
          </p:sp>
          <p:sp>
            <p:nvSpPr>
              <p:cNvPr id="10" name="矩形 9"/>
              <p:cNvSpPr/>
              <p:nvPr/>
            </p:nvSpPr>
            <p:spPr>
              <a:xfrm>
                <a:off x="6797040" y="3190657"/>
                <a:ext cx="436882" cy="304800"/>
              </a:xfrm>
              <a:prstGeom prst="rect">
                <a:avLst/>
              </a:prstGeom>
              <a:noFill/>
              <a:ln>
                <a:solidFill>
                  <a:srgbClr val="37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374B63"/>
                    </a:solidFill>
                  </a:rPr>
                  <a:t>0</a:t>
                </a:r>
                <a:endParaRPr lang="zh-CN" altLang="en-US" sz="1600" dirty="0">
                  <a:solidFill>
                    <a:srgbClr val="374B63"/>
                  </a:solidFill>
                </a:endParaRPr>
              </a:p>
            </p:txBody>
          </p:sp>
          <p:sp>
            <p:nvSpPr>
              <p:cNvPr id="13" name="矩形 12"/>
              <p:cNvSpPr/>
              <p:nvPr/>
            </p:nvSpPr>
            <p:spPr>
              <a:xfrm>
                <a:off x="7233922" y="3190657"/>
                <a:ext cx="436882" cy="304800"/>
              </a:xfrm>
              <a:prstGeom prst="rect">
                <a:avLst/>
              </a:prstGeom>
              <a:noFill/>
              <a:ln>
                <a:solidFill>
                  <a:srgbClr val="37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374B63"/>
                    </a:solidFill>
                  </a:rPr>
                  <a:t>17</a:t>
                </a:r>
                <a:endParaRPr lang="zh-CN" altLang="en-US" sz="1600" dirty="0">
                  <a:solidFill>
                    <a:srgbClr val="374B63"/>
                  </a:solidFill>
                </a:endParaRPr>
              </a:p>
            </p:txBody>
          </p:sp>
          <p:sp>
            <p:nvSpPr>
              <p:cNvPr id="17" name="矩形 16"/>
              <p:cNvSpPr/>
              <p:nvPr/>
            </p:nvSpPr>
            <p:spPr>
              <a:xfrm>
                <a:off x="7670804" y="3190657"/>
                <a:ext cx="1021080" cy="304800"/>
              </a:xfrm>
              <a:prstGeom prst="rect">
                <a:avLst/>
              </a:prstGeom>
              <a:noFill/>
              <a:ln>
                <a:solidFill>
                  <a:srgbClr val="37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accent1"/>
                    </a:solidFill>
                  </a:rPr>
                  <a:t>UDP</a:t>
                </a:r>
                <a:r>
                  <a:rPr lang="zh-CN" altLang="en-US" sz="1600" dirty="0">
                    <a:solidFill>
                      <a:schemeClr val="accent1"/>
                    </a:solidFill>
                  </a:rPr>
                  <a:t>长度</a:t>
                </a:r>
                <a:endParaRPr lang="zh-CN" altLang="en-US" sz="1600" dirty="0">
                  <a:solidFill>
                    <a:schemeClr val="accent1"/>
                  </a:solidFill>
                </a:endParaRPr>
              </a:p>
            </p:txBody>
          </p:sp>
        </p:grpSp>
        <p:sp>
          <p:nvSpPr>
            <p:cNvPr id="30" name="文本框 29"/>
            <p:cNvSpPr txBox="1"/>
            <p:nvPr/>
          </p:nvSpPr>
          <p:spPr>
            <a:xfrm>
              <a:off x="3119119" y="1612075"/>
              <a:ext cx="1838958" cy="369332"/>
            </a:xfrm>
            <a:prstGeom prst="rect">
              <a:avLst/>
            </a:prstGeom>
            <a:noFill/>
          </p:spPr>
          <p:txBody>
            <a:bodyPr wrap="square" rtlCol="0">
              <a:spAutoFit/>
            </a:bodyPr>
            <a:lstStyle/>
            <a:p>
              <a:pPr algn="ctr"/>
              <a:r>
                <a:rPr lang="en-US" altLang="zh-CN" dirty="0"/>
                <a:t>32</a:t>
              </a:r>
              <a:r>
                <a:rPr lang="zh-CN" altLang="en-US" dirty="0"/>
                <a:t>位</a:t>
              </a:r>
              <a:endParaRPr lang="zh-CN" altLang="en-US" dirty="0"/>
            </a:p>
          </p:txBody>
        </p:sp>
        <p:sp>
          <p:nvSpPr>
            <p:cNvPr id="31" name="文本框 30"/>
            <p:cNvSpPr txBox="1"/>
            <p:nvPr/>
          </p:nvSpPr>
          <p:spPr>
            <a:xfrm>
              <a:off x="6705600" y="1611746"/>
              <a:ext cx="602937" cy="369332"/>
            </a:xfrm>
            <a:prstGeom prst="rect">
              <a:avLst/>
            </a:prstGeom>
            <a:noFill/>
          </p:spPr>
          <p:txBody>
            <a:bodyPr wrap="square" rtlCol="0">
              <a:spAutoFit/>
            </a:bodyPr>
            <a:lstStyle/>
            <a:p>
              <a:pPr algn="ctr"/>
              <a:r>
                <a:rPr lang="en-US" altLang="zh-CN" dirty="0"/>
                <a:t>8</a:t>
              </a:r>
              <a:r>
                <a:rPr lang="zh-CN" altLang="en-US" dirty="0"/>
                <a:t>位</a:t>
              </a:r>
              <a:endParaRPr lang="zh-CN" altLang="en-US" dirty="0"/>
            </a:p>
          </p:txBody>
        </p:sp>
        <p:sp>
          <p:nvSpPr>
            <p:cNvPr id="1024" name="文本框 1023"/>
            <p:cNvSpPr txBox="1"/>
            <p:nvPr/>
          </p:nvSpPr>
          <p:spPr>
            <a:xfrm>
              <a:off x="4958076" y="1611746"/>
              <a:ext cx="1838957" cy="369332"/>
            </a:xfrm>
            <a:prstGeom prst="rect">
              <a:avLst/>
            </a:prstGeom>
            <a:noFill/>
          </p:spPr>
          <p:txBody>
            <a:bodyPr wrap="square" rtlCol="0">
              <a:spAutoFit/>
            </a:bodyPr>
            <a:lstStyle/>
            <a:p>
              <a:pPr algn="ctr"/>
              <a:r>
                <a:rPr lang="en-US" altLang="zh-CN" dirty="0"/>
                <a:t>32</a:t>
              </a:r>
              <a:r>
                <a:rPr lang="zh-CN" altLang="en-US" dirty="0"/>
                <a:t>位</a:t>
              </a:r>
              <a:endParaRPr lang="zh-CN" altLang="en-US" dirty="0"/>
            </a:p>
          </p:txBody>
        </p:sp>
        <p:sp>
          <p:nvSpPr>
            <p:cNvPr id="1025" name="文本框 1024"/>
            <p:cNvSpPr txBox="1"/>
            <p:nvPr/>
          </p:nvSpPr>
          <p:spPr>
            <a:xfrm>
              <a:off x="7670803" y="1611746"/>
              <a:ext cx="1021078" cy="369332"/>
            </a:xfrm>
            <a:prstGeom prst="rect">
              <a:avLst/>
            </a:prstGeom>
            <a:noFill/>
          </p:spPr>
          <p:txBody>
            <a:bodyPr wrap="square" rtlCol="0">
              <a:spAutoFit/>
            </a:bodyPr>
            <a:lstStyle/>
            <a:p>
              <a:pPr algn="ctr"/>
              <a:r>
                <a:rPr lang="en-US" altLang="zh-CN" dirty="0"/>
                <a:t>16</a:t>
              </a:r>
              <a:r>
                <a:rPr lang="zh-CN" altLang="en-US" dirty="0"/>
                <a:t>位</a:t>
              </a:r>
              <a:endParaRPr lang="zh-CN" altLang="en-US" dirty="0"/>
            </a:p>
          </p:txBody>
        </p:sp>
        <p:sp>
          <p:nvSpPr>
            <p:cNvPr id="1027" name="文本框 1026"/>
            <p:cNvSpPr txBox="1"/>
            <p:nvPr/>
          </p:nvSpPr>
          <p:spPr>
            <a:xfrm>
              <a:off x="7159299" y="1618145"/>
              <a:ext cx="582619" cy="369332"/>
            </a:xfrm>
            <a:prstGeom prst="rect">
              <a:avLst/>
            </a:prstGeom>
            <a:noFill/>
          </p:spPr>
          <p:txBody>
            <a:bodyPr wrap="square" rtlCol="0">
              <a:spAutoFit/>
            </a:bodyPr>
            <a:lstStyle/>
            <a:p>
              <a:pPr algn="ctr"/>
              <a:r>
                <a:rPr lang="en-US" altLang="zh-CN" dirty="0"/>
                <a:t>8</a:t>
              </a:r>
              <a:r>
                <a:rPr lang="zh-CN" altLang="en-US" dirty="0"/>
                <a:t>位</a:t>
              </a:r>
              <a:endParaRPr lang="zh-CN" altLang="en-US" dirty="0"/>
            </a:p>
          </p:txBody>
        </p:sp>
      </p:grpSp>
      <p:sp>
        <p:nvSpPr>
          <p:cNvPr id="1028" name="矩形 1027"/>
          <p:cNvSpPr/>
          <p:nvPr/>
        </p:nvSpPr>
        <p:spPr>
          <a:xfrm>
            <a:off x="319462" y="1748434"/>
            <a:ext cx="2453750" cy="20876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伪首部并不是</a:t>
            </a:r>
            <a:r>
              <a:rPr lang="en-US" altLang="zh-CN" b="1" dirty="0"/>
              <a:t>UDP</a:t>
            </a:r>
            <a:r>
              <a:rPr lang="zh-CN" altLang="en-US" b="1" dirty="0"/>
              <a:t>用户数据报真正的首部，只是在计算校验和时，临时添加在</a:t>
            </a:r>
            <a:r>
              <a:rPr lang="en-US" altLang="zh-CN" b="1" dirty="0"/>
              <a:t>UDP</a:t>
            </a:r>
            <a:r>
              <a:rPr lang="zh-CN" altLang="en-US" b="1" dirty="0"/>
              <a:t>用户数据报前面，得到一个临时的</a:t>
            </a:r>
            <a:r>
              <a:rPr lang="en-US" altLang="zh-CN" b="1" dirty="0"/>
              <a:t>UDP</a:t>
            </a:r>
            <a:r>
              <a:rPr lang="zh-CN" altLang="en-US" b="1" dirty="0"/>
              <a:t>用户数据报。</a:t>
            </a:r>
            <a:endParaRPr lang="zh-CN" altLang="en-US" b="1" dirty="0"/>
          </a:p>
        </p:txBody>
      </p:sp>
      <p:sp>
        <p:nvSpPr>
          <p:cNvPr id="1031" name="文本框 1030"/>
          <p:cNvSpPr txBox="1"/>
          <p:nvPr/>
        </p:nvSpPr>
        <p:spPr>
          <a:xfrm>
            <a:off x="2783686" y="2697877"/>
            <a:ext cx="5572761" cy="646331"/>
          </a:xfrm>
          <a:prstGeom prst="rect">
            <a:avLst/>
          </a:prstGeom>
          <a:noFill/>
        </p:spPr>
        <p:txBody>
          <a:bodyPr wrap="square" rtlCol="0">
            <a:spAutoFit/>
          </a:bodyPr>
          <a:lstStyle/>
          <a:p>
            <a:r>
              <a:rPr lang="zh-CN" altLang="en-US" b="1" dirty="0">
                <a:solidFill>
                  <a:schemeClr val="accent1">
                    <a:lumMod val="75000"/>
                  </a:schemeClr>
                </a:solidFill>
              </a:rPr>
              <a:t>伪首部的第三个字段为全</a:t>
            </a:r>
            <a:r>
              <a:rPr lang="en-US" altLang="zh-CN" b="1" dirty="0">
                <a:solidFill>
                  <a:schemeClr val="accent1">
                    <a:lumMod val="75000"/>
                  </a:schemeClr>
                </a:solidFill>
              </a:rPr>
              <a:t>0</a:t>
            </a:r>
            <a:r>
              <a:rPr lang="zh-CN" altLang="en-US" b="1" dirty="0">
                <a:solidFill>
                  <a:schemeClr val="accent1">
                    <a:lumMod val="75000"/>
                  </a:schemeClr>
                </a:solidFill>
              </a:rPr>
              <a:t>，第四个字段</a:t>
            </a:r>
            <a:r>
              <a:rPr lang="en-US" altLang="zh-CN" b="1" dirty="0">
                <a:solidFill>
                  <a:schemeClr val="accent1">
                    <a:lumMod val="75000"/>
                  </a:schemeClr>
                </a:solidFill>
              </a:rPr>
              <a:t>17</a:t>
            </a:r>
            <a:r>
              <a:rPr lang="zh-CN" altLang="en-US" b="1" dirty="0">
                <a:solidFill>
                  <a:schemeClr val="accent1">
                    <a:lumMod val="75000"/>
                  </a:schemeClr>
                </a:solidFill>
              </a:rPr>
              <a:t>代表封装</a:t>
            </a:r>
            <a:r>
              <a:rPr lang="en-US" altLang="zh-CN" b="1" dirty="0">
                <a:solidFill>
                  <a:schemeClr val="accent1">
                    <a:lumMod val="75000"/>
                  </a:schemeClr>
                </a:solidFill>
              </a:rPr>
              <a:t>UDP</a:t>
            </a:r>
            <a:r>
              <a:rPr lang="zh-CN" altLang="en-US" b="1" dirty="0">
                <a:solidFill>
                  <a:schemeClr val="accent1">
                    <a:lumMod val="75000"/>
                  </a:schemeClr>
                </a:solidFill>
              </a:rPr>
              <a:t>报文的</a:t>
            </a:r>
            <a:r>
              <a:rPr lang="en-US" altLang="zh-CN" b="1" dirty="0">
                <a:solidFill>
                  <a:schemeClr val="accent1">
                    <a:lumMod val="75000"/>
                  </a:schemeClr>
                </a:solidFill>
              </a:rPr>
              <a:t>IP</a:t>
            </a:r>
            <a:r>
              <a:rPr lang="zh-CN" altLang="en-US" b="1" dirty="0">
                <a:solidFill>
                  <a:schemeClr val="accent1">
                    <a:lumMod val="75000"/>
                  </a:schemeClr>
                </a:solidFill>
              </a:rPr>
              <a:t>数据报首部协议字段是</a:t>
            </a:r>
            <a:r>
              <a:rPr lang="en-US" altLang="zh-CN" b="1" dirty="0">
                <a:solidFill>
                  <a:schemeClr val="accent1">
                    <a:lumMod val="75000"/>
                  </a:schemeClr>
                </a:solidFill>
              </a:rPr>
              <a:t>17</a:t>
            </a:r>
            <a:r>
              <a:rPr lang="zh-CN" altLang="en-US" b="1" dirty="0">
                <a:solidFill>
                  <a:schemeClr val="accent1">
                    <a:lumMod val="75000"/>
                  </a:schemeClr>
                </a:solidFill>
              </a:rPr>
              <a:t>。</a:t>
            </a:r>
            <a:endParaRPr lang="zh-CN" altLang="en-US" b="1" dirty="0">
              <a:solidFill>
                <a:schemeClr val="accent1">
                  <a:lumMod val="75000"/>
                </a:schemeClr>
              </a:solidFill>
            </a:endParaRPr>
          </a:p>
        </p:txBody>
      </p:sp>
      <p:grpSp>
        <p:nvGrpSpPr>
          <p:cNvPr id="1060" name="组合 1059"/>
          <p:cNvGrpSpPr/>
          <p:nvPr/>
        </p:nvGrpSpPr>
        <p:grpSpPr>
          <a:xfrm>
            <a:off x="7244395" y="3796140"/>
            <a:ext cx="4012871" cy="656706"/>
            <a:chOff x="7244395" y="3796140"/>
            <a:chExt cx="4012871" cy="656706"/>
          </a:xfrm>
        </p:grpSpPr>
        <p:grpSp>
          <p:nvGrpSpPr>
            <p:cNvPr id="1034" name="组合 1033"/>
            <p:cNvGrpSpPr/>
            <p:nvPr/>
          </p:nvGrpSpPr>
          <p:grpSpPr>
            <a:xfrm>
              <a:off x="7247248" y="4148046"/>
              <a:ext cx="4010018" cy="304800"/>
              <a:chOff x="4541521" y="5306370"/>
              <a:chExt cx="4010018" cy="304800"/>
            </a:xfrm>
          </p:grpSpPr>
          <p:sp>
            <p:nvSpPr>
              <p:cNvPr id="1035" name="矩形 1034"/>
              <p:cNvSpPr/>
              <p:nvPr/>
            </p:nvSpPr>
            <p:spPr>
              <a:xfrm>
                <a:off x="4541521" y="5306370"/>
                <a:ext cx="983620" cy="3048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rPr>
                  <a:t>源端口</a:t>
                </a:r>
                <a:endParaRPr lang="zh-CN" altLang="en-US" sz="1600" dirty="0">
                  <a:solidFill>
                    <a:schemeClr val="accent1"/>
                  </a:solidFill>
                </a:endParaRPr>
              </a:p>
            </p:txBody>
          </p:sp>
          <p:sp>
            <p:nvSpPr>
              <p:cNvPr id="1036" name="矩形 1035"/>
              <p:cNvSpPr/>
              <p:nvPr/>
            </p:nvSpPr>
            <p:spPr>
              <a:xfrm>
                <a:off x="5522599" y="5306370"/>
                <a:ext cx="1021079" cy="304800"/>
              </a:xfrm>
              <a:prstGeom prst="rect">
                <a:avLst/>
              </a:prstGeom>
              <a:noFill/>
              <a:ln>
                <a:solidFill>
                  <a:srgbClr val="37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rPr>
                  <a:t>目的端口</a:t>
                </a:r>
                <a:endParaRPr lang="zh-CN" altLang="en-US" sz="1600" dirty="0">
                  <a:solidFill>
                    <a:schemeClr val="accent1"/>
                  </a:solidFill>
                </a:endParaRPr>
              </a:p>
            </p:txBody>
          </p:sp>
          <p:sp>
            <p:nvSpPr>
              <p:cNvPr id="1037" name="矩形 1036"/>
              <p:cNvSpPr/>
              <p:nvPr/>
            </p:nvSpPr>
            <p:spPr>
              <a:xfrm>
                <a:off x="6549383" y="5306370"/>
                <a:ext cx="981075" cy="304800"/>
              </a:xfrm>
              <a:prstGeom prst="rect">
                <a:avLst/>
              </a:prstGeom>
              <a:noFill/>
              <a:ln>
                <a:solidFill>
                  <a:srgbClr val="37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rPr>
                  <a:t>长度</a:t>
                </a:r>
                <a:endParaRPr lang="zh-CN" altLang="en-US" sz="1600" dirty="0">
                  <a:solidFill>
                    <a:schemeClr val="accent1"/>
                  </a:solidFill>
                </a:endParaRPr>
              </a:p>
            </p:txBody>
          </p:sp>
          <p:sp>
            <p:nvSpPr>
              <p:cNvPr id="1039" name="矩形 1038"/>
              <p:cNvSpPr/>
              <p:nvPr/>
            </p:nvSpPr>
            <p:spPr>
              <a:xfrm>
                <a:off x="7530459" y="5306370"/>
                <a:ext cx="1021080" cy="304800"/>
              </a:xfrm>
              <a:prstGeom prst="rect">
                <a:avLst/>
              </a:prstGeom>
              <a:noFill/>
              <a:ln>
                <a:solidFill>
                  <a:srgbClr val="37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rPr>
                  <a:t>校验和</a:t>
                </a:r>
                <a:endParaRPr lang="zh-CN" altLang="en-US" sz="1600" dirty="0">
                  <a:solidFill>
                    <a:schemeClr val="accent1"/>
                  </a:solidFill>
                </a:endParaRPr>
              </a:p>
            </p:txBody>
          </p:sp>
        </p:grpSp>
        <p:sp>
          <p:nvSpPr>
            <p:cNvPr id="1051" name="文本框 1050"/>
            <p:cNvSpPr txBox="1"/>
            <p:nvPr/>
          </p:nvSpPr>
          <p:spPr>
            <a:xfrm>
              <a:off x="7244395" y="3796140"/>
              <a:ext cx="978226" cy="369332"/>
            </a:xfrm>
            <a:prstGeom prst="rect">
              <a:avLst/>
            </a:prstGeom>
            <a:noFill/>
          </p:spPr>
          <p:txBody>
            <a:bodyPr wrap="square" rtlCol="0">
              <a:spAutoFit/>
            </a:bodyPr>
            <a:lstStyle/>
            <a:p>
              <a:pPr algn="ctr"/>
              <a:r>
                <a:rPr lang="en-US" altLang="zh-CN" dirty="0"/>
                <a:t>16</a:t>
              </a:r>
              <a:r>
                <a:rPr lang="zh-CN" altLang="en-US" dirty="0"/>
                <a:t>位</a:t>
              </a:r>
              <a:endParaRPr lang="zh-CN" altLang="en-US" dirty="0"/>
            </a:p>
          </p:txBody>
        </p:sp>
        <p:sp>
          <p:nvSpPr>
            <p:cNvPr id="1052" name="文本框 1051"/>
            <p:cNvSpPr txBox="1"/>
            <p:nvPr/>
          </p:nvSpPr>
          <p:spPr>
            <a:xfrm>
              <a:off x="8225472" y="3796140"/>
              <a:ext cx="1023932" cy="369332"/>
            </a:xfrm>
            <a:prstGeom prst="rect">
              <a:avLst/>
            </a:prstGeom>
            <a:noFill/>
          </p:spPr>
          <p:txBody>
            <a:bodyPr wrap="square" rtlCol="0">
              <a:spAutoFit/>
            </a:bodyPr>
            <a:lstStyle/>
            <a:p>
              <a:pPr algn="ctr"/>
              <a:r>
                <a:rPr lang="en-US" altLang="zh-CN" dirty="0"/>
                <a:t>16</a:t>
              </a:r>
              <a:r>
                <a:rPr lang="zh-CN" altLang="en-US" dirty="0"/>
                <a:t>位</a:t>
              </a:r>
              <a:endParaRPr lang="zh-CN" altLang="en-US" dirty="0"/>
            </a:p>
          </p:txBody>
        </p:sp>
        <p:sp>
          <p:nvSpPr>
            <p:cNvPr id="1054" name="文本框 1053"/>
            <p:cNvSpPr txBox="1"/>
            <p:nvPr/>
          </p:nvSpPr>
          <p:spPr>
            <a:xfrm>
              <a:off x="10227631" y="3796140"/>
              <a:ext cx="978226" cy="369332"/>
            </a:xfrm>
            <a:prstGeom prst="rect">
              <a:avLst/>
            </a:prstGeom>
            <a:noFill/>
          </p:spPr>
          <p:txBody>
            <a:bodyPr wrap="square" rtlCol="0">
              <a:spAutoFit/>
            </a:bodyPr>
            <a:lstStyle/>
            <a:p>
              <a:pPr algn="ctr"/>
              <a:r>
                <a:rPr lang="en-US" altLang="zh-CN" dirty="0"/>
                <a:t>16</a:t>
              </a:r>
              <a:r>
                <a:rPr lang="zh-CN" altLang="en-US" dirty="0"/>
                <a:t>位</a:t>
              </a:r>
              <a:endParaRPr lang="zh-CN" altLang="en-US" dirty="0"/>
            </a:p>
          </p:txBody>
        </p:sp>
        <p:sp>
          <p:nvSpPr>
            <p:cNvPr id="1055" name="文本框 1054"/>
            <p:cNvSpPr txBox="1"/>
            <p:nvPr/>
          </p:nvSpPr>
          <p:spPr>
            <a:xfrm>
              <a:off x="9249405" y="3796140"/>
              <a:ext cx="978226" cy="369332"/>
            </a:xfrm>
            <a:prstGeom prst="rect">
              <a:avLst/>
            </a:prstGeom>
            <a:noFill/>
          </p:spPr>
          <p:txBody>
            <a:bodyPr wrap="square" rtlCol="0">
              <a:spAutoFit/>
            </a:bodyPr>
            <a:lstStyle/>
            <a:p>
              <a:pPr algn="ctr"/>
              <a:r>
                <a:rPr lang="en-US" altLang="zh-CN" dirty="0"/>
                <a:t>16</a:t>
              </a:r>
              <a:r>
                <a:rPr lang="zh-CN" altLang="en-US" dirty="0"/>
                <a:t>位</a:t>
              </a:r>
              <a:endParaRPr lang="zh-CN" altLang="en-US" dirty="0"/>
            </a:p>
          </p:txBody>
        </p:sp>
      </p:grpSp>
      <p:grpSp>
        <p:nvGrpSpPr>
          <p:cNvPr id="12" name="组合 11"/>
          <p:cNvGrpSpPr/>
          <p:nvPr/>
        </p:nvGrpSpPr>
        <p:grpSpPr>
          <a:xfrm>
            <a:off x="1671632" y="5346367"/>
            <a:ext cx="8022910" cy="304800"/>
            <a:chOff x="1372550" y="5743935"/>
            <a:chExt cx="8022910" cy="304800"/>
          </a:xfrm>
        </p:grpSpPr>
        <p:sp>
          <p:nvSpPr>
            <p:cNvPr id="4" name="矩形 3"/>
            <p:cNvSpPr/>
            <p:nvPr/>
          </p:nvSpPr>
          <p:spPr>
            <a:xfrm>
              <a:off x="1372550" y="5743935"/>
              <a:ext cx="2918460" cy="304800"/>
            </a:xfrm>
            <a:prstGeom prst="rect">
              <a:avLst/>
            </a:prstGeom>
            <a:noFill/>
            <a:ln>
              <a:solidFill>
                <a:srgbClr val="374B6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rPr>
                <a:t>首部</a:t>
              </a:r>
              <a:endParaRPr lang="zh-CN" altLang="en-US" sz="1600" dirty="0">
                <a:solidFill>
                  <a:schemeClr val="accent1"/>
                </a:solidFill>
              </a:endParaRPr>
            </a:p>
          </p:txBody>
        </p:sp>
        <p:sp>
          <p:nvSpPr>
            <p:cNvPr id="9" name="矩形 8"/>
            <p:cNvSpPr/>
            <p:nvPr/>
          </p:nvSpPr>
          <p:spPr>
            <a:xfrm>
              <a:off x="4291010" y="5743935"/>
              <a:ext cx="5104450" cy="304800"/>
            </a:xfrm>
            <a:prstGeom prst="rect">
              <a:avLst/>
            </a:prstGeom>
            <a:noFill/>
            <a:ln>
              <a:solidFill>
                <a:srgbClr val="374B6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1"/>
                  </a:solidFill>
                </a:rPr>
                <a:t>数据</a:t>
              </a:r>
              <a:endParaRPr lang="zh-CN" altLang="en-US" sz="1600" dirty="0">
                <a:solidFill>
                  <a:schemeClr val="accent1"/>
                </a:solidFill>
              </a:endParaRPr>
            </a:p>
          </p:txBody>
        </p:sp>
      </p:grpSp>
      <p:grpSp>
        <p:nvGrpSpPr>
          <p:cNvPr id="14" name="组合 13"/>
          <p:cNvGrpSpPr/>
          <p:nvPr/>
        </p:nvGrpSpPr>
        <p:grpSpPr>
          <a:xfrm>
            <a:off x="1671632" y="4452846"/>
            <a:ext cx="5572764" cy="893521"/>
            <a:chOff x="3119120" y="2247357"/>
            <a:chExt cx="5572764" cy="893521"/>
          </a:xfrm>
        </p:grpSpPr>
        <p:cxnSp>
          <p:nvCxnSpPr>
            <p:cNvPr id="15" name="直接连接符 14"/>
            <p:cNvCxnSpPr/>
            <p:nvPr/>
          </p:nvCxnSpPr>
          <p:spPr>
            <a:xfrm>
              <a:off x="3119120" y="2247357"/>
              <a:ext cx="0" cy="893521"/>
            </a:xfrm>
            <a:prstGeom prst="line">
              <a:avLst/>
            </a:prstGeom>
            <a:ln>
              <a:solidFill>
                <a:srgbClr val="000000"/>
              </a:solidFill>
              <a:prstDash val="sys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6040432" y="2247357"/>
              <a:ext cx="2651452" cy="893521"/>
            </a:xfrm>
            <a:prstGeom prst="line">
              <a:avLst/>
            </a:prstGeom>
            <a:ln>
              <a:solidFill>
                <a:srgbClr val="000000"/>
              </a:solidFill>
              <a:prstDash val="sysDash"/>
            </a:ln>
          </p:spPr>
          <p:style>
            <a:lnRef idx="1">
              <a:schemeClr val="accent1"/>
            </a:lnRef>
            <a:fillRef idx="0">
              <a:schemeClr val="accent1"/>
            </a:fillRef>
            <a:effectRef idx="0">
              <a:schemeClr val="accent1"/>
            </a:effectRef>
            <a:fontRef idx="minor">
              <a:schemeClr val="tx1"/>
            </a:fontRef>
          </p:style>
        </p:cxnSp>
      </p:grpSp>
      <p:sp>
        <p:nvSpPr>
          <p:cNvPr id="25" name="文本框 24"/>
          <p:cNvSpPr txBox="1"/>
          <p:nvPr/>
        </p:nvSpPr>
        <p:spPr>
          <a:xfrm>
            <a:off x="-91632" y="5314101"/>
            <a:ext cx="5572761" cy="369332"/>
          </a:xfrm>
          <a:prstGeom prst="rect">
            <a:avLst/>
          </a:prstGeom>
          <a:noFill/>
        </p:spPr>
        <p:txBody>
          <a:bodyPr wrap="square" rtlCol="0">
            <a:spAutoFit/>
          </a:bodyPr>
          <a:lstStyle/>
          <a:p>
            <a:r>
              <a:rPr lang="en-US" altLang="zh-CN" b="1" dirty="0">
                <a:solidFill>
                  <a:schemeClr val="accent1">
                    <a:lumMod val="75000"/>
                  </a:schemeClr>
                </a:solidFill>
              </a:rPr>
              <a:t>UDP</a:t>
            </a:r>
            <a:r>
              <a:rPr lang="zh-CN" altLang="en-US" b="1" dirty="0">
                <a:solidFill>
                  <a:schemeClr val="accent1">
                    <a:lumMod val="75000"/>
                  </a:schemeClr>
                </a:solidFill>
              </a:rPr>
              <a:t>用户数据报</a:t>
            </a:r>
            <a:endParaRPr lang="zh-CN" altLang="en-US" b="1" dirty="0">
              <a:solidFill>
                <a:schemeClr val="accent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ppt_y</p:attrName>
                                        </p:attrNameLst>
                                      </p:cBhvr>
                                      <p:tavLst>
                                        <p:tav tm="0">
                                          <p:val>
                                            <p:strVal val="#ppt_y-#ppt_h*1.125000"/>
                                          </p:val>
                                        </p:tav>
                                        <p:tav tm="100000">
                                          <p:val>
                                            <p:strVal val="#ppt_y"/>
                                          </p:val>
                                        </p:tav>
                                      </p:tavLst>
                                    </p:anim>
                                    <p:animEffect transition="in" filter="wipe(down)">
                                      <p:cBhvr>
                                        <p:cTn id="8" dur="500"/>
                                        <p:tgtEl>
                                          <p:spTgt spid="14"/>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p:tgtEl>
                                          <p:spTgt spid="12"/>
                                        </p:tgtEl>
                                        <p:attrNameLst>
                                          <p:attrName>ppt_y</p:attrName>
                                        </p:attrNameLst>
                                      </p:cBhvr>
                                      <p:tavLst>
                                        <p:tav tm="0">
                                          <p:val>
                                            <p:strVal val="#ppt_y-#ppt_h*1.125000"/>
                                          </p:val>
                                        </p:tav>
                                        <p:tav tm="100000">
                                          <p:val>
                                            <p:strVal val="#ppt_y"/>
                                          </p:val>
                                        </p:tav>
                                      </p:tavLst>
                                    </p:anim>
                                    <p:animEffect transition="in" filter="wipe(down)">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p:tgtEl>
                                          <p:spTgt spid="25"/>
                                        </p:tgtEl>
                                        <p:attrNameLst>
                                          <p:attrName>ppt_x</p:attrName>
                                        </p:attrNameLst>
                                      </p:cBhvr>
                                      <p:tavLst>
                                        <p:tav tm="0">
                                          <p:val>
                                            <p:strVal val="#ppt_x-#ppt_w*1.125000"/>
                                          </p:val>
                                        </p:tav>
                                        <p:tav tm="100000">
                                          <p:val>
                                            <p:strVal val="#ppt_x"/>
                                          </p:val>
                                        </p:tav>
                                      </p:tavLst>
                                    </p:anim>
                                    <p:animEffect transition="in" filter="wipe(right)">
                                      <p:cBhvr>
                                        <p:cTn id="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8226425"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 实时传输协议</a:t>
            </a:r>
            <a:r>
              <a:rPr lang="en-US" altLang="zh-CN" sz="4000" dirty="0">
                <a:latin typeface="+mj-ea"/>
                <a:sym typeface="+mn-ea"/>
              </a:rPr>
              <a:t>RTP</a:t>
            </a:r>
            <a:endParaRPr lang="zh-CN" altLang="en-US" sz="4000" dirty="0">
              <a:latin typeface="+mj-ea"/>
              <a:sym typeface="+mn-ea"/>
            </a:endParaRPr>
          </a:p>
        </p:txBody>
      </p:sp>
      <p:sp>
        <p:nvSpPr>
          <p:cNvPr id="11" name="文本框 10"/>
          <p:cNvSpPr txBox="1"/>
          <p:nvPr/>
        </p:nvSpPr>
        <p:spPr>
          <a:xfrm>
            <a:off x="342900" y="1268095"/>
            <a:ext cx="11379200" cy="2959735"/>
          </a:xfrm>
          <a:prstGeom prst="rect">
            <a:avLst/>
          </a:prstGeom>
          <a:noFill/>
        </p:spPr>
        <p:txBody>
          <a:bodyPr wrap="square" rtlCol="0">
            <a:noAutofit/>
          </a:bodyPr>
          <a:lstStyle/>
          <a:p>
            <a:pPr marL="342900" indent="-342900" algn="l" latinLnBrk="0">
              <a:lnSpc>
                <a:spcPct val="150000"/>
              </a:lnSpc>
              <a:spcBef>
                <a:spcPts val="0"/>
              </a:spcBef>
              <a:buClr>
                <a:srgbClr val="DF4F21"/>
              </a:buClr>
              <a:buSzTx/>
              <a:buFont typeface="Wingdings" panose="05000000000000000000" charset="0"/>
              <a:buChar char="p"/>
            </a:pP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实时传输协议（</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Real-time Transport Protocol</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RTP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）为</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上的语音、图像等需要实时传输的多媒体数据提供端对端的传输服务和流同步，配合实时传输控制协议（</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Real-time Transport Control Protocol</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RTCP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）一起使用。</a:t>
            </a:r>
            <a:endPar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latinLnBrk="0">
              <a:lnSpc>
                <a:spcPct val="150000"/>
              </a:lnSpc>
              <a:spcBef>
                <a:spcPts val="0"/>
              </a:spcBef>
              <a:buClr>
                <a:srgbClr val="DF4F21"/>
              </a:buClr>
              <a:buSzTx/>
              <a:buFont typeface="Wingdings" panose="05000000000000000000" charset="0"/>
              <a:buChar char="p"/>
            </a:pP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RTP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和</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RTCP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位于传输层，通常基于</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协议，但也支持</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协议，下面以</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为例进行报文分析。</a:t>
            </a:r>
            <a:endPar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latinLnBrk="0">
              <a:lnSpc>
                <a:spcPct val="150000"/>
              </a:lnSpc>
              <a:spcBef>
                <a:spcPts val="0"/>
              </a:spcBef>
              <a:buClr>
                <a:srgbClr val="DF4F21"/>
              </a:buClr>
              <a:buSzTx/>
              <a:buFont typeface="Wingdings" panose="05000000000000000000" charset="0"/>
              <a:buChar char="p"/>
            </a:pPr>
            <a:endPar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9555480"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a:t>
            </a:r>
            <a:r>
              <a:rPr lang="en-US" altLang="zh-CN" sz="4000" dirty="0">
                <a:latin typeface="+mj-ea"/>
                <a:sym typeface="+mn-ea"/>
              </a:rPr>
              <a:t>2 </a:t>
            </a:r>
            <a:r>
              <a:rPr lang="zh-CN" altLang="en-US" sz="4000" dirty="0">
                <a:latin typeface="+mj-ea"/>
                <a:sym typeface="+mn-ea"/>
              </a:rPr>
              <a:t>快速</a:t>
            </a:r>
            <a:r>
              <a:rPr lang="en-US" altLang="zh-CN" sz="4000" dirty="0">
                <a:latin typeface="+mj-ea"/>
                <a:sym typeface="+mn-ea"/>
              </a:rPr>
              <a:t>UDP</a:t>
            </a:r>
            <a:r>
              <a:rPr lang="zh-CN" altLang="en-US" sz="4000" dirty="0">
                <a:latin typeface="+mj-ea"/>
                <a:sym typeface="+mn-ea"/>
              </a:rPr>
              <a:t>互联网连接协议（</a:t>
            </a:r>
            <a:r>
              <a:rPr lang="en-US" altLang="zh-CN" sz="4000" dirty="0">
                <a:latin typeface="+mj-ea"/>
                <a:sym typeface="+mn-ea"/>
              </a:rPr>
              <a:t>QUIC</a:t>
            </a:r>
            <a:r>
              <a:rPr lang="zh-CN" altLang="en-US" sz="4000" dirty="0">
                <a:latin typeface="+mj-ea"/>
                <a:sym typeface="+mn-ea"/>
              </a:rPr>
              <a:t>）</a:t>
            </a:r>
            <a:endParaRPr lang="zh-CN" altLang="en-US" sz="4000" dirty="0">
              <a:latin typeface="+mj-ea"/>
              <a:sym typeface="+mn-ea"/>
            </a:endParaRPr>
          </a:p>
        </p:txBody>
      </p:sp>
      <p:sp>
        <p:nvSpPr>
          <p:cNvPr id="11" name="文本框 10"/>
          <p:cNvSpPr txBox="1"/>
          <p:nvPr/>
        </p:nvSpPr>
        <p:spPr>
          <a:xfrm>
            <a:off x="318770" y="1072515"/>
            <a:ext cx="11403330" cy="5319395"/>
          </a:xfrm>
          <a:prstGeom prst="rect">
            <a:avLst/>
          </a:prstGeom>
          <a:noFill/>
        </p:spPr>
        <p:txBody>
          <a:bodyPr wrap="square" rtlCol="0">
            <a:noAutofit/>
          </a:bodyPr>
          <a:lstStyle/>
          <a:p>
            <a:pPr marL="342900" indent="-342900" algn="l" latinLnBrk="0">
              <a:lnSpc>
                <a:spcPct val="150000"/>
              </a:lnSpc>
              <a:spcBef>
                <a:spcPts val="0"/>
              </a:spcBef>
              <a:buClr>
                <a:srgbClr val="DF4F21"/>
              </a:buClr>
              <a:buSzTx/>
              <a:buFont typeface="Wingdings" panose="05000000000000000000" charset="0"/>
              <a:buChar char="p"/>
            </a:pPr>
            <a:r>
              <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快速</a:t>
            </a:r>
            <a:r>
              <a:rPr kumimoji="1" lang="en-US" altLang="zh-CN"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互联网连接协议（</a:t>
            </a:r>
            <a:r>
              <a:rPr kumimoji="1" lang="en-US" altLang="zh-CN"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Quick UDP Internet Connection</a:t>
            </a:r>
            <a:r>
              <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QUIC</a:t>
            </a:r>
            <a:r>
              <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）是</a:t>
            </a:r>
            <a:r>
              <a:rPr kumimoji="1" lang="en-US" altLang="zh-CN"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Google</a:t>
            </a:r>
            <a:r>
              <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在</a:t>
            </a:r>
            <a:r>
              <a:rPr kumimoji="1" lang="en-US" altLang="zh-CN"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2013</a:t>
            </a:r>
            <a:r>
              <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年推出的传输协议，它整合了</a:t>
            </a:r>
            <a:r>
              <a:rPr kumimoji="1" lang="en-US" altLang="zh-CN"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a:t>
            </a:r>
            <a:r>
              <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协议的可靠性和</a:t>
            </a:r>
            <a:r>
              <a:rPr kumimoji="1" lang="en-US" altLang="zh-CN"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协议的速度和效率。</a:t>
            </a:r>
            <a:endParaRPr kumimoji="1" lang="en-US" altLang="zh-CN"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7245" lvl="1" indent="-457200" algn="l" latinLnBrk="0">
              <a:lnSpc>
                <a:spcPct val="150000"/>
              </a:lnSpc>
              <a:spcBef>
                <a:spcPts val="0"/>
              </a:spcBef>
              <a:buClr>
                <a:srgbClr val="DF4F21"/>
              </a:buClr>
              <a:buSzTx/>
              <a:buFont typeface="Wingdings" panose="05000000000000000000" pitchFamily="2" charset="2"/>
              <a:buChar char="Ø"/>
            </a:pPr>
            <a:r>
              <a:rPr kumimoji="1" lang="zh-CN" altLang="en-US" sz="2400" b="1" kern="0" dirty="0">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建立连接时的低时延</a:t>
            </a:r>
            <a:endPar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7245" lvl="1" indent="-457200" algn="l" latinLnBrk="0">
              <a:lnSpc>
                <a:spcPct val="150000"/>
              </a:lnSpc>
              <a:spcBef>
                <a:spcPts val="0"/>
              </a:spcBef>
              <a:buClr>
                <a:srgbClr val="DF4F21"/>
              </a:buClr>
              <a:buSzTx/>
              <a:buFont typeface="Wingdings" panose="05000000000000000000" pitchFamily="2" charset="2"/>
              <a:buChar char="Ø"/>
            </a:pPr>
            <a:r>
              <a:rPr kumimoji="1" lang="zh-CN" altLang="en-US" sz="2400" b="1" kern="0" dirty="0">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改进了拥塞控制</a:t>
            </a:r>
            <a:endParaRPr kumimoji="1" lang="zh-CN" altLang="en-US" sz="2400" b="1" kern="0" dirty="0">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7245" lvl="1" indent="-457200" algn="l" latinLnBrk="0">
              <a:lnSpc>
                <a:spcPct val="150000"/>
              </a:lnSpc>
              <a:spcBef>
                <a:spcPts val="0"/>
              </a:spcBef>
              <a:buClr>
                <a:srgbClr val="DF4F21"/>
              </a:buClr>
              <a:buSzTx/>
              <a:buFont typeface="Wingdings" panose="05000000000000000000" pitchFamily="2" charset="2"/>
              <a:buChar char="Ø"/>
            </a:pPr>
            <a:r>
              <a:rPr kumimoji="1" lang="zh-CN" altLang="en-US" sz="2400" b="1" kern="0" dirty="0">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加密认证</a:t>
            </a:r>
            <a:endParaRPr kumimoji="1" lang="zh-CN" altLang="en-US" sz="2400" b="1" kern="0" dirty="0">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7245" lvl="1" indent="-457200" algn="l" latinLnBrk="0">
              <a:lnSpc>
                <a:spcPct val="150000"/>
              </a:lnSpc>
              <a:spcBef>
                <a:spcPts val="0"/>
              </a:spcBef>
              <a:buClr>
                <a:srgbClr val="DF4F21"/>
              </a:buClr>
              <a:buSzTx/>
              <a:buFont typeface="Wingdings" panose="05000000000000000000" pitchFamily="2" charset="2"/>
              <a:buChar char="Ø"/>
            </a:pPr>
            <a:r>
              <a:rPr kumimoji="1" lang="zh-CN" altLang="en-US" sz="2400" b="1" kern="0" dirty="0">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实现了连接迁移</a:t>
            </a:r>
            <a:endParaRPr kumimoji="1" lang="zh-CN" altLang="en-US" sz="24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9555480"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a:t>
            </a:r>
            <a:r>
              <a:rPr lang="en-US" altLang="zh-CN" sz="4000" dirty="0">
                <a:latin typeface="+mj-ea"/>
                <a:sym typeface="+mn-ea"/>
              </a:rPr>
              <a:t>2 </a:t>
            </a:r>
            <a:r>
              <a:rPr lang="en-US" altLang="zh-CN" sz="4000" dirty="0">
                <a:latin typeface="+mj-ea"/>
                <a:sym typeface="+mn-ea"/>
              </a:rPr>
              <a:t>UDP</a:t>
            </a:r>
            <a:r>
              <a:rPr lang="zh-CN" altLang="en-US" sz="4000" dirty="0">
                <a:latin typeface="+mj-ea"/>
                <a:sym typeface="+mn-ea"/>
              </a:rPr>
              <a:t>泛洪攻击与防御</a:t>
            </a:r>
            <a:endParaRPr lang="zh-CN" altLang="en-US" sz="4000" dirty="0">
              <a:latin typeface="+mj-ea"/>
              <a:sym typeface="+mn-ea"/>
            </a:endParaRPr>
          </a:p>
        </p:txBody>
      </p:sp>
      <p:sp>
        <p:nvSpPr>
          <p:cNvPr id="27" name="矩形 26"/>
          <p:cNvSpPr/>
          <p:nvPr/>
        </p:nvSpPr>
        <p:spPr>
          <a:xfrm>
            <a:off x="467995" y="2761615"/>
            <a:ext cx="3221990" cy="2087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t>  </a:t>
            </a:r>
            <a:r>
              <a:rPr lang="zh-CN" altLang="en-US" sz="2000" b="1" dirty="0"/>
              <a:t>攻击者通过僵尸网络向目标设备发送大量伪造的</a:t>
            </a:r>
            <a:r>
              <a:rPr lang="en-US" altLang="zh-CN" sz="2000" b="1" dirty="0"/>
              <a:t>UDP</a:t>
            </a:r>
            <a:r>
              <a:rPr lang="zh-CN" altLang="en-US" sz="2000" b="1" dirty="0"/>
              <a:t>报文，这种报文一般为大包且速率非常快，通常会造成链路拥塞甚至网络瘫痪的危害。</a:t>
            </a:r>
            <a:endParaRPr lang="zh-CN" altLang="en-US" sz="2000" b="1" dirty="0"/>
          </a:p>
        </p:txBody>
      </p:sp>
      <p:grpSp>
        <p:nvGrpSpPr>
          <p:cNvPr id="3" name="组合 2"/>
          <p:cNvGrpSpPr/>
          <p:nvPr/>
        </p:nvGrpSpPr>
        <p:grpSpPr>
          <a:xfrm>
            <a:off x="3689789" y="2276475"/>
            <a:ext cx="6935718" cy="4171880"/>
            <a:chOff x="7255" y="3906"/>
            <a:chExt cx="9872" cy="5732"/>
          </a:xfrm>
        </p:grpSpPr>
        <p:sp>
          <p:nvSpPr>
            <p:cNvPr id="3154" name="文本框 3153"/>
            <p:cNvSpPr txBox="1"/>
            <p:nvPr/>
          </p:nvSpPr>
          <p:spPr>
            <a:xfrm>
              <a:off x="10269" y="9132"/>
              <a:ext cx="2488" cy="506"/>
            </a:xfrm>
            <a:prstGeom prst="rect">
              <a:avLst/>
            </a:prstGeom>
            <a:noFill/>
          </p:spPr>
          <p:txBody>
            <a:bodyPr wrap="square" rtlCol="0">
              <a:spAutoFit/>
            </a:bodyPr>
            <a:lstStyle/>
            <a:p>
              <a:pPr algn="ctr"/>
              <a:r>
                <a:rPr lang="zh-CN" altLang="en-US" b="1" dirty="0"/>
                <a:t>“僵尸”主机</a:t>
              </a:r>
              <a:endParaRPr lang="zh-CN" altLang="en-US" b="1" dirty="0"/>
            </a:p>
          </p:txBody>
        </p:sp>
        <p:sp>
          <p:nvSpPr>
            <p:cNvPr id="3155" name="文本框 3154"/>
            <p:cNvSpPr txBox="1"/>
            <p:nvPr/>
          </p:nvSpPr>
          <p:spPr>
            <a:xfrm>
              <a:off x="13254" y="9123"/>
              <a:ext cx="2488" cy="506"/>
            </a:xfrm>
            <a:prstGeom prst="rect">
              <a:avLst/>
            </a:prstGeom>
            <a:noFill/>
          </p:spPr>
          <p:txBody>
            <a:bodyPr wrap="square" rtlCol="0">
              <a:spAutoFit/>
            </a:bodyPr>
            <a:lstStyle/>
            <a:p>
              <a:pPr algn="ctr"/>
              <a:r>
                <a:rPr lang="zh-CN" altLang="en-US" b="1" dirty="0"/>
                <a:t>“僵尸”主机</a:t>
              </a:r>
              <a:endParaRPr lang="zh-CN" altLang="en-US" b="1" dirty="0"/>
            </a:p>
          </p:txBody>
        </p:sp>
        <p:sp>
          <p:nvSpPr>
            <p:cNvPr id="3156" name="文本框 3155"/>
            <p:cNvSpPr txBox="1"/>
            <p:nvPr/>
          </p:nvSpPr>
          <p:spPr>
            <a:xfrm>
              <a:off x="13537" y="4468"/>
              <a:ext cx="2302" cy="506"/>
            </a:xfrm>
            <a:prstGeom prst="rect">
              <a:avLst/>
            </a:prstGeom>
            <a:noFill/>
          </p:spPr>
          <p:txBody>
            <a:bodyPr wrap="square" rtlCol="0">
              <a:spAutoFit/>
            </a:bodyPr>
            <a:lstStyle/>
            <a:p>
              <a:pPr algn="ctr"/>
              <a:r>
                <a:rPr lang="zh-CN" altLang="en-US" b="1" dirty="0">
                  <a:solidFill>
                    <a:schemeClr val="accent1">
                      <a:lumMod val="75000"/>
                    </a:schemeClr>
                  </a:solidFill>
                </a:rPr>
                <a:t>拒绝服务</a:t>
              </a:r>
              <a:endParaRPr lang="zh-CN" altLang="en-US" b="1" dirty="0">
                <a:solidFill>
                  <a:schemeClr val="accent1">
                    <a:lumMod val="75000"/>
                  </a:schemeClr>
                </a:solidFill>
              </a:endParaRPr>
            </a:p>
          </p:txBody>
        </p:sp>
        <p:sp>
          <p:nvSpPr>
            <p:cNvPr id="3157" name="文本框 3156"/>
            <p:cNvSpPr txBox="1"/>
            <p:nvPr/>
          </p:nvSpPr>
          <p:spPr>
            <a:xfrm>
              <a:off x="9694" y="3906"/>
              <a:ext cx="3529" cy="886"/>
            </a:xfrm>
            <a:prstGeom prst="rect">
              <a:avLst/>
            </a:prstGeom>
            <a:noFill/>
          </p:spPr>
          <p:txBody>
            <a:bodyPr wrap="square" rtlCol="0">
              <a:spAutoFit/>
            </a:bodyPr>
            <a:lstStyle/>
            <a:p>
              <a:r>
                <a:rPr lang="zh-CN" altLang="en-US" b="1" dirty="0">
                  <a:solidFill>
                    <a:schemeClr val="accent1">
                      <a:lumMod val="75000"/>
                    </a:schemeClr>
                  </a:solidFill>
                </a:rPr>
                <a:t>大量恶意请求</a:t>
              </a:r>
              <a:endParaRPr lang="en-US" altLang="zh-CN" b="1" dirty="0">
                <a:solidFill>
                  <a:schemeClr val="accent1">
                    <a:lumMod val="75000"/>
                  </a:schemeClr>
                </a:solidFill>
              </a:endParaRPr>
            </a:p>
            <a:p>
              <a:r>
                <a:rPr lang="zh-CN" altLang="en-US" b="1" dirty="0">
                  <a:solidFill>
                    <a:schemeClr val="accent1">
                      <a:lumMod val="75000"/>
                    </a:schemeClr>
                  </a:solidFill>
                </a:rPr>
                <a:t>导致服务器“瘫痪”</a:t>
              </a:r>
              <a:endParaRPr lang="zh-CN" altLang="en-US" b="1" dirty="0">
                <a:solidFill>
                  <a:schemeClr val="accent1">
                    <a:lumMod val="75000"/>
                  </a:schemeClr>
                </a:solidFill>
              </a:endParaRPr>
            </a:p>
          </p:txBody>
        </p:sp>
        <p:grpSp>
          <p:nvGrpSpPr>
            <p:cNvPr id="3158" name="组合 3157"/>
            <p:cNvGrpSpPr/>
            <p:nvPr/>
          </p:nvGrpSpPr>
          <p:grpSpPr>
            <a:xfrm>
              <a:off x="13812" y="5008"/>
              <a:ext cx="3315" cy="1514"/>
              <a:chOff x="6307500" y="3109123"/>
              <a:chExt cx="2104848" cy="961568"/>
            </a:xfrm>
          </p:grpSpPr>
          <p:cxnSp>
            <p:nvCxnSpPr>
              <p:cNvPr id="3159" name="直接箭头连接符 3158"/>
              <p:cNvCxnSpPr/>
              <p:nvPr/>
            </p:nvCxnSpPr>
            <p:spPr>
              <a:xfrm flipH="1" flipV="1">
                <a:off x="6307500" y="3109123"/>
                <a:ext cx="1436440" cy="961568"/>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160" name="文本框 3159"/>
              <p:cNvSpPr txBox="1"/>
              <p:nvPr/>
            </p:nvSpPr>
            <p:spPr>
              <a:xfrm>
                <a:off x="6950693" y="3350850"/>
                <a:ext cx="1461655" cy="321329"/>
              </a:xfrm>
              <a:prstGeom prst="rect">
                <a:avLst/>
              </a:prstGeom>
              <a:noFill/>
            </p:spPr>
            <p:txBody>
              <a:bodyPr wrap="square" rtlCol="0">
                <a:spAutoFit/>
              </a:bodyPr>
              <a:lstStyle/>
              <a:p>
                <a:pPr algn="ctr"/>
                <a:r>
                  <a:rPr lang="zh-CN" altLang="en-US" b="1" dirty="0">
                    <a:solidFill>
                      <a:schemeClr val="accent4"/>
                    </a:solidFill>
                  </a:rPr>
                  <a:t>正常请求</a:t>
                </a:r>
                <a:endParaRPr lang="zh-CN" altLang="en-US" b="1" dirty="0">
                  <a:solidFill>
                    <a:schemeClr val="accent4"/>
                  </a:solidFill>
                </a:endParaRPr>
              </a:p>
            </p:txBody>
          </p:sp>
        </p:grpSp>
        <p:grpSp>
          <p:nvGrpSpPr>
            <p:cNvPr id="3161" name="组合 3160"/>
            <p:cNvGrpSpPr/>
            <p:nvPr/>
          </p:nvGrpSpPr>
          <p:grpSpPr>
            <a:xfrm>
              <a:off x="7255" y="3999"/>
              <a:ext cx="9457" cy="5055"/>
              <a:chOff x="2143465" y="2468238"/>
              <a:chExt cx="6005144" cy="3209956"/>
            </a:xfrm>
          </p:grpSpPr>
          <p:cxnSp>
            <p:nvCxnSpPr>
              <p:cNvPr id="3162" name="直接连接符 3161"/>
              <p:cNvCxnSpPr/>
              <p:nvPr/>
            </p:nvCxnSpPr>
            <p:spPr>
              <a:xfrm flipH="1" flipV="1">
                <a:off x="3544166" y="3616358"/>
                <a:ext cx="1889607" cy="5802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63" name="组合 3162"/>
              <p:cNvGrpSpPr/>
              <p:nvPr/>
            </p:nvGrpSpPr>
            <p:grpSpPr>
              <a:xfrm>
                <a:off x="4552693" y="2468238"/>
                <a:ext cx="3595916" cy="3209956"/>
                <a:chOff x="762221" y="2326382"/>
                <a:chExt cx="3595916" cy="3209956"/>
              </a:xfrm>
            </p:grpSpPr>
            <p:cxnSp>
              <p:nvCxnSpPr>
                <p:cNvPr id="3166" name="直接连接符 3165"/>
                <p:cNvCxnSpPr>
                  <a:stCxn id="3171" idx="16"/>
                </p:cNvCxnSpPr>
                <p:nvPr/>
              </p:nvCxnSpPr>
              <p:spPr>
                <a:xfrm>
                  <a:off x="2557874" y="4512092"/>
                  <a:ext cx="520573" cy="6441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7" name="直接连接符 3166"/>
                <p:cNvCxnSpPr/>
                <p:nvPr/>
              </p:nvCxnSpPr>
              <p:spPr>
                <a:xfrm>
                  <a:off x="2769735" y="4155602"/>
                  <a:ext cx="107863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8" name="直接连接符 3167"/>
                <p:cNvCxnSpPr/>
                <p:nvPr/>
              </p:nvCxnSpPr>
              <p:spPr>
                <a:xfrm flipV="1">
                  <a:off x="1184115" y="4440432"/>
                  <a:ext cx="697312" cy="677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3169" name="图形 316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221" y="4939158"/>
                  <a:ext cx="617424" cy="597180"/>
                </a:xfrm>
                <a:prstGeom prst="rect">
                  <a:avLst/>
                </a:prstGeom>
              </p:spPr>
            </p:pic>
            <p:pic>
              <p:nvPicPr>
                <p:cNvPr id="3170" name="图形 316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96692" y="2326382"/>
                  <a:ext cx="522339" cy="685570"/>
                </a:xfrm>
                <a:prstGeom prst="rect">
                  <a:avLst/>
                </a:prstGeom>
              </p:spPr>
            </p:pic>
            <p:sp>
              <p:nvSpPr>
                <p:cNvPr id="3171" name="图形 73"/>
                <p:cNvSpPr/>
                <p:nvPr/>
              </p:nvSpPr>
              <p:spPr>
                <a:xfrm>
                  <a:off x="1433500" y="3653685"/>
                  <a:ext cx="1406085" cy="1003835"/>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accent6"/>
                </a:solidFill>
                <a:ln w="30732" cap="flat">
                  <a:solidFill>
                    <a:srgbClr val="323232"/>
                  </a:solidFill>
                  <a:prstDash val="solid"/>
                  <a:miter/>
                </a:ln>
              </p:spPr>
              <p:txBody>
                <a:bodyPr rtlCol="0" anchor="ctr"/>
                <a:lstStyle/>
                <a:p>
                  <a:pPr algn="ctr"/>
                  <a:endParaRPr lang="en-US" altLang="zh-CN" b="1" dirty="0">
                    <a:latin typeface="+mn-ea"/>
                  </a:endParaRPr>
                </a:p>
                <a:p>
                  <a:pPr algn="ctr"/>
                  <a:r>
                    <a:rPr lang="zh-CN" altLang="en-US" b="1" dirty="0">
                      <a:latin typeface="+mn-ea"/>
                    </a:rPr>
                    <a:t>因特网</a:t>
                  </a:r>
                  <a:endParaRPr lang="zh-CN" altLang="en-US" b="1" dirty="0">
                    <a:latin typeface="+mn-ea"/>
                  </a:endParaRPr>
                </a:p>
              </p:txBody>
            </p:sp>
            <p:cxnSp>
              <p:nvCxnSpPr>
                <p:cNvPr id="3172" name="直接连接符 3171"/>
                <p:cNvCxnSpPr/>
                <p:nvPr/>
              </p:nvCxnSpPr>
              <p:spPr>
                <a:xfrm>
                  <a:off x="2211812" y="2953709"/>
                  <a:ext cx="0" cy="7499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3173" name="图形 317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769735" y="4939158"/>
                  <a:ext cx="617424" cy="597180"/>
                </a:xfrm>
                <a:prstGeom prst="rect">
                  <a:avLst/>
                </a:prstGeom>
              </p:spPr>
            </p:pic>
            <p:pic>
              <p:nvPicPr>
                <p:cNvPr id="3174" name="图形 317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40713" y="3756140"/>
                  <a:ext cx="617424" cy="597180"/>
                </a:xfrm>
                <a:prstGeom prst="rect">
                  <a:avLst/>
                </a:prstGeom>
              </p:spPr>
            </p:pic>
            <p:sp>
              <p:nvSpPr>
                <p:cNvPr id="3175" name="文本框 3174"/>
                <p:cNvSpPr txBox="1"/>
                <p:nvPr/>
              </p:nvSpPr>
              <p:spPr>
                <a:xfrm>
                  <a:off x="1591506" y="5014009"/>
                  <a:ext cx="1013076" cy="347922"/>
                </a:xfrm>
                <a:prstGeom prst="rect">
                  <a:avLst/>
                </a:prstGeom>
                <a:noFill/>
              </p:spPr>
              <p:txBody>
                <a:bodyPr wrap="square" rtlCol="0">
                  <a:spAutoFit/>
                </a:bodyPr>
                <a:lstStyle/>
                <a:p>
                  <a:pPr algn="ctr"/>
                  <a:r>
                    <a:rPr lang="en-US" altLang="zh-CN" sz="2000" b="1" dirty="0">
                      <a:latin typeface="Arial Narrow" panose="020B0606020202030204" pitchFamily="34" charset="0"/>
                    </a:rPr>
                    <a:t>…</a:t>
                  </a:r>
                  <a:endParaRPr lang="zh-CN" altLang="en-US" sz="2000" b="1" dirty="0">
                    <a:latin typeface="Arial Narrow" panose="020B0606020202030204" pitchFamily="34" charset="0"/>
                  </a:endParaRPr>
                </a:p>
              </p:txBody>
            </p:sp>
          </p:grpSp>
          <p:pic>
            <p:nvPicPr>
              <p:cNvPr id="3164" name="图形 316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74676" y="3238965"/>
                <a:ext cx="617424" cy="597180"/>
              </a:xfrm>
              <a:prstGeom prst="rect">
                <a:avLst/>
              </a:prstGeom>
            </p:spPr>
          </p:pic>
          <p:sp>
            <p:nvSpPr>
              <p:cNvPr id="3165" name="文本框 3164"/>
              <p:cNvSpPr txBox="1"/>
              <p:nvPr/>
            </p:nvSpPr>
            <p:spPr>
              <a:xfrm>
                <a:off x="2143465" y="3350850"/>
                <a:ext cx="931211" cy="321329"/>
              </a:xfrm>
              <a:prstGeom prst="rect">
                <a:avLst/>
              </a:prstGeom>
              <a:noFill/>
            </p:spPr>
            <p:txBody>
              <a:bodyPr wrap="square" rtlCol="0">
                <a:spAutoFit/>
              </a:bodyPr>
              <a:lstStyle/>
              <a:p>
                <a:pPr algn="ctr"/>
                <a:r>
                  <a:rPr lang="zh-CN" altLang="en-US" b="1" dirty="0"/>
                  <a:t>攻击者</a:t>
                </a:r>
                <a:endParaRPr lang="zh-CN" altLang="en-US" b="1" dirty="0"/>
              </a:p>
            </p:txBody>
          </p:sp>
        </p:grpSp>
        <p:grpSp>
          <p:nvGrpSpPr>
            <p:cNvPr id="3177" name="组合 3176"/>
            <p:cNvGrpSpPr/>
            <p:nvPr/>
          </p:nvGrpSpPr>
          <p:grpSpPr>
            <a:xfrm>
              <a:off x="10145" y="5225"/>
              <a:ext cx="2970" cy="2683"/>
              <a:chOff x="6770364" y="3104977"/>
              <a:chExt cx="1886097" cy="1703846"/>
            </a:xfrm>
          </p:grpSpPr>
          <p:grpSp>
            <p:nvGrpSpPr>
              <p:cNvPr id="3178" name="组合 3177"/>
              <p:cNvGrpSpPr/>
              <p:nvPr/>
            </p:nvGrpSpPr>
            <p:grpSpPr>
              <a:xfrm>
                <a:off x="7638894" y="3104977"/>
                <a:ext cx="1017567" cy="1703846"/>
                <a:chOff x="1682581" y="3104977"/>
                <a:chExt cx="1017567" cy="1703846"/>
              </a:xfrm>
            </p:grpSpPr>
            <p:cxnSp>
              <p:nvCxnSpPr>
                <p:cNvPr id="3180" name="直接连接符 3179"/>
                <p:cNvCxnSpPr/>
                <p:nvPr/>
              </p:nvCxnSpPr>
              <p:spPr>
                <a:xfrm flipV="1">
                  <a:off x="1682581" y="3837709"/>
                  <a:ext cx="1017567" cy="971114"/>
                </a:xfrm>
                <a:prstGeom prst="line">
                  <a:avLst/>
                </a:prstGeom>
                <a:ln w="38100">
                  <a:solidFill>
                    <a:schemeClr val="accent1">
                      <a:lumMod val="75000"/>
                      <a:alpha val="99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81" name="直接箭头连接符 3180"/>
                <p:cNvCxnSpPr/>
                <p:nvPr/>
              </p:nvCxnSpPr>
              <p:spPr>
                <a:xfrm flipV="1">
                  <a:off x="2700148" y="3104977"/>
                  <a:ext cx="0" cy="651163"/>
                </a:xfrm>
                <a:prstGeom prst="straightConnector1">
                  <a:avLst/>
                </a:prstGeom>
                <a:ln w="38100">
                  <a:solidFill>
                    <a:schemeClr val="accent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3179" name="文本框 3178"/>
              <p:cNvSpPr txBox="1"/>
              <p:nvPr/>
            </p:nvSpPr>
            <p:spPr>
              <a:xfrm>
                <a:off x="6770364" y="3973520"/>
                <a:ext cx="1132915" cy="562880"/>
              </a:xfrm>
              <a:prstGeom prst="rect">
                <a:avLst/>
              </a:prstGeom>
              <a:noFill/>
            </p:spPr>
            <p:txBody>
              <a:bodyPr wrap="square" rtlCol="0">
                <a:spAutoFit/>
              </a:bodyPr>
              <a:lstStyle/>
              <a:p>
                <a:r>
                  <a:rPr lang="zh-CN" altLang="en-US" b="1" dirty="0">
                    <a:solidFill>
                      <a:schemeClr val="accent1">
                        <a:lumMod val="75000"/>
                      </a:schemeClr>
                    </a:solidFill>
                  </a:rPr>
                  <a:t>发送大量</a:t>
                </a:r>
                <a:endParaRPr lang="en-US" altLang="zh-CN" b="1" dirty="0">
                  <a:solidFill>
                    <a:schemeClr val="accent1">
                      <a:lumMod val="75000"/>
                    </a:schemeClr>
                  </a:solidFill>
                </a:endParaRPr>
              </a:p>
              <a:p>
                <a:r>
                  <a:rPr lang="zh-CN" altLang="en-US" b="1" dirty="0">
                    <a:solidFill>
                      <a:schemeClr val="accent1">
                        <a:lumMod val="75000"/>
                      </a:schemeClr>
                    </a:solidFill>
                  </a:rPr>
                  <a:t>恶意请求</a:t>
                </a:r>
                <a:endParaRPr lang="zh-CN" altLang="en-US" b="1" dirty="0">
                  <a:solidFill>
                    <a:schemeClr val="accent1">
                      <a:lumMod val="75000"/>
                    </a:schemeClr>
                  </a:solidFill>
                </a:endParaRPr>
              </a:p>
            </p:txBody>
          </p:sp>
        </p:grpSp>
        <p:grpSp>
          <p:nvGrpSpPr>
            <p:cNvPr id="3182" name="组合 3181"/>
            <p:cNvGrpSpPr/>
            <p:nvPr/>
          </p:nvGrpSpPr>
          <p:grpSpPr>
            <a:xfrm>
              <a:off x="13543" y="5217"/>
              <a:ext cx="3154" cy="2994"/>
              <a:chOff x="8927784" y="3099494"/>
              <a:chExt cx="2002864" cy="1901196"/>
            </a:xfrm>
          </p:grpSpPr>
          <p:cxnSp>
            <p:nvCxnSpPr>
              <p:cNvPr id="3183" name="直接连接符 3182"/>
              <p:cNvCxnSpPr/>
              <p:nvPr/>
            </p:nvCxnSpPr>
            <p:spPr>
              <a:xfrm flipH="1" flipV="1">
                <a:off x="8927784" y="3848291"/>
                <a:ext cx="884937" cy="1090867"/>
              </a:xfrm>
              <a:prstGeom prst="line">
                <a:avLst/>
              </a:prstGeom>
              <a:ln w="38100">
                <a:solidFill>
                  <a:schemeClr val="accent1">
                    <a:lumMod val="75000"/>
                    <a:alpha val="99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84" name="直接箭头连接符 3183"/>
              <p:cNvCxnSpPr/>
              <p:nvPr/>
            </p:nvCxnSpPr>
            <p:spPr>
              <a:xfrm flipV="1">
                <a:off x="8927784" y="3099494"/>
                <a:ext cx="0" cy="651163"/>
              </a:xfrm>
              <a:prstGeom prst="straightConnector1">
                <a:avLst/>
              </a:prstGeom>
              <a:ln w="38100">
                <a:solidFill>
                  <a:schemeClr val="accent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85" name="文本框 3184"/>
              <p:cNvSpPr txBox="1"/>
              <p:nvPr/>
            </p:nvSpPr>
            <p:spPr>
              <a:xfrm>
                <a:off x="9797733" y="4437810"/>
                <a:ext cx="1132915" cy="562880"/>
              </a:xfrm>
              <a:prstGeom prst="rect">
                <a:avLst/>
              </a:prstGeom>
              <a:noFill/>
            </p:spPr>
            <p:txBody>
              <a:bodyPr wrap="square" rtlCol="0">
                <a:spAutoFit/>
              </a:bodyPr>
              <a:lstStyle/>
              <a:p>
                <a:r>
                  <a:rPr lang="zh-CN" altLang="en-US" b="1" dirty="0">
                    <a:solidFill>
                      <a:schemeClr val="accent1">
                        <a:lumMod val="75000"/>
                      </a:schemeClr>
                    </a:solidFill>
                  </a:rPr>
                  <a:t>发送大量</a:t>
                </a:r>
                <a:endParaRPr lang="en-US" altLang="zh-CN" b="1" dirty="0">
                  <a:solidFill>
                    <a:schemeClr val="accent1">
                      <a:lumMod val="75000"/>
                    </a:schemeClr>
                  </a:solidFill>
                </a:endParaRPr>
              </a:p>
              <a:p>
                <a:r>
                  <a:rPr lang="zh-CN" altLang="en-US" b="1" dirty="0">
                    <a:solidFill>
                      <a:schemeClr val="accent1">
                        <a:lumMod val="75000"/>
                      </a:schemeClr>
                    </a:solidFill>
                  </a:rPr>
                  <a:t>恶意请求</a:t>
                </a:r>
                <a:endParaRPr lang="zh-CN" altLang="en-US" b="1" dirty="0">
                  <a:solidFill>
                    <a:schemeClr val="accent1">
                      <a:lumMod val="75000"/>
                    </a:schemeClr>
                  </a:solidFill>
                </a:endParaRPr>
              </a:p>
            </p:txBody>
          </p:sp>
        </p:grpSp>
      </p:grpSp>
      <p:sp>
        <p:nvSpPr>
          <p:cNvPr id="4" name="文本框 3"/>
          <p:cNvSpPr txBox="1"/>
          <p:nvPr/>
        </p:nvSpPr>
        <p:spPr>
          <a:xfrm>
            <a:off x="104140" y="1068070"/>
            <a:ext cx="11931015" cy="737235"/>
          </a:xfrm>
          <a:prstGeom prst="rect">
            <a:avLst/>
          </a:prstGeom>
          <a:noFill/>
        </p:spPr>
        <p:txBody>
          <a:bodyPr wrap="square" rtlCol="0" anchor="t">
            <a:spAutoFit/>
          </a:bodyPr>
          <a:p>
            <a:pPr marL="342900" indent="-342900" algn="l" latinLnBrk="0">
              <a:lnSpc>
                <a:spcPct val="150000"/>
              </a:lnSpc>
              <a:spcBef>
                <a:spcPts val="0"/>
              </a:spcBef>
              <a:buClr>
                <a:srgbClr val="DF4F21"/>
              </a:buClr>
              <a:buSzTx/>
              <a:buFont typeface="Wingdings" panose="05000000000000000000" charset="0"/>
              <a:buChar char="p"/>
            </a:pP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为了达到短时间内发送大量的流量，</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泛洪通常采用</a:t>
            </a:r>
            <a:r>
              <a:rPr kumimoji="1" lang="en-US" altLang="zh-CN"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DDoS</a:t>
            </a:r>
            <a:r>
              <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攻击的方式。</a:t>
            </a:r>
            <a:endParaRPr kumimoji="1" lang="zh-CN" altLang="en-US" sz="28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9555480"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a:t>
            </a:r>
            <a:r>
              <a:rPr lang="en-US" altLang="zh-CN" sz="4000" dirty="0">
                <a:latin typeface="+mj-ea"/>
                <a:sym typeface="+mn-ea"/>
              </a:rPr>
              <a:t>3 UDP</a:t>
            </a:r>
            <a:r>
              <a:rPr lang="zh-CN" altLang="en-US" sz="4000" dirty="0">
                <a:latin typeface="+mj-ea"/>
                <a:sym typeface="+mn-ea"/>
              </a:rPr>
              <a:t>反射放大攻击</a:t>
            </a:r>
            <a:endParaRPr lang="zh-CN" altLang="en-US" sz="4000" dirty="0">
              <a:latin typeface="+mj-ea"/>
              <a:sym typeface="+mn-ea"/>
            </a:endParaRPr>
          </a:p>
        </p:txBody>
      </p:sp>
      <p:sp>
        <p:nvSpPr>
          <p:cNvPr id="4102" name="文本框 4101"/>
          <p:cNvSpPr txBox="1"/>
          <p:nvPr/>
        </p:nvSpPr>
        <p:spPr>
          <a:xfrm>
            <a:off x="2444720" y="1779757"/>
            <a:ext cx="7239385" cy="461665"/>
          </a:xfrm>
          <a:prstGeom prst="rect">
            <a:avLst/>
          </a:prstGeom>
          <a:noFill/>
        </p:spPr>
        <p:txBody>
          <a:bodyPr wrap="square" rtlCol="0">
            <a:spAutoFit/>
          </a:bodyPr>
          <a:lstStyle/>
          <a:p>
            <a:pPr algn="ctr"/>
            <a:r>
              <a:rPr lang="zh-CN" altLang="en-US" sz="2400" b="1" dirty="0">
                <a:solidFill>
                  <a:schemeClr val="accent3">
                    <a:lumMod val="75000"/>
                  </a:schemeClr>
                </a:solidFill>
              </a:rPr>
              <a:t>反射放大攻击（</a:t>
            </a:r>
            <a:r>
              <a:rPr lang="en-US" altLang="zh-CN" sz="2400" b="1" dirty="0">
                <a:solidFill>
                  <a:schemeClr val="accent3">
                    <a:lumMod val="75000"/>
                  </a:schemeClr>
                </a:solidFill>
              </a:rPr>
              <a:t>Memcached</a:t>
            </a:r>
            <a:r>
              <a:rPr lang="zh-CN" altLang="en-US" sz="2400" b="1" dirty="0">
                <a:solidFill>
                  <a:schemeClr val="accent3">
                    <a:lumMod val="75000"/>
                  </a:schemeClr>
                </a:solidFill>
              </a:rPr>
              <a:t>服务为例）</a:t>
            </a:r>
            <a:endParaRPr lang="zh-CN" altLang="en-US" sz="2400" b="1" dirty="0">
              <a:solidFill>
                <a:schemeClr val="accent3">
                  <a:lumMod val="75000"/>
                </a:schemeClr>
              </a:solidFill>
            </a:endParaRPr>
          </a:p>
        </p:txBody>
      </p:sp>
      <p:grpSp>
        <p:nvGrpSpPr>
          <p:cNvPr id="4145" name="组合 4144"/>
          <p:cNvGrpSpPr/>
          <p:nvPr/>
        </p:nvGrpSpPr>
        <p:grpSpPr>
          <a:xfrm>
            <a:off x="2688720" y="2915678"/>
            <a:ext cx="8273414" cy="3231707"/>
            <a:chOff x="2688720" y="2915678"/>
            <a:chExt cx="8273414" cy="3231707"/>
          </a:xfrm>
        </p:grpSpPr>
        <p:cxnSp>
          <p:nvCxnSpPr>
            <p:cNvPr id="12" name="直接连接符 11"/>
            <p:cNvCxnSpPr>
              <a:stCxn id="8" idx="1"/>
              <a:endCxn id="4" idx="3"/>
            </p:cNvCxnSpPr>
            <p:nvPr/>
          </p:nvCxnSpPr>
          <p:spPr>
            <a:xfrm flipH="1" flipV="1">
              <a:off x="4633193" y="3281233"/>
              <a:ext cx="3607075" cy="432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688720" y="2965018"/>
              <a:ext cx="935167" cy="369332"/>
            </a:xfrm>
            <a:prstGeom prst="rect">
              <a:avLst/>
            </a:prstGeom>
            <a:noFill/>
          </p:spPr>
          <p:txBody>
            <a:bodyPr wrap="square" rtlCol="0">
              <a:spAutoFit/>
            </a:bodyPr>
            <a:lstStyle/>
            <a:p>
              <a:pPr algn="ctr"/>
              <a:r>
                <a:rPr lang="zh-CN" altLang="en-US" b="1" dirty="0">
                  <a:latin typeface="+mn-ea"/>
                </a:rPr>
                <a:t>攻击者</a:t>
              </a:r>
              <a:endParaRPr lang="zh-CN" altLang="en-US" b="1" dirty="0">
                <a:latin typeface="+mn-ea"/>
              </a:endParaRPr>
            </a:p>
          </p:txBody>
        </p:sp>
        <p:pic>
          <p:nvPicPr>
            <p:cNvPr id="4" name="图形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77300" y="2915678"/>
              <a:ext cx="755893" cy="731110"/>
            </a:xfrm>
            <a:prstGeom prst="rect">
              <a:avLst/>
            </a:prstGeom>
          </p:spPr>
        </p:pic>
        <p:sp>
          <p:nvSpPr>
            <p:cNvPr id="7" name="文本框 6"/>
            <p:cNvSpPr txBox="1"/>
            <p:nvPr/>
          </p:nvSpPr>
          <p:spPr>
            <a:xfrm>
              <a:off x="8728709" y="2965018"/>
              <a:ext cx="2233425" cy="369332"/>
            </a:xfrm>
            <a:prstGeom prst="rect">
              <a:avLst/>
            </a:prstGeom>
            <a:noFill/>
          </p:spPr>
          <p:txBody>
            <a:bodyPr wrap="square" rtlCol="0">
              <a:spAutoFit/>
            </a:bodyPr>
            <a:lstStyle/>
            <a:p>
              <a:pPr algn="ctr"/>
              <a:r>
                <a:rPr lang="en-US" altLang="zh-CN" b="1" dirty="0"/>
                <a:t>Memcached</a:t>
              </a:r>
              <a:r>
                <a:rPr lang="zh-CN" altLang="en-US" b="1" dirty="0"/>
                <a:t>服务器</a:t>
              </a:r>
              <a:endParaRPr lang="zh-CN" altLang="en-US" b="1" dirty="0"/>
            </a:p>
          </p:txBody>
        </p:sp>
        <p:pic>
          <p:nvPicPr>
            <p:cNvPr id="8" name="图形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40268" y="2965018"/>
              <a:ext cx="488441" cy="641079"/>
            </a:xfrm>
            <a:prstGeom prst="rect">
              <a:avLst/>
            </a:prstGeom>
          </p:spPr>
        </p:pic>
        <p:sp>
          <p:nvSpPr>
            <p:cNvPr id="4104" name="文本框 4103"/>
            <p:cNvSpPr txBox="1"/>
            <p:nvPr/>
          </p:nvSpPr>
          <p:spPr>
            <a:xfrm>
              <a:off x="9002796" y="5597164"/>
              <a:ext cx="1196807" cy="369332"/>
            </a:xfrm>
            <a:prstGeom prst="rect">
              <a:avLst/>
            </a:prstGeom>
            <a:noFill/>
          </p:spPr>
          <p:txBody>
            <a:bodyPr wrap="square" rtlCol="0">
              <a:spAutoFit/>
            </a:bodyPr>
            <a:lstStyle/>
            <a:p>
              <a:pPr algn="ctr"/>
              <a:r>
                <a:rPr lang="zh-CN" altLang="en-US" b="1" dirty="0">
                  <a:latin typeface="+mn-ea"/>
                </a:rPr>
                <a:t>攻击目标</a:t>
              </a:r>
              <a:endParaRPr lang="zh-CN" altLang="en-US" b="1" dirty="0">
                <a:latin typeface="+mn-ea"/>
              </a:endParaRPr>
            </a:p>
          </p:txBody>
        </p:sp>
        <p:pic>
          <p:nvPicPr>
            <p:cNvPr id="4105" name="图形 410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44733" y="5416275"/>
              <a:ext cx="755893" cy="731110"/>
            </a:xfrm>
            <a:prstGeom prst="rect">
              <a:avLst/>
            </a:prstGeom>
          </p:spPr>
        </p:pic>
        <p:cxnSp>
          <p:nvCxnSpPr>
            <p:cNvPr id="4108" name="直接连接符 4107"/>
            <p:cNvCxnSpPr>
              <a:stCxn id="4105" idx="0"/>
              <a:endCxn id="8" idx="2"/>
            </p:cNvCxnSpPr>
            <p:nvPr/>
          </p:nvCxnSpPr>
          <p:spPr>
            <a:xfrm flipH="1" flipV="1">
              <a:off x="8484489" y="3606097"/>
              <a:ext cx="38191" cy="18101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114" name="标注: 右箭头 4113"/>
          <p:cNvSpPr/>
          <p:nvPr/>
        </p:nvSpPr>
        <p:spPr>
          <a:xfrm>
            <a:off x="4672527" y="2891459"/>
            <a:ext cx="999117" cy="284206"/>
          </a:xfrm>
          <a:prstGeom prst="rightArrowCallout">
            <a:avLst>
              <a:gd name="adj1" fmla="val 25000"/>
              <a:gd name="adj2" fmla="val 25000"/>
              <a:gd name="adj3" fmla="val 25000"/>
              <a:gd name="adj4" fmla="val 8160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dirty="0"/>
          </a:p>
        </p:txBody>
      </p:sp>
      <p:sp>
        <p:nvSpPr>
          <p:cNvPr id="4117" name="标注: 右箭头 4116"/>
          <p:cNvSpPr/>
          <p:nvPr/>
        </p:nvSpPr>
        <p:spPr>
          <a:xfrm rot="5400000">
            <a:off x="8267342" y="4017083"/>
            <a:ext cx="999117" cy="284206"/>
          </a:xfrm>
          <a:prstGeom prst="rightArrowCallout">
            <a:avLst>
              <a:gd name="adj1" fmla="val 25000"/>
              <a:gd name="adj2" fmla="val 25000"/>
              <a:gd name="adj3" fmla="val 25000"/>
              <a:gd name="adj4" fmla="val 81601"/>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grpSp>
        <p:nvGrpSpPr>
          <p:cNvPr id="4119" name="组合 4118"/>
          <p:cNvGrpSpPr/>
          <p:nvPr/>
        </p:nvGrpSpPr>
        <p:grpSpPr>
          <a:xfrm>
            <a:off x="4999344" y="5300687"/>
            <a:ext cx="3767556" cy="1266902"/>
            <a:chOff x="1622053" y="5112564"/>
            <a:chExt cx="3767556" cy="1266902"/>
          </a:xfrm>
        </p:grpSpPr>
        <p:sp>
          <p:nvSpPr>
            <p:cNvPr id="4120" name="对话气泡: 矩形 4119"/>
            <p:cNvSpPr/>
            <p:nvPr/>
          </p:nvSpPr>
          <p:spPr>
            <a:xfrm>
              <a:off x="1622054" y="5112564"/>
              <a:ext cx="2936704" cy="1266902"/>
            </a:xfrm>
            <a:prstGeom prst="wedgeRectCallout">
              <a:avLst>
                <a:gd name="adj1" fmla="val 70666"/>
                <a:gd name="adj2" fmla="val -133536"/>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dirty="0"/>
            </a:p>
          </p:txBody>
        </p:sp>
        <p:grpSp>
          <p:nvGrpSpPr>
            <p:cNvPr id="4122" name="组合 4121"/>
            <p:cNvGrpSpPr/>
            <p:nvPr/>
          </p:nvGrpSpPr>
          <p:grpSpPr>
            <a:xfrm>
              <a:off x="1622053" y="5605681"/>
              <a:ext cx="1321439" cy="716109"/>
              <a:chOff x="1622053" y="5605681"/>
              <a:chExt cx="1321439" cy="716109"/>
            </a:xfrm>
          </p:grpSpPr>
          <p:sp>
            <p:nvSpPr>
              <p:cNvPr id="4127" name="文本框 4126"/>
              <p:cNvSpPr txBox="1"/>
              <p:nvPr/>
            </p:nvSpPr>
            <p:spPr>
              <a:xfrm>
                <a:off x="1622053" y="5605681"/>
                <a:ext cx="1321439" cy="369332"/>
              </a:xfrm>
              <a:prstGeom prst="rect">
                <a:avLst/>
              </a:prstGeom>
              <a:noFill/>
            </p:spPr>
            <p:txBody>
              <a:bodyPr wrap="square" rtlCol="0">
                <a:spAutoFit/>
              </a:bodyPr>
              <a:lstStyle/>
              <a:p>
                <a:r>
                  <a:rPr lang="zh-CN" altLang="en-US" b="1" dirty="0"/>
                  <a:t>目的</a:t>
                </a:r>
                <a:r>
                  <a:rPr lang="en-US" altLang="zh-CN" b="1" dirty="0"/>
                  <a:t>IP</a:t>
                </a:r>
                <a:r>
                  <a:rPr lang="zh-CN" altLang="en-US" b="1" dirty="0"/>
                  <a:t>地址：</a:t>
                </a:r>
                <a:endParaRPr lang="zh-CN" altLang="en-US" b="1" dirty="0"/>
              </a:p>
            </p:txBody>
          </p:sp>
          <p:sp>
            <p:nvSpPr>
              <p:cNvPr id="4128" name="文本框 4127"/>
              <p:cNvSpPr txBox="1"/>
              <p:nvPr/>
            </p:nvSpPr>
            <p:spPr>
              <a:xfrm>
                <a:off x="1622053" y="5952458"/>
                <a:ext cx="1321439" cy="369332"/>
              </a:xfrm>
              <a:prstGeom prst="rect">
                <a:avLst/>
              </a:prstGeom>
              <a:noFill/>
            </p:spPr>
            <p:txBody>
              <a:bodyPr wrap="square" rtlCol="0">
                <a:spAutoFit/>
              </a:bodyPr>
              <a:lstStyle/>
              <a:p>
                <a:r>
                  <a:rPr lang="zh-CN" altLang="en-US" b="1" dirty="0"/>
                  <a:t>源</a:t>
                </a:r>
                <a:r>
                  <a:rPr lang="en-US" altLang="zh-CN" b="1" dirty="0"/>
                  <a:t>IP</a:t>
                </a:r>
                <a:r>
                  <a:rPr lang="zh-CN" altLang="en-US" b="1" dirty="0"/>
                  <a:t>地址：</a:t>
                </a:r>
                <a:endParaRPr lang="zh-CN" altLang="en-US" b="1" dirty="0"/>
              </a:p>
            </p:txBody>
          </p:sp>
        </p:grpSp>
        <p:sp>
          <p:nvSpPr>
            <p:cNvPr id="4123" name="文本框 4122"/>
            <p:cNvSpPr txBox="1"/>
            <p:nvPr/>
          </p:nvSpPr>
          <p:spPr>
            <a:xfrm>
              <a:off x="2576577" y="5200854"/>
              <a:ext cx="1142245" cy="369332"/>
            </a:xfrm>
            <a:prstGeom prst="rect">
              <a:avLst/>
            </a:prstGeom>
            <a:noFill/>
          </p:spPr>
          <p:txBody>
            <a:bodyPr wrap="square" rtlCol="0">
              <a:spAutoFit/>
            </a:bodyPr>
            <a:lstStyle/>
            <a:p>
              <a:r>
                <a:rPr lang="zh-CN" altLang="en-US" b="1" dirty="0"/>
                <a:t>响应报文</a:t>
              </a:r>
              <a:endParaRPr lang="zh-CN" altLang="en-US" b="1" dirty="0"/>
            </a:p>
          </p:txBody>
        </p:sp>
        <p:sp>
          <p:nvSpPr>
            <p:cNvPr id="4124" name="文本框 4123"/>
            <p:cNvSpPr txBox="1"/>
            <p:nvPr/>
          </p:nvSpPr>
          <p:spPr>
            <a:xfrm>
              <a:off x="2943492" y="5605681"/>
              <a:ext cx="2446117" cy="369332"/>
            </a:xfrm>
            <a:prstGeom prst="rect">
              <a:avLst/>
            </a:prstGeom>
            <a:noFill/>
          </p:spPr>
          <p:txBody>
            <a:bodyPr wrap="square" rtlCol="0">
              <a:spAutoFit/>
            </a:bodyPr>
            <a:lstStyle/>
            <a:p>
              <a:r>
                <a:rPr lang="zh-CN" altLang="en-US" b="1" dirty="0">
                  <a:solidFill>
                    <a:schemeClr val="accent1">
                      <a:lumMod val="75000"/>
                    </a:schemeClr>
                  </a:solidFill>
                </a:rPr>
                <a:t>攻击目标地址</a:t>
              </a:r>
              <a:endParaRPr lang="zh-CN" altLang="en-US" b="1" dirty="0">
                <a:solidFill>
                  <a:schemeClr val="accent1">
                    <a:lumMod val="75000"/>
                  </a:schemeClr>
                </a:solidFill>
              </a:endParaRPr>
            </a:p>
          </p:txBody>
        </p:sp>
        <p:sp>
          <p:nvSpPr>
            <p:cNvPr id="4125" name="文本框 4124"/>
            <p:cNvSpPr txBox="1"/>
            <p:nvPr/>
          </p:nvSpPr>
          <p:spPr>
            <a:xfrm>
              <a:off x="2943492" y="5952458"/>
              <a:ext cx="2283416" cy="369332"/>
            </a:xfrm>
            <a:prstGeom prst="rect">
              <a:avLst/>
            </a:prstGeom>
            <a:noFill/>
          </p:spPr>
          <p:txBody>
            <a:bodyPr wrap="square" rtlCol="0">
              <a:spAutoFit/>
            </a:bodyPr>
            <a:lstStyle/>
            <a:p>
              <a:r>
                <a:rPr lang="zh-CN" altLang="en-US" b="1" dirty="0"/>
                <a:t>服务器地址</a:t>
              </a:r>
              <a:endParaRPr lang="zh-CN" altLang="en-US" b="1" dirty="0"/>
            </a:p>
          </p:txBody>
        </p:sp>
      </p:grpSp>
      <p:grpSp>
        <p:nvGrpSpPr>
          <p:cNvPr id="4146" name="组合 4145"/>
          <p:cNvGrpSpPr/>
          <p:nvPr/>
        </p:nvGrpSpPr>
        <p:grpSpPr>
          <a:xfrm>
            <a:off x="2144788" y="3852213"/>
            <a:ext cx="4346246" cy="1283175"/>
            <a:chOff x="2144788" y="3852213"/>
            <a:chExt cx="4346246" cy="1283175"/>
          </a:xfrm>
        </p:grpSpPr>
        <p:grpSp>
          <p:nvGrpSpPr>
            <p:cNvPr id="17" name="组合 16"/>
            <p:cNvGrpSpPr/>
            <p:nvPr/>
          </p:nvGrpSpPr>
          <p:grpSpPr>
            <a:xfrm>
              <a:off x="2144788" y="3852213"/>
              <a:ext cx="4346246" cy="1283175"/>
              <a:chOff x="1612825" y="5380930"/>
              <a:chExt cx="4139819" cy="1148811"/>
            </a:xfrm>
          </p:grpSpPr>
          <p:sp>
            <p:nvSpPr>
              <p:cNvPr id="18" name="对话气泡: 矩形 17"/>
              <p:cNvSpPr/>
              <p:nvPr/>
            </p:nvSpPr>
            <p:spPr>
              <a:xfrm>
                <a:off x="1612825" y="5380930"/>
                <a:ext cx="4011214" cy="1148811"/>
              </a:xfrm>
              <a:prstGeom prst="wedgeRectCallout">
                <a:avLst>
                  <a:gd name="adj1" fmla="val 30492"/>
                  <a:gd name="adj2" fmla="val -98929"/>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grpSp>
            <p:nvGrpSpPr>
              <p:cNvPr id="20" name="组合 19"/>
              <p:cNvGrpSpPr/>
              <p:nvPr/>
            </p:nvGrpSpPr>
            <p:grpSpPr>
              <a:xfrm>
                <a:off x="1741430" y="5777353"/>
                <a:ext cx="1321439" cy="716109"/>
                <a:chOff x="1741430" y="5777353"/>
                <a:chExt cx="1321439" cy="716109"/>
              </a:xfrm>
            </p:grpSpPr>
            <p:sp>
              <p:nvSpPr>
                <p:cNvPr id="25" name="文本框 24"/>
                <p:cNvSpPr txBox="1"/>
                <p:nvPr/>
              </p:nvSpPr>
              <p:spPr>
                <a:xfrm>
                  <a:off x="1741430" y="5777353"/>
                  <a:ext cx="1321439" cy="369332"/>
                </a:xfrm>
                <a:prstGeom prst="rect">
                  <a:avLst/>
                </a:prstGeom>
                <a:noFill/>
              </p:spPr>
              <p:txBody>
                <a:bodyPr wrap="square" rtlCol="0">
                  <a:spAutoFit/>
                </a:bodyPr>
                <a:lstStyle/>
                <a:p>
                  <a:r>
                    <a:rPr lang="zh-CN" altLang="en-US" b="1" dirty="0"/>
                    <a:t>目的</a:t>
                  </a:r>
                  <a:r>
                    <a:rPr lang="en-US" altLang="zh-CN" b="1" dirty="0"/>
                    <a:t>IP</a:t>
                  </a:r>
                  <a:r>
                    <a:rPr lang="zh-CN" altLang="en-US" b="1" dirty="0"/>
                    <a:t>地址：</a:t>
                  </a:r>
                  <a:endParaRPr lang="zh-CN" altLang="en-US" b="1" dirty="0"/>
                </a:p>
              </p:txBody>
            </p:sp>
            <p:sp>
              <p:nvSpPr>
                <p:cNvPr id="26" name="文本框 25"/>
                <p:cNvSpPr txBox="1"/>
                <p:nvPr/>
              </p:nvSpPr>
              <p:spPr>
                <a:xfrm>
                  <a:off x="1741430" y="6124130"/>
                  <a:ext cx="1321439" cy="369332"/>
                </a:xfrm>
                <a:prstGeom prst="rect">
                  <a:avLst/>
                </a:prstGeom>
                <a:noFill/>
              </p:spPr>
              <p:txBody>
                <a:bodyPr wrap="square" rtlCol="0">
                  <a:spAutoFit/>
                </a:bodyPr>
                <a:lstStyle/>
                <a:p>
                  <a:r>
                    <a:rPr lang="zh-CN" altLang="en-US" b="1" dirty="0"/>
                    <a:t>源</a:t>
                  </a:r>
                  <a:r>
                    <a:rPr lang="en-US" altLang="zh-CN" b="1" dirty="0"/>
                    <a:t>IP</a:t>
                  </a:r>
                  <a:r>
                    <a:rPr lang="zh-CN" altLang="en-US" b="1" dirty="0"/>
                    <a:t>地址：</a:t>
                  </a:r>
                  <a:endParaRPr lang="zh-CN" altLang="en-US" b="1" dirty="0"/>
                </a:p>
              </p:txBody>
            </p:sp>
          </p:grpSp>
          <p:sp>
            <p:nvSpPr>
              <p:cNvPr id="22" name="文本框 21"/>
              <p:cNvSpPr txBox="1"/>
              <p:nvPr/>
            </p:nvSpPr>
            <p:spPr>
              <a:xfrm>
                <a:off x="3062869" y="5777354"/>
                <a:ext cx="2689775" cy="369332"/>
              </a:xfrm>
              <a:prstGeom prst="rect">
                <a:avLst/>
              </a:prstGeom>
              <a:noFill/>
            </p:spPr>
            <p:txBody>
              <a:bodyPr wrap="square" rtlCol="0">
                <a:spAutoFit/>
              </a:bodyPr>
              <a:lstStyle/>
              <a:p>
                <a:r>
                  <a:rPr lang="en-US" altLang="zh-CN" b="1" dirty="0"/>
                  <a:t>Memcached</a:t>
                </a:r>
                <a:r>
                  <a:rPr lang="zh-CN" altLang="en-US" b="1" dirty="0"/>
                  <a:t>服务器地址</a:t>
                </a:r>
                <a:endParaRPr lang="zh-CN" altLang="en-US" b="1" dirty="0"/>
              </a:p>
            </p:txBody>
          </p:sp>
          <p:sp>
            <p:nvSpPr>
              <p:cNvPr id="23" name="文本框 22"/>
              <p:cNvSpPr txBox="1"/>
              <p:nvPr/>
            </p:nvSpPr>
            <p:spPr>
              <a:xfrm>
                <a:off x="3062869" y="6124130"/>
                <a:ext cx="2283416" cy="330658"/>
              </a:xfrm>
              <a:prstGeom prst="rect">
                <a:avLst/>
              </a:prstGeom>
              <a:noFill/>
            </p:spPr>
            <p:txBody>
              <a:bodyPr wrap="square" rtlCol="0">
                <a:spAutoFit/>
              </a:bodyPr>
              <a:lstStyle/>
              <a:p>
                <a:r>
                  <a:rPr lang="zh-CN" altLang="en-US" b="1" dirty="0">
                    <a:solidFill>
                      <a:schemeClr val="accent1">
                        <a:lumMod val="75000"/>
                      </a:schemeClr>
                    </a:solidFill>
                  </a:rPr>
                  <a:t>攻击目标地址</a:t>
                </a:r>
                <a:endParaRPr lang="zh-CN" altLang="en-US" b="1" dirty="0">
                  <a:solidFill>
                    <a:schemeClr val="accent1">
                      <a:lumMod val="75000"/>
                    </a:schemeClr>
                  </a:solidFill>
                </a:endParaRPr>
              </a:p>
            </p:txBody>
          </p:sp>
        </p:grpSp>
        <p:sp>
          <p:nvSpPr>
            <p:cNvPr id="4139" name="文本框 4138"/>
            <p:cNvSpPr txBox="1"/>
            <p:nvPr/>
          </p:nvSpPr>
          <p:spPr>
            <a:xfrm>
              <a:off x="3667137" y="3928107"/>
              <a:ext cx="1142245" cy="369332"/>
            </a:xfrm>
            <a:prstGeom prst="rect">
              <a:avLst/>
            </a:prstGeom>
            <a:noFill/>
          </p:spPr>
          <p:txBody>
            <a:bodyPr wrap="square" rtlCol="0">
              <a:spAutoFit/>
            </a:bodyPr>
            <a:lstStyle/>
            <a:p>
              <a:r>
                <a:rPr lang="zh-CN" altLang="en-US" b="1" dirty="0"/>
                <a:t>请求报文</a:t>
              </a:r>
              <a:endParaRPr lang="zh-CN" altLang="en-US" b="1" dirty="0"/>
            </a:p>
          </p:txBody>
        </p:sp>
      </p:grpSp>
      <p:sp>
        <p:nvSpPr>
          <p:cNvPr id="4141" name="文本框 4140"/>
          <p:cNvSpPr txBox="1"/>
          <p:nvPr/>
        </p:nvSpPr>
        <p:spPr>
          <a:xfrm>
            <a:off x="124095" y="1847185"/>
            <a:ext cx="2992954" cy="1477328"/>
          </a:xfrm>
          <a:prstGeom prst="rect">
            <a:avLst/>
          </a:prstGeom>
          <a:noFill/>
        </p:spPr>
        <p:txBody>
          <a:bodyPr wrap="square" rtlCol="0">
            <a:spAutoFit/>
          </a:bodyPr>
          <a:lstStyle/>
          <a:p>
            <a:r>
              <a:rPr lang="en-US" altLang="zh-CN" b="1" dirty="0">
                <a:solidFill>
                  <a:schemeClr val="accent5"/>
                </a:solidFill>
              </a:rPr>
              <a:t>Memcached</a:t>
            </a:r>
            <a:r>
              <a:rPr lang="zh-CN" altLang="en-US" b="1" dirty="0">
                <a:solidFill>
                  <a:schemeClr val="accent5"/>
                </a:solidFill>
              </a:rPr>
              <a:t>支持</a:t>
            </a:r>
            <a:r>
              <a:rPr lang="en-US" altLang="zh-CN" b="1" dirty="0">
                <a:solidFill>
                  <a:schemeClr val="accent5"/>
                </a:solidFill>
              </a:rPr>
              <a:t>UDP</a:t>
            </a:r>
            <a:r>
              <a:rPr lang="zh-CN" altLang="en-US" b="1" dirty="0">
                <a:solidFill>
                  <a:schemeClr val="accent5"/>
                </a:solidFill>
              </a:rPr>
              <a:t>协议的访问请求，攻击者向</a:t>
            </a:r>
            <a:r>
              <a:rPr lang="en-US" altLang="zh-CN" b="1" dirty="0">
                <a:solidFill>
                  <a:schemeClr val="accent5"/>
                </a:solidFill>
              </a:rPr>
              <a:t>Memcached</a:t>
            </a:r>
            <a:r>
              <a:rPr lang="zh-CN" altLang="en-US" b="1" dirty="0">
                <a:solidFill>
                  <a:schemeClr val="accent5"/>
                </a:solidFill>
              </a:rPr>
              <a:t>服务器的</a:t>
            </a:r>
            <a:r>
              <a:rPr lang="en-US" altLang="zh-CN" b="1" dirty="0">
                <a:solidFill>
                  <a:schemeClr val="accent5"/>
                </a:solidFill>
              </a:rPr>
              <a:t>UDP 11211</a:t>
            </a:r>
            <a:r>
              <a:rPr lang="zh-CN" altLang="en-US" b="1" dirty="0">
                <a:solidFill>
                  <a:schemeClr val="accent5"/>
                </a:solidFill>
              </a:rPr>
              <a:t>端口发送伪造源</a:t>
            </a:r>
            <a:r>
              <a:rPr lang="en-US" altLang="zh-CN" b="1" dirty="0">
                <a:solidFill>
                  <a:schemeClr val="accent5"/>
                </a:solidFill>
              </a:rPr>
              <a:t>IP</a:t>
            </a:r>
            <a:r>
              <a:rPr lang="zh-CN" altLang="en-US" b="1" dirty="0">
                <a:solidFill>
                  <a:schemeClr val="accent5"/>
                </a:solidFill>
              </a:rPr>
              <a:t>的小字节请求。</a:t>
            </a:r>
            <a:endParaRPr lang="en-US" altLang="zh-CN" b="1" dirty="0">
              <a:solidFill>
                <a:schemeClr val="accent5"/>
              </a:solidFill>
            </a:endParaRPr>
          </a:p>
        </p:txBody>
      </p:sp>
      <p:sp>
        <p:nvSpPr>
          <p:cNvPr id="4144" name="文本框 4143"/>
          <p:cNvSpPr txBox="1"/>
          <p:nvPr/>
        </p:nvSpPr>
        <p:spPr>
          <a:xfrm>
            <a:off x="8900626" y="1499518"/>
            <a:ext cx="3056432" cy="1200329"/>
          </a:xfrm>
          <a:prstGeom prst="rect">
            <a:avLst/>
          </a:prstGeom>
          <a:noFill/>
        </p:spPr>
        <p:txBody>
          <a:bodyPr wrap="square">
            <a:spAutoFit/>
          </a:bodyPr>
          <a:lstStyle/>
          <a:p>
            <a:r>
              <a:rPr lang="en-US" altLang="zh-CN" b="1" dirty="0">
                <a:solidFill>
                  <a:schemeClr val="accent5"/>
                </a:solidFill>
              </a:rPr>
              <a:t>Memcached</a:t>
            </a:r>
            <a:r>
              <a:rPr lang="zh-CN" altLang="en-US" b="1" dirty="0">
                <a:solidFill>
                  <a:schemeClr val="accent5"/>
                </a:solidFill>
              </a:rPr>
              <a:t>服务器在收到该报文后会产生</a:t>
            </a:r>
            <a:r>
              <a:rPr lang="zh-CN" altLang="en-US" b="1" dirty="0">
                <a:solidFill>
                  <a:srgbClr val="FF0000"/>
                </a:solidFill>
              </a:rPr>
              <a:t>数万倍大小</a:t>
            </a:r>
            <a:r>
              <a:rPr lang="zh-CN" altLang="en-US" b="1" dirty="0">
                <a:solidFill>
                  <a:schemeClr val="accent5"/>
                </a:solidFill>
              </a:rPr>
              <a:t>的响应并发回伪造源</a:t>
            </a:r>
            <a:r>
              <a:rPr lang="en-US" altLang="zh-CN" b="1" dirty="0">
                <a:solidFill>
                  <a:schemeClr val="accent5"/>
                </a:solidFill>
              </a:rPr>
              <a:t>IP</a:t>
            </a:r>
            <a:r>
              <a:rPr lang="zh-CN" altLang="en-US" b="1" dirty="0">
                <a:solidFill>
                  <a:schemeClr val="accent5"/>
                </a:solidFill>
              </a:rPr>
              <a:t>地址服务器即被攻击目标。</a:t>
            </a:r>
            <a:endParaRPr lang="en-US" altLang="zh-CN" b="1" dirty="0">
              <a:solidFill>
                <a:schemeClr val="accent5"/>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fade">
                                      <p:cBhvr>
                                        <p:cTn id="7" dur="1000"/>
                                        <p:tgtEl>
                                          <p:spTgt spid="4102"/>
                                        </p:tgtEl>
                                      </p:cBhvr>
                                    </p:animEffect>
                                    <p:anim calcmode="lin" valueType="num">
                                      <p:cBhvr>
                                        <p:cTn id="8" dur="1000" fill="hold"/>
                                        <p:tgtEl>
                                          <p:spTgt spid="4102"/>
                                        </p:tgtEl>
                                        <p:attrNameLst>
                                          <p:attrName>ppt_x</p:attrName>
                                        </p:attrNameLst>
                                      </p:cBhvr>
                                      <p:tavLst>
                                        <p:tav tm="0">
                                          <p:val>
                                            <p:strVal val="#ppt_x"/>
                                          </p:val>
                                        </p:tav>
                                        <p:tav tm="100000">
                                          <p:val>
                                            <p:strVal val="#ppt_x"/>
                                          </p:val>
                                        </p:tav>
                                      </p:tavLst>
                                    </p:anim>
                                    <p:anim calcmode="lin" valueType="num">
                                      <p:cBhvr>
                                        <p:cTn id="9" dur="1000" fill="hold"/>
                                        <p:tgtEl>
                                          <p:spTgt spid="410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4145"/>
                                        </p:tgtEl>
                                        <p:attrNameLst>
                                          <p:attrName>style.visibility</p:attrName>
                                        </p:attrNameLst>
                                      </p:cBhvr>
                                      <p:to>
                                        <p:strVal val="visible"/>
                                      </p:to>
                                    </p:set>
                                    <p:anim calcmode="lin" valueType="num">
                                      <p:cBhvr>
                                        <p:cTn id="14" dur="1000" fill="hold"/>
                                        <p:tgtEl>
                                          <p:spTgt spid="4145"/>
                                        </p:tgtEl>
                                        <p:attrNameLst>
                                          <p:attrName>ppt_w</p:attrName>
                                        </p:attrNameLst>
                                      </p:cBhvr>
                                      <p:tavLst>
                                        <p:tav tm="0">
                                          <p:val>
                                            <p:fltVal val="0"/>
                                          </p:val>
                                        </p:tav>
                                        <p:tav tm="100000">
                                          <p:val>
                                            <p:strVal val="#ppt_w"/>
                                          </p:val>
                                        </p:tav>
                                      </p:tavLst>
                                    </p:anim>
                                    <p:anim calcmode="lin" valueType="num">
                                      <p:cBhvr>
                                        <p:cTn id="15" dur="1000" fill="hold"/>
                                        <p:tgtEl>
                                          <p:spTgt spid="4145"/>
                                        </p:tgtEl>
                                        <p:attrNameLst>
                                          <p:attrName>ppt_h</p:attrName>
                                        </p:attrNameLst>
                                      </p:cBhvr>
                                      <p:tavLst>
                                        <p:tav tm="0">
                                          <p:val>
                                            <p:fltVal val="0"/>
                                          </p:val>
                                        </p:tav>
                                        <p:tav tm="100000">
                                          <p:val>
                                            <p:strVal val="#ppt_h"/>
                                          </p:val>
                                        </p:tav>
                                      </p:tavLst>
                                    </p:anim>
                                    <p:anim calcmode="lin" valueType="num">
                                      <p:cBhvr>
                                        <p:cTn id="16" dur="1000" fill="hold"/>
                                        <p:tgtEl>
                                          <p:spTgt spid="4145"/>
                                        </p:tgtEl>
                                        <p:attrNameLst>
                                          <p:attrName>style.rotation</p:attrName>
                                        </p:attrNameLst>
                                      </p:cBhvr>
                                      <p:tavLst>
                                        <p:tav tm="0">
                                          <p:val>
                                            <p:fltVal val="90"/>
                                          </p:val>
                                        </p:tav>
                                        <p:tav tm="100000">
                                          <p:val>
                                            <p:fltVal val="0"/>
                                          </p:val>
                                        </p:tav>
                                      </p:tavLst>
                                    </p:anim>
                                    <p:animEffect transition="in" filter="fade">
                                      <p:cBhvr>
                                        <p:cTn id="17" dur="1000"/>
                                        <p:tgtEl>
                                          <p:spTgt spid="41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14"/>
                                        </p:tgtEl>
                                        <p:attrNameLst>
                                          <p:attrName>style.visibility</p:attrName>
                                        </p:attrNameLst>
                                      </p:cBhvr>
                                      <p:to>
                                        <p:strVal val="visible"/>
                                      </p:to>
                                    </p:set>
                                    <p:animEffect transition="in" filter="fade">
                                      <p:cBhvr>
                                        <p:cTn id="22" dur="500"/>
                                        <p:tgtEl>
                                          <p:spTgt spid="41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146"/>
                                        </p:tgtEl>
                                        <p:attrNameLst>
                                          <p:attrName>style.visibility</p:attrName>
                                        </p:attrNameLst>
                                      </p:cBhvr>
                                      <p:to>
                                        <p:strVal val="visible"/>
                                      </p:to>
                                    </p:set>
                                    <p:animEffect transition="in" filter="wipe(down)">
                                      <p:cBhvr>
                                        <p:cTn id="27" dur="500"/>
                                        <p:tgtEl>
                                          <p:spTgt spid="414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2" fill="hold" grpId="0" nodeType="clickEffect">
                                  <p:stCondLst>
                                    <p:cond delay="0"/>
                                  </p:stCondLst>
                                  <p:childTnLst>
                                    <p:set>
                                      <p:cBhvr>
                                        <p:cTn id="31" dur="1" fill="hold">
                                          <p:stCondLst>
                                            <p:cond delay="0"/>
                                          </p:stCondLst>
                                        </p:cTn>
                                        <p:tgtEl>
                                          <p:spTgt spid="4141"/>
                                        </p:tgtEl>
                                        <p:attrNameLst>
                                          <p:attrName>style.visibility</p:attrName>
                                        </p:attrNameLst>
                                      </p:cBhvr>
                                      <p:to>
                                        <p:strVal val="visible"/>
                                      </p:to>
                                    </p:set>
                                    <p:anim calcmode="lin" valueType="num">
                                      <p:cBhvr additive="base">
                                        <p:cTn id="32" dur="500"/>
                                        <p:tgtEl>
                                          <p:spTgt spid="4141"/>
                                        </p:tgtEl>
                                        <p:attrNameLst>
                                          <p:attrName>ppt_x</p:attrName>
                                        </p:attrNameLst>
                                      </p:cBhvr>
                                      <p:tavLst>
                                        <p:tav tm="0">
                                          <p:val>
                                            <p:strVal val="#ppt_x+#ppt_w*1.125000"/>
                                          </p:val>
                                        </p:tav>
                                        <p:tav tm="100000">
                                          <p:val>
                                            <p:strVal val="#ppt_x"/>
                                          </p:val>
                                        </p:tav>
                                      </p:tavLst>
                                    </p:anim>
                                    <p:animEffect transition="in" filter="wipe(left)">
                                      <p:cBhvr>
                                        <p:cTn id="33" dur="500"/>
                                        <p:tgtEl>
                                          <p:spTgt spid="4141"/>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childTnLst>
                                    <p:set>
                                      <p:cBhvr>
                                        <p:cTn id="37" dur="1" fill="hold">
                                          <p:stCondLst>
                                            <p:cond delay="0"/>
                                          </p:stCondLst>
                                        </p:cTn>
                                        <p:tgtEl>
                                          <p:spTgt spid="4117"/>
                                        </p:tgtEl>
                                        <p:attrNameLst>
                                          <p:attrName>style.visibility</p:attrName>
                                        </p:attrNameLst>
                                      </p:cBhvr>
                                      <p:to>
                                        <p:strVal val="visible"/>
                                      </p:to>
                                    </p:set>
                                    <p:anim calcmode="lin" valueType="num">
                                      <p:cBhvr additive="base">
                                        <p:cTn id="38" dur="500"/>
                                        <p:tgtEl>
                                          <p:spTgt spid="4117"/>
                                        </p:tgtEl>
                                        <p:attrNameLst>
                                          <p:attrName>ppt_y</p:attrName>
                                        </p:attrNameLst>
                                      </p:cBhvr>
                                      <p:tavLst>
                                        <p:tav tm="0">
                                          <p:val>
                                            <p:strVal val="#ppt_y-#ppt_h*1.125000"/>
                                          </p:val>
                                        </p:tav>
                                        <p:tav tm="100000">
                                          <p:val>
                                            <p:strVal val="#ppt_y"/>
                                          </p:val>
                                        </p:tav>
                                      </p:tavLst>
                                    </p:anim>
                                    <p:animEffect transition="in" filter="wipe(down)">
                                      <p:cBhvr>
                                        <p:cTn id="39" dur="500"/>
                                        <p:tgtEl>
                                          <p:spTgt spid="4117"/>
                                        </p:tgtEl>
                                      </p:cBhvr>
                                    </p:animEffect>
                                  </p:childTnLst>
                                </p:cTn>
                              </p:par>
                              <p:par>
                                <p:cTn id="40" presetID="22" presetClass="entr" presetSubtype="8" fill="hold" nodeType="withEffect">
                                  <p:stCondLst>
                                    <p:cond delay="0"/>
                                  </p:stCondLst>
                                  <p:childTnLst>
                                    <p:set>
                                      <p:cBhvr>
                                        <p:cTn id="41" dur="1" fill="hold">
                                          <p:stCondLst>
                                            <p:cond delay="0"/>
                                          </p:stCondLst>
                                        </p:cTn>
                                        <p:tgtEl>
                                          <p:spTgt spid="4119"/>
                                        </p:tgtEl>
                                        <p:attrNameLst>
                                          <p:attrName>style.visibility</p:attrName>
                                        </p:attrNameLst>
                                      </p:cBhvr>
                                      <p:to>
                                        <p:strVal val="visible"/>
                                      </p:to>
                                    </p:set>
                                    <p:animEffect transition="in" filter="wipe(left)">
                                      <p:cBhvr>
                                        <p:cTn id="42" dur="500"/>
                                        <p:tgtEl>
                                          <p:spTgt spid="4119"/>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4144"/>
                                        </p:tgtEl>
                                        <p:attrNameLst>
                                          <p:attrName>style.visibility</p:attrName>
                                        </p:attrNameLst>
                                      </p:cBhvr>
                                      <p:to>
                                        <p:strVal val="visible"/>
                                      </p:to>
                                    </p:set>
                                    <p:anim calcmode="lin" valueType="num">
                                      <p:cBhvr additive="base">
                                        <p:cTn id="47" dur="500"/>
                                        <p:tgtEl>
                                          <p:spTgt spid="4144"/>
                                        </p:tgtEl>
                                        <p:attrNameLst>
                                          <p:attrName>ppt_y</p:attrName>
                                        </p:attrNameLst>
                                      </p:cBhvr>
                                      <p:tavLst>
                                        <p:tav tm="0">
                                          <p:val>
                                            <p:strVal val="#ppt_y+#ppt_h*1.125000"/>
                                          </p:val>
                                        </p:tav>
                                        <p:tav tm="100000">
                                          <p:val>
                                            <p:strVal val="#ppt_y"/>
                                          </p:val>
                                        </p:tav>
                                      </p:tavLst>
                                    </p:anim>
                                    <p:animEffect transition="in" filter="wipe(up)">
                                      <p:cBhvr>
                                        <p:cTn id="48" dur="500"/>
                                        <p:tgtEl>
                                          <p:spTgt spid="4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 grpId="0"/>
      <p:bldP spid="4114" grpId="0" bldLvl="0" animBg="1"/>
      <p:bldP spid="4117" grpId="0" bldLvl="0" animBg="1"/>
      <p:bldP spid="4141" grpId="0"/>
      <p:bldP spid="414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9555480"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a:t>
            </a:r>
            <a:r>
              <a:rPr lang="en-US" altLang="zh-CN" sz="4000" dirty="0">
                <a:latin typeface="+mj-ea"/>
                <a:sym typeface="+mn-ea"/>
              </a:rPr>
              <a:t>1 SSL</a:t>
            </a:r>
            <a:r>
              <a:rPr lang="zh-CN" altLang="en-US" sz="4000" dirty="0">
                <a:latin typeface="+mj-ea"/>
                <a:sym typeface="+mn-ea"/>
              </a:rPr>
              <a:t>体系结构</a:t>
            </a:r>
            <a:endParaRPr lang="zh-CN" altLang="en-US" sz="4000" dirty="0">
              <a:latin typeface="+mj-ea"/>
              <a:sym typeface="+mn-ea"/>
            </a:endParaRPr>
          </a:p>
        </p:txBody>
      </p:sp>
      <p:sp>
        <p:nvSpPr>
          <p:cNvPr id="11" name="文本框 10"/>
          <p:cNvSpPr txBox="1"/>
          <p:nvPr/>
        </p:nvSpPr>
        <p:spPr>
          <a:xfrm>
            <a:off x="249555" y="1044575"/>
            <a:ext cx="5427345" cy="5151120"/>
          </a:xfrm>
          <a:prstGeom prst="rect">
            <a:avLst/>
          </a:prstGeom>
          <a:noFill/>
        </p:spPr>
        <p:txBody>
          <a:bodyPr wrap="square" rtlCol="0">
            <a:noAutofit/>
          </a:bodyPr>
          <a:lstStyle/>
          <a:p>
            <a:pPr marL="342900" indent="-342900" algn="l" latinLnBrk="0">
              <a:lnSpc>
                <a:spcPct val="170000"/>
              </a:lnSpc>
              <a:spcBef>
                <a:spcPts val="0"/>
              </a:spcBef>
              <a:spcAft>
                <a:spcPts val="0"/>
              </a:spcAft>
              <a:buClr>
                <a:srgbClr val="DF4F21"/>
              </a:buClr>
              <a:buSzTx/>
              <a:buFont typeface="Wingdings" panose="05000000000000000000" charset="0"/>
              <a:buChar char="p"/>
            </a:pP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从</a:t>
            </a:r>
            <a:r>
              <a:rPr kumimoji="1" lang="en-US" altLang="zh-CN"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TCP/IP</a:t>
            </a: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协议栈层次关系来看，安全套接字层SSL（Secure Socket Layer，SSL）位于应用层和传输层之间。</a:t>
            </a:r>
            <a:endPar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latinLnBrk="0">
              <a:lnSpc>
                <a:spcPct val="170000"/>
              </a:lnSpc>
              <a:spcBef>
                <a:spcPts val="0"/>
              </a:spcBef>
              <a:spcAft>
                <a:spcPts val="0"/>
              </a:spcAft>
              <a:buClr>
                <a:srgbClr val="DF4F21"/>
              </a:buClr>
              <a:buSzTx/>
              <a:buFont typeface="Wingdings" panose="05000000000000000000" charset="0"/>
              <a:buChar char="p"/>
            </a:pP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应用层的数据传输之前，首先封装在SSL报文中，然后将SSL报文封装在TCP报文中，再进行传输。</a:t>
            </a:r>
            <a:endPar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grpSp>
        <p:nvGrpSpPr>
          <p:cNvPr id="9" name="组合 8"/>
          <p:cNvGrpSpPr/>
          <p:nvPr/>
        </p:nvGrpSpPr>
        <p:grpSpPr>
          <a:xfrm>
            <a:off x="6387465" y="1833245"/>
            <a:ext cx="5566410" cy="3158490"/>
            <a:chOff x="4290" y="5846"/>
            <a:chExt cx="8675" cy="4013"/>
          </a:xfrm>
        </p:grpSpPr>
        <p:pic>
          <p:nvPicPr>
            <p:cNvPr id="7170" name="图片 152" descr="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73" y="5846"/>
              <a:ext cx="6454" cy="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4290" y="6746"/>
              <a:ext cx="8675" cy="2905"/>
              <a:chOff x="4290" y="6746"/>
              <a:chExt cx="8675" cy="2905"/>
            </a:xfrm>
          </p:grpSpPr>
          <p:sp>
            <p:nvSpPr>
              <p:cNvPr id="4" name="矩形 3"/>
              <p:cNvSpPr/>
              <p:nvPr/>
            </p:nvSpPr>
            <p:spPr>
              <a:xfrm>
                <a:off x="6402" y="6746"/>
                <a:ext cx="6395" cy="1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b="1" dirty="0"/>
              </a:p>
            </p:txBody>
          </p:sp>
          <p:sp>
            <p:nvSpPr>
              <p:cNvPr id="5" name="文本框 4"/>
              <p:cNvSpPr txBox="1"/>
              <p:nvPr/>
            </p:nvSpPr>
            <p:spPr>
              <a:xfrm>
                <a:off x="6332" y="6909"/>
                <a:ext cx="2109" cy="428"/>
              </a:xfrm>
              <a:prstGeom prst="rect">
                <a:avLst/>
              </a:prstGeom>
              <a:noFill/>
            </p:spPr>
            <p:txBody>
              <a:bodyPr wrap="square" rtlCol="0">
                <a:spAutoFit/>
              </a:bodyPr>
              <a:lstStyle/>
              <a:p>
                <a:r>
                  <a:rPr lang="en-US" altLang="zh-CN" sz="1500" b="1" dirty="0">
                    <a:solidFill>
                      <a:schemeClr val="bg2"/>
                    </a:solidFill>
                    <a:latin typeface="+mn-ea"/>
                  </a:rPr>
                  <a:t>SS</a:t>
                </a:r>
                <a:r>
                  <a:rPr lang="en-US" altLang="zh-CN" sz="1600" b="1" dirty="0">
                    <a:solidFill>
                      <a:schemeClr val="bg2"/>
                    </a:solidFill>
                    <a:latin typeface="+mn-ea"/>
                  </a:rPr>
                  <a:t>L</a:t>
                </a:r>
                <a:r>
                  <a:rPr lang="zh-CN" altLang="en-US" sz="1600" b="1" dirty="0">
                    <a:solidFill>
                      <a:schemeClr val="bg2"/>
                    </a:solidFill>
                    <a:latin typeface="+mn-ea"/>
                  </a:rPr>
                  <a:t>握手协议</a:t>
                </a:r>
                <a:endParaRPr lang="zh-CN" altLang="en-US" sz="1600" b="1" dirty="0">
                  <a:solidFill>
                    <a:schemeClr val="bg2"/>
                  </a:solidFill>
                  <a:latin typeface="+mn-ea"/>
                </a:endParaRPr>
              </a:p>
            </p:txBody>
          </p:sp>
          <p:sp>
            <p:nvSpPr>
              <p:cNvPr id="6" name="文本框 5"/>
              <p:cNvSpPr txBox="1"/>
              <p:nvPr/>
            </p:nvSpPr>
            <p:spPr>
              <a:xfrm>
                <a:off x="8248" y="6941"/>
                <a:ext cx="2873" cy="390"/>
              </a:xfrm>
              <a:prstGeom prst="rect">
                <a:avLst/>
              </a:prstGeom>
              <a:noFill/>
            </p:spPr>
            <p:txBody>
              <a:bodyPr wrap="square" rtlCol="0">
                <a:spAutoFit/>
              </a:bodyPr>
              <a:lstStyle/>
              <a:p>
                <a:r>
                  <a:rPr lang="en-US" altLang="zh-CN" sz="1400" b="1" dirty="0">
                    <a:solidFill>
                      <a:schemeClr val="bg2"/>
                    </a:solidFill>
                    <a:latin typeface="+mn-ea"/>
                  </a:rPr>
                  <a:t>SSL</a:t>
                </a:r>
                <a:r>
                  <a:rPr lang="zh-CN" altLang="en-US" sz="1400" b="1" dirty="0">
                    <a:solidFill>
                      <a:schemeClr val="bg2"/>
                    </a:solidFill>
                    <a:latin typeface="+mn-ea"/>
                  </a:rPr>
                  <a:t>密码协变化协议</a:t>
                </a:r>
                <a:endParaRPr lang="zh-CN" altLang="en-US" sz="1400" b="1" dirty="0">
                  <a:solidFill>
                    <a:schemeClr val="bg2"/>
                  </a:solidFill>
                  <a:latin typeface="+mn-ea"/>
                </a:endParaRPr>
              </a:p>
            </p:txBody>
          </p:sp>
          <p:sp>
            <p:nvSpPr>
              <p:cNvPr id="7" name="文本框 6"/>
              <p:cNvSpPr txBox="1"/>
              <p:nvPr/>
            </p:nvSpPr>
            <p:spPr>
              <a:xfrm>
                <a:off x="10836" y="6958"/>
                <a:ext cx="2129" cy="390"/>
              </a:xfrm>
              <a:prstGeom prst="rect">
                <a:avLst/>
              </a:prstGeom>
              <a:noFill/>
            </p:spPr>
            <p:txBody>
              <a:bodyPr wrap="square" rtlCol="0">
                <a:spAutoFit/>
              </a:bodyPr>
              <a:lstStyle/>
              <a:p>
                <a:r>
                  <a:rPr lang="en-US" altLang="zh-CN" sz="1400" b="1" dirty="0">
                    <a:solidFill>
                      <a:schemeClr val="bg2"/>
                    </a:solidFill>
                    <a:latin typeface="+mn-ea"/>
                  </a:rPr>
                  <a:t>SSL</a:t>
                </a:r>
                <a:r>
                  <a:rPr lang="zh-CN" altLang="en-US" sz="1400" b="1" dirty="0">
                    <a:solidFill>
                      <a:schemeClr val="bg2"/>
                    </a:solidFill>
                    <a:latin typeface="+mn-ea"/>
                  </a:rPr>
                  <a:t>警告协议</a:t>
                </a:r>
                <a:endParaRPr lang="zh-CN" altLang="en-US" sz="1400" b="1" dirty="0">
                  <a:solidFill>
                    <a:schemeClr val="bg2"/>
                  </a:solidFill>
                  <a:latin typeface="+mn-ea"/>
                </a:endParaRPr>
              </a:p>
            </p:txBody>
          </p:sp>
          <p:sp>
            <p:nvSpPr>
              <p:cNvPr id="8" name="文本框 7"/>
              <p:cNvSpPr txBox="1"/>
              <p:nvPr/>
            </p:nvSpPr>
            <p:spPr>
              <a:xfrm>
                <a:off x="8662" y="7784"/>
                <a:ext cx="2914" cy="390"/>
              </a:xfrm>
              <a:prstGeom prst="rect">
                <a:avLst/>
              </a:prstGeom>
              <a:noFill/>
            </p:spPr>
            <p:txBody>
              <a:bodyPr wrap="square" rtlCol="0">
                <a:spAutoFit/>
              </a:bodyPr>
              <a:lstStyle/>
              <a:p>
                <a:r>
                  <a:rPr lang="en-US" altLang="zh-CN" sz="1400" b="1" dirty="0">
                    <a:solidFill>
                      <a:schemeClr val="bg2"/>
                    </a:solidFill>
                    <a:latin typeface="+mn-ea"/>
                  </a:rPr>
                  <a:t>SSL</a:t>
                </a:r>
                <a:r>
                  <a:rPr lang="zh-CN" altLang="en-US" sz="1400" b="1" dirty="0">
                    <a:solidFill>
                      <a:schemeClr val="bg2"/>
                    </a:solidFill>
                    <a:latin typeface="+mn-ea"/>
                  </a:rPr>
                  <a:t>记录协议</a:t>
                </a:r>
                <a:endParaRPr lang="zh-CN" altLang="en-US" sz="1400" b="1" dirty="0">
                  <a:solidFill>
                    <a:schemeClr val="bg2"/>
                  </a:solidFill>
                  <a:latin typeface="+mn-ea"/>
                </a:endParaRPr>
              </a:p>
            </p:txBody>
          </p:sp>
          <p:cxnSp>
            <p:nvCxnSpPr>
              <p:cNvPr id="12" name="直接连接符 11"/>
              <p:cNvCxnSpPr>
                <a:stCxn id="4" idx="1"/>
                <a:endCxn id="4" idx="3"/>
              </p:cNvCxnSpPr>
              <p:nvPr/>
            </p:nvCxnSpPr>
            <p:spPr>
              <a:xfrm>
                <a:off x="6402" y="7550"/>
                <a:ext cx="6395"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358" y="6758"/>
                <a:ext cx="0" cy="792"/>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824" y="6758"/>
                <a:ext cx="0" cy="792"/>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390" y="7317"/>
                <a:ext cx="1706" cy="428"/>
              </a:xfrm>
              <a:prstGeom prst="rect">
                <a:avLst/>
              </a:prstGeom>
              <a:noFill/>
            </p:spPr>
            <p:txBody>
              <a:bodyPr wrap="square" rtlCol="0">
                <a:spAutoFit/>
              </a:bodyPr>
              <a:lstStyle/>
              <a:p>
                <a:r>
                  <a:rPr lang="en-US" altLang="zh-CN" sz="1600" b="1" dirty="0">
                    <a:latin typeface="+mn-ea"/>
                  </a:rPr>
                  <a:t>SSL</a:t>
                </a:r>
                <a:r>
                  <a:rPr lang="zh-CN" altLang="en-US" sz="1600" b="1" dirty="0">
                    <a:latin typeface="+mn-ea"/>
                  </a:rPr>
                  <a:t>协议</a:t>
                </a:r>
                <a:endParaRPr lang="zh-CN" altLang="en-US" sz="1600" b="1" dirty="0">
                  <a:latin typeface="+mn-ea"/>
                </a:endParaRPr>
              </a:p>
            </p:txBody>
          </p:sp>
          <p:sp>
            <p:nvSpPr>
              <p:cNvPr id="23" name="文本框 22"/>
              <p:cNvSpPr txBox="1"/>
              <p:nvPr/>
            </p:nvSpPr>
            <p:spPr>
              <a:xfrm>
                <a:off x="4290" y="8536"/>
                <a:ext cx="1906" cy="428"/>
              </a:xfrm>
              <a:prstGeom prst="rect">
                <a:avLst/>
              </a:prstGeom>
              <a:noFill/>
            </p:spPr>
            <p:txBody>
              <a:bodyPr wrap="square" rtlCol="0">
                <a:spAutoFit/>
              </a:bodyPr>
              <a:lstStyle/>
              <a:p>
                <a:r>
                  <a:rPr lang="zh-CN" altLang="en-US" sz="1600" b="1" dirty="0">
                    <a:latin typeface="+mn-ea"/>
                  </a:rPr>
                  <a:t>传输层协议</a:t>
                </a:r>
                <a:endParaRPr lang="zh-CN" altLang="en-US" sz="1600" b="1" dirty="0">
                  <a:latin typeface="+mn-ea"/>
                </a:endParaRPr>
              </a:p>
            </p:txBody>
          </p:sp>
          <p:sp>
            <p:nvSpPr>
              <p:cNvPr id="25" name="文本框 24"/>
              <p:cNvSpPr txBox="1"/>
              <p:nvPr/>
            </p:nvSpPr>
            <p:spPr>
              <a:xfrm>
                <a:off x="4328" y="9223"/>
                <a:ext cx="1906" cy="428"/>
              </a:xfrm>
              <a:prstGeom prst="rect">
                <a:avLst/>
              </a:prstGeom>
              <a:noFill/>
            </p:spPr>
            <p:txBody>
              <a:bodyPr wrap="square" rtlCol="0">
                <a:spAutoFit/>
              </a:bodyPr>
              <a:lstStyle/>
              <a:p>
                <a:r>
                  <a:rPr lang="zh-CN" altLang="en-US" sz="1600" b="1" dirty="0">
                    <a:latin typeface="+mn-ea"/>
                  </a:rPr>
                  <a:t>网络层协议</a:t>
                </a:r>
                <a:endParaRPr lang="zh-CN" altLang="en-US" sz="1600" b="1" dirty="0">
                  <a:latin typeface="+mn-ea"/>
                </a:endParaRPr>
              </a:p>
            </p:txBody>
          </p:sp>
        </p:gr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 y="270510"/>
            <a:ext cx="9555480" cy="583565"/>
          </a:xfrm>
        </p:spPr>
        <p:txBody>
          <a:bodyPr/>
          <a:lstStyle/>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a:t>
            </a:r>
            <a:r>
              <a:rPr lang="en-US" altLang="zh-CN" sz="4000" dirty="0">
                <a:latin typeface="+mj-ea"/>
                <a:sym typeface="+mn-ea"/>
              </a:rPr>
              <a:t>1 SSL</a:t>
            </a:r>
            <a:r>
              <a:rPr lang="zh-CN" altLang="en-US" sz="4000">
                <a:latin typeface="+mj-ea"/>
                <a:sym typeface="+mn-ea"/>
              </a:rPr>
              <a:t>记录协议</a:t>
            </a:r>
            <a:endParaRPr lang="zh-CN" altLang="en-US" sz="4000" dirty="0">
              <a:latin typeface="+mj-ea"/>
              <a:sym typeface="+mn-ea"/>
            </a:endParaRPr>
          </a:p>
        </p:txBody>
      </p:sp>
      <p:sp>
        <p:nvSpPr>
          <p:cNvPr id="11" name="文本框 10"/>
          <p:cNvSpPr txBox="1"/>
          <p:nvPr/>
        </p:nvSpPr>
        <p:spPr>
          <a:xfrm>
            <a:off x="152400" y="1267460"/>
            <a:ext cx="6278245" cy="3943350"/>
          </a:xfrm>
          <a:prstGeom prst="rect">
            <a:avLst/>
          </a:prstGeom>
          <a:noFill/>
        </p:spPr>
        <p:txBody>
          <a:bodyPr wrap="square" rtlCol="0">
            <a:noAutofit/>
          </a:bodyPr>
          <a:lstStyle/>
          <a:p>
            <a:pPr marL="342900" indent="-342900" algn="l" latinLnBrk="0">
              <a:lnSpc>
                <a:spcPct val="150000"/>
              </a:lnSpc>
              <a:spcBef>
                <a:spcPts val="0"/>
              </a:spcBef>
              <a:buClr>
                <a:srgbClr val="DF4F21"/>
              </a:buClr>
              <a:buSzTx/>
              <a:buFont typeface="Wingdings" panose="05000000000000000000" charset="0"/>
              <a:buChar char="p"/>
            </a:pP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所有的传输数据都被封装在记录协议中</a:t>
            </a:r>
            <a:endParaRPr kumimoji="1" lang="en-US" altLang="zh-CN"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457200" algn="l" fontAlgn="auto">
              <a:lnSpc>
                <a:spcPct val="150000"/>
              </a:lnSpc>
              <a:spcBef>
                <a:spcPts val="0"/>
              </a:spcBef>
              <a:buClr>
                <a:srgbClr val="DF4F21"/>
              </a:buClr>
              <a:buSzTx/>
              <a:buFont typeface="Wingdings" panose="05000000000000000000" pitchFamily="2" charset="2"/>
              <a:buChar char="Ø"/>
            </a:pP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把来自上层协议的数据进行分组；</a:t>
            </a:r>
            <a:endPar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457200" algn="l" fontAlgn="auto">
              <a:lnSpc>
                <a:spcPct val="150000"/>
              </a:lnSpc>
              <a:spcBef>
                <a:spcPts val="0"/>
              </a:spcBef>
              <a:buClr>
                <a:srgbClr val="DF4F21"/>
              </a:buClr>
              <a:buSzTx/>
              <a:buFont typeface="Wingdings" panose="05000000000000000000" pitchFamily="2" charset="2"/>
              <a:buChar char="Ø"/>
            </a:pP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对每个分组进行压缩；</a:t>
            </a:r>
            <a:endPar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457200" algn="l" fontAlgn="auto">
              <a:lnSpc>
                <a:spcPct val="150000"/>
              </a:lnSpc>
              <a:spcBef>
                <a:spcPts val="0"/>
              </a:spcBef>
              <a:buClr>
                <a:srgbClr val="DF4F21"/>
              </a:buClr>
              <a:buSzTx/>
              <a:buFont typeface="Wingdings" panose="05000000000000000000" pitchFamily="2" charset="2"/>
              <a:buChar char="Ø"/>
            </a:pP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计算压缩数据的</a:t>
            </a: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MAC值</a:t>
            </a: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，放置尾部；</a:t>
            </a:r>
            <a:endPar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457200" algn="l" fontAlgn="auto">
              <a:lnSpc>
                <a:spcPct val="150000"/>
              </a:lnSpc>
              <a:spcBef>
                <a:spcPts val="0"/>
              </a:spcBef>
              <a:buClr>
                <a:srgbClr val="DF4F21"/>
              </a:buClr>
              <a:buSzTx/>
              <a:buFont typeface="Wingdings" panose="05000000000000000000" pitchFamily="2" charset="2"/>
              <a:buChar char="Ø"/>
            </a:pP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加密压缩数据和</a:t>
            </a: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MAC值</a:t>
            </a: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endPar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457200" algn="l" fontAlgn="auto">
              <a:lnSpc>
                <a:spcPct val="150000"/>
              </a:lnSpc>
              <a:spcBef>
                <a:spcPts val="0"/>
              </a:spcBef>
              <a:buClr>
                <a:srgbClr val="DF4F21"/>
              </a:buClr>
              <a:buSzTx/>
              <a:buFont typeface="Wingdings" panose="05000000000000000000" pitchFamily="2" charset="2"/>
              <a:buChar char="Ø"/>
            </a:pP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在密文上增加</a:t>
            </a:r>
            <a:r>
              <a:rPr kumimoji="1" lang="en-US" altLang="zh-CN"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SSL</a:t>
            </a:r>
            <a:r>
              <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头</a:t>
            </a:r>
            <a:endParaRPr kumimoji="1" lang="zh-CN" altLang="en-US"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latinLnBrk="0">
              <a:lnSpc>
                <a:spcPct val="150000"/>
              </a:lnSpc>
              <a:spcBef>
                <a:spcPts val="0"/>
              </a:spcBef>
              <a:buClr>
                <a:srgbClr val="DF4F21"/>
              </a:buClr>
              <a:buSzTx/>
              <a:buFont typeface="Wingdings" panose="05000000000000000000" charset="0"/>
              <a:buChar char="p"/>
            </a:pPr>
            <a:endParaRPr kumimoji="1" lang="en-US" altLang="zh-CN" sz="2600" b="1" kern="0" dirty="0">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pic>
        <p:nvPicPr>
          <p:cNvPr id="1026" name="图片 153" descr="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85869" y="2437993"/>
            <a:ext cx="5307142" cy="3318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45720" y="270510"/>
            <a:ext cx="9555480" cy="583565"/>
          </a:xfrm>
        </p:spPr>
        <p:txBody>
          <a:bodyPr/>
          <a:p>
            <a:pPr algn="l">
              <a:buClrTx/>
              <a:buSzTx/>
              <a:buFontTx/>
            </a:pPr>
            <a:r>
              <a:rPr lang="en-US" altLang="zh-CN" sz="4000" dirty="0">
                <a:latin typeface="+mj-ea"/>
                <a:sym typeface="+mn-ea"/>
              </a:rPr>
              <a:t>4</a:t>
            </a:r>
            <a:r>
              <a:rPr lang="zh-CN" altLang="en-US" sz="4000" dirty="0">
                <a:latin typeface="+mj-ea"/>
                <a:sym typeface="+mn-ea"/>
              </a:rPr>
              <a:t>.</a:t>
            </a:r>
            <a:r>
              <a:rPr lang="en-US" altLang="zh-CN" sz="4000" dirty="0">
                <a:latin typeface="+mj-ea"/>
                <a:sym typeface="+mn-ea"/>
              </a:rPr>
              <a:t>5</a:t>
            </a:r>
            <a:r>
              <a:rPr lang="zh-CN" altLang="en-US" sz="4000" dirty="0">
                <a:latin typeface="+mj-ea"/>
                <a:sym typeface="+mn-ea"/>
              </a:rPr>
              <a:t>.</a:t>
            </a:r>
            <a:r>
              <a:rPr lang="en-US" altLang="zh-CN" sz="4000" dirty="0">
                <a:latin typeface="+mj-ea"/>
                <a:sym typeface="+mn-ea"/>
              </a:rPr>
              <a:t>1 TLS</a:t>
            </a:r>
            <a:r>
              <a:rPr lang="zh-CN" altLang="en-US" sz="4000" dirty="0">
                <a:latin typeface="+mj-ea"/>
                <a:sym typeface="+mn-ea"/>
              </a:rPr>
              <a:t>概述</a:t>
            </a:r>
            <a:endParaRPr lang="zh-CN" altLang="en-US" sz="4000" dirty="0">
              <a:latin typeface="+mj-ea"/>
              <a:sym typeface="+mn-ea"/>
            </a:endParaRPr>
          </a:p>
        </p:txBody>
      </p:sp>
      <p:grpSp>
        <p:nvGrpSpPr>
          <p:cNvPr id="4" name="组合 3"/>
          <p:cNvGrpSpPr/>
          <p:nvPr/>
        </p:nvGrpSpPr>
        <p:grpSpPr>
          <a:xfrm>
            <a:off x="579755" y="1117600"/>
            <a:ext cx="11380470" cy="5215255"/>
            <a:chOff x="913" y="1760"/>
            <a:chExt cx="17922" cy="8213"/>
          </a:xfrm>
        </p:grpSpPr>
        <p:pic>
          <p:nvPicPr>
            <p:cNvPr id="8" name="图片 7"/>
            <p:cNvPicPr>
              <a:picLocks noChangeAspect="1"/>
            </p:cNvPicPr>
            <p:nvPr/>
          </p:nvPicPr>
          <p:blipFill>
            <a:blip r:embed="rId1"/>
            <a:stretch>
              <a:fillRect/>
            </a:stretch>
          </p:blipFill>
          <p:spPr>
            <a:xfrm>
              <a:off x="12864" y="4128"/>
              <a:ext cx="5971" cy="3125"/>
            </a:xfrm>
            <a:prstGeom prst="rect">
              <a:avLst/>
            </a:prstGeom>
          </p:spPr>
        </p:pic>
        <p:sp>
          <p:nvSpPr>
            <p:cNvPr id="5" name="文本框 4"/>
            <p:cNvSpPr txBox="1"/>
            <p:nvPr/>
          </p:nvSpPr>
          <p:spPr>
            <a:xfrm>
              <a:off x="913" y="1882"/>
              <a:ext cx="11753" cy="3920"/>
            </a:xfrm>
            <a:prstGeom prst="rect">
              <a:avLst/>
            </a:prstGeom>
            <a:ln w="12700">
              <a:solidFill>
                <a:schemeClr val="accent3">
                  <a:lumMod val="60000"/>
                  <a:lumOff val="40000"/>
                </a:schemeClr>
              </a:solidFill>
            </a:ln>
          </p:spPr>
          <p:txBody>
            <a:bodyPr wrap="square">
              <a:spAutoFit/>
            </a:bodyPr>
            <a:lstStyle>
              <a:defPPr>
                <a:defRPr lang="zh-CN"/>
              </a:defPPr>
              <a:lvl1pPr algn="just">
                <a:lnSpc>
                  <a:spcPct val="150000"/>
                </a:lnSpc>
                <a:defRPr sz="2000">
                  <a:latin typeface="微软雅黑" panose="020B0503020204020204" pitchFamily="34" charset="-122"/>
                  <a:ea typeface="微软雅黑" panose="020B0503020204020204" pitchFamily="34" charset="-122"/>
                  <a:cs typeface="Times New Roman" panose="02020603050405020304" charset="0"/>
                </a:defRPr>
              </a:lvl1pPr>
              <a:lvl3pPr lvl="2">
                <a:lnSpc>
                  <a:spcPct val="150000"/>
                </a:lnSpc>
                <a:defRPr sz="2000"/>
              </a:lvl3pPr>
            </a:lstStyle>
            <a:p>
              <a:pPr>
                <a:lnSpc>
                  <a:spcPct val="130000"/>
                </a:lnSpc>
              </a:pPr>
              <a:r>
                <a:rPr lang="en-US" altLang="zh-CN" sz="2400" b="1" dirty="0">
                  <a:latin typeface="Times New Roman" panose="02020603050405020304" charset="0"/>
                  <a:ea typeface="宋体" panose="02010600030101010101" pitchFamily="2" charset="-122"/>
                </a:rPr>
                <a:t>TLS </a:t>
              </a:r>
              <a:r>
                <a:rPr lang="zh-CN" altLang="en-US" sz="2400" b="1" dirty="0">
                  <a:latin typeface="Times New Roman" panose="02020603050405020304" charset="0"/>
                  <a:ea typeface="宋体" panose="02010600030101010101" pitchFamily="2" charset="-122"/>
                </a:rPr>
                <a:t>协议通常在</a:t>
              </a:r>
              <a:r>
                <a:rPr lang="en-US" altLang="zh-CN" sz="2400" b="1" dirty="0">
                  <a:latin typeface="Times New Roman" panose="02020603050405020304" charset="0"/>
                  <a:ea typeface="宋体" panose="02010600030101010101" pitchFamily="2" charset="-122"/>
                </a:rPr>
                <a:t>TCP</a:t>
              </a:r>
              <a:r>
                <a:rPr lang="zh-CN" altLang="en-US" sz="2400" b="1" dirty="0">
                  <a:latin typeface="Times New Roman" panose="02020603050405020304" charset="0"/>
                  <a:ea typeface="宋体" panose="02010600030101010101" pitchFamily="2" charset="-122"/>
                </a:rPr>
                <a:t>等传输层协议之上运行，提供以下三个安全功能：</a:t>
              </a:r>
              <a:endParaRPr lang="en-US" altLang="zh-CN" sz="2400" b="1" dirty="0">
                <a:latin typeface="Times New Roman" panose="02020603050405020304" charset="0"/>
                <a:ea typeface="宋体" panose="02010600030101010101" pitchFamily="2" charset="-122"/>
              </a:endParaRPr>
            </a:p>
            <a:p>
              <a:pPr marL="342900" indent="-342900">
                <a:lnSpc>
                  <a:spcPct val="130000"/>
                </a:lnSpc>
                <a:buFont typeface="Arial" panose="020B0604020202020204" pitchFamily="34" charset="0"/>
                <a:buChar char="•"/>
              </a:pPr>
              <a:r>
                <a:rPr lang="zh-CN" altLang="en-US" sz="2400" b="1" dirty="0">
                  <a:solidFill>
                    <a:srgbClr val="FF0000"/>
                  </a:solidFill>
                  <a:latin typeface="Times New Roman" panose="02020603050405020304" charset="0"/>
                  <a:ea typeface="宋体" panose="02010600030101010101" pitchFamily="2" charset="-122"/>
                </a:rPr>
                <a:t>保密性</a:t>
              </a:r>
              <a:r>
                <a:rPr lang="zh-CN" altLang="en-US" sz="2400" b="1" dirty="0">
                  <a:latin typeface="Times New Roman" panose="02020603050405020304" charset="0"/>
                  <a:ea typeface="宋体" panose="02010600030101010101" pitchFamily="2" charset="-122"/>
                </a:rPr>
                <a:t>：阻止第三方对传输数据的窃听</a:t>
              </a:r>
              <a:endParaRPr lang="en-US" altLang="zh-CN" sz="2400" b="1" dirty="0">
                <a:latin typeface="Times New Roman" panose="02020603050405020304" charset="0"/>
                <a:ea typeface="宋体" panose="02010600030101010101" pitchFamily="2" charset="-122"/>
              </a:endParaRPr>
            </a:p>
            <a:p>
              <a:pPr marL="342900" indent="-342900">
                <a:lnSpc>
                  <a:spcPct val="130000"/>
                </a:lnSpc>
                <a:buFont typeface="Arial" panose="020B0604020202020204" pitchFamily="34" charset="0"/>
                <a:buChar char="•"/>
              </a:pPr>
              <a:r>
                <a:rPr lang="zh-CN" altLang="en-US" sz="2400" b="1" dirty="0">
                  <a:solidFill>
                    <a:srgbClr val="FF0000"/>
                  </a:solidFill>
                  <a:latin typeface="Times New Roman" panose="02020603050405020304" charset="0"/>
                  <a:ea typeface="宋体" panose="02010600030101010101" pitchFamily="2" charset="-122"/>
                </a:rPr>
                <a:t>身份验证</a:t>
              </a:r>
              <a:r>
                <a:rPr lang="zh-CN" altLang="en-US" sz="2400" b="1" dirty="0">
                  <a:latin typeface="Times New Roman" panose="02020603050405020304" charset="0"/>
                  <a:ea typeface="宋体" panose="02010600030101010101" pitchFamily="2" charset="-122"/>
                </a:rPr>
                <a:t>：确保交换信息的各方是他们声称的身份</a:t>
              </a:r>
              <a:endParaRPr lang="en-US" altLang="zh-CN" sz="2400" b="1" dirty="0">
                <a:latin typeface="Times New Roman" panose="02020603050405020304" charset="0"/>
                <a:ea typeface="宋体" panose="02010600030101010101" pitchFamily="2" charset="-122"/>
              </a:endParaRPr>
            </a:p>
            <a:p>
              <a:pPr marL="342900" indent="-342900">
                <a:lnSpc>
                  <a:spcPct val="130000"/>
                </a:lnSpc>
                <a:buFont typeface="Arial" panose="020B0604020202020204" pitchFamily="34" charset="0"/>
                <a:buChar char="•"/>
              </a:pPr>
              <a:r>
                <a:rPr lang="zh-CN" altLang="en-US" sz="2400" b="1" dirty="0">
                  <a:solidFill>
                    <a:srgbClr val="FF0000"/>
                  </a:solidFill>
                  <a:latin typeface="Times New Roman" panose="02020603050405020304" charset="0"/>
                  <a:ea typeface="宋体" panose="02010600030101010101" pitchFamily="2" charset="-122"/>
                </a:rPr>
                <a:t>完整性</a:t>
              </a:r>
              <a:r>
                <a:rPr lang="zh-CN" altLang="en-US" sz="2400" b="1" dirty="0">
                  <a:latin typeface="Times New Roman" panose="02020603050405020304" charset="0"/>
                  <a:ea typeface="宋体" panose="02010600030101010101" pitchFamily="2" charset="-122"/>
                </a:rPr>
                <a:t>：验证数据是否伪造而来或未遭篡改过</a:t>
              </a:r>
              <a:endParaRPr lang="zh-CN" altLang="en-US" sz="2400" b="1" dirty="0">
                <a:latin typeface="Times New Roman" panose="02020603050405020304" charset="0"/>
                <a:ea typeface="宋体" panose="02010600030101010101" pitchFamily="2" charset="-122"/>
              </a:endParaRPr>
            </a:p>
          </p:txBody>
        </p:sp>
        <p:sp>
          <p:nvSpPr>
            <p:cNvPr id="6" name="文本框 5"/>
            <p:cNvSpPr txBox="1"/>
            <p:nvPr/>
          </p:nvSpPr>
          <p:spPr>
            <a:xfrm>
              <a:off x="939" y="6129"/>
              <a:ext cx="11674" cy="3266"/>
            </a:xfrm>
            <a:prstGeom prst="rect">
              <a:avLst/>
            </a:prstGeom>
            <a:ln w="12700">
              <a:solidFill>
                <a:schemeClr val="accent3">
                  <a:lumMod val="60000"/>
                  <a:lumOff val="40000"/>
                </a:schemeClr>
              </a:solidFill>
            </a:ln>
          </p:spPr>
          <p:txBody>
            <a:bodyPr wrap="square">
              <a:noAutofit/>
            </a:bodyPr>
            <a:lstStyle>
              <a:defPPr>
                <a:defRPr lang="zh-CN"/>
              </a:defPPr>
              <a:lvl1pPr algn="just">
                <a:lnSpc>
                  <a:spcPct val="150000"/>
                </a:lnSpc>
                <a:defRPr sz="2000">
                  <a:latin typeface="微软雅黑" panose="020B0503020204020204" pitchFamily="34" charset="-122"/>
                  <a:ea typeface="微软雅黑" panose="020B0503020204020204" pitchFamily="34" charset="-122"/>
                  <a:cs typeface="Times New Roman" panose="02020603050405020304" charset="0"/>
                </a:defRPr>
              </a:lvl1pPr>
              <a:lvl3pPr lvl="2">
                <a:lnSpc>
                  <a:spcPct val="150000"/>
                </a:lnSpc>
                <a:defRPr sz="2000"/>
              </a:lvl3pPr>
            </a:lstStyle>
            <a:p>
              <a:pPr algn="just">
                <a:lnSpc>
                  <a:spcPct val="130000"/>
                </a:lnSpc>
                <a:buClrTx/>
                <a:buSzTx/>
                <a:buFontTx/>
              </a:pPr>
              <a:r>
                <a:rPr lang="zh-CN" altLang="en-US" sz="2400" b="1" dirty="0">
                  <a:latin typeface="Times New Roman" panose="02020603050405020304" charset="0"/>
                  <a:ea typeface="宋体" panose="02010600030101010101" pitchFamily="2" charset="-122"/>
                </a:rPr>
                <a:t>TLS是目前采用最广泛的一种安全性协议，应用于多个网络场景，</a:t>
              </a:r>
              <a:endParaRPr lang="zh-CN" altLang="en-US" sz="2400" b="1" dirty="0">
                <a:latin typeface="Times New Roman" panose="02020603050405020304" charset="0"/>
                <a:ea typeface="宋体" panose="02010600030101010101" pitchFamily="2" charset="-122"/>
              </a:endParaRPr>
            </a:p>
            <a:p>
              <a:pPr marL="342900" indent="-342900" algn="just">
                <a:lnSpc>
                  <a:spcPct val="130000"/>
                </a:lnSpc>
                <a:buClrTx/>
                <a:buSzTx/>
                <a:buFont typeface="Arial" panose="020B0604020202020204" pitchFamily="34" charset="0"/>
                <a:buChar char="•"/>
              </a:pPr>
              <a:r>
                <a:rPr lang="zh-CN" altLang="en-US" sz="2400" b="1" dirty="0">
                  <a:solidFill>
                    <a:srgbClr val="FF0000"/>
                  </a:solidFill>
                  <a:latin typeface="Times New Roman" panose="02020603050405020304" charset="0"/>
                  <a:ea typeface="宋体" panose="02010600030101010101" pitchFamily="2" charset="-122"/>
                  <a:sym typeface="+mn-ea"/>
                </a:rPr>
                <a:t>TLS在连接级别与SSL协议的规范略有不同</a:t>
              </a:r>
              <a:endParaRPr lang="zh-CN" altLang="en-US" sz="2400" b="1" dirty="0">
                <a:solidFill>
                  <a:srgbClr val="FF0000"/>
                </a:solidFill>
                <a:latin typeface="Times New Roman" panose="02020603050405020304" charset="0"/>
                <a:ea typeface="宋体" panose="02010600030101010101" pitchFamily="2" charset="-122"/>
                <a:sym typeface="+mn-ea"/>
              </a:endParaRPr>
            </a:p>
            <a:p>
              <a:pPr marL="342900" indent="-342900" algn="just">
                <a:lnSpc>
                  <a:spcPct val="130000"/>
                </a:lnSpc>
                <a:buClrTx/>
                <a:buSzTx/>
                <a:buFont typeface="Arial" panose="020B0604020202020204" pitchFamily="34" charset="0"/>
                <a:buChar char="•"/>
              </a:pPr>
              <a:r>
                <a:rPr lang="zh-CN" altLang="en-US" sz="2400" b="1" dirty="0">
                  <a:solidFill>
                    <a:srgbClr val="FF0000"/>
                  </a:solidFill>
                  <a:latin typeface="Times New Roman" panose="02020603050405020304" charset="0"/>
                  <a:ea typeface="宋体" panose="02010600030101010101" pitchFamily="2" charset="-122"/>
                  <a:sym typeface="+mn-ea"/>
                </a:rPr>
                <a:t>实际生成所需的密钥材料的方式</a:t>
              </a:r>
              <a:endParaRPr lang="zh-CN" altLang="en-US" sz="2400" b="1" dirty="0">
                <a:solidFill>
                  <a:srgbClr val="FF0000"/>
                </a:solidFill>
                <a:latin typeface="Times New Roman" panose="02020603050405020304" charset="0"/>
                <a:ea typeface="宋体" panose="02010600030101010101" pitchFamily="2" charset="-122"/>
              </a:endParaRPr>
            </a:p>
            <a:p>
              <a:pPr algn="just">
                <a:lnSpc>
                  <a:spcPct val="130000"/>
                </a:lnSpc>
                <a:buClrTx/>
                <a:buSzTx/>
                <a:buFontTx/>
              </a:pPr>
              <a:endParaRPr lang="zh-CN" altLang="en-US" sz="2400" b="1" dirty="0">
                <a:latin typeface="Times New Roman" panose="02020603050405020304" charset="0"/>
                <a:ea typeface="宋体" panose="02010600030101010101" pitchFamily="2" charset="-122"/>
              </a:endParaRPr>
            </a:p>
          </p:txBody>
        </p:sp>
        <p:pic>
          <p:nvPicPr>
            <p:cNvPr id="7" name="图片 6"/>
            <p:cNvPicPr>
              <a:picLocks noChangeAspect="1"/>
            </p:cNvPicPr>
            <p:nvPr/>
          </p:nvPicPr>
          <p:blipFill>
            <a:blip r:embed="rId2"/>
            <a:stretch>
              <a:fillRect/>
            </a:stretch>
          </p:blipFill>
          <p:spPr>
            <a:xfrm>
              <a:off x="13426" y="1760"/>
              <a:ext cx="4867" cy="2479"/>
            </a:xfrm>
            <a:prstGeom prst="rect">
              <a:avLst/>
            </a:prstGeom>
          </p:spPr>
        </p:pic>
        <p:pic>
          <p:nvPicPr>
            <p:cNvPr id="9" name="图片 8"/>
            <p:cNvPicPr>
              <a:picLocks noChangeAspect="1"/>
            </p:cNvPicPr>
            <p:nvPr/>
          </p:nvPicPr>
          <p:blipFill>
            <a:blip r:embed="rId3"/>
            <a:stretch>
              <a:fillRect/>
            </a:stretch>
          </p:blipFill>
          <p:spPr>
            <a:xfrm>
              <a:off x="13498" y="6950"/>
              <a:ext cx="4288" cy="3023"/>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custDataLst>
              <p:tags r:id="rId1"/>
            </p:custDataLst>
          </p:nvPr>
        </p:nvSpPr>
        <p:spPr>
          <a:xfrm>
            <a:off x="50164" y="106880"/>
            <a:ext cx="5565140" cy="860425"/>
          </a:xfrm>
          <a:prstGeom prst="rect">
            <a:avLst/>
          </a:prstGeom>
          <a:noFill/>
        </p:spPr>
        <p:txBody>
          <a:bodyPr wrap="none" lIns="91440" tIns="45720" rIns="91440" bIns="45720">
            <a:spAutoFit/>
          </a:bodyPr>
          <a:p>
            <a:pPr algn="ctr">
              <a:lnSpc>
                <a:spcPct val="125000"/>
              </a:lnSpc>
            </a:pP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第五章</a:t>
            </a:r>
            <a:r>
              <a:rPr lang="en-US" altLang="zh-CN"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  </a:t>
            </a:r>
            <a:r>
              <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rPr>
              <a:t>应用层协议安全</a:t>
            </a:r>
            <a:endParaRPr lang="zh-CN" altLang="en-US" sz="4000" b="1" dirty="0">
              <a:ln w="0"/>
              <a:solidFill>
                <a:schemeClr val="bg1"/>
              </a:solidFill>
              <a:latin typeface="微软雅黑" panose="020B0503020204020204" pitchFamily="34" charset="-122"/>
              <a:ea typeface="微软雅黑" panose="020B0503020204020204" pitchFamily="34" charset="-122"/>
              <a:cs typeface="黑体" panose="02010609060101010101" charset="-122"/>
            </a:endParaRPr>
          </a:p>
        </p:txBody>
      </p:sp>
      <p:grpSp>
        <p:nvGrpSpPr>
          <p:cNvPr id="22" name="组合 21"/>
          <p:cNvGrpSpPr/>
          <p:nvPr>
            <p:custDataLst>
              <p:tags r:id="rId2"/>
            </p:custDataLst>
          </p:nvPr>
        </p:nvGrpSpPr>
        <p:grpSpPr>
          <a:xfrm rot="0">
            <a:off x="2994025" y="1157605"/>
            <a:ext cx="6081395" cy="574040"/>
            <a:chOff x="1592243" y="802566"/>
            <a:chExt cx="5636475" cy="499963"/>
          </a:xfrm>
        </p:grpSpPr>
        <p:sp>
          <p:nvSpPr>
            <p:cNvPr id="5" name="矩形 4"/>
            <p:cNvSpPr/>
            <p:nvPr>
              <p:custDataLst>
                <p:tags r:id="rId3"/>
              </p:custDataLst>
            </p:nvPr>
          </p:nvSpPr>
          <p:spPr>
            <a:xfrm>
              <a:off x="1592243" y="802567"/>
              <a:ext cx="1027894" cy="499962"/>
            </a:xfrm>
            <a:prstGeom prst="rect">
              <a:avLst/>
            </a:prstGeom>
            <a:solidFill>
              <a:schemeClr val="accent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5.1</a:t>
              </a:r>
              <a:endParaRPr lang="en-US" altLang="zh-CN" sz="2800" b="1" spc="300" dirty="0">
                <a:latin typeface="Impact" panose="020B0806030902050204" pitchFamily="34" charset="0"/>
              </a:endParaRPr>
            </a:p>
          </p:txBody>
        </p:sp>
        <p:sp>
          <p:nvSpPr>
            <p:cNvPr id="6" name="矩形 5"/>
            <p:cNvSpPr/>
            <p:nvPr>
              <p:custDataLst>
                <p:tags r:id="rId4"/>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应用层协议概述</a:t>
              </a:r>
              <a:endParaRPr lang="zh-CN" altLang="en-US" sz="2800" b="1" spc="300" dirty="0">
                <a:solidFill>
                  <a:schemeClr val="tx1"/>
                </a:solidFill>
                <a:latin typeface="Impact" panose="020B0806030902050204" pitchFamily="34" charset="0"/>
              </a:endParaRPr>
            </a:p>
          </p:txBody>
        </p:sp>
      </p:grpSp>
      <p:grpSp>
        <p:nvGrpSpPr>
          <p:cNvPr id="42" name="组合 41"/>
          <p:cNvGrpSpPr/>
          <p:nvPr>
            <p:custDataLst>
              <p:tags r:id="rId5"/>
            </p:custDataLst>
          </p:nvPr>
        </p:nvGrpSpPr>
        <p:grpSpPr>
          <a:xfrm rot="0">
            <a:off x="2994025" y="1986915"/>
            <a:ext cx="6081395" cy="574040"/>
            <a:chOff x="1592243" y="802566"/>
            <a:chExt cx="5636475" cy="499963"/>
          </a:xfrm>
        </p:grpSpPr>
        <p:sp>
          <p:nvSpPr>
            <p:cNvPr id="43" name="矩形 42"/>
            <p:cNvSpPr/>
            <p:nvPr>
              <p:custDataLst>
                <p:tags r:id="rId6"/>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5.2</a:t>
              </a:r>
              <a:endParaRPr lang="en-US" altLang="zh-CN" sz="2800" b="1" spc="300" dirty="0">
                <a:latin typeface="Impact" panose="020B0806030902050204" pitchFamily="34" charset="0"/>
              </a:endParaRPr>
            </a:p>
          </p:txBody>
        </p:sp>
        <p:sp>
          <p:nvSpPr>
            <p:cNvPr id="44" name="矩形 43"/>
            <p:cNvSpPr/>
            <p:nvPr>
              <p:custDataLst>
                <p:tags r:id="rId7"/>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DNS</a:t>
              </a:r>
              <a:r>
                <a:rPr lang="zh-CN" altLang="en-US" sz="2800" b="1" spc="300" dirty="0">
                  <a:solidFill>
                    <a:schemeClr val="tx1"/>
                  </a:solidFill>
                  <a:latin typeface="Impact" panose="020B0806030902050204" pitchFamily="34" charset="0"/>
                </a:rPr>
                <a:t>协议</a:t>
              </a:r>
              <a:endParaRPr lang="zh-CN" altLang="en-US" sz="2800" b="1" spc="300" dirty="0">
                <a:solidFill>
                  <a:schemeClr val="tx1"/>
                </a:solidFill>
                <a:latin typeface="Impact" panose="020B0806030902050204" pitchFamily="34" charset="0"/>
              </a:endParaRPr>
            </a:p>
          </p:txBody>
        </p:sp>
      </p:grpSp>
      <p:grpSp>
        <p:nvGrpSpPr>
          <p:cNvPr id="45" name="组合 44"/>
          <p:cNvGrpSpPr/>
          <p:nvPr>
            <p:custDataLst>
              <p:tags r:id="rId8"/>
            </p:custDataLst>
          </p:nvPr>
        </p:nvGrpSpPr>
        <p:grpSpPr>
          <a:xfrm rot="0">
            <a:off x="2994025" y="2862580"/>
            <a:ext cx="6081395" cy="574040"/>
            <a:chOff x="1592243" y="802566"/>
            <a:chExt cx="5636475" cy="499963"/>
          </a:xfrm>
        </p:grpSpPr>
        <p:sp>
          <p:nvSpPr>
            <p:cNvPr id="46" name="矩形 45"/>
            <p:cNvSpPr/>
            <p:nvPr>
              <p:custDataLst>
                <p:tags r:id="rId9"/>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5.3</a:t>
              </a:r>
              <a:endParaRPr lang="en-US" altLang="zh-CN" sz="2800" b="1" spc="300" dirty="0">
                <a:latin typeface="Impact" panose="020B0806030902050204" pitchFamily="34" charset="0"/>
              </a:endParaRPr>
            </a:p>
          </p:txBody>
        </p:sp>
        <p:sp>
          <p:nvSpPr>
            <p:cNvPr id="47" name="矩形 46"/>
            <p:cNvSpPr/>
            <p:nvPr>
              <p:custDataLst>
                <p:tags r:id="rId10"/>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  </a:t>
              </a:r>
              <a:r>
                <a:rPr lang="en-US" altLang="zh-CN" sz="2800" b="1" spc="300" dirty="0">
                  <a:solidFill>
                    <a:schemeClr val="tx1"/>
                  </a:solidFill>
                  <a:latin typeface="Impact" panose="020B0806030902050204" pitchFamily="34" charset="0"/>
                </a:rPr>
                <a:t>HTTP</a:t>
              </a:r>
              <a:r>
                <a:rPr lang="zh-CN" altLang="en-US" sz="2800" b="1" spc="300" dirty="0">
                  <a:solidFill>
                    <a:schemeClr val="tx1"/>
                  </a:solidFill>
                  <a:latin typeface="Impact" panose="020B0806030902050204" pitchFamily="34" charset="0"/>
                </a:rPr>
                <a:t>协议</a:t>
              </a:r>
              <a:endParaRPr lang="zh-CN" altLang="en-US" sz="2800" b="1" spc="300" dirty="0">
                <a:solidFill>
                  <a:schemeClr val="tx1"/>
                </a:solidFill>
                <a:latin typeface="Impact" panose="020B0806030902050204" pitchFamily="34" charset="0"/>
              </a:endParaRPr>
            </a:p>
          </p:txBody>
        </p:sp>
      </p:grpSp>
      <p:grpSp>
        <p:nvGrpSpPr>
          <p:cNvPr id="48" name="组合 47"/>
          <p:cNvGrpSpPr/>
          <p:nvPr>
            <p:custDataLst>
              <p:tags r:id="rId11"/>
            </p:custDataLst>
          </p:nvPr>
        </p:nvGrpSpPr>
        <p:grpSpPr>
          <a:xfrm rot="0">
            <a:off x="2994025" y="3783330"/>
            <a:ext cx="6081395" cy="574040"/>
            <a:chOff x="1592243" y="802566"/>
            <a:chExt cx="5636475" cy="499963"/>
          </a:xfrm>
        </p:grpSpPr>
        <p:sp>
          <p:nvSpPr>
            <p:cNvPr id="49" name="矩形 48"/>
            <p:cNvSpPr/>
            <p:nvPr>
              <p:custDataLst>
                <p:tags r:id="rId12"/>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5.4</a:t>
              </a:r>
              <a:endParaRPr lang="en-US" altLang="zh-CN" sz="2800" b="1" spc="300" dirty="0">
                <a:latin typeface="Impact" panose="020B0806030902050204" pitchFamily="34" charset="0"/>
              </a:endParaRPr>
            </a:p>
          </p:txBody>
        </p:sp>
        <p:sp>
          <p:nvSpPr>
            <p:cNvPr id="50" name="矩形 49"/>
            <p:cNvSpPr/>
            <p:nvPr>
              <p:custDataLst>
                <p:tags r:id="rId13"/>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pc="300" dirty="0">
                  <a:solidFill>
                    <a:schemeClr val="tx1"/>
                  </a:solidFill>
                  <a:latin typeface="Impact" panose="020B0806030902050204" pitchFamily="34" charset="0"/>
                </a:rPr>
                <a:t>邮件传输协议安全</a:t>
              </a:r>
              <a:endParaRPr lang="en-US" altLang="zh-CN" sz="2800" b="1" spc="300" dirty="0">
                <a:solidFill>
                  <a:schemeClr val="tx1"/>
                </a:solidFill>
                <a:latin typeface="Impact" panose="020B0806030902050204" pitchFamily="34" charset="0"/>
              </a:endParaRPr>
            </a:p>
          </p:txBody>
        </p:sp>
      </p:grpSp>
      <p:grpSp>
        <p:nvGrpSpPr>
          <p:cNvPr id="51" name="组合 50"/>
          <p:cNvGrpSpPr/>
          <p:nvPr>
            <p:custDataLst>
              <p:tags r:id="rId14"/>
            </p:custDataLst>
          </p:nvPr>
        </p:nvGrpSpPr>
        <p:grpSpPr>
          <a:xfrm rot="0">
            <a:off x="2994025" y="4689475"/>
            <a:ext cx="6081395" cy="574040"/>
            <a:chOff x="1592243" y="802566"/>
            <a:chExt cx="5636475" cy="499963"/>
          </a:xfrm>
        </p:grpSpPr>
        <p:sp>
          <p:nvSpPr>
            <p:cNvPr id="52" name="矩形 51"/>
            <p:cNvSpPr/>
            <p:nvPr>
              <p:custDataLst>
                <p:tags r:id="rId15"/>
              </p:custDataLst>
            </p:nvPr>
          </p:nvSpPr>
          <p:spPr>
            <a:xfrm>
              <a:off x="1592243" y="802567"/>
              <a:ext cx="1027894" cy="499962"/>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latin typeface="Impact" panose="020B0806030902050204" pitchFamily="34" charset="0"/>
                </a:rPr>
                <a:t>5.5</a:t>
              </a:r>
              <a:endParaRPr lang="en-US" altLang="zh-CN" sz="2800" b="1" spc="300" dirty="0">
                <a:latin typeface="Impact" panose="020B0806030902050204" pitchFamily="34" charset="0"/>
              </a:endParaRPr>
            </a:p>
          </p:txBody>
        </p:sp>
        <p:sp>
          <p:nvSpPr>
            <p:cNvPr id="53" name="矩形 52"/>
            <p:cNvSpPr/>
            <p:nvPr>
              <p:custDataLst>
                <p:tags r:id="rId16"/>
              </p:custDataLst>
            </p:nvPr>
          </p:nvSpPr>
          <p:spPr>
            <a:xfrm>
              <a:off x="2620137" y="802566"/>
              <a:ext cx="4608581" cy="499962"/>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pc="300" dirty="0">
                  <a:solidFill>
                    <a:schemeClr val="tx1"/>
                  </a:solidFill>
                  <a:latin typeface="Impact" panose="020B0806030902050204" pitchFamily="34" charset="0"/>
                </a:rPr>
                <a:t>DHCP</a:t>
              </a:r>
              <a:r>
                <a:rPr lang="zh-CN" altLang="en-US" sz="2800" b="1" spc="300" dirty="0">
                  <a:solidFill>
                    <a:schemeClr val="tx1"/>
                  </a:solidFill>
                  <a:latin typeface="Impact" panose="020B0806030902050204" pitchFamily="34" charset="0"/>
                </a:rPr>
                <a:t>协议安全</a:t>
              </a:r>
              <a:endParaRPr lang="zh-CN" altLang="en-US" sz="2800" b="1" spc="300" dirty="0">
                <a:solidFill>
                  <a:schemeClr val="tx1"/>
                </a:solidFill>
                <a:latin typeface="Impact" panose="020B0806030902050204" pitchFamily="34" charset="0"/>
              </a:endParaRPr>
            </a:p>
          </p:txBody>
        </p:sp>
      </p:grpSp>
      <p:grpSp>
        <p:nvGrpSpPr>
          <p:cNvPr id="9" name="组合 8"/>
          <p:cNvGrpSpPr/>
          <p:nvPr>
            <p:custDataLst>
              <p:tags r:id="rId17"/>
            </p:custDataLst>
          </p:nvPr>
        </p:nvGrpSpPr>
        <p:grpSpPr>
          <a:xfrm rot="0">
            <a:off x="2999105" y="5517515"/>
            <a:ext cx="6081395" cy="574040"/>
            <a:chOff x="4723" y="9769"/>
            <a:chExt cx="9577" cy="904"/>
          </a:xfrm>
        </p:grpSpPr>
        <p:sp>
          <p:nvSpPr>
            <p:cNvPr id="7" name="矩形 6"/>
            <p:cNvSpPr/>
            <p:nvPr>
              <p:custDataLst>
                <p:tags r:id="rId18"/>
              </p:custDataLst>
            </p:nvPr>
          </p:nvSpPr>
          <p:spPr>
            <a:xfrm>
              <a:off x="4723" y="9769"/>
              <a:ext cx="1747" cy="904"/>
            </a:xfrm>
            <a:prstGeom prst="rect">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800" b="1" spc="300" dirty="0">
                  <a:latin typeface="Impact" panose="020B0806030902050204" pitchFamily="34" charset="0"/>
                </a:rPr>
                <a:t>5.6</a:t>
              </a:r>
              <a:endParaRPr lang="en-US" altLang="zh-CN" sz="2800" b="1" spc="300" dirty="0">
                <a:latin typeface="Impact" panose="020B0806030902050204" pitchFamily="34" charset="0"/>
              </a:endParaRPr>
            </a:p>
          </p:txBody>
        </p:sp>
        <p:sp>
          <p:nvSpPr>
            <p:cNvPr id="8" name="矩形 7"/>
            <p:cNvSpPr/>
            <p:nvPr>
              <p:custDataLst>
                <p:tags r:id="rId19"/>
              </p:custDataLst>
            </p:nvPr>
          </p:nvSpPr>
          <p:spPr>
            <a:xfrm>
              <a:off x="6470" y="9769"/>
              <a:ext cx="7830" cy="904"/>
            </a:xfrm>
            <a:prstGeom prst="rect">
              <a:avLst/>
            </a:prstGeom>
            <a:no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800" b="1" spc="300" dirty="0">
                  <a:solidFill>
                    <a:schemeClr val="tx1"/>
                  </a:solidFill>
                  <a:latin typeface="Impact" panose="020B0806030902050204" pitchFamily="34" charset="0"/>
                </a:rPr>
                <a:t>FTP</a:t>
              </a:r>
              <a:r>
                <a:rPr lang="zh-CN" altLang="en-US" sz="2800" b="1" spc="300" dirty="0">
                  <a:solidFill>
                    <a:schemeClr val="tx1"/>
                  </a:solidFill>
                  <a:latin typeface="Impact" panose="020B0806030902050204" pitchFamily="34" charset="0"/>
                </a:rPr>
                <a:t>协议安全</a:t>
              </a:r>
              <a:endParaRPr lang="zh-CN" altLang="en-US" sz="2800" b="1" spc="300" dirty="0">
                <a:solidFill>
                  <a:schemeClr val="tx1"/>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nvPr>
        </p:nvSpPr>
        <p:spPr>
          <a:xfrm>
            <a:off x="31750" y="298450"/>
            <a:ext cx="7110730" cy="583565"/>
          </a:xfrm>
        </p:spPr>
        <p:txBody>
          <a:bodyPr/>
          <a:p>
            <a:pPr algn="l">
              <a:buClrTx/>
              <a:buSzTx/>
              <a:buFontTx/>
            </a:pPr>
            <a:r>
              <a:rPr lang="zh-CN" altLang="en-US" sz="4000" dirty="0">
                <a:latin typeface="+mj-ea"/>
                <a:sym typeface="+mn-ea"/>
              </a:rPr>
              <a:t> </a:t>
            </a:r>
            <a:r>
              <a:rPr lang="en-US" altLang="zh-CN" sz="4000" dirty="0">
                <a:latin typeface="+mj-ea"/>
                <a:sym typeface="+mn-ea"/>
              </a:rPr>
              <a:t>5.1 </a:t>
            </a:r>
            <a:r>
              <a:rPr lang="zh-CN" altLang="en-US" sz="4000" dirty="0">
                <a:latin typeface="+mj-ea"/>
                <a:sym typeface="+mn-ea"/>
              </a:rPr>
              <a:t>应用层协议分类</a:t>
            </a:r>
            <a:endParaRPr lang="zh-CN" altLang="en-US" sz="4400" dirty="0">
              <a:latin typeface="+mj-ea"/>
              <a:sym typeface="+mn-ea"/>
            </a:endParaRPr>
          </a:p>
        </p:txBody>
      </p:sp>
      <p:sp>
        <p:nvSpPr>
          <p:cNvPr id="2" name="文本框 1"/>
          <p:cNvSpPr txBox="1"/>
          <p:nvPr/>
        </p:nvSpPr>
        <p:spPr>
          <a:xfrm>
            <a:off x="295910" y="878840"/>
            <a:ext cx="11418570" cy="1383665"/>
          </a:xfrm>
          <a:prstGeom prst="rect">
            <a:avLst/>
          </a:prstGeom>
          <a:noFill/>
        </p:spPr>
        <p:txBody>
          <a:bodyPr wrap="square" rtlCol="0" anchor="t">
            <a:spAutoFit/>
          </a:bodyPr>
          <a:p>
            <a:pPr marL="342900" indent="-342900" algn="l">
              <a:lnSpc>
                <a:spcPct val="150000"/>
              </a:lnSpc>
              <a:buClr>
                <a:srgbClr val="DF4F21"/>
              </a:buClr>
              <a:buSzTx/>
              <a:buFont typeface="Wingdings" panose="05000000000000000000" charset="0"/>
              <a:buChar char="p"/>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应用层协议主要包括以下几种：</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indent="0" algn="l">
              <a:lnSpc>
                <a:spcPct val="150000"/>
              </a:lnSpc>
              <a:buClr>
                <a:srgbClr val="DF4F21"/>
              </a:buClr>
              <a:buSzTx/>
              <a:buFont typeface="Wingdings" panose="05000000000000000000" charset="0"/>
              <a:buNone/>
            </a:pP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6" name="表格 5"/>
          <p:cNvGraphicFramePr/>
          <p:nvPr>
            <p:custDataLst>
              <p:tags r:id="rId1"/>
            </p:custDataLst>
          </p:nvPr>
        </p:nvGraphicFramePr>
        <p:xfrm>
          <a:off x="31750" y="1661795"/>
          <a:ext cx="12159615" cy="4862195"/>
        </p:xfrm>
        <a:graphic>
          <a:graphicData uri="http://schemas.openxmlformats.org/drawingml/2006/table">
            <a:tbl>
              <a:tblPr firstRow="1" bandRow="1">
                <a:tableStyleId>{5C22544A-7EE6-4342-B048-85BDC9FD1C3A}</a:tableStyleId>
              </a:tblPr>
              <a:tblGrid>
                <a:gridCol w="2465705"/>
                <a:gridCol w="1939925"/>
                <a:gridCol w="2432685"/>
                <a:gridCol w="5321300"/>
              </a:tblGrid>
              <a:tr h="448310">
                <a:tc>
                  <a:txBody>
                    <a:bodyPr/>
                    <a:p>
                      <a:pPr algn="ctr">
                        <a:buNone/>
                      </a:pPr>
                      <a:r>
                        <a:rPr lang="zh-CN" altLang="en-US" sz="2000">
                          <a:latin typeface="Times New Roman" panose="02020603050405020304" charset="0"/>
                          <a:ea typeface="宋体" panose="02010600030101010101" pitchFamily="2" charset="-122"/>
                        </a:rPr>
                        <a:t>中文名</a:t>
                      </a:r>
                      <a:endParaRPr lang="zh-CN" altLang="en-US" sz="2000">
                        <a:latin typeface="Times New Roman" panose="02020603050405020304" charset="0"/>
                        <a:ea typeface="宋体" panose="02010600030101010101" pitchFamily="2" charset="-122"/>
                      </a:endParaRPr>
                    </a:p>
                  </a:txBody>
                  <a:tcPr anchor="ctr" anchorCtr="0"/>
                </a:tc>
                <a:tc>
                  <a:txBody>
                    <a:bodyPr/>
                    <a:p>
                      <a:pPr algn="ctr">
                        <a:buNone/>
                      </a:pPr>
                      <a:r>
                        <a:rPr lang="zh-CN" altLang="en-US" sz="2000">
                          <a:latin typeface="Times New Roman" panose="02020603050405020304" charset="0"/>
                          <a:ea typeface="宋体" panose="02010600030101010101" pitchFamily="2" charset="-122"/>
                        </a:rPr>
                        <a:t>应用层协议</a:t>
                      </a:r>
                      <a:endParaRPr lang="zh-CN" altLang="en-US" sz="2000">
                        <a:latin typeface="Times New Roman" panose="02020603050405020304" charset="0"/>
                        <a:ea typeface="宋体" panose="02010600030101010101" pitchFamily="2" charset="-122"/>
                      </a:endParaRPr>
                    </a:p>
                  </a:txBody>
                  <a:tcPr anchor="ctr" anchorCtr="0"/>
                </a:tc>
                <a:tc>
                  <a:txBody>
                    <a:bodyPr/>
                    <a:p>
                      <a:pPr algn="ctr">
                        <a:buNone/>
                      </a:pPr>
                      <a:r>
                        <a:rPr lang="zh-CN" altLang="en-US" sz="2000">
                          <a:latin typeface="Times New Roman" panose="02020603050405020304" charset="0"/>
                          <a:ea typeface="宋体" panose="02010600030101010101" pitchFamily="2" charset="-122"/>
                        </a:rPr>
                        <a:t>端口号</a:t>
                      </a:r>
                      <a:endParaRPr lang="zh-CN" altLang="en-US" sz="2000">
                        <a:latin typeface="Times New Roman" panose="02020603050405020304" charset="0"/>
                        <a:ea typeface="宋体" panose="02010600030101010101" pitchFamily="2" charset="-122"/>
                      </a:endParaRPr>
                    </a:p>
                  </a:txBody>
                  <a:tcPr anchor="ctr" anchorCtr="0"/>
                </a:tc>
                <a:tc>
                  <a:txBody>
                    <a:bodyPr/>
                    <a:p>
                      <a:pPr algn="ctr">
                        <a:buNone/>
                      </a:pPr>
                      <a:r>
                        <a:rPr lang="zh-CN" altLang="en-US" sz="2000">
                          <a:latin typeface="Times New Roman" panose="02020603050405020304" charset="0"/>
                          <a:ea typeface="宋体" panose="02010600030101010101" pitchFamily="2" charset="-122"/>
                        </a:rPr>
                        <a:t>用途</a:t>
                      </a:r>
                      <a:endParaRPr lang="zh-CN" altLang="en-US" sz="2000">
                        <a:latin typeface="Times New Roman" panose="02020603050405020304" charset="0"/>
                        <a:ea typeface="宋体" panose="02010600030101010101" pitchFamily="2" charset="-122"/>
                      </a:endParaRPr>
                    </a:p>
                  </a:txBody>
                  <a:tcPr anchor="ctr" anchorCtr="0"/>
                </a:tc>
              </a:tr>
              <a:tr h="702945">
                <a:tc>
                  <a:txBody>
                    <a:bodyPr/>
                    <a:p>
                      <a:pPr algn="ctr">
                        <a:buNone/>
                      </a:pPr>
                      <a:r>
                        <a:rPr lang="zh-CN" altLang="en-US" sz="2000" b="1">
                          <a:latin typeface="Times New Roman" panose="02020603050405020304" charset="0"/>
                          <a:ea typeface="宋体" panose="02010600030101010101" pitchFamily="2" charset="-122"/>
                        </a:rPr>
                        <a:t>域名系统</a:t>
                      </a:r>
                      <a:endParaRPr lang="zh-CN" altLang="en-US" sz="2000" b="1">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latin typeface="Times New Roman" panose="02020603050405020304" charset="0"/>
                          <a:ea typeface="宋体" panose="02010600030101010101" pitchFamily="2" charset="-122"/>
                        </a:rPr>
                        <a:t>DNS</a:t>
                      </a:r>
                      <a:endParaRPr lang="en-US" altLang="zh-CN" sz="2000" b="1">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latin typeface="Times New Roman" panose="02020603050405020304" charset="0"/>
                          <a:ea typeface="宋体" panose="02010600030101010101" pitchFamily="2" charset="-122"/>
                        </a:rPr>
                        <a:t>53</a:t>
                      </a:r>
                      <a:endParaRPr lang="en-US" altLang="zh-CN" sz="2000" b="1">
                        <a:latin typeface="Times New Roman" panose="02020603050405020304" charset="0"/>
                        <a:ea typeface="宋体" panose="02010600030101010101" pitchFamily="2" charset="-122"/>
                      </a:endParaRPr>
                    </a:p>
                  </a:txBody>
                  <a:tcPr anchor="ctr" anchorCtr="0"/>
                </a:tc>
                <a:tc>
                  <a:txBody>
                    <a:bodyPr/>
                    <a:p>
                      <a:pPr>
                        <a:buNone/>
                      </a:pPr>
                      <a:r>
                        <a:rPr lang="zh-CN" altLang="en-US" sz="2000" b="1">
                          <a:latin typeface="Times New Roman" panose="02020603050405020304" charset="0"/>
                          <a:ea typeface="宋体" panose="02010600030101010101" pitchFamily="2" charset="-122"/>
                        </a:rPr>
                        <a:t>将域名转换为</a:t>
                      </a:r>
                      <a:r>
                        <a:rPr lang="en-US" altLang="zh-CN" sz="2000" b="1">
                          <a:latin typeface="Times New Roman" panose="02020603050405020304" charset="0"/>
                          <a:ea typeface="宋体" panose="02010600030101010101" pitchFamily="2" charset="-122"/>
                        </a:rPr>
                        <a:t>IP</a:t>
                      </a:r>
                      <a:r>
                        <a:rPr lang="zh-CN" altLang="en-US" sz="2000" b="1">
                          <a:latin typeface="Times New Roman" panose="02020603050405020304" charset="0"/>
                          <a:ea typeface="宋体" panose="02010600030101010101" pitchFamily="2" charset="-122"/>
                        </a:rPr>
                        <a:t>地址，是互联网域名解析的基础服务</a:t>
                      </a:r>
                      <a:endParaRPr lang="zh-CN" altLang="en-US" sz="2000" b="1">
                        <a:latin typeface="Times New Roman" panose="02020603050405020304" charset="0"/>
                        <a:ea typeface="宋体" panose="02010600030101010101" pitchFamily="2" charset="-122"/>
                      </a:endParaRPr>
                    </a:p>
                  </a:txBody>
                  <a:tcPr/>
                </a:tc>
              </a:tr>
              <a:tr h="703580">
                <a:tc>
                  <a:txBody>
                    <a:bodyPr/>
                    <a:p>
                      <a:pPr algn="ctr">
                        <a:buNone/>
                      </a:pPr>
                      <a:r>
                        <a:rPr lang="zh-CN" altLang="en-US" sz="2000" b="1">
                          <a:solidFill>
                            <a:srgbClr val="FF0000"/>
                          </a:solidFill>
                          <a:latin typeface="Times New Roman" panose="02020603050405020304" charset="0"/>
                          <a:ea typeface="宋体" panose="02010600030101010101" pitchFamily="2" charset="-122"/>
                        </a:rPr>
                        <a:t>超文本传输协议</a:t>
                      </a:r>
                      <a:endParaRPr lang="zh-CN" altLang="en-US" sz="2000" b="1">
                        <a:solidFill>
                          <a:srgbClr val="FF000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FF0000"/>
                          </a:solidFill>
                          <a:latin typeface="Times New Roman" panose="02020603050405020304" charset="0"/>
                          <a:ea typeface="宋体" panose="02010600030101010101" pitchFamily="2" charset="-122"/>
                        </a:rPr>
                        <a:t>HTTP</a:t>
                      </a:r>
                      <a:endParaRPr lang="en-US" altLang="zh-CN" sz="2000" b="1">
                        <a:solidFill>
                          <a:srgbClr val="FF000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FF0000"/>
                          </a:solidFill>
                          <a:latin typeface="Times New Roman" panose="02020603050405020304" charset="0"/>
                          <a:ea typeface="宋体" panose="02010600030101010101" pitchFamily="2" charset="-122"/>
                        </a:rPr>
                        <a:t>80</a:t>
                      </a:r>
                      <a:endParaRPr lang="en-US" altLang="zh-CN" sz="2000" b="1">
                        <a:solidFill>
                          <a:srgbClr val="FF0000"/>
                        </a:solidFill>
                        <a:latin typeface="Times New Roman" panose="02020603050405020304" charset="0"/>
                        <a:ea typeface="宋体" panose="02010600030101010101" pitchFamily="2" charset="-122"/>
                      </a:endParaRPr>
                    </a:p>
                  </a:txBody>
                  <a:tcPr anchor="ctr" anchorCtr="0"/>
                </a:tc>
                <a:tc>
                  <a:txBody>
                    <a:bodyPr/>
                    <a:p>
                      <a:pPr>
                        <a:buNone/>
                      </a:pPr>
                      <a:r>
                        <a:rPr lang="zh-CN" altLang="en-US" sz="2000" b="1">
                          <a:solidFill>
                            <a:srgbClr val="FF0000"/>
                          </a:solidFill>
                          <a:latin typeface="Times New Roman" panose="02020603050405020304" charset="0"/>
                          <a:ea typeface="宋体" panose="02010600030101010101" pitchFamily="2" charset="-122"/>
                        </a:rPr>
                        <a:t>用于从服务器传输超文本到本地浏览器的标准协议</a:t>
                      </a:r>
                      <a:endParaRPr lang="zh-CN" altLang="en-US" sz="2000" b="1">
                        <a:solidFill>
                          <a:srgbClr val="FF0000"/>
                        </a:solidFill>
                        <a:latin typeface="Times New Roman" panose="02020603050405020304" charset="0"/>
                        <a:ea typeface="宋体" panose="02010600030101010101" pitchFamily="2" charset="-122"/>
                      </a:endParaRPr>
                    </a:p>
                  </a:txBody>
                  <a:tcPr/>
                </a:tc>
              </a:tr>
              <a:tr h="448945">
                <a:tc>
                  <a:txBody>
                    <a:bodyPr/>
                    <a:p>
                      <a:pPr algn="ctr">
                        <a:buNone/>
                      </a:pPr>
                      <a:r>
                        <a:rPr lang="zh-CN" altLang="en-US" sz="2000" b="1">
                          <a:solidFill>
                            <a:srgbClr val="0070C0"/>
                          </a:solidFill>
                          <a:latin typeface="Times New Roman" panose="02020603050405020304" charset="0"/>
                          <a:ea typeface="宋体" panose="02010600030101010101" pitchFamily="2" charset="-122"/>
                        </a:rPr>
                        <a:t>简单邮件传输协议</a:t>
                      </a:r>
                      <a:endParaRPr lang="zh-CN" altLang="en-US" sz="2000" b="1">
                        <a:solidFill>
                          <a:srgbClr val="0070C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0070C0"/>
                          </a:solidFill>
                          <a:latin typeface="Times New Roman" panose="02020603050405020304" charset="0"/>
                          <a:ea typeface="宋体" panose="02010600030101010101" pitchFamily="2" charset="-122"/>
                        </a:rPr>
                        <a:t>SMTP</a:t>
                      </a:r>
                      <a:endParaRPr lang="en-US" altLang="zh-CN" sz="2000" b="1">
                        <a:solidFill>
                          <a:srgbClr val="0070C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0070C0"/>
                          </a:solidFill>
                          <a:latin typeface="Times New Roman" panose="02020603050405020304" charset="0"/>
                          <a:ea typeface="宋体" panose="02010600030101010101" pitchFamily="2" charset="-122"/>
                        </a:rPr>
                        <a:t>25</a:t>
                      </a:r>
                      <a:endParaRPr lang="en-US" altLang="zh-CN" sz="2000" b="1">
                        <a:solidFill>
                          <a:srgbClr val="0070C0"/>
                        </a:solidFill>
                        <a:latin typeface="Times New Roman" panose="02020603050405020304" charset="0"/>
                        <a:ea typeface="宋体" panose="02010600030101010101" pitchFamily="2" charset="-122"/>
                      </a:endParaRPr>
                    </a:p>
                  </a:txBody>
                  <a:tcPr anchor="ctr" anchorCtr="0"/>
                </a:tc>
                <a:tc>
                  <a:txBody>
                    <a:bodyPr/>
                    <a:p>
                      <a:pPr>
                        <a:buNone/>
                      </a:pPr>
                      <a:r>
                        <a:rPr lang="zh-CN" altLang="en-US" sz="2000" b="1">
                          <a:solidFill>
                            <a:srgbClr val="0070C0"/>
                          </a:solidFill>
                          <a:latin typeface="Times New Roman" panose="02020603050405020304" charset="0"/>
                          <a:ea typeface="宋体" panose="02010600030101010101" pitchFamily="2" charset="-122"/>
                        </a:rPr>
                        <a:t>用于发送电子邮件</a:t>
                      </a:r>
                      <a:endParaRPr lang="zh-CN" altLang="en-US" sz="2000" b="1">
                        <a:solidFill>
                          <a:srgbClr val="0070C0"/>
                        </a:solidFill>
                        <a:latin typeface="Times New Roman" panose="02020603050405020304" charset="0"/>
                        <a:ea typeface="宋体" panose="02010600030101010101" pitchFamily="2" charset="-122"/>
                      </a:endParaRPr>
                    </a:p>
                  </a:txBody>
                  <a:tcPr/>
                </a:tc>
              </a:tr>
              <a:tr h="448945">
                <a:tc>
                  <a:txBody>
                    <a:bodyPr/>
                    <a:p>
                      <a:pPr algn="ctr">
                        <a:buNone/>
                      </a:pPr>
                      <a:r>
                        <a:rPr lang="zh-CN" altLang="en-US" sz="2000" b="1">
                          <a:solidFill>
                            <a:srgbClr val="0070C0"/>
                          </a:solidFill>
                          <a:latin typeface="Times New Roman" panose="02020603050405020304" charset="0"/>
                          <a:ea typeface="宋体" panose="02010600030101010101" pitchFamily="2" charset="-122"/>
                        </a:rPr>
                        <a:t>邮件读取协议</a:t>
                      </a:r>
                      <a:endParaRPr lang="zh-CN" altLang="en-US" sz="2000" b="1">
                        <a:solidFill>
                          <a:srgbClr val="0070C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0070C0"/>
                          </a:solidFill>
                          <a:latin typeface="Times New Roman" panose="02020603050405020304" charset="0"/>
                          <a:ea typeface="宋体" panose="02010600030101010101" pitchFamily="2" charset="-122"/>
                        </a:rPr>
                        <a:t>POP3</a:t>
                      </a:r>
                      <a:endParaRPr lang="en-US" altLang="zh-CN" sz="2000" b="1">
                        <a:solidFill>
                          <a:srgbClr val="0070C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0070C0"/>
                          </a:solidFill>
                          <a:latin typeface="Times New Roman" panose="02020603050405020304" charset="0"/>
                          <a:ea typeface="宋体" panose="02010600030101010101" pitchFamily="2" charset="-122"/>
                        </a:rPr>
                        <a:t>110</a:t>
                      </a:r>
                      <a:endParaRPr lang="en-US" altLang="zh-CN" sz="2000" b="1">
                        <a:solidFill>
                          <a:srgbClr val="0070C0"/>
                        </a:solidFill>
                        <a:latin typeface="Times New Roman" panose="02020603050405020304" charset="0"/>
                        <a:ea typeface="宋体" panose="02010600030101010101" pitchFamily="2" charset="-122"/>
                      </a:endParaRPr>
                    </a:p>
                  </a:txBody>
                  <a:tcPr anchor="ctr" anchorCtr="0"/>
                </a:tc>
                <a:tc>
                  <a:txBody>
                    <a:bodyPr/>
                    <a:p>
                      <a:pPr>
                        <a:buNone/>
                      </a:pPr>
                      <a:r>
                        <a:rPr lang="zh-CN" altLang="en-US" sz="2000" b="1">
                          <a:solidFill>
                            <a:srgbClr val="0070C0"/>
                          </a:solidFill>
                          <a:latin typeface="Times New Roman" panose="02020603050405020304" charset="0"/>
                          <a:ea typeface="宋体" panose="02010600030101010101" pitchFamily="2" charset="-122"/>
                        </a:rPr>
                        <a:t>用于从邮件服务器上接收邮件</a:t>
                      </a:r>
                      <a:endParaRPr lang="zh-CN" altLang="en-US" sz="2000" b="1">
                        <a:solidFill>
                          <a:srgbClr val="0070C0"/>
                        </a:solidFill>
                        <a:latin typeface="Times New Roman" panose="02020603050405020304" charset="0"/>
                        <a:ea typeface="宋体" panose="02010600030101010101" pitchFamily="2" charset="-122"/>
                      </a:endParaRPr>
                    </a:p>
                  </a:txBody>
                  <a:tcPr/>
                </a:tc>
              </a:tr>
              <a:tr h="702945">
                <a:tc>
                  <a:txBody>
                    <a:bodyPr/>
                    <a:p>
                      <a:pPr algn="ctr">
                        <a:buNone/>
                      </a:pPr>
                      <a:r>
                        <a:rPr lang="zh-CN" altLang="en-US" sz="2000" b="1">
                          <a:solidFill>
                            <a:srgbClr val="0070C0"/>
                          </a:solidFill>
                          <a:latin typeface="Times New Roman" panose="02020603050405020304" charset="0"/>
                          <a:ea typeface="宋体" panose="02010600030101010101" pitchFamily="2" charset="-122"/>
                        </a:rPr>
                        <a:t>邮件读取协议</a:t>
                      </a:r>
                      <a:endParaRPr lang="zh-CN" altLang="en-US" sz="2000" b="1">
                        <a:solidFill>
                          <a:srgbClr val="0070C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0070C0"/>
                          </a:solidFill>
                          <a:latin typeface="Times New Roman" panose="02020603050405020304" charset="0"/>
                          <a:ea typeface="宋体" panose="02010600030101010101" pitchFamily="2" charset="-122"/>
                        </a:rPr>
                        <a:t>IMAP</a:t>
                      </a:r>
                      <a:endParaRPr lang="en-US" altLang="zh-CN" sz="2000" b="1">
                        <a:solidFill>
                          <a:srgbClr val="0070C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0070C0"/>
                          </a:solidFill>
                          <a:latin typeface="Times New Roman" panose="02020603050405020304" charset="0"/>
                          <a:ea typeface="宋体" panose="02010600030101010101" pitchFamily="2" charset="-122"/>
                        </a:rPr>
                        <a:t>143</a:t>
                      </a:r>
                      <a:endParaRPr lang="en-US" altLang="zh-CN" sz="2000" b="1">
                        <a:solidFill>
                          <a:srgbClr val="0070C0"/>
                        </a:solidFill>
                        <a:latin typeface="Times New Roman" panose="02020603050405020304" charset="0"/>
                        <a:ea typeface="宋体" panose="02010600030101010101" pitchFamily="2" charset="-122"/>
                      </a:endParaRPr>
                    </a:p>
                  </a:txBody>
                  <a:tcPr anchor="ctr" anchorCtr="0"/>
                </a:tc>
                <a:tc>
                  <a:txBody>
                    <a:bodyPr/>
                    <a:p>
                      <a:pPr>
                        <a:buNone/>
                      </a:pPr>
                      <a:r>
                        <a:rPr lang="zh-CN" altLang="en-US" sz="2000" b="1">
                          <a:solidFill>
                            <a:srgbClr val="0070C0"/>
                          </a:solidFill>
                          <a:latin typeface="Times New Roman" panose="02020603050405020304" charset="0"/>
                          <a:ea typeface="宋体" panose="02010600030101010101" pitchFamily="2" charset="-122"/>
                        </a:rPr>
                        <a:t>用于从邮件服务器上接收、读取和管理电子邮件</a:t>
                      </a:r>
                      <a:endParaRPr lang="zh-CN" altLang="en-US" sz="2000" b="1">
                        <a:solidFill>
                          <a:srgbClr val="0070C0"/>
                        </a:solidFill>
                        <a:latin typeface="Times New Roman" panose="02020603050405020304" charset="0"/>
                        <a:ea typeface="宋体" panose="02010600030101010101" pitchFamily="2" charset="-122"/>
                      </a:endParaRPr>
                    </a:p>
                  </a:txBody>
                  <a:tcPr/>
                </a:tc>
              </a:tr>
              <a:tr h="703580">
                <a:tc>
                  <a:txBody>
                    <a:bodyPr/>
                    <a:p>
                      <a:pPr algn="ctr">
                        <a:buNone/>
                      </a:pPr>
                      <a:r>
                        <a:rPr lang="zh-CN" altLang="en-US" sz="2000" b="1">
                          <a:solidFill>
                            <a:srgbClr val="00B050"/>
                          </a:solidFill>
                          <a:latin typeface="Times New Roman" panose="02020603050405020304" charset="0"/>
                          <a:ea typeface="宋体" panose="02010600030101010101" pitchFamily="2" charset="-122"/>
                        </a:rPr>
                        <a:t>动态主机配置协议</a:t>
                      </a:r>
                      <a:endParaRPr lang="zh-CN" altLang="en-US" sz="2000" b="1">
                        <a:solidFill>
                          <a:srgbClr val="00B05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00B050"/>
                          </a:solidFill>
                          <a:latin typeface="Times New Roman" panose="02020603050405020304" charset="0"/>
                          <a:ea typeface="宋体" panose="02010600030101010101" pitchFamily="2" charset="-122"/>
                        </a:rPr>
                        <a:t>DHCP</a:t>
                      </a:r>
                      <a:endParaRPr lang="en-US" altLang="zh-CN" sz="2000" b="1">
                        <a:solidFill>
                          <a:srgbClr val="00B050"/>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rgbClr val="00B050"/>
                          </a:solidFill>
                          <a:latin typeface="Times New Roman" panose="02020603050405020304" charset="0"/>
                          <a:ea typeface="宋体" panose="02010600030101010101" pitchFamily="2" charset="-122"/>
                        </a:rPr>
                        <a:t>67</a:t>
                      </a:r>
                      <a:r>
                        <a:rPr lang="zh-CN" altLang="en-US" sz="2000" b="1">
                          <a:solidFill>
                            <a:srgbClr val="00B050"/>
                          </a:solidFill>
                          <a:latin typeface="Times New Roman" panose="02020603050405020304" charset="0"/>
                          <a:ea typeface="宋体" panose="02010600030101010101" pitchFamily="2" charset="-122"/>
                        </a:rPr>
                        <a:t>（服务器）</a:t>
                      </a:r>
                      <a:endParaRPr lang="zh-CN" altLang="en-US" sz="2000" b="1">
                        <a:solidFill>
                          <a:srgbClr val="00B050"/>
                        </a:solidFill>
                        <a:latin typeface="Times New Roman" panose="02020603050405020304" charset="0"/>
                        <a:ea typeface="宋体" panose="02010600030101010101" pitchFamily="2" charset="-122"/>
                      </a:endParaRPr>
                    </a:p>
                    <a:p>
                      <a:pPr algn="ctr">
                        <a:buNone/>
                      </a:pPr>
                      <a:r>
                        <a:rPr lang="en-US" altLang="zh-CN" sz="2000" b="1">
                          <a:solidFill>
                            <a:srgbClr val="00B050"/>
                          </a:solidFill>
                          <a:latin typeface="Times New Roman" panose="02020603050405020304" charset="0"/>
                          <a:ea typeface="宋体" panose="02010600030101010101" pitchFamily="2" charset="-122"/>
                        </a:rPr>
                        <a:t>68</a:t>
                      </a:r>
                      <a:r>
                        <a:rPr lang="zh-CN" altLang="en-US" sz="2000" b="1">
                          <a:solidFill>
                            <a:srgbClr val="00B050"/>
                          </a:solidFill>
                          <a:latin typeface="Times New Roman" panose="02020603050405020304" charset="0"/>
                          <a:ea typeface="宋体" panose="02010600030101010101" pitchFamily="2" charset="-122"/>
                        </a:rPr>
                        <a:t>（客户端）</a:t>
                      </a:r>
                      <a:endParaRPr lang="zh-CN" altLang="en-US" sz="2000" b="1">
                        <a:solidFill>
                          <a:srgbClr val="00B050"/>
                        </a:solidFill>
                        <a:latin typeface="Times New Roman" panose="02020603050405020304" charset="0"/>
                        <a:ea typeface="宋体" panose="02010600030101010101" pitchFamily="2" charset="-122"/>
                      </a:endParaRPr>
                    </a:p>
                  </a:txBody>
                  <a:tcPr anchor="ctr" anchorCtr="0"/>
                </a:tc>
                <a:tc>
                  <a:txBody>
                    <a:bodyPr/>
                    <a:p>
                      <a:pPr>
                        <a:buNone/>
                      </a:pPr>
                      <a:r>
                        <a:rPr lang="zh-CN" altLang="en-US" sz="2000" b="1">
                          <a:solidFill>
                            <a:srgbClr val="00B050"/>
                          </a:solidFill>
                          <a:latin typeface="Times New Roman" panose="02020603050405020304" charset="0"/>
                          <a:ea typeface="宋体" panose="02010600030101010101" pitchFamily="2" charset="-122"/>
                        </a:rPr>
                        <a:t>自动分配</a:t>
                      </a:r>
                      <a:r>
                        <a:rPr lang="en-US" altLang="zh-CN" sz="2000" b="1">
                          <a:solidFill>
                            <a:srgbClr val="00B050"/>
                          </a:solidFill>
                          <a:latin typeface="Times New Roman" panose="02020603050405020304" charset="0"/>
                          <a:ea typeface="宋体" panose="02010600030101010101" pitchFamily="2" charset="-122"/>
                        </a:rPr>
                        <a:t>IP</a:t>
                      </a:r>
                      <a:r>
                        <a:rPr lang="zh-CN" altLang="en-US" sz="2000" b="1">
                          <a:solidFill>
                            <a:srgbClr val="00B050"/>
                          </a:solidFill>
                          <a:latin typeface="Times New Roman" panose="02020603050405020304" charset="0"/>
                          <a:ea typeface="宋体" panose="02010600030101010101" pitchFamily="2" charset="-122"/>
                        </a:rPr>
                        <a:t>地址给网络中的设备</a:t>
                      </a:r>
                      <a:endParaRPr lang="zh-CN" altLang="en-US" sz="2000" b="1">
                        <a:solidFill>
                          <a:srgbClr val="00B050"/>
                        </a:solidFill>
                        <a:latin typeface="Times New Roman" panose="02020603050405020304" charset="0"/>
                        <a:ea typeface="宋体" panose="02010600030101010101" pitchFamily="2" charset="-122"/>
                      </a:endParaRPr>
                    </a:p>
                  </a:txBody>
                  <a:tcPr/>
                </a:tc>
              </a:tr>
              <a:tr h="702945">
                <a:tc>
                  <a:txBody>
                    <a:bodyPr/>
                    <a:p>
                      <a:pPr algn="ctr">
                        <a:buNone/>
                      </a:pPr>
                      <a:r>
                        <a:rPr lang="zh-CN" altLang="en-US" sz="2000" b="1">
                          <a:solidFill>
                            <a:schemeClr val="accent3"/>
                          </a:solidFill>
                          <a:latin typeface="Times New Roman" panose="02020603050405020304" charset="0"/>
                          <a:ea typeface="宋体" panose="02010600030101010101" pitchFamily="2" charset="-122"/>
                        </a:rPr>
                        <a:t>文件传输协议</a:t>
                      </a:r>
                      <a:endParaRPr lang="zh-CN" altLang="en-US" sz="2000" b="1">
                        <a:solidFill>
                          <a:schemeClr val="accent3"/>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chemeClr val="accent3"/>
                          </a:solidFill>
                          <a:latin typeface="Times New Roman" panose="02020603050405020304" charset="0"/>
                          <a:ea typeface="宋体" panose="02010600030101010101" pitchFamily="2" charset="-122"/>
                        </a:rPr>
                        <a:t>FTP</a:t>
                      </a:r>
                      <a:endParaRPr lang="en-US" altLang="zh-CN" sz="2000" b="1">
                        <a:solidFill>
                          <a:schemeClr val="accent3"/>
                        </a:solidFill>
                        <a:latin typeface="Times New Roman" panose="02020603050405020304" charset="0"/>
                        <a:ea typeface="宋体" panose="02010600030101010101" pitchFamily="2" charset="-122"/>
                      </a:endParaRPr>
                    </a:p>
                  </a:txBody>
                  <a:tcPr anchor="ctr" anchorCtr="0"/>
                </a:tc>
                <a:tc>
                  <a:txBody>
                    <a:bodyPr/>
                    <a:p>
                      <a:pPr algn="ctr">
                        <a:buNone/>
                      </a:pPr>
                      <a:r>
                        <a:rPr lang="en-US" altLang="zh-CN" sz="2000" b="1">
                          <a:solidFill>
                            <a:schemeClr val="accent3"/>
                          </a:solidFill>
                          <a:latin typeface="Times New Roman" panose="02020603050405020304" charset="0"/>
                          <a:ea typeface="宋体" panose="02010600030101010101" pitchFamily="2" charset="-122"/>
                        </a:rPr>
                        <a:t>20</a:t>
                      </a:r>
                      <a:r>
                        <a:rPr lang="zh-CN" altLang="en-US" sz="2000" b="1">
                          <a:solidFill>
                            <a:schemeClr val="accent3"/>
                          </a:solidFill>
                          <a:latin typeface="Times New Roman" panose="02020603050405020304" charset="0"/>
                          <a:ea typeface="宋体" panose="02010600030101010101" pitchFamily="2" charset="-122"/>
                        </a:rPr>
                        <a:t>（数据连接）</a:t>
                      </a:r>
                      <a:endParaRPr lang="zh-CN" altLang="en-US" sz="2000" b="1">
                        <a:solidFill>
                          <a:schemeClr val="accent3"/>
                        </a:solidFill>
                        <a:latin typeface="Times New Roman" panose="02020603050405020304" charset="0"/>
                        <a:ea typeface="宋体" panose="02010600030101010101" pitchFamily="2" charset="-122"/>
                      </a:endParaRPr>
                    </a:p>
                    <a:p>
                      <a:pPr algn="ctr">
                        <a:buNone/>
                      </a:pPr>
                      <a:r>
                        <a:rPr lang="en-US" altLang="zh-CN" sz="2000" b="1">
                          <a:solidFill>
                            <a:schemeClr val="accent3"/>
                          </a:solidFill>
                          <a:latin typeface="Times New Roman" panose="02020603050405020304" charset="0"/>
                          <a:ea typeface="宋体" panose="02010600030101010101" pitchFamily="2" charset="-122"/>
                        </a:rPr>
                        <a:t>21</a:t>
                      </a:r>
                      <a:r>
                        <a:rPr lang="zh-CN" altLang="en-US" sz="2000" b="1">
                          <a:solidFill>
                            <a:schemeClr val="accent3"/>
                          </a:solidFill>
                          <a:latin typeface="Times New Roman" panose="02020603050405020304" charset="0"/>
                          <a:ea typeface="宋体" panose="02010600030101010101" pitchFamily="2" charset="-122"/>
                        </a:rPr>
                        <a:t>（控制连接）</a:t>
                      </a:r>
                      <a:endParaRPr lang="zh-CN" altLang="en-US" sz="2000" b="1">
                        <a:solidFill>
                          <a:schemeClr val="accent3"/>
                        </a:solidFill>
                        <a:latin typeface="Times New Roman" panose="02020603050405020304" charset="0"/>
                        <a:ea typeface="宋体" panose="02010600030101010101" pitchFamily="2" charset="-122"/>
                      </a:endParaRPr>
                    </a:p>
                  </a:txBody>
                  <a:tcPr anchor="ctr" anchorCtr="0"/>
                </a:tc>
                <a:tc>
                  <a:txBody>
                    <a:bodyPr/>
                    <a:p>
                      <a:pPr>
                        <a:buNone/>
                      </a:pPr>
                      <a:r>
                        <a:rPr lang="zh-CN" altLang="en-US" sz="2000" b="1">
                          <a:solidFill>
                            <a:schemeClr val="accent3"/>
                          </a:solidFill>
                          <a:latin typeface="Times New Roman" panose="02020603050405020304" charset="0"/>
                          <a:ea typeface="宋体" panose="02010600030101010101" pitchFamily="2" charset="-122"/>
                        </a:rPr>
                        <a:t>用于在网络上进行文件传输</a:t>
                      </a:r>
                      <a:endParaRPr lang="zh-CN" altLang="en-US" sz="2000" b="1">
                        <a:solidFill>
                          <a:schemeClr val="accent3"/>
                        </a:solidFill>
                        <a:latin typeface="Times New Roman" panose="02020603050405020304" charset="0"/>
                        <a:ea typeface="宋体" panose="02010600030101010101" pitchFamily="2" charset="-122"/>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5.2.1 </a:t>
            </a:r>
            <a:r>
              <a:rPr lang="zh-CN" altLang="en-US" sz="4000" dirty="0">
                <a:latin typeface="+mj-ea"/>
                <a:sym typeface="+mn-ea"/>
              </a:rPr>
              <a:t>域名系统</a:t>
            </a:r>
            <a:endParaRPr lang="zh-CN" altLang="en-US" sz="4000" dirty="0">
              <a:latin typeface="+mj-ea"/>
              <a:sym typeface="+mn-ea"/>
            </a:endParaRPr>
          </a:p>
        </p:txBody>
      </p:sp>
      <p:sp>
        <p:nvSpPr>
          <p:cNvPr id="3" name="文本框 2"/>
          <p:cNvSpPr txBox="1"/>
          <p:nvPr/>
        </p:nvSpPr>
        <p:spPr>
          <a:xfrm>
            <a:off x="142240" y="1310005"/>
            <a:ext cx="5610860" cy="4515485"/>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DNS域名系统</a:t>
            </a:r>
            <a:r>
              <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由三大要素组成：</a:t>
            </a:r>
            <a:endPar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02310" indent="-342900" algn="l" fontAlgn="auto">
              <a:lnSpc>
                <a:spcPct val="150000"/>
              </a:lnSpc>
              <a:buClr>
                <a:srgbClr val="DF4F21"/>
              </a:buClr>
              <a:buSzTx/>
              <a:buFont typeface="Wingdings" panose="05000000000000000000" charset="0"/>
              <a:buChar char="Ø"/>
            </a:pPr>
            <a:r>
              <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域：由地理位置或业务类型而联系在一起的计算机集合</a:t>
            </a:r>
            <a:endPar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02310" indent="-342900" algn="l" fontAlgn="auto">
              <a:lnSpc>
                <a:spcPct val="150000"/>
              </a:lnSpc>
              <a:buClr>
                <a:srgbClr val="DF4F21"/>
              </a:buClr>
              <a:buSzTx/>
              <a:buFont typeface="Wingdings" panose="05000000000000000000" charset="0"/>
              <a:buChar char="Ø"/>
            </a:pPr>
            <a:r>
              <a:rPr kumimoji="1" lang="zh-CN" altLang="en-US" sz="2600" b="1">
                <a:ln w="12700">
                  <a:noFill/>
                </a:ln>
                <a:solidFill>
                  <a:schemeClr val="accent2">
                    <a:alpha val="100000"/>
                  </a:schemeClr>
                </a:solidFill>
                <a:latin typeface="Times New Roman" panose="02020603050405020304" charset="0"/>
                <a:ea typeface="宋体" panose="02010600030101010101" pitchFamily="2" charset="-122"/>
                <a:cs typeface="Times New Roman" panose="02020603050405020304" charset="0"/>
                <a:sym typeface="+mn-ea"/>
              </a:rPr>
              <a:t>域名：</a:t>
            </a:r>
            <a:r>
              <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由字符和（或）数字组成的名称，用于替代主机的</a:t>
            </a:r>
            <a:r>
              <a:rPr kumimoji="1" lang="en-US" altLang="zh-CN"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a:t>
            </a:r>
            <a:endPar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02310" indent="-342900" algn="l" fontAlgn="auto">
              <a:lnSpc>
                <a:spcPct val="150000"/>
              </a:lnSpc>
              <a:buClr>
                <a:srgbClr val="DF4F21"/>
              </a:buClr>
              <a:buSzTx/>
              <a:buFont typeface="Wingdings" panose="05000000000000000000" charset="0"/>
              <a:buChar char="Ø"/>
            </a:pPr>
            <a:r>
              <a:rPr kumimoji="1" lang="zh-CN" altLang="en-US" sz="2600" b="1">
                <a:ln w="12700">
                  <a:noFill/>
                </a:ln>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域名服务器</a:t>
            </a:r>
            <a:r>
              <a:rPr kumimoji="1" lang="zh-CN" altLang="en-US" sz="2600" b="1">
                <a:ln w="12700">
                  <a:noFill/>
                </a:ln>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a:t>
            </a:r>
            <a:r>
              <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提供域名解析服务（将域名映射</a:t>
            </a:r>
            <a:r>
              <a:rPr kumimoji="1" lang="en-US" altLang="zh-CN"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地址）的主机</a:t>
            </a:r>
            <a:endParaRPr kumimoji="1" lang="zh-CN" altLang="en-US" sz="26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pic>
        <p:nvPicPr>
          <p:cNvPr id="9" name="图片 8"/>
          <p:cNvPicPr/>
          <p:nvPr/>
        </p:nvPicPr>
        <p:blipFill>
          <a:blip r:embed="rId1"/>
          <a:stretch>
            <a:fillRect/>
          </a:stretch>
        </p:blipFill>
        <p:spPr>
          <a:xfrm>
            <a:off x="6492240" y="1508760"/>
            <a:ext cx="4888865" cy="44348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5.2.1 </a:t>
            </a:r>
            <a:r>
              <a:rPr lang="zh-CN" altLang="en-US" sz="4000" dirty="0">
                <a:latin typeface="+mj-ea"/>
                <a:sym typeface="+mn-ea"/>
              </a:rPr>
              <a:t>域名系统</a:t>
            </a:r>
            <a:endParaRPr lang="zh-CN" altLang="en-US" sz="4000" dirty="0">
              <a:latin typeface="+mj-ea"/>
              <a:sym typeface="+mn-ea"/>
            </a:endParaRPr>
          </a:p>
        </p:txBody>
      </p:sp>
      <p:sp>
        <p:nvSpPr>
          <p:cNvPr id="3" name="文本框 2"/>
          <p:cNvSpPr txBox="1"/>
          <p:nvPr/>
        </p:nvSpPr>
        <p:spPr>
          <a:xfrm>
            <a:off x="295910" y="1156335"/>
            <a:ext cx="11214735" cy="4605655"/>
          </a:xfrm>
          <a:prstGeom prst="rect">
            <a:avLst/>
          </a:prstGeom>
          <a:noFill/>
        </p:spPr>
        <p:txBody>
          <a:bodyPr wrap="square" rtlCol="0" anchor="t">
            <a:noAutofit/>
          </a:bodyPr>
          <a:p>
            <a:pPr marL="342900" indent="-342900">
              <a:lnSpc>
                <a:spcPct val="150000"/>
              </a:lnSpc>
              <a:buClr>
                <a:srgbClr val="DF4F21"/>
              </a:buClr>
              <a:buSzTx/>
              <a:buFont typeface="Wingdings" panose="05000000000000000000" charset="0"/>
              <a:buChar char="p"/>
            </a:pP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域名服务器：是互联网中的核心组件，负责将易于记忆的域名转换为计算机能够识别的</a:t>
            </a: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地址，根据它们在系统中的功能，域名服务器可以分为以下四种主要类型：</a:t>
            </a:r>
            <a:endPar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1421765" indent="-342900" algn="l" fontAlgn="auto">
              <a:lnSpc>
                <a:spcPct val="150000"/>
              </a:lnSpc>
              <a:spcBef>
                <a:spcPts val="500"/>
              </a:spcBef>
              <a:buClr>
                <a:srgbClr val="DF4F21"/>
              </a:buClr>
              <a:buSzTx/>
              <a:buFont typeface="Wingdings" panose="05000000000000000000" charset="0"/>
              <a:buChar char="Ø"/>
            </a:pP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根域名服务器 </a:t>
            </a:r>
            <a:endPar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1421765" indent="-342900" algn="l" fontAlgn="auto">
              <a:lnSpc>
                <a:spcPct val="150000"/>
              </a:lnSpc>
              <a:spcBef>
                <a:spcPts val="500"/>
              </a:spcBef>
              <a:buClr>
                <a:srgbClr val="DF4F21"/>
              </a:buClr>
              <a:buSzTx/>
              <a:buFont typeface="Wingdings" panose="05000000000000000000" charset="0"/>
              <a:buChar char="Ø"/>
            </a:pP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顶级域名服务器 </a:t>
            </a:r>
            <a:endPar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1421765" indent="-342900" algn="l" fontAlgn="auto">
              <a:lnSpc>
                <a:spcPct val="150000"/>
              </a:lnSpc>
              <a:spcBef>
                <a:spcPts val="500"/>
              </a:spcBef>
              <a:buClr>
                <a:srgbClr val="DF4F21"/>
              </a:buClr>
              <a:buSzTx/>
              <a:buFont typeface="Wingdings" panose="05000000000000000000" charset="0"/>
              <a:buChar char="Ø"/>
            </a:pP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权限域名服务器 </a:t>
            </a:r>
            <a:endPar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1421765" indent="-342900" algn="l" fontAlgn="auto">
              <a:lnSpc>
                <a:spcPct val="150000"/>
              </a:lnSpc>
              <a:spcBef>
                <a:spcPts val="500"/>
              </a:spcBef>
              <a:buClr>
                <a:srgbClr val="DF4F21"/>
              </a:buClr>
              <a:buSzTx/>
              <a:buFont typeface="Wingdings" panose="05000000000000000000" charset="0"/>
              <a:buChar char="Ø"/>
            </a:pP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本地域名服务器 </a:t>
            </a:r>
            <a:endPar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indent="-342900">
              <a:lnSpc>
                <a:spcPct val="150000"/>
              </a:lnSpc>
              <a:buClr>
                <a:srgbClr val="DF4F21"/>
              </a:buClr>
              <a:buSzTx/>
              <a:buFont typeface="Wingdings" panose="05000000000000000000" charset="0"/>
              <a:buChar char="p"/>
            </a:pP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indent="0" algn="l">
              <a:lnSpc>
                <a:spcPct val="150000"/>
              </a:lnSpc>
              <a:buClr>
                <a:srgbClr val="DF4F21"/>
              </a:buClr>
              <a:buSzTx/>
              <a:buFont typeface="Wingdings" panose="05000000000000000000" charset="0"/>
              <a:buNone/>
            </a:pP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5.2.1 </a:t>
            </a:r>
            <a:r>
              <a:rPr lang="zh-CN" altLang="en-US" sz="4000" dirty="0">
                <a:latin typeface="+mj-ea"/>
                <a:sym typeface="+mn-ea"/>
              </a:rPr>
              <a:t>域名系统</a:t>
            </a:r>
            <a:endParaRPr lang="zh-CN" altLang="en-US" sz="4000" dirty="0">
              <a:latin typeface="+mj-ea"/>
              <a:sym typeface="+mn-ea"/>
            </a:endParaRPr>
          </a:p>
        </p:txBody>
      </p:sp>
      <p:sp>
        <p:nvSpPr>
          <p:cNvPr id="4" name="文本框 3"/>
          <p:cNvSpPr txBox="1"/>
          <p:nvPr/>
        </p:nvSpPr>
        <p:spPr>
          <a:xfrm>
            <a:off x="1002030" y="1130300"/>
            <a:ext cx="5495290" cy="400050"/>
          </a:xfrm>
          <a:prstGeom prst="rect">
            <a:avLst/>
          </a:prstGeom>
          <a:noFill/>
        </p:spPr>
        <p:txBody>
          <a:bodyPr wrap="square" rtlCol="0">
            <a:spAutoFit/>
          </a:bodyPr>
          <a:p>
            <a:r>
              <a:rPr lang="zh-CN" altLang="en-US" sz="2000" b="1" dirty="0">
                <a:latin typeface="+mj-ea"/>
                <a:ea typeface="+mj-ea"/>
              </a:rPr>
              <a:t>因特网的域名解析过程</a:t>
            </a:r>
            <a:endParaRPr lang="zh-CN" altLang="en-US" sz="2000" b="1" dirty="0">
              <a:latin typeface="+mj-ea"/>
              <a:ea typeface="+mj-ea"/>
            </a:endParaRPr>
          </a:p>
        </p:txBody>
      </p:sp>
      <p:sp>
        <p:nvSpPr>
          <p:cNvPr id="5" name="矩形 4"/>
          <p:cNvSpPr/>
          <p:nvPr/>
        </p:nvSpPr>
        <p:spPr>
          <a:xfrm>
            <a:off x="4731124" y="1214830"/>
            <a:ext cx="1922929" cy="30256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dirty="0"/>
              <a:t>递归查询</a:t>
            </a:r>
            <a:endParaRPr lang="zh-CN" altLang="en-US" b="1" dirty="0"/>
          </a:p>
        </p:txBody>
      </p:sp>
      <p:sp>
        <p:nvSpPr>
          <p:cNvPr id="6" name="矩形 5"/>
          <p:cNvSpPr/>
          <p:nvPr/>
        </p:nvSpPr>
        <p:spPr>
          <a:xfrm>
            <a:off x="7427258" y="1214830"/>
            <a:ext cx="1922929" cy="302560"/>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dirty="0"/>
              <a:t>迭代查询</a:t>
            </a:r>
            <a:endParaRPr lang="zh-CN" altLang="en-US" b="1" dirty="0"/>
          </a:p>
        </p:txBody>
      </p:sp>
      <p:grpSp>
        <p:nvGrpSpPr>
          <p:cNvPr id="7" name="组合 6"/>
          <p:cNvGrpSpPr/>
          <p:nvPr/>
        </p:nvGrpSpPr>
        <p:grpSpPr>
          <a:xfrm>
            <a:off x="1614444" y="2013361"/>
            <a:ext cx="8973121" cy="4282377"/>
            <a:chOff x="1392564" y="1955095"/>
            <a:chExt cx="8973121" cy="4282377"/>
          </a:xfrm>
        </p:grpSpPr>
        <p:pic>
          <p:nvPicPr>
            <p:cNvPr id="8" name="图形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50817" y="1955095"/>
              <a:ext cx="452174" cy="593479"/>
            </a:xfrm>
            <a:prstGeom prst="rect">
              <a:avLst/>
            </a:prstGeom>
          </p:spPr>
        </p:pic>
        <p:sp>
          <p:nvSpPr>
            <p:cNvPr id="9" name="文本框 8"/>
            <p:cNvSpPr txBox="1"/>
            <p:nvPr/>
          </p:nvSpPr>
          <p:spPr>
            <a:xfrm>
              <a:off x="8265367" y="2011100"/>
              <a:ext cx="2075768" cy="369332"/>
            </a:xfrm>
            <a:prstGeom prst="rect">
              <a:avLst/>
            </a:prstGeom>
            <a:noFill/>
          </p:spPr>
          <p:txBody>
            <a:bodyPr wrap="square" rtlCol="0">
              <a:spAutoFit/>
            </a:bodyPr>
            <a:p>
              <a:pPr algn="ctr"/>
              <a:r>
                <a:rPr lang="zh-CN" altLang="en-US" b="1" dirty="0">
                  <a:solidFill>
                    <a:schemeClr val="accent1">
                      <a:lumMod val="75000"/>
                    </a:schemeClr>
                  </a:solidFill>
                  <a:latin typeface="+mn-ea"/>
                </a:rPr>
                <a:t>根</a:t>
              </a:r>
              <a:r>
                <a:rPr lang="zh-CN" altLang="en-US" b="1" dirty="0">
                  <a:latin typeface="+mn-ea"/>
                </a:rPr>
                <a:t>域名服务器</a:t>
              </a:r>
              <a:endParaRPr lang="en-US" altLang="zh-CN" b="1" dirty="0">
                <a:latin typeface="+mn-ea"/>
              </a:endParaRPr>
            </a:p>
          </p:txBody>
        </p:sp>
        <p:pic>
          <p:nvPicPr>
            <p:cNvPr id="10" name="图形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50817" y="3799544"/>
              <a:ext cx="452174" cy="593479"/>
            </a:xfrm>
            <a:prstGeom prst="rect">
              <a:avLst/>
            </a:prstGeom>
          </p:spPr>
        </p:pic>
        <p:sp>
          <p:nvSpPr>
            <p:cNvPr id="11" name="文本框 10"/>
            <p:cNvSpPr txBox="1"/>
            <p:nvPr/>
          </p:nvSpPr>
          <p:spPr>
            <a:xfrm>
              <a:off x="8289917" y="3746692"/>
              <a:ext cx="2075768" cy="646331"/>
            </a:xfrm>
            <a:prstGeom prst="rect">
              <a:avLst/>
            </a:prstGeom>
            <a:noFill/>
          </p:spPr>
          <p:txBody>
            <a:bodyPr wrap="square" rtlCol="0">
              <a:spAutoFit/>
            </a:bodyPr>
            <a:p>
              <a:pPr algn="ctr"/>
              <a:r>
                <a:rPr lang="zh-CN" altLang="en-US" b="1" dirty="0">
                  <a:solidFill>
                    <a:schemeClr val="accent1">
                      <a:lumMod val="75000"/>
                    </a:schemeClr>
                  </a:solidFill>
                  <a:latin typeface="+mn-ea"/>
                </a:rPr>
                <a:t>顶级</a:t>
              </a:r>
              <a:r>
                <a:rPr lang="zh-CN" altLang="en-US" b="1" dirty="0">
                  <a:latin typeface="+mn-ea"/>
                </a:rPr>
                <a:t>域名服务器</a:t>
              </a:r>
              <a:endParaRPr lang="en-US" altLang="zh-CN" b="1" dirty="0">
                <a:latin typeface="+mn-ea"/>
              </a:endParaRPr>
            </a:p>
            <a:p>
              <a:pPr algn="ctr"/>
              <a:r>
                <a:rPr lang="en-US" altLang="zh-CN" b="1" dirty="0">
                  <a:latin typeface="+mn-ea"/>
                </a:rPr>
                <a:t>dns.com</a:t>
              </a:r>
              <a:endParaRPr lang="zh-CN" altLang="en-US" b="1" dirty="0">
                <a:latin typeface="+mn-ea"/>
              </a:endParaRPr>
            </a:p>
          </p:txBody>
        </p:sp>
        <p:pic>
          <p:nvPicPr>
            <p:cNvPr id="12" name="图形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50817" y="5643993"/>
              <a:ext cx="452174" cy="593479"/>
            </a:xfrm>
            <a:prstGeom prst="rect">
              <a:avLst/>
            </a:prstGeom>
          </p:spPr>
        </p:pic>
        <p:sp>
          <p:nvSpPr>
            <p:cNvPr id="13" name="文本框 12"/>
            <p:cNvSpPr txBox="1"/>
            <p:nvPr/>
          </p:nvSpPr>
          <p:spPr>
            <a:xfrm>
              <a:off x="8289917" y="5591141"/>
              <a:ext cx="2075768" cy="646331"/>
            </a:xfrm>
            <a:prstGeom prst="rect">
              <a:avLst/>
            </a:prstGeom>
            <a:noFill/>
          </p:spPr>
          <p:txBody>
            <a:bodyPr wrap="square" rtlCol="0">
              <a:spAutoFit/>
            </a:bodyPr>
            <a:p>
              <a:pPr algn="ctr"/>
              <a:r>
                <a:rPr lang="zh-CN" altLang="en-US" b="1" dirty="0">
                  <a:solidFill>
                    <a:schemeClr val="accent1">
                      <a:lumMod val="75000"/>
                    </a:schemeClr>
                  </a:solidFill>
                  <a:latin typeface="+mn-ea"/>
                </a:rPr>
                <a:t>权限</a:t>
              </a:r>
              <a:r>
                <a:rPr lang="zh-CN" altLang="en-US" b="1" dirty="0">
                  <a:latin typeface="+mn-ea"/>
                </a:rPr>
                <a:t>域名服务器</a:t>
              </a:r>
              <a:endParaRPr lang="en-US" altLang="zh-CN" b="1" dirty="0">
                <a:latin typeface="+mn-ea"/>
              </a:endParaRPr>
            </a:p>
            <a:p>
              <a:pPr algn="ctr"/>
              <a:r>
                <a:rPr lang="en-US" altLang="zh-CN" b="1" dirty="0">
                  <a:latin typeface="+mn-ea"/>
                </a:rPr>
                <a:t>dns.abc.com</a:t>
              </a:r>
              <a:endParaRPr lang="zh-CN" altLang="en-US" b="1" dirty="0">
                <a:latin typeface="+mn-ea"/>
              </a:endParaRPr>
            </a:p>
          </p:txBody>
        </p:sp>
        <p:pic>
          <p:nvPicPr>
            <p:cNvPr id="14" name="图形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40853" y="3799544"/>
              <a:ext cx="452174" cy="593479"/>
            </a:xfrm>
            <a:prstGeom prst="rect">
              <a:avLst/>
            </a:prstGeom>
          </p:spPr>
        </p:pic>
        <p:sp>
          <p:nvSpPr>
            <p:cNvPr id="15" name="文本框 14"/>
            <p:cNvSpPr txBox="1"/>
            <p:nvPr/>
          </p:nvSpPr>
          <p:spPr>
            <a:xfrm>
              <a:off x="4276262" y="4724356"/>
              <a:ext cx="2075768" cy="646331"/>
            </a:xfrm>
            <a:prstGeom prst="rect">
              <a:avLst/>
            </a:prstGeom>
            <a:noFill/>
          </p:spPr>
          <p:txBody>
            <a:bodyPr wrap="square" rtlCol="0">
              <a:spAutoFit/>
            </a:bodyPr>
            <a:p>
              <a:pPr algn="ctr"/>
              <a:r>
                <a:rPr lang="zh-CN" altLang="en-US" b="1" dirty="0">
                  <a:solidFill>
                    <a:schemeClr val="accent1">
                      <a:lumMod val="75000"/>
                    </a:schemeClr>
                  </a:solidFill>
                  <a:latin typeface="+mn-ea"/>
                </a:rPr>
                <a:t>本地</a:t>
              </a:r>
              <a:r>
                <a:rPr lang="zh-CN" altLang="en-US" b="1" dirty="0">
                  <a:latin typeface="+mn-ea"/>
                </a:rPr>
                <a:t>域名服务器</a:t>
              </a:r>
              <a:endParaRPr lang="en-US" altLang="zh-CN" b="1" dirty="0">
                <a:latin typeface="+mn-ea"/>
              </a:endParaRPr>
            </a:p>
            <a:p>
              <a:pPr algn="ctr"/>
              <a:r>
                <a:rPr lang="en-US" altLang="zh-CN" b="1" dirty="0">
                  <a:latin typeface="+mn-ea"/>
                </a:rPr>
                <a:t>dns.xyz.com</a:t>
              </a:r>
              <a:endParaRPr lang="zh-CN" altLang="en-US" b="1" dirty="0">
                <a:latin typeface="+mn-ea"/>
              </a:endParaRPr>
            </a:p>
          </p:txBody>
        </p:sp>
        <p:pic>
          <p:nvPicPr>
            <p:cNvPr id="16" name="图形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39872" y="3769972"/>
              <a:ext cx="690048" cy="667424"/>
            </a:xfrm>
            <a:prstGeom prst="rect">
              <a:avLst/>
            </a:prstGeom>
          </p:spPr>
        </p:pic>
        <p:sp>
          <p:nvSpPr>
            <p:cNvPr id="17" name="文本框 16"/>
            <p:cNvSpPr txBox="1"/>
            <p:nvPr/>
          </p:nvSpPr>
          <p:spPr>
            <a:xfrm>
              <a:off x="1392564" y="4492657"/>
              <a:ext cx="1640068" cy="646331"/>
            </a:xfrm>
            <a:prstGeom prst="rect">
              <a:avLst/>
            </a:prstGeom>
            <a:noFill/>
          </p:spPr>
          <p:txBody>
            <a:bodyPr wrap="square" rtlCol="0">
              <a:spAutoFit/>
            </a:bodyPr>
            <a:p>
              <a:pPr algn="ctr"/>
              <a:r>
                <a:rPr lang="zh-CN" altLang="en-US" b="1" dirty="0">
                  <a:latin typeface="+mn-ea"/>
                </a:rPr>
                <a:t>主机</a:t>
              </a:r>
              <a:endParaRPr lang="en-US" altLang="zh-CN" b="1" dirty="0">
                <a:latin typeface="+mn-ea"/>
              </a:endParaRPr>
            </a:p>
            <a:p>
              <a:pPr algn="ctr"/>
              <a:r>
                <a:rPr lang="en-US" altLang="zh-CN" b="1" dirty="0">
                  <a:latin typeface="+mn-ea"/>
                </a:rPr>
                <a:t>m.xyz.com</a:t>
              </a:r>
              <a:endParaRPr lang="zh-CN" altLang="en-US" b="1" dirty="0">
                <a:latin typeface="+mn-ea"/>
              </a:endParaRPr>
            </a:p>
          </p:txBody>
        </p:sp>
      </p:grpSp>
      <p:sp>
        <p:nvSpPr>
          <p:cNvPr id="48" name="矩形 47"/>
          <p:cNvSpPr/>
          <p:nvPr/>
        </p:nvSpPr>
        <p:spPr>
          <a:xfrm>
            <a:off x="7427258" y="1206019"/>
            <a:ext cx="1922929" cy="30256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dirty="0"/>
              <a:t>迭代查询</a:t>
            </a:r>
            <a:endParaRPr lang="zh-CN" altLang="en-US" b="1" dirty="0"/>
          </a:p>
        </p:txBody>
      </p:sp>
      <p:grpSp>
        <p:nvGrpSpPr>
          <p:cNvPr id="90" name="组合 89"/>
          <p:cNvGrpSpPr/>
          <p:nvPr/>
        </p:nvGrpSpPr>
        <p:grpSpPr>
          <a:xfrm>
            <a:off x="3032797" y="3164461"/>
            <a:ext cx="2360205" cy="1007747"/>
            <a:chOff x="2841622" y="3224154"/>
            <a:chExt cx="2360205" cy="1007747"/>
          </a:xfrm>
        </p:grpSpPr>
        <p:cxnSp>
          <p:nvCxnSpPr>
            <p:cNvPr id="91" name="直接箭头连接符 90"/>
            <p:cNvCxnSpPr/>
            <p:nvPr/>
          </p:nvCxnSpPr>
          <p:spPr>
            <a:xfrm>
              <a:off x="2841622" y="4231901"/>
              <a:ext cx="2360205"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3862207" y="3787177"/>
              <a:ext cx="452169" cy="369332"/>
            </a:xfrm>
            <a:prstGeom prst="rect">
              <a:avLst/>
            </a:prstGeom>
            <a:noFill/>
          </p:spPr>
          <p:txBody>
            <a:bodyPr wrap="square" rtlCol="0">
              <a:spAutoFit/>
            </a:bodyPr>
            <a:p>
              <a:pPr algn="ctr"/>
              <a:r>
                <a:rPr lang="zh-CN" altLang="en-US" b="1" dirty="0">
                  <a:latin typeface="+mn-ea"/>
                </a:rPr>
                <a:t>❶</a:t>
              </a:r>
              <a:endParaRPr lang="zh-CN" altLang="en-US" b="1" dirty="0">
                <a:latin typeface="+mn-ea"/>
              </a:endParaRPr>
            </a:p>
          </p:txBody>
        </p:sp>
        <p:sp>
          <p:nvSpPr>
            <p:cNvPr id="93" name="文本框 92"/>
            <p:cNvSpPr txBox="1"/>
            <p:nvPr/>
          </p:nvSpPr>
          <p:spPr>
            <a:xfrm>
              <a:off x="3743267" y="3224154"/>
              <a:ext cx="690048" cy="646331"/>
            </a:xfrm>
            <a:prstGeom prst="rect">
              <a:avLst/>
            </a:prstGeom>
            <a:noFill/>
          </p:spPr>
          <p:txBody>
            <a:bodyPr wrap="square" rtlCol="0">
              <a:spAutoFit/>
            </a:bodyPr>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endParaRPr lang="zh-CN" altLang="en-US" b="1" dirty="0">
                <a:solidFill>
                  <a:schemeClr val="accent3"/>
                </a:solidFill>
                <a:latin typeface="+mn-ea"/>
              </a:endParaRPr>
            </a:p>
          </p:txBody>
        </p:sp>
      </p:grpSp>
      <p:grpSp>
        <p:nvGrpSpPr>
          <p:cNvPr id="94" name="组合 93"/>
          <p:cNvGrpSpPr/>
          <p:nvPr/>
        </p:nvGrpSpPr>
        <p:grpSpPr>
          <a:xfrm>
            <a:off x="5993489" y="2309505"/>
            <a:ext cx="1953120" cy="1418384"/>
            <a:chOff x="5802314" y="2369198"/>
            <a:chExt cx="1953120" cy="1418384"/>
          </a:xfrm>
        </p:grpSpPr>
        <p:cxnSp>
          <p:nvCxnSpPr>
            <p:cNvPr id="95" name="直接箭头连接符 94"/>
            <p:cNvCxnSpPr/>
            <p:nvPr/>
          </p:nvCxnSpPr>
          <p:spPr>
            <a:xfrm flipV="1">
              <a:off x="5802314" y="2369198"/>
              <a:ext cx="1953120" cy="141838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6241452" y="2698068"/>
              <a:ext cx="452169" cy="369332"/>
            </a:xfrm>
            <a:prstGeom prst="rect">
              <a:avLst/>
            </a:prstGeom>
            <a:noFill/>
          </p:spPr>
          <p:txBody>
            <a:bodyPr wrap="square" rtlCol="0">
              <a:spAutoFit/>
            </a:bodyPr>
            <a:p>
              <a:pPr algn="ctr"/>
              <a:r>
                <a:rPr lang="zh-CN" altLang="en-US" b="1" dirty="0">
                  <a:latin typeface="+mn-ea"/>
                </a:rPr>
                <a:t>❷</a:t>
              </a:r>
              <a:endParaRPr lang="zh-CN" altLang="en-US" b="1" dirty="0">
                <a:latin typeface="+mn-ea"/>
              </a:endParaRPr>
            </a:p>
          </p:txBody>
        </p:sp>
        <p:sp>
          <p:nvSpPr>
            <p:cNvPr id="97" name="文本框 96"/>
            <p:cNvSpPr txBox="1"/>
            <p:nvPr/>
          </p:nvSpPr>
          <p:spPr>
            <a:xfrm>
              <a:off x="5860478" y="2386085"/>
              <a:ext cx="1155091" cy="369332"/>
            </a:xfrm>
            <a:prstGeom prst="rect">
              <a:avLst/>
            </a:prstGeom>
            <a:noFill/>
          </p:spPr>
          <p:txBody>
            <a:bodyPr wrap="square" rtlCol="0">
              <a:spAutoFit/>
            </a:bodyPr>
            <a:p>
              <a:pPr algn="ctr"/>
              <a:r>
                <a:rPr lang="zh-CN" altLang="en-US" b="1" dirty="0">
                  <a:solidFill>
                    <a:schemeClr val="accent4"/>
                  </a:solidFill>
                  <a:latin typeface="+mn-ea"/>
                </a:rPr>
                <a:t>迭代查询</a:t>
              </a:r>
              <a:endParaRPr lang="zh-CN" altLang="en-US" b="1" dirty="0">
                <a:solidFill>
                  <a:schemeClr val="accent4"/>
                </a:solidFill>
                <a:latin typeface="+mn-ea"/>
              </a:endParaRPr>
            </a:p>
          </p:txBody>
        </p:sp>
      </p:grpSp>
      <p:grpSp>
        <p:nvGrpSpPr>
          <p:cNvPr id="98" name="组合 97"/>
          <p:cNvGrpSpPr/>
          <p:nvPr/>
        </p:nvGrpSpPr>
        <p:grpSpPr>
          <a:xfrm>
            <a:off x="5922027" y="4589341"/>
            <a:ext cx="2166128" cy="1181363"/>
            <a:chOff x="5730852" y="4649034"/>
            <a:chExt cx="2166128" cy="1181363"/>
          </a:xfrm>
        </p:grpSpPr>
        <p:sp>
          <p:nvSpPr>
            <p:cNvPr id="99" name="文本框 98"/>
            <p:cNvSpPr txBox="1"/>
            <p:nvPr/>
          </p:nvSpPr>
          <p:spPr>
            <a:xfrm>
              <a:off x="6660877" y="5326682"/>
              <a:ext cx="452169" cy="369332"/>
            </a:xfrm>
            <a:prstGeom prst="rect">
              <a:avLst/>
            </a:prstGeom>
            <a:noFill/>
          </p:spPr>
          <p:txBody>
            <a:bodyPr wrap="square" rtlCol="0">
              <a:spAutoFit/>
            </a:bodyPr>
            <a:p>
              <a:pPr algn="ctr"/>
              <a:r>
                <a:rPr lang="zh-CN" altLang="en-US" b="1" dirty="0">
                  <a:latin typeface="+mn-ea"/>
                </a:rPr>
                <a:t>❼</a:t>
              </a:r>
              <a:endParaRPr lang="zh-CN" altLang="en-US" b="1" dirty="0">
                <a:latin typeface="+mn-ea"/>
              </a:endParaRPr>
            </a:p>
          </p:txBody>
        </p:sp>
        <p:cxnSp>
          <p:nvCxnSpPr>
            <p:cNvPr id="100" name="直接箭头连接符 99"/>
            <p:cNvCxnSpPr/>
            <p:nvPr/>
          </p:nvCxnSpPr>
          <p:spPr>
            <a:xfrm flipH="1" flipV="1">
              <a:off x="5730852" y="4649034"/>
              <a:ext cx="2166128" cy="1181363"/>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01" name="组合 100"/>
          <p:cNvGrpSpPr/>
          <p:nvPr/>
        </p:nvGrpSpPr>
        <p:grpSpPr>
          <a:xfrm>
            <a:off x="6072746" y="4470892"/>
            <a:ext cx="2805375" cy="1156540"/>
            <a:chOff x="5881571" y="4530585"/>
            <a:chExt cx="2805375" cy="1156540"/>
          </a:xfrm>
        </p:grpSpPr>
        <p:sp>
          <p:nvSpPr>
            <p:cNvPr id="102" name="文本框 101"/>
            <p:cNvSpPr txBox="1"/>
            <p:nvPr/>
          </p:nvSpPr>
          <p:spPr>
            <a:xfrm>
              <a:off x="7570199" y="4919813"/>
              <a:ext cx="1116747" cy="369332"/>
            </a:xfrm>
            <a:prstGeom prst="rect">
              <a:avLst/>
            </a:prstGeom>
            <a:noFill/>
          </p:spPr>
          <p:txBody>
            <a:bodyPr wrap="square" rtlCol="0">
              <a:spAutoFit/>
            </a:bodyPr>
            <a:p>
              <a:pPr algn="ctr"/>
              <a:r>
                <a:rPr lang="zh-CN" altLang="en-US" b="1" dirty="0">
                  <a:solidFill>
                    <a:schemeClr val="accent4"/>
                  </a:solidFill>
                  <a:latin typeface="+mn-ea"/>
                </a:rPr>
                <a:t>迭代查询</a:t>
              </a:r>
              <a:endParaRPr lang="zh-CN" altLang="en-US" b="1" dirty="0">
                <a:solidFill>
                  <a:schemeClr val="accent4"/>
                </a:solidFill>
                <a:latin typeface="+mn-ea"/>
              </a:endParaRPr>
            </a:p>
          </p:txBody>
        </p:sp>
        <p:cxnSp>
          <p:nvCxnSpPr>
            <p:cNvPr id="103" name="直接箭头连接符 102"/>
            <p:cNvCxnSpPr/>
            <p:nvPr/>
          </p:nvCxnSpPr>
          <p:spPr>
            <a:xfrm>
              <a:off x="5881571" y="4530585"/>
              <a:ext cx="2190230" cy="115654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4" name="文本框 103"/>
            <p:cNvSpPr txBox="1"/>
            <p:nvPr/>
          </p:nvSpPr>
          <p:spPr>
            <a:xfrm>
              <a:off x="7221870" y="4919813"/>
              <a:ext cx="452169" cy="369332"/>
            </a:xfrm>
            <a:prstGeom prst="rect">
              <a:avLst/>
            </a:prstGeom>
            <a:noFill/>
          </p:spPr>
          <p:txBody>
            <a:bodyPr wrap="square" rtlCol="0">
              <a:spAutoFit/>
            </a:bodyPr>
            <a:p>
              <a:pPr algn="ctr"/>
              <a:r>
                <a:rPr lang="zh-CN" altLang="en-US" b="1" dirty="0">
                  <a:latin typeface="+mn-ea"/>
                </a:rPr>
                <a:t>❻</a:t>
              </a:r>
              <a:endParaRPr lang="zh-CN" altLang="en-US" b="1" dirty="0">
                <a:latin typeface="+mn-ea"/>
              </a:endParaRPr>
            </a:p>
          </p:txBody>
        </p:sp>
      </p:grpSp>
      <p:grpSp>
        <p:nvGrpSpPr>
          <p:cNvPr id="105" name="组合 104"/>
          <p:cNvGrpSpPr/>
          <p:nvPr/>
        </p:nvGrpSpPr>
        <p:grpSpPr>
          <a:xfrm>
            <a:off x="6057571" y="2494171"/>
            <a:ext cx="1993709" cy="1445891"/>
            <a:chOff x="5866396" y="2553864"/>
            <a:chExt cx="1993709" cy="1445891"/>
          </a:xfrm>
        </p:grpSpPr>
        <p:cxnSp>
          <p:nvCxnSpPr>
            <p:cNvPr id="106" name="直接箭头连接符 105"/>
            <p:cNvCxnSpPr/>
            <p:nvPr/>
          </p:nvCxnSpPr>
          <p:spPr>
            <a:xfrm flipH="1">
              <a:off x="5866396" y="2553864"/>
              <a:ext cx="1993709" cy="1445891"/>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7068677" y="3033654"/>
              <a:ext cx="452169" cy="369332"/>
            </a:xfrm>
            <a:prstGeom prst="rect">
              <a:avLst/>
            </a:prstGeom>
            <a:noFill/>
          </p:spPr>
          <p:txBody>
            <a:bodyPr wrap="square" rtlCol="0">
              <a:spAutoFit/>
            </a:bodyPr>
            <a:p>
              <a:pPr algn="ctr"/>
              <a:r>
                <a:rPr lang="zh-CN" altLang="en-US" b="1" dirty="0">
                  <a:latin typeface="+mn-ea"/>
                </a:rPr>
                <a:t>❸</a:t>
              </a:r>
              <a:endParaRPr lang="zh-CN" altLang="en-US" b="1" dirty="0">
                <a:latin typeface="+mn-ea"/>
              </a:endParaRPr>
            </a:p>
          </p:txBody>
        </p:sp>
      </p:grpSp>
      <p:grpSp>
        <p:nvGrpSpPr>
          <p:cNvPr id="108" name="组合 107"/>
          <p:cNvGrpSpPr/>
          <p:nvPr/>
        </p:nvGrpSpPr>
        <p:grpSpPr>
          <a:xfrm>
            <a:off x="3032797" y="4376461"/>
            <a:ext cx="2360230" cy="403213"/>
            <a:chOff x="2841622" y="4436154"/>
            <a:chExt cx="2360230" cy="403213"/>
          </a:xfrm>
        </p:grpSpPr>
        <p:cxnSp>
          <p:nvCxnSpPr>
            <p:cNvPr id="109" name="直接箭头连接符 108"/>
            <p:cNvCxnSpPr/>
            <p:nvPr/>
          </p:nvCxnSpPr>
          <p:spPr>
            <a:xfrm flipH="1">
              <a:off x="2841622" y="4436154"/>
              <a:ext cx="2360230"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10" name="文本框 109"/>
            <p:cNvSpPr txBox="1"/>
            <p:nvPr/>
          </p:nvSpPr>
          <p:spPr>
            <a:xfrm>
              <a:off x="3835904" y="4470035"/>
              <a:ext cx="516836" cy="369332"/>
            </a:xfrm>
            <a:prstGeom prst="rect">
              <a:avLst/>
            </a:prstGeom>
            <a:noFill/>
          </p:spPr>
          <p:txBody>
            <a:bodyPr wrap="square">
              <a:spAutoFit/>
            </a:bodyPr>
            <a:p>
              <a:pPr algn="ctr"/>
              <a:r>
                <a:rPr lang="zh-CN" altLang="en-US" dirty="0">
                  <a:latin typeface="+mn-ea"/>
                </a:rPr>
                <a:t>❽</a:t>
              </a:r>
              <a:endParaRPr lang="zh-CN" altLang="en-US" dirty="0">
                <a:latin typeface="+mn-ea"/>
              </a:endParaRPr>
            </a:p>
          </p:txBody>
        </p:sp>
      </p:grpSp>
      <p:grpSp>
        <p:nvGrpSpPr>
          <p:cNvPr id="112" name="组合 111"/>
          <p:cNvGrpSpPr/>
          <p:nvPr/>
        </p:nvGrpSpPr>
        <p:grpSpPr>
          <a:xfrm>
            <a:off x="6211426" y="3513770"/>
            <a:ext cx="1826513" cy="670208"/>
            <a:chOff x="6020251" y="3573463"/>
            <a:chExt cx="1826513" cy="670208"/>
          </a:xfrm>
        </p:grpSpPr>
        <p:sp>
          <p:nvSpPr>
            <p:cNvPr id="113" name="文本框 112"/>
            <p:cNvSpPr txBox="1"/>
            <p:nvPr/>
          </p:nvSpPr>
          <p:spPr>
            <a:xfrm>
              <a:off x="6778874" y="3874339"/>
              <a:ext cx="452169" cy="369332"/>
            </a:xfrm>
            <a:prstGeom prst="rect">
              <a:avLst/>
            </a:prstGeom>
            <a:noFill/>
          </p:spPr>
          <p:txBody>
            <a:bodyPr wrap="square" rtlCol="0">
              <a:spAutoFit/>
            </a:bodyPr>
            <a:p>
              <a:pPr algn="ctr"/>
              <a:r>
                <a:rPr lang="zh-CN" altLang="en-US" b="1" dirty="0">
                  <a:latin typeface="+mn-ea"/>
                </a:rPr>
                <a:t>❹</a:t>
              </a:r>
              <a:endParaRPr lang="zh-CN" altLang="en-US" b="1" dirty="0">
                <a:latin typeface="+mn-ea"/>
              </a:endParaRPr>
            </a:p>
          </p:txBody>
        </p:sp>
        <p:sp>
          <p:nvSpPr>
            <p:cNvPr id="114" name="文本框 113"/>
            <p:cNvSpPr txBox="1"/>
            <p:nvPr/>
          </p:nvSpPr>
          <p:spPr>
            <a:xfrm>
              <a:off x="6438024" y="3573463"/>
              <a:ext cx="1155091" cy="369332"/>
            </a:xfrm>
            <a:prstGeom prst="rect">
              <a:avLst/>
            </a:prstGeom>
            <a:noFill/>
          </p:spPr>
          <p:txBody>
            <a:bodyPr wrap="square" rtlCol="0">
              <a:spAutoFit/>
            </a:bodyPr>
            <a:p>
              <a:pPr algn="ctr"/>
              <a:r>
                <a:rPr lang="zh-CN" altLang="en-US" b="1" dirty="0">
                  <a:solidFill>
                    <a:schemeClr val="accent4"/>
                  </a:solidFill>
                  <a:latin typeface="+mn-ea"/>
                </a:rPr>
                <a:t>迭代查询</a:t>
              </a:r>
              <a:endParaRPr lang="zh-CN" altLang="en-US" b="1" dirty="0">
                <a:solidFill>
                  <a:schemeClr val="accent4"/>
                </a:solidFill>
                <a:latin typeface="+mn-ea"/>
              </a:endParaRPr>
            </a:p>
          </p:txBody>
        </p:sp>
        <p:cxnSp>
          <p:nvCxnSpPr>
            <p:cNvPr id="115" name="直接箭头连接符 114"/>
            <p:cNvCxnSpPr/>
            <p:nvPr/>
          </p:nvCxnSpPr>
          <p:spPr>
            <a:xfrm>
              <a:off x="6020251" y="4231901"/>
              <a:ext cx="1826513"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6" name="组合 115"/>
          <p:cNvGrpSpPr/>
          <p:nvPr/>
        </p:nvGrpSpPr>
        <p:grpSpPr>
          <a:xfrm>
            <a:off x="6217810" y="4362817"/>
            <a:ext cx="1789759" cy="369332"/>
            <a:chOff x="6026635" y="4422510"/>
            <a:chExt cx="1789759" cy="369332"/>
          </a:xfrm>
        </p:grpSpPr>
        <p:sp>
          <p:nvSpPr>
            <p:cNvPr id="117" name="文本框 116"/>
            <p:cNvSpPr txBox="1"/>
            <p:nvPr/>
          </p:nvSpPr>
          <p:spPr>
            <a:xfrm>
              <a:off x="6778874" y="4422510"/>
              <a:ext cx="452169" cy="369332"/>
            </a:xfrm>
            <a:prstGeom prst="rect">
              <a:avLst/>
            </a:prstGeom>
            <a:noFill/>
          </p:spPr>
          <p:txBody>
            <a:bodyPr wrap="square" rtlCol="0">
              <a:spAutoFit/>
            </a:bodyPr>
            <a:p>
              <a:pPr algn="ctr"/>
              <a:r>
                <a:rPr lang="zh-CN" altLang="en-US" b="1" dirty="0">
                  <a:latin typeface="+mn-ea"/>
                </a:rPr>
                <a:t>❺</a:t>
              </a:r>
              <a:endParaRPr lang="zh-CN" altLang="en-US" b="1" dirty="0">
                <a:latin typeface="+mn-ea"/>
              </a:endParaRPr>
            </a:p>
          </p:txBody>
        </p:sp>
        <p:cxnSp>
          <p:nvCxnSpPr>
            <p:cNvPr id="118" name="直接箭头连接符 117"/>
            <p:cNvCxnSpPr/>
            <p:nvPr/>
          </p:nvCxnSpPr>
          <p:spPr>
            <a:xfrm flipH="1">
              <a:off x="6026635" y="4436154"/>
              <a:ext cx="1789759"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19" name="文本框 118"/>
          <p:cNvSpPr txBox="1"/>
          <p:nvPr/>
        </p:nvSpPr>
        <p:spPr>
          <a:xfrm>
            <a:off x="1356850" y="3114542"/>
            <a:ext cx="2308362" cy="646331"/>
          </a:xfrm>
          <a:prstGeom prst="rect">
            <a:avLst/>
          </a:prstGeom>
          <a:solidFill>
            <a:srgbClr val="FFC000"/>
          </a:solidFill>
        </p:spPr>
        <p:txBody>
          <a:bodyPr wrap="square" rtlCol="0">
            <a:spAutoFit/>
          </a:bodyPr>
          <a:p>
            <a:pPr algn="ctr"/>
            <a:r>
              <a:rPr lang="zh-CN" altLang="en-US" b="1" dirty="0">
                <a:latin typeface="+mn-ea"/>
              </a:rPr>
              <a:t>想知道</a:t>
            </a:r>
            <a:endParaRPr lang="en-US" altLang="zh-CN" b="1" dirty="0">
              <a:latin typeface="+mn-ea"/>
            </a:endParaRPr>
          </a:p>
          <a:p>
            <a:pPr algn="ctr"/>
            <a:r>
              <a:rPr lang="en-US" altLang="zh-CN" b="1" dirty="0">
                <a:latin typeface="+mn-ea"/>
              </a:rPr>
              <a:t>y.abc.com</a:t>
            </a:r>
            <a:r>
              <a:rPr lang="zh-CN" altLang="en-US" b="1" dirty="0">
                <a:latin typeface="+mn-ea"/>
              </a:rPr>
              <a:t>的</a:t>
            </a:r>
            <a:r>
              <a:rPr lang="en-US" altLang="zh-CN" b="1" dirty="0">
                <a:latin typeface="+mn-ea"/>
              </a:rPr>
              <a:t>IP</a:t>
            </a:r>
            <a:r>
              <a:rPr lang="zh-CN" altLang="en-US" b="1" dirty="0">
                <a:latin typeface="+mn-ea"/>
              </a:rPr>
              <a:t>地址</a:t>
            </a:r>
            <a:endParaRPr lang="zh-CN" altLang="en-US" b="1" dirty="0">
              <a:latin typeface="+mn-ea"/>
            </a:endParaRPr>
          </a:p>
        </p:txBody>
      </p:sp>
      <p:sp>
        <p:nvSpPr>
          <p:cNvPr id="120" name="矩形 119"/>
          <p:cNvSpPr/>
          <p:nvPr/>
        </p:nvSpPr>
        <p:spPr>
          <a:xfrm>
            <a:off x="322247" y="5406327"/>
            <a:ext cx="5773753" cy="1331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r>
              <a:rPr lang="zh-CN" altLang="en-US" b="1" dirty="0"/>
              <a:t>        由于递归查询对于被查询的域名服务器负担太大，通常采用以下模式：</a:t>
            </a:r>
            <a:endParaRPr lang="en-US" altLang="zh-CN" b="1" dirty="0"/>
          </a:p>
          <a:p>
            <a:pPr marL="285750" indent="-285750">
              <a:buFont typeface="Wingdings" panose="05000000000000000000" pitchFamily="2" charset="2"/>
              <a:buChar char="l"/>
            </a:pPr>
            <a:r>
              <a:rPr lang="zh-CN" altLang="en-US" b="1" dirty="0"/>
              <a:t>从请求主机到本地域名服务器的查询是递归查询</a:t>
            </a:r>
            <a:r>
              <a:rPr lang="en-US" altLang="zh-CN" b="1" dirty="0"/>
              <a:t>;</a:t>
            </a:r>
            <a:endParaRPr lang="en-US" altLang="zh-CN" b="1" dirty="0"/>
          </a:p>
          <a:p>
            <a:pPr marL="285750" indent="-285750">
              <a:buFont typeface="Wingdings" panose="05000000000000000000" pitchFamily="2" charset="2"/>
              <a:buChar char="l"/>
            </a:pPr>
            <a:r>
              <a:rPr lang="zh-CN" altLang="en-US" b="1" dirty="0"/>
              <a:t>而其余的查询是迭代查询。</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wipe(left)">
                                      <p:cBhvr>
                                        <p:cTn id="12" dur="5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4"/>
                                        </p:tgtEl>
                                        <p:attrNameLst>
                                          <p:attrName>style.visibility</p:attrName>
                                        </p:attrNameLst>
                                      </p:cBhvr>
                                      <p:to>
                                        <p:strVal val="visible"/>
                                      </p:to>
                                    </p:set>
                                    <p:animEffect transition="in" filter="wipe(down)">
                                      <p:cBhvr>
                                        <p:cTn id="17" dur="500"/>
                                        <p:tgtEl>
                                          <p:spTgt spid="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wipe(up)">
                                      <p:cBhvr>
                                        <p:cTn id="22" dur="500"/>
                                        <p:tgtEl>
                                          <p:spTgt spid="1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2"/>
                                        </p:tgtEl>
                                        <p:attrNameLst>
                                          <p:attrName>style.visibility</p:attrName>
                                        </p:attrNameLst>
                                      </p:cBhvr>
                                      <p:to>
                                        <p:strVal val="visible"/>
                                      </p:to>
                                    </p:set>
                                    <p:animEffect transition="in" filter="wipe(left)">
                                      <p:cBhvr>
                                        <p:cTn id="27" dur="500"/>
                                        <p:tgtEl>
                                          <p:spTgt spid="1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16"/>
                                        </p:tgtEl>
                                        <p:attrNameLst>
                                          <p:attrName>style.visibility</p:attrName>
                                        </p:attrNameLst>
                                      </p:cBhvr>
                                      <p:to>
                                        <p:strVal val="visible"/>
                                      </p:to>
                                    </p:set>
                                    <p:animEffect transition="in" filter="wipe(right)">
                                      <p:cBhvr>
                                        <p:cTn id="32" dur="500"/>
                                        <p:tgtEl>
                                          <p:spTgt spid="1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01"/>
                                        </p:tgtEl>
                                        <p:attrNameLst>
                                          <p:attrName>style.visibility</p:attrName>
                                        </p:attrNameLst>
                                      </p:cBhvr>
                                      <p:to>
                                        <p:strVal val="visible"/>
                                      </p:to>
                                    </p:set>
                                    <p:animEffect transition="in" filter="wipe(up)">
                                      <p:cBhvr>
                                        <p:cTn id="37" dur="500"/>
                                        <p:tgtEl>
                                          <p:spTgt spid="1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98"/>
                                        </p:tgtEl>
                                        <p:attrNameLst>
                                          <p:attrName>style.visibility</p:attrName>
                                        </p:attrNameLst>
                                      </p:cBhvr>
                                      <p:to>
                                        <p:strVal val="visible"/>
                                      </p:to>
                                    </p:set>
                                    <p:animEffect transition="in" filter="wipe(down)">
                                      <p:cBhvr>
                                        <p:cTn id="42" dur="500"/>
                                        <p:tgtEl>
                                          <p:spTgt spid="9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108"/>
                                        </p:tgtEl>
                                        <p:attrNameLst>
                                          <p:attrName>style.visibility</p:attrName>
                                        </p:attrNameLst>
                                      </p:cBhvr>
                                      <p:to>
                                        <p:strVal val="visible"/>
                                      </p:to>
                                    </p:set>
                                    <p:animEffect transition="in" filter="wipe(right)">
                                      <p:cBhvr>
                                        <p:cTn id="47" dur="500"/>
                                        <p:tgtEl>
                                          <p:spTgt spid="10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20"/>
                                        </p:tgtEl>
                                        <p:attrNameLst>
                                          <p:attrName>style.visibility</p:attrName>
                                        </p:attrNameLst>
                                      </p:cBhvr>
                                      <p:to>
                                        <p:strVal val="visible"/>
                                      </p:to>
                                    </p:set>
                                    <p:anim calcmode="lin" valueType="num">
                                      <p:cBhvr additive="base">
                                        <p:cTn id="52" dur="500" fill="hold"/>
                                        <p:tgtEl>
                                          <p:spTgt spid="120"/>
                                        </p:tgtEl>
                                        <p:attrNameLst>
                                          <p:attrName>ppt_x</p:attrName>
                                        </p:attrNameLst>
                                      </p:cBhvr>
                                      <p:tavLst>
                                        <p:tav tm="0">
                                          <p:val>
                                            <p:strVal val="#ppt_x"/>
                                          </p:val>
                                        </p:tav>
                                        <p:tav tm="100000">
                                          <p:val>
                                            <p:strVal val="#ppt_x"/>
                                          </p:val>
                                        </p:tav>
                                      </p:tavLst>
                                    </p:anim>
                                    <p:anim calcmode="lin" valueType="num">
                                      <p:cBhvr additive="base">
                                        <p:cTn id="53"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p:bldP spid="120" grpId="0" bldLvl="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5</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.2</a:t>
            </a:r>
            <a:r>
              <a:rPr lang="en-US" altLang="zh-CN" sz="4000" dirty="0">
                <a:latin typeface="+mj-ea"/>
                <a:sym typeface="+mn-ea"/>
              </a:rPr>
              <a:t> DNS</a:t>
            </a:r>
            <a:r>
              <a:rPr lang="zh-CN" altLang="en-US" sz="4000" dirty="0">
                <a:latin typeface="+mj-ea"/>
                <a:sym typeface="+mn-ea"/>
              </a:rPr>
              <a:t>报文格式</a:t>
            </a:r>
            <a:endParaRPr lang="zh-CN" altLang="en-US" sz="4000" dirty="0">
              <a:latin typeface="+mj-ea"/>
              <a:sym typeface="+mn-ea"/>
            </a:endParaRPr>
          </a:p>
        </p:txBody>
      </p:sp>
      <p:sp>
        <p:nvSpPr>
          <p:cNvPr id="3" name="文本框 2"/>
          <p:cNvSpPr txBox="1"/>
          <p:nvPr/>
        </p:nvSpPr>
        <p:spPr>
          <a:xfrm>
            <a:off x="295910" y="1030605"/>
            <a:ext cx="11777345" cy="2230120"/>
          </a:xfrm>
          <a:prstGeom prst="rect">
            <a:avLst/>
          </a:prstGeom>
          <a:noFill/>
        </p:spPr>
        <p:txBody>
          <a:bodyPr wrap="square" rtlCol="0" anchor="t">
            <a:noAutofit/>
          </a:bodyPr>
          <a:p>
            <a:pPr marL="342900" lvl="1" indent="-342900" algn="l">
              <a:lnSpc>
                <a:spcPct val="150000"/>
              </a:lnSpc>
              <a:buClr>
                <a:srgbClr val="DF4F21"/>
              </a:buClr>
              <a:buSzTx/>
              <a:buFont typeface="Wingdings" panose="05000000000000000000" charset="0"/>
              <a:buChar char="p"/>
            </a:pP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报文是</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协议中传输数据的基本单元，包括查询报文和响应报文</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lvl="1" indent="-342900" algn="l">
              <a:lnSpc>
                <a:spcPct val="150000"/>
              </a:lnSpc>
              <a:buClr>
                <a:srgbClr val="DF4F21"/>
              </a:buClr>
              <a:buSzTx/>
              <a:buFont typeface="Wingdings" panose="05000000000000000000" charset="0"/>
              <a:buChar char="p"/>
            </a:pP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DNS查询和响应</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报文的</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前六个字段的长度相同</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。通过</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标志</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字段中的第一位区分，取值为</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0</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，表示该报文为查询报文，否则为响应报文</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4" name="对象 -2147482622"/>
          <p:cNvGraphicFramePr>
            <a:graphicFrameLocks noChangeAspect="1"/>
          </p:cNvGraphicFramePr>
          <p:nvPr/>
        </p:nvGraphicFramePr>
        <p:xfrm>
          <a:off x="1367790" y="3260725"/>
          <a:ext cx="9839325" cy="2775585"/>
        </p:xfrm>
        <a:graphic>
          <a:graphicData uri="http://schemas.openxmlformats.org/presentationml/2006/ole">
            <mc:AlternateContent xmlns:mc="http://schemas.openxmlformats.org/markup-compatibility/2006">
              <mc:Choice xmlns:v="urn:schemas-microsoft-com:vml" Requires="v">
                <p:oleObj spid="_x0000_s3076" name="" r:id="rId1" imgW="9266555" imgH="2427605" progId="Visio.Drawing.15">
                  <p:embed/>
                </p:oleObj>
              </mc:Choice>
              <mc:Fallback>
                <p:oleObj name="" r:id="rId1" imgW="9266555" imgH="2427605" progId="Visio.Drawing.15">
                  <p:embed/>
                  <p:pic>
                    <p:nvPicPr>
                      <p:cNvPr id="0" name="图片 3075"/>
                      <p:cNvPicPr/>
                      <p:nvPr/>
                    </p:nvPicPr>
                    <p:blipFill>
                      <a:blip r:embed="rId2"/>
                      <a:stretch>
                        <a:fillRect/>
                      </a:stretch>
                    </p:blipFill>
                    <p:spPr>
                      <a:xfrm>
                        <a:off x="1367790" y="3260725"/>
                        <a:ext cx="9839325" cy="2775585"/>
                      </a:xfrm>
                      <a:prstGeom prst="rect">
                        <a:avLst/>
                      </a:prstGeom>
                      <a:noFill/>
                      <a:ln w="38100">
                        <a:noFill/>
                        <a:miter/>
                      </a:ln>
                    </p:spPr>
                  </p:pic>
                </p:oleObj>
              </mc:Fallback>
            </mc:AlternateContent>
          </a:graphicData>
        </a:graphic>
      </p:graphicFrame>
      <p:sp>
        <p:nvSpPr>
          <p:cNvPr id="5" name="矩形 4"/>
          <p:cNvSpPr/>
          <p:nvPr/>
        </p:nvSpPr>
        <p:spPr>
          <a:xfrm>
            <a:off x="1905000" y="3538220"/>
            <a:ext cx="3954145" cy="1104900"/>
          </a:xfrm>
          <a:prstGeom prst="rect">
            <a:avLst/>
          </a:prstGeom>
          <a:noFill/>
          <a:ln w="25400" cmpd="sng">
            <a:solidFill>
              <a:srgbClr val="DF4F2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8226425" cy="583565"/>
          </a:xfrm>
        </p:spPr>
        <p:txBody>
          <a:bodyPr/>
          <a:p>
            <a:pPr algn="l">
              <a:buClrTx/>
              <a:buSzTx/>
              <a:buFontTx/>
            </a:pPr>
            <a:r>
              <a:rPr lang="en-US" altLang="zh-CN" sz="4000" dirty="0">
                <a:latin typeface="+mj-ea"/>
                <a:sym typeface="+mn-ea"/>
              </a:rPr>
              <a:t>5</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a:t>
            </a:r>
            <a:r>
              <a:rPr lang="en-US" altLang="zh-CN" sz="4000" dirty="0">
                <a:latin typeface="+mj-ea"/>
                <a:sym typeface="+mn-ea"/>
              </a:rPr>
              <a:t>5 </a:t>
            </a:r>
            <a:r>
              <a:rPr lang="zh-CN" altLang="en-US" sz="4000" dirty="0">
                <a:latin typeface="+mj-ea"/>
                <a:sym typeface="+mn-ea"/>
              </a:rPr>
              <a:t>常见的</a:t>
            </a:r>
            <a:r>
              <a:rPr lang="en-US" altLang="zh-CN" sz="4000" dirty="0">
                <a:latin typeface="+mj-ea"/>
                <a:sym typeface="+mn-ea"/>
              </a:rPr>
              <a:t>DNS</a:t>
            </a:r>
            <a:r>
              <a:rPr lang="zh-CN" altLang="en-US" sz="4000" dirty="0">
                <a:latin typeface="+mj-ea"/>
                <a:sym typeface="+mn-ea"/>
              </a:rPr>
              <a:t>攻击</a:t>
            </a:r>
            <a:endParaRPr lang="zh-CN" altLang="en-US" sz="4000" dirty="0">
              <a:latin typeface="+mj-ea"/>
              <a:sym typeface="+mn-ea"/>
            </a:endParaRPr>
          </a:p>
        </p:txBody>
      </p:sp>
      <p:graphicFrame>
        <p:nvGraphicFramePr>
          <p:cNvPr id="5" name="表格 4"/>
          <p:cNvGraphicFramePr/>
          <p:nvPr>
            <p:custDataLst>
              <p:tags r:id="rId1"/>
            </p:custDataLst>
          </p:nvPr>
        </p:nvGraphicFramePr>
        <p:xfrm>
          <a:off x="314325" y="1680845"/>
          <a:ext cx="11802745" cy="4266565"/>
        </p:xfrm>
        <a:graphic>
          <a:graphicData uri="http://schemas.openxmlformats.org/drawingml/2006/table">
            <a:tbl>
              <a:tblPr firstRow="1" bandRow="1">
                <a:tableStyleId>{5C22544A-7EE6-4342-B048-85BDC9FD1C3A}</a:tableStyleId>
              </a:tblPr>
              <a:tblGrid>
                <a:gridCol w="3110230"/>
                <a:gridCol w="4516755"/>
                <a:gridCol w="4175760"/>
              </a:tblGrid>
              <a:tr h="411480">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攻击方式</a:t>
                      </a:r>
                      <a:endParaRPr lang="zh-CN" sz="2400">
                        <a:latin typeface="Times New Roman" panose="02020603050405020304" charset="0"/>
                        <a:ea typeface="宋体" panose="02010600030101010101" pitchFamily="2" charset="-122"/>
                      </a:endParaRPr>
                    </a:p>
                  </a:txBody>
                  <a:tcPr marL="68580" marR="68580" marT="0" marB="0" anchor="t"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攻击原理</a:t>
                      </a:r>
                      <a:endParaRPr lang="zh-CN" sz="2400">
                        <a:latin typeface="Times New Roman" panose="02020603050405020304" charset="0"/>
                        <a:ea typeface="宋体" panose="02010600030101010101" pitchFamily="2" charset="-122"/>
                      </a:endParaRPr>
                    </a:p>
                  </a:txBody>
                  <a:tcPr marL="68580" marR="68580" marT="0" marB="0" anchor="t"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攻击后果</a:t>
                      </a:r>
                      <a:endParaRPr lang="zh-CN" sz="2400">
                        <a:latin typeface="Times New Roman" panose="02020603050405020304" charset="0"/>
                        <a:ea typeface="宋体" panose="02010600030101010101" pitchFamily="2" charset="-122"/>
                      </a:endParaRPr>
                    </a:p>
                  </a:txBody>
                  <a:tcPr marL="68580" marR="68580" marT="0" marB="0" anchor="t" anchorCtr="0"/>
                </a:tc>
              </a:tr>
              <a:tr h="761365">
                <a:tc>
                  <a:txBody>
                    <a:bodyPr/>
                    <a:p>
                      <a:pPr marL="0" indent="0" algn="ctr">
                        <a:lnSpc>
                          <a:spcPct val="150000"/>
                        </a:lnSpc>
                        <a:spcBef>
                          <a:spcPct val="0"/>
                        </a:spcBef>
                        <a:spcAft>
                          <a:spcPct val="0"/>
                        </a:spcAft>
                      </a:pPr>
                      <a:r>
                        <a:rPr lang="en-US" altLang="zh-CN" sz="2400">
                          <a:latin typeface="Times New Roman" panose="02020603050405020304" charset="0"/>
                          <a:ea typeface="宋体" panose="02010600030101010101" pitchFamily="2" charset="-122"/>
                        </a:rPr>
                        <a:t>DNS</a:t>
                      </a:r>
                      <a:r>
                        <a:rPr lang="zh-CN" sz="2400">
                          <a:latin typeface="Times New Roman" panose="02020603050405020304" charset="0"/>
                          <a:ea typeface="宋体" panose="02010600030101010101" pitchFamily="2" charset="-122"/>
                        </a:rPr>
                        <a:t>欺骗</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修改</a:t>
                      </a:r>
                      <a:r>
                        <a:rPr lang="en-US" altLang="zh-CN" sz="2400">
                          <a:latin typeface="Times New Roman" panose="02020603050405020304" charset="0"/>
                          <a:ea typeface="宋体" panose="02010600030101010101" pitchFamily="2" charset="-122"/>
                        </a:rPr>
                        <a:t>DNS</a:t>
                      </a:r>
                      <a:r>
                        <a:rPr lang="zh-CN" sz="2400">
                          <a:latin typeface="Times New Roman" panose="02020603050405020304" charset="0"/>
                          <a:ea typeface="宋体" panose="02010600030101010101" pitchFamily="2" charset="-122"/>
                        </a:rPr>
                        <a:t>缓存、劫持</a:t>
                      </a:r>
                      <a:r>
                        <a:rPr lang="en-US" altLang="zh-CN" sz="2400">
                          <a:latin typeface="Times New Roman" panose="02020603050405020304" charset="0"/>
                          <a:ea typeface="宋体" panose="02010600030101010101" pitchFamily="2" charset="-122"/>
                        </a:rPr>
                        <a:t>DNS</a:t>
                      </a:r>
                      <a:r>
                        <a:rPr lang="zh-CN" sz="2400">
                          <a:latin typeface="Times New Roman" panose="02020603050405020304" charset="0"/>
                          <a:ea typeface="宋体" panose="02010600030101010101" pitchFamily="2" charset="-122"/>
                        </a:rPr>
                        <a:t>请求</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网络钓鱼、信息窃取</a:t>
                      </a:r>
                      <a:endParaRPr lang="zh-CN" sz="2400">
                        <a:latin typeface="Times New Roman" panose="02020603050405020304" charset="0"/>
                        <a:ea typeface="宋体" panose="02010600030101010101" pitchFamily="2" charset="-122"/>
                      </a:endParaRPr>
                    </a:p>
                  </a:txBody>
                  <a:tcPr marL="68580" marR="68580" marT="0" marB="0" anchor="ctr" anchorCtr="0"/>
                </a:tc>
              </a:tr>
              <a:tr h="762000">
                <a:tc>
                  <a:txBody>
                    <a:bodyPr/>
                    <a:p>
                      <a:pPr marL="0" indent="0" algn="ctr">
                        <a:lnSpc>
                          <a:spcPct val="150000"/>
                        </a:lnSpc>
                        <a:spcBef>
                          <a:spcPct val="0"/>
                        </a:spcBef>
                        <a:spcAft>
                          <a:spcPct val="0"/>
                        </a:spcAft>
                      </a:pPr>
                      <a:r>
                        <a:rPr lang="en-US" altLang="zh-CN" sz="2400">
                          <a:latin typeface="Times New Roman" panose="02020603050405020304" charset="0"/>
                          <a:ea typeface="宋体" panose="02010600030101010101" pitchFamily="2" charset="-122"/>
                        </a:rPr>
                        <a:t>DNS</a:t>
                      </a:r>
                      <a:r>
                        <a:rPr lang="zh-CN" sz="2400">
                          <a:latin typeface="Times New Roman" panose="02020603050405020304" charset="0"/>
                          <a:ea typeface="宋体" panose="02010600030101010101" pitchFamily="2" charset="-122"/>
                        </a:rPr>
                        <a:t>隐蔽信道</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利用</a:t>
                      </a:r>
                      <a:r>
                        <a:rPr lang="en-US" altLang="zh-CN" sz="2400">
                          <a:latin typeface="Times New Roman" panose="02020603050405020304" charset="0"/>
                          <a:ea typeface="宋体" panose="02010600030101010101" pitchFamily="2" charset="-122"/>
                        </a:rPr>
                        <a:t>DNS</a:t>
                      </a:r>
                      <a:r>
                        <a:rPr lang="zh-CN" sz="2400">
                          <a:latin typeface="Times New Roman" panose="02020603050405020304" charset="0"/>
                          <a:ea typeface="宋体" panose="02010600030101010101" pitchFamily="2" charset="-122"/>
                        </a:rPr>
                        <a:t>数据包封装信息</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发送恶意指令，窃取隐私信息</a:t>
                      </a:r>
                      <a:endParaRPr lang="zh-CN" sz="2400">
                        <a:latin typeface="Times New Roman" panose="02020603050405020304" charset="0"/>
                        <a:ea typeface="宋体" panose="02010600030101010101" pitchFamily="2" charset="-122"/>
                      </a:endParaRPr>
                    </a:p>
                  </a:txBody>
                  <a:tcPr marL="68580" marR="68580" marT="0" marB="0" anchor="ctr" anchorCtr="0"/>
                </a:tc>
              </a:tr>
              <a:tr h="411480">
                <a:tc>
                  <a:txBody>
                    <a:bodyPr/>
                    <a:p>
                      <a:pPr marL="0" indent="0" algn="ctr">
                        <a:lnSpc>
                          <a:spcPct val="150000"/>
                        </a:lnSpc>
                        <a:spcBef>
                          <a:spcPct val="0"/>
                        </a:spcBef>
                        <a:spcAft>
                          <a:spcPct val="0"/>
                        </a:spcAft>
                      </a:pPr>
                      <a:r>
                        <a:rPr lang="en-US" altLang="zh-CN" sz="2400">
                          <a:latin typeface="Times New Roman" panose="02020603050405020304" charset="0"/>
                          <a:ea typeface="宋体" panose="02010600030101010101" pitchFamily="2" charset="-122"/>
                        </a:rPr>
                        <a:t>DNS DDoS</a:t>
                      </a:r>
                      <a:r>
                        <a:rPr lang="zh-CN" sz="2400">
                          <a:latin typeface="Times New Roman" panose="02020603050405020304" charset="0"/>
                          <a:ea typeface="宋体" panose="02010600030101010101" pitchFamily="2" charset="-122"/>
                        </a:rPr>
                        <a:t>攻击</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直接耗尽服务器带宽资源</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丧失网络服务能力</a:t>
                      </a:r>
                      <a:endParaRPr lang="zh-CN" sz="2400">
                        <a:latin typeface="Times New Roman" panose="02020603050405020304" charset="0"/>
                        <a:ea typeface="宋体" panose="02010600030101010101" pitchFamily="2" charset="-122"/>
                      </a:endParaRPr>
                    </a:p>
                  </a:txBody>
                  <a:tcPr marL="68580" marR="68580" marT="0" marB="0" anchor="ctr" anchorCtr="0"/>
                </a:tc>
              </a:tr>
              <a:tr h="411480">
                <a:tc>
                  <a:txBody>
                    <a:bodyPr/>
                    <a:p>
                      <a:pPr marL="0" indent="0" algn="ctr">
                        <a:lnSpc>
                          <a:spcPct val="150000"/>
                        </a:lnSpc>
                        <a:spcBef>
                          <a:spcPct val="0"/>
                        </a:spcBef>
                        <a:spcAft>
                          <a:spcPct val="0"/>
                        </a:spcAft>
                      </a:pPr>
                      <a:r>
                        <a:rPr lang="en-US" altLang="zh-CN" sz="2400">
                          <a:latin typeface="Times New Roman" panose="02020603050405020304" charset="0"/>
                          <a:ea typeface="宋体" panose="02010600030101010101" pitchFamily="2" charset="-122"/>
                        </a:rPr>
                        <a:t>DNS</a:t>
                      </a:r>
                      <a:r>
                        <a:rPr lang="zh-CN" sz="2400">
                          <a:latin typeface="Times New Roman" panose="02020603050405020304" charset="0"/>
                          <a:ea typeface="宋体" panose="02010600030101010101" pitchFamily="2" charset="-122"/>
                        </a:rPr>
                        <a:t>反射放大攻击</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间接耗尽服务器带宽资源</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丧失网络服务能力</a:t>
                      </a:r>
                      <a:endParaRPr lang="zh-CN" sz="2400">
                        <a:latin typeface="Times New Roman" panose="02020603050405020304" charset="0"/>
                        <a:ea typeface="宋体" panose="02010600030101010101" pitchFamily="2" charset="-122"/>
                      </a:endParaRPr>
                    </a:p>
                  </a:txBody>
                  <a:tcPr marL="68580" marR="68580" marT="0" marB="0" anchor="ctr" anchorCtr="0"/>
                </a:tc>
              </a:tr>
              <a:tr h="800100">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恶意</a:t>
                      </a:r>
                      <a:r>
                        <a:rPr lang="en-US" altLang="zh-CN" sz="2400">
                          <a:latin typeface="Times New Roman" panose="02020603050405020304" charset="0"/>
                          <a:ea typeface="宋体" panose="02010600030101010101" pitchFamily="2" charset="-122"/>
                        </a:rPr>
                        <a:t>DGA</a:t>
                      </a:r>
                      <a:r>
                        <a:rPr lang="zh-CN" sz="2400">
                          <a:latin typeface="Times New Roman" panose="02020603050405020304" charset="0"/>
                          <a:ea typeface="宋体" panose="02010600030101010101" pitchFamily="2" charset="-122"/>
                        </a:rPr>
                        <a:t>域名</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使用</a:t>
                      </a:r>
                      <a:r>
                        <a:rPr lang="en-US" altLang="zh-CN" sz="2400">
                          <a:latin typeface="Times New Roman" panose="02020603050405020304" charset="0"/>
                          <a:ea typeface="宋体" panose="02010600030101010101" pitchFamily="2" charset="-122"/>
                        </a:rPr>
                        <a:t>DGA</a:t>
                      </a:r>
                      <a:r>
                        <a:rPr lang="zh-CN" sz="2400">
                          <a:latin typeface="Times New Roman" panose="02020603050405020304" charset="0"/>
                          <a:ea typeface="宋体" panose="02010600030101010101" pitchFamily="2" charset="-122"/>
                        </a:rPr>
                        <a:t>生成大量恶意域名</a:t>
                      </a:r>
                      <a:endParaRPr lang="zh-CN" sz="2400">
                        <a:latin typeface="Times New Roman" panose="02020603050405020304" charset="0"/>
                        <a:ea typeface="宋体" panose="02010600030101010101" pitchFamily="2" charset="-122"/>
                      </a:endParaRPr>
                    </a:p>
                  </a:txBody>
                  <a:tcPr marL="68580" marR="68580" marT="0" marB="0" anchor="ctr" anchorCtr="0"/>
                </a:tc>
                <a:tc>
                  <a:txBody>
                    <a:bodyPr/>
                    <a:p>
                      <a:pPr marL="0" indent="0" algn="ctr">
                        <a:lnSpc>
                          <a:spcPct val="150000"/>
                        </a:lnSpc>
                        <a:spcBef>
                          <a:spcPct val="0"/>
                        </a:spcBef>
                        <a:spcAft>
                          <a:spcPct val="0"/>
                        </a:spcAft>
                      </a:pPr>
                      <a:r>
                        <a:rPr lang="zh-CN" sz="2400">
                          <a:latin typeface="Times New Roman" panose="02020603050405020304" charset="0"/>
                          <a:ea typeface="宋体" panose="02010600030101010101" pitchFamily="2" charset="-122"/>
                        </a:rPr>
                        <a:t>存在大量恶意域名，破坏安全性</a:t>
                      </a:r>
                      <a:endParaRPr lang="zh-CN" sz="2400">
                        <a:latin typeface="Times New Roman" panose="02020603050405020304" charset="0"/>
                        <a:ea typeface="宋体" panose="02010600030101010101" pitchFamily="2" charset="-122"/>
                      </a:endParaRPr>
                    </a:p>
                  </a:txBody>
                  <a:tcPr marL="68580" marR="68580" marT="0" marB="0" anchor="ctr" anchorCtr="0"/>
                </a:tc>
              </a:tr>
            </a:tbl>
          </a:graphicData>
        </a:graphic>
      </p:graphicFrame>
      <p:sp>
        <p:nvSpPr>
          <p:cNvPr id="7" name="文本框 6"/>
          <p:cNvSpPr txBox="1"/>
          <p:nvPr/>
        </p:nvSpPr>
        <p:spPr>
          <a:xfrm>
            <a:off x="339725" y="1038225"/>
            <a:ext cx="11777345" cy="944245"/>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a:t>
            </a: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攻击对比分析：</a:t>
            </a:r>
            <a:endPar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Ø"/>
            </a:pPr>
            <a:endParaRPr kumimoji="1" lang="zh-CN" altLang="en-US"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8226425" cy="583565"/>
          </a:xfrm>
        </p:spPr>
        <p:txBody>
          <a:bodyPr/>
          <a:p>
            <a:pPr algn="l">
              <a:buClrTx/>
              <a:buSzTx/>
              <a:buFontTx/>
            </a:pPr>
            <a:r>
              <a:rPr lang="en-US" altLang="zh-CN" sz="4000" dirty="0">
                <a:latin typeface="+mj-ea"/>
                <a:sym typeface="+mn-ea"/>
              </a:rPr>
              <a:t>5</a:t>
            </a:r>
            <a:r>
              <a:rPr lang="zh-CN" altLang="en-US" sz="4000" dirty="0">
                <a:latin typeface="+mj-ea"/>
                <a:sym typeface="+mn-ea"/>
              </a:rPr>
              <a:t>.</a:t>
            </a:r>
            <a:r>
              <a:rPr lang="en-US" altLang="zh-CN" sz="4000" dirty="0">
                <a:latin typeface="+mj-ea"/>
                <a:sym typeface="+mn-ea"/>
              </a:rPr>
              <a:t>2</a:t>
            </a:r>
            <a:r>
              <a:rPr lang="zh-CN" altLang="en-US" sz="4000" dirty="0">
                <a:latin typeface="+mj-ea"/>
                <a:sym typeface="+mn-ea"/>
              </a:rPr>
              <a:t>.</a:t>
            </a:r>
            <a:r>
              <a:rPr lang="en-US" altLang="zh-CN" sz="4000" dirty="0">
                <a:latin typeface="+mj-ea"/>
                <a:sym typeface="+mn-ea"/>
              </a:rPr>
              <a:t>6 DNS</a:t>
            </a:r>
            <a:r>
              <a:rPr lang="zh-CN" altLang="en-US" sz="4000" dirty="0">
                <a:latin typeface="+mj-ea"/>
                <a:sym typeface="+mn-ea"/>
              </a:rPr>
              <a:t>安全防护</a:t>
            </a:r>
            <a:endParaRPr lang="zh-CN" altLang="en-US" sz="4000" dirty="0">
              <a:latin typeface="+mj-ea"/>
              <a:sym typeface="+mn-ea"/>
            </a:endParaRPr>
          </a:p>
        </p:txBody>
      </p:sp>
      <p:sp>
        <p:nvSpPr>
          <p:cNvPr id="7" name="文本框 6"/>
          <p:cNvSpPr txBox="1"/>
          <p:nvPr/>
        </p:nvSpPr>
        <p:spPr>
          <a:xfrm>
            <a:off x="339725" y="1038225"/>
            <a:ext cx="11777345" cy="5714365"/>
          </a:xfrm>
          <a:prstGeom prst="rect">
            <a:avLst/>
          </a:prstGeom>
          <a:noFill/>
        </p:spPr>
        <p:txBody>
          <a:bodyPr wrap="square" rtlCol="0" anchor="t">
            <a:noAutofit/>
          </a:bodyPr>
          <a:p>
            <a:pPr marL="342900" indent="-342900">
              <a:lnSpc>
                <a:spcPct val="150000"/>
              </a:lnSpc>
              <a:buClr>
                <a:srgbClr val="DF4F21"/>
              </a:buClr>
              <a:buSzTx/>
              <a:buFont typeface="Wingdings" panose="05000000000000000000" charset="0"/>
              <a:buChar char="p"/>
            </a:pP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a:t>
            </a: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安全防护：</a:t>
            </a:r>
            <a:endPar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342900" algn="l" fontAlgn="auto">
              <a:lnSpc>
                <a:spcPct val="150000"/>
              </a:lnSpc>
              <a:buClr>
                <a:srgbClr val="DF4F21"/>
              </a:buClr>
              <a:buSzTx/>
              <a:buFont typeface="Wingdings" panose="05000000000000000000" charset="0"/>
              <a:buChar char="Ø"/>
            </a:pPr>
            <a:r>
              <a:rPr kumimoji="1" lang="en-US" altLang="zh-CN" sz="2400" b="1">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DNS加密认证</a:t>
            </a:r>
            <a:endParaRPr kumimoji="1" lang="en-US" altLang="zh-CN" sz="2400" b="1">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0" fontAlgn="auto">
              <a:lnSpc>
                <a:spcPct val="150000"/>
              </a:lnSpc>
              <a:buClr>
                <a:srgbClr val="DF4F21"/>
              </a:buClr>
              <a:buSzTx/>
              <a:buFont typeface="Wingdings" panose="05000000000000000000" charset="0"/>
              <a:buNone/>
            </a:pP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传统开放式</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解析缺乏数据真实性和完整性保护，易受欺骗攻击，而</a:t>
            </a:r>
            <a:r>
              <a:rPr kumimoji="1" lang="en-US" altLang="zh-CN" sz="2400" b="1">
                <a:solidFill>
                  <a:srgbClr val="0070C0">
                    <a:alpha val="100000"/>
                  </a:srgbClr>
                </a:solidFill>
                <a:latin typeface="Times New Roman" panose="02020603050405020304" charset="0"/>
                <a:ea typeface="宋体" panose="02010600030101010101" pitchFamily="2" charset="-122"/>
                <a:cs typeface="Times New Roman" panose="02020603050405020304" charset="0"/>
                <a:sym typeface="+mn-ea"/>
              </a:rPr>
              <a:t>DNSSec</a:t>
            </a:r>
            <a:r>
              <a:rPr kumimoji="1" lang="zh-CN" altLang="en-US" sz="2400" b="1">
                <a:solidFill>
                  <a:srgbClr val="0070C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400" b="1">
                <a:solidFill>
                  <a:srgbClr val="0070C0">
                    <a:alpha val="100000"/>
                  </a:srgbClr>
                </a:solidFill>
                <a:latin typeface="Times New Roman" panose="02020603050405020304" charset="0"/>
                <a:ea typeface="宋体" panose="02010600030101010101" pitchFamily="2" charset="-122"/>
                <a:cs typeface="Times New Roman" panose="02020603050405020304" charset="0"/>
                <a:sym typeface="+mn-ea"/>
              </a:rPr>
              <a:t>DOT</a:t>
            </a:r>
            <a:r>
              <a:rPr kumimoji="1" lang="zh-CN" altLang="en-US" sz="2400" b="1">
                <a:solidFill>
                  <a:srgbClr val="0070C0">
                    <a:alpha val="100000"/>
                  </a:srgbClr>
                </a:solidFill>
                <a:latin typeface="Times New Roman" panose="02020603050405020304" charset="0"/>
                <a:ea typeface="宋体" panose="02010600030101010101" pitchFamily="2" charset="-122"/>
                <a:cs typeface="Times New Roman" panose="02020603050405020304" charset="0"/>
                <a:sym typeface="+mn-ea"/>
              </a:rPr>
              <a:t>和</a:t>
            </a:r>
            <a:r>
              <a:rPr kumimoji="1" lang="en-US" altLang="zh-CN" sz="2400" b="1">
                <a:solidFill>
                  <a:srgbClr val="0070C0">
                    <a:alpha val="100000"/>
                  </a:srgbClr>
                </a:solidFill>
                <a:latin typeface="Times New Roman" panose="02020603050405020304" charset="0"/>
                <a:ea typeface="宋体" panose="02010600030101010101" pitchFamily="2" charset="-122"/>
                <a:cs typeface="Times New Roman" panose="02020603050405020304" charset="0"/>
                <a:sym typeface="+mn-ea"/>
              </a:rPr>
              <a:t>DOH</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等加密技术的应用可增强</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的安全性和可靠性。</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342900" algn="l" fontAlgn="auto">
              <a:lnSpc>
                <a:spcPct val="150000"/>
              </a:lnSpc>
              <a:buClr>
                <a:srgbClr val="DF4F21"/>
              </a:buClr>
              <a:buSzTx/>
              <a:buFont typeface="Wingdings" panose="05000000000000000000" charset="0"/>
              <a:buChar char="Ø"/>
            </a:pPr>
            <a:r>
              <a:rPr kumimoji="1" lang="en-US" altLang="zh-CN" sz="2400" b="1">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DNS解析限制</a:t>
            </a:r>
            <a:endParaRPr kumimoji="1" lang="en-US" altLang="zh-CN" sz="2400" b="1">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0" fontAlgn="auto">
              <a:lnSpc>
                <a:spcPct val="150000"/>
              </a:lnSpc>
              <a:buClr>
                <a:srgbClr val="DF4F21"/>
              </a:buClr>
              <a:buSzTx/>
              <a:buFont typeface="Wingdings" panose="05000000000000000000" charset="0"/>
              <a:buNone/>
            </a:pP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1</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）设置开放服务器查询权限：通过设置权限，可以限制只有合法和可信的来源才能向服务器发送请求，从而减少恶意</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请求的数量</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720090" indent="0" fontAlgn="auto">
              <a:lnSpc>
                <a:spcPct val="150000"/>
              </a:lnSpc>
              <a:buClr>
                <a:srgbClr val="DF4F21"/>
              </a:buClr>
              <a:buSzTx/>
              <a:buFont typeface="Wingdings" panose="05000000000000000000" charset="0"/>
              <a:buNone/>
            </a:pP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2</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）设置权威服务器响应速率：权威域名服务器通过设置响应速率阈值，限制同一来源的</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查询频率，可有效抵御</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DDoS</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和</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DNS</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反射放大攻击，增强服务器防护能力</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indent="0">
              <a:lnSpc>
                <a:spcPct val="150000"/>
              </a:lnSpc>
              <a:buClr>
                <a:srgbClr val="DF4F21"/>
              </a:buClr>
              <a:buSzTx/>
              <a:buFont typeface="Wingdings" panose="05000000000000000000" charset="0"/>
              <a:buNone/>
            </a:pPr>
            <a:endParaRPr kumimoji="1" lang="zh-CN" altLang="en-US"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indent="0">
              <a:lnSpc>
                <a:spcPct val="150000"/>
              </a:lnSpc>
              <a:buClr>
                <a:srgbClr val="DF4F21"/>
              </a:buClr>
              <a:buSzTx/>
              <a:buFont typeface="Wingdings" panose="05000000000000000000" charset="0"/>
              <a:buNone/>
            </a:pPr>
            <a:endParaRPr kumimoji="1" lang="zh-CN" altLang="en-US"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88099" y="1168196"/>
            <a:ext cx="5647691" cy="5553279"/>
          </a:xfrm>
          <a:prstGeom prst="rect">
            <a:avLst/>
          </a:prstGeom>
        </p:spPr>
      </p:pic>
      <p:sp>
        <p:nvSpPr>
          <p:cNvPr id="11" name="矩形: 圆角 10"/>
          <p:cNvSpPr/>
          <p:nvPr/>
        </p:nvSpPr>
        <p:spPr>
          <a:xfrm>
            <a:off x="6096000" y="1168196"/>
            <a:ext cx="5949412" cy="5061458"/>
          </a:xfrm>
          <a:prstGeom prst="roundRect">
            <a:avLst>
              <a:gd name="adj" fmla="val 0"/>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zh-CN" altLang="en-US" sz="1600" kern="0">
              <a:solidFill>
                <a:srgbClr val="000000"/>
              </a:solidFill>
              <a:latin typeface="Arial" panose="020B0604020202020204" pitchFamily="34" charset="0"/>
              <a:ea typeface="微软雅黑" panose="020B0503020204020204" pitchFamily="34" charset="-122"/>
            </a:endParaRPr>
          </a:p>
        </p:txBody>
      </p:sp>
      <p:sp>
        <p:nvSpPr>
          <p:cNvPr id="3" name="标题 1"/>
          <p:cNvSpPr>
            <a:spLocks noGrp="1"/>
          </p:cNvSpPr>
          <p:nvPr>
            <p:ph type="title"/>
          </p:nvPr>
        </p:nvSpPr>
        <p:spPr/>
        <p:txBody>
          <a:bodyPr/>
          <a:lstStyle/>
          <a:p>
            <a:pPr algn="l">
              <a:lnSpc>
                <a:spcPct val="90000"/>
              </a:lnSpc>
              <a:buClrTx/>
              <a:buSzTx/>
              <a:buFontTx/>
            </a:pPr>
            <a:r>
              <a:rPr lang="en-US" altLang="zh-CN" sz="4000" dirty="0">
                <a:solidFill>
                  <a:schemeClr val="bg1"/>
                </a:solidFill>
                <a:latin typeface="+mj-ea"/>
                <a:ea typeface="+mj-ea"/>
              </a:rPr>
              <a:t>通过非对称加密验证身份--DNSSec</a:t>
            </a:r>
            <a:endParaRPr lang="en-US" altLang="zh-CN" sz="4000" dirty="0">
              <a:solidFill>
                <a:schemeClr val="bg1"/>
              </a:solidFill>
              <a:latin typeface="+mj-ea"/>
              <a:ea typeface="+mj-ea"/>
            </a:endParaRPr>
          </a:p>
        </p:txBody>
      </p:sp>
      <p:sp>
        <p:nvSpPr>
          <p:cNvPr id="8" name="文本框 7"/>
          <p:cNvSpPr txBox="1"/>
          <p:nvPr/>
        </p:nvSpPr>
        <p:spPr>
          <a:xfrm>
            <a:off x="6136056" y="1333646"/>
            <a:ext cx="5508257" cy="1694823"/>
          </a:xfrm>
          <a:prstGeom prst="rect">
            <a:avLst/>
          </a:prstGeom>
          <a:noFill/>
        </p:spPr>
        <p:txBody>
          <a:bodyPr wrap="square">
            <a:spAutoFit/>
          </a:bodyPr>
          <a:lstStyle/>
          <a:p>
            <a:pPr algn="just"/>
            <a:r>
              <a:rPr lang="zh-CN" altLang="en-US" sz="2200" kern="0" dirty="0">
                <a:solidFill>
                  <a:srgbClr val="C00000"/>
                </a:solidFill>
                <a:latin typeface="微软雅黑" panose="020B0503020204020204" pitchFamily="34" charset="-122"/>
                <a:ea typeface="微软雅黑" panose="020B0503020204020204" pitchFamily="34" charset="-122"/>
              </a:rPr>
              <a:t>签名过程原理</a:t>
            </a:r>
            <a:endParaRPr lang="en-US" altLang="zh-CN" sz="2200" kern="0" dirty="0">
              <a:solidFill>
                <a:srgbClr val="C00000"/>
              </a:solidFill>
              <a:latin typeface="微软雅黑" panose="020B0503020204020204" pitchFamily="34" charset="-122"/>
              <a:ea typeface="微软雅黑" panose="020B0503020204020204" pitchFamily="34" charset="-122"/>
            </a:endParaRPr>
          </a:p>
          <a:p>
            <a:pPr algn="just">
              <a:lnSpc>
                <a:spcPts val="800"/>
              </a:lnSpc>
            </a:pPr>
            <a:endParaRPr lang="en-US" altLang="zh-CN" sz="2400" kern="0" dirty="0">
              <a:effectLst/>
              <a:latin typeface="微软雅黑" panose="020B0503020204020204" pitchFamily="34" charset="-122"/>
              <a:ea typeface="微软雅黑" panose="020B0503020204020204" pitchFamily="34" charset="-122"/>
              <a:cs typeface="TT7ADF8o00536922991"/>
            </a:endParaRPr>
          </a:p>
          <a:p>
            <a:pPr algn="just">
              <a:lnSpc>
                <a:spcPct val="130000"/>
              </a:lnSpc>
            </a:pPr>
            <a:r>
              <a:rPr lang="zh-CN" altLang="en-US" sz="2000" kern="0" dirty="0">
                <a:latin typeface="微软雅黑" panose="020B0503020204020204" pitchFamily="34" charset="-122"/>
                <a:ea typeface="微软雅黑" panose="020B0503020204020204" pitchFamily="34" charset="-122"/>
              </a:rPr>
              <a:t>域名服务器用散列函数计算回复</a:t>
            </a:r>
            <a:r>
              <a:rPr lang="en-US" altLang="zh-CN" sz="2000" kern="0" dirty="0">
                <a:latin typeface="微软雅黑" panose="020B0503020204020204" pitchFamily="34" charset="-122"/>
                <a:ea typeface="微软雅黑" panose="020B0503020204020204" pitchFamily="34" charset="-122"/>
              </a:rPr>
              <a:t>DNS</a:t>
            </a:r>
            <a:r>
              <a:rPr lang="zh-CN" altLang="en-US" sz="2000" kern="0" dirty="0">
                <a:latin typeface="微软雅黑" panose="020B0503020204020204" pitchFamily="34" charset="-122"/>
                <a:ea typeface="微软雅黑" panose="020B0503020204020204" pitchFamily="34" charset="-122"/>
              </a:rPr>
              <a:t>报文内容的散列值，即“内容摘要”，使用私钥对其加密（签名），加密后的信息附加到</a:t>
            </a:r>
            <a:r>
              <a:rPr lang="en-US" altLang="zh-CN" sz="2000" kern="0" dirty="0">
                <a:latin typeface="微软雅黑" panose="020B0503020204020204" pitchFamily="34" charset="-122"/>
                <a:ea typeface="微软雅黑" panose="020B0503020204020204" pitchFamily="34" charset="-122"/>
              </a:rPr>
              <a:t>DNS</a:t>
            </a:r>
            <a:r>
              <a:rPr lang="zh-CN" altLang="en-US" sz="2000" kern="0" dirty="0">
                <a:latin typeface="微软雅黑" panose="020B0503020204020204" pitchFamily="34" charset="-122"/>
                <a:ea typeface="微软雅黑" panose="020B0503020204020204" pitchFamily="34" charset="-122"/>
              </a:rPr>
              <a:t>报文</a:t>
            </a:r>
            <a:endParaRPr lang="zh-CN" altLang="en-US" sz="2000" kern="0" dirty="0">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540327" y="1628085"/>
            <a:ext cx="2023097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443507" y="1466203"/>
          <a:ext cx="5247409" cy="4109417"/>
        </p:xfrm>
        <a:graphic>
          <a:graphicData uri="http://schemas.openxmlformats.org/presentationml/2006/ole">
            <mc:AlternateContent xmlns:mc="http://schemas.openxmlformats.org/markup-compatibility/2006">
              <mc:Choice xmlns:v="urn:schemas-microsoft-com:vml" Requires="v">
                <p:oleObj spid="_x0000_s6" name="Visio" r:id="rId2" imgW="2985135" imgH="2339975" progId="Visio.Drawing.15">
                  <p:embed/>
                </p:oleObj>
              </mc:Choice>
              <mc:Fallback>
                <p:oleObj name="Visio" r:id="rId2" imgW="2985135" imgH="2339975"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507" y="1466203"/>
                        <a:ext cx="5247409" cy="4109417"/>
                      </a:xfrm>
                      <a:prstGeom prst="rect">
                        <a:avLst/>
                      </a:prstGeom>
                      <a:noFill/>
                    </p:spPr>
                  </p:pic>
                </p:oleObj>
              </mc:Fallback>
            </mc:AlternateContent>
          </a:graphicData>
        </a:graphic>
      </p:graphicFrame>
      <p:sp>
        <p:nvSpPr>
          <p:cNvPr id="9" name="文本框 8"/>
          <p:cNvSpPr txBox="1"/>
          <p:nvPr/>
        </p:nvSpPr>
        <p:spPr>
          <a:xfrm>
            <a:off x="916845" y="5767989"/>
            <a:ext cx="4139249" cy="400110"/>
          </a:xfrm>
          <a:prstGeom prst="rect">
            <a:avLst/>
          </a:prstGeom>
          <a:noFill/>
        </p:spPr>
        <p:txBody>
          <a:bodyPr wrap="square">
            <a:spAutoFit/>
          </a:bodyPr>
          <a:lstStyle/>
          <a:p>
            <a:r>
              <a:rPr lang="en-US" altLang="zh-CN" sz="2000" dirty="0">
                <a:effectLst/>
                <a:latin typeface="微软雅黑" panose="020B0503020204020204" pitchFamily="34" charset="-122"/>
                <a:ea typeface="微软雅黑" panose="020B0503020204020204" pitchFamily="34" charset="-122"/>
              </a:rPr>
              <a:t>DNS</a:t>
            </a:r>
            <a:r>
              <a:rPr lang="zh-CN" altLang="zh-CN" sz="2000" dirty="0">
                <a:effectLst/>
                <a:latin typeface="微软雅黑" panose="020B0503020204020204" pitchFamily="34" charset="-122"/>
                <a:ea typeface="微软雅黑" panose="020B0503020204020204" pitchFamily="34" charset="-122"/>
                <a:cs typeface="Times New Roman" panose="02020603050405020304" charset="0"/>
              </a:rPr>
              <a:t>签名及验证过程示意图</a:t>
            </a:r>
            <a:endParaRPr lang="zh-CN" altLang="en-US"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136056" y="4055097"/>
            <a:ext cx="5508257" cy="1732915"/>
          </a:xfrm>
          <a:prstGeom prst="rect">
            <a:avLst/>
          </a:prstGeom>
          <a:noFill/>
        </p:spPr>
        <p:txBody>
          <a:bodyPr wrap="square">
            <a:spAutoFit/>
          </a:bodyPr>
          <a:lstStyle/>
          <a:p>
            <a:r>
              <a:rPr lang="zh-CN" altLang="en-US" sz="2200" kern="0" dirty="0">
                <a:solidFill>
                  <a:srgbClr val="C00000"/>
                </a:solidFill>
                <a:effectLst/>
                <a:latin typeface="微软雅黑" panose="020B0503020204020204" pitchFamily="34" charset="-122"/>
                <a:ea typeface="微软雅黑" panose="020B0503020204020204" pitchFamily="34" charset="-122"/>
                <a:cs typeface="TT7ADF8o00536922991"/>
              </a:rPr>
              <a:t>验证过程原理</a:t>
            </a:r>
            <a:endParaRPr lang="en-US" altLang="zh-CN" sz="2200" kern="0" dirty="0">
              <a:solidFill>
                <a:srgbClr val="C00000"/>
              </a:solidFill>
              <a:effectLst/>
              <a:latin typeface="微软雅黑" panose="020B0503020204020204" pitchFamily="34" charset="-122"/>
              <a:ea typeface="微软雅黑" panose="020B0503020204020204" pitchFamily="34" charset="-122"/>
              <a:cs typeface="TT7ADF8o00536922991"/>
            </a:endParaRPr>
          </a:p>
          <a:p>
            <a:pPr>
              <a:lnSpc>
                <a:spcPts val="800"/>
              </a:lnSpc>
            </a:pPr>
            <a:endParaRPr lang="en-US" altLang="zh-CN" sz="2000" kern="0" dirty="0">
              <a:effectLst/>
              <a:latin typeface="微软雅黑" panose="020B0503020204020204" pitchFamily="34" charset="-122"/>
              <a:ea typeface="微软雅黑" panose="020B0503020204020204" pitchFamily="34" charset="-122"/>
              <a:cs typeface="TT7ADF8o00536922991"/>
            </a:endParaRPr>
          </a:p>
          <a:p>
            <a:pPr algn="just">
              <a:lnSpc>
                <a:spcPct val="130000"/>
              </a:lnSpc>
            </a:pPr>
            <a:r>
              <a:rPr lang="zh-CN" altLang="en-US" sz="2000" kern="0" dirty="0">
                <a:latin typeface="微软雅黑" panose="020B0503020204020204" pitchFamily="34" charset="-122"/>
                <a:ea typeface="微软雅黑" panose="020B0503020204020204" pitchFamily="34" charset="-122"/>
              </a:rPr>
              <a:t>本地</a:t>
            </a:r>
            <a:r>
              <a:rPr lang="en-US" altLang="zh-CN" sz="2000" kern="0" dirty="0">
                <a:latin typeface="微软雅黑" panose="020B0503020204020204" pitchFamily="34" charset="-122"/>
                <a:ea typeface="微软雅黑" panose="020B0503020204020204" pitchFamily="34" charset="-122"/>
              </a:rPr>
              <a:t>DNS</a:t>
            </a:r>
            <a:r>
              <a:rPr lang="zh-CN" altLang="en-US" sz="2000" kern="0" dirty="0">
                <a:latin typeface="微软雅黑" panose="020B0503020204020204" pitchFamily="34" charset="-122"/>
                <a:ea typeface="微软雅黑" panose="020B0503020204020204" pitchFamily="34" charset="-122"/>
              </a:rPr>
              <a:t>服务器收到</a:t>
            </a:r>
            <a:r>
              <a:rPr lang="en-US" altLang="zh-CN" sz="2000" kern="0" dirty="0">
                <a:latin typeface="微软雅黑" panose="020B0503020204020204" pitchFamily="34" charset="-122"/>
                <a:ea typeface="微软雅黑" panose="020B0503020204020204" pitchFamily="34" charset="-122"/>
              </a:rPr>
              <a:t>DNSSec</a:t>
            </a:r>
            <a:r>
              <a:rPr lang="zh-CN" altLang="en-US" sz="2000" kern="0" dirty="0">
                <a:latin typeface="微软雅黑" panose="020B0503020204020204" pitchFamily="34" charset="-122"/>
                <a:ea typeface="微软雅黑" panose="020B0503020204020204" pitchFamily="34" charset="-122"/>
              </a:rPr>
              <a:t>报文，计算报文“内容摘要”，利用公钥解密收到加密“摘要”， 对比 “摘要”内容</a:t>
            </a:r>
            <a:endParaRPr lang="zh-CN" altLang="en-US" sz="2000" kern="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 </a:t>
            </a:r>
            <a:r>
              <a:rPr lang="en-US" altLang="zh-CN" sz="4000" dirty="0">
                <a:latin typeface="+mj-ea"/>
                <a:sym typeface="+mn-ea"/>
              </a:rPr>
              <a:t>HTTP</a:t>
            </a:r>
            <a:r>
              <a:rPr lang="zh-CN" altLang="en-US" sz="4000" dirty="0">
                <a:latin typeface="+mj-ea"/>
                <a:sym typeface="+mn-ea"/>
              </a:rPr>
              <a:t>协议发展历程</a:t>
            </a:r>
            <a:endParaRPr lang="zh-CN" altLang="en-US" sz="4000" dirty="0">
              <a:latin typeface="+mj-ea"/>
              <a:sym typeface="+mn-ea"/>
            </a:endParaRPr>
          </a:p>
        </p:txBody>
      </p:sp>
      <p:sp>
        <p:nvSpPr>
          <p:cNvPr id="237" name="文本框 236"/>
          <p:cNvSpPr txBox="1"/>
          <p:nvPr/>
        </p:nvSpPr>
        <p:spPr>
          <a:xfrm>
            <a:off x="295910" y="1156335"/>
            <a:ext cx="11418570" cy="2610485"/>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HTTP/3.0</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2022</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年发布</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Ø"/>
            </a:pP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HTTP/3</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采用</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QUIC</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QUIC</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协议是一种基于</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UDP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协议的新型协议，它可以减少连接建立的延迟和丢包率，从而提高网络性能</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Ø"/>
            </a:pP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支持连接迁移，它可以让客户端在不同网络无缝的切换，而</a:t>
            </a:r>
            <a:r>
              <a:rPr kumimoji="1" lang="en-US" altLang="zh-CN"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a:t>
            </a:r>
            <a:r>
              <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在切换网络的时候要不断的重连，无法做到那么丝滑。</a:t>
            </a: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Ø"/>
            </a:pPr>
            <a:endParaRPr kumimoji="1" lang="zh-CN" altLang="en-US" sz="24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pic>
        <p:nvPicPr>
          <p:cNvPr id="4" name="图片 3"/>
          <p:cNvPicPr/>
          <p:nvPr/>
        </p:nvPicPr>
        <p:blipFill>
          <a:blip r:embed="rId1"/>
          <a:stretch>
            <a:fillRect/>
          </a:stretch>
        </p:blipFill>
        <p:spPr>
          <a:xfrm>
            <a:off x="844550" y="4219575"/>
            <a:ext cx="4588510" cy="2638425"/>
          </a:xfrm>
          <a:prstGeom prst="rect">
            <a:avLst/>
          </a:prstGeom>
        </p:spPr>
      </p:pic>
      <p:pic>
        <p:nvPicPr>
          <p:cNvPr id="6" name="图片 5"/>
          <p:cNvPicPr/>
          <p:nvPr/>
        </p:nvPicPr>
        <p:blipFill>
          <a:blip r:embed="rId2"/>
          <a:stretch>
            <a:fillRect/>
          </a:stretch>
        </p:blipFill>
        <p:spPr>
          <a:xfrm>
            <a:off x="6007100" y="4220210"/>
            <a:ext cx="5600700" cy="25215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5.3.1 HTTP</a:t>
            </a:r>
            <a:r>
              <a:rPr lang="zh-CN" altLang="en-US" sz="4000" dirty="0">
                <a:latin typeface="+mj-ea"/>
                <a:sym typeface="+mn-ea"/>
              </a:rPr>
              <a:t>报文结构</a:t>
            </a:r>
            <a:endParaRPr lang="zh-CN" altLang="en-US" sz="4000" dirty="0">
              <a:latin typeface="+mj-ea"/>
              <a:sym typeface="+mn-ea"/>
            </a:endParaRPr>
          </a:p>
        </p:txBody>
      </p:sp>
      <p:sp>
        <p:nvSpPr>
          <p:cNvPr id="237" name="文本框 236"/>
          <p:cNvSpPr txBox="1"/>
          <p:nvPr/>
        </p:nvSpPr>
        <p:spPr>
          <a:xfrm>
            <a:off x="295910" y="1156335"/>
            <a:ext cx="11717020" cy="1365885"/>
          </a:xfrm>
          <a:prstGeom prst="rect">
            <a:avLst/>
          </a:prstGeom>
          <a:noFill/>
        </p:spPr>
        <p:txBody>
          <a:bodyPr wrap="square" rtlCol="0" anchor="t">
            <a:noAutofit/>
          </a:bodyPr>
          <a:p>
            <a:pPr marL="342900" indent="-342900">
              <a:lnSpc>
                <a:spcPct val="150000"/>
              </a:lnSpc>
              <a:buClr>
                <a:srgbClr val="DF4F21"/>
              </a:buClr>
              <a:buSzTx/>
              <a:buFont typeface="Wingdings" panose="05000000000000000000" charset="0"/>
              <a:buChar char="p"/>
            </a:pPr>
            <a:r>
              <a:rPr kumimoji="1" lang="en-US" altLang="zh-CN"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HTTP</a:t>
            </a: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的请求报文和响应报文均由三个主要部分组成，二者的区别</a:t>
            </a: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主要体现</a:t>
            </a: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在开始行</a:t>
            </a: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nSpc>
                <a:spcPct val="150000"/>
              </a:lnSpc>
              <a:buClr>
                <a:srgbClr val="DF4F21"/>
              </a:buClr>
              <a:buSzTx/>
              <a:buFont typeface="Wingdings" panose="05000000000000000000" charset="0"/>
              <a:buChar char="Ø"/>
            </a:pP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3" name="对象 -2147482618"/>
          <p:cNvGraphicFramePr>
            <a:graphicFrameLocks noChangeAspect="1"/>
          </p:cNvGraphicFramePr>
          <p:nvPr/>
        </p:nvGraphicFramePr>
        <p:xfrm>
          <a:off x="1773555" y="2522220"/>
          <a:ext cx="8761095" cy="3721100"/>
        </p:xfrm>
        <a:graphic>
          <a:graphicData uri="http://schemas.openxmlformats.org/presentationml/2006/ole">
            <mc:AlternateContent xmlns:mc="http://schemas.openxmlformats.org/markup-compatibility/2006">
              <mc:Choice xmlns:v="urn:schemas-microsoft-com:vml" Requires="v">
                <p:oleObj spid="_x0000_s3076" name="" r:id="rId1" imgW="7960995" imgH="3380740" progId="Visio.Drawing.15">
                  <p:embed/>
                </p:oleObj>
              </mc:Choice>
              <mc:Fallback>
                <p:oleObj name="" r:id="rId1" imgW="7960995" imgH="3380740" progId="Visio.Drawing.15">
                  <p:embed/>
                  <p:pic>
                    <p:nvPicPr>
                      <p:cNvPr id="0" name="图片 3075"/>
                      <p:cNvPicPr/>
                      <p:nvPr/>
                    </p:nvPicPr>
                    <p:blipFill>
                      <a:blip r:embed="rId2"/>
                      <a:stretch>
                        <a:fillRect/>
                      </a:stretch>
                    </p:blipFill>
                    <p:spPr>
                      <a:xfrm>
                        <a:off x="1773555" y="2522220"/>
                        <a:ext cx="8761095" cy="3721100"/>
                      </a:xfrm>
                      <a:prstGeom prst="rect">
                        <a:avLst/>
                      </a:prstGeom>
                      <a:noFill/>
                      <a:ln w="38100">
                        <a:noFill/>
                        <a:miter/>
                      </a:ln>
                    </p:spPr>
                  </p:pic>
                </p:oleObj>
              </mc:Fallback>
            </mc:AlternateContent>
          </a:graphicData>
        </a:graphic>
      </p:graphicFrame>
      <p:sp>
        <p:nvSpPr>
          <p:cNvPr id="5" name="矩形 4"/>
          <p:cNvSpPr/>
          <p:nvPr/>
        </p:nvSpPr>
        <p:spPr>
          <a:xfrm>
            <a:off x="1706245" y="3029585"/>
            <a:ext cx="3536315" cy="490855"/>
          </a:xfrm>
          <a:prstGeom prst="rect">
            <a:avLst/>
          </a:prstGeom>
          <a:noFill/>
          <a:ln w="25400" cmpd="sng">
            <a:solidFill>
              <a:srgbClr val="DF4F2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
        <p:nvSpPr>
          <p:cNvPr id="6" name="矩形 5"/>
          <p:cNvSpPr/>
          <p:nvPr/>
        </p:nvSpPr>
        <p:spPr>
          <a:xfrm>
            <a:off x="6184900" y="3029585"/>
            <a:ext cx="3536315" cy="490855"/>
          </a:xfrm>
          <a:prstGeom prst="rect">
            <a:avLst/>
          </a:prstGeom>
          <a:noFill/>
          <a:ln w="25400" cmpd="sng">
            <a:solidFill>
              <a:srgbClr val="DF4F2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5.3.2 </a:t>
            </a:r>
            <a:r>
              <a:rPr lang="zh-CN" altLang="en-US" sz="4000" dirty="0">
                <a:latin typeface="+mj-ea"/>
                <a:sym typeface="+mn-ea"/>
              </a:rPr>
              <a:t>常见的</a:t>
            </a:r>
            <a:r>
              <a:rPr lang="en-US" altLang="zh-CN" sz="4000" dirty="0">
                <a:latin typeface="+mj-ea"/>
                <a:sym typeface="+mn-ea"/>
              </a:rPr>
              <a:t>HTTP</a:t>
            </a:r>
            <a:r>
              <a:rPr lang="zh-CN" altLang="en-US" sz="4000" dirty="0">
                <a:latin typeface="+mj-ea"/>
                <a:sym typeface="+mn-ea"/>
              </a:rPr>
              <a:t>协议攻击</a:t>
            </a:r>
            <a:endParaRPr lang="zh-CN" altLang="en-US" sz="4000" dirty="0">
              <a:latin typeface="+mj-ea"/>
              <a:sym typeface="+mn-ea"/>
            </a:endParaRPr>
          </a:p>
        </p:txBody>
      </p:sp>
      <p:sp>
        <p:nvSpPr>
          <p:cNvPr id="237" name="文本框 236"/>
          <p:cNvSpPr txBox="1"/>
          <p:nvPr/>
        </p:nvSpPr>
        <p:spPr>
          <a:xfrm>
            <a:off x="295910" y="1156335"/>
            <a:ext cx="11717020" cy="4848860"/>
          </a:xfrm>
          <a:prstGeom prst="rect">
            <a:avLst/>
          </a:prstGeom>
          <a:noFill/>
        </p:spPr>
        <p:txBody>
          <a:bodyPr wrap="square" rtlCol="0" anchor="t">
            <a:spAutoFit/>
          </a:bodyPr>
          <a:p>
            <a:pPr marL="342900" indent="-342900">
              <a:lnSpc>
                <a:spcPct val="170000"/>
              </a:lnSpc>
              <a:spcBef>
                <a:spcPts val="0"/>
              </a:spcBef>
              <a:spcAft>
                <a:spcPts val="0"/>
              </a:spcAft>
              <a:buClr>
                <a:srgbClr val="DF4F21"/>
              </a:buClr>
              <a:buSzTx/>
              <a:buFont typeface="Wingdings" panose="05000000000000000000" charset="0"/>
              <a:buChar char="p"/>
            </a:pP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HTTP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默认为不加密且无状态的协议，</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为了识别客户端身份，维持用户的状态，服务器</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通过</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Cookie</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和</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Session</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技术跟踪用户会话。</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Cookie</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存储在客户端，随请求发送；</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Session</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存储在服务器端，通过唯一的</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Session ID</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与客户端的</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Cookie</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关联，用来存储和管理用户的会话状态和信息。上述信息若泄露，攻击者可能会实施以下两种常见的攻击手段：</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1529715" indent="-342900" fontAlgn="auto">
              <a:lnSpc>
                <a:spcPct val="170000"/>
              </a:lnSpc>
              <a:spcBef>
                <a:spcPts val="0"/>
              </a:spcBef>
              <a:spcAft>
                <a:spcPts val="0"/>
              </a:spcAft>
              <a:buClr>
                <a:srgbClr val="DF4F21"/>
              </a:buClr>
              <a:buSzTx/>
              <a:buFont typeface="Wingdings" panose="05000000000000000000" charset="0"/>
              <a:buChar char="Ø"/>
            </a:pPr>
            <a:r>
              <a:rPr kumimoji="1" lang="zh-CN" altLang="en-US" sz="2600" b="1">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会话劫持</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1529715" indent="-342900" fontAlgn="auto">
              <a:lnSpc>
                <a:spcPct val="170000"/>
              </a:lnSpc>
              <a:spcBef>
                <a:spcPts val="0"/>
              </a:spcBef>
              <a:spcAft>
                <a:spcPts val="0"/>
              </a:spcAft>
              <a:buClr>
                <a:srgbClr val="DF4F21"/>
              </a:buClr>
              <a:buSzTx/>
              <a:buFont typeface="Wingdings" panose="05000000000000000000" charset="0"/>
              <a:buChar char="Ø"/>
            </a:pPr>
            <a:r>
              <a:rPr kumimoji="1" lang="zh-CN" altLang="en-US" sz="2600" b="1">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会话固定</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a:t>
            </a:r>
            <a:r>
              <a:rPr lang="zh-CN" altLang="en-US" sz="4000" dirty="0">
                <a:latin typeface="+mj-ea"/>
                <a:sym typeface="+mn-ea"/>
              </a:rPr>
              <a:t>.</a:t>
            </a:r>
            <a:r>
              <a:rPr lang="en-US" altLang="zh-CN" sz="4000" dirty="0">
                <a:latin typeface="+mj-ea"/>
                <a:sym typeface="+mn-ea"/>
              </a:rPr>
              <a:t>4</a:t>
            </a:r>
            <a:r>
              <a:rPr lang="zh-CN" altLang="en-US" sz="4000" dirty="0">
                <a:latin typeface="+mj-ea"/>
                <a:sym typeface="+mn-ea"/>
              </a:rPr>
              <a:t>.1</a:t>
            </a:r>
            <a:r>
              <a:rPr lang="zh-CN" altLang="en-US" sz="4000" dirty="0">
                <a:latin typeface="+mj-ea"/>
                <a:sym typeface="+mn-ea"/>
              </a:rPr>
              <a:t> 邮件传输协议概述</a:t>
            </a:r>
            <a:endParaRPr lang="zh-CN" altLang="en-US" sz="4000" dirty="0">
              <a:latin typeface="+mj-ea"/>
              <a:sym typeface="+mn-ea"/>
            </a:endParaRPr>
          </a:p>
        </p:txBody>
      </p:sp>
      <p:grpSp>
        <p:nvGrpSpPr>
          <p:cNvPr id="70" name="组合 69"/>
          <p:cNvGrpSpPr/>
          <p:nvPr/>
        </p:nvGrpSpPr>
        <p:grpSpPr>
          <a:xfrm>
            <a:off x="783034" y="1144318"/>
            <a:ext cx="10600437" cy="2872873"/>
            <a:chOff x="783034" y="1144318"/>
            <a:chExt cx="10600437" cy="2872873"/>
          </a:xfrm>
        </p:grpSpPr>
        <p:grpSp>
          <p:nvGrpSpPr>
            <p:cNvPr id="5" name="组合 4"/>
            <p:cNvGrpSpPr/>
            <p:nvPr/>
          </p:nvGrpSpPr>
          <p:grpSpPr>
            <a:xfrm>
              <a:off x="2070714" y="1471603"/>
              <a:ext cx="7801899" cy="2545588"/>
              <a:chOff x="2070714" y="3898800"/>
              <a:chExt cx="7801899" cy="2545588"/>
            </a:xfrm>
          </p:grpSpPr>
          <p:cxnSp>
            <p:nvCxnSpPr>
              <p:cNvPr id="6" name="直接连接符 5"/>
              <p:cNvCxnSpPr/>
              <p:nvPr/>
            </p:nvCxnSpPr>
            <p:spPr>
              <a:xfrm flipH="1" flipV="1">
                <a:off x="6408999" y="5206461"/>
                <a:ext cx="3024352" cy="9082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7101711" y="4122367"/>
                <a:ext cx="2322502" cy="10974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2710999" y="5284659"/>
                <a:ext cx="3104606" cy="857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flipV="1">
                <a:off x="2698502" y="4035418"/>
                <a:ext cx="2995445" cy="12702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形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70714" y="5435966"/>
                <a:ext cx="692512" cy="998031"/>
              </a:xfrm>
              <a:prstGeom prst="rect">
                <a:avLst/>
              </a:prstGeom>
            </p:spPr>
          </p:pic>
          <p:pic>
            <p:nvPicPr>
              <p:cNvPr id="11" name="图形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06711" y="5447188"/>
                <a:ext cx="651233" cy="997200"/>
              </a:xfrm>
              <a:prstGeom prst="rect">
                <a:avLst/>
              </a:prstGeom>
            </p:spPr>
          </p:pic>
          <p:pic>
            <p:nvPicPr>
              <p:cNvPr id="12" name="图形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54841" y="3898800"/>
                <a:ext cx="717772" cy="853200"/>
              </a:xfrm>
              <a:prstGeom prst="rect">
                <a:avLst/>
              </a:prstGeom>
            </p:spPr>
          </p:pic>
          <p:sp>
            <p:nvSpPr>
              <p:cNvPr id="13" name="图形 73"/>
              <p:cNvSpPr/>
              <p:nvPr/>
            </p:nvSpPr>
            <p:spPr>
              <a:xfrm>
                <a:off x="4807011" y="4658885"/>
                <a:ext cx="2708819" cy="1554161"/>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p>
                <a:pPr algn="ctr"/>
                <a:r>
                  <a:rPr lang="zh-CN" altLang="en-US" b="1" dirty="0">
                    <a:latin typeface="+mn-ea"/>
                  </a:rPr>
                  <a:t>因特网</a:t>
                </a:r>
                <a:endParaRPr lang="zh-CN" altLang="en-US" b="1" dirty="0">
                  <a:latin typeface="+mn-ea"/>
                </a:endParaRPr>
              </a:p>
            </p:txBody>
          </p:sp>
          <p:pic>
            <p:nvPicPr>
              <p:cNvPr id="14" name="图形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62024" y="3899618"/>
                <a:ext cx="716190" cy="851320"/>
              </a:xfrm>
              <a:prstGeom prst="rect">
                <a:avLst/>
              </a:prstGeom>
            </p:spPr>
          </p:pic>
        </p:grpSp>
        <p:grpSp>
          <p:nvGrpSpPr>
            <p:cNvPr id="15" name="组合 14"/>
            <p:cNvGrpSpPr/>
            <p:nvPr/>
          </p:nvGrpSpPr>
          <p:grpSpPr>
            <a:xfrm>
              <a:off x="2535668" y="2711577"/>
              <a:ext cx="667659" cy="662801"/>
              <a:chOff x="2779422" y="3959271"/>
              <a:chExt cx="667659" cy="662801"/>
            </a:xfrm>
          </p:grpSpPr>
          <p:sp>
            <p:nvSpPr>
              <p:cNvPr id="16" name="椭圆 15"/>
              <p:cNvSpPr/>
              <p:nvPr/>
            </p:nvSpPr>
            <p:spPr>
              <a:xfrm>
                <a:off x="2779422" y="3960221"/>
                <a:ext cx="661851" cy="66185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latin typeface="+mn-ea"/>
                </a:endParaRPr>
              </a:p>
            </p:txBody>
          </p:sp>
          <p:sp>
            <p:nvSpPr>
              <p:cNvPr id="17" name="文本框 16"/>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p>
                <a:pPr algn="ctr"/>
                <a:r>
                  <a:rPr lang="zh-CN" altLang="en-US" b="1" dirty="0">
                    <a:latin typeface="+mn-ea"/>
                  </a:rPr>
                  <a:t>用户</a:t>
                </a:r>
                <a:endParaRPr lang="en-US" altLang="zh-CN" b="1" dirty="0">
                  <a:latin typeface="+mn-ea"/>
                </a:endParaRPr>
              </a:p>
              <a:p>
                <a:pPr algn="ctr"/>
                <a:r>
                  <a:rPr lang="zh-CN" altLang="en-US" b="1" dirty="0">
                    <a:latin typeface="+mn-ea"/>
                  </a:rPr>
                  <a:t>代理</a:t>
                </a:r>
                <a:endParaRPr lang="zh-CN" altLang="en-US" b="1" dirty="0">
                  <a:latin typeface="+mn-ea"/>
                </a:endParaRPr>
              </a:p>
            </p:txBody>
          </p:sp>
        </p:grpSp>
        <p:grpSp>
          <p:nvGrpSpPr>
            <p:cNvPr id="18" name="组合 17"/>
            <p:cNvGrpSpPr/>
            <p:nvPr/>
          </p:nvGrpSpPr>
          <p:grpSpPr>
            <a:xfrm>
              <a:off x="8801956" y="2711577"/>
              <a:ext cx="667659" cy="662801"/>
              <a:chOff x="2779422" y="3959271"/>
              <a:chExt cx="667659" cy="662801"/>
            </a:xfrm>
          </p:grpSpPr>
          <p:sp>
            <p:nvSpPr>
              <p:cNvPr id="19" name="椭圆 18"/>
              <p:cNvSpPr/>
              <p:nvPr/>
            </p:nvSpPr>
            <p:spPr>
              <a:xfrm>
                <a:off x="2779422" y="3960221"/>
                <a:ext cx="661851" cy="66185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latin typeface="+mn-ea"/>
                </a:endParaRPr>
              </a:p>
            </p:txBody>
          </p:sp>
          <p:sp>
            <p:nvSpPr>
              <p:cNvPr id="20" name="文本框 19"/>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p>
                <a:pPr algn="ctr"/>
                <a:r>
                  <a:rPr lang="zh-CN" altLang="en-US" b="1" dirty="0">
                    <a:latin typeface="+mn-ea"/>
                  </a:rPr>
                  <a:t>用户</a:t>
                </a:r>
                <a:endParaRPr lang="en-US" altLang="zh-CN" b="1" dirty="0">
                  <a:latin typeface="+mn-ea"/>
                </a:endParaRPr>
              </a:p>
              <a:p>
                <a:pPr algn="ctr"/>
                <a:r>
                  <a:rPr lang="zh-CN" altLang="en-US" b="1" dirty="0">
                    <a:latin typeface="+mn-ea"/>
                  </a:rPr>
                  <a:t>代理</a:t>
                </a:r>
                <a:endParaRPr lang="zh-CN" altLang="en-US" b="1" dirty="0">
                  <a:latin typeface="+mn-ea"/>
                </a:endParaRPr>
              </a:p>
            </p:txBody>
          </p:sp>
        </p:grpSp>
        <p:sp>
          <p:nvSpPr>
            <p:cNvPr id="21" name="文本框 20"/>
            <p:cNvSpPr txBox="1"/>
            <p:nvPr/>
          </p:nvSpPr>
          <p:spPr>
            <a:xfrm>
              <a:off x="1152640" y="3034742"/>
              <a:ext cx="1047873" cy="369332"/>
            </a:xfrm>
            <a:prstGeom prst="rect">
              <a:avLst/>
            </a:prstGeom>
            <a:noFill/>
          </p:spPr>
          <p:txBody>
            <a:bodyPr wrap="square">
              <a:spAutoFit/>
            </a:bodyPr>
            <a:p>
              <a:pPr algn="ctr"/>
              <a:r>
                <a:rPr lang="zh-CN" altLang="en-US" b="1" dirty="0">
                  <a:latin typeface="+mn-ea"/>
                </a:rPr>
                <a:t>发送方</a:t>
              </a:r>
              <a:endParaRPr lang="zh-CN" altLang="en-US" b="1" dirty="0">
                <a:latin typeface="+mn-ea"/>
              </a:endParaRPr>
            </a:p>
          </p:txBody>
        </p:sp>
        <p:sp>
          <p:nvSpPr>
            <p:cNvPr id="32" name="文本框 31"/>
            <p:cNvSpPr txBox="1"/>
            <p:nvPr/>
          </p:nvSpPr>
          <p:spPr>
            <a:xfrm>
              <a:off x="9888813" y="3034742"/>
              <a:ext cx="1047873" cy="369332"/>
            </a:xfrm>
            <a:prstGeom prst="rect">
              <a:avLst/>
            </a:prstGeom>
            <a:noFill/>
          </p:spPr>
          <p:txBody>
            <a:bodyPr wrap="square">
              <a:spAutoFit/>
            </a:bodyPr>
            <a:p>
              <a:pPr algn="ctr"/>
              <a:r>
                <a:rPr lang="zh-CN" altLang="en-US" b="1" dirty="0">
                  <a:latin typeface="+mn-ea"/>
                </a:rPr>
                <a:t>接收方</a:t>
              </a:r>
              <a:endParaRPr lang="zh-CN" altLang="en-US" b="1" dirty="0">
                <a:latin typeface="+mn-ea"/>
              </a:endParaRPr>
            </a:p>
          </p:txBody>
        </p:sp>
        <p:sp>
          <p:nvSpPr>
            <p:cNvPr id="45" name="文本框 44"/>
            <p:cNvSpPr txBox="1"/>
            <p:nvPr/>
          </p:nvSpPr>
          <p:spPr>
            <a:xfrm>
              <a:off x="783034" y="1353651"/>
              <a:ext cx="1436914" cy="646331"/>
            </a:xfrm>
            <a:prstGeom prst="rect">
              <a:avLst/>
            </a:prstGeom>
            <a:noFill/>
          </p:spPr>
          <p:txBody>
            <a:bodyPr wrap="square">
              <a:spAutoFit/>
            </a:bodyPr>
            <a:p>
              <a:pPr algn="ctr"/>
              <a:r>
                <a:rPr lang="zh-CN" altLang="en-US" b="1" dirty="0">
                  <a:latin typeface="+mn-ea"/>
                </a:rPr>
                <a:t>发送方</a:t>
              </a:r>
              <a:endParaRPr lang="en-US" altLang="zh-CN" b="1" dirty="0">
                <a:latin typeface="+mn-ea"/>
              </a:endParaRPr>
            </a:p>
            <a:p>
              <a:pPr algn="ctr"/>
              <a:r>
                <a:rPr lang="zh-CN" altLang="en-US" b="1" dirty="0">
                  <a:latin typeface="+mn-ea"/>
                </a:rPr>
                <a:t>邮件服务器</a:t>
              </a:r>
              <a:endParaRPr lang="zh-CN" altLang="en-US" b="1" dirty="0">
                <a:latin typeface="+mn-ea"/>
              </a:endParaRPr>
            </a:p>
          </p:txBody>
        </p:sp>
        <p:sp>
          <p:nvSpPr>
            <p:cNvPr id="46" name="文本框 45"/>
            <p:cNvSpPr txBox="1"/>
            <p:nvPr/>
          </p:nvSpPr>
          <p:spPr>
            <a:xfrm>
              <a:off x="9946557" y="1243848"/>
              <a:ext cx="1436914" cy="646331"/>
            </a:xfrm>
            <a:prstGeom prst="rect">
              <a:avLst/>
            </a:prstGeom>
            <a:noFill/>
          </p:spPr>
          <p:txBody>
            <a:bodyPr wrap="square">
              <a:spAutoFit/>
            </a:bodyPr>
            <a:p>
              <a:pPr algn="ctr"/>
              <a:r>
                <a:rPr lang="zh-CN" altLang="en-US" b="1" dirty="0">
                  <a:latin typeface="+mn-ea"/>
                </a:rPr>
                <a:t>接收方</a:t>
              </a:r>
              <a:endParaRPr lang="en-US" altLang="zh-CN" b="1" dirty="0">
                <a:latin typeface="+mn-ea"/>
              </a:endParaRPr>
            </a:p>
            <a:p>
              <a:pPr algn="ctr"/>
              <a:r>
                <a:rPr lang="zh-CN" altLang="en-US" b="1" dirty="0">
                  <a:latin typeface="+mn-ea"/>
                </a:rPr>
                <a:t>邮件服务器</a:t>
              </a:r>
              <a:endParaRPr lang="zh-CN" altLang="en-US" b="1" dirty="0">
                <a:latin typeface="+mn-ea"/>
              </a:endParaRPr>
            </a:p>
          </p:txBody>
        </p:sp>
        <p:sp>
          <p:nvSpPr>
            <p:cNvPr id="29" name="矩形 28"/>
            <p:cNvSpPr/>
            <p:nvPr/>
          </p:nvSpPr>
          <p:spPr>
            <a:xfrm>
              <a:off x="3074875" y="1146266"/>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mn-ea"/>
              </a:endParaRPr>
            </a:p>
          </p:txBody>
        </p:sp>
        <p:grpSp>
          <p:nvGrpSpPr>
            <p:cNvPr id="47" name="组合 46"/>
            <p:cNvGrpSpPr/>
            <p:nvPr/>
          </p:nvGrpSpPr>
          <p:grpSpPr>
            <a:xfrm>
              <a:off x="3217998" y="1949022"/>
              <a:ext cx="1161289" cy="436352"/>
              <a:chOff x="3217998" y="4376219"/>
              <a:chExt cx="1161289" cy="436352"/>
            </a:xfrm>
          </p:grpSpPr>
          <p:sp>
            <p:nvSpPr>
              <p:cNvPr id="30" name="矩形 29"/>
              <p:cNvSpPr/>
              <p:nvPr/>
            </p:nvSpPr>
            <p:spPr>
              <a:xfrm>
                <a:off x="3217998" y="4474145"/>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pic>
            <p:nvPicPr>
              <p:cNvPr id="31" name="图形 30" descr="信封 纯色填充"/>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71184" y="4446849"/>
                <a:ext cx="361851" cy="361851"/>
              </a:xfrm>
              <a:prstGeom prst="rect">
                <a:avLst/>
              </a:prstGeom>
            </p:spPr>
          </p:pic>
          <p:pic>
            <p:nvPicPr>
              <p:cNvPr id="33" name="图形 32" descr="信封 纯色填充"/>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77546" y="4445053"/>
                <a:ext cx="367518" cy="367518"/>
              </a:xfrm>
              <a:prstGeom prst="rect">
                <a:avLst/>
              </a:prstGeom>
            </p:spPr>
          </p:pic>
          <p:sp>
            <p:nvSpPr>
              <p:cNvPr id="34" name="文本框 33"/>
              <p:cNvSpPr txBox="1"/>
              <p:nvPr/>
            </p:nvSpPr>
            <p:spPr>
              <a:xfrm>
                <a:off x="3553532" y="4376219"/>
                <a:ext cx="491490" cy="369332"/>
              </a:xfrm>
              <a:prstGeom prst="rect">
                <a:avLst/>
              </a:prstGeom>
              <a:noFill/>
            </p:spPr>
            <p:txBody>
              <a:bodyPr wrap="square">
                <a:spAutoFit/>
              </a:bodyPr>
              <a:p>
                <a:pPr algn="ctr"/>
                <a:r>
                  <a:rPr lang="en-US" altLang="zh-CN" b="1" dirty="0">
                    <a:latin typeface="+mn-ea"/>
                  </a:rPr>
                  <a:t>…</a:t>
                </a:r>
                <a:endParaRPr lang="zh-CN" altLang="en-US" b="1" dirty="0">
                  <a:latin typeface="+mn-ea"/>
                </a:endParaRPr>
              </a:p>
            </p:txBody>
          </p:sp>
        </p:grpSp>
        <p:pic>
          <p:nvPicPr>
            <p:cNvPr id="35" name="图片 34" descr="形状&#10;&#10;中度可信度描述已自动生成"/>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498825" y="1184357"/>
              <a:ext cx="716190" cy="580753"/>
            </a:xfrm>
            <a:prstGeom prst="rect">
              <a:avLst/>
            </a:prstGeom>
          </p:spPr>
        </p:pic>
        <p:sp>
          <p:nvSpPr>
            <p:cNvPr id="37" name="矩形 36"/>
            <p:cNvSpPr/>
            <p:nvPr/>
          </p:nvSpPr>
          <p:spPr>
            <a:xfrm>
              <a:off x="7816549" y="1144318"/>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grpSp>
          <p:nvGrpSpPr>
            <p:cNvPr id="48" name="组合 47"/>
            <p:cNvGrpSpPr/>
            <p:nvPr/>
          </p:nvGrpSpPr>
          <p:grpSpPr>
            <a:xfrm>
              <a:off x="7959672" y="1947074"/>
              <a:ext cx="1161289" cy="436352"/>
              <a:chOff x="7959672" y="4374271"/>
              <a:chExt cx="1161289" cy="436352"/>
            </a:xfrm>
          </p:grpSpPr>
          <p:sp>
            <p:nvSpPr>
              <p:cNvPr id="38" name="矩形 37"/>
              <p:cNvSpPr/>
              <p:nvPr/>
            </p:nvSpPr>
            <p:spPr>
              <a:xfrm>
                <a:off x="7959672" y="4472197"/>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pic>
            <p:nvPicPr>
              <p:cNvPr id="39" name="图形 38" descr="信封 纯色填充"/>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12858" y="4444901"/>
                <a:ext cx="361851" cy="361851"/>
              </a:xfrm>
              <a:prstGeom prst="rect">
                <a:avLst/>
              </a:prstGeom>
            </p:spPr>
          </p:pic>
          <p:pic>
            <p:nvPicPr>
              <p:cNvPr id="40" name="图形 39" descr="信封 纯色填充"/>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19220" y="4443105"/>
                <a:ext cx="367518" cy="367518"/>
              </a:xfrm>
              <a:prstGeom prst="rect">
                <a:avLst/>
              </a:prstGeom>
            </p:spPr>
          </p:pic>
          <p:sp>
            <p:nvSpPr>
              <p:cNvPr id="41" name="文本框 40"/>
              <p:cNvSpPr txBox="1"/>
              <p:nvPr/>
            </p:nvSpPr>
            <p:spPr>
              <a:xfrm>
                <a:off x="8295206" y="4374271"/>
                <a:ext cx="491490" cy="369332"/>
              </a:xfrm>
              <a:prstGeom prst="rect">
                <a:avLst/>
              </a:prstGeom>
              <a:noFill/>
            </p:spPr>
            <p:txBody>
              <a:bodyPr wrap="square">
                <a:spAutoFit/>
              </a:bodyPr>
              <a:p>
                <a:pPr algn="ctr"/>
                <a:r>
                  <a:rPr lang="en-US" altLang="zh-CN" b="1" dirty="0">
                    <a:latin typeface="+mn-ea"/>
                  </a:rPr>
                  <a:t>…</a:t>
                </a:r>
                <a:endParaRPr lang="zh-CN" altLang="en-US" b="1" dirty="0">
                  <a:latin typeface="+mn-ea"/>
                </a:endParaRPr>
              </a:p>
            </p:txBody>
          </p:sp>
        </p:grpSp>
        <p:pic>
          <p:nvPicPr>
            <p:cNvPr id="42" name="图片 41" descr="形状&#10;&#10;中度可信度描述已自动生成"/>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240499" y="1182409"/>
              <a:ext cx="716190" cy="580753"/>
            </a:xfrm>
            <a:prstGeom prst="rect">
              <a:avLst/>
            </a:prstGeom>
          </p:spPr>
        </p:pic>
        <p:grpSp>
          <p:nvGrpSpPr>
            <p:cNvPr id="49" name="组合 48"/>
            <p:cNvGrpSpPr/>
            <p:nvPr/>
          </p:nvGrpSpPr>
          <p:grpSpPr>
            <a:xfrm>
              <a:off x="986150" y="2200579"/>
              <a:ext cx="2285034" cy="834165"/>
              <a:chOff x="986150" y="4627776"/>
              <a:chExt cx="2285034" cy="834165"/>
            </a:xfrm>
          </p:grpSpPr>
          <p:cxnSp>
            <p:nvCxnSpPr>
              <p:cNvPr id="50" name="连接符: 曲线 49"/>
              <p:cNvCxnSpPr/>
              <p:nvPr/>
            </p:nvCxnSpPr>
            <p:spPr>
              <a:xfrm rot="10800000" flipH="1">
                <a:off x="2541476" y="4627776"/>
                <a:ext cx="729708" cy="834165"/>
              </a:xfrm>
              <a:prstGeom prst="curvedConnector3">
                <a:avLst>
                  <a:gd name="adj1" fmla="val -31328"/>
                </a:avLst>
              </a:prstGeom>
              <a:ln w="762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986150" y="4670528"/>
                <a:ext cx="1436914" cy="646331"/>
              </a:xfrm>
              <a:prstGeom prst="rect">
                <a:avLst/>
              </a:prstGeom>
              <a:noFill/>
            </p:spPr>
            <p:txBody>
              <a:bodyPr wrap="square">
                <a:spAutoFit/>
              </a:bodyPr>
              <a:p>
                <a:pPr algn="ctr"/>
                <a:r>
                  <a:rPr lang="zh-CN" altLang="en-US" b="1" dirty="0">
                    <a:solidFill>
                      <a:schemeClr val="accent3"/>
                    </a:solidFill>
                    <a:latin typeface="+mn-ea"/>
                  </a:rPr>
                  <a:t>使用</a:t>
                </a:r>
                <a:r>
                  <a:rPr lang="en-US" altLang="zh-CN" b="1" dirty="0">
                    <a:solidFill>
                      <a:schemeClr val="accent3"/>
                    </a:solidFill>
                    <a:latin typeface="+mn-ea"/>
                  </a:rPr>
                  <a:t>SMTP</a:t>
                </a:r>
                <a:endParaRPr lang="en-US" altLang="zh-CN" b="1" dirty="0">
                  <a:solidFill>
                    <a:schemeClr val="accent3"/>
                  </a:solidFill>
                  <a:latin typeface="+mn-ea"/>
                </a:endParaRPr>
              </a:p>
              <a:p>
                <a:pPr algn="ctr"/>
                <a:r>
                  <a:rPr lang="zh-CN" altLang="en-US" b="1" dirty="0">
                    <a:solidFill>
                      <a:schemeClr val="accent3"/>
                    </a:solidFill>
                    <a:latin typeface="+mn-ea"/>
                  </a:rPr>
                  <a:t>发送邮件</a:t>
                </a:r>
                <a:endParaRPr lang="zh-CN" altLang="en-US" b="1" dirty="0">
                  <a:solidFill>
                    <a:schemeClr val="accent3"/>
                  </a:solidFill>
                  <a:latin typeface="+mn-ea"/>
                </a:endParaRPr>
              </a:p>
            </p:txBody>
          </p:sp>
        </p:grpSp>
        <p:grpSp>
          <p:nvGrpSpPr>
            <p:cNvPr id="52" name="组合 51"/>
            <p:cNvGrpSpPr/>
            <p:nvPr/>
          </p:nvGrpSpPr>
          <p:grpSpPr>
            <a:xfrm>
              <a:off x="4202017" y="1158855"/>
              <a:ext cx="4149058" cy="1084613"/>
              <a:chOff x="4202017" y="3586052"/>
              <a:chExt cx="4149058" cy="1084613"/>
            </a:xfrm>
          </p:grpSpPr>
          <p:sp>
            <p:nvSpPr>
              <p:cNvPr id="53" name="任意多边形: 形状 52"/>
              <p:cNvSpPr/>
              <p:nvPr/>
            </p:nvSpPr>
            <p:spPr>
              <a:xfrm>
                <a:off x="4202017" y="3966065"/>
                <a:ext cx="4149058" cy="704600"/>
              </a:xfrm>
              <a:custGeom>
                <a:avLst/>
                <a:gdLst>
                  <a:gd name="connsiteX0" fmla="*/ 0 w 3004457"/>
                  <a:gd name="connsiteY0" fmla="*/ 925286 h 925286"/>
                  <a:gd name="connsiteX1" fmla="*/ 566057 w 3004457"/>
                  <a:gd name="connsiteY1" fmla="*/ 544286 h 925286"/>
                  <a:gd name="connsiteX2" fmla="*/ 1306286 w 3004457"/>
                  <a:gd name="connsiteY2" fmla="*/ 239486 h 925286"/>
                  <a:gd name="connsiteX3" fmla="*/ 1948543 w 3004457"/>
                  <a:gd name="connsiteY3" fmla="*/ 108857 h 925286"/>
                  <a:gd name="connsiteX4" fmla="*/ 3004457 w 3004457"/>
                  <a:gd name="connsiteY4" fmla="*/ 0 h 925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4457" h="925286">
                    <a:moveTo>
                      <a:pt x="0" y="925286"/>
                    </a:moveTo>
                    <a:cubicBezTo>
                      <a:pt x="174171" y="791936"/>
                      <a:pt x="348343" y="658586"/>
                      <a:pt x="566057" y="544286"/>
                    </a:cubicBezTo>
                    <a:cubicBezTo>
                      <a:pt x="783771" y="429986"/>
                      <a:pt x="1075872" y="312057"/>
                      <a:pt x="1306286" y="239486"/>
                    </a:cubicBezTo>
                    <a:cubicBezTo>
                      <a:pt x="1536700" y="166915"/>
                      <a:pt x="1665515" y="148771"/>
                      <a:pt x="1948543" y="108857"/>
                    </a:cubicBezTo>
                    <a:cubicBezTo>
                      <a:pt x="2231571" y="68943"/>
                      <a:pt x="2618014" y="34471"/>
                      <a:pt x="3004457" y="0"/>
                    </a:cubicBezTo>
                  </a:path>
                </a:pathLst>
              </a:custGeom>
              <a:noFill/>
              <a:ln w="76200">
                <a:solidFill>
                  <a:schemeClr val="accent3"/>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54" name="文本框 53"/>
              <p:cNvSpPr txBox="1"/>
              <p:nvPr/>
            </p:nvSpPr>
            <p:spPr>
              <a:xfrm>
                <a:off x="4520102" y="3586052"/>
                <a:ext cx="1436914" cy="646331"/>
              </a:xfrm>
              <a:prstGeom prst="rect">
                <a:avLst/>
              </a:prstGeom>
              <a:noFill/>
            </p:spPr>
            <p:txBody>
              <a:bodyPr wrap="square">
                <a:spAutoFit/>
              </a:bodyPr>
              <a:p>
                <a:pPr algn="ctr"/>
                <a:r>
                  <a:rPr lang="zh-CN" altLang="en-US" b="1" dirty="0">
                    <a:solidFill>
                      <a:schemeClr val="accent3"/>
                    </a:solidFill>
                    <a:latin typeface="+mn-ea"/>
                  </a:rPr>
                  <a:t>使用</a:t>
                </a:r>
                <a:r>
                  <a:rPr lang="en-US" altLang="zh-CN" b="1" dirty="0">
                    <a:solidFill>
                      <a:schemeClr val="accent3"/>
                    </a:solidFill>
                    <a:latin typeface="+mn-ea"/>
                  </a:rPr>
                  <a:t>SMTP</a:t>
                </a:r>
                <a:endParaRPr lang="en-US" altLang="zh-CN" b="1" dirty="0">
                  <a:solidFill>
                    <a:schemeClr val="accent3"/>
                  </a:solidFill>
                  <a:latin typeface="+mn-ea"/>
                </a:endParaRPr>
              </a:p>
              <a:p>
                <a:pPr algn="ctr"/>
                <a:r>
                  <a:rPr lang="zh-CN" altLang="en-US" b="1" dirty="0">
                    <a:solidFill>
                      <a:schemeClr val="accent3"/>
                    </a:solidFill>
                    <a:latin typeface="+mn-ea"/>
                  </a:rPr>
                  <a:t>发送邮件</a:t>
                </a:r>
                <a:endParaRPr lang="zh-CN" altLang="en-US" b="1" dirty="0">
                  <a:solidFill>
                    <a:schemeClr val="accent3"/>
                  </a:solidFill>
                  <a:latin typeface="+mn-ea"/>
                </a:endParaRPr>
              </a:p>
            </p:txBody>
          </p:sp>
        </p:grpSp>
        <p:grpSp>
          <p:nvGrpSpPr>
            <p:cNvPr id="55" name="组合 54"/>
            <p:cNvGrpSpPr/>
            <p:nvPr/>
          </p:nvGrpSpPr>
          <p:grpSpPr>
            <a:xfrm>
              <a:off x="8780013" y="1566898"/>
              <a:ext cx="2529514" cy="1467845"/>
              <a:chOff x="8780013" y="3994095"/>
              <a:chExt cx="2529514" cy="1467845"/>
            </a:xfrm>
          </p:grpSpPr>
          <p:cxnSp>
            <p:nvCxnSpPr>
              <p:cNvPr id="56" name="连接符: 曲线 55"/>
              <p:cNvCxnSpPr/>
              <p:nvPr/>
            </p:nvCxnSpPr>
            <p:spPr>
              <a:xfrm flipH="1" flipV="1">
                <a:off x="8780013" y="3994095"/>
                <a:ext cx="689602" cy="1467845"/>
              </a:xfrm>
              <a:prstGeom prst="curvedConnector3">
                <a:avLst>
                  <a:gd name="adj1" fmla="val -33150"/>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9872613" y="4670528"/>
                <a:ext cx="1436914" cy="646331"/>
              </a:xfrm>
              <a:prstGeom prst="rect">
                <a:avLst/>
              </a:prstGeom>
              <a:noFill/>
            </p:spPr>
            <p:txBody>
              <a:bodyPr wrap="square">
                <a:spAutoFit/>
              </a:bodyPr>
              <a:p>
                <a:pPr algn="ctr"/>
                <a:r>
                  <a:rPr lang="zh-CN" altLang="en-US" b="1" dirty="0">
                    <a:solidFill>
                      <a:schemeClr val="accent4"/>
                    </a:solidFill>
                    <a:latin typeface="+mn-ea"/>
                  </a:rPr>
                  <a:t>使用</a:t>
                </a:r>
                <a:r>
                  <a:rPr lang="en-US" altLang="zh-CN" b="1" dirty="0">
                    <a:solidFill>
                      <a:schemeClr val="accent4"/>
                    </a:solidFill>
                    <a:latin typeface="+mn-ea"/>
                  </a:rPr>
                  <a:t>POP3</a:t>
                </a:r>
                <a:endParaRPr lang="en-US" altLang="zh-CN" b="1" dirty="0">
                  <a:solidFill>
                    <a:schemeClr val="accent4"/>
                  </a:solidFill>
                  <a:latin typeface="+mn-ea"/>
                </a:endParaRPr>
              </a:p>
              <a:p>
                <a:pPr algn="ctr"/>
                <a:r>
                  <a:rPr lang="zh-CN" altLang="en-US" b="1" dirty="0">
                    <a:solidFill>
                      <a:schemeClr val="accent4"/>
                    </a:solidFill>
                    <a:latin typeface="+mn-ea"/>
                  </a:rPr>
                  <a:t>读取邮件</a:t>
                </a:r>
                <a:endParaRPr lang="zh-CN" altLang="en-US" b="1" dirty="0">
                  <a:solidFill>
                    <a:schemeClr val="accent4"/>
                  </a:solidFill>
                  <a:latin typeface="+mn-ea"/>
                </a:endParaRPr>
              </a:p>
            </p:txBody>
          </p:sp>
        </p:grpSp>
      </p:grpSp>
      <p:grpSp>
        <p:nvGrpSpPr>
          <p:cNvPr id="71" name="组合 70"/>
          <p:cNvGrpSpPr/>
          <p:nvPr/>
        </p:nvGrpSpPr>
        <p:grpSpPr>
          <a:xfrm>
            <a:off x="352859" y="3668332"/>
            <a:ext cx="11217189" cy="2565696"/>
            <a:chOff x="352859" y="3668332"/>
            <a:chExt cx="11217189" cy="2565696"/>
          </a:xfrm>
        </p:grpSpPr>
        <p:sp>
          <p:nvSpPr>
            <p:cNvPr id="72" name="矩形 71"/>
            <p:cNvSpPr/>
            <p:nvPr/>
          </p:nvSpPr>
          <p:spPr>
            <a:xfrm>
              <a:off x="492197" y="4246297"/>
              <a:ext cx="1158240" cy="19877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sz="1600">
                <a:latin typeface="+mn-ea"/>
              </a:endParaRPr>
            </a:p>
          </p:txBody>
        </p:sp>
        <p:sp>
          <p:nvSpPr>
            <p:cNvPr id="73" name="文本框 72"/>
            <p:cNvSpPr txBox="1"/>
            <p:nvPr/>
          </p:nvSpPr>
          <p:spPr>
            <a:xfrm>
              <a:off x="352859" y="3668332"/>
              <a:ext cx="1436914" cy="584775"/>
            </a:xfrm>
            <a:prstGeom prst="rect">
              <a:avLst/>
            </a:prstGeom>
            <a:noFill/>
          </p:spPr>
          <p:txBody>
            <a:bodyPr wrap="square">
              <a:spAutoFit/>
            </a:bodyPr>
            <a:p>
              <a:pPr algn="ctr"/>
              <a:r>
                <a:rPr lang="zh-CN" altLang="en-US" sz="1600" b="1" dirty="0">
                  <a:latin typeface="+mn-ea"/>
                </a:rPr>
                <a:t>发送方</a:t>
              </a:r>
              <a:endParaRPr lang="en-US" altLang="zh-CN" sz="1600" b="1" dirty="0">
                <a:latin typeface="+mn-ea"/>
              </a:endParaRPr>
            </a:p>
            <a:p>
              <a:pPr algn="ctr"/>
              <a:r>
                <a:rPr lang="zh-CN" altLang="en-US" sz="1600" b="1" dirty="0">
                  <a:latin typeface="+mn-ea"/>
                </a:rPr>
                <a:t>用户代理</a:t>
              </a:r>
              <a:endParaRPr lang="zh-CN" altLang="en-US" sz="1600" b="1" dirty="0">
                <a:latin typeface="+mn-ea"/>
              </a:endParaRPr>
            </a:p>
          </p:txBody>
        </p:sp>
        <p:sp>
          <p:nvSpPr>
            <p:cNvPr id="74" name="矩形 73"/>
            <p:cNvSpPr/>
            <p:nvPr/>
          </p:nvSpPr>
          <p:spPr>
            <a:xfrm>
              <a:off x="3361671" y="4244903"/>
              <a:ext cx="1158240" cy="19877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mn-ea"/>
              </a:endParaRPr>
            </a:p>
          </p:txBody>
        </p:sp>
        <p:sp>
          <p:nvSpPr>
            <p:cNvPr id="75" name="文本框 74"/>
            <p:cNvSpPr txBox="1"/>
            <p:nvPr/>
          </p:nvSpPr>
          <p:spPr>
            <a:xfrm>
              <a:off x="3222333" y="3668332"/>
              <a:ext cx="1436914" cy="584775"/>
            </a:xfrm>
            <a:prstGeom prst="rect">
              <a:avLst/>
            </a:prstGeom>
            <a:noFill/>
          </p:spPr>
          <p:txBody>
            <a:bodyPr wrap="square">
              <a:spAutoFit/>
            </a:bodyPr>
            <a:p>
              <a:pPr algn="ctr"/>
              <a:r>
                <a:rPr lang="zh-CN" altLang="en-US" sz="1600" b="1" dirty="0">
                  <a:latin typeface="+mn-ea"/>
                </a:rPr>
                <a:t>发送方</a:t>
              </a:r>
              <a:endParaRPr lang="en-US" altLang="zh-CN" sz="1600" b="1" dirty="0">
                <a:latin typeface="+mn-ea"/>
              </a:endParaRPr>
            </a:p>
            <a:p>
              <a:pPr algn="ctr"/>
              <a:r>
                <a:rPr lang="zh-CN" altLang="en-US" sz="1600" b="1" dirty="0">
                  <a:latin typeface="+mn-ea"/>
                </a:rPr>
                <a:t>邮件服务器</a:t>
              </a:r>
              <a:endParaRPr lang="zh-CN" altLang="en-US" sz="1600" b="1" dirty="0">
                <a:latin typeface="+mn-ea"/>
              </a:endParaRPr>
            </a:p>
          </p:txBody>
        </p:sp>
        <p:sp>
          <p:nvSpPr>
            <p:cNvPr id="76" name="矩形 75"/>
            <p:cNvSpPr/>
            <p:nvPr/>
          </p:nvSpPr>
          <p:spPr>
            <a:xfrm>
              <a:off x="7263660" y="4244903"/>
              <a:ext cx="1158240" cy="19877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mn-ea"/>
              </a:endParaRPr>
            </a:p>
          </p:txBody>
        </p:sp>
        <p:sp>
          <p:nvSpPr>
            <p:cNvPr id="77" name="文本框 76"/>
            <p:cNvSpPr txBox="1"/>
            <p:nvPr/>
          </p:nvSpPr>
          <p:spPr>
            <a:xfrm>
              <a:off x="7124322" y="3671876"/>
              <a:ext cx="1436914" cy="584775"/>
            </a:xfrm>
            <a:prstGeom prst="rect">
              <a:avLst/>
            </a:prstGeom>
            <a:noFill/>
          </p:spPr>
          <p:txBody>
            <a:bodyPr wrap="square">
              <a:spAutoFit/>
            </a:bodyPr>
            <a:p>
              <a:pPr algn="ctr"/>
              <a:r>
                <a:rPr lang="zh-CN" altLang="en-US" sz="1600" b="1" dirty="0">
                  <a:latin typeface="+mn-ea"/>
                </a:rPr>
                <a:t>接收方</a:t>
              </a:r>
              <a:endParaRPr lang="en-US" altLang="zh-CN" sz="1600" b="1" dirty="0">
                <a:latin typeface="+mn-ea"/>
              </a:endParaRPr>
            </a:p>
            <a:p>
              <a:pPr algn="ctr"/>
              <a:r>
                <a:rPr lang="zh-CN" altLang="en-US" sz="1600" b="1" dirty="0">
                  <a:latin typeface="+mn-ea"/>
                </a:rPr>
                <a:t>邮件服务器</a:t>
              </a:r>
              <a:endParaRPr lang="zh-CN" altLang="en-US" sz="1600" b="1" dirty="0">
                <a:latin typeface="+mn-ea"/>
              </a:endParaRPr>
            </a:p>
          </p:txBody>
        </p:sp>
        <p:sp>
          <p:nvSpPr>
            <p:cNvPr id="78" name="矩形 77"/>
            <p:cNvSpPr/>
            <p:nvPr/>
          </p:nvSpPr>
          <p:spPr>
            <a:xfrm>
              <a:off x="10272472" y="4244902"/>
              <a:ext cx="1158240" cy="198773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sz="1600">
                <a:latin typeface="+mn-ea"/>
              </a:endParaRPr>
            </a:p>
          </p:txBody>
        </p:sp>
        <p:sp>
          <p:nvSpPr>
            <p:cNvPr id="79" name="文本框 78"/>
            <p:cNvSpPr txBox="1"/>
            <p:nvPr/>
          </p:nvSpPr>
          <p:spPr>
            <a:xfrm>
              <a:off x="10133134" y="3668332"/>
              <a:ext cx="1436914" cy="584775"/>
            </a:xfrm>
            <a:prstGeom prst="rect">
              <a:avLst/>
            </a:prstGeom>
            <a:noFill/>
          </p:spPr>
          <p:txBody>
            <a:bodyPr wrap="square">
              <a:spAutoFit/>
            </a:bodyPr>
            <a:p>
              <a:pPr algn="ctr"/>
              <a:r>
                <a:rPr lang="zh-CN" altLang="en-US" sz="1600" b="1" dirty="0">
                  <a:latin typeface="+mn-ea"/>
                </a:rPr>
                <a:t>接收方</a:t>
              </a:r>
              <a:endParaRPr lang="en-US" altLang="zh-CN" sz="1600" b="1" dirty="0">
                <a:latin typeface="+mn-ea"/>
              </a:endParaRPr>
            </a:p>
            <a:p>
              <a:pPr algn="ctr"/>
              <a:r>
                <a:rPr lang="zh-CN" altLang="en-US" sz="1600" b="1" dirty="0">
                  <a:latin typeface="+mn-ea"/>
                </a:rPr>
                <a:t>用户代理</a:t>
              </a:r>
              <a:endParaRPr lang="zh-CN" altLang="en-US" sz="1600" b="1" dirty="0">
                <a:latin typeface="+mn-ea"/>
              </a:endParaRPr>
            </a:p>
          </p:txBody>
        </p:sp>
      </p:grpSp>
      <p:grpSp>
        <p:nvGrpSpPr>
          <p:cNvPr id="80" name="组合 79"/>
          <p:cNvGrpSpPr/>
          <p:nvPr/>
        </p:nvGrpSpPr>
        <p:grpSpPr>
          <a:xfrm>
            <a:off x="539054" y="4328073"/>
            <a:ext cx="944880" cy="862448"/>
            <a:chOff x="4460470" y="2412275"/>
            <a:chExt cx="944880" cy="862448"/>
          </a:xfrm>
        </p:grpSpPr>
        <p:sp>
          <p:nvSpPr>
            <p:cNvPr id="81" name="椭圆 80"/>
            <p:cNvSpPr/>
            <p:nvPr/>
          </p:nvSpPr>
          <p:spPr>
            <a:xfrm>
              <a:off x="4502331" y="2412275"/>
              <a:ext cx="864000" cy="862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mn-ea"/>
              </a:endParaRPr>
            </a:p>
          </p:txBody>
        </p:sp>
        <p:sp>
          <p:nvSpPr>
            <p:cNvPr id="82" name="文本框 81"/>
            <p:cNvSpPr txBox="1"/>
            <p:nvPr/>
          </p:nvSpPr>
          <p:spPr>
            <a:xfrm>
              <a:off x="4460470" y="2579509"/>
              <a:ext cx="944880" cy="584775"/>
            </a:xfrm>
            <a:prstGeom prst="rect">
              <a:avLst/>
            </a:prstGeom>
            <a:noFill/>
          </p:spPr>
          <p:txBody>
            <a:bodyPr wrap="square">
              <a:spAutoFit/>
            </a:bodyPr>
            <a:p>
              <a:pPr algn="ctr"/>
              <a:r>
                <a:rPr lang="en-US" altLang="zh-CN" sz="1600" b="1" dirty="0">
                  <a:latin typeface="+mn-ea"/>
                </a:rPr>
                <a:t>SMTP</a:t>
              </a:r>
              <a:endParaRPr lang="en-US" altLang="zh-CN" sz="1600" b="1" dirty="0">
                <a:latin typeface="+mn-ea"/>
              </a:endParaRPr>
            </a:p>
            <a:p>
              <a:pPr algn="ctr"/>
              <a:r>
                <a:rPr lang="zh-CN" altLang="en-US" sz="1600" b="1" dirty="0">
                  <a:latin typeface="+mn-ea"/>
                </a:rPr>
                <a:t>客户</a:t>
              </a:r>
              <a:endParaRPr lang="zh-CN" altLang="en-US" sz="1600" b="1" dirty="0">
                <a:latin typeface="+mn-ea"/>
              </a:endParaRPr>
            </a:p>
          </p:txBody>
        </p:sp>
      </p:grpSp>
      <p:sp>
        <p:nvSpPr>
          <p:cNvPr id="83" name="文本框 82"/>
          <p:cNvSpPr txBox="1"/>
          <p:nvPr/>
        </p:nvSpPr>
        <p:spPr>
          <a:xfrm>
            <a:off x="1749172" y="4177814"/>
            <a:ext cx="1436914" cy="584775"/>
          </a:xfrm>
          <a:prstGeom prst="rect">
            <a:avLst/>
          </a:prstGeom>
          <a:noFill/>
        </p:spPr>
        <p:txBody>
          <a:bodyPr wrap="square">
            <a:spAutoFit/>
          </a:bodyPr>
          <a:p>
            <a:pPr algn="ctr"/>
            <a:r>
              <a:rPr lang="zh-CN" altLang="en-US" sz="1600" b="1" dirty="0">
                <a:solidFill>
                  <a:schemeClr val="accent3"/>
                </a:solidFill>
                <a:latin typeface="+mn-ea"/>
              </a:rPr>
              <a:t>使用</a:t>
            </a:r>
            <a:r>
              <a:rPr lang="en-US" altLang="zh-CN" sz="1600" b="1" dirty="0">
                <a:solidFill>
                  <a:schemeClr val="accent3"/>
                </a:solidFill>
                <a:latin typeface="+mn-ea"/>
              </a:rPr>
              <a:t>SMTP</a:t>
            </a:r>
            <a:endParaRPr lang="en-US" altLang="zh-CN" sz="1600" b="1" dirty="0">
              <a:solidFill>
                <a:schemeClr val="accent3"/>
              </a:solidFill>
              <a:latin typeface="+mn-ea"/>
            </a:endParaRPr>
          </a:p>
          <a:p>
            <a:pPr algn="ctr"/>
            <a:r>
              <a:rPr lang="zh-CN" altLang="en-US" sz="1600" b="1" dirty="0">
                <a:solidFill>
                  <a:schemeClr val="accent3"/>
                </a:solidFill>
                <a:latin typeface="+mn-ea"/>
              </a:rPr>
              <a:t>发送邮件</a:t>
            </a:r>
            <a:endParaRPr lang="zh-CN" altLang="en-US" sz="1600" b="1" dirty="0">
              <a:solidFill>
                <a:schemeClr val="accent3"/>
              </a:solidFill>
              <a:latin typeface="+mn-ea"/>
            </a:endParaRPr>
          </a:p>
        </p:txBody>
      </p:sp>
      <p:grpSp>
        <p:nvGrpSpPr>
          <p:cNvPr id="84" name="组合 83"/>
          <p:cNvGrpSpPr/>
          <p:nvPr/>
        </p:nvGrpSpPr>
        <p:grpSpPr>
          <a:xfrm>
            <a:off x="3425620" y="4327702"/>
            <a:ext cx="944880" cy="864000"/>
            <a:chOff x="4477562" y="2412274"/>
            <a:chExt cx="944880" cy="864000"/>
          </a:xfrm>
        </p:grpSpPr>
        <p:sp>
          <p:nvSpPr>
            <p:cNvPr id="85" name="椭圆 84"/>
            <p:cNvSpPr/>
            <p:nvPr/>
          </p:nvSpPr>
          <p:spPr>
            <a:xfrm>
              <a:off x="4502331" y="2412274"/>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mn-ea"/>
              </a:endParaRPr>
            </a:p>
          </p:txBody>
        </p:sp>
        <p:sp>
          <p:nvSpPr>
            <p:cNvPr id="86" name="文本框 85"/>
            <p:cNvSpPr txBox="1"/>
            <p:nvPr/>
          </p:nvSpPr>
          <p:spPr>
            <a:xfrm>
              <a:off x="4477562" y="2579509"/>
              <a:ext cx="944880" cy="584775"/>
            </a:xfrm>
            <a:prstGeom prst="rect">
              <a:avLst/>
            </a:prstGeom>
            <a:noFill/>
          </p:spPr>
          <p:txBody>
            <a:bodyPr wrap="square">
              <a:spAutoFit/>
            </a:bodyPr>
            <a:p>
              <a:pPr algn="ctr"/>
              <a:r>
                <a:rPr lang="en-US" altLang="zh-CN" sz="1600" b="1" dirty="0">
                  <a:latin typeface="+mn-ea"/>
                </a:rPr>
                <a:t>SMTP</a:t>
              </a:r>
              <a:endParaRPr lang="en-US" altLang="zh-CN" sz="1600" b="1" dirty="0">
                <a:latin typeface="+mn-ea"/>
              </a:endParaRPr>
            </a:p>
            <a:p>
              <a:pPr algn="ctr"/>
              <a:r>
                <a:rPr lang="zh-CN" altLang="en-US" sz="1600" b="1" dirty="0">
                  <a:latin typeface="+mn-ea"/>
                </a:rPr>
                <a:t>服务器</a:t>
              </a:r>
              <a:endParaRPr lang="zh-CN" altLang="en-US" sz="1600" b="1" dirty="0">
                <a:latin typeface="+mn-ea"/>
              </a:endParaRPr>
            </a:p>
          </p:txBody>
        </p:sp>
      </p:grpSp>
      <p:grpSp>
        <p:nvGrpSpPr>
          <p:cNvPr id="87" name="组合 86"/>
          <p:cNvGrpSpPr/>
          <p:nvPr/>
        </p:nvGrpSpPr>
        <p:grpSpPr>
          <a:xfrm>
            <a:off x="3417073" y="5288902"/>
            <a:ext cx="944880" cy="864000"/>
            <a:chOff x="4469016" y="2412274"/>
            <a:chExt cx="944880" cy="864000"/>
          </a:xfrm>
        </p:grpSpPr>
        <p:sp>
          <p:nvSpPr>
            <p:cNvPr id="88" name="椭圆 87"/>
            <p:cNvSpPr/>
            <p:nvPr/>
          </p:nvSpPr>
          <p:spPr>
            <a:xfrm>
              <a:off x="4502331" y="2412274"/>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mn-ea"/>
              </a:endParaRPr>
            </a:p>
          </p:txBody>
        </p:sp>
        <p:sp>
          <p:nvSpPr>
            <p:cNvPr id="89" name="文本框 88"/>
            <p:cNvSpPr txBox="1"/>
            <p:nvPr/>
          </p:nvSpPr>
          <p:spPr>
            <a:xfrm>
              <a:off x="4469016" y="2579509"/>
              <a:ext cx="944880" cy="584775"/>
            </a:xfrm>
            <a:prstGeom prst="rect">
              <a:avLst/>
            </a:prstGeom>
            <a:noFill/>
          </p:spPr>
          <p:txBody>
            <a:bodyPr wrap="square">
              <a:spAutoFit/>
            </a:bodyPr>
            <a:p>
              <a:pPr algn="ctr"/>
              <a:r>
                <a:rPr lang="en-US" altLang="zh-CN" sz="1600" b="1" dirty="0">
                  <a:latin typeface="+mn-ea"/>
                </a:rPr>
                <a:t>SMTP</a:t>
              </a:r>
              <a:endParaRPr lang="en-US" altLang="zh-CN" sz="1600" b="1" dirty="0">
                <a:latin typeface="+mn-ea"/>
              </a:endParaRPr>
            </a:p>
            <a:p>
              <a:pPr algn="ctr"/>
              <a:r>
                <a:rPr lang="zh-CN" altLang="en-US" sz="1600" b="1" dirty="0">
                  <a:latin typeface="+mn-ea"/>
                </a:rPr>
                <a:t>客户</a:t>
              </a:r>
              <a:endParaRPr lang="zh-CN" altLang="en-US" sz="1600" b="1" dirty="0">
                <a:latin typeface="+mn-ea"/>
              </a:endParaRPr>
            </a:p>
          </p:txBody>
        </p:sp>
      </p:grpSp>
      <p:grpSp>
        <p:nvGrpSpPr>
          <p:cNvPr id="90" name="组合 89"/>
          <p:cNvGrpSpPr/>
          <p:nvPr/>
        </p:nvGrpSpPr>
        <p:grpSpPr>
          <a:xfrm>
            <a:off x="7336155" y="4327702"/>
            <a:ext cx="944880" cy="864000"/>
            <a:chOff x="7336155" y="4596542"/>
            <a:chExt cx="944880" cy="864000"/>
          </a:xfrm>
        </p:grpSpPr>
        <p:sp>
          <p:nvSpPr>
            <p:cNvPr id="91" name="椭圆 90"/>
            <p:cNvSpPr/>
            <p:nvPr/>
          </p:nvSpPr>
          <p:spPr>
            <a:xfrm>
              <a:off x="7352378" y="4596542"/>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mn-ea"/>
              </a:endParaRPr>
            </a:p>
          </p:txBody>
        </p:sp>
        <p:sp>
          <p:nvSpPr>
            <p:cNvPr id="92" name="文本框 91"/>
            <p:cNvSpPr txBox="1"/>
            <p:nvPr/>
          </p:nvSpPr>
          <p:spPr>
            <a:xfrm>
              <a:off x="7336155" y="4763777"/>
              <a:ext cx="944880" cy="584775"/>
            </a:xfrm>
            <a:prstGeom prst="rect">
              <a:avLst/>
            </a:prstGeom>
            <a:noFill/>
          </p:spPr>
          <p:txBody>
            <a:bodyPr wrap="square">
              <a:spAutoFit/>
            </a:bodyPr>
            <a:p>
              <a:pPr algn="ctr"/>
              <a:r>
                <a:rPr lang="en-US" altLang="zh-CN" sz="1600" b="1" dirty="0">
                  <a:latin typeface="+mn-ea"/>
                </a:rPr>
                <a:t>POP3</a:t>
              </a:r>
              <a:endParaRPr lang="en-US" altLang="zh-CN" sz="1600" b="1" dirty="0">
                <a:latin typeface="+mn-ea"/>
              </a:endParaRPr>
            </a:p>
            <a:p>
              <a:pPr algn="ctr"/>
              <a:r>
                <a:rPr lang="zh-CN" altLang="en-US" sz="1600" b="1" dirty="0">
                  <a:latin typeface="+mn-ea"/>
                </a:rPr>
                <a:t>服务器</a:t>
              </a:r>
              <a:endParaRPr lang="zh-CN" altLang="en-US" sz="1600" b="1" dirty="0">
                <a:latin typeface="+mn-ea"/>
              </a:endParaRPr>
            </a:p>
          </p:txBody>
        </p:sp>
      </p:grpSp>
      <p:grpSp>
        <p:nvGrpSpPr>
          <p:cNvPr id="93" name="组合 92"/>
          <p:cNvGrpSpPr/>
          <p:nvPr/>
        </p:nvGrpSpPr>
        <p:grpSpPr>
          <a:xfrm>
            <a:off x="7336154" y="5288902"/>
            <a:ext cx="944880" cy="864000"/>
            <a:chOff x="4486108" y="2412274"/>
            <a:chExt cx="944880" cy="864000"/>
          </a:xfrm>
        </p:grpSpPr>
        <p:sp>
          <p:nvSpPr>
            <p:cNvPr id="94" name="椭圆 93"/>
            <p:cNvSpPr/>
            <p:nvPr/>
          </p:nvSpPr>
          <p:spPr>
            <a:xfrm>
              <a:off x="4502331" y="2412274"/>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mn-ea"/>
              </a:endParaRPr>
            </a:p>
          </p:txBody>
        </p:sp>
        <p:sp>
          <p:nvSpPr>
            <p:cNvPr id="95" name="文本框 94"/>
            <p:cNvSpPr txBox="1"/>
            <p:nvPr/>
          </p:nvSpPr>
          <p:spPr>
            <a:xfrm>
              <a:off x="4486108" y="2579509"/>
              <a:ext cx="944880" cy="584775"/>
            </a:xfrm>
            <a:prstGeom prst="rect">
              <a:avLst/>
            </a:prstGeom>
            <a:noFill/>
          </p:spPr>
          <p:txBody>
            <a:bodyPr wrap="square">
              <a:spAutoFit/>
            </a:bodyPr>
            <a:p>
              <a:pPr algn="ctr"/>
              <a:r>
                <a:rPr lang="en-US" altLang="zh-CN" sz="1600" b="1" dirty="0">
                  <a:latin typeface="+mn-ea"/>
                </a:rPr>
                <a:t>SMTP</a:t>
              </a:r>
              <a:endParaRPr lang="en-US" altLang="zh-CN" sz="1600" b="1" dirty="0">
                <a:latin typeface="+mn-ea"/>
              </a:endParaRPr>
            </a:p>
            <a:p>
              <a:pPr algn="ctr"/>
              <a:r>
                <a:rPr lang="zh-CN" altLang="en-US" sz="1600" b="1" dirty="0">
                  <a:latin typeface="+mn-ea"/>
                </a:rPr>
                <a:t>服务器</a:t>
              </a:r>
              <a:endParaRPr lang="zh-CN" altLang="en-US" sz="1600" b="1" dirty="0">
                <a:latin typeface="+mn-ea"/>
              </a:endParaRPr>
            </a:p>
          </p:txBody>
        </p:sp>
      </p:grpSp>
      <p:grpSp>
        <p:nvGrpSpPr>
          <p:cNvPr id="96" name="组合 95"/>
          <p:cNvGrpSpPr/>
          <p:nvPr/>
        </p:nvGrpSpPr>
        <p:grpSpPr>
          <a:xfrm>
            <a:off x="10344967" y="4327702"/>
            <a:ext cx="944880" cy="864000"/>
            <a:chOff x="10344967" y="4592998"/>
            <a:chExt cx="944880" cy="864000"/>
          </a:xfrm>
        </p:grpSpPr>
        <p:sp>
          <p:nvSpPr>
            <p:cNvPr id="97" name="椭圆 96"/>
            <p:cNvSpPr/>
            <p:nvPr/>
          </p:nvSpPr>
          <p:spPr>
            <a:xfrm>
              <a:off x="10361190" y="4592998"/>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mn-ea"/>
              </a:endParaRPr>
            </a:p>
          </p:txBody>
        </p:sp>
        <p:sp>
          <p:nvSpPr>
            <p:cNvPr id="98" name="文本框 97"/>
            <p:cNvSpPr txBox="1"/>
            <p:nvPr/>
          </p:nvSpPr>
          <p:spPr>
            <a:xfrm>
              <a:off x="10344967" y="4760233"/>
              <a:ext cx="944880" cy="584775"/>
            </a:xfrm>
            <a:prstGeom prst="rect">
              <a:avLst/>
            </a:prstGeom>
            <a:noFill/>
          </p:spPr>
          <p:txBody>
            <a:bodyPr wrap="square">
              <a:spAutoFit/>
            </a:bodyPr>
            <a:p>
              <a:pPr algn="ctr"/>
              <a:r>
                <a:rPr lang="en-US" altLang="zh-CN" sz="1600" b="1" dirty="0">
                  <a:latin typeface="+mn-ea"/>
                </a:rPr>
                <a:t>POP3</a:t>
              </a:r>
              <a:endParaRPr lang="en-US" altLang="zh-CN" sz="1600" b="1" dirty="0">
                <a:latin typeface="+mn-ea"/>
              </a:endParaRPr>
            </a:p>
            <a:p>
              <a:pPr algn="ctr"/>
              <a:r>
                <a:rPr lang="zh-CN" altLang="en-US" sz="1600" b="1" dirty="0">
                  <a:latin typeface="+mn-ea"/>
                </a:rPr>
                <a:t>客户</a:t>
              </a:r>
              <a:endParaRPr lang="zh-CN" altLang="en-US" sz="1600" b="1" dirty="0">
                <a:latin typeface="+mn-ea"/>
              </a:endParaRPr>
            </a:p>
          </p:txBody>
        </p:sp>
      </p:grpSp>
      <p:grpSp>
        <p:nvGrpSpPr>
          <p:cNvPr id="99" name="组合 98"/>
          <p:cNvGrpSpPr/>
          <p:nvPr/>
        </p:nvGrpSpPr>
        <p:grpSpPr>
          <a:xfrm>
            <a:off x="1461441" y="4759297"/>
            <a:ext cx="1980705" cy="695966"/>
            <a:chOff x="1461441" y="4759297"/>
            <a:chExt cx="1980705" cy="695966"/>
          </a:xfrm>
        </p:grpSpPr>
        <p:sp>
          <p:nvSpPr>
            <p:cNvPr id="100" name="文本框 99"/>
            <p:cNvSpPr txBox="1"/>
            <p:nvPr/>
          </p:nvSpPr>
          <p:spPr>
            <a:xfrm>
              <a:off x="1739154" y="4870488"/>
              <a:ext cx="1436914" cy="584775"/>
            </a:xfrm>
            <a:prstGeom prst="rect">
              <a:avLst/>
            </a:prstGeom>
            <a:noFill/>
          </p:spPr>
          <p:txBody>
            <a:bodyPr wrap="square">
              <a:spAutoFit/>
            </a:bodyPr>
            <a:p>
              <a:pPr algn="ctr"/>
              <a:r>
                <a:rPr lang="en-US" altLang="zh-CN" sz="1600" b="1" dirty="0">
                  <a:latin typeface="+mn-ea"/>
                </a:rPr>
                <a:t>TCP</a:t>
              </a:r>
              <a:r>
                <a:rPr lang="zh-CN" altLang="en-US" sz="1600" b="1" dirty="0">
                  <a:latin typeface="+mn-ea"/>
                </a:rPr>
                <a:t>连接</a:t>
              </a:r>
              <a:endParaRPr lang="en-US" altLang="zh-CN" sz="1600" b="1" dirty="0">
                <a:latin typeface="+mn-ea"/>
              </a:endParaRPr>
            </a:p>
            <a:p>
              <a:pPr algn="ctr"/>
              <a:r>
                <a:rPr lang="zh-CN" altLang="en-US" sz="1600" b="1" dirty="0">
                  <a:latin typeface="+mn-ea"/>
                </a:rPr>
                <a:t>端口号</a:t>
              </a:r>
              <a:r>
                <a:rPr lang="en-US" altLang="zh-CN" sz="1600" b="1" dirty="0">
                  <a:latin typeface="+mn-ea"/>
                </a:rPr>
                <a:t>25</a:t>
              </a:r>
              <a:endParaRPr lang="zh-CN" altLang="en-US" sz="1600" b="1" dirty="0">
                <a:latin typeface="+mn-ea"/>
              </a:endParaRPr>
            </a:p>
          </p:txBody>
        </p:sp>
        <p:cxnSp>
          <p:nvCxnSpPr>
            <p:cNvPr id="101" name="直接箭头连接符 100"/>
            <p:cNvCxnSpPr/>
            <p:nvPr/>
          </p:nvCxnSpPr>
          <p:spPr>
            <a:xfrm>
              <a:off x="1461441" y="4759297"/>
              <a:ext cx="1980705" cy="28398"/>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02" name="文本框 101"/>
          <p:cNvSpPr txBox="1"/>
          <p:nvPr/>
        </p:nvSpPr>
        <p:spPr>
          <a:xfrm>
            <a:off x="4775843" y="5379702"/>
            <a:ext cx="2113192" cy="338554"/>
          </a:xfrm>
          <a:prstGeom prst="rect">
            <a:avLst/>
          </a:prstGeom>
          <a:noFill/>
        </p:spPr>
        <p:txBody>
          <a:bodyPr wrap="square">
            <a:spAutoFit/>
          </a:bodyPr>
          <a:p>
            <a:pPr algn="ctr"/>
            <a:r>
              <a:rPr lang="zh-CN" altLang="en-US" sz="1600" b="1" dirty="0">
                <a:solidFill>
                  <a:schemeClr val="accent3"/>
                </a:solidFill>
                <a:latin typeface="+mn-ea"/>
              </a:rPr>
              <a:t>使用</a:t>
            </a:r>
            <a:r>
              <a:rPr lang="en-US" altLang="zh-CN" sz="1600" b="1" dirty="0">
                <a:solidFill>
                  <a:schemeClr val="accent3"/>
                </a:solidFill>
                <a:latin typeface="+mn-ea"/>
              </a:rPr>
              <a:t>SMTP</a:t>
            </a:r>
            <a:r>
              <a:rPr lang="zh-CN" altLang="en-US" sz="1600" b="1" dirty="0">
                <a:solidFill>
                  <a:schemeClr val="accent3"/>
                </a:solidFill>
                <a:latin typeface="+mn-ea"/>
              </a:rPr>
              <a:t>发送邮件</a:t>
            </a:r>
            <a:endParaRPr lang="zh-CN" altLang="en-US" sz="1600" b="1" dirty="0">
              <a:solidFill>
                <a:schemeClr val="accent3"/>
              </a:solidFill>
              <a:latin typeface="+mn-ea"/>
            </a:endParaRPr>
          </a:p>
        </p:txBody>
      </p:sp>
      <p:grpSp>
        <p:nvGrpSpPr>
          <p:cNvPr id="103" name="组合 102"/>
          <p:cNvGrpSpPr/>
          <p:nvPr/>
        </p:nvGrpSpPr>
        <p:grpSpPr>
          <a:xfrm>
            <a:off x="4313825" y="5714347"/>
            <a:ext cx="3021766" cy="621523"/>
            <a:chOff x="4313825" y="5714347"/>
            <a:chExt cx="3021766" cy="621523"/>
          </a:xfrm>
        </p:grpSpPr>
        <p:cxnSp>
          <p:nvCxnSpPr>
            <p:cNvPr id="104" name="直接箭头连接符 103"/>
            <p:cNvCxnSpPr/>
            <p:nvPr/>
          </p:nvCxnSpPr>
          <p:spPr>
            <a:xfrm>
              <a:off x="4313825" y="5714347"/>
              <a:ext cx="3021766" cy="31167"/>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5" name="文本框 104"/>
            <p:cNvSpPr txBox="1"/>
            <p:nvPr/>
          </p:nvSpPr>
          <p:spPr>
            <a:xfrm>
              <a:off x="5172672" y="5751095"/>
              <a:ext cx="1436914" cy="584775"/>
            </a:xfrm>
            <a:prstGeom prst="rect">
              <a:avLst/>
            </a:prstGeom>
            <a:noFill/>
          </p:spPr>
          <p:txBody>
            <a:bodyPr wrap="square">
              <a:spAutoFit/>
            </a:bodyPr>
            <a:p>
              <a:pPr algn="ctr"/>
              <a:r>
                <a:rPr lang="en-US" altLang="zh-CN" sz="1600" b="1" dirty="0">
                  <a:latin typeface="+mn-ea"/>
                </a:rPr>
                <a:t>TCP</a:t>
              </a:r>
              <a:r>
                <a:rPr lang="zh-CN" altLang="en-US" sz="1600" b="1" dirty="0">
                  <a:latin typeface="+mn-ea"/>
                </a:rPr>
                <a:t>连接</a:t>
              </a:r>
              <a:endParaRPr lang="en-US" altLang="zh-CN" sz="1600" b="1" dirty="0">
                <a:latin typeface="+mn-ea"/>
              </a:endParaRPr>
            </a:p>
            <a:p>
              <a:pPr algn="ctr"/>
              <a:r>
                <a:rPr lang="zh-CN" altLang="en-US" sz="1600" b="1" dirty="0">
                  <a:latin typeface="+mn-ea"/>
                </a:rPr>
                <a:t>端口号</a:t>
              </a:r>
              <a:r>
                <a:rPr lang="en-US" altLang="zh-CN" sz="1600" b="1" dirty="0">
                  <a:latin typeface="+mn-ea"/>
                </a:rPr>
                <a:t>25</a:t>
              </a:r>
              <a:endParaRPr lang="zh-CN" altLang="en-US" sz="1600" b="1" dirty="0">
                <a:latin typeface="+mn-ea"/>
              </a:endParaRPr>
            </a:p>
          </p:txBody>
        </p:sp>
      </p:grpSp>
      <p:grpSp>
        <p:nvGrpSpPr>
          <p:cNvPr id="106" name="组合 105"/>
          <p:cNvGrpSpPr/>
          <p:nvPr/>
        </p:nvGrpSpPr>
        <p:grpSpPr>
          <a:xfrm>
            <a:off x="8245551" y="4769952"/>
            <a:ext cx="2063932" cy="686185"/>
            <a:chOff x="8245551" y="4769952"/>
            <a:chExt cx="2063932" cy="686185"/>
          </a:xfrm>
        </p:grpSpPr>
        <p:cxnSp>
          <p:nvCxnSpPr>
            <p:cNvPr id="107" name="直接箭头连接符 106"/>
            <p:cNvCxnSpPr/>
            <p:nvPr/>
          </p:nvCxnSpPr>
          <p:spPr>
            <a:xfrm flipH="1">
              <a:off x="8245551" y="4769952"/>
              <a:ext cx="2063932" cy="354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8" name="文本框 107"/>
            <p:cNvSpPr txBox="1"/>
            <p:nvPr/>
          </p:nvSpPr>
          <p:spPr>
            <a:xfrm>
              <a:off x="8630035" y="4871362"/>
              <a:ext cx="1436914" cy="584775"/>
            </a:xfrm>
            <a:prstGeom prst="rect">
              <a:avLst/>
            </a:prstGeom>
            <a:noFill/>
          </p:spPr>
          <p:txBody>
            <a:bodyPr wrap="square">
              <a:spAutoFit/>
            </a:bodyPr>
            <a:p>
              <a:pPr algn="ctr"/>
              <a:r>
                <a:rPr lang="en-US" altLang="zh-CN" sz="1600" b="1" dirty="0">
                  <a:latin typeface="+mn-ea"/>
                </a:rPr>
                <a:t>TCP</a:t>
              </a:r>
              <a:r>
                <a:rPr lang="zh-CN" altLang="en-US" sz="1600" b="1" dirty="0">
                  <a:latin typeface="+mn-ea"/>
                </a:rPr>
                <a:t>连接</a:t>
              </a:r>
              <a:endParaRPr lang="en-US" altLang="zh-CN" sz="1600" b="1" dirty="0">
                <a:latin typeface="+mn-ea"/>
              </a:endParaRPr>
            </a:p>
            <a:p>
              <a:pPr algn="ctr"/>
              <a:r>
                <a:rPr lang="zh-CN" altLang="en-US" sz="1600" b="1" dirty="0">
                  <a:latin typeface="+mn-ea"/>
                </a:rPr>
                <a:t>端口号</a:t>
              </a:r>
              <a:r>
                <a:rPr lang="en-US" altLang="zh-CN" sz="1600" b="1" dirty="0">
                  <a:latin typeface="+mn-ea"/>
                </a:rPr>
                <a:t>110</a:t>
              </a:r>
              <a:endParaRPr lang="zh-CN" altLang="en-US" sz="1600" b="1" dirty="0">
                <a:latin typeface="+mn-ea"/>
              </a:endParaRPr>
            </a:p>
          </p:txBody>
        </p:sp>
      </p:grpSp>
      <p:sp>
        <p:nvSpPr>
          <p:cNvPr id="109" name="文本框 108"/>
          <p:cNvSpPr txBox="1"/>
          <p:nvPr/>
        </p:nvSpPr>
        <p:spPr>
          <a:xfrm>
            <a:off x="8619204" y="4177814"/>
            <a:ext cx="1469574" cy="584775"/>
          </a:xfrm>
          <a:prstGeom prst="rect">
            <a:avLst/>
          </a:prstGeom>
          <a:noFill/>
        </p:spPr>
        <p:txBody>
          <a:bodyPr wrap="square">
            <a:spAutoFit/>
          </a:bodyPr>
          <a:p>
            <a:pPr algn="ctr"/>
            <a:r>
              <a:rPr lang="zh-CN" altLang="en-US" sz="1600" b="1" dirty="0">
                <a:solidFill>
                  <a:schemeClr val="accent4"/>
                </a:solidFill>
                <a:latin typeface="+mn-ea"/>
              </a:rPr>
              <a:t>使用</a:t>
            </a:r>
            <a:r>
              <a:rPr lang="en-US" altLang="zh-CN" sz="1600" b="1" dirty="0">
                <a:solidFill>
                  <a:schemeClr val="accent4"/>
                </a:solidFill>
                <a:latin typeface="+mn-ea"/>
              </a:rPr>
              <a:t>POP3</a:t>
            </a:r>
            <a:endParaRPr lang="en-US" altLang="zh-CN" sz="1600" b="1" dirty="0">
              <a:solidFill>
                <a:schemeClr val="accent4"/>
              </a:solidFill>
              <a:latin typeface="+mn-ea"/>
            </a:endParaRPr>
          </a:p>
          <a:p>
            <a:pPr algn="ctr"/>
            <a:r>
              <a:rPr lang="zh-CN" altLang="en-US" sz="1600" b="1" dirty="0">
                <a:solidFill>
                  <a:schemeClr val="accent4"/>
                </a:solidFill>
                <a:latin typeface="+mn-ea"/>
              </a:rPr>
              <a:t>读取邮件</a:t>
            </a:r>
            <a:endParaRPr lang="zh-CN" altLang="en-US" sz="1600" b="1" dirty="0">
              <a:solidFill>
                <a:schemeClr val="accent4"/>
              </a:solidFill>
              <a:latin typeface="+mn-ea"/>
            </a:endParaRPr>
          </a:p>
        </p:txBody>
      </p:sp>
      <p:grpSp>
        <p:nvGrpSpPr>
          <p:cNvPr id="110" name="组合 109"/>
          <p:cNvGrpSpPr/>
          <p:nvPr/>
        </p:nvGrpSpPr>
        <p:grpSpPr>
          <a:xfrm>
            <a:off x="1071317" y="6229525"/>
            <a:ext cx="6804120" cy="390241"/>
            <a:chOff x="1071317" y="6229525"/>
            <a:chExt cx="6804120" cy="390241"/>
          </a:xfrm>
        </p:grpSpPr>
        <p:cxnSp>
          <p:nvCxnSpPr>
            <p:cNvPr id="111" name="直接连接符 110"/>
            <p:cNvCxnSpPr/>
            <p:nvPr/>
          </p:nvCxnSpPr>
          <p:spPr>
            <a:xfrm>
              <a:off x="1071317" y="6234028"/>
              <a:ext cx="0" cy="2810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7875434" y="6229525"/>
              <a:ext cx="1" cy="280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p:nvPr/>
          </p:nvCxnSpPr>
          <p:spPr>
            <a:xfrm>
              <a:off x="1103976" y="6465878"/>
              <a:ext cx="6771461" cy="0"/>
            </a:xfrm>
            <a:prstGeom prst="straightConnector1">
              <a:avLst/>
            </a:prstGeom>
            <a:ln w="381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114" name="文本框 113"/>
            <p:cNvSpPr txBox="1"/>
            <p:nvPr/>
          </p:nvSpPr>
          <p:spPr>
            <a:xfrm>
              <a:off x="3501009" y="6281212"/>
              <a:ext cx="2062983" cy="338554"/>
            </a:xfrm>
            <a:prstGeom prst="rect">
              <a:avLst/>
            </a:prstGeom>
            <a:solidFill>
              <a:schemeClr val="bg1"/>
            </a:solidFill>
          </p:spPr>
          <p:txBody>
            <a:bodyPr wrap="square">
              <a:spAutoFit/>
            </a:bodyPr>
            <a:p>
              <a:pPr algn="ctr"/>
              <a:r>
                <a:rPr lang="zh-CN" altLang="en-US" sz="1600" b="1" dirty="0">
                  <a:solidFill>
                    <a:schemeClr val="accent3"/>
                  </a:solidFill>
                  <a:latin typeface="+mn-ea"/>
                </a:rPr>
                <a:t>使用</a:t>
              </a:r>
              <a:r>
                <a:rPr lang="en-US" altLang="zh-CN" sz="1600" b="1" dirty="0">
                  <a:solidFill>
                    <a:schemeClr val="accent3"/>
                  </a:solidFill>
                  <a:latin typeface="+mn-ea"/>
                </a:rPr>
                <a:t>SMTP</a:t>
              </a:r>
              <a:r>
                <a:rPr lang="zh-CN" altLang="en-US" sz="1600" b="1" dirty="0">
                  <a:solidFill>
                    <a:schemeClr val="accent3"/>
                  </a:solidFill>
                  <a:latin typeface="+mn-ea"/>
                </a:rPr>
                <a:t>发送邮件</a:t>
              </a:r>
              <a:endParaRPr lang="zh-CN" altLang="en-US" sz="1600" b="1" dirty="0">
                <a:solidFill>
                  <a:schemeClr val="accent3"/>
                </a:solidFill>
                <a:latin typeface="+mn-ea"/>
              </a:endParaRPr>
            </a:p>
          </p:txBody>
        </p:sp>
      </p:grpSp>
      <p:grpSp>
        <p:nvGrpSpPr>
          <p:cNvPr id="115" name="组合 114"/>
          <p:cNvGrpSpPr/>
          <p:nvPr/>
        </p:nvGrpSpPr>
        <p:grpSpPr>
          <a:xfrm>
            <a:off x="7875437" y="6229525"/>
            <a:ext cx="3008814" cy="390241"/>
            <a:chOff x="7875437" y="6229525"/>
            <a:chExt cx="3008814" cy="390241"/>
          </a:xfrm>
        </p:grpSpPr>
        <p:cxnSp>
          <p:nvCxnSpPr>
            <p:cNvPr id="116" name="直接连接符 115"/>
            <p:cNvCxnSpPr/>
            <p:nvPr/>
          </p:nvCxnSpPr>
          <p:spPr>
            <a:xfrm flipH="1">
              <a:off x="10872611" y="6229525"/>
              <a:ext cx="1" cy="280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p:nvPr/>
          </p:nvCxnSpPr>
          <p:spPr>
            <a:xfrm>
              <a:off x="7875437" y="6465878"/>
              <a:ext cx="3008814" cy="0"/>
            </a:xfrm>
            <a:prstGeom prst="straightConnector1">
              <a:avLst/>
            </a:prstGeom>
            <a:ln w="381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118" name="文本框 117"/>
            <p:cNvSpPr txBox="1"/>
            <p:nvPr/>
          </p:nvSpPr>
          <p:spPr>
            <a:xfrm>
              <a:off x="8319029" y="6281212"/>
              <a:ext cx="2121628" cy="338554"/>
            </a:xfrm>
            <a:prstGeom prst="rect">
              <a:avLst/>
            </a:prstGeom>
            <a:solidFill>
              <a:schemeClr val="bg1"/>
            </a:solidFill>
          </p:spPr>
          <p:txBody>
            <a:bodyPr wrap="square">
              <a:spAutoFit/>
            </a:bodyPr>
            <a:p>
              <a:pPr algn="ctr"/>
              <a:r>
                <a:rPr lang="zh-CN" altLang="en-US" sz="1600" b="1" dirty="0">
                  <a:solidFill>
                    <a:schemeClr val="accent4"/>
                  </a:solidFill>
                  <a:latin typeface="+mn-ea"/>
                </a:rPr>
                <a:t>使用</a:t>
              </a:r>
              <a:r>
                <a:rPr lang="en-US" altLang="zh-CN" sz="1600" b="1" dirty="0">
                  <a:solidFill>
                    <a:schemeClr val="accent4"/>
                  </a:solidFill>
                  <a:latin typeface="+mn-ea"/>
                </a:rPr>
                <a:t>POP3</a:t>
              </a:r>
              <a:r>
                <a:rPr lang="zh-CN" altLang="en-US" sz="1600" b="1" dirty="0">
                  <a:solidFill>
                    <a:schemeClr val="accent4"/>
                  </a:solidFill>
                  <a:latin typeface="+mn-ea"/>
                </a:rPr>
                <a:t>读取邮件</a:t>
              </a:r>
              <a:endParaRPr lang="zh-CN" altLang="en-US" sz="1600" b="1" dirty="0">
                <a:solidFill>
                  <a:schemeClr val="accent4"/>
                </a:solidFill>
                <a:latin typeface="+mn-ea"/>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additive="base">
                                        <p:cTn id="7" dur="500"/>
                                        <p:tgtEl>
                                          <p:spTgt spid="70"/>
                                        </p:tgtEl>
                                        <p:attrNameLst>
                                          <p:attrName>ppt_y</p:attrName>
                                        </p:attrNameLst>
                                      </p:cBhvr>
                                      <p:tavLst>
                                        <p:tav tm="0">
                                          <p:val>
                                            <p:strVal val="#ppt_y+#ppt_h*1.125000"/>
                                          </p:val>
                                        </p:tav>
                                        <p:tav tm="100000">
                                          <p:val>
                                            <p:strVal val="#ppt_y"/>
                                          </p:val>
                                        </p:tav>
                                      </p:tavLst>
                                    </p:anim>
                                    <p:animEffect transition="in" filter="wipe(up)">
                                      <p:cBhvr>
                                        <p:cTn id="8" dur="500"/>
                                        <p:tgtEl>
                                          <p:spTgt spid="70"/>
                                        </p:tgtEl>
                                      </p:cBhvr>
                                    </p:animEffect>
                                  </p:childTnLst>
                                </p:cTn>
                              </p:par>
                              <p:par>
                                <p:cTn id="9" presetID="12" presetClass="entr" presetSubtype="1" fill="hold" nodeType="withEffect">
                                  <p:stCondLst>
                                    <p:cond delay="0"/>
                                  </p:stCondLst>
                                  <p:childTnLst>
                                    <p:set>
                                      <p:cBhvr>
                                        <p:cTn id="10" dur="1" fill="hold">
                                          <p:stCondLst>
                                            <p:cond delay="0"/>
                                          </p:stCondLst>
                                        </p:cTn>
                                        <p:tgtEl>
                                          <p:spTgt spid="71"/>
                                        </p:tgtEl>
                                        <p:attrNameLst>
                                          <p:attrName>style.visibility</p:attrName>
                                        </p:attrNameLst>
                                      </p:cBhvr>
                                      <p:to>
                                        <p:strVal val="visible"/>
                                      </p:to>
                                    </p:set>
                                    <p:anim calcmode="lin" valueType="num">
                                      <p:cBhvr additive="base">
                                        <p:cTn id="11" dur="500"/>
                                        <p:tgtEl>
                                          <p:spTgt spid="71"/>
                                        </p:tgtEl>
                                        <p:attrNameLst>
                                          <p:attrName>ppt_y</p:attrName>
                                        </p:attrNameLst>
                                      </p:cBhvr>
                                      <p:tavLst>
                                        <p:tav tm="0">
                                          <p:val>
                                            <p:strVal val="#ppt_y-#ppt_h*1.125000"/>
                                          </p:val>
                                        </p:tav>
                                        <p:tav tm="100000">
                                          <p:val>
                                            <p:strVal val="#ppt_y"/>
                                          </p:val>
                                        </p:tav>
                                      </p:tavLst>
                                    </p:anim>
                                    <p:animEffect transition="in" filter="wipe(down)">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80"/>
                                        </p:tgtEl>
                                        <p:attrNameLst>
                                          <p:attrName>style.visibility</p:attrName>
                                        </p:attrNameLst>
                                      </p:cBhvr>
                                      <p:to>
                                        <p:strVal val="visible"/>
                                      </p:to>
                                    </p:set>
                                    <p:anim calcmode="lin" valueType="num">
                                      <p:cBhvr>
                                        <p:cTn id="17" dur="500" fill="hold"/>
                                        <p:tgtEl>
                                          <p:spTgt spid="80"/>
                                        </p:tgtEl>
                                        <p:attrNameLst>
                                          <p:attrName>ppt_w</p:attrName>
                                        </p:attrNameLst>
                                      </p:cBhvr>
                                      <p:tavLst>
                                        <p:tav tm="0">
                                          <p:val>
                                            <p:fltVal val="0"/>
                                          </p:val>
                                        </p:tav>
                                        <p:tav tm="100000">
                                          <p:val>
                                            <p:strVal val="#ppt_w"/>
                                          </p:val>
                                        </p:tav>
                                      </p:tavLst>
                                    </p:anim>
                                    <p:anim calcmode="lin" valueType="num">
                                      <p:cBhvr>
                                        <p:cTn id="18" dur="500" fill="hold"/>
                                        <p:tgtEl>
                                          <p:spTgt spid="80"/>
                                        </p:tgtEl>
                                        <p:attrNameLst>
                                          <p:attrName>ppt_h</p:attrName>
                                        </p:attrNameLst>
                                      </p:cBhvr>
                                      <p:tavLst>
                                        <p:tav tm="0">
                                          <p:val>
                                            <p:fltVal val="0"/>
                                          </p:val>
                                        </p:tav>
                                        <p:tav tm="100000">
                                          <p:val>
                                            <p:strVal val="#ppt_h"/>
                                          </p:val>
                                        </p:tav>
                                      </p:tavLst>
                                    </p:anim>
                                    <p:animEffect transition="in" filter="fade">
                                      <p:cBhvr>
                                        <p:cTn id="19" dur="500"/>
                                        <p:tgtEl>
                                          <p:spTgt spid="8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84"/>
                                        </p:tgtEl>
                                        <p:attrNameLst>
                                          <p:attrName>style.visibility</p:attrName>
                                        </p:attrNameLst>
                                      </p:cBhvr>
                                      <p:to>
                                        <p:strVal val="visible"/>
                                      </p:to>
                                    </p:set>
                                    <p:anim calcmode="lin" valueType="num">
                                      <p:cBhvr>
                                        <p:cTn id="24" dur="500" fill="hold"/>
                                        <p:tgtEl>
                                          <p:spTgt spid="84"/>
                                        </p:tgtEl>
                                        <p:attrNameLst>
                                          <p:attrName>ppt_w</p:attrName>
                                        </p:attrNameLst>
                                      </p:cBhvr>
                                      <p:tavLst>
                                        <p:tav tm="0">
                                          <p:val>
                                            <p:fltVal val="0"/>
                                          </p:val>
                                        </p:tav>
                                        <p:tav tm="100000">
                                          <p:val>
                                            <p:strVal val="#ppt_w"/>
                                          </p:val>
                                        </p:tav>
                                      </p:tavLst>
                                    </p:anim>
                                    <p:anim calcmode="lin" valueType="num">
                                      <p:cBhvr>
                                        <p:cTn id="25" dur="500" fill="hold"/>
                                        <p:tgtEl>
                                          <p:spTgt spid="84"/>
                                        </p:tgtEl>
                                        <p:attrNameLst>
                                          <p:attrName>ppt_h</p:attrName>
                                        </p:attrNameLst>
                                      </p:cBhvr>
                                      <p:tavLst>
                                        <p:tav tm="0">
                                          <p:val>
                                            <p:fltVal val="0"/>
                                          </p:val>
                                        </p:tav>
                                        <p:tav tm="100000">
                                          <p:val>
                                            <p:strVal val="#ppt_h"/>
                                          </p:val>
                                        </p:tav>
                                      </p:tavLst>
                                    </p:anim>
                                    <p:animEffect transition="in" filter="fade">
                                      <p:cBhvr>
                                        <p:cTn id="26" dur="500"/>
                                        <p:tgtEl>
                                          <p:spTgt spid="8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500"/>
                                        <p:tgtEl>
                                          <p:spTgt spid="99"/>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3"/>
                                        </p:tgtEl>
                                        <p:attrNameLst>
                                          <p:attrName>style.visibility</p:attrName>
                                        </p:attrNameLst>
                                      </p:cBhvr>
                                      <p:to>
                                        <p:strVal val="visible"/>
                                      </p:to>
                                    </p:set>
                                    <p:anim calcmode="lin" valueType="num">
                                      <p:cBhvr>
                                        <p:cTn id="36" dur="500" fill="hold"/>
                                        <p:tgtEl>
                                          <p:spTgt spid="83"/>
                                        </p:tgtEl>
                                        <p:attrNameLst>
                                          <p:attrName>ppt_w</p:attrName>
                                        </p:attrNameLst>
                                      </p:cBhvr>
                                      <p:tavLst>
                                        <p:tav tm="0">
                                          <p:val>
                                            <p:fltVal val="0"/>
                                          </p:val>
                                        </p:tav>
                                        <p:tav tm="100000">
                                          <p:val>
                                            <p:strVal val="#ppt_w"/>
                                          </p:val>
                                        </p:tav>
                                      </p:tavLst>
                                    </p:anim>
                                    <p:anim calcmode="lin" valueType="num">
                                      <p:cBhvr>
                                        <p:cTn id="37" dur="500" fill="hold"/>
                                        <p:tgtEl>
                                          <p:spTgt spid="83"/>
                                        </p:tgtEl>
                                        <p:attrNameLst>
                                          <p:attrName>ppt_h</p:attrName>
                                        </p:attrNameLst>
                                      </p:cBhvr>
                                      <p:tavLst>
                                        <p:tav tm="0">
                                          <p:val>
                                            <p:fltVal val="0"/>
                                          </p:val>
                                        </p:tav>
                                        <p:tav tm="100000">
                                          <p:val>
                                            <p:strVal val="#ppt_h"/>
                                          </p:val>
                                        </p:tav>
                                      </p:tavLst>
                                    </p:anim>
                                    <p:animEffect transition="in" filter="fade">
                                      <p:cBhvr>
                                        <p:cTn id="38" dur="500"/>
                                        <p:tgtEl>
                                          <p:spTgt spid="83"/>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87"/>
                                        </p:tgtEl>
                                        <p:attrNameLst>
                                          <p:attrName>style.visibility</p:attrName>
                                        </p:attrNameLst>
                                      </p:cBhvr>
                                      <p:to>
                                        <p:strVal val="visible"/>
                                      </p:to>
                                    </p:set>
                                    <p:anim calcmode="lin" valueType="num">
                                      <p:cBhvr>
                                        <p:cTn id="43" dur="500" fill="hold"/>
                                        <p:tgtEl>
                                          <p:spTgt spid="87"/>
                                        </p:tgtEl>
                                        <p:attrNameLst>
                                          <p:attrName>ppt_w</p:attrName>
                                        </p:attrNameLst>
                                      </p:cBhvr>
                                      <p:tavLst>
                                        <p:tav tm="0">
                                          <p:val>
                                            <p:fltVal val="0"/>
                                          </p:val>
                                        </p:tav>
                                        <p:tav tm="100000">
                                          <p:val>
                                            <p:strVal val="#ppt_w"/>
                                          </p:val>
                                        </p:tav>
                                      </p:tavLst>
                                    </p:anim>
                                    <p:anim calcmode="lin" valueType="num">
                                      <p:cBhvr>
                                        <p:cTn id="44" dur="500" fill="hold"/>
                                        <p:tgtEl>
                                          <p:spTgt spid="87"/>
                                        </p:tgtEl>
                                        <p:attrNameLst>
                                          <p:attrName>ppt_h</p:attrName>
                                        </p:attrNameLst>
                                      </p:cBhvr>
                                      <p:tavLst>
                                        <p:tav tm="0">
                                          <p:val>
                                            <p:fltVal val="0"/>
                                          </p:val>
                                        </p:tav>
                                        <p:tav tm="100000">
                                          <p:val>
                                            <p:strVal val="#ppt_h"/>
                                          </p:val>
                                        </p:tav>
                                      </p:tavLst>
                                    </p:anim>
                                    <p:animEffect transition="in" filter="fade">
                                      <p:cBhvr>
                                        <p:cTn id="45" dur="500"/>
                                        <p:tgtEl>
                                          <p:spTgt spid="87"/>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93"/>
                                        </p:tgtEl>
                                        <p:attrNameLst>
                                          <p:attrName>style.visibility</p:attrName>
                                        </p:attrNameLst>
                                      </p:cBhvr>
                                      <p:to>
                                        <p:strVal val="visible"/>
                                      </p:to>
                                    </p:set>
                                    <p:anim calcmode="lin" valueType="num">
                                      <p:cBhvr>
                                        <p:cTn id="50" dur="500" fill="hold"/>
                                        <p:tgtEl>
                                          <p:spTgt spid="93"/>
                                        </p:tgtEl>
                                        <p:attrNameLst>
                                          <p:attrName>ppt_w</p:attrName>
                                        </p:attrNameLst>
                                      </p:cBhvr>
                                      <p:tavLst>
                                        <p:tav tm="0">
                                          <p:val>
                                            <p:fltVal val="0"/>
                                          </p:val>
                                        </p:tav>
                                        <p:tav tm="100000">
                                          <p:val>
                                            <p:strVal val="#ppt_w"/>
                                          </p:val>
                                        </p:tav>
                                      </p:tavLst>
                                    </p:anim>
                                    <p:anim calcmode="lin" valueType="num">
                                      <p:cBhvr>
                                        <p:cTn id="51" dur="500" fill="hold"/>
                                        <p:tgtEl>
                                          <p:spTgt spid="93"/>
                                        </p:tgtEl>
                                        <p:attrNameLst>
                                          <p:attrName>ppt_h</p:attrName>
                                        </p:attrNameLst>
                                      </p:cBhvr>
                                      <p:tavLst>
                                        <p:tav tm="0">
                                          <p:val>
                                            <p:fltVal val="0"/>
                                          </p:val>
                                        </p:tav>
                                        <p:tav tm="100000">
                                          <p:val>
                                            <p:strVal val="#ppt_h"/>
                                          </p:val>
                                        </p:tav>
                                      </p:tavLst>
                                    </p:anim>
                                    <p:animEffect transition="in" filter="fade">
                                      <p:cBhvr>
                                        <p:cTn id="52" dur="500"/>
                                        <p:tgtEl>
                                          <p:spTgt spid="9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03"/>
                                        </p:tgtEl>
                                        <p:attrNameLst>
                                          <p:attrName>style.visibility</p:attrName>
                                        </p:attrNameLst>
                                      </p:cBhvr>
                                      <p:to>
                                        <p:strVal val="visible"/>
                                      </p:to>
                                    </p:set>
                                    <p:animEffect transition="in" filter="wipe(left)">
                                      <p:cBhvr>
                                        <p:cTn id="57" dur="500"/>
                                        <p:tgtEl>
                                          <p:spTgt spid="103"/>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102"/>
                                        </p:tgtEl>
                                        <p:attrNameLst>
                                          <p:attrName>style.visibility</p:attrName>
                                        </p:attrNameLst>
                                      </p:cBhvr>
                                      <p:to>
                                        <p:strVal val="visible"/>
                                      </p:to>
                                    </p:set>
                                    <p:anim calcmode="lin" valueType="num">
                                      <p:cBhvr>
                                        <p:cTn id="62" dur="500" fill="hold"/>
                                        <p:tgtEl>
                                          <p:spTgt spid="102"/>
                                        </p:tgtEl>
                                        <p:attrNameLst>
                                          <p:attrName>ppt_w</p:attrName>
                                        </p:attrNameLst>
                                      </p:cBhvr>
                                      <p:tavLst>
                                        <p:tav tm="0">
                                          <p:val>
                                            <p:fltVal val="0"/>
                                          </p:val>
                                        </p:tav>
                                        <p:tav tm="100000">
                                          <p:val>
                                            <p:strVal val="#ppt_w"/>
                                          </p:val>
                                        </p:tav>
                                      </p:tavLst>
                                    </p:anim>
                                    <p:anim calcmode="lin" valueType="num">
                                      <p:cBhvr>
                                        <p:cTn id="63" dur="500" fill="hold"/>
                                        <p:tgtEl>
                                          <p:spTgt spid="102"/>
                                        </p:tgtEl>
                                        <p:attrNameLst>
                                          <p:attrName>ppt_h</p:attrName>
                                        </p:attrNameLst>
                                      </p:cBhvr>
                                      <p:tavLst>
                                        <p:tav tm="0">
                                          <p:val>
                                            <p:fltVal val="0"/>
                                          </p:val>
                                        </p:tav>
                                        <p:tav tm="100000">
                                          <p:val>
                                            <p:strVal val="#ppt_h"/>
                                          </p:val>
                                        </p:tav>
                                      </p:tavLst>
                                    </p:anim>
                                    <p:animEffect transition="in" filter="fade">
                                      <p:cBhvr>
                                        <p:cTn id="64" dur="500"/>
                                        <p:tgtEl>
                                          <p:spTgt spid="102"/>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96"/>
                                        </p:tgtEl>
                                        <p:attrNameLst>
                                          <p:attrName>style.visibility</p:attrName>
                                        </p:attrNameLst>
                                      </p:cBhvr>
                                      <p:to>
                                        <p:strVal val="visible"/>
                                      </p:to>
                                    </p:set>
                                    <p:anim calcmode="lin" valueType="num">
                                      <p:cBhvr>
                                        <p:cTn id="69" dur="500" fill="hold"/>
                                        <p:tgtEl>
                                          <p:spTgt spid="96"/>
                                        </p:tgtEl>
                                        <p:attrNameLst>
                                          <p:attrName>ppt_w</p:attrName>
                                        </p:attrNameLst>
                                      </p:cBhvr>
                                      <p:tavLst>
                                        <p:tav tm="0">
                                          <p:val>
                                            <p:fltVal val="0"/>
                                          </p:val>
                                        </p:tav>
                                        <p:tav tm="100000">
                                          <p:val>
                                            <p:strVal val="#ppt_w"/>
                                          </p:val>
                                        </p:tav>
                                      </p:tavLst>
                                    </p:anim>
                                    <p:anim calcmode="lin" valueType="num">
                                      <p:cBhvr>
                                        <p:cTn id="70" dur="500" fill="hold"/>
                                        <p:tgtEl>
                                          <p:spTgt spid="96"/>
                                        </p:tgtEl>
                                        <p:attrNameLst>
                                          <p:attrName>ppt_h</p:attrName>
                                        </p:attrNameLst>
                                      </p:cBhvr>
                                      <p:tavLst>
                                        <p:tav tm="0">
                                          <p:val>
                                            <p:fltVal val="0"/>
                                          </p:val>
                                        </p:tav>
                                        <p:tav tm="100000">
                                          <p:val>
                                            <p:strVal val="#ppt_h"/>
                                          </p:val>
                                        </p:tav>
                                      </p:tavLst>
                                    </p:anim>
                                    <p:animEffect transition="in" filter="fade">
                                      <p:cBhvr>
                                        <p:cTn id="71" dur="500"/>
                                        <p:tgtEl>
                                          <p:spTgt spid="96"/>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90"/>
                                        </p:tgtEl>
                                        <p:attrNameLst>
                                          <p:attrName>style.visibility</p:attrName>
                                        </p:attrNameLst>
                                      </p:cBhvr>
                                      <p:to>
                                        <p:strVal val="visible"/>
                                      </p:to>
                                    </p:set>
                                    <p:anim calcmode="lin" valueType="num">
                                      <p:cBhvr>
                                        <p:cTn id="76" dur="500" fill="hold"/>
                                        <p:tgtEl>
                                          <p:spTgt spid="90"/>
                                        </p:tgtEl>
                                        <p:attrNameLst>
                                          <p:attrName>ppt_w</p:attrName>
                                        </p:attrNameLst>
                                      </p:cBhvr>
                                      <p:tavLst>
                                        <p:tav tm="0">
                                          <p:val>
                                            <p:fltVal val="0"/>
                                          </p:val>
                                        </p:tav>
                                        <p:tav tm="100000">
                                          <p:val>
                                            <p:strVal val="#ppt_w"/>
                                          </p:val>
                                        </p:tav>
                                      </p:tavLst>
                                    </p:anim>
                                    <p:anim calcmode="lin" valueType="num">
                                      <p:cBhvr>
                                        <p:cTn id="77" dur="500" fill="hold"/>
                                        <p:tgtEl>
                                          <p:spTgt spid="90"/>
                                        </p:tgtEl>
                                        <p:attrNameLst>
                                          <p:attrName>ppt_h</p:attrName>
                                        </p:attrNameLst>
                                      </p:cBhvr>
                                      <p:tavLst>
                                        <p:tav tm="0">
                                          <p:val>
                                            <p:fltVal val="0"/>
                                          </p:val>
                                        </p:tav>
                                        <p:tav tm="100000">
                                          <p:val>
                                            <p:strVal val="#ppt_h"/>
                                          </p:val>
                                        </p:tav>
                                      </p:tavLst>
                                    </p:anim>
                                    <p:animEffect transition="in" filter="fade">
                                      <p:cBhvr>
                                        <p:cTn id="78" dur="500"/>
                                        <p:tgtEl>
                                          <p:spTgt spid="9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nodeType="clickEffect">
                                  <p:stCondLst>
                                    <p:cond delay="0"/>
                                  </p:stCondLst>
                                  <p:childTnLst>
                                    <p:set>
                                      <p:cBhvr>
                                        <p:cTn id="82" dur="1" fill="hold">
                                          <p:stCondLst>
                                            <p:cond delay="0"/>
                                          </p:stCondLst>
                                        </p:cTn>
                                        <p:tgtEl>
                                          <p:spTgt spid="106"/>
                                        </p:tgtEl>
                                        <p:attrNameLst>
                                          <p:attrName>style.visibility</p:attrName>
                                        </p:attrNameLst>
                                      </p:cBhvr>
                                      <p:to>
                                        <p:strVal val="visible"/>
                                      </p:to>
                                    </p:set>
                                    <p:animEffect transition="in" filter="wipe(right)">
                                      <p:cBhvr>
                                        <p:cTn id="83" dur="500"/>
                                        <p:tgtEl>
                                          <p:spTgt spid="106"/>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109"/>
                                        </p:tgtEl>
                                        <p:attrNameLst>
                                          <p:attrName>style.visibility</p:attrName>
                                        </p:attrNameLst>
                                      </p:cBhvr>
                                      <p:to>
                                        <p:strVal val="visible"/>
                                      </p:to>
                                    </p:set>
                                    <p:anim calcmode="lin" valueType="num">
                                      <p:cBhvr>
                                        <p:cTn id="88" dur="500" fill="hold"/>
                                        <p:tgtEl>
                                          <p:spTgt spid="109"/>
                                        </p:tgtEl>
                                        <p:attrNameLst>
                                          <p:attrName>ppt_w</p:attrName>
                                        </p:attrNameLst>
                                      </p:cBhvr>
                                      <p:tavLst>
                                        <p:tav tm="0">
                                          <p:val>
                                            <p:fltVal val="0"/>
                                          </p:val>
                                        </p:tav>
                                        <p:tav tm="100000">
                                          <p:val>
                                            <p:strVal val="#ppt_w"/>
                                          </p:val>
                                        </p:tav>
                                      </p:tavLst>
                                    </p:anim>
                                    <p:anim calcmode="lin" valueType="num">
                                      <p:cBhvr>
                                        <p:cTn id="89" dur="500" fill="hold"/>
                                        <p:tgtEl>
                                          <p:spTgt spid="109"/>
                                        </p:tgtEl>
                                        <p:attrNameLst>
                                          <p:attrName>ppt_h</p:attrName>
                                        </p:attrNameLst>
                                      </p:cBhvr>
                                      <p:tavLst>
                                        <p:tav tm="0">
                                          <p:val>
                                            <p:fltVal val="0"/>
                                          </p:val>
                                        </p:tav>
                                        <p:tav tm="100000">
                                          <p:val>
                                            <p:strVal val="#ppt_h"/>
                                          </p:val>
                                        </p:tav>
                                      </p:tavLst>
                                    </p:anim>
                                    <p:animEffect transition="in" filter="fade">
                                      <p:cBhvr>
                                        <p:cTn id="90" dur="500"/>
                                        <p:tgtEl>
                                          <p:spTgt spid="109"/>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4" fill="hold" nodeType="clickEffect">
                                  <p:stCondLst>
                                    <p:cond delay="0"/>
                                  </p:stCondLst>
                                  <p:childTnLst>
                                    <p:set>
                                      <p:cBhvr>
                                        <p:cTn id="94" dur="1" fill="hold">
                                          <p:stCondLst>
                                            <p:cond delay="0"/>
                                          </p:stCondLst>
                                        </p:cTn>
                                        <p:tgtEl>
                                          <p:spTgt spid="110"/>
                                        </p:tgtEl>
                                        <p:attrNameLst>
                                          <p:attrName>style.visibility</p:attrName>
                                        </p:attrNameLst>
                                      </p:cBhvr>
                                      <p:to>
                                        <p:strVal val="visible"/>
                                      </p:to>
                                    </p:set>
                                    <p:anim calcmode="lin" valueType="num">
                                      <p:cBhvr additive="base">
                                        <p:cTn id="95" dur="500"/>
                                        <p:tgtEl>
                                          <p:spTgt spid="110"/>
                                        </p:tgtEl>
                                        <p:attrNameLst>
                                          <p:attrName>ppt_y</p:attrName>
                                        </p:attrNameLst>
                                      </p:cBhvr>
                                      <p:tavLst>
                                        <p:tav tm="0">
                                          <p:val>
                                            <p:strVal val="#ppt_y+#ppt_h*1.125000"/>
                                          </p:val>
                                        </p:tav>
                                        <p:tav tm="100000">
                                          <p:val>
                                            <p:strVal val="#ppt_y"/>
                                          </p:val>
                                        </p:tav>
                                      </p:tavLst>
                                    </p:anim>
                                    <p:animEffect transition="in" filter="wipe(up)">
                                      <p:cBhvr>
                                        <p:cTn id="96" dur="500"/>
                                        <p:tgtEl>
                                          <p:spTgt spid="110"/>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4" fill="hold" nodeType="clickEffect">
                                  <p:stCondLst>
                                    <p:cond delay="0"/>
                                  </p:stCondLst>
                                  <p:childTnLst>
                                    <p:set>
                                      <p:cBhvr>
                                        <p:cTn id="100" dur="1" fill="hold">
                                          <p:stCondLst>
                                            <p:cond delay="0"/>
                                          </p:stCondLst>
                                        </p:cTn>
                                        <p:tgtEl>
                                          <p:spTgt spid="115"/>
                                        </p:tgtEl>
                                        <p:attrNameLst>
                                          <p:attrName>style.visibility</p:attrName>
                                        </p:attrNameLst>
                                      </p:cBhvr>
                                      <p:to>
                                        <p:strVal val="visible"/>
                                      </p:to>
                                    </p:set>
                                    <p:anim calcmode="lin" valueType="num">
                                      <p:cBhvr additive="base">
                                        <p:cTn id="101" dur="500"/>
                                        <p:tgtEl>
                                          <p:spTgt spid="115"/>
                                        </p:tgtEl>
                                        <p:attrNameLst>
                                          <p:attrName>ppt_y</p:attrName>
                                        </p:attrNameLst>
                                      </p:cBhvr>
                                      <p:tavLst>
                                        <p:tav tm="0">
                                          <p:val>
                                            <p:strVal val="#ppt_y+#ppt_h*1.125000"/>
                                          </p:val>
                                        </p:tav>
                                        <p:tav tm="100000">
                                          <p:val>
                                            <p:strVal val="#ppt_y"/>
                                          </p:val>
                                        </p:tav>
                                      </p:tavLst>
                                    </p:anim>
                                    <p:animEffect transition="in" filter="wipe(up)">
                                      <p:cBhvr>
                                        <p:cTn id="102"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102" grpId="0"/>
      <p:bldP spid="10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96850" y="1033780"/>
            <a:ext cx="11798300" cy="5824220"/>
          </a:xfrm>
          <a:prstGeom prst="rect">
            <a:avLst/>
          </a:prstGeom>
          <a:noFill/>
        </p:spPr>
        <p:txBody>
          <a:bodyPr wrap="square" rtlCol="0" anchor="t">
            <a:noAutofit/>
          </a:bodyPr>
          <a:p>
            <a:pPr marL="0" lvl="1" indent="-342900" algn="l">
              <a:lnSpc>
                <a:spcPct val="150000"/>
              </a:lnSpc>
              <a:buClr>
                <a:srgbClr val="DF4F21"/>
              </a:buClr>
              <a:buSzTx/>
              <a:buFont typeface="Wingdings" panose="05000000000000000000" charset="0"/>
              <a:buChar char="p"/>
            </a:pP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SMTP </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定义了</a:t>
            </a:r>
            <a:r>
              <a:rPr kumimoji="1" lang="en-US" altLang="zh-CN"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14条命令和21种应答信息。每条命令用 4 个字母组成，每一种应答信息一般只有一行信息，由一个3位数字的代码开始，后面附上（也可不附上）很简单的文字说明</a:t>
            </a: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 </a:t>
            </a:r>
            <a:endPar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endParaRPr>
          </a:p>
          <a:p>
            <a:pPr marL="342900" indent="-342900">
              <a:lnSpc>
                <a:spcPct val="150000"/>
              </a:lnSpc>
              <a:buClr>
                <a:srgbClr val="DF4F21"/>
              </a:buClr>
              <a:buSzTx/>
              <a:buFont typeface="Wingdings" panose="05000000000000000000" charset="0"/>
              <a:buChar char="p"/>
            </a:pPr>
            <a:endPar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457200" indent="-457200" algn="l">
              <a:lnSpc>
                <a:spcPct val="150000"/>
              </a:lnSpc>
              <a:buClr>
                <a:srgbClr val="DF4F21"/>
              </a:buClr>
              <a:buSzTx/>
              <a:buFont typeface="Wingdings" panose="05000000000000000000" charset="0"/>
              <a:buChar char="Ø"/>
            </a:pP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pic>
        <p:nvPicPr>
          <p:cNvPr id="5" name="内容占位符 4"/>
          <p:cNvPicPr>
            <a:picLocks noChangeAspect="1"/>
          </p:cNvPicPr>
          <p:nvPr/>
        </p:nvPicPr>
        <p:blipFill>
          <a:blip r:embed="rId1"/>
          <a:stretch>
            <a:fillRect/>
          </a:stretch>
        </p:blipFill>
        <p:spPr>
          <a:xfrm>
            <a:off x="2501265" y="2512060"/>
            <a:ext cx="9145905" cy="3947160"/>
          </a:xfrm>
          <a:prstGeom prst="rect">
            <a:avLst/>
          </a:prstGeom>
          <a:noFill/>
          <a:ln w="9525">
            <a:noFill/>
            <a:miter lim="800000"/>
            <a:headEnd/>
            <a:tailEnd/>
          </a:ln>
        </p:spPr>
      </p:pic>
      <p:sp>
        <p:nvSpPr>
          <p:cNvPr id="4" name="文本框 3"/>
          <p:cNvSpPr txBox="1"/>
          <p:nvPr/>
        </p:nvSpPr>
        <p:spPr>
          <a:xfrm>
            <a:off x="2455545" y="5746750"/>
            <a:ext cx="4631690" cy="482600"/>
          </a:xfrm>
          <a:prstGeom prst="rect">
            <a:avLst/>
          </a:prstGeom>
          <a:noFill/>
          <a:ln w="44450" cmpd="sng">
            <a:solidFill>
              <a:srgbClr val="FF0000"/>
            </a:solidFill>
            <a:prstDash val="solid"/>
          </a:ln>
        </p:spPr>
        <p:txBody>
          <a:bodyPr wrap="square" rtlCol="0">
            <a:noAutofit/>
          </a:bodyPr>
          <a:p>
            <a:endParaRPr lang="zh-CN" altLang="en-US"/>
          </a:p>
          <a:p>
            <a:endParaRPr lang="zh-CN" altLang="en-US"/>
          </a:p>
        </p:txBody>
      </p:sp>
      <p:sp>
        <p:nvSpPr>
          <p:cNvPr id="7" name="标题 6"/>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5.4</a:t>
            </a:r>
            <a:r>
              <a:rPr lang="zh-CN" altLang="en-US" sz="4000" dirty="0">
                <a:latin typeface="+mj-ea"/>
                <a:sym typeface="+mn-ea"/>
              </a:rPr>
              <a:t>.2 邮件传输协议</a:t>
            </a:r>
            <a:r>
              <a:rPr lang="en-US" altLang="zh-CN" sz="4000" dirty="0">
                <a:latin typeface="+mj-ea"/>
                <a:sym typeface="+mn-ea"/>
              </a:rPr>
              <a:t>——SMTP</a:t>
            </a:r>
            <a:endParaRPr lang="en-US" altLang="zh-CN" sz="4000" dirty="0">
              <a:latin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45720" y="270510"/>
            <a:ext cx="10393045" cy="583565"/>
          </a:xfrm>
        </p:spPr>
        <p:txBody>
          <a:bodyPr/>
          <a:p>
            <a:pPr algn="l">
              <a:buClrTx/>
              <a:buSzTx/>
              <a:buFontTx/>
            </a:pPr>
            <a:r>
              <a:rPr lang="en-US" altLang="zh-CN" sz="4000" dirty="0">
                <a:latin typeface="+mj-ea"/>
                <a:sym typeface="+mn-ea"/>
              </a:rPr>
              <a:t>5.4</a:t>
            </a:r>
            <a:r>
              <a:rPr lang="zh-CN" altLang="en-US" sz="4000" dirty="0">
                <a:latin typeface="+mj-ea"/>
                <a:sym typeface="+mn-ea"/>
              </a:rPr>
              <a:t>.2 邮件传输协议</a:t>
            </a:r>
            <a:r>
              <a:rPr lang="en-US" altLang="zh-CN" sz="4000" dirty="0">
                <a:latin typeface="+mj-ea"/>
                <a:sym typeface="+mn-ea"/>
              </a:rPr>
              <a:t>——POP</a:t>
            </a:r>
            <a:r>
              <a:rPr lang="zh-CN" altLang="en-US" sz="4000" dirty="0">
                <a:latin typeface="+mj-ea"/>
                <a:sym typeface="+mn-ea"/>
              </a:rPr>
              <a:t>和</a:t>
            </a:r>
            <a:r>
              <a:rPr lang="en-US" altLang="zh-CN" sz="4000" dirty="0">
                <a:sym typeface="+mn-ea"/>
              </a:rPr>
              <a:t>IMAP</a:t>
            </a:r>
            <a:endParaRPr lang="zh-CN" altLang="en-US" sz="4000" dirty="0">
              <a:latin typeface="+mj-ea"/>
              <a:sym typeface="+mn-ea"/>
            </a:endParaRPr>
          </a:p>
        </p:txBody>
      </p:sp>
      <p:sp>
        <p:nvSpPr>
          <p:cNvPr id="106" name="矩形 105"/>
          <p:cNvSpPr/>
          <p:nvPr/>
        </p:nvSpPr>
        <p:spPr>
          <a:xfrm>
            <a:off x="575339" y="5202865"/>
            <a:ext cx="11041322" cy="6025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dirty="0"/>
              <a:t>POP3</a:t>
            </a:r>
            <a:r>
              <a:rPr lang="zh-CN" altLang="en-US" sz="2400" b="1" dirty="0"/>
              <a:t>和</a:t>
            </a:r>
            <a:r>
              <a:rPr lang="en-US" altLang="zh-CN" sz="2400" b="1" dirty="0"/>
              <a:t>IMAP4</a:t>
            </a:r>
            <a:r>
              <a:rPr lang="zh-CN" altLang="en-US" sz="2400" b="1" dirty="0"/>
              <a:t>都采用基于</a:t>
            </a:r>
            <a:r>
              <a:rPr lang="en-US" altLang="zh-CN" sz="2400" b="1" dirty="0"/>
              <a:t>TCP</a:t>
            </a:r>
            <a:r>
              <a:rPr lang="zh-CN" altLang="en-US" sz="2400" b="1" dirty="0"/>
              <a:t>连接的客户</a:t>
            </a:r>
            <a:r>
              <a:rPr lang="en-US" altLang="zh-CN" sz="2400" b="1" dirty="0"/>
              <a:t>/</a:t>
            </a:r>
            <a:r>
              <a:rPr lang="zh-CN" altLang="en-US" sz="2400" b="1" dirty="0"/>
              <a:t>服务器方式</a:t>
            </a:r>
            <a:endParaRPr lang="zh-CN" altLang="en-US" sz="2400" b="1" dirty="0"/>
          </a:p>
        </p:txBody>
      </p:sp>
      <p:sp>
        <p:nvSpPr>
          <p:cNvPr id="79" name="矩形 78"/>
          <p:cNvSpPr/>
          <p:nvPr/>
        </p:nvSpPr>
        <p:spPr>
          <a:xfrm>
            <a:off x="575339" y="1652746"/>
            <a:ext cx="5258391" cy="7785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2000" b="1" dirty="0">
                <a:solidFill>
                  <a:schemeClr val="bg1"/>
                </a:solidFill>
              </a:rPr>
              <a:t>邮局协议</a:t>
            </a:r>
            <a:endParaRPr lang="en-US" altLang="zh-CN" sz="2000" b="1" dirty="0">
              <a:solidFill>
                <a:schemeClr val="bg1"/>
              </a:solidFill>
            </a:endParaRPr>
          </a:p>
          <a:p>
            <a:pPr algn="ctr"/>
            <a:r>
              <a:rPr lang="zh-CN" altLang="en-US" b="1" dirty="0">
                <a:solidFill>
                  <a:schemeClr val="bg1"/>
                </a:solidFill>
              </a:rPr>
              <a:t>（</a:t>
            </a:r>
            <a:r>
              <a:rPr lang="en-US" altLang="zh-CN" b="1" dirty="0">
                <a:solidFill>
                  <a:schemeClr val="bg1"/>
                </a:solidFill>
              </a:rPr>
              <a:t>Post Office Protocol</a:t>
            </a:r>
            <a:r>
              <a:rPr lang="zh-CN" altLang="en-US" b="1" dirty="0">
                <a:solidFill>
                  <a:schemeClr val="bg1"/>
                </a:solidFill>
              </a:rPr>
              <a:t>，</a:t>
            </a:r>
            <a:r>
              <a:rPr lang="en-US" altLang="zh-CN" b="1" dirty="0">
                <a:solidFill>
                  <a:schemeClr val="bg1"/>
                </a:solidFill>
              </a:rPr>
              <a:t>POP</a:t>
            </a:r>
            <a:r>
              <a:rPr lang="zh-CN" altLang="en-US" b="1" dirty="0">
                <a:solidFill>
                  <a:schemeClr val="bg1"/>
                </a:solidFill>
              </a:rPr>
              <a:t>）</a:t>
            </a:r>
            <a:endParaRPr lang="zh-CN" altLang="en-US" dirty="0">
              <a:solidFill>
                <a:schemeClr val="bg1"/>
              </a:solidFill>
            </a:endParaRPr>
          </a:p>
        </p:txBody>
      </p:sp>
      <p:grpSp>
        <p:nvGrpSpPr>
          <p:cNvPr id="104" name="组合 103"/>
          <p:cNvGrpSpPr/>
          <p:nvPr/>
        </p:nvGrpSpPr>
        <p:grpSpPr>
          <a:xfrm>
            <a:off x="575339" y="2438398"/>
            <a:ext cx="5258391" cy="2636875"/>
            <a:chOff x="575339" y="2438398"/>
            <a:chExt cx="5258391" cy="2636875"/>
          </a:xfrm>
        </p:grpSpPr>
        <p:sp>
          <p:nvSpPr>
            <p:cNvPr id="80" name="矩形 79"/>
            <p:cNvSpPr/>
            <p:nvPr/>
          </p:nvSpPr>
          <p:spPr>
            <a:xfrm>
              <a:off x="575339" y="2438398"/>
              <a:ext cx="5258391" cy="2636875"/>
            </a:xfrm>
            <a:prstGeom prst="rect">
              <a:avLst/>
            </a:prstGeom>
            <a:solidFill>
              <a:schemeClr val="bg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dirty="0">
                <a:solidFill>
                  <a:schemeClr val="bg1"/>
                </a:solidFill>
              </a:endParaRPr>
            </a:p>
          </p:txBody>
        </p:sp>
        <p:grpSp>
          <p:nvGrpSpPr>
            <p:cNvPr id="100" name="组合 99"/>
            <p:cNvGrpSpPr/>
            <p:nvPr/>
          </p:nvGrpSpPr>
          <p:grpSpPr>
            <a:xfrm>
              <a:off x="711202" y="2578334"/>
              <a:ext cx="4692503" cy="368300"/>
              <a:chOff x="711202" y="2578334"/>
              <a:chExt cx="4692503" cy="368300"/>
            </a:xfrm>
          </p:grpSpPr>
          <p:sp>
            <p:nvSpPr>
              <p:cNvPr id="81" name="椭圆 80"/>
              <p:cNvSpPr/>
              <p:nvPr/>
            </p:nvSpPr>
            <p:spPr>
              <a:xfrm>
                <a:off x="711202" y="2666409"/>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2" name="文本框 81"/>
              <p:cNvSpPr txBox="1"/>
              <p:nvPr/>
            </p:nvSpPr>
            <p:spPr>
              <a:xfrm>
                <a:off x="959295" y="2578334"/>
                <a:ext cx="4444410" cy="368300"/>
              </a:xfrm>
              <a:prstGeom prst="rect">
                <a:avLst/>
              </a:prstGeom>
              <a:noFill/>
            </p:spPr>
            <p:txBody>
              <a:bodyPr wrap="square" rtlCol="0">
                <a:spAutoFit/>
              </a:bodyPr>
              <a:p>
                <a:r>
                  <a:rPr lang="en-US" altLang="zh-CN" b="1" dirty="0"/>
                  <a:t>POP3</a:t>
                </a:r>
                <a:r>
                  <a:rPr lang="zh-CN" altLang="en-US" b="1" dirty="0"/>
                  <a:t>是第三个版本，是因特网正式标准。</a:t>
                </a:r>
                <a:endParaRPr lang="zh-CN" altLang="en-US" dirty="0"/>
              </a:p>
            </p:txBody>
          </p:sp>
        </p:grpSp>
        <p:grpSp>
          <p:nvGrpSpPr>
            <p:cNvPr id="101" name="组合 100"/>
            <p:cNvGrpSpPr/>
            <p:nvPr/>
          </p:nvGrpSpPr>
          <p:grpSpPr>
            <a:xfrm>
              <a:off x="711202" y="3028386"/>
              <a:ext cx="4692503" cy="369332"/>
              <a:chOff x="711202" y="3028386"/>
              <a:chExt cx="4692503" cy="369332"/>
            </a:xfrm>
          </p:grpSpPr>
          <p:sp>
            <p:nvSpPr>
              <p:cNvPr id="83" name="椭圆 82"/>
              <p:cNvSpPr/>
              <p:nvPr/>
            </p:nvSpPr>
            <p:spPr>
              <a:xfrm>
                <a:off x="711202" y="3116461"/>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 name="文本框 83"/>
              <p:cNvSpPr txBox="1"/>
              <p:nvPr/>
            </p:nvSpPr>
            <p:spPr>
              <a:xfrm>
                <a:off x="959295" y="3028386"/>
                <a:ext cx="4444410" cy="369332"/>
              </a:xfrm>
              <a:prstGeom prst="rect">
                <a:avLst/>
              </a:prstGeom>
              <a:noFill/>
            </p:spPr>
            <p:txBody>
              <a:bodyPr wrap="square" rtlCol="0">
                <a:spAutoFit/>
              </a:bodyPr>
              <a:p>
                <a:r>
                  <a:rPr lang="zh-CN" altLang="en-US" b="1" dirty="0"/>
                  <a:t>非常简单、功能有限的邮件读取协议。</a:t>
                </a:r>
                <a:endParaRPr lang="zh-CN" altLang="en-US" dirty="0"/>
              </a:p>
            </p:txBody>
          </p:sp>
        </p:grpSp>
        <p:grpSp>
          <p:nvGrpSpPr>
            <p:cNvPr id="102" name="组合 101"/>
            <p:cNvGrpSpPr/>
            <p:nvPr/>
          </p:nvGrpSpPr>
          <p:grpSpPr>
            <a:xfrm>
              <a:off x="711202" y="3481843"/>
              <a:ext cx="5065823" cy="646331"/>
              <a:chOff x="711202" y="3481843"/>
              <a:chExt cx="5065823" cy="646331"/>
            </a:xfrm>
          </p:grpSpPr>
          <p:sp>
            <p:nvSpPr>
              <p:cNvPr id="85" name="椭圆 84"/>
              <p:cNvSpPr/>
              <p:nvPr/>
            </p:nvSpPr>
            <p:spPr>
              <a:xfrm>
                <a:off x="711202" y="3569918"/>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 name="文本框 85"/>
              <p:cNvSpPr txBox="1"/>
              <p:nvPr/>
            </p:nvSpPr>
            <p:spPr>
              <a:xfrm>
                <a:off x="959294" y="3481843"/>
                <a:ext cx="4817731" cy="646331"/>
              </a:xfrm>
              <a:prstGeom prst="rect">
                <a:avLst/>
              </a:prstGeom>
              <a:noFill/>
            </p:spPr>
            <p:txBody>
              <a:bodyPr wrap="square" rtlCol="0">
                <a:spAutoFit/>
              </a:bodyPr>
              <a:p>
                <a:r>
                  <a:rPr lang="zh-CN" altLang="en-US" b="1" dirty="0"/>
                  <a:t>用户只能以</a:t>
                </a:r>
                <a:r>
                  <a:rPr lang="zh-CN" altLang="en-US" b="1" dirty="0">
                    <a:solidFill>
                      <a:schemeClr val="accent1">
                        <a:lumMod val="75000"/>
                      </a:schemeClr>
                    </a:solidFill>
                  </a:rPr>
                  <a:t>下载并删除方式</a:t>
                </a:r>
                <a:r>
                  <a:rPr lang="zh-CN" altLang="en-US" b="1" dirty="0"/>
                  <a:t>或</a:t>
                </a:r>
                <a:r>
                  <a:rPr lang="zh-CN" altLang="en-US" b="1" dirty="0">
                    <a:solidFill>
                      <a:schemeClr val="accent1">
                        <a:lumMod val="75000"/>
                      </a:schemeClr>
                    </a:solidFill>
                  </a:rPr>
                  <a:t>下载并保留方式</a:t>
                </a:r>
                <a:r>
                  <a:rPr lang="zh-CN" altLang="en-US" b="1" dirty="0"/>
                  <a:t>从邮件服务器下载邮件到用户方计算机。</a:t>
                </a:r>
                <a:endParaRPr lang="zh-CN" altLang="en-US" dirty="0"/>
              </a:p>
            </p:txBody>
          </p:sp>
        </p:grpSp>
        <p:grpSp>
          <p:nvGrpSpPr>
            <p:cNvPr id="103" name="组合 102"/>
            <p:cNvGrpSpPr/>
            <p:nvPr/>
          </p:nvGrpSpPr>
          <p:grpSpPr>
            <a:xfrm>
              <a:off x="711202" y="4212299"/>
              <a:ext cx="5065823" cy="646331"/>
              <a:chOff x="711202" y="4212299"/>
              <a:chExt cx="5065823" cy="646331"/>
            </a:xfrm>
          </p:grpSpPr>
          <p:sp>
            <p:nvSpPr>
              <p:cNvPr id="87" name="椭圆 86"/>
              <p:cNvSpPr/>
              <p:nvPr/>
            </p:nvSpPr>
            <p:spPr>
              <a:xfrm>
                <a:off x="711202" y="4300374"/>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 name="文本框 87"/>
              <p:cNvSpPr txBox="1"/>
              <p:nvPr/>
            </p:nvSpPr>
            <p:spPr>
              <a:xfrm>
                <a:off x="959294" y="4212299"/>
                <a:ext cx="4817731" cy="646331"/>
              </a:xfrm>
              <a:prstGeom prst="rect">
                <a:avLst/>
              </a:prstGeom>
              <a:noFill/>
            </p:spPr>
            <p:txBody>
              <a:bodyPr wrap="square" rtlCol="0">
                <a:spAutoFit/>
              </a:bodyPr>
              <a:p>
                <a:r>
                  <a:rPr lang="zh-CN" altLang="en-US" b="1" dirty="0">
                    <a:solidFill>
                      <a:schemeClr val="accent1">
                        <a:lumMod val="75000"/>
                      </a:schemeClr>
                    </a:solidFill>
                  </a:rPr>
                  <a:t>不允许用户在邮件服务器上管理自己的邮件</a:t>
                </a:r>
                <a:r>
                  <a:rPr lang="zh-CN" altLang="en-US" b="1" dirty="0"/>
                  <a:t>。（例如创建文件夹，对邮件进行分类管理等）。</a:t>
                </a:r>
                <a:endParaRPr lang="en-US" altLang="zh-CN" b="1" dirty="0"/>
              </a:p>
            </p:txBody>
          </p:sp>
        </p:grpSp>
      </p:grpSp>
      <p:sp>
        <p:nvSpPr>
          <p:cNvPr id="89" name="矩形 88"/>
          <p:cNvSpPr/>
          <p:nvPr/>
        </p:nvSpPr>
        <p:spPr>
          <a:xfrm>
            <a:off x="6358270" y="1652746"/>
            <a:ext cx="5258391" cy="7785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900" b="1" dirty="0">
                <a:solidFill>
                  <a:schemeClr val="bg1"/>
                </a:solidFill>
              </a:rPr>
              <a:t>因特网邮件访问协议</a:t>
            </a:r>
            <a:endParaRPr lang="en-US" altLang="zh-CN" sz="1900" b="1" dirty="0">
              <a:solidFill>
                <a:schemeClr val="bg1"/>
              </a:solidFill>
            </a:endParaRPr>
          </a:p>
          <a:p>
            <a:pPr algn="ctr"/>
            <a:r>
              <a:rPr lang="zh-CN" altLang="en-US" sz="1900" b="1" dirty="0">
                <a:solidFill>
                  <a:schemeClr val="bg1"/>
                </a:solidFill>
              </a:rPr>
              <a:t>（</a:t>
            </a:r>
            <a:r>
              <a:rPr lang="en-US" altLang="zh-CN" sz="1900" b="1" dirty="0">
                <a:solidFill>
                  <a:schemeClr val="bg1"/>
                </a:solidFill>
              </a:rPr>
              <a:t>Internet Message Access Protocol</a:t>
            </a:r>
            <a:r>
              <a:rPr lang="zh-CN" altLang="en-US" sz="1900" b="1" dirty="0">
                <a:solidFill>
                  <a:schemeClr val="bg1"/>
                </a:solidFill>
              </a:rPr>
              <a:t>，</a:t>
            </a:r>
            <a:r>
              <a:rPr lang="en-US" altLang="zh-CN" sz="1900" b="1" dirty="0">
                <a:solidFill>
                  <a:schemeClr val="bg1"/>
                </a:solidFill>
              </a:rPr>
              <a:t>IMAP</a:t>
            </a:r>
            <a:r>
              <a:rPr lang="zh-CN" altLang="en-US" sz="1900" b="1" dirty="0">
                <a:solidFill>
                  <a:schemeClr val="bg1"/>
                </a:solidFill>
              </a:rPr>
              <a:t>）</a:t>
            </a:r>
            <a:endParaRPr lang="zh-CN" altLang="en-US" sz="1900" dirty="0">
              <a:solidFill>
                <a:schemeClr val="bg1"/>
              </a:solidFill>
            </a:endParaRPr>
          </a:p>
        </p:txBody>
      </p:sp>
      <p:grpSp>
        <p:nvGrpSpPr>
          <p:cNvPr id="105" name="组合 104"/>
          <p:cNvGrpSpPr/>
          <p:nvPr/>
        </p:nvGrpSpPr>
        <p:grpSpPr>
          <a:xfrm>
            <a:off x="6358270" y="2434487"/>
            <a:ext cx="5258391" cy="2636875"/>
            <a:chOff x="6358270" y="2434487"/>
            <a:chExt cx="5258391" cy="2636875"/>
          </a:xfrm>
        </p:grpSpPr>
        <p:sp>
          <p:nvSpPr>
            <p:cNvPr id="90" name="矩形 89"/>
            <p:cNvSpPr/>
            <p:nvPr/>
          </p:nvSpPr>
          <p:spPr>
            <a:xfrm>
              <a:off x="6358270" y="2434487"/>
              <a:ext cx="5258391" cy="2636875"/>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dirty="0">
                <a:solidFill>
                  <a:schemeClr val="bg1"/>
                </a:solidFill>
              </a:endParaRPr>
            </a:p>
          </p:txBody>
        </p:sp>
        <p:sp>
          <p:nvSpPr>
            <p:cNvPr id="91" name="椭圆 90"/>
            <p:cNvSpPr/>
            <p:nvPr/>
          </p:nvSpPr>
          <p:spPr>
            <a:xfrm>
              <a:off x="6482905" y="2666409"/>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2" name="文本框 91"/>
            <p:cNvSpPr txBox="1"/>
            <p:nvPr/>
          </p:nvSpPr>
          <p:spPr>
            <a:xfrm>
              <a:off x="6730998" y="2578334"/>
              <a:ext cx="4749800" cy="369332"/>
            </a:xfrm>
            <a:prstGeom prst="rect">
              <a:avLst/>
            </a:prstGeom>
            <a:noFill/>
          </p:spPr>
          <p:txBody>
            <a:bodyPr wrap="square" rtlCol="0">
              <a:spAutoFit/>
            </a:bodyPr>
            <a:p>
              <a:r>
                <a:rPr lang="en-US" altLang="zh-CN" b="1" dirty="0"/>
                <a:t>IMAP4</a:t>
              </a:r>
              <a:r>
                <a:rPr lang="zh-CN" altLang="en-US" b="1" dirty="0"/>
                <a:t>是其第四个版本，是因特网建议标准。</a:t>
              </a:r>
              <a:endParaRPr lang="zh-CN" altLang="en-US" dirty="0"/>
            </a:p>
          </p:txBody>
        </p:sp>
        <p:sp>
          <p:nvSpPr>
            <p:cNvPr id="93" name="椭圆 92"/>
            <p:cNvSpPr/>
            <p:nvPr/>
          </p:nvSpPr>
          <p:spPr>
            <a:xfrm>
              <a:off x="6482905" y="3116461"/>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 name="文本框 93"/>
            <p:cNvSpPr txBox="1"/>
            <p:nvPr/>
          </p:nvSpPr>
          <p:spPr>
            <a:xfrm>
              <a:off x="6730998" y="3028386"/>
              <a:ext cx="4444410" cy="369332"/>
            </a:xfrm>
            <a:prstGeom prst="rect">
              <a:avLst/>
            </a:prstGeom>
            <a:noFill/>
          </p:spPr>
          <p:txBody>
            <a:bodyPr wrap="square" rtlCol="0">
              <a:spAutoFit/>
            </a:bodyPr>
            <a:p>
              <a:r>
                <a:rPr lang="zh-CN" altLang="en-US" b="1" dirty="0"/>
                <a:t>功能比</a:t>
              </a:r>
              <a:r>
                <a:rPr lang="en-US" altLang="zh-CN" b="1" dirty="0"/>
                <a:t>POP3</a:t>
              </a:r>
              <a:r>
                <a:rPr lang="zh-CN" altLang="en-US" b="1" dirty="0"/>
                <a:t>强大的邮件读取协议。</a:t>
              </a:r>
              <a:endParaRPr lang="zh-CN" altLang="en-US" dirty="0"/>
            </a:p>
          </p:txBody>
        </p:sp>
        <p:sp>
          <p:nvSpPr>
            <p:cNvPr id="95" name="椭圆 94"/>
            <p:cNvSpPr/>
            <p:nvPr/>
          </p:nvSpPr>
          <p:spPr>
            <a:xfrm>
              <a:off x="6482905" y="3569918"/>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6" name="文本框 95"/>
            <p:cNvSpPr txBox="1"/>
            <p:nvPr/>
          </p:nvSpPr>
          <p:spPr>
            <a:xfrm>
              <a:off x="6730997" y="3481843"/>
              <a:ext cx="4817731" cy="923330"/>
            </a:xfrm>
            <a:prstGeom prst="rect">
              <a:avLst/>
            </a:prstGeom>
            <a:noFill/>
          </p:spPr>
          <p:txBody>
            <a:bodyPr wrap="square" rtlCol="0">
              <a:spAutoFit/>
            </a:bodyPr>
            <a:p>
              <a:r>
                <a:rPr lang="zh-CN" altLang="en-US" b="1" dirty="0">
                  <a:solidFill>
                    <a:schemeClr val="accent1">
                      <a:lumMod val="75000"/>
                    </a:schemeClr>
                  </a:solidFill>
                </a:rPr>
                <a:t>用户在自己的计算机上就可以操控邮件服务器中的邮箱</a:t>
              </a:r>
              <a:r>
                <a:rPr lang="zh-CN" altLang="en-US" b="1" dirty="0"/>
                <a:t>，就像在本地操控一样，因此</a:t>
              </a:r>
              <a:r>
                <a:rPr lang="en-US" altLang="zh-CN" b="1" dirty="0"/>
                <a:t>IMAP</a:t>
              </a:r>
              <a:r>
                <a:rPr lang="zh-CN" altLang="en-US" b="1" dirty="0"/>
                <a:t>是一个联机协议。</a:t>
              </a:r>
              <a:endParaRPr lang="zh-CN" altLang="en-US" dirty="0"/>
            </a:p>
          </p:txBody>
        </p:sp>
      </p:grpSp>
      <p:sp>
        <p:nvSpPr>
          <p:cNvPr id="107" name="文本框 106"/>
          <p:cNvSpPr txBox="1"/>
          <p:nvPr/>
        </p:nvSpPr>
        <p:spPr>
          <a:xfrm>
            <a:off x="582430" y="5329213"/>
            <a:ext cx="1467293" cy="369332"/>
          </a:xfrm>
          <a:prstGeom prst="rect">
            <a:avLst/>
          </a:prstGeom>
          <a:noFill/>
        </p:spPr>
        <p:txBody>
          <a:bodyPr wrap="square" rtlCol="0">
            <a:spAutoFit/>
          </a:bodyPr>
          <a:p>
            <a:r>
              <a:rPr lang="zh-CN" altLang="en-US" b="1" dirty="0">
                <a:solidFill>
                  <a:schemeClr val="bg1"/>
                </a:solidFill>
              </a:rPr>
              <a:t>端口号为</a:t>
            </a:r>
            <a:r>
              <a:rPr lang="en-US" altLang="zh-CN" b="1" dirty="0">
                <a:solidFill>
                  <a:schemeClr val="bg1"/>
                </a:solidFill>
              </a:rPr>
              <a:t>110</a:t>
            </a:r>
            <a:endParaRPr lang="zh-CN" altLang="en-US" b="1" dirty="0">
              <a:solidFill>
                <a:schemeClr val="bg1"/>
              </a:solidFill>
            </a:endParaRPr>
          </a:p>
        </p:txBody>
      </p:sp>
      <p:sp>
        <p:nvSpPr>
          <p:cNvPr id="108" name="文本框 107"/>
          <p:cNvSpPr txBox="1"/>
          <p:nvPr/>
        </p:nvSpPr>
        <p:spPr>
          <a:xfrm>
            <a:off x="9949180" y="5328920"/>
            <a:ext cx="1661795" cy="368300"/>
          </a:xfrm>
          <a:prstGeom prst="rect">
            <a:avLst/>
          </a:prstGeom>
          <a:noFill/>
        </p:spPr>
        <p:txBody>
          <a:bodyPr wrap="square" rtlCol="0">
            <a:spAutoFit/>
          </a:bodyPr>
          <a:p>
            <a:r>
              <a:rPr lang="zh-CN" altLang="en-US" b="1" dirty="0">
                <a:solidFill>
                  <a:schemeClr val="bg1"/>
                </a:solidFill>
              </a:rPr>
              <a:t>端口号为</a:t>
            </a:r>
            <a:r>
              <a:rPr lang="en-US" altLang="zh-CN" b="1" dirty="0">
                <a:solidFill>
                  <a:schemeClr val="bg1"/>
                </a:solidFill>
              </a:rPr>
              <a:t>143</a:t>
            </a:r>
            <a:endParaRPr lang="zh-CN" altLang="en-US"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p:cTn id="7" dur="500" fill="hold"/>
                                        <p:tgtEl>
                                          <p:spTgt spid="79"/>
                                        </p:tgtEl>
                                        <p:attrNameLst>
                                          <p:attrName>ppt_w</p:attrName>
                                        </p:attrNameLst>
                                      </p:cBhvr>
                                      <p:tavLst>
                                        <p:tav tm="0">
                                          <p:val>
                                            <p:fltVal val="0"/>
                                          </p:val>
                                        </p:tav>
                                        <p:tav tm="100000">
                                          <p:val>
                                            <p:strVal val="#ppt_w"/>
                                          </p:val>
                                        </p:tav>
                                      </p:tavLst>
                                    </p:anim>
                                    <p:anim calcmode="lin" valueType="num">
                                      <p:cBhvr>
                                        <p:cTn id="8" dur="500" fill="hold"/>
                                        <p:tgtEl>
                                          <p:spTgt spid="79"/>
                                        </p:tgtEl>
                                        <p:attrNameLst>
                                          <p:attrName>ppt_h</p:attrName>
                                        </p:attrNameLst>
                                      </p:cBhvr>
                                      <p:tavLst>
                                        <p:tav tm="0">
                                          <p:val>
                                            <p:fltVal val="0"/>
                                          </p:val>
                                        </p:tav>
                                        <p:tav tm="100000">
                                          <p:val>
                                            <p:strVal val="#ppt_h"/>
                                          </p:val>
                                        </p:tav>
                                      </p:tavLst>
                                    </p:anim>
                                    <p:animEffect transition="in" filter="fade">
                                      <p:cBhvr>
                                        <p:cTn id="9" dur="500"/>
                                        <p:tgtEl>
                                          <p:spTgt spid="7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9"/>
                                        </p:tgtEl>
                                        <p:attrNameLst>
                                          <p:attrName>style.visibility</p:attrName>
                                        </p:attrNameLst>
                                      </p:cBhvr>
                                      <p:to>
                                        <p:strVal val="visible"/>
                                      </p:to>
                                    </p:set>
                                    <p:anim calcmode="lin" valueType="num">
                                      <p:cBhvr>
                                        <p:cTn id="14" dur="500" fill="hold"/>
                                        <p:tgtEl>
                                          <p:spTgt spid="89"/>
                                        </p:tgtEl>
                                        <p:attrNameLst>
                                          <p:attrName>ppt_w</p:attrName>
                                        </p:attrNameLst>
                                      </p:cBhvr>
                                      <p:tavLst>
                                        <p:tav tm="0">
                                          <p:val>
                                            <p:fltVal val="0"/>
                                          </p:val>
                                        </p:tav>
                                        <p:tav tm="100000">
                                          <p:val>
                                            <p:strVal val="#ppt_w"/>
                                          </p:val>
                                        </p:tav>
                                      </p:tavLst>
                                    </p:anim>
                                    <p:anim calcmode="lin" valueType="num">
                                      <p:cBhvr>
                                        <p:cTn id="15" dur="500" fill="hold"/>
                                        <p:tgtEl>
                                          <p:spTgt spid="89"/>
                                        </p:tgtEl>
                                        <p:attrNameLst>
                                          <p:attrName>ppt_h</p:attrName>
                                        </p:attrNameLst>
                                      </p:cBhvr>
                                      <p:tavLst>
                                        <p:tav tm="0">
                                          <p:val>
                                            <p:fltVal val="0"/>
                                          </p:val>
                                        </p:tav>
                                        <p:tav tm="100000">
                                          <p:val>
                                            <p:strVal val="#ppt_h"/>
                                          </p:val>
                                        </p:tav>
                                      </p:tavLst>
                                    </p:anim>
                                    <p:animEffect transition="in" filter="fade">
                                      <p:cBhvr>
                                        <p:cTn id="16" dur="500"/>
                                        <p:tgtEl>
                                          <p:spTgt spid="8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04"/>
                                        </p:tgtEl>
                                        <p:attrNameLst>
                                          <p:attrName>style.visibility</p:attrName>
                                        </p:attrNameLst>
                                      </p:cBhvr>
                                      <p:to>
                                        <p:strVal val="visible"/>
                                      </p:to>
                                    </p:set>
                                    <p:animEffect transition="in" filter="wipe(up)">
                                      <p:cBhvr>
                                        <p:cTn id="21" dur="500"/>
                                        <p:tgtEl>
                                          <p:spTgt spid="10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05"/>
                                        </p:tgtEl>
                                        <p:attrNameLst>
                                          <p:attrName>style.visibility</p:attrName>
                                        </p:attrNameLst>
                                      </p:cBhvr>
                                      <p:to>
                                        <p:strVal val="visible"/>
                                      </p:to>
                                    </p:set>
                                    <p:animEffect transition="in" filter="wipe(up)">
                                      <p:cBhvr>
                                        <p:cTn id="26" dur="500"/>
                                        <p:tgtEl>
                                          <p:spTgt spid="105"/>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1" fill="hold" grpId="0" nodeType="clickEffect">
                                  <p:stCondLst>
                                    <p:cond delay="0"/>
                                  </p:stCondLst>
                                  <p:childTnLst>
                                    <p:set>
                                      <p:cBhvr>
                                        <p:cTn id="30" dur="1" fill="hold">
                                          <p:stCondLst>
                                            <p:cond delay="0"/>
                                          </p:stCondLst>
                                        </p:cTn>
                                        <p:tgtEl>
                                          <p:spTgt spid="106"/>
                                        </p:tgtEl>
                                        <p:attrNameLst>
                                          <p:attrName>style.visibility</p:attrName>
                                        </p:attrNameLst>
                                      </p:cBhvr>
                                      <p:to>
                                        <p:strVal val="visible"/>
                                      </p:to>
                                    </p:set>
                                    <p:anim calcmode="lin" valueType="num">
                                      <p:cBhvr additive="base">
                                        <p:cTn id="31" dur="500"/>
                                        <p:tgtEl>
                                          <p:spTgt spid="106"/>
                                        </p:tgtEl>
                                        <p:attrNameLst>
                                          <p:attrName>ppt_y</p:attrName>
                                        </p:attrNameLst>
                                      </p:cBhvr>
                                      <p:tavLst>
                                        <p:tav tm="0">
                                          <p:val>
                                            <p:strVal val="#ppt_y-#ppt_h*1.125000"/>
                                          </p:val>
                                        </p:tav>
                                        <p:tav tm="100000">
                                          <p:val>
                                            <p:strVal val="#ppt_y"/>
                                          </p:val>
                                        </p:tav>
                                      </p:tavLst>
                                    </p:anim>
                                    <p:animEffect transition="in" filter="wipe(down)">
                                      <p:cBhvr>
                                        <p:cTn id="32" dur="500"/>
                                        <p:tgtEl>
                                          <p:spTgt spid="106"/>
                                        </p:tgtEl>
                                      </p:cBhvr>
                                    </p:animEffect>
                                  </p:childTnLst>
                                </p:cTn>
                              </p:par>
                            </p:childTnLst>
                          </p:cTn>
                        </p:par>
                      </p:childTnLst>
                    </p:cTn>
                  </p:par>
                  <p:par>
                    <p:cTn id="33" fill="hold">
                      <p:stCondLst>
                        <p:cond delay="indefinite"/>
                      </p:stCondLst>
                      <p:childTnLst>
                        <p:par>
                          <p:cTn id="34" fill="hold">
                            <p:stCondLst>
                              <p:cond delay="0"/>
                            </p:stCondLst>
                            <p:childTnLst>
                              <p:par>
                                <p:cTn id="35" presetID="49" presetClass="entr" presetSubtype="0" decel="100000" fill="hold" grpId="0" nodeType="clickEffect">
                                  <p:stCondLst>
                                    <p:cond delay="0"/>
                                  </p:stCondLst>
                                  <p:childTnLst>
                                    <p:set>
                                      <p:cBhvr>
                                        <p:cTn id="36" dur="1" fill="hold">
                                          <p:stCondLst>
                                            <p:cond delay="0"/>
                                          </p:stCondLst>
                                        </p:cTn>
                                        <p:tgtEl>
                                          <p:spTgt spid="107"/>
                                        </p:tgtEl>
                                        <p:attrNameLst>
                                          <p:attrName>style.visibility</p:attrName>
                                        </p:attrNameLst>
                                      </p:cBhvr>
                                      <p:to>
                                        <p:strVal val="visible"/>
                                      </p:to>
                                    </p:set>
                                    <p:anim calcmode="lin" valueType="num">
                                      <p:cBhvr>
                                        <p:cTn id="37" dur="500" fill="hold"/>
                                        <p:tgtEl>
                                          <p:spTgt spid="107"/>
                                        </p:tgtEl>
                                        <p:attrNameLst>
                                          <p:attrName>ppt_w</p:attrName>
                                        </p:attrNameLst>
                                      </p:cBhvr>
                                      <p:tavLst>
                                        <p:tav tm="0">
                                          <p:val>
                                            <p:fltVal val="0"/>
                                          </p:val>
                                        </p:tav>
                                        <p:tav tm="100000">
                                          <p:val>
                                            <p:strVal val="#ppt_w"/>
                                          </p:val>
                                        </p:tav>
                                      </p:tavLst>
                                    </p:anim>
                                    <p:anim calcmode="lin" valueType="num">
                                      <p:cBhvr>
                                        <p:cTn id="38" dur="500" fill="hold"/>
                                        <p:tgtEl>
                                          <p:spTgt spid="107"/>
                                        </p:tgtEl>
                                        <p:attrNameLst>
                                          <p:attrName>ppt_h</p:attrName>
                                        </p:attrNameLst>
                                      </p:cBhvr>
                                      <p:tavLst>
                                        <p:tav tm="0">
                                          <p:val>
                                            <p:fltVal val="0"/>
                                          </p:val>
                                        </p:tav>
                                        <p:tav tm="100000">
                                          <p:val>
                                            <p:strVal val="#ppt_h"/>
                                          </p:val>
                                        </p:tav>
                                      </p:tavLst>
                                    </p:anim>
                                    <p:anim calcmode="lin" valueType="num">
                                      <p:cBhvr>
                                        <p:cTn id="39" dur="500" fill="hold"/>
                                        <p:tgtEl>
                                          <p:spTgt spid="107"/>
                                        </p:tgtEl>
                                        <p:attrNameLst>
                                          <p:attrName>style.rotation</p:attrName>
                                        </p:attrNameLst>
                                      </p:cBhvr>
                                      <p:tavLst>
                                        <p:tav tm="0">
                                          <p:val>
                                            <p:fltVal val="360"/>
                                          </p:val>
                                        </p:tav>
                                        <p:tav tm="100000">
                                          <p:val>
                                            <p:fltVal val="0"/>
                                          </p:val>
                                        </p:tav>
                                      </p:tavLst>
                                    </p:anim>
                                    <p:animEffect transition="in" filter="fade">
                                      <p:cBhvr>
                                        <p:cTn id="40" dur="500"/>
                                        <p:tgtEl>
                                          <p:spTgt spid="107"/>
                                        </p:tgtEl>
                                      </p:cBhvr>
                                    </p:animEffect>
                                  </p:childTnLst>
                                </p:cTn>
                              </p:par>
                            </p:childTnLst>
                          </p:cTn>
                        </p:par>
                      </p:childTnLst>
                    </p:cTn>
                  </p:par>
                  <p:par>
                    <p:cTn id="41" fill="hold">
                      <p:stCondLst>
                        <p:cond delay="indefinite"/>
                      </p:stCondLst>
                      <p:childTnLst>
                        <p:par>
                          <p:cTn id="42" fill="hold">
                            <p:stCondLst>
                              <p:cond delay="0"/>
                            </p:stCondLst>
                            <p:childTnLst>
                              <p:par>
                                <p:cTn id="43" presetID="49" presetClass="entr" presetSubtype="0" decel="100000" fill="hold" grpId="0" nodeType="clickEffect">
                                  <p:stCondLst>
                                    <p:cond delay="0"/>
                                  </p:stCondLst>
                                  <p:childTnLst>
                                    <p:set>
                                      <p:cBhvr>
                                        <p:cTn id="44" dur="1" fill="hold">
                                          <p:stCondLst>
                                            <p:cond delay="0"/>
                                          </p:stCondLst>
                                        </p:cTn>
                                        <p:tgtEl>
                                          <p:spTgt spid="108"/>
                                        </p:tgtEl>
                                        <p:attrNameLst>
                                          <p:attrName>style.visibility</p:attrName>
                                        </p:attrNameLst>
                                      </p:cBhvr>
                                      <p:to>
                                        <p:strVal val="visible"/>
                                      </p:to>
                                    </p:set>
                                    <p:anim calcmode="lin" valueType="num">
                                      <p:cBhvr>
                                        <p:cTn id="45" dur="500" fill="hold"/>
                                        <p:tgtEl>
                                          <p:spTgt spid="108"/>
                                        </p:tgtEl>
                                        <p:attrNameLst>
                                          <p:attrName>ppt_w</p:attrName>
                                        </p:attrNameLst>
                                      </p:cBhvr>
                                      <p:tavLst>
                                        <p:tav tm="0">
                                          <p:val>
                                            <p:fltVal val="0"/>
                                          </p:val>
                                        </p:tav>
                                        <p:tav tm="100000">
                                          <p:val>
                                            <p:strVal val="#ppt_w"/>
                                          </p:val>
                                        </p:tav>
                                      </p:tavLst>
                                    </p:anim>
                                    <p:anim calcmode="lin" valueType="num">
                                      <p:cBhvr>
                                        <p:cTn id="46" dur="500" fill="hold"/>
                                        <p:tgtEl>
                                          <p:spTgt spid="108"/>
                                        </p:tgtEl>
                                        <p:attrNameLst>
                                          <p:attrName>ppt_h</p:attrName>
                                        </p:attrNameLst>
                                      </p:cBhvr>
                                      <p:tavLst>
                                        <p:tav tm="0">
                                          <p:val>
                                            <p:fltVal val="0"/>
                                          </p:val>
                                        </p:tav>
                                        <p:tav tm="100000">
                                          <p:val>
                                            <p:strVal val="#ppt_h"/>
                                          </p:val>
                                        </p:tav>
                                      </p:tavLst>
                                    </p:anim>
                                    <p:anim calcmode="lin" valueType="num">
                                      <p:cBhvr>
                                        <p:cTn id="47" dur="500" fill="hold"/>
                                        <p:tgtEl>
                                          <p:spTgt spid="108"/>
                                        </p:tgtEl>
                                        <p:attrNameLst>
                                          <p:attrName>style.rotation</p:attrName>
                                        </p:attrNameLst>
                                      </p:cBhvr>
                                      <p:tavLst>
                                        <p:tav tm="0">
                                          <p:val>
                                            <p:fltVal val="360"/>
                                          </p:val>
                                        </p:tav>
                                        <p:tav tm="100000">
                                          <p:val>
                                            <p:fltVal val="0"/>
                                          </p:val>
                                        </p:tav>
                                      </p:tavLst>
                                    </p:anim>
                                    <p:animEffect transition="in" filter="fade">
                                      <p:cBhvr>
                                        <p:cTn id="48"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bldLvl="0" animBg="1"/>
      <p:bldP spid="79" grpId="0" bldLvl="0" animBg="1"/>
      <p:bldP spid="89" grpId="0" bldLvl="0" animBg="1"/>
      <p:bldP spid="107" grpId="0"/>
      <p:bldP spid="108"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8226425" cy="583565"/>
          </a:xfrm>
        </p:spPr>
        <p:txBody>
          <a:bodyPr/>
          <a:p>
            <a:pPr algn="l">
              <a:buClrTx/>
              <a:buSzTx/>
              <a:buFontTx/>
            </a:pPr>
            <a:r>
              <a:rPr lang="en-US" altLang="zh-CN" sz="4000" dirty="0">
                <a:latin typeface="+mj-ea"/>
                <a:sym typeface="+mn-ea"/>
              </a:rPr>
              <a:t>5.4</a:t>
            </a:r>
            <a:r>
              <a:rPr lang="zh-CN" altLang="en-US" sz="4000" dirty="0">
                <a:latin typeface="+mj-ea"/>
                <a:sym typeface="+mn-ea"/>
              </a:rPr>
              <a:t>.2 邮件传输协议</a:t>
            </a:r>
            <a:r>
              <a:rPr lang="en-US" altLang="zh-CN" sz="4000" dirty="0">
                <a:latin typeface="+mj-ea"/>
                <a:sym typeface="+mn-ea"/>
              </a:rPr>
              <a:t>—</a:t>
            </a:r>
            <a:r>
              <a:rPr lang="zh-CN" altLang="en-US" sz="4000" dirty="0">
                <a:latin typeface="+mj-ea"/>
                <a:sym typeface="+mn-ea"/>
              </a:rPr>
              <a:t>—</a:t>
            </a:r>
            <a:r>
              <a:rPr lang="zh-CN" altLang="en-US" sz="4000" dirty="0">
                <a:latin typeface="+mj-ea"/>
                <a:sym typeface="+mn-ea"/>
              </a:rPr>
              <a:t>MIME</a:t>
            </a:r>
            <a:endParaRPr lang="zh-CN" altLang="en-US" sz="4000" dirty="0">
              <a:latin typeface="+mj-ea"/>
              <a:sym typeface="+mn-ea"/>
            </a:endParaRPr>
          </a:p>
        </p:txBody>
      </p:sp>
      <p:sp>
        <p:nvSpPr>
          <p:cNvPr id="3" name="文本框 2"/>
          <p:cNvSpPr txBox="1"/>
          <p:nvPr/>
        </p:nvSpPr>
        <p:spPr>
          <a:xfrm>
            <a:off x="295910" y="904240"/>
            <a:ext cx="11798300" cy="5824220"/>
          </a:xfrm>
          <a:prstGeom prst="rect">
            <a:avLst/>
          </a:prstGeom>
          <a:noFill/>
        </p:spPr>
        <p:txBody>
          <a:bodyPr wrap="square" rtlCol="0" anchor="t">
            <a:noAutofit/>
          </a:bodyPr>
          <a:p>
            <a:pPr marL="342900" indent="-342900">
              <a:lnSpc>
                <a:spcPct val="150000"/>
              </a:lnSpc>
              <a:buClr>
                <a:srgbClr val="DF4F21"/>
              </a:buClr>
              <a:buSzTx/>
              <a:buFont typeface="Wingdings" panose="05000000000000000000" charset="0"/>
              <a:buChar char="p"/>
            </a:pP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多用途互联网邮件扩展</a:t>
            </a: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MIME</a:t>
            </a: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endPar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70000"/>
              </a:lnSpc>
              <a:spcBef>
                <a:spcPts val="0"/>
              </a:spcBef>
              <a:spcAft>
                <a:spcPts val="0"/>
              </a:spcAft>
              <a:buClr>
                <a:srgbClr val="DF4F21"/>
              </a:buClr>
              <a:buSzTx/>
              <a:buFont typeface="Wingdings" panose="05000000000000000000" charset="0"/>
              <a:buChar char="Ø"/>
            </a:pPr>
            <a:r>
              <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SMTP只能传送ASCII码文本数据，不能传送可执行文件或其他的二进制对象。</a:t>
            </a:r>
            <a:endPar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endParaRPr>
          </a:p>
          <a:p>
            <a:pPr marL="810260" indent="-342900" algn="l">
              <a:lnSpc>
                <a:spcPct val="170000"/>
              </a:lnSpc>
              <a:spcBef>
                <a:spcPts val="0"/>
              </a:spcBef>
              <a:spcAft>
                <a:spcPts val="0"/>
              </a:spcAft>
              <a:buClr>
                <a:srgbClr val="DF4F21"/>
              </a:buClr>
              <a:buSzTx/>
              <a:buFont typeface="Wingdings" panose="05000000000000000000" charset="0"/>
              <a:buChar char="Ø"/>
            </a:pPr>
            <a:r>
              <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SMTP不能满足传送多媒体邮件（例如带有图片、音频或视频数据）的需要。并且许多其他非英语国家的文字（例如中文、俄文、甚至带有重音符号的法文或德文）也无法用SMTP传送。</a:t>
            </a:r>
            <a:endPar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70000"/>
              </a:lnSpc>
              <a:spcBef>
                <a:spcPts val="0"/>
              </a:spcBef>
              <a:spcAft>
                <a:spcPts val="0"/>
              </a:spcAft>
              <a:buClr>
                <a:srgbClr val="DF4F21"/>
              </a:buClr>
              <a:buSzTx/>
              <a:buFont typeface="Wingdings" panose="05000000000000000000" charset="0"/>
              <a:buChar char="Ø"/>
            </a:pPr>
            <a:r>
              <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MIME的作用：MIME定义了一套编码规则，用于处理非ASCII数据，扩展电子邮件功能。MIME不仅用于电子邮件，还广泛应用于万维网的HTTP协议，扩展了电子邮件的功能，满足现代通信需求</a:t>
            </a:r>
            <a:endPar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10109835" cy="583565"/>
          </a:xfrm>
        </p:spPr>
        <p:txBody>
          <a:bodyPr/>
          <a:p>
            <a:pPr algn="l">
              <a:buClrTx/>
              <a:buSzTx/>
              <a:buFontTx/>
            </a:pPr>
            <a:r>
              <a:rPr lang="en-US" altLang="zh-CN" sz="4000" dirty="0">
                <a:latin typeface="+mj-ea"/>
                <a:sym typeface="+mn-ea"/>
              </a:rPr>
              <a:t>5.4</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 邮件传输协议的安全风险及防范策略</a:t>
            </a:r>
            <a:endParaRPr lang="zh-CN" altLang="en-US" sz="4000" dirty="0">
              <a:latin typeface="+mj-ea"/>
              <a:sym typeface="+mn-ea"/>
            </a:endParaRPr>
          </a:p>
        </p:txBody>
      </p:sp>
      <p:sp>
        <p:nvSpPr>
          <p:cNvPr id="3" name="文本框 2"/>
          <p:cNvSpPr txBox="1"/>
          <p:nvPr/>
        </p:nvSpPr>
        <p:spPr>
          <a:xfrm>
            <a:off x="295910" y="1056640"/>
            <a:ext cx="11681460" cy="5824220"/>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POP3协议的安全缺陷</a:t>
            </a:r>
            <a:endPar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70000"/>
              </a:lnSpc>
              <a:spcBef>
                <a:spcPts val="0"/>
              </a:spcBef>
              <a:spcAft>
                <a:spcPts val="0"/>
              </a:spcAft>
              <a:buClr>
                <a:srgbClr val="DF4F21"/>
              </a:buClr>
              <a:buSzTx/>
              <a:buFont typeface="Wingdings" panose="05000000000000000000" charset="0"/>
              <a:buChar char="Ø"/>
            </a:pPr>
            <a:r>
              <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初始设计未加密传输内容，攻击者可截获明文数据（包括用户名和密码），存在严重安全风险</a:t>
            </a:r>
            <a:endPar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POP3工作机制的安全问题</a:t>
            </a:r>
            <a:endPar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70000"/>
              </a:lnSpc>
              <a:spcBef>
                <a:spcPts val="0"/>
              </a:spcBef>
              <a:spcAft>
                <a:spcPts val="0"/>
              </a:spcAft>
              <a:buClr>
                <a:srgbClr val="DF4F21"/>
              </a:buClr>
              <a:buSzTx/>
              <a:buFont typeface="Wingdings" panose="05000000000000000000" charset="0"/>
              <a:buChar char="Ø"/>
            </a:pPr>
            <a:r>
              <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离线访问安全性：邮件下载到本地后无需身份验证即可阅读，可能泄露敏感信息。</a:t>
            </a:r>
            <a:endPar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70000"/>
              </a:lnSpc>
              <a:spcBef>
                <a:spcPts val="0"/>
              </a:spcBef>
              <a:spcAft>
                <a:spcPts val="0"/>
              </a:spcAft>
              <a:buClr>
                <a:srgbClr val="DF4F21"/>
              </a:buClr>
              <a:buSzTx/>
              <a:buFont typeface="Wingdings" panose="05000000000000000000" charset="0"/>
              <a:buChar char="Ø"/>
            </a:pPr>
            <a:r>
              <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邮件同步问题：早期POP3下载后通常从服务器删除，导致多设备用户无法保留邮件副本；现代POP3虽可保留邮件，但单向工作模式不适合多设备同步需求</a:t>
            </a:r>
            <a:endParaRPr kumimoji="1" lang="zh-CN" altLang="en-US" sz="24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endParaRPr>
          </a:p>
          <a:p>
            <a:pPr indent="0">
              <a:lnSpc>
                <a:spcPct val="150000"/>
              </a:lnSpc>
              <a:buClr>
                <a:srgbClr val="DF4F21"/>
              </a:buClr>
              <a:buSzTx/>
              <a:buFont typeface="Wingdings" panose="05000000000000000000" charset="0"/>
              <a:buNone/>
            </a:pP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 y="270510"/>
            <a:ext cx="10109835" cy="583565"/>
          </a:xfrm>
        </p:spPr>
        <p:txBody>
          <a:bodyPr/>
          <a:p>
            <a:pPr algn="l">
              <a:buClrTx/>
              <a:buSzTx/>
              <a:buFontTx/>
            </a:pPr>
            <a:r>
              <a:rPr lang="en-US" altLang="zh-CN" sz="4000" dirty="0">
                <a:latin typeface="+mj-ea"/>
                <a:sym typeface="+mn-ea"/>
              </a:rPr>
              <a:t>5.4</a:t>
            </a:r>
            <a:r>
              <a:rPr lang="zh-CN" altLang="en-US" sz="4000" dirty="0">
                <a:latin typeface="+mj-ea"/>
                <a:sym typeface="+mn-ea"/>
              </a:rPr>
              <a:t>.</a:t>
            </a:r>
            <a:r>
              <a:rPr lang="en-US" altLang="zh-CN" sz="4000" dirty="0">
                <a:latin typeface="+mj-ea"/>
                <a:sym typeface="+mn-ea"/>
              </a:rPr>
              <a:t>3</a:t>
            </a:r>
            <a:r>
              <a:rPr lang="zh-CN" altLang="en-US" sz="4000" dirty="0">
                <a:latin typeface="+mj-ea"/>
                <a:sym typeface="+mn-ea"/>
              </a:rPr>
              <a:t> 邮件传输协议的安全风险及防范策略</a:t>
            </a:r>
            <a:endParaRPr lang="zh-CN" altLang="en-US" sz="4000" dirty="0">
              <a:latin typeface="+mj-ea"/>
              <a:sym typeface="+mn-ea"/>
            </a:endParaRPr>
          </a:p>
        </p:txBody>
      </p:sp>
      <p:sp>
        <p:nvSpPr>
          <p:cNvPr id="3" name="文本框 2"/>
          <p:cNvSpPr txBox="1"/>
          <p:nvPr/>
        </p:nvSpPr>
        <p:spPr>
          <a:xfrm>
            <a:off x="278765" y="1193165"/>
            <a:ext cx="11632565" cy="4001770"/>
          </a:xfrm>
          <a:prstGeom prst="rect">
            <a:avLst/>
          </a:prstGeom>
          <a:noFill/>
        </p:spPr>
        <p:txBody>
          <a:bodyPr wrap="square" rtlCol="0" anchor="t">
            <a:noAutofit/>
          </a:bodyPr>
          <a:p>
            <a:pPr marL="342900" indent="-342900" algn="l">
              <a:lnSpc>
                <a:spcPct val="150000"/>
              </a:lnSpc>
              <a:spcBef>
                <a:spcPts val="0"/>
              </a:spcBef>
              <a:buClr>
                <a:srgbClr val="DF4F21"/>
              </a:buClr>
              <a:buSzTx/>
              <a:buFont typeface="Wingdings" panose="05000000000000000000" charset="0"/>
              <a:buChar char="p"/>
            </a:pP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提高POP3安全性和适应性的措施</a:t>
            </a:r>
            <a:endPar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70000"/>
              </a:lnSpc>
              <a:spcBef>
                <a:spcPts val="0"/>
              </a:spcBef>
              <a:spcAft>
                <a:spcPts val="0"/>
              </a:spcAft>
              <a:buClr>
                <a:srgbClr val="DF4F21"/>
              </a:buClr>
              <a:buSzTx/>
              <a:buFont typeface="Wingdings" panose="05000000000000000000" charset="0"/>
              <a:buChar char="Ø"/>
            </a:pPr>
            <a:r>
              <a:rPr kumimoji="1" lang="zh-CN" altLang="en-US" sz="28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使用加密连接：通过TLS/SSL或STARTTLS加密POP3会话</a:t>
            </a:r>
            <a:endParaRPr kumimoji="1" lang="zh-CN" altLang="en-US" sz="28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70000"/>
              </a:lnSpc>
              <a:spcBef>
                <a:spcPts val="0"/>
              </a:spcBef>
              <a:spcAft>
                <a:spcPts val="0"/>
              </a:spcAft>
              <a:buClr>
                <a:srgbClr val="DF4F21"/>
              </a:buClr>
              <a:buSzTx/>
              <a:buFont typeface="Wingdings" panose="05000000000000000000" charset="0"/>
              <a:buChar char="Ø"/>
            </a:pPr>
            <a:r>
              <a:rPr kumimoji="1" lang="zh-CN" altLang="en-US" sz="28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改进客户端设计：邮件客户端应本地加密存储邮件，并支持多设备间安全同步</a:t>
            </a:r>
            <a:endParaRPr kumimoji="1" lang="zh-CN" altLang="en-US" sz="28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70000"/>
              </a:lnSpc>
              <a:spcBef>
                <a:spcPts val="0"/>
              </a:spcBef>
              <a:spcAft>
                <a:spcPts val="0"/>
              </a:spcAft>
              <a:buClr>
                <a:srgbClr val="DF4F21"/>
              </a:buClr>
              <a:buSzTx/>
              <a:buFont typeface="Wingdings" panose="05000000000000000000" charset="0"/>
              <a:buChar char="Ø"/>
            </a:pPr>
            <a:r>
              <a:rPr kumimoji="1" lang="zh-CN" altLang="en-US" sz="28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rPr>
              <a:t>多端同步解决方案：考虑使用支持多端同步的协议（如IMAP）以满足现代需求</a:t>
            </a:r>
            <a:endParaRPr kumimoji="1" lang="zh-CN" altLang="en-US" sz="28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70000"/>
              </a:lnSpc>
              <a:spcBef>
                <a:spcPts val="0"/>
              </a:spcBef>
              <a:spcAft>
                <a:spcPts val="0"/>
              </a:spcAft>
              <a:buClr>
                <a:srgbClr val="DF4F21"/>
              </a:buClr>
              <a:buSzTx/>
              <a:buFont typeface="Wingdings" panose="05000000000000000000" charset="0"/>
              <a:buChar char="Ø"/>
            </a:pPr>
            <a:endParaRPr kumimoji="1" lang="zh-CN" altLang="en-US" sz="2800" b="1">
              <a:solidFill>
                <a:schemeClr val="tx1">
                  <a:alpha val="100000"/>
                </a:scheme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5.5.1 DHCP</a:t>
            </a:r>
            <a:r>
              <a:rPr lang="zh-CN" altLang="en-US" sz="4000" dirty="0">
                <a:latin typeface="+mj-ea"/>
                <a:sym typeface="+mn-ea"/>
              </a:rPr>
              <a:t>协议概述</a:t>
            </a:r>
            <a:endParaRPr lang="zh-CN" altLang="en-US" sz="4000" dirty="0">
              <a:latin typeface="+mj-ea"/>
              <a:sym typeface="+mn-ea"/>
            </a:endParaRPr>
          </a:p>
        </p:txBody>
      </p:sp>
      <p:sp>
        <p:nvSpPr>
          <p:cNvPr id="3" name="文本框 2"/>
          <p:cNvSpPr txBox="1"/>
          <p:nvPr/>
        </p:nvSpPr>
        <p:spPr>
          <a:xfrm>
            <a:off x="212090" y="1784985"/>
            <a:ext cx="5799455" cy="4217670"/>
          </a:xfrm>
          <a:prstGeom prst="rect">
            <a:avLst/>
          </a:prstGeom>
          <a:noFill/>
          <a:ln w="28575" cmpd="sng">
            <a:solidFill>
              <a:srgbClr val="FF0000"/>
            </a:solidFill>
            <a:prstDash val="solid"/>
          </a:ln>
        </p:spPr>
        <p:txBody>
          <a:bodyPr wrap="square" rtlCol="0" anchor="t">
            <a:noAutofit/>
          </a:bodyPr>
          <a:p>
            <a:pPr marL="457200" indent="-457200">
              <a:lnSpc>
                <a:spcPct val="170000"/>
              </a:lnSpc>
              <a:spcBef>
                <a:spcPts val="0"/>
              </a:spcBef>
              <a:spcAft>
                <a:spcPts val="0"/>
              </a:spcAft>
              <a:buClr>
                <a:srgbClr val="DF4F21"/>
              </a:buClr>
              <a:buSzTx/>
              <a:buFont typeface="Wingdings" panose="05000000000000000000" charset="0"/>
              <a:buChar char="p"/>
            </a:pP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发现阶段：客户端广播发送</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DHCP </a:t>
            </a:r>
            <a:endPar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indent="0">
              <a:lnSpc>
                <a:spcPct val="170000"/>
              </a:lnSpc>
              <a:spcBef>
                <a:spcPts val="0"/>
              </a:spcBef>
              <a:spcAft>
                <a:spcPts val="0"/>
              </a:spcAft>
              <a:buClr>
                <a:srgbClr val="DF4F21"/>
              </a:buClr>
              <a:buSzTx/>
              <a:buFont typeface="Wingdings" panose="05000000000000000000" charset="0"/>
              <a:buNone/>
            </a:pP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Discover</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报文，查找网络中的</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DHCP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服务器，并表达获取</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地址的需求</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indent="0" algn="l" fontAlgn="auto">
              <a:lnSpc>
                <a:spcPct val="170000"/>
              </a:lnSpc>
              <a:spcBef>
                <a:spcPts val="0"/>
              </a:spcBef>
              <a:spcAft>
                <a:spcPts val="0"/>
              </a:spcAft>
              <a:buClr>
                <a:srgbClr val="DF4F21"/>
              </a:buClr>
              <a:buSzTx/>
              <a:buFont typeface="Wingdings" panose="05000000000000000000" charset="0"/>
              <a:buChar char="p"/>
            </a:pP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提供阶段：服务器收到Discover报文后，准备一个</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地址提议，</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通过单播方式，给客户端发送DHCP Offer报文</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4" name="对象 -2147482612"/>
          <p:cNvGraphicFramePr>
            <a:graphicFrameLocks noChangeAspect="1"/>
          </p:cNvGraphicFramePr>
          <p:nvPr/>
        </p:nvGraphicFramePr>
        <p:xfrm>
          <a:off x="6095365" y="1858010"/>
          <a:ext cx="5858510" cy="3509645"/>
        </p:xfrm>
        <a:graphic>
          <a:graphicData uri="http://schemas.openxmlformats.org/presentationml/2006/ole">
            <mc:AlternateContent xmlns:mc="http://schemas.openxmlformats.org/markup-compatibility/2006">
              <mc:Choice xmlns:v="urn:schemas-microsoft-com:vml" Requires="v">
                <p:oleObj spid="_x0000_s3076" name="" r:id="rId1" imgW="4077335" imgH="2440940" progId="Visio.Drawing.15">
                  <p:embed/>
                </p:oleObj>
              </mc:Choice>
              <mc:Fallback>
                <p:oleObj name="" r:id="rId1" imgW="4077335" imgH="2440940" progId="Visio.Drawing.15">
                  <p:embed/>
                  <p:pic>
                    <p:nvPicPr>
                      <p:cNvPr id="0" name="图片 3075"/>
                      <p:cNvPicPr/>
                      <p:nvPr/>
                    </p:nvPicPr>
                    <p:blipFill>
                      <a:blip r:embed="rId2"/>
                      <a:stretch>
                        <a:fillRect/>
                      </a:stretch>
                    </p:blipFill>
                    <p:spPr>
                      <a:xfrm>
                        <a:off x="6095365" y="1858010"/>
                        <a:ext cx="5858510" cy="3509645"/>
                      </a:xfrm>
                      <a:prstGeom prst="rect">
                        <a:avLst/>
                      </a:prstGeom>
                      <a:noFill/>
                      <a:ln w="38100">
                        <a:noFill/>
                        <a:miter/>
                      </a:ln>
                    </p:spPr>
                  </p:pic>
                </p:oleObj>
              </mc:Fallback>
            </mc:AlternateContent>
          </a:graphicData>
        </a:graphic>
      </p:graphicFrame>
      <p:sp>
        <p:nvSpPr>
          <p:cNvPr id="5" name="文本框 4"/>
          <p:cNvSpPr txBox="1"/>
          <p:nvPr/>
        </p:nvSpPr>
        <p:spPr>
          <a:xfrm>
            <a:off x="7900035" y="5542280"/>
            <a:ext cx="2893060" cy="460375"/>
          </a:xfrm>
          <a:prstGeom prst="rect">
            <a:avLst/>
          </a:prstGeom>
        </p:spPr>
        <p:txBody>
          <a:bodyPr wrap="square">
            <a:spAutoFit/>
          </a:bodyPr>
          <a:p>
            <a:pPr marL="0" indent="127000" algn="just" defTabSz="266700">
              <a:lnSpc>
                <a:spcPct val="150000"/>
              </a:lnSpc>
              <a:spcBef>
                <a:spcPct val="0"/>
              </a:spcBef>
              <a:spcAft>
                <a:spcPct val="0"/>
              </a:spcAft>
            </a:pPr>
            <a:r>
              <a:rPr lang="zh-CN" altLang="en-US" sz="1600" b="1">
                <a:latin typeface="宋体" panose="02010600030101010101" pitchFamily="2" charset="-122"/>
                <a:ea typeface="宋体" panose="02010600030101010101" pitchFamily="2" charset="-122"/>
              </a:rPr>
              <a:t>图</a:t>
            </a:r>
            <a:r>
              <a:rPr lang="en-US" altLang="zh-CN" sz="1600" b="1">
                <a:latin typeface="宋体" panose="02010600030101010101" pitchFamily="2" charset="-122"/>
                <a:ea typeface="宋体" panose="02010600030101010101" pitchFamily="2" charset="-122"/>
              </a:rPr>
              <a:t>  </a:t>
            </a:r>
            <a:r>
              <a:rPr lang="en-US" altLang="zh-CN" sz="1600" b="1">
                <a:latin typeface="Times New Roman" panose="02020603050405020304"/>
                <a:ea typeface="宋体" panose="02010600030101010101" pitchFamily="2" charset="-122"/>
              </a:rPr>
              <a:t> DHCP </a:t>
            </a:r>
            <a:r>
              <a:rPr lang="zh-CN" altLang="en-US" sz="1600" b="1">
                <a:latin typeface="宋体" panose="02010600030101010101" pitchFamily="2" charset="-122"/>
                <a:ea typeface="宋体" panose="02010600030101010101" pitchFamily="2" charset="-122"/>
              </a:rPr>
              <a:t>基本工作过程</a:t>
            </a:r>
            <a:endParaRPr lang="zh-CN" altLang="en-US" sz="1600" b="1">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5.5.1 DHCP</a:t>
            </a:r>
            <a:r>
              <a:rPr lang="zh-CN" altLang="en-US" sz="4000" dirty="0">
                <a:latin typeface="+mj-ea"/>
                <a:sym typeface="+mn-ea"/>
              </a:rPr>
              <a:t>协议概述</a:t>
            </a:r>
            <a:endParaRPr lang="zh-CN" altLang="en-US" sz="4000" dirty="0">
              <a:latin typeface="+mj-ea"/>
              <a:sym typeface="+mn-ea"/>
            </a:endParaRPr>
          </a:p>
        </p:txBody>
      </p:sp>
      <p:sp>
        <p:nvSpPr>
          <p:cNvPr id="3" name="文本框 2"/>
          <p:cNvSpPr txBox="1"/>
          <p:nvPr/>
        </p:nvSpPr>
        <p:spPr>
          <a:xfrm>
            <a:off x="204470" y="1361440"/>
            <a:ext cx="6084570" cy="5067935"/>
          </a:xfrm>
          <a:prstGeom prst="rect">
            <a:avLst/>
          </a:prstGeom>
          <a:noFill/>
          <a:ln w="28575" cmpd="sng">
            <a:solidFill>
              <a:srgbClr val="FF0000"/>
            </a:solidFill>
            <a:prstDash val="solid"/>
          </a:ln>
        </p:spPr>
        <p:txBody>
          <a:bodyPr wrap="square" rtlCol="0" anchor="t">
            <a:noAutofit/>
          </a:bodyPr>
          <a:p>
            <a:pPr marL="457200" indent="-457200" algn="l">
              <a:lnSpc>
                <a:spcPct val="170000"/>
              </a:lnSpc>
              <a:spcBef>
                <a:spcPts val="0"/>
              </a:spcBef>
              <a:spcAft>
                <a:spcPts val="0"/>
              </a:spcAft>
              <a:buClr>
                <a:srgbClr val="DF4F21"/>
              </a:buClr>
              <a:buSzTx/>
              <a:buFont typeface="Wingdings" panose="05000000000000000000" charset="0"/>
              <a:buChar char="p"/>
            </a:pP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请求阶段：客户端从收到的多个Offer报文后选择一个，并且</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给对应服务器</a:t>
            </a: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发送DHCP Request报文，接受提议的IP地址</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457200" indent="-457200" algn="l">
              <a:lnSpc>
                <a:spcPct val="170000"/>
              </a:lnSpc>
              <a:spcBef>
                <a:spcPts val="0"/>
              </a:spcBef>
              <a:spcAft>
                <a:spcPts val="0"/>
              </a:spcAft>
              <a:buClr>
                <a:srgbClr val="DF4F21"/>
              </a:buClr>
              <a:buSzTx/>
              <a:buFont typeface="Wingdings" panose="05000000000000000000" charset="0"/>
              <a:buChar char="p"/>
            </a:pP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确认阶段：服务器收到Request报文后</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发送DHCP Ack报文，确认分配成功，客户端可使用该IP地址</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无法分配，发送DHCP Nak报文，客户端需重新进入发现阶段</a:t>
            </a: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graphicFrame>
        <p:nvGraphicFramePr>
          <p:cNvPr id="4" name="对象 -2147482612"/>
          <p:cNvGraphicFramePr>
            <a:graphicFrameLocks noChangeAspect="1"/>
          </p:cNvGraphicFramePr>
          <p:nvPr/>
        </p:nvGraphicFramePr>
        <p:xfrm>
          <a:off x="6473190" y="1312545"/>
          <a:ext cx="5583555" cy="4608830"/>
        </p:xfrm>
        <a:graphic>
          <a:graphicData uri="http://schemas.openxmlformats.org/presentationml/2006/ole">
            <mc:AlternateContent xmlns:mc="http://schemas.openxmlformats.org/markup-compatibility/2006">
              <mc:Choice xmlns:v="urn:schemas-microsoft-com:vml" Requires="v">
                <p:oleObj spid="_x0000_s3076" name="" r:id="rId1" imgW="4077335" imgH="2440940" progId="Visio.Drawing.15">
                  <p:embed/>
                </p:oleObj>
              </mc:Choice>
              <mc:Fallback>
                <p:oleObj name="" r:id="rId1" imgW="4077335" imgH="2440940" progId="Visio.Drawing.15">
                  <p:embed/>
                  <p:pic>
                    <p:nvPicPr>
                      <p:cNvPr id="0" name="图片 3075"/>
                      <p:cNvPicPr/>
                      <p:nvPr/>
                    </p:nvPicPr>
                    <p:blipFill>
                      <a:blip r:embed="rId2"/>
                      <a:stretch>
                        <a:fillRect/>
                      </a:stretch>
                    </p:blipFill>
                    <p:spPr>
                      <a:xfrm>
                        <a:off x="6473190" y="1312545"/>
                        <a:ext cx="5583555" cy="4608830"/>
                      </a:xfrm>
                      <a:prstGeom prst="rect">
                        <a:avLst/>
                      </a:prstGeom>
                      <a:noFill/>
                      <a:ln w="38100">
                        <a:noFill/>
                        <a:miter/>
                      </a:ln>
                    </p:spPr>
                  </p:pic>
                </p:oleObj>
              </mc:Fallback>
            </mc:AlternateContent>
          </a:graphicData>
        </a:graphic>
      </p:graphicFrame>
      <p:sp>
        <p:nvSpPr>
          <p:cNvPr id="5" name="文本框 4"/>
          <p:cNvSpPr txBox="1"/>
          <p:nvPr/>
        </p:nvSpPr>
        <p:spPr>
          <a:xfrm>
            <a:off x="7900035" y="5664200"/>
            <a:ext cx="2893060" cy="460375"/>
          </a:xfrm>
          <a:prstGeom prst="rect">
            <a:avLst/>
          </a:prstGeom>
        </p:spPr>
        <p:txBody>
          <a:bodyPr wrap="square">
            <a:spAutoFit/>
          </a:bodyPr>
          <a:p>
            <a:pPr marL="0" indent="127000" algn="just" defTabSz="266700">
              <a:lnSpc>
                <a:spcPct val="150000"/>
              </a:lnSpc>
              <a:spcBef>
                <a:spcPct val="0"/>
              </a:spcBef>
              <a:spcAft>
                <a:spcPct val="0"/>
              </a:spcAft>
            </a:pPr>
            <a:r>
              <a:rPr lang="zh-CN" altLang="en-US" sz="1600" b="1">
                <a:latin typeface="宋体" panose="02010600030101010101" pitchFamily="2" charset="-122"/>
                <a:ea typeface="宋体" panose="02010600030101010101" pitchFamily="2" charset="-122"/>
              </a:rPr>
              <a:t>图</a:t>
            </a:r>
            <a:r>
              <a:rPr lang="en-US" altLang="zh-CN" sz="1600" b="1">
                <a:latin typeface="宋体" panose="02010600030101010101" pitchFamily="2" charset="-122"/>
                <a:ea typeface="宋体" panose="02010600030101010101" pitchFamily="2" charset="-122"/>
              </a:rPr>
              <a:t>  </a:t>
            </a:r>
            <a:r>
              <a:rPr lang="en-US" altLang="zh-CN" sz="1600" b="1">
                <a:latin typeface="Times New Roman" panose="02020603050405020304"/>
                <a:ea typeface="宋体" panose="02010600030101010101" pitchFamily="2" charset="-122"/>
              </a:rPr>
              <a:t> DHCP </a:t>
            </a:r>
            <a:r>
              <a:rPr lang="zh-CN" altLang="en-US" sz="1600" b="1">
                <a:latin typeface="宋体" panose="02010600030101010101" pitchFamily="2" charset="-122"/>
                <a:ea typeface="宋体" panose="02010600030101010101" pitchFamily="2" charset="-122"/>
              </a:rPr>
              <a:t>基本工作过程</a:t>
            </a:r>
            <a:endParaRPr lang="zh-CN" altLang="en-US" sz="1600" b="1">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85725" y="381635"/>
            <a:ext cx="7130415" cy="583565"/>
          </a:xfrm>
          <a:prstGeom prst="rect">
            <a:avLst/>
          </a:prstGeom>
        </p:spPr>
        <p:txBody>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l">
              <a:buClrTx/>
              <a:buSzTx/>
              <a:buFontTx/>
            </a:pPr>
            <a:r>
              <a:rPr lang="en-US" altLang="zh-CN" sz="4000" dirty="0">
                <a:latin typeface="+mj-ea"/>
                <a:sym typeface="+mn-ea"/>
              </a:rPr>
              <a:t>5.5.2 DHCP</a:t>
            </a:r>
            <a:r>
              <a:rPr lang="zh-CN" altLang="en-US" sz="4000" dirty="0">
                <a:latin typeface="+mj-ea"/>
                <a:sym typeface="+mn-ea"/>
              </a:rPr>
              <a:t>报文</a:t>
            </a:r>
            <a:endParaRPr lang="zh-CN" altLang="en-US" sz="4000" dirty="0">
              <a:latin typeface="+mj-ea"/>
              <a:sym typeface="+mn-ea"/>
            </a:endParaRPr>
          </a:p>
        </p:txBody>
      </p:sp>
      <p:graphicFrame>
        <p:nvGraphicFramePr>
          <p:cNvPr id="2" name="对象 -2147482611"/>
          <p:cNvGraphicFramePr>
            <a:graphicFrameLocks noChangeAspect="1"/>
          </p:cNvGraphicFramePr>
          <p:nvPr/>
        </p:nvGraphicFramePr>
        <p:xfrm>
          <a:off x="3295650" y="1531620"/>
          <a:ext cx="5610860" cy="5250815"/>
        </p:xfrm>
        <a:graphic>
          <a:graphicData uri="http://schemas.openxmlformats.org/presentationml/2006/ole">
            <mc:AlternateContent xmlns:mc="http://schemas.openxmlformats.org/markup-compatibility/2006">
              <mc:Choice xmlns:v="urn:schemas-microsoft-com:vml" Requires="v">
                <p:oleObj spid="_x0000_s3076" name="" r:id="rId1" imgW="4303395" imgH="4026535" progId="Visio.DrawingConvertable.15">
                  <p:embed/>
                </p:oleObj>
              </mc:Choice>
              <mc:Fallback>
                <p:oleObj name="" r:id="rId1" imgW="4303395" imgH="4026535" progId="Visio.DrawingConvertable.15">
                  <p:embed/>
                  <p:pic>
                    <p:nvPicPr>
                      <p:cNvPr id="0" name="图片 3075"/>
                      <p:cNvPicPr/>
                      <p:nvPr/>
                    </p:nvPicPr>
                    <p:blipFill>
                      <a:blip r:embed="rId2"/>
                      <a:stretch>
                        <a:fillRect/>
                      </a:stretch>
                    </p:blipFill>
                    <p:spPr>
                      <a:xfrm>
                        <a:off x="3295650" y="1531620"/>
                        <a:ext cx="5610860" cy="5250815"/>
                      </a:xfrm>
                      <a:prstGeom prst="rect">
                        <a:avLst/>
                      </a:prstGeom>
                      <a:noFill/>
                      <a:ln w="38100">
                        <a:noFill/>
                        <a:miter/>
                      </a:ln>
                    </p:spPr>
                  </p:pic>
                </p:oleObj>
              </mc:Fallback>
            </mc:AlternateContent>
          </a:graphicData>
        </a:graphic>
      </p:graphicFrame>
      <p:sp>
        <p:nvSpPr>
          <p:cNvPr id="5" name="矩形 4"/>
          <p:cNvSpPr/>
          <p:nvPr>
            <p:custDataLst>
              <p:tags r:id="rId3"/>
            </p:custDataLst>
          </p:nvPr>
        </p:nvSpPr>
        <p:spPr>
          <a:xfrm>
            <a:off x="3312795" y="1518285"/>
            <a:ext cx="1405255" cy="851535"/>
          </a:xfrm>
          <a:prstGeom prst="rect">
            <a:avLst/>
          </a:prstGeom>
          <a:noFill/>
          <a:ln w="28575" cmpd="sng">
            <a:solidFill>
              <a:srgbClr val="DF4F2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
        <p:nvSpPr>
          <p:cNvPr id="6" name="矩形 5"/>
          <p:cNvSpPr/>
          <p:nvPr>
            <p:custDataLst>
              <p:tags r:id="rId4"/>
            </p:custDataLst>
          </p:nvPr>
        </p:nvSpPr>
        <p:spPr>
          <a:xfrm>
            <a:off x="4718050" y="1518285"/>
            <a:ext cx="1405255" cy="851535"/>
          </a:xfrm>
          <a:prstGeom prst="rect">
            <a:avLst/>
          </a:prstGeom>
          <a:noFill/>
          <a:ln w="28575" cmpd="sng">
            <a:solidFill>
              <a:srgbClr val="DF4F2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
        <p:nvSpPr>
          <p:cNvPr id="7" name="矩形 6"/>
          <p:cNvSpPr/>
          <p:nvPr>
            <p:custDataLst>
              <p:tags r:id="rId5"/>
            </p:custDataLst>
          </p:nvPr>
        </p:nvSpPr>
        <p:spPr>
          <a:xfrm>
            <a:off x="6108065" y="1518285"/>
            <a:ext cx="1405255" cy="851535"/>
          </a:xfrm>
          <a:prstGeom prst="rect">
            <a:avLst/>
          </a:prstGeom>
          <a:noFill/>
          <a:ln w="28575" cmpd="sng">
            <a:solidFill>
              <a:srgbClr val="DF4F2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
        <p:nvSpPr>
          <p:cNvPr id="8" name="矩形 7"/>
          <p:cNvSpPr/>
          <p:nvPr>
            <p:custDataLst>
              <p:tags r:id="rId6"/>
            </p:custDataLst>
          </p:nvPr>
        </p:nvSpPr>
        <p:spPr>
          <a:xfrm>
            <a:off x="7530465" y="1523365"/>
            <a:ext cx="1376045" cy="851535"/>
          </a:xfrm>
          <a:prstGeom prst="rect">
            <a:avLst/>
          </a:prstGeom>
          <a:noFill/>
          <a:ln w="28575" cmpd="sng">
            <a:solidFill>
              <a:srgbClr val="DF4F2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grpSp>
        <p:nvGrpSpPr>
          <p:cNvPr id="12" name="组合 11"/>
          <p:cNvGrpSpPr/>
          <p:nvPr>
            <p:custDataLst>
              <p:tags r:id="rId7"/>
            </p:custDataLst>
          </p:nvPr>
        </p:nvGrpSpPr>
        <p:grpSpPr>
          <a:xfrm>
            <a:off x="286358" y="2835275"/>
            <a:ext cx="2578773" cy="680085"/>
            <a:chOff x="389" y="4417"/>
            <a:chExt cx="3779" cy="1071"/>
          </a:xfrm>
        </p:grpSpPr>
        <p:sp>
          <p:nvSpPr>
            <p:cNvPr id="10" name="矩形标注 9"/>
            <p:cNvSpPr/>
            <p:nvPr>
              <p:custDataLst>
                <p:tags r:id="rId8"/>
              </p:custDataLst>
            </p:nvPr>
          </p:nvSpPr>
          <p:spPr>
            <a:xfrm>
              <a:off x="430" y="4417"/>
              <a:ext cx="3738" cy="1071"/>
            </a:xfrm>
            <a:prstGeom prst="wedgeRectCallout">
              <a:avLst>
                <a:gd name="adj1" fmla="val 71259"/>
                <a:gd name="adj2" fmla="val -113211"/>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
          <p:nvSpPr>
            <p:cNvPr id="11" name="文本框 10"/>
            <p:cNvSpPr txBox="1"/>
            <p:nvPr>
              <p:custDataLst>
                <p:tags r:id="rId9"/>
              </p:custDataLst>
            </p:nvPr>
          </p:nvSpPr>
          <p:spPr>
            <a:xfrm>
              <a:off x="389" y="4439"/>
              <a:ext cx="3779" cy="1019"/>
            </a:xfrm>
            <a:prstGeom prst="rect">
              <a:avLst/>
            </a:prstGeom>
            <a:gradFill>
              <a:gsLst>
                <a:gs pos="0">
                  <a:srgbClr val="000000"/>
                </a:gs>
                <a:gs pos="96460">
                  <a:srgbClr val="606071"/>
                </a:gs>
                <a:gs pos="53000">
                  <a:srgbClr val="24243C"/>
                </a:gs>
              </a:gsLst>
              <a:lin ang="5400000" scaled="1"/>
            </a:gradFill>
          </p:spPr>
          <p:txBody>
            <a:bodyPr wrap="square" rtlCol="0">
              <a:noAutofit/>
            </a:bodyPr>
            <a:p>
              <a:pPr algn="l">
                <a:buClrTx/>
                <a:buSzTx/>
                <a:buFontTx/>
              </a:pPr>
              <a:r>
                <a:rPr lang="zh-CN" altLang="en-US" b="1">
                  <a:solidFill>
                    <a:schemeClr val="bg1"/>
                  </a:solidFill>
                  <a:latin typeface="黑体" panose="02010609060101010101" charset="-122"/>
                  <a:ea typeface="黑体" panose="02010609060101010101" charset="-122"/>
                  <a:cs typeface="黑体" panose="02010609060101010101" charset="-122"/>
                  <a:sym typeface="+mn-ea"/>
                </a:rPr>
                <a:t>client送给server的报文，设为1，反向为2</a:t>
              </a:r>
              <a:endParaRPr lang="zh-CN" altLang="en-US" b="1">
                <a:solidFill>
                  <a:schemeClr val="bg1"/>
                </a:solidFill>
                <a:latin typeface="黑体" panose="02010609060101010101" charset="-122"/>
                <a:ea typeface="黑体" panose="02010609060101010101" charset="-122"/>
                <a:cs typeface="黑体" panose="02010609060101010101" charset="-122"/>
              </a:endParaRPr>
            </a:p>
            <a:p>
              <a:pPr algn="l">
                <a:buClrTx/>
                <a:buSzTx/>
                <a:buFontTx/>
              </a:pPr>
              <a:endParaRPr lang="zh-CN" altLang="en-US" b="1">
                <a:solidFill>
                  <a:schemeClr val="bg1"/>
                </a:solidFill>
                <a:latin typeface="黑体" panose="02010609060101010101" charset="-122"/>
                <a:ea typeface="黑体" panose="02010609060101010101" charset="-122"/>
                <a:cs typeface="黑体" panose="02010609060101010101" charset="-122"/>
              </a:endParaRPr>
            </a:p>
          </p:txBody>
        </p:sp>
      </p:grpSp>
      <p:grpSp>
        <p:nvGrpSpPr>
          <p:cNvPr id="15" name="组合 14"/>
          <p:cNvGrpSpPr/>
          <p:nvPr/>
        </p:nvGrpSpPr>
        <p:grpSpPr>
          <a:xfrm>
            <a:off x="276225" y="4268470"/>
            <a:ext cx="2444115" cy="998220"/>
            <a:chOff x="978" y="6798"/>
            <a:chExt cx="3849" cy="1572"/>
          </a:xfrm>
        </p:grpSpPr>
        <p:sp>
          <p:nvSpPr>
            <p:cNvPr id="13" name="矩形标注 12"/>
            <p:cNvSpPr/>
            <p:nvPr/>
          </p:nvSpPr>
          <p:spPr>
            <a:xfrm>
              <a:off x="978" y="6798"/>
              <a:ext cx="3785" cy="1192"/>
            </a:xfrm>
            <a:prstGeom prst="wedgeRectCallout">
              <a:avLst>
                <a:gd name="adj1" fmla="val 136657"/>
                <a:gd name="adj2" fmla="val -299748"/>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
          <p:nvSpPr>
            <p:cNvPr id="14" name="文本框 13"/>
            <p:cNvSpPr txBox="1"/>
            <p:nvPr/>
          </p:nvSpPr>
          <p:spPr>
            <a:xfrm>
              <a:off x="990" y="6918"/>
              <a:ext cx="3837" cy="1452"/>
            </a:xfrm>
            <a:prstGeom prst="rect">
              <a:avLst/>
            </a:prstGeom>
            <a:noFill/>
          </p:spPr>
          <p:txBody>
            <a:bodyPr wrap="square" rtlCol="0">
              <a:spAutoFit/>
            </a:bodyPr>
            <a:p>
              <a:r>
                <a:rPr lang="zh-CN" altLang="en-US" b="1">
                  <a:solidFill>
                    <a:schemeClr val="bg1"/>
                  </a:solidFill>
                  <a:latin typeface="黑体" panose="02010609060101010101" charset="-122"/>
                  <a:ea typeface="黑体" panose="02010609060101010101" charset="-122"/>
                  <a:cs typeface="黑体" panose="02010609060101010101" charset="-122"/>
                  <a:sym typeface="+mn-ea"/>
                </a:rPr>
                <a:t>常见的以太网的硬件类型的值为1</a:t>
              </a:r>
              <a:endParaRPr lang="zh-CN" altLang="en-US" b="1">
                <a:solidFill>
                  <a:schemeClr val="bg1"/>
                </a:solidFill>
                <a:latin typeface="黑体" panose="02010609060101010101" charset="-122"/>
                <a:ea typeface="黑体" panose="02010609060101010101" charset="-122"/>
                <a:cs typeface="黑体" panose="02010609060101010101" charset="-122"/>
              </a:endParaRPr>
            </a:p>
            <a:p>
              <a:endParaRPr lang="zh-CN" altLang="en-US" b="1">
                <a:solidFill>
                  <a:schemeClr val="bg1"/>
                </a:solidFill>
                <a:latin typeface="黑体" panose="02010609060101010101" charset="-122"/>
                <a:ea typeface="黑体" panose="02010609060101010101" charset="-122"/>
                <a:cs typeface="黑体" panose="02010609060101010101" charset="-122"/>
              </a:endParaRPr>
            </a:p>
          </p:txBody>
        </p:sp>
      </p:grpSp>
      <p:grpSp>
        <p:nvGrpSpPr>
          <p:cNvPr id="16" name="组合 15"/>
          <p:cNvGrpSpPr/>
          <p:nvPr>
            <p:custDataLst>
              <p:tags r:id="rId10"/>
            </p:custDataLst>
          </p:nvPr>
        </p:nvGrpSpPr>
        <p:grpSpPr>
          <a:xfrm>
            <a:off x="9550707" y="4034790"/>
            <a:ext cx="2550795" cy="680085"/>
            <a:chOff x="664" y="3739"/>
            <a:chExt cx="3738" cy="1071"/>
          </a:xfrm>
        </p:grpSpPr>
        <p:sp>
          <p:nvSpPr>
            <p:cNvPr id="17" name="矩形标注 16"/>
            <p:cNvSpPr/>
            <p:nvPr>
              <p:custDataLst>
                <p:tags r:id="rId11"/>
              </p:custDataLst>
            </p:nvPr>
          </p:nvSpPr>
          <p:spPr>
            <a:xfrm>
              <a:off x="664" y="3739"/>
              <a:ext cx="3738" cy="1071"/>
            </a:xfrm>
            <a:prstGeom prst="wedgeRectCallout">
              <a:avLst>
                <a:gd name="adj1" fmla="val -136992"/>
                <a:gd name="adj2" fmla="val -290522"/>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50000"/>
                </a:lnSpc>
              </a:pPr>
              <a:endParaRPr lang="zh-CN" altLang="en-US" smtClean="0"/>
            </a:p>
          </p:txBody>
        </p:sp>
        <p:sp>
          <p:nvSpPr>
            <p:cNvPr id="18" name="文本框 17"/>
            <p:cNvSpPr txBox="1"/>
            <p:nvPr>
              <p:custDataLst>
                <p:tags r:id="rId12"/>
              </p:custDataLst>
            </p:nvPr>
          </p:nvSpPr>
          <p:spPr>
            <a:xfrm>
              <a:off x="675" y="3791"/>
              <a:ext cx="3705" cy="1019"/>
            </a:xfrm>
            <a:prstGeom prst="rect">
              <a:avLst/>
            </a:prstGeom>
            <a:noFill/>
          </p:spPr>
          <p:txBody>
            <a:bodyPr wrap="square" rtlCol="0">
              <a:noAutofit/>
            </a:bodyPr>
            <a:p>
              <a:pPr algn="l">
                <a:buClrTx/>
                <a:buSzTx/>
                <a:buFontTx/>
              </a:pPr>
              <a:r>
                <a:rPr lang="zh-CN" altLang="en-US" b="1">
                  <a:solidFill>
                    <a:schemeClr val="bg1"/>
                  </a:solidFill>
                  <a:latin typeface="黑体" panose="02010609060101010101" charset="-122"/>
                  <a:ea typeface="黑体" panose="02010609060101010101" charset="-122"/>
                  <a:cs typeface="黑体" panose="02010609060101010101" charset="-122"/>
                </a:rPr>
                <a:t>以太网的硬件地址长度为6个字节</a:t>
              </a:r>
              <a:endParaRPr lang="zh-CN" altLang="en-US" b="1">
                <a:solidFill>
                  <a:schemeClr val="bg1"/>
                </a:solidFill>
                <a:latin typeface="黑体" panose="02010609060101010101" charset="-122"/>
                <a:ea typeface="黑体" panose="02010609060101010101" charset="-122"/>
                <a:cs typeface="黑体" panose="02010609060101010101" charset="-122"/>
              </a:endParaRPr>
            </a:p>
          </p:txBody>
        </p:sp>
      </p:grpSp>
      <p:sp>
        <p:nvSpPr>
          <p:cNvPr id="19" name="矩形标注 18"/>
          <p:cNvSpPr/>
          <p:nvPr/>
        </p:nvSpPr>
        <p:spPr>
          <a:xfrm>
            <a:off x="9522460" y="2712720"/>
            <a:ext cx="2550795" cy="680085"/>
          </a:xfrm>
          <a:prstGeom prst="wedgeRectCallout">
            <a:avLst>
              <a:gd name="adj1" fmla="val -94709"/>
              <a:gd name="adj2" fmla="val -98646"/>
            </a:avLst>
          </a:prstGeom>
          <a:solidFill>
            <a:schemeClr val="tx1"/>
          </a:solidFill>
          <a:ln w="28575"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100000"/>
              </a:lnSpc>
              <a:buClrTx/>
              <a:buSzTx/>
              <a:buFontTx/>
            </a:pPr>
            <a:r>
              <a:rPr lang="zh-CN" altLang="en-US" sz="1800" b="1">
                <a:solidFill>
                  <a:schemeClr val="bg1"/>
                </a:solidFill>
                <a:latin typeface="黑体" panose="02010609060101010101" charset="-122"/>
                <a:ea typeface="黑体" panose="02010609060101010101" charset="-122"/>
                <a:cs typeface="黑体" panose="02010609060101010101" charset="-122"/>
                <a:sym typeface="+mn-ea"/>
              </a:rPr>
              <a:t>报文经过</a:t>
            </a:r>
            <a:r>
              <a:rPr lang="zh-CN" altLang="en-US" sz="1800" b="1">
                <a:solidFill>
                  <a:schemeClr val="bg1"/>
                </a:solidFill>
                <a:latin typeface="黑体" panose="02010609060101010101" charset="-122"/>
                <a:ea typeface="黑体" panose="02010609060101010101" charset="-122"/>
                <a:cs typeface="黑体" panose="02010609060101010101" charset="-122"/>
              </a:rPr>
              <a:t>的</a:t>
            </a:r>
            <a:r>
              <a:rPr lang="zh-CN" altLang="en-US" sz="1800" b="1">
                <a:solidFill>
                  <a:schemeClr val="bg1"/>
                </a:solidFill>
                <a:latin typeface="黑体" panose="02010609060101010101" charset="-122"/>
                <a:ea typeface="黑体" panose="02010609060101010101" charset="-122"/>
                <a:cs typeface="黑体" panose="02010609060101010101" charset="-122"/>
                <a:sym typeface="+mn-ea"/>
              </a:rPr>
              <a:t>中继的数目</a:t>
            </a:r>
            <a:endParaRPr lang="zh-CN" altLang="en-US" sz="1800" b="1">
              <a:solidFill>
                <a:schemeClr val="bg1"/>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19" grpId="0" bldLvl="0" animBg="1"/>
      <p:bldP spid="8"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95910" y="1156335"/>
            <a:ext cx="11724640" cy="4173220"/>
          </a:xfrm>
          <a:prstGeom prst="rect">
            <a:avLst/>
          </a:prstGeom>
          <a:noFill/>
        </p:spPr>
        <p:txBody>
          <a:bodyPr wrap="square" rtlCol="0" anchor="t">
            <a:noAutofit/>
          </a:bodyPr>
          <a:p>
            <a:pPr marL="342900" indent="-342900">
              <a:lnSpc>
                <a:spcPct val="150000"/>
              </a:lnSpc>
              <a:buClr>
                <a:srgbClr val="DF4F21"/>
              </a:buClr>
              <a:buSzTx/>
              <a:buFont typeface="Wingdings" panose="05000000000000000000" charset="0"/>
              <a:buChar char="p"/>
            </a:pP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DHCP</a:t>
            </a:r>
            <a:r>
              <a:rPr kumimoji="1" lang="zh-CN" altLang="en-US"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饥饿攻击及防御措施</a:t>
            </a:r>
            <a:endPar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攻击者是发起DHCP饥饿攻击时，通过频繁更改DHCP请求中的</a:t>
            </a: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客户端硬件地址（</a:t>
            </a: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Chaddr）字段的值，使得合法用户无法获得有效的IP地址。</a:t>
            </a: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在网络交换机上启用DHCP Snooping 功能，对DHCP请求报文中的源MAC地址与Chaddr字段进行比对验证。如果两者一致，交换机将允许该报文通过；如果不一致，则交换机会拒绝该报文。</a:t>
            </a: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indent="0">
              <a:lnSpc>
                <a:spcPct val="150000"/>
              </a:lnSpc>
              <a:buClr>
                <a:srgbClr val="DF4F21"/>
              </a:buClr>
              <a:buSzTx/>
              <a:buFont typeface="Wingdings" panose="05000000000000000000" charset="0"/>
              <a:buNone/>
            </a:pP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indent="0">
              <a:lnSpc>
                <a:spcPct val="150000"/>
              </a:lnSpc>
              <a:buClr>
                <a:srgbClr val="DF4F21"/>
              </a:buClr>
              <a:buSzTx/>
              <a:buFont typeface="Wingdings" panose="05000000000000000000" charset="0"/>
              <a:buNone/>
            </a:pPr>
            <a:endParaRPr kumimoji="1" lang="zh-CN" altLang="en-US" sz="24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
        <p:nvSpPr>
          <p:cNvPr id="5" name="标题 4"/>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5.5.3 DHCP</a:t>
            </a:r>
            <a:r>
              <a:rPr lang="zh-CN" altLang="en-US" sz="4000" dirty="0">
                <a:latin typeface="+mj-ea"/>
                <a:sym typeface="+mn-ea"/>
              </a:rPr>
              <a:t>攻击与防御措施</a:t>
            </a:r>
            <a:endParaRPr lang="zh-CN" altLang="en-US" sz="4000" dirty="0">
              <a:latin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89280" y="1086485"/>
            <a:ext cx="11129010" cy="5209540"/>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en-US" altLang="zh-CN"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DCHP Server仿冒者攻击防御措施</a:t>
            </a:r>
            <a:endParaRPr kumimoji="1" lang="en-US" altLang="zh-CN"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在DHCP Snooping技术中，交换机端口被划分为两种类型：信任端口和非信任端口。</a:t>
            </a: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通过将连接到合法DHCP Server的交换机端口配置为信任端口，交换机将允许从这些端口接收的DHCP报文正常转发，并自动丢弃从非信任端口接收到的所有DHCP报文，从而有效防止了仿冒DHCP Server的行为。</a:t>
            </a: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
        <p:nvSpPr>
          <p:cNvPr id="5" name="标题 4"/>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5.5.3 DHCP</a:t>
            </a:r>
            <a:r>
              <a:rPr lang="zh-CN" altLang="en-US" sz="4000" dirty="0">
                <a:latin typeface="+mj-ea"/>
                <a:sym typeface="+mn-ea"/>
              </a:rPr>
              <a:t>攻击与防御措施</a:t>
            </a:r>
            <a:endParaRPr lang="zh-CN" altLang="en-US" sz="4000" dirty="0">
              <a:latin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5460" y="1156335"/>
            <a:ext cx="11156950" cy="4584700"/>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DCHP中间人攻击防御措施</a:t>
            </a:r>
            <a:endParaRPr kumimoji="1" lang="en-US" altLang="zh-CN" sz="28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启用交换机上的ARP与DHCP Snooping联动功能。交换机通过收集</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DHCP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报文中的</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客户端硬件地址</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Chaddr</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字段，确定客户端的</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地址，并通过</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DHCP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服务器分配的</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地址来识别客户端，</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建立并维护动态的</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DHCP Snooping </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绑定表，记录</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 DHCP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客户端和服务器间的通信信息。</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当检测到</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ARP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报文时，交换机验证报文中的源</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IP</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和源</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MAC</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地址是否与</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DHCP Snooping </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绑定表中的记录相匹配。如果不一致，则拒绝该报文。</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
        <p:nvSpPr>
          <p:cNvPr id="5" name="标题 4"/>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5.5.3 DHCP</a:t>
            </a:r>
            <a:r>
              <a:rPr lang="zh-CN" altLang="en-US" sz="4000" dirty="0">
                <a:latin typeface="+mj-ea"/>
                <a:sym typeface="+mn-ea"/>
              </a:rPr>
              <a:t>攻击与防御措施</a:t>
            </a:r>
            <a:endParaRPr lang="zh-CN" altLang="en-US" sz="4000" dirty="0">
              <a:latin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5.6.2 FTP</a:t>
            </a:r>
            <a:r>
              <a:rPr lang="zh-CN" altLang="en-US" sz="4000" dirty="0">
                <a:latin typeface="+mj-ea"/>
                <a:sym typeface="+mn-ea"/>
              </a:rPr>
              <a:t>的工作过程</a:t>
            </a:r>
            <a:endParaRPr lang="zh-CN" altLang="en-US" sz="4000" dirty="0">
              <a:latin typeface="+mj-ea"/>
              <a:sym typeface="+mn-ea"/>
            </a:endParaRPr>
          </a:p>
        </p:txBody>
      </p:sp>
      <p:sp>
        <p:nvSpPr>
          <p:cNvPr id="3" name="文本框 2"/>
          <p:cNvSpPr txBox="1"/>
          <p:nvPr/>
        </p:nvSpPr>
        <p:spPr>
          <a:xfrm>
            <a:off x="295910" y="1156335"/>
            <a:ext cx="11212830" cy="5551170"/>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基于客户</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服务器模式，使用</a:t>
            </a:r>
            <a:r>
              <a:rPr kumimoji="1" lang="en-US" altLang="zh-CN"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TCP</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协议建立稳定会话进行文件传输</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需要两组连接：控制连接和数据连接</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控制连接：持续存在，用于传输FTP命令和响应信息，默认端口为TCP 21</a:t>
            </a: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数据连接：临时连接，用于实际文件数据传输，传输完成后关闭</a:t>
            </a: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5.6.2 FTP</a:t>
            </a:r>
            <a:r>
              <a:rPr lang="zh-CN" altLang="en-US" sz="4000" dirty="0">
                <a:latin typeface="+mj-ea"/>
                <a:sym typeface="+mn-ea"/>
              </a:rPr>
              <a:t>的工作过程</a:t>
            </a:r>
            <a:endParaRPr lang="zh-CN" altLang="en-US" sz="4000" dirty="0">
              <a:latin typeface="+mj-ea"/>
              <a:sym typeface="+mn-ea"/>
            </a:endParaRPr>
          </a:p>
        </p:txBody>
      </p:sp>
      <p:sp>
        <p:nvSpPr>
          <p:cNvPr id="3" name="文本框 2"/>
          <p:cNvSpPr txBox="1"/>
          <p:nvPr/>
        </p:nvSpPr>
        <p:spPr>
          <a:xfrm>
            <a:off x="295910" y="1156335"/>
            <a:ext cx="11571605" cy="5551170"/>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工作模式：</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主动模式：客户端发送</a:t>
            </a:r>
            <a:r>
              <a:rPr kumimoji="1" lang="zh-CN" altLang="en-US" sz="2700" b="1">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PORT命令</a:t>
            </a: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，服务器从TCP 20端口主动连接到客户端指定端口</a:t>
            </a: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被动模式：客户端发送</a:t>
            </a:r>
            <a:r>
              <a:rPr kumimoji="1" lang="zh-CN" altLang="en-US" sz="2700" b="1">
                <a:solidFill>
                  <a:srgbClr val="FF0000">
                    <a:alpha val="100000"/>
                  </a:srgbClr>
                </a:solidFill>
                <a:latin typeface="Times New Roman" panose="02020603050405020304" charset="0"/>
                <a:ea typeface="宋体" panose="02010600030101010101" pitchFamily="2" charset="-122"/>
                <a:cs typeface="Times New Roman" panose="02020603050405020304" charset="0"/>
                <a:sym typeface="+mn-ea"/>
              </a:rPr>
              <a:t>PASV命令</a:t>
            </a: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，服务器打开临时端口，客户端主动连接到该端口，</a:t>
            </a: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被动模式</a:t>
            </a:r>
            <a:r>
              <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适用于客户端位于防火墙内的情况，避免防火墙阻止外部连接</a:t>
            </a:r>
            <a:endParaRPr kumimoji="1" lang="zh-CN" altLang="en-US" sz="27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3359696" y="1444784"/>
            <a:ext cx="4973513" cy="5009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dirty="0">
                <a:solidFill>
                  <a:schemeClr val="tx1"/>
                </a:solidFill>
                <a:latin typeface="华文楷体" panose="02010600040101010101" pitchFamily="2" charset="-122"/>
                <a:ea typeface="华文楷体" panose="02010600040101010101" pitchFamily="2" charset="-122"/>
              </a:rPr>
              <a:t>230 user cpre530 logged in.\r\n</a:t>
            </a:r>
            <a:endParaRPr lang="zh-CN" altLang="en-US" sz="2000" dirty="0">
              <a:solidFill>
                <a:schemeClr val="tx1"/>
              </a:solidFill>
              <a:latin typeface="华文楷体" panose="02010600040101010101" pitchFamily="2" charset="-122"/>
              <a:ea typeface="华文楷体" panose="02010600040101010101" pitchFamily="2" charset="-122"/>
            </a:endParaRPr>
          </a:p>
        </p:txBody>
      </p:sp>
      <p:cxnSp>
        <p:nvCxnSpPr>
          <p:cNvPr id="18" name="直接箭头连接符 17"/>
          <p:cNvCxnSpPr/>
          <p:nvPr/>
        </p:nvCxnSpPr>
        <p:spPr>
          <a:xfrm flipH="1" flipV="1">
            <a:off x="2682783" y="1702552"/>
            <a:ext cx="648072"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矩形 18"/>
          <p:cNvSpPr/>
          <p:nvPr/>
        </p:nvSpPr>
        <p:spPr>
          <a:xfrm>
            <a:off x="1820784" y="2092856"/>
            <a:ext cx="3995936" cy="3279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dirty="0">
                <a:solidFill>
                  <a:schemeClr val="tx1"/>
                </a:solidFill>
                <a:latin typeface="华文楷体" panose="02010600040101010101" pitchFamily="2" charset="-122"/>
                <a:ea typeface="华文楷体" panose="02010600040101010101" pitchFamily="2" charset="-122"/>
              </a:rPr>
              <a:t>230 User cpre530 logged in.</a:t>
            </a:r>
            <a:endParaRPr lang="en-US" altLang="zh-CN" sz="2000" dirty="0">
              <a:solidFill>
                <a:schemeClr val="tx1"/>
              </a:solidFill>
              <a:latin typeface="华文楷体" panose="02010600040101010101" pitchFamily="2" charset="-122"/>
              <a:ea typeface="华文楷体" panose="02010600040101010101" pitchFamily="2" charset="-122"/>
            </a:endParaRPr>
          </a:p>
          <a:p>
            <a:pPr algn="ctr"/>
            <a:r>
              <a:rPr lang="en-US" altLang="zh-CN" sz="2000" dirty="0">
                <a:solidFill>
                  <a:schemeClr val="tx1"/>
                </a:solidFill>
                <a:latin typeface="华文楷体" panose="02010600040101010101" pitchFamily="2" charset="-122"/>
                <a:ea typeface="华文楷体" panose="02010600040101010101" pitchFamily="2" charset="-122"/>
              </a:rPr>
              <a:t>ftp&gt;</a:t>
            </a:r>
            <a:r>
              <a:rPr lang="en-US" altLang="zh-CN" sz="2000" b="1" dirty="0" err="1">
                <a:solidFill>
                  <a:schemeClr val="tx1"/>
                </a:solidFill>
                <a:latin typeface="华文楷体" panose="02010600040101010101" pitchFamily="2" charset="-122"/>
                <a:ea typeface="华文楷体" panose="02010600040101010101" pitchFamily="2" charset="-122"/>
              </a:rPr>
              <a:t>ls</a:t>
            </a:r>
            <a:endParaRPr lang="zh-CN" altLang="en-US" sz="2000" b="1" dirty="0">
              <a:solidFill>
                <a:schemeClr val="tx1"/>
              </a:solidFill>
              <a:latin typeface="华文楷体" panose="02010600040101010101" pitchFamily="2" charset="-122"/>
              <a:ea typeface="华文楷体" panose="02010600040101010101" pitchFamily="2" charset="-122"/>
            </a:endParaRPr>
          </a:p>
        </p:txBody>
      </p:sp>
      <p:sp>
        <p:nvSpPr>
          <p:cNvPr id="20" name="矩形 19"/>
          <p:cNvSpPr/>
          <p:nvPr/>
        </p:nvSpPr>
        <p:spPr>
          <a:xfrm>
            <a:off x="2135560" y="2567906"/>
            <a:ext cx="8045571" cy="5798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r>
              <a:rPr lang="zh-CN" altLang="en-US" sz="2000" dirty="0">
                <a:solidFill>
                  <a:schemeClr val="tx1"/>
                </a:solidFill>
                <a:latin typeface="华文楷体" panose="02010600040101010101" pitchFamily="2" charset="-122"/>
                <a:ea typeface="华文楷体" panose="02010600040101010101" pitchFamily="2" charset="-122"/>
              </a:rPr>
              <a:t>用户请求一个目录列表，要求客户端和服务器打开一个数据连接，这通过客户端发送端口命令来表示。</a:t>
            </a:r>
            <a:endParaRPr lang="zh-CN" altLang="en-US" sz="2000" dirty="0">
              <a:solidFill>
                <a:schemeClr val="tx1"/>
              </a:solidFill>
              <a:latin typeface="华文楷体" panose="02010600040101010101" pitchFamily="2" charset="-122"/>
              <a:ea typeface="华文楷体" panose="02010600040101010101" pitchFamily="2" charset="-122"/>
            </a:endParaRPr>
          </a:p>
        </p:txBody>
      </p:sp>
      <p:sp>
        <p:nvSpPr>
          <p:cNvPr id="21" name="矩形 20"/>
          <p:cNvSpPr/>
          <p:nvPr/>
        </p:nvSpPr>
        <p:spPr>
          <a:xfrm>
            <a:off x="3364454" y="3328959"/>
            <a:ext cx="4973513" cy="5009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dirty="0">
                <a:solidFill>
                  <a:schemeClr val="tx1"/>
                </a:solidFill>
                <a:latin typeface="华文楷体" panose="02010600040101010101" pitchFamily="2" charset="-122"/>
                <a:ea typeface="华文楷体" panose="02010600040101010101" pitchFamily="2" charset="-122"/>
              </a:rPr>
              <a:t>PORT </a:t>
            </a:r>
            <a:r>
              <a:rPr lang="en-US" altLang="zh-CN" sz="2000" b="1" dirty="0">
                <a:solidFill>
                  <a:srgbClr val="FF0000"/>
                </a:solidFill>
                <a:latin typeface="华文楷体" panose="02010600040101010101" pitchFamily="2" charset="-122"/>
                <a:ea typeface="华文楷体" panose="02010600040101010101" pitchFamily="2" charset="-122"/>
              </a:rPr>
              <a:t>192,168,1,2,</a:t>
            </a:r>
            <a:r>
              <a:rPr lang="en-US" altLang="zh-CN" sz="2000" b="1" dirty="0">
                <a:gradFill>
                  <a:gsLst>
                    <a:gs pos="0">
                      <a:srgbClr val="007BD3"/>
                    </a:gs>
                    <a:gs pos="100000">
                      <a:srgbClr val="034373"/>
                    </a:gs>
                  </a:gsLst>
                  <a:lin scaled="0"/>
                </a:gradFill>
                <a:latin typeface="华文楷体" panose="02010600040101010101" pitchFamily="2" charset="-122"/>
                <a:ea typeface="华文楷体" panose="02010600040101010101" pitchFamily="2" charset="-122"/>
              </a:rPr>
              <a:t>19,137</a:t>
            </a:r>
            <a:r>
              <a:rPr lang="en-US" altLang="zh-CN" sz="2000" dirty="0">
                <a:solidFill>
                  <a:schemeClr val="tx1"/>
                </a:solidFill>
                <a:latin typeface="华文楷体" panose="02010600040101010101" pitchFamily="2" charset="-122"/>
                <a:ea typeface="华文楷体" panose="02010600040101010101" pitchFamily="2" charset="-122"/>
              </a:rPr>
              <a:t>\r\n</a:t>
            </a:r>
            <a:endParaRPr lang="zh-CN" altLang="en-US" sz="2000" dirty="0">
              <a:solidFill>
                <a:schemeClr val="tx1"/>
              </a:solidFill>
              <a:latin typeface="华文楷体" panose="02010600040101010101" pitchFamily="2" charset="-122"/>
              <a:ea typeface="华文楷体" panose="02010600040101010101" pitchFamily="2" charset="-122"/>
            </a:endParaRPr>
          </a:p>
        </p:txBody>
      </p:sp>
      <p:sp>
        <p:nvSpPr>
          <p:cNvPr id="22" name="矩形 21"/>
          <p:cNvSpPr/>
          <p:nvPr/>
        </p:nvSpPr>
        <p:spPr>
          <a:xfrm>
            <a:off x="2135559" y="4011136"/>
            <a:ext cx="8045571" cy="9532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r>
              <a:rPr lang="zh-CN" altLang="en-US" sz="2000" dirty="0">
                <a:solidFill>
                  <a:schemeClr val="tx1"/>
                </a:solidFill>
                <a:latin typeface="华文楷体" panose="02010600040101010101" pitchFamily="2" charset="-122"/>
                <a:ea typeface="华文楷体" panose="02010600040101010101" pitchFamily="2" charset="-122"/>
              </a:rPr>
              <a:t>端口命令的前</a:t>
            </a:r>
            <a:r>
              <a:rPr lang="en-US" altLang="zh-CN" sz="2000" dirty="0">
                <a:solidFill>
                  <a:schemeClr val="tx1"/>
                </a:solidFill>
                <a:latin typeface="华文楷体" panose="02010600040101010101" pitchFamily="2" charset="-122"/>
                <a:ea typeface="华文楷体" panose="02010600040101010101" pitchFamily="2" charset="-122"/>
              </a:rPr>
              <a:t>4</a:t>
            </a:r>
            <a:r>
              <a:rPr lang="zh-CN" altLang="en-US" sz="2000" dirty="0">
                <a:solidFill>
                  <a:schemeClr val="tx1"/>
                </a:solidFill>
                <a:latin typeface="华文楷体" panose="02010600040101010101" pitchFamily="2" charset="-122"/>
                <a:ea typeface="华文楷体" panose="02010600040101010101" pitchFamily="2" charset="-122"/>
              </a:rPr>
              <a:t>个参数是客户端</a:t>
            </a:r>
            <a:r>
              <a:rPr lang="en-US" altLang="zh-CN" sz="2000" dirty="0">
                <a:solidFill>
                  <a:schemeClr val="tx1"/>
                </a:solidFill>
                <a:latin typeface="华文楷体" panose="02010600040101010101" pitchFamily="2" charset="-122"/>
                <a:ea typeface="华文楷体" panose="02010600040101010101" pitchFamily="2" charset="-122"/>
              </a:rPr>
              <a:t>IP</a:t>
            </a:r>
            <a:r>
              <a:rPr lang="zh-CN" altLang="en-US" sz="2000" dirty="0">
                <a:solidFill>
                  <a:schemeClr val="tx1"/>
                </a:solidFill>
                <a:latin typeface="华文楷体" panose="02010600040101010101" pitchFamily="2" charset="-122"/>
                <a:ea typeface="华文楷体" panose="02010600040101010101" pitchFamily="2" charset="-122"/>
              </a:rPr>
              <a:t>地址，它是一个用逗号隔开的列表。</a:t>
            </a:r>
            <a:endParaRPr lang="en-US" altLang="zh-CN" sz="2000" dirty="0">
              <a:solidFill>
                <a:schemeClr val="tx1"/>
              </a:solidFill>
              <a:latin typeface="华文楷体" panose="02010600040101010101" pitchFamily="2" charset="-122"/>
              <a:ea typeface="华文楷体" panose="02010600040101010101" pitchFamily="2" charset="-122"/>
            </a:endParaRPr>
          </a:p>
          <a:p>
            <a:r>
              <a:rPr lang="zh-CN" altLang="en-US" sz="2000" dirty="0">
                <a:solidFill>
                  <a:schemeClr val="tx1"/>
                </a:solidFill>
                <a:latin typeface="华文楷体" panose="02010600040101010101" pitchFamily="2" charset="-122"/>
                <a:ea typeface="华文楷体" panose="02010600040101010101" pitchFamily="2" charset="-122"/>
              </a:rPr>
              <a:t>最后两个参数用来计算客户端所侦听的用来连接服务器的端口号。</a:t>
            </a:r>
            <a:endParaRPr lang="en-US" altLang="zh-CN" sz="2000" dirty="0">
              <a:solidFill>
                <a:schemeClr val="tx1"/>
              </a:solidFill>
              <a:latin typeface="华文楷体" panose="02010600040101010101" pitchFamily="2" charset="-122"/>
              <a:ea typeface="华文楷体" panose="02010600040101010101" pitchFamily="2" charset="-122"/>
            </a:endParaRPr>
          </a:p>
          <a:p>
            <a:r>
              <a:rPr lang="en-US" altLang="zh-CN" sz="2000" dirty="0">
                <a:solidFill>
                  <a:srgbClr val="FF0000"/>
                </a:solidFill>
                <a:latin typeface="华文楷体" panose="02010600040101010101" pitchFamily="2" charset="-122"/>
                <a:ea typeface="华文楷体" panose="02010600040101010101" pitchFamily="2" charset="-122"/>
              </a:rPr>
              <a:t>256*19+137=5001(</a:t>
            </a:r>
            <a:r>
              <a:rPr lang="zh-CN" altLang="en-US" sz="2000" dirty="0">
                <a:solidFill>
                  <a:srgbClr val="FF0000"/>
                </a:solidFill>
                <a:latin typeface="华文楷体" panose="02010600040101010101" pitchFamily="2" charset="-122"/>
                <a:ea typeface="华文楷体" panose="02010600040101010101" pitchFamily="2" charset="-122"/>
              </a:rPr>
              <a:t>端口号</a:t>
            </a:r>
            <a:r>
              <a:rPr lang="en-US" altLang="zh-CN" sz="2000" dirty="0">
                <a:solidFill>
                  <a:srgbClr val="FF0000"/>
                </a:solidFill>
                <a:latin typeface="华文楷体" panose="02010600040101010101" pitchFamily="2" charset="-122"/>
                <a:ea typeface="华文楷体" panose="02010600040101010101" pitchFamily="2" charset="-122"/>
              </a:rPr>
              <a:t>)</a:t>
            </a:r>
            <a:endParaRPr lang="en-US" altLang="zh-CN" sz="2000" dirty="0">
              <a:solidFill>
                <a:srgbClr val="FF0000"/>
              </a:solidFill>
              <a:latin typeface="华文楷体" panose="02010600040101010101" pitchFamily="2" charset="-122"/>
              <a:ea typeface="华文楷体" panose="02010600040101010101" pitchFamily="2" charset="-122"/>
            </a:endParaRPr>
          </a:p>
        </p:txBody>
      </p:sp>
      <p:sp>
        <p:nvSpPr>
          <p:cNvPr id="23" name="矩形 22"/>
          <p:cNvSpPr/>
          <p:nvPr/>
        </p:nvSpPr>
        <p:spPr>
          <a:xfrm>
            <a:off x="1828633" y="5919221"/>
            <a:ext cx="3995936" cy="3279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dirty="0">
                <a:solidFill>
                  <a:schemeClr val="tx1"/>
                </a:solidFill>
                <a:latin typeface="华文楷体" panose="02010600040101010101" pitchFamily="2" charset="-122"/>
                <a:ea typeface="华文楷体" panose="02010600040101010101" pitchFamily="2" charset="-122"/>
              </a:rPr>
              <a:t>200 PORT command successful</a:t>
            </a:r>
            <a:endParaRPr lang="zh-CN" altLang="en-US" sz="2000" dirty="0">
              <a:solidFill>
                <a:schemeClr val="tx1"/>
              </a:solidFill>
              <a:latin typeface="华文楷体" panose="02010600040101010101" pitchFamily="2" charset="-122"/>
              <a:ea typeface="华文楷体" panose="02010600040101010101" pitchFamily="2" charset="-122"/>
            </a:endParaRPr>
          </a:p>
        </p:txBody>
      </p:sp>
      <p:cxnSp>
        <p:nvCxnSpPr>
          <p:cNvPr id="25" name="直接箭头连接符 24"/>
          <p:cNvCxnSpPr>
            <a:stCxn id="21" idx="3"/>
          </p:cNvCxnSpPr>
          <p:nvPr/>
        </p:nvCxnSpPr>
        <p:spPr>
          <a:xfrm flipV="1">
            <a:off x="8337967" y="3579443"/>
            <a:ext cx="566345"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矩形 26"/>
          <p:cNvSpPr/>
          <p:nvPr/>
        </p:nvSpPr>
        <p:spPr>
          <a:xfrm>
            <a:off x="3367545" y="5171525"/>
            <a:ext cx="4973513" cy="5009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dirty="0">
                <a:solidFill>
                  <a:schemeClr val="tx1"/>
                </a:solidFill>
                <a:latin typeface="华文楷体" panose="02010600040101010101" pitchFamily="2" charset="-122"/>
                <a:ea typeface="华文楷体" panose="02010600040101010101" pitchFamily="2" charset="-122"/>
              </a:rPr>
              <a:t>200 PORT command successful.\r\n</a:t>
            </a:r>
            <a:endParaRPr lang="zh-CN" altLang="en-US" sz="2000" dirty="0">
              <a:solidFill>
                <a:schemeClr val="tx1"/>
              </a:solidFill>
              <a:latin typeface="华文楷体" panose="02010600040101010101" pitchFamily="2" charset="-122"/>
              <a:ea typeface="华文楷体" panose="02010600040101010101" pitchFamily="2" charset="-122"/>
            </a:endParaRPr>
          </a:p>
        </p:txBody>
      </p:sp>
      <p:cxnSp>
        <p:nvCxnSpPr>
          <p:cNvPr id="28" name="直接箭头连接符 27"/>
          <p:cNvCxnSpPr/>
          <p:nvPr/>
        </p:nvCxnSpPr>
        <p:spPr>
          <a:xfrm flipH="1" flipV="1">
            <a:off x="2690632" y="5429293"/>
            <a:ext cx="648072"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标题 3"/>
          <p:cNvSpPr>
            <a:spLocks noGrp="1"/>
          </p:cNvSpPr>
          <p:nvPr>
            <p:ph type="title"/>
          </p:nvPr>
        </p:nvSpPr>
        <p:spPr>
          <a:xfrm>
            <a:off x="31750" y="298450"/>
            <a:ext cx="7130415" cy="583565"/>
          </a:xfrm>
        </p:spPr>
        <p:txBody>
          <a:bodyPr/>
          <a:p>
            <a:pPr algn="l">
              <a:buClrTx/>
              <a:buSzTx/>
              <a:buFontTx/>
            </a:pPr>
            <a:r>
              <a:rPr lang="en-US" altLang="zh-CN" sz="4000" dirty="0">
                <a:latin typeface="+mj-ea"/>
                <a:sym typeface="+mn-ea"/>
              </a:rPr>
              <a:t>5.6.2 FTP</a:t>
            </a:r>
            <a:r>
              <a:rPr lang="zh-CN" altLang="en-US" sz="4000" dirty="0">
                <a:latin typeface="+mj-ea"/>
                <a:sym typeface="+mn-ea"/>
              </a:rPr>
              <a:t>的工作过程</a:t>
            </a:r>
            <a:endParaRPr lang="zh-CN" altLang="en-US" sz="4000" dirty="0">
              <a:latin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9335770" cy="583565"/>
          </a:xfrm>
        </p:spPr>
        <p:txBody>
          <a:bodyPr/>
          <a:p>
            <a:pPr algn="l">
              <a:buClrTx/>
              <a:buSzTx/>
              <a:buFontTx/>
            </a:pPr>
            <a:r>
              <a:rPr lang="en-US" altLang="zh-CN" sz="4000" dirty="0">
                <a:latin typeface="+mj-ea"/>
                <a:sym typeface="+mn-ea"/>
              </a:rPr>
              <a:t>5.6.5 FTP</a:t>
            </a:r>
            <a:r>
              <a:rPr lang="zh-CN" altLang="en-US" sz="4000" dirty="0">
                <a:latin typeface="+mj-ea"/>
                <a:sym typeface="+mn-ea"/>
              </a:rPr>
              <a:t>存在的安全风险及防御策略</a:t>
            </a:r>
            <a:endParaRPr lang="zh-CN" altLang="en-US" sz="4000" dirty="0">
              <a:latin typeface="+mj-ea"/>
              <a:sym typeface="+mn-ea"/>
            </a:endParaRPr>
          </a:p>
        </p:txBody>
      </p:sp>
      <p:sp>
        <p:nvSpPr>
          <p:cNvPr id="3" name="文本框 2"/>
          <p:cNvSpPr txBox="1"/>
          <p:nvPr/>
        </p:nvSpPr>
        <p:spPr>
          <a:xfrm>
            <a:off x="295910" y="951865"/>
            <a:ext cx="11765280" cy="5824220"/>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zh-CN" altLang="en-US" sz="25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FTP协议存在以下安全风险：</a:t>
            </a:r>
            <a:endParaRPr kumimoji="1" lang="zh-CN" altLang="en-US" sz="25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用户名和密码的明文传输：FTP协议在传输用户凭据时不会对其进行加密或其他形式的加密处理，这意味着用户名和密码以明文的方式传输，容易被黑客拦截并窃取</a:t>
            </a:r>
            <a:endPar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传输数据的不安全性：FTP传输的数据本质上是不加密的，这意味着任何人都可以窥视到正在传输的数据内容。此外，传输过程中可能会存在中间人攻击等风险，从而导致数据被篡改或者被窃取</a:t>
            </a:r>
            <a:endPar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权限管理不完善：FTP服务器通常提供了多个权限级别，但不同级别的用户之间的文件权限可能存在重叠或者冲突，导致数据泄漏或错误</a:t>
            </a:r>
            <a:endPar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780" y="270510"/>
            <a:ext cx="9335770" cy="583565"/>
          </a:xfrm>
        </p:spPr>
        <p:txBody>
          <a:bodyPr/>
          <a:p>
            <a:pPr algn="l">
              <a:buClrTx/>
              <a:buSzTx/>
              <a:buFontTx/>
            </a:pPr>
            <a:r>
              <a:rPr lang="en-US" altLang="zh-CN" sz="4000" dirty="0">
                <a:latin typeface="+mj-ea"/>
                <a:sym typeface="+mn-ea"/>
              </a:rPr>
              <a:t>5.6.5 FTP</a:t>
            </a:r>
            <a:r>
              <a:rPr lang="zh-CN" altLang="en-US" sz="4000" dirty="0">
                <a:latin typeface="+mj-ea"/>
                <a:sym typeface="+mn-ea"/>
              </a:rPr>
              <a:t>存在的安全风险及防御策略</a:t>
            </a:r>
            <a:endParaRPr lang="zh-CN" altLang="en-US" sz="4000" dirty="0">
              <a:latin typeface="+mj-ea"/>
              <a:sym typeface="+mn-ea"/>
            </a:endParaRPr>
          </a:p>
        </p:txBody>
      </p:sp>
      <p:sp>
        <p:nvSpPr>
          <p:cNvPr id="3" name="文本框 2"/>
          <p:cNvSpPr txBox="1"/>
          <p:nvPr/>
        </p:nvSpPr>
        <p:spPr>
          <a:xfrm>
            <a:off x="295910" y="951865"/>
            <a:ext cx="11765280" cy="5824220"/>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FTP协议的防范策略包括：</a:t>
            </a:r>
            <a:endParaRPr kumimoji="1" lang="zh-CN" altLang="en-US" sz="2800" b="1">
              <a:ln w="12700">
                <a:noFill/>
              </a:ln>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采用SFTP代替FTP：SFTP基于SSH协议，防止数据被截取和解密</a:t>
            </a:r>
            <a:endPar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使用加密和身份验证：确保FTP服务器仅接受加密连接，要求用户使用合法凭据（如用户名/密码、证书、令牌等）访问</a:t>
            </a:r>
            <a:endPar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限制用户权限：通过访问控制列表（ACL）和强制访问控制（MAC）等机制，严格控制用户文件操作权限，限制用户访问范围</a:t>
            </a:r>
            <a:endPar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监控服务器活动：监控FTP服务器的登录、文件操作记录，检测异常活动</a:t>
            </a:r>
            <a:endPar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810260" indent="-342900" algn="l">
              <a:lnSpc>
                <a:spcPct val="150000"/>
              </a:lnSpc>
              <a:buClr>
                <a:srgbClr val="DF4F21"/>
              </a:buClr>
              <a:buSzTx/>
              <a:buFont typeface="Wingdings" panose="05000000000000000000" charset="0"/>
              <a:buChar char="Ø"/>
            </a:pPr>
            <a:r>
              <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使用防火墙：通过防火墙限制未经授权的网络访问，提供额外安全保护</a:t>
            </a:r>
            <a:endParaRPr kumimoji="1" lang="zh-CN" altLang="en-US" sz="25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结课考试题型及分值分配</a:t>
            </a:r>
            <a:endParaRPr lang="zh-CN" altLang="en-US"/>
          </a:p>
        </p:txBody>
      </p:sp>
      <p:sp>
        <p:nvSpPr>
          <p:cNvPr id="4" name="文本框 3"/>
          <p:cNvSpPr txBox="1"/>
          <p:nvPr/>
        </p:nvSpPr>
        <p:spPr>
          <a:xfrm>
            <a:off x="2462530" y="1623695"/>
            <a:ext cx="5158105" cy="2673985"/>
          </a:xfrm>
          <a:prstGeom prst="rect">
            <a:avLst/>
          </a:prstGeom>
          <a:noFill/>
        </p:spPr>
        <p:txBody>
          <a:bodyPr wrap="square" rtlCol="0" anchor="t">
            <a:noAutofit/>
          </a:bodyPr>
          <a:p>
            <a:pPr marL="342900" indent="-342900" algn="l">
              <a:lnSpc>
                <a:spcPct val="150000"/>
              </a:lnSpc>
              <a:buClr>
                <a:srgbClr val="DF4F21"/>
              </a:buClr>
              <a:buSzTx/>
              <a:buFont typeface="Wingdings" panose="05000000000000000000" charset="0"/>
              <a:buChar char="p"/>
            </a:pP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选择题（</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20</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道，每道</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1</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分）</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填空题</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10</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道，每道</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2</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分）</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简答题</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4</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道，每道</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5</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分）</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a:p>
            <a:pPr marL="342900" indent="-342900" algn="l">
              <a:lnSpc>
                <a:spcPct val="150000"/>
              </a:lnSpc>
              <a:buClr>
                <a:srgbClr val="DF4F21"/>
              </a:buClr>
              <a:buSzTx/>
              <a:buFont typeface="Wingdings" panose="05000000000000000000" charset="0"/>
              <a:buChar char="p"/>
            </a:pP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综合应用题</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4</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道，每道</a:t>
            </a:r>
            <a:r>
              <a:rPr kumimoji="1" lang="en-US" altLang="zh-CN"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10</a:t>
            </a:r>
            <a:r>
              <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rPr>
              <a:t>分）</a:t>
            </a:r>
            <a:endParaRPr kumimoji="1" lang="zh-CN" altLang="en-US" sz="2600" b="1">
              <a:solidFill>
                <a:srgbClr val="404040">
                  <a:alpha val="100000"/>
                </a:srgbClr>
              </a:solidFill>
              <a:latin typeface="Times New Roman" panose="02020603050405020304" charset="0"/>
              <a:ea typeface="宋体" panose="02010600030101010101" pitchFamily="2"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DIAGRAM_VIRTUALLY_FRAME" val="{&quot;height&quot;:373.95,&quot;left&quot;:251.15,&quot;top&quot;:105.55,&quot;width&quot;:534.75}"/>
</p:tagLst>
</file>

<file path=ppt/tags/tag3.xml><?xml version="1.0" encoding="utf-8"?>
<p:tagLst xmlns:p="http://schemas.openxmlformats.org/presentationml/2006/main">
  <p:tag name="KSO_WM_DIAGRAM_VIRTUALLY_FRAME" val="{&quot;height&quot;:373.95,&quot;left&quot;:251.15,&quot;top&quot;:105.55,&quot;width&quot;:534.75}"/>
</p:tagLst>
</file>

<file path=ppt/tags/tag4.xml><?xml version="1.0" encoding="utf-8"?>
<p:tagLst xmlns:p="http://schemas.openxmlformats.org/presentationml/2006/main">
  <p:tag name="KSO_WM_DIAGRAM_VIRTUALLY_FRAME" val="{&quot;height&quot;:373.95,&quot;left&quot;:251.15,&quot;top&quot;:105.55,&quot;width&quot;:534.75}"/>
</p:tagLst>
</file>

<file path=ppt/tags/tag5.xml><?xml version="1.0" encoding="utf-8"?>
<p:tagLst xmlns:p="http://schemas.openxmlformats.org/presentationml/2006/main">
  <p:tag name="KSO_WM_DIAGRAM_VIRTUALLY_FRAME" val="{&quot;height&quot;:373.95,&quot;left&quot;:251.15,&quot;top&quot;:105.55,&quot;width&quot;:534.75}"/>
</p:tagLst>
</file>

<file path=ppt/tags/tag6.xml><?xml version="1.0" encoding="utf-8"?>
<p:tagLst xmlns:p="http://schemas.openxmlformats.org/presentationml/2006/main">
  <p:tag name="KSO_WM_DIAGRAM_VIRTUALLY_FRAME" val="{&quot;height&quot;:373.95,&quot;left&quot;:251.15,&quot;top&quot;:105.55,&quot;width&quot;:534.75}"/>
</p:tagLst>
</file>

<file path=ppt/tags/tag7.xml><?xml version="1.0" encoding="utf-8"?>
<p:tagLst xmlns:p="http://schemas.openxmlformats.org/presentationml/2006/main">
  <p:tag name="KSO_WM_DIAGRAM_VIRTUALLY_FRAME" val="{&quot;height&quot;:373.95,&quot;left&quot;:251.15,&quot;top&quot;:105.55,&quot;width&quot;:534.75}"/>
</p:tagLst>
</file>

<file path=ppt/tags/tag8.xml><?xml version="1.0" encoding="utf-8"?>
<p:tagLst xmlns:p="http://schemas.openxmlformats.org/presentationml/2006/main">
  <p:tag name="KSO_WM_DIAGRAM_VIRTUALLY_FRAME" val="{&quot;height&quot;:373.95,&quot;left&quot;:251.15,&quot;top&quot;:105.55,&quot;width&quot;:534.75}"/>
</p:tagLst>
</file>

<file path=ppt/tags/tag9.xml><?xml version="1.0" encoding="utf-8"?>
<p:tagLst xmlns:p="http://schemas.openxmlformats.org/presentationml/2006/main">
  <p:tag name="KSO_WM_DIAGRAM_VIRTUALLY_FRAME" val="{&quot;height&quot;:373.95,&quot;left&quot;:251.15,&quot;top&quot;:105.55,&quot;width&quot;:534.75}"/>
</p:tagLst>
</file>

<file path=ppt/tags/tag10.xml><?xml version="1.0" encoding="utf-8"?>
<p:tagLst xmlns:p="http://schemas.openxmlformats.org/presentationml/2006/main">
  <p:tag name="KSO_WM_DIAGRAM_VIRTUALLY_FRAME" val="{&quot;height&quot;:373.95,&quot;left&quot;:251.15,&quot;top&quot;:105.55,&quot;width&quot;:534.75}"/>
</p:tagLst>
</file>

<file path=ppt/tags/tag11.xml><?xml version="1.0" encoding="utf-8"?>
<p:tagLst xmlns:p="http://schemas.openxmlformats.org/presentationml/2006/main">
  <p:tag name="KSO_WM_DIAGRAM_VIRTUALLY_FRAME" val="{&quot;height&quot;:598.65,&quot;left&quot;:-0.5,&quot;top&quot;:-58.65,&quot;width&quot;:960.5}"/>
</p:tagLst>
</file>

<file path=ppt/tags/tag12.xml><?xml version="1.0" encoding="utf-8"?>
<p:tagLst xmlns:p="http://schemas.openxmlformats.org/presentationml/2006/main">
  <p:tag name="KSO_WM_DIAGRAM_VIRTUALLY_FRAME" val="{&quot;height&quot;:598.65,&quot;left&quot;:-0.5,&quot;top&quot;:-58.65,&quot;width&quot;:960.5}"/>
</p:tagLst>
</file>

<file path=ppt/tags/tag13.xml><?xml version="1.0" encoding="utf-8"?>
<p:tagLst xmlns:p="http://schemas.openxmlformats.org/presentationml/2006/main">
  <p:tag name="KSO_WM_DIAGRAM_VIRTUALLY_FRAME" val="{&quot;height&quot;:598.65,&quot;left&quot;:-0.5,&quot;top&quot;:-58.65,&quot;width&quot;:960.5}"/>
</p:tagLst>
</file>

<file path=ppt/tags/tag14.xml><?xml version="1.0" encoding="utf-8"?>
<p:tagLst xmlns:p="http://schemas.openxmlformats.org/presentationml/2006/main">
  <p:tag name="KSO_WM_DIAGRAM_VIRTUALLY_FRAME" val="{&quot;height&quot;:598.65,&quot;left&quot;:-0.5,&quot;top&quot;:-58.65,&quot;width&quot;:960.5}"/>
</p:tagLst>
</file>

<file path=ppt/tags/tag15.xml><?xml version="1.0" encoding="utf-8"?>
<p:tagLst xmlns:p="http://schemas.openxmlformats.org/presentationml/2006/main">
  <p:tag name="KSO_WM_DIAGRAM_VIRTUALLY_FRAME" val="{&quot;height&quot;:598.65,&quot;left&quot;:-0.5,&quot;top&quot;:-58.65,&quot;width&quot;:960.5}"/>
</p:tagLst>
</file>

<file path=ppt/tags/tag16.xml><?xml version="1.0" encoding="utf-8"?>
<p:tagLst xmlns:p="http://schemas.openxmlformats.org/presentationml/2006/main">
  <p:tag name="KSO_WM_DIAGRAM_VIRTUALLY_FRAME" val="{&quot;height&quot;:598.65,&quot;left&quot;:-0.5,&quot;top&quot;:-58.65,&quot;width&quot;:960.5}"/>
</p:tagLst>
</file>

<file path=ppt/tags/tag17.xml><?xml version="1.0" encoding="utf-8"?>
<p:tagLst xmlns:p="http://schemas.openxmlformats.org/presentationml/2006/main">
  <p:tag name="KSO_WM_DIAGRAM_VIRTUALLY_FRAME" val="{&quot;height&quot;:598.65,&quot;left&quot;:-0.5,&quot;top&quot;:-58.65,&quot;width&quot;:960.5}"/>
</p:tagLst>
</file>

<file path=ppt/tags/tag18.xml><?xml version="1.0" encoding="utf-8"?>
<p:tagLst xmlns:p="http://schemas.openxmlformats.org/presentationml/2006/main">
  <p:tag name="KSO_WM_DIAGRAM_VIRTUALLY_FRAME" val="{&quot;height&quot;:598.65,&quot;left&quot;:-0.5,&quot;top&quot;:-58.65,&quot;width&quot;:960.5}"/>
</p:tagLst>
</file>

<file path=ppt/tags/tag19.xml><?xml version="1.0" encoding="utf-8"?>
<p:tagLst xmlns:p="http://schemas.openxmlformats.org/presentationml/2006/main">
  <p:tag name="KSO_WM_DIAGRAM_VIRTUALLY_FRAME" val="{&quot;height&quot;:598.65,&quot;left&quot;:-0.5,&quot;top&quot;:-58.65,&quot;width&quot;:960.5}"/>
</p:tagLst>
</file>

<file path=ppt/tags/tag20.xml><?xml version="1.0" encoding="utf-8"?>
<p:tagLst xmlns:p="http://schemas.openxmlformats.org/presentationml/2006/main">
  <p:tag name="KSO_WM_DIAGRAM_VIRTUALLY_FRAME" val="{&quot;height&quot;:598.65,&quot;left&quot;:-0.5,&quot;top&quot;:-58.65,&quot;width&quot;:960.5}"/>
</p:tagLst>
</file>

<file path=ppt/tags/tag21.xml><?xml version="1.0" encoding="utf-8"?>
<p:tagLst xmlns:p="http://schemas.openxmlformats.org/presentationml/2006/main">
  <p:tag name="KSO_WM_DIAGRAM_VIRTUALLY_FRAME" val="{&quot;height&quot;:598.65,&quot;left&quot;:-0.5,&quot;top&quot;:-58.65,&quot;width&quot;:960.5}"/>
</p:tagLst>
</file>

<file path=ppt/tags/tag22.xml><?xml version="1.0" encoding="utf-8"?>
<p:tagLst xmlns:p="http://schemas.openxmlformats.org/presentationml/2006/main">
  <p:tag name="KSO_WM_DIAGRAM_VIRTUALLY_FRAME" val="{&quot;height&quot;:598.65,&quot;left&quot;:-0.5,&quot;top&quot;:-58.65,&quot;width&quot;:960.5}"/>
</p:tagLst>
</file>

<file path=ppt/tags/tag23.xml><?xml version="1.0" encoding="utf-8"?>
<p:tagLst xmlns:p="http://schemas.openxmlformats.org/presentationml/2006/main">
  <p:tag name="KSO_WM_DIAGRAM_VIRTUALLY_FRAME" val="{&quot;height&quot;:598.65,&quot;left&quot;:-0.5,&quot;top&quot;:-58.65,&quot;width&quot;:960.5}"/>
</p:tagLst>
</file>

<file path=ppt/tags/tag24.xml><?xml version="1.0" encoding="utf-8"?>
<p:tagLst xmlns:p="http://schemas.openxmlformats.org/presentationml/2006/main">
  <p:tag name="KSO_WM_DIAGRAM_VIRTUALLY_FRAME" val="{&quot;height&quot;:598.65,&quot;left&quot;:-0.5,&quot;top&quot;:-58.65,&quot;width&quot;:960.5}"/>
</p:tagLst>
</file>

<file path=ppt/tags/tag25.xml><?xml version="1.0" encoding="utf-8"?>
<p:tagLst xmlns:p="http://schemas.openxmlformats.org/presentationml/2006/main">
  <p:tag name="KSO_WM_DIAGRAM_VIRTUALLY_FRAME" val="{&quot;height&quot;:598.65,&quot;left&quot;:-0.5,&quot;top&quot;:-58.65,&quot;width&quot;:960.5}"/>
</p:tagLst>
</file>

<file path=ppt/tags/tag26.xml><?xml version="1.0" encoding="utf-8"?>
<p:tagLst xmlns:p="http://schemas.openxmlformats.org/presentationml/2006/main">
  <p:tag name="KSO_WM_DIAGRAM_VIRTUALLY_FRAME" val="{&quot;height&quot;:598.65,&quot;left&quot;:-0.5,&quot;top&quot;:-58.65,&quot;width&quot;:960.5}"/>
</p:tagLst>
</file>

<file path=ppt/tags/tag27.xml><?xml version="1.0" encoding="utf-8"?>
<p:tagLst xmlns:p="http://schemas.openxmlformats.org/presentationml/2006/main">
  <p:tag name="KSO_WM_DIAGRAM_VIRTUALLY_FRAME" val="{&quot;height&quot;:598.65,&quot;left&quot;:-0.5,&quot;top&quot;:-58.65,&quot;width&quot;:960.5}"/>
</p:tagLst>
</file>

<file path=ppt/tags/tag28.xml><?xml version="1.0" encoding="utf-8"?>
<p:tagLst xmlns:p="http://schemas.openxmlformats.org/presentationml/2006/main">
  <p:tag name="KSO_WM_DIAGRAM_VIRTUALLY_FRAME" val="{&quot;height&quot;:598.65,&quot;left&quot;:-0.5,&quot;top&quot;:-58.65,&quot;width&quot;:960.5}"/>
</p:tagLst>
</file>

<file path=ppt/tags/tag29.xml><?xml version="1.0" encoding="utf-8"?>
<p:tagLst xmlns:p="http://schemas.openxmlformats.org/presentationml/2006/main">
  <p:tag name="KSO_WM_DIAGRAM_VIRTUALLY_FRAME" val="{&quot;height&quot;:598.65,&quot;left&quot;:-0.5,&quot;top&quot;:-58.65,&quot;width&quot;:960.5}"/>
</p:tagLst>
</file>

<file path=ppt/tags/tag30.xml><?xml version="1.0" encoding="utf-8"?>
<p:tagLst xmlns:p="http://schemas.openxmlformats.org/presentationml/2006/main">
  <p:tag name="KSO_WM_DIAGRAM_VIRTUALLY_FRAME" val="{&quot;height&quot;:598.65,&quot;left&quot;:-0.5,&quot;top&quot;:-58.65,&quot;width&quot;:960.5}"/>
</p:tagLst>
</file>

<file path=ppt/tags/tag31.xml><?xml version="1.0" encoding="utf-8"?>
<p:tagLst xmlns:p="http://schemas.openxmlformats.org/presentationml/2006/main">
  <p:tag name="KSO_WM_DIAGRAM_VIRTUALLY_FRAME" val="{&quot;height&quot;:598.65,&quot;left&quot;:-0.5,&quot;top&quot;:-58.65,&quot;width&quot;:960.5}"/>
</p:tagLst>
</file>

<file path=ppt/tags/tag32.xml><?xml version="1.0" encoding="utf-8"?>
<p:tagLst xmlns:p="http://schemas.openxmlformats.org/presentationml/2006/main">
  <p:tag name="KSO_WM_DIAGRAM_VIRTUALLY_FRAME" val="{&quot;height&quot;:598.65,&quot;left&quot;:-0.5,&quot;top&quot;:-58.65,&quot;width&quot;:960.5}"/>
</p:tagLst>
</file>

<file path=ppt/tags/tag33.xml><?xml version="1.0" encoding="utf-8"?>
<p:tagLst xmlns:p="http://schemas.openxmlformats.org/presentationml/2006/main">
  <p:tag name="KSO_WM_DIAGRAM_VIRTUALLY_FRAME" val="{&quot;height&quot;:598.65,&quot;left&quot;:-0.5,&quot;top&quot;:-58.65,&quot;width&quot;:960.5}"/>
</p:tagLst>
</file>

<file path=ppt/tags/tag34.xml><?xml version="1.0" encoding="utf-8"?>
<p:tagLst xmlns:p="http://schemas.openxmlformats.org/presentationml/2006/main">
  <p:tag name="KSO_WM_DIAGRAM_VIRTUALLY_FRAME" val="{&quot;height&quot;:598.65,&quot;left&quot;:-0.5,&quot;top&quot;:-58.65,&quot;width&quot;:960.5}"/>
</p:tagLst>
</file>

<file path=ppt/tags/tag35.xml><?xml version="1.0" encoding="utf-8"?>
<p:tagLst xmlns:p="http://schemas.openxmlformats.org/presentationml/2006/main">
  <p:tag name="KSO_WM_DIAGRAM_VIRTUALLY_FRAME" val="{&quot;height&quot;:598.65,&quot;left&quot;:-0.5,&quot;top&quot;:-58.65,&quot;width&quot;:960.5}"/>
</p:tagLst>
</file>

<file path=ppt/tags/tag36.xml><?xml version="1.0" encoding="utf-8"?>
<p:tagLst xmlns:p="http://schemas.openxmlformats.org/presentationml/2006/main">
  <p:tag name="KSO_WM_DIAGRAM_VIRTUALLY_FRAME" val="{&quot;height&quot;:598.65,&quot;left&quot;:-0.5,&quot;top&quot;:-58.65,&quot;width&quot;:960.5}"/>
</p:tagLst>
</file>

<file path=ppt/tags/tag37.xml><?xml version="1.0" encoding="utf-8"?>
<p:tagLst xmlns:p="http://schemas.openxmlformats.org/presentationml/2006/main">
  <p:tag name="KSO_WM_DIAGRAM_VIRTUALLY_FRAME" val="{&quot;height&quot;:598.65,&quot;left&quot;:-0.5,&quot;top&quot;:-58.65,&quot;width&quot;:960.5}"/>
</p:tagLst>
</file>

<file path=ppt/tags/tag38.xml><?xml version="1.0" encoding="utf-8"?>
<p:tagLst xmlns:p="http://schemas.openxmlformats.org/presentationml/2006/main">
  <p:tag name="KSO_WM_DIAGRAM_VIRTUALLY_FRAME" val="{&quot;height&quot;:416.9363779527559,&quot;left&quot;:36,&quot;top&quot;:104.9,&quot;width&quot;:861.379291338583}"/>
</p:tagLst>
</file>

<file path=ppt/tags/tag39.xml><?xml version="1.0" encoding="utf-8"?>
<p:tagLst xmlns:p="http://schemas.openxmlformats.org/presentationml/2006/main">
  <p:tag name="KSO_WM_DIAGRAM_VIRTUALLY_FRAME" val="{&quot;height&quot;:416.9363779527559,&quot;left&quot;:36,&quot;top&quot;:104.9,&quot;width&quot;:861.379291338583}"/>
</p:tagLst>
</file>

<file path=ppt/tags/tag40.xml><?xml version="1.0" encoding="utf-8"?>
<p:tagLst xmlns:p="http://schemas.openxmlformats.org/presentationml/2006/main">
  <p:tag name="KSO_WM_DIAGRAM_VIRTUALLY_FRAME" val="{&quot;height&quot;:416.9363779527559,&quot;left&quot;:36,&quot;top&quot;:104.9,&quot;width&quot;:861.379291338583}"/>
</p:tagLst>
</file>

<file path=ppt/tags/tag41.xml><?xml version="1.0" encoding="utf-8"?>
<p:tagLst xmlns:p="http://schemas.openxmlformats.org/presentationml/2006/main">
  <p:tag name="KSO_WM_DIAGRAM_VIRTUALLY_FRAME" val="{&quot;height&quot;:416.9363779527559,&quot;left&quot;:36,&quot;top&quot;:104.9,&quot;width&quot;:861.379291338583}"/>
</p:tagLst>
</file>

<file path=ppt/tags/tag42.xml><?xml version="1.0" encoding="utf-8"?>
<p:tagLst xmlns:p="http://schemas.openxmlformats.org/presentationml/2006/main">
  <p:tag name="KSO_WM_DIAGRAM_VIRTUALLY_FRAME" val="{&quot;height&quot;:416.9363779527559,&quot;left&quot;:36,&quot;top&quot;:104.9,&quot;width&quot;:861.379291338583}"/>
</p:tagLst>
</file>

<file path=ppt/tags/tag43.xml><?xml version="1.0" encoding="utf-8"?>
<p:tagLst xmlns:p="http://schemas.openxmlformats.org/presentationml/2006/main">
  <p:tag name="KSO_WM_DIAGRAM_VIRTUALLY_FRAME" val="{&quot;height&quot;:416.9363779527559,&quot;left&quot;:36,&quot;top&quot;:104.9,&quot;width&quot;:861.379291338583}"/>
</p:tagLst>
</file>

<file path=ppt/tags/tag44.xml><?xml version="1.0" encoding="utf-8"?>
<p:tagLst xmlns:p="http://schemas.openxmlformats.org/presentationml/2006/main">
  <p:tag name="KSO_WM_DIAGRAM_VIRTUALLY_FRAME" val="{&quot;height&quot;:416.9363779527559,&quot;left&quot;:36,&quot;top&quot;:104.9,&quot;width&quot;:861.379291338583}"/>
</p:tagLst>
</file>

<file path=ppt/tags/tag45.xml><?xml version="1.0" encoding="utf-8"?>
<p:tagLst xmlns:p="http://schemas.openxmlformats.org/presentationml/2006/main">
  <p:tag name="KSO_WM_DIAGRAM_VIRTUALLY_FRAME" val="{&quot;height&quot;:416.9363779527559,&quot;left&quot;:36,&quot;top&quot;:104.9,&quot;width&quot;:861.379291338583}"/>
</p:tagLst>
</file>

<file path=ppt/tags/tag46.xml><?xml version="1.0" encoding="utf-8"?>
<p:tagLst xmlns:p="http://schemas.openxmlformats.org/presentationml/2006/main">
  <p:tag name="KSO_WM_DIAGRAM_VIRTUALLY_FRAME" val="{&quot;height&quot;:416.9363779527559,&quot;left&quot;:36,&quot;top&quot;:104.9,&quot;width&quot;:861.379291338583}"/>
</p:tagLst>
</file>

<file path=ppt/tags/tag47.xml><?xml version="1.0" encoding="utf-8"?>
<p:tagLst xmlns:p="http://schemas.openxmlformats.org/presentationml/2006/main">
  <p:tag name="KSO_WM_DIAGRAM_VIRTUALLY_FRAME" val="{&quot;height&quot;:416.9363779527559,&quot;left&quot;:36,&quot;top&quot;:104.9,&quot;width&quot;:861.379291338583}"/>
</p:tagLst>
</file>

<file path=ppt/tags/tag48.xml><?xml version="1.0" encoding="utf-8"?>
<p:tagLst xmlns:p="http://schemas.openxmlformats.org/presentationml/2006/main">
  <p:tag name="KSO_WM_DIAGRAM_VIRTUALLY_FRAME" val="{&quot;height&quot;:416.9363779527559,&quot;left&quot;:36,&quot;top&quot;:104.9,&quot;width&quot;:861.379291338583}"/>
</p:tagLst>
</file>

<file path=ppt/tags/tag49.xml><?xml version="1.0" encoding="utf-8"?>
<p:tagLst xmlns:p="http://schemas.openxmlformats.org/presentationml/2006/main">
  <p:tag name="KSO_WM_DIAGRAM_VIRTUALLY_FRAME" val="{&quot;height&quot;:416.9363779527559,&quot;left&quot;:36,&quot;top&quot;:104.9,&quot;width&quot;:861.379291338583}"/>
</p:tagLst>
</file>

<file path=ppt/tags/tag50.xml><?xml version="1.0" encoding="utf-8"?>
<p:tagLst xmlns:p="http://schemas.openxmlformats.org/presentationml/2006/main">
  <p:tag name="KSO_WM_DIAGRAM_VIRTUALLY_FRAME" val="{&quot;height&quot;:416.9363779527559,&quot;left&quot;:36,&quot;top&quot;:104.9,&quot;width&quot;:861.379291338583}"/>
</p:tagLst>
</file>

<file path=ppt/tags/tag51.xml><?xml version="1.0" encoding="utf-8"?>
<p:tagLst xmlns:p="http://schemas.openxmlformats.org/presentationml/2006/main">
  <p:tag name="KSO_WM_DIAGRAM_VIRTUALLY_FRAME" val="{&quot;height&quot;:416.9363779527559,&quot;left&quot;:36,&quot;top&quot;:104.9,&quot;width&quot;:861.379291338583}"/>
</p:tagLst>
</file>

<file path=ppt/tags/tag52.xml><?xml version="1.0" encoding="utf-8"?>
<p:tagLst xmlns:p="http://schemas.openxmlformats.org/presentationml/2006/main">
  <p:tag name="KSO_WM_DIAGRAM_VIRTUALLY_FRAME" val="{&quot;height&quot;:416.9363779527559,&quot;left&quot;:36,&quot;top&quot;:104.9,&quot;width&quot;:861.379291338583}"/>
</p:tagLst>
</file>

<file path=ppt/tags/tag53.xml><?xml version="1.0" encoding="utf-8"?>
<p:tagLst xmlns:p="http://schemas.openxmlformats.org/presentationml/2006/main">
  <p:tag name="ISLIDE.ICON" val="#64751;"/>
  <p:tag name="ISLIDE.VECTOR" val="#774935;"/>
</p:tagLst>
</file>

<file path=ppt/tags/tag54.xml><?xml version="1.0" encoding="utf-8"?>
<p:tagLst xmlns:p="http://schemas.openxmlformats.org/presentationml/2006/main">
  <p:tag name="KSO_WM_DIAGRAM_VIRTUALLY_FRAME" val="{&quot;height&quot;:416.9363779527559,&quot;left&quot;:36,&quot;top&quot;:104.9,&quot;width&quot;:861.379291338583}"/>
</p:tagLst>
</file>

<file path=ppt/tags/tag55.xml><?xml version="1.0" encoding="utf-8"?>
<p:tagLst xmlns:p="http://schemas.openxmlformats.org/presentationml/2006/main">
  <p:tag name="KSO_WM_DIAGRAM_VIRTUALLY_FRAME" val="{&quot;height&quot;:416.9363779527559,&quot;left&quot;:36,&quot;top&quot;:104.9,&quot;width&quot;:861.379291338583}"/>
</p:tagLst>
</file>

<file path=ppt/tags/tag56.xml><?xml version="1.0" encoding="utf-8"?>
<p:tagLst xmlns:p="http://schemas.openxmlformats.org/presentationml/2006/main">
  <p:tag name="KSO_WM_DIAGRAM_VIRTUALLY_FRAME" val="{&quot;height&quot;:416.9363779527559,&quot;left&quot;:36,&quot;top&quot;:104.9,&quot;width&quot;:861.379291338583}"/>
</p:tagLst>
</file>

<file path=ppt/tags/tag57.xml><?xml version="1.0" encoding="utf-8"?>
<p:tagLst xmlns:p="http://schemas.openxmlformats.org/presentationml/2006/main">
  <p:tag name="KSO_WM_DIAGRAM_VIRTUALLY_FRAME" val="{&quot;height&quot;:416.9363779527559,&quot;left&quot;:36,&quot;top&quot;:104.9,&quot;width&quot;:861.379291338583}"/>
</p:tagLst>
</file>

<file path=ppt/tags/tag58.xml><?xml version="1.0" encoding="utf-8"?>
<p:tagLst xmlns:p="http://schemas.openxmlformats.org/presentationml/2006/main">
  <p:tag name="KSO_WM_DIAGRAM_VIRTUALLY_FRAME" val="{&quot;height&quot;:416.9363779527559,&quot;left&quot;:36,&quot;top&quot;:104.9,&quot;width&quot;:861.379291338583}"/>
</p:tagLst>
</file>

<file path=ppt/tags/tag59.xml><?xml version="1.0" encoding="utf-8"?>
<p:tagLst xmlns:p="http://schemas.openxmlformats.org/presentationml/2006/main">
  <p:tag name="KSO_WM_DIAGRAM_VIRTUALLY_FRAME" val="{&quot;height&quot;:416.9363779527559,&quot;left&quot;:36,&quot;top&quot;:104.9,&quot;width&quot;:861.379291338583}"/>
</p:tagLst>
</file>

<file path=ppt/tags/tag60.xml><?xml version="1.0" encoding="utf-8"?>
<p:tagLst xmlns:p="http://schemas.openxmlformats.org/presentationml/2006/main">
  <p:tag name="KSO_WM_DIAGRAM_VIRTUALLY_FRAME" val="{&quot;height&quot;:416.9363779527559,&quot;left&quot;:36,&quot;top&quot;:104.9,&quot;width&quot;:861.379291338583}"/>
</p:tagLst>
</file>

<file path=ppt/tags/tag61.xml><?xml version="1.0" encoding="utf-8"?>
<p:tagLst xmlns:p="http://schemas.openxmlformats.org/presentationml/2006/main">
  <p:tag name="KSO_WM_DIAGRAM_VIRTUALLY_FRAME" val="{&quot;height&quot;:416.9363779527559,&quot;left&quot;:36,&quot;top&quot;:104.9,&quot;width&quot;:861.379291338583}"/>
</p:tagLst>
</file>

<file path=ppt/tags/tag62.xml><?xml version="1.0" encoding="utf-8"?>
<p:tagLst xmlns:p="http://schemas.openxmlformats.org/presentationml/2006/main">
  <p:tag name="KSO_WM_DIAGRAM_VIRTUALLY_FRAME" val="{&quot;height&quot;:416.9363779527559,&quot;left&quot;:36,&quot;top&quot;:104.9,&quot;width&quot;:861.379291338583}"/>
</p:tagLst>
</file>

<file path=ppt/tags/tag63.xml><?xml version="1.0" encoding="utf-8"?>
<p:tagLst xmlns:p="http://schemas.openxmlformats.org/presentationml/2006/main">
  <p:tag name="KSO_WM_DIAGRAM_VIRTUALLY_FRAME" val="{&quot;height&quot;:416.9363779527559,&quot;left&quot;:36,&quot;top&quot;:104.9,&quot;width&quot;:861.379291338583}"/>
</p:tagLst>
</file>

<file path=ppt/tags/tag64.xml><?xml version="1.0" encoding="utf-8"?>
<p:tagLst xmlns:p="http://schemas.openxmlformats.org/presentationml/2006/main">
  <p:tag name="KSO_WM_DIAGRAM_VIRTUALLY_FRAME" val="{&quot;height&quot;:416.9363779527559,&quot;left&quot;:36,&quot;top&quot;:104.9,&quot;width&quot;:861.379291338583}"/>
</p:tagLst>
</file>

<file path=ppt/tags/tag65.xml><?xml version="1.0" encoding="utf-8"?>
<p:tagLst xmlns:p="http://schemas.openxmlformats.org/presentationml/2006/main">
  <p:tag name="KSO_WM_DIAGRAM_VIRTUALLY_FRAME" val="{&quot;height&quot;:416.9363779527559,&quot;left&quot;:36,&quot;top&quot;:104.9,&quot;width&quot;:861.379291338583}"/>
</p:tagLst>
</file>

<file path=ppt/tags/tag66.xml><?xml version="1.0" encoding="utf-8"?>
<p:tagLst xmlns:p="http://schemas.openxmlformats.org/presentationml/2006/main">
  <p:tag name="KSO_WM_DIAGRAM_VIRTUALLY_FRAME" val="{&quot;height&quot;:416.9363779527559,&quot;left&quot;:36,&quot;top&quot;:104.9,&quot;width&quot;:861.379291338583}"/>
</p:tagLst>
</file>

<file path=ppt/tags/tag67.xml><?xml version="1.0" encoding="utf-8"?>
<p:tagLst xmlns:p="http://schemas.openxmlformats.org/presentationml/2006/main">
  <p:tag name="KSO_WM_DIAGRAM_VIRTUALLY_FRAME" val="{&quot;height&quot;:416.9363779527559,&quot;left&quot;:36,&quot;top&quot;:104.9,&quot;width&quot;:861.379291338583}"/>
</p:tagLst>
</file>

<file path=ppt/tags/tag68.xml><?xml version="1.0" encoding="utf-8"?>
<p:tagLst xmlns:p="http://schemas.openxmlformats.org/presentationml/2006/main">
  <p:tag name="KSO_WM_DIAGRAM_VIRTUALLY_FRAME" val="{&quot;height&quot;:416.9363779527559,&quot;left&quot;:36,&quot;top&quot;:104.9,&quot;width&quot;:861.379291338583}"/>
</p:tagLst>
</file>

<file path=ppt/tags/tag69.xml><?xml version="1.0" encoding="utf-8"?>
<p:tagLst xmlns:p="http://schemas.openxmlformats.org/presentationml/2006/main">
  <p:tag name="KSO_WM_DIAGRAM_VIRTUALLY_FRAME" val="{&quot;height&quot;:416.9363779527559,&quot;left&quot;:36,&quot;top&quot;:104.9,&quot;width&quot;:861.379291338583}"/>
</p:tagLst>
</file>

<file path=ppt/tags/tag70.xml><?xml version="1.0" encoding="utf-8"?>
<p:tagLst xmlns:p="http://schemas.openxmlformats.org/presentationml/2006/main">
  <p:tag name="KSO_WM_DIAGRAM_VIRTUALLY_FRAME" val="{&quot;height&quot;:416.9363779527559,&quot;left&quot;:36,&quot;top&quot;:104.9,&quot;width&quot;:861.379291338583}"/>
</p:tagLst>
</file>

<file path=ppt/tags/tag71.xml><?xml version="1.0" encoding="utf-8"?>
<p:tagLst xmlns:p="http://schemas.openxmlformats.org/presentationml/2006/main">
  <p:tag name="KSO_WM_DIAGRAM_VIRTUALLY_FRAME" val="{&quot;height&quot;:416.9363779527559,&quot;left&quot;:36,&quot;top&quot;:104.9,&quot;width&quot;:861.379291338583}"/>
</p:tagLst>
</file>

<file path=ppt/tags/tag72.xml><?xml version="1.0" encoding="utf-8"?>
<p:tagLst xmlns:p="http://schemas.openxmlformats.org/presentationml/2006/main">
  <p:tag name="KSO_WM_DIAGRAM_VIRTUALLY_FRAME" val="{&quot;height&quot;:416.9363779527559,&quot;left&quot;:36,&quot;top&quot;:104.9,&quot;width&quot;:861.379291338583}"/>
</p:tagLst>
</file>

<file path=ppt/tags/tag73.xml><?xml version="1.0" encoding="utf-8"?>
<p:tagLst xmlns:p="http://schemas.openxmlformats.org/presentationml/2006/main">
  <p:tag name="KSO_WM_DIAGRAM_VIRTUALLY_FRAME" val="{&quot;height&quot;:416.9363779527559,&quot;left&quot;:36,&quot;top&quot;:104.9,&quot;width&quot;:861.379291338583}"/>
</p:tagLst>
</file>

<file path=ppt/tags/tag74.xml><?xml version="1.0" encoding="utf-8"?>
<p:tagLst xmlns:p="http://schemas.openxmlformats.org/presentationml/2006/main">
  <p:tag name="KSO_WM_DIAGRAM_VIRTUALLY_FRAME" val="{&quot;height&quot;:416.9363779527559,&quot;left&quot;:36,&quot;top&quot;:104.9,&quot;width&quot;:861.379291338583}"/>
</p:tagLst>
</file>

<file path=ppt/tags/tag75.xml><?xml version="1.0" encoding="utf-8"?>
<p:tagLst xmlns:p="http://schemas.openxmlformats.org/presentationml/2006/main">
  <p:tag name="KSO_WM_DIAGRAM_VIRTUALLY_FRAME" val="{&quot;height&quot;:416.9363779527559,&quot;left&quot;:36,&quot;top&quot;:104.9,&quot;width&quot;:861.379291338583}"/>
</p:tagLst>
</file>

<file path=ppt/tags/tag76.xml><?xml version="1.0" encoding="utf-8"?>
<p:tagLst xmlns:p="http://schemas.openxmlformats.org/presentationml/2006/main">
  <p:tag name="KSO_WM_DIAGRAM_VIRTUALLY_FRAME" val="{&quot;height&quot;:416.9363779527559,&quot;left&quot;:36,&quot;top&quot;:104.9,&quot;width&quot;:861.379291338583}"/>
</p:tagLst>
</file>

<file path=ppt/tags/tag77.xml><?xml version="1.0" encoding="utf-8"?>
<p:tagLst xmlns:p="http://schemas.openxmlformats.org/presentationml/2006/main">
  <p:tag name="KSO_WM_DIAGRAM_VIRTUALLY_FRAME" val="{&quot;height&quot;:416.9363779527559,&quot;left&quot;:36,&quot;top&quot;:104.9,&quot;width&quot;:861.379291338583}"/>
</p:tagLst>
</file>

<file path=ppt/tags/tag78.xml><?xml version="1.0" encoding="utf-8"?>
<p:tagLst xmlns:p="http://schemas.openxmlformats.org/presentationml/2006/main">
  <p:tag name="KSO_WM_DIAGRAM_VIRTUALLY_FRAME" val="{&quot;height&quot;:416.9363779527559,&quot;left&quot;:36,&quot;top&quot;:104.9,&quot;width&quot;:861.379291338583}"/>
</p:tagLst>
</file>

<file path=ppt/tags/tag79.xml><?xml version="1.0" encoding="utf-8"?>
<p:tagLst xmlns:p="http://schemas.openxmlformats.org/presentationml/2006/main">
  <p:tag name="KSO_WM_DIAGRAM_VIRTUALLY_FRAME" val="{&quot;height&quot;:416.9363779527559,&quot;left&quot;:36,&quot;top&quot;:104.9,&quot;width&quot;:861.379291338583}"/>
</p:tagLst>
</file>

<file path=ppt/tags/tag80.xml><?xml version="1.0" encoding="utf-8"?>
<p:tagLst xmlns:p="http://schemas.openxmlformats.org/presentationml/2006/main">
  <p:tag name="KSO_WM_DIAGRAM_VIRTUALLY_FRAME" val="{&quot;height&quot;:416.9363779527559,&quot;left&quot;:36,&quot;top&quot;:104.9,&quot;width&quot;:861.379291338583}"/>
</p:tagLst>
</file>

<file path=ppt/tags/tag81.xml><?xml version="1.0" encoding="utf-8"?>
<p:tagLst xmlns:p="http://schemas.openxmlformats.org/presentationml/2006/main">
  <p:tag name="KSO_WM_DIAGRAM_VIRTUALLY_FRAME" val="{&quot;height&quot;:416.9363779527559,&quot;left&quot;:36,&quot;top&quot;:104.9,&quot;width&quot;:861.379291338583}"/>
</p:tagLst>
</file>

<file path=ppt/tags/tag82.xml><?xml version="1.0" encoding="utf-8"?>
<p:tagLst xmlns:p="http://schemas.openxmlformats.org/presentationml/2006/main">
  <p:tag name="KSO_WM_DIAGRAM_VIRTUALLY_FRAME" val="{&quot;height&quot;:416.9363779527559,&quot;left&quot;:36,&quot;top&quot;:104.9,&quot;width&quot;:861.379291338583}"/>
</p:tagLst>
</file>

<file path=ppt/tags/tag83.xml><?xml version="1.0" encoding="utf-8"?>
<p:tagLst xmlns:p="http://schemas.openxmlformats.org/presentationml/2006/main">
  <p:tag name="KSO_WM_DIAGRAM_VIRTUALLY_FRAME" val="{&quot;height&quot;:416.9363779527559,&quot;left&quot;:36,&quot;top&quot;:104.9,&quot;width&quot;:861.379291338583}"/>
</p:tagLst>
</file>

<file path=ppt/tags/tag84.xml><?xml version="1.0" encoding="utf-8"?>
<p:tagLst xmlns:p="http://schemas.openxmlformats.org/presentationml/2006/main">
  <p:tag name="KSO_WM_DIAGRAM_VIRTUALLY_FRAME" val="{&quot;height&quot;:416.9363779527559,&quot;left&quot;:36,&quot;top&quot;:104.9,&quot;width&quot;:861.379291338583}"/>
</p:tagLst>
</file>

<file path=ppt/tags/tag85.xml><?xml version="1.0" encoding="utf-8"?>
<p:tagLst xmlns:p="http://schemas.openxmlformats.org/presentationml/2006/main">
  <p:tag name="KSO_WM_DIAGRAM_VIRTUALLY_FRAME" val="{&quot;height&quot;:416.9363779527559,&quot;left&quot;:36,&quot;top&quot;:104.9,&quot;width&quot;:861.379291338583}"/>
</p:tagLst>
</file>

<file path=ppt/tags/tag86.xml><?xml version="1.0" encoding="utf-8"?>
<p:tagLst xmlns:p="http://schemas.openxmlformats.org/presentationml/2006/main">
  <p:tag name="KSO_WM_DIAGRAM_VIRTUALLY_FRAME" val="{&quot;height&quot;:416.9363779527559,&quot;left&quot;:36,&quot;top&quot;:104.9,&quot;width&quot;:861.379291338583}"/>
</p:tagLst>
</file>

<file path=ppt/tags/tag87.xml><?xml version="1.0" encoding="utf-8"?>
<p:tagLst xmlns:p="http://schemas.openxmlformats.org/presentationml/2006/main">
  <p:tag name="KSO_WM_DIAGRAM_VIRTUALLY_FRAME" val="{&quot;height&quot;:416.9363779527559,&quot;left&quot;:36,&quot;top&quot;:104.9,&quot;width&quot;:861.379291338583}"/>
</p:tagLst>
</file>

<file path=ppt/tags/tag88.xml><?xml version="1.0" encoding="utf-8"?>
<p:tagLst xmlns:p="http://schemas.openxmlformats.org/presentationml/2006/main">
  <p:tag name="KSO_WM_DIAGRAM_VIRTUALLY_FRAME" val="{&quot;height&quot;:416.9363779527559,&quot;left&quot;:36,&quot;top&quot;:104.9,&quot;width&quot;:861.379291338583}"/>
</p:tagLst>
</file>

<file path=ppt/tags/tag89.xml><?xml version="1.0" encoding="utf-8"?>
<p:tagLst xmlns:p="http://schemas.openxmlformats.org/presentationml/2006/main">
  <p:tag name="KSO_WM_DIAGRAM_VIRTUALLY_FRAME" val="{&quot;height&quot;:416.9363779527559,&quot;left&quot;:36,&quot;top&quot;:104.9,&quot;width&quot;:861.379291338583}"/>
</p:tagLst>
</file>

<file path=ppt/tags/tag90.xml><?xml version="1.0" encoding="utf-8"?>
<p:tagLst xmlns:p="http://schemas.openxmlformats.org/presentationml/2006/main">
  <p:tag name="KSO_WM_DIAGRAM_VIRTUALLY_FRAME" val="{&quot;height&quot;:416.9363779527559,&quot;left&quot;:36,&quot;top&quot;:104.9,&quot;width&quot;:861.379291338583}"/>
</p:tagLst>
</file>

<file path=ppt/tags/tag91.xml><?xml version="1.0" encoding="utf-8"?>
<p:tagLst xmlns:p="http://schemas.openxmlformats.org/presentationml/2006/main">
  <p:tag name="KSO_WM_DIAGRAM_VIRTUALLY_FRAME" val="{&quot;height&quot;:416.9363779527559,&quot;left&quot;:36,&quot;top&quot;:104.9,&quot;width&quot;:861.379291338583}"/>
</p:tagLst>
</file>

<file path=ppt/tags/tag92.xml><?xml version="1.0" encoding="utf-8"?>
<p:tagLst xmlns:p="http://schemas.openxmlformats.org/presentationml/2006/main">
  <p:tag name="KSO_WM_DIAGRAM_VIRTUALLY_FRAME" val="{&quot;height&quot;:416.9363779527559,&quot;left&quot;:36,&quot;top&quot;:104.9,&quot;width&quot;:861.379291338583}"/>
</p:tagLst>
</file>

<file path=ppt/tags/tag93.xml><?xml version="1.0" encoding="utf-8"?>
<p:tagLst xmlns:p="http://schemas.openxmlformats.org/presentationml/2006/main">
  <p:tag name="KSO_WM_DIAGRAM_VIRTUALLY_FRAME" val="{&quot;height&quot;:416.9363779527559,&quot;left&quot;:36,&quot;top&quot;:104.9,&quot;width&quot;:861.379291338583}"/>
</p:tagLst>
</file>

<file path=ppt/tags/tag94.xml><?xml version="1.0" encoding="utf-8"?>
<p:tagLst xmlns:p="http://schemas.openxmlformats.org/presentationml/2006/main">
  <p:tag name="KSO_WM_DIAGRAM_VIRTUALLY_FRAME" val="{&quot;height&quot;:416.9363779527559,&quot;left&quot;:36,&quot;top&quot;:104.9,&quot;width&quot;:861.379291338583}"/>
</p:tagLst>
</file>

<file path=ppt/tags/tag95.xml><?xml version="1.0" encoding="utf-8"?>
<p:tagLst xmlns:p="http://schemas.openxmlformats.org/presentationml/2006/main">
  <p:tag name="KSO_WM_DIAGRAM_VIRTUALLY_FRAME" val="{&quot;height&quot;:416.9363779527559,&quot;left&quot;:36,&quot;top&quot;:104.9,&quot;width&quot;:861.379291338583}"/>
</p:tagLst>
</file>

<file path=ppt/tags/tag96.xml><?xml version="1.0" encoding="utf-8"?>
<p:tagLst xmlns:p="http://schemas.openxmlformats.org/presentationml/2006/main">
  <p:tag name="KSO_WM_DIAGRAM_VIRTUALLY_FRAME" val="{&quot;height&quot;:416.9363779527559,&quot;left&quot;:36,&quot;top&quot;:104.9,&quot;width&quot;:861.379291338583}"/>
</p:tagLst>
</file>

<file path=ppt/tags/tag97.xml><?xml version="1.0" encoding="utf-8"?>
<p:tagLst xmlns:p="http://schemas.openxmlformats.org/presentationml/2006/main">
  <p:tag name="KSO_WM_DIAGRAM_VIRTUALLY_FRAME" val="{&quot;height&quot;:416.9363779527559,&quot;left&quot;:36,&quot;top&quot;:104.9,&quot;width&quot;:861.379291338583}"/>
</p:tagLst>
</file>

<file path=ppt/tags/tag98.xml><?xml version="1.0" encoding="utf-8"?>
<p:tagLst xmlns:p="http://schemas.openxmlformats.org/presentationml/2006/main">
  <p:tag name="KSO_WM_DIAGRAM_VIRTUALLY_FRAME" val="{&quot;height&quot;:416.9363779527559,&quot;left&quot;:36,&quot;top&quot;:104.9,&quot;width&quot;:861.379291338583}"/>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DIAGRAM_VIRTUALLY_FRAME" val="{&quot;height&quot;:388.5,&quot;left&quot;:235.75,&quot;top&quot;:91.15,&quot;width&quot;:479.25}"/>
</p:tagLst>
</file>

<file path=ppt/tags/tag101.xml><?xml version="1.0" encoding="utf-8"?>
<p:tagLst xmlns:p="http://schemas.openxmlformats.org/presentationml/2006/main">
  <p:tag name="KSO_WM_DIAGRAM_VIRTUALLY_FRAME" val="{&quot;height&quot;:388.5,&quot;left&quot;:235.75,&quot;top&quot;:91.15,&quot;width&quot;:479.25}"/>
</p:tagLst>
</file>

<file path=ppt/tags/tag102.xml><?xml version="1.0" encoding="utf-8"?>
<p:tagLst xmlns:p="http://schemas.openxmlformats.org/presentationml/2006/main">
  <p:tag name="KSO_WM_DIAGRAM_VIRTUALLY_FRAME" val="{&quot;height&quot;:388.5,&quot;left&quot;:235.75,&quot;top&quot;:91.15,&quot;width&quot;:479.25}"/>
</p:tagLst>
</file>

<file path=ppt/tags/tag103.xml><?xml version="1.0" encoding="utf-8"?>
<p:tagLst xmlns:p="http://schemas.openxmlformats.org/presentationml/2006/main">
  <p:tag name="KSO_WM_DIAGRAM_VIRTUALLY_FRAME" val="{&quot;height&quot;:388.5,&quot;left&quot;:235.75,&quot;top&quot;:91.15,&quot;width&quot;:479.25}"/>
</p:tagLst>
</file>

<file path=ppt/tags/tag104.xml><?xml version="1.0" encoding="utf-8"?>
<p:tagLst xmlns:p="http://schemas.openxmlformats.org/presentationml/2006/main">
  <p:tag name="KSO_WM_DIAGRAM_VIRTUALLY_FRAME" val="{&quot;height&quot;:388.5,&quot;left&quot;:235.75,&quot;top&quot;:91.15,&quot;width&quot;:479.25}"/>
</p:tagLst>
</file>

<file path=ppt/tags/tag105.xml><?xml version="1.0" encoding="utf-8"?>
<p:tagLst xmlns:p="http://schemas.openxmlformats.org/presentationml/2006/main">
  <p:tag name="KSO_WM_DIAGRAM_VIRTUALLY_FRAME" val="{&quot;height&quot;:388.5,&quot;left&quot;:235.75,&quot;top&quot;:91.15,&quot;width&quot;:479.25}"/>
</p:tagLst>
</file>

<file path=ppt/tags/tag106.xml><?xml version="1.0" encoding="utf-8"?>
<p:tagLst xmlns:p="http://schemas.openxmlformats.org/presentationml/2006/main">
  <p:tag name="KSO_WM_DIAGRAM_VIRTUALLY_FRAME" val="{&quot;height&quot;:388.5,&quot;left&quot;:235.75,&quot;top&quot;:91.15,&quot;width&quot;:479.25}"/>
</p:tagLst>
</file>

<file path=ppt/tags/tag107.xml><?xml version="1.0" encoding="utf-8"?>
<p:tagLst xmlns:p="http://schemas.openxmlformats.org/presentationml/2006/main">
  <p:tag name="KSO_WM_DIAGRAM_VIRTUALLY_FRAME" val="{&quot;height&quot;:388.5,&quot;left&quot;:235.75,&quot;top&quot;:91.15,&quot;width&quot;:479.25}"/>
</p:tagLst>
</file>

<file path=ppt/tags/tag108.xml><?xml version="1.0" encoding="utf-8"?>
<p:tagLst xmlns:p="http://schemas.openxmlformats.org/presentationml/2006/main">
  <p:tag name="KSO_WM_DIAGRAM_VIRTUALLY_FRAME" val="{&quot;height&quot;:388.5,&quot;left&quot;:235.75,&quot;top&quot;:91.15,&quot;width&quot;:479.25}"/>
</p:tagLst>
</file>

<file path=ppt/tags/tag109.xml><?xml version="1.0" encoding="utf-8"?>
<p:tagLst xmlns:p="http://schemas.openxmlformats.org/presentationml/2006/main">
  <p:tag name="KSO_WM_DIAGRAM_VIRTUALLY_FRAME" val="{&quot;height&quot;:388.5,&quot;left&quot;:235.75,&quot;top&quot;:91.15,&quot;width&quot;:479.25}"/>
</p:tagLst>
</file>

<file path=ppt/tags/tag110.xml><?xml version="1.0" encoding="utf-8"?>
<p:tagLst xmlns:p="http://schemas.openxmlformats.org/presentationml/2006/main">
  <p:tag name="KSO_WM_DIAGRAM_VIRTUALLY_FRAME" val="{&quot;height&quot;:388.5,&quot;left&quot;:235.75,&quot;top&quot;:91.15,&quot;width&quot;:479.25}"/>
</p:tagLst>
</file>

<file path=ppt/tags/tag111.xml><?xml version="1.0" encoding="utf-8"?>
<p:tagLst xmlns:p="http://schemas.openxmlformats.org/presentationml/2006/main">
  <p:tag name="KSO_WM_DIAGRAM_VIRTUALLY_FRAME" val="{&quot;height&quot;:388.5,&quot;left&quot;:235.75,&quot;top&quot;:91.15,&quot;width&quot;:479.25}"/>
</p:tagLst>
</file>

<file path=ppt/tags/tag112.xml><?xml version="1.0" encoding="utf-8"?>
<p:tagLst xmlns:p="http://schemas.openxmlformats.org/presentationml/2006/main">
  <p:tag name="KSO_WM_DIAGRAM_VIRTUALLY_FRAME" val="{&quot;height&quot;:388.5,&quot;left&quot;:235.75,&quot;top&quot;:91.15,&quot;width&quot;:479.25}"/>
</p:tagLst>
</file>

<file path=ppt/tags/tag113.xml><?xml version="1.0" encoding="utf-8"?>
<p:tagLst xmlns:p="http://schemas.openxmlformats.org/presentationml/2006/main">
  <p:tag name="KSO_WM_DIAGRAM_VIRTUALLY_FRAME" val="{&quot;height&quot;:388.5,&quot;left&quot;:235.75,&quot;top&quot;:91.15,&quot;width&quot;:479.25}"/>
</p:tagLst>
</file>

<file path=ppt/tags/tag114.xml><?xml version="1.0" encoding="utf-8"?>
<p:tagLst xmlns:p="http://schemas.openxmlformats.org/presentationml/2006/main">
  <p:tag name="KSO_WM_DIAGRAM_VIRTUALLY_FRAME" val="{&quot;height&quot;:388.5,&quot;left&quot;:235.75,&quot;top&quot;:91.15,&quot;width&quot;:479.25}"/>
</p:tagLst>
</file>

<file path=ppt/tags/tag115.xml><?xml version="1.0" encoding="utf-8"?>
<p:tagLst xmlns:p="http://schemas.openxmlformats.org/presentationml/2006/main">
  <p:tag name="KSO_WM_DIAGRAM_VIRTUALLY_FRAME" val="{&quot;height&quot;:388.5,&quot;left&quot;:235.75,&quot;top&quot;:91.15,&quot;width&quot;:479.25}"/>
</p:tagLst>
</file>

<file path=ppt/tags/tag116.xml><?xml version="1.0" encoding="utf-8"?>
<p:tagLst xmlns:p="http://schemas.openxmlformats.org/presentationml/2006/main">
  <p:tag name="KSO_WM_DIAGRAM_VIRTUALLY_FRAME" val="{&quot;height&quot;:388.5,&quot;left&quot;:235.75,&quot;top&quot;:91.15,&quot;width&quot;:479.25}"/>
</p:tagLst>
</file>

<file path=ppt/tags/tag117.xml><?xml version="1.0" encoding="utf-8"?>
<p:tagLst xmlns:p="http://schemas.openxmlformats.org/presentationml/2006/main">
  <p:tag name="KSO_WM_DIAGRAM_VIRTUALLY_FRAME" val="{&quot;height&quot;:388.5,&quot;left&quot;:235.75,&quot;top&quot;:91.15,&quot;width&quot;:479.25}"/>
</p:tagLst>
</file>

<file path=ppt/tags/tag118.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19.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0.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1.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2.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3.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4.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5.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6.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7.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8.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29.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30.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31.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32.xml><?xml version="1.0" encoding="utf-8"?>
<p:tagLst xmlns:p="http://schemas.openxmlformats.org/presentationml/2006/main">
  <p:tag name="KSO_WM_DIAGRAM_VIRTUALLY_FRAME" val="{&quot;height&quot;:312.4374803149606,&quot;left&quot;:51.999921259842516,&quot;top&quot;:127.81047244094489,&quot;width&quot;:855.0000787401575}"/>
</p:tagLst>
</file>

<file path=ppt/tags/tag133.xml><?xml version="1.0" encoding="utf-8"?>
<p:tagLst xmlns:p="http://schemas.openxmlformats.org/presentationml/2006/main">
  <p:tag name="KSO_WM_DIAGRAM_VIRTUALLY_FRAME" val="{&quot;height&quot;:373.7,&quot;left&quot;:235.75,&quot;top&quot;:105.55,&quot;width&quot;:545.95}"/>
</p:tagLst>
</file>

<file path=ppt/tags/tag134.xml><?xml version="1.0" encoding="utf-8"?>
<p:tagLst xmlns:p="http://schemas.openxmlformats.org/presentationml/2006/main">
  <p:tag name="KSO_WM_DIAGRAM_VIRTUALLY_FRAME" val="{&quot;height&quot;:373.7,&quot;left&quot;:235.75,&quot;top&quot;:105.55,&quot;width&quot;:545.95}"/>
</p:tagLst>
</file>

<file path=ppt/tags/tag135.xml><?xml version="1.0" encoding="utf-8"?>
<p:tagLst xmlns:p="http://schemas.openxmlformats.org/presentationml/2006/main">
  <p:tag name="KSO_WM_DIAGRAM_VIRTUALLY_FRAME" val="{&quot;height&quot;:373.7,&quot;left&quot;:235.75,&quot;top&quot;:105.55,&quot;width&quot;:545.95}"/>
</p:tagLst>
</file>

<file path=ppt/tags/tag136.xml><?xml version="1.0" encoding="utf-8"?>
<p:tagLst xmlns:p="http://schemas.openxmlformats.org/presentationml/2006/main">
  <p:tag name="KSO_WM_DIAGRAM_VIRTUALLY_FRAME" val="{&quot;height&quot;:373.7,&quot;left&quot;:235.75,&quot;top&quot;:105.55,&quot;width&quot;:545.95}"/>
</p:tagLst>
</file>

<file path=ppt/tags/tag137.xml><?xml version="1.0" encoding="utf-8"?>
<p:tagLst xmlns:p="http://schemas.openxmlformats.org/presentationml/2006/main">
  <p:tag name="KSO_WM_DIAGRAM_VIRTUALLY_FRAME" val="{&quot;height&quot;:373.7,&quot;left&quot;:235.75,&quot;top&quot;:105.55,&quot;width&quot;:545.95}"/>
</p:tagLst>
</file>

<file path=ppt/tags/tag138.xml><?xml version="1.0" encoding="utf-8"?>
<p:tagLst xmlns:p="http://schemas.openxmlformats.org/presentationml/2006/main">
  <p:tag name="KSO_WM_DIAGRAM_VIRTUALLY_FRAME" val="{&quot;height&quot;:373.7,&quot;left&quot;:235.75,&quot;top&quot;:105.55,&quot;width&quot;:545.95}"/>
</p:tagLst>
</file>

<file path=ppt/tags/tag139.xml><?xml version="1.0" encoding="utf-8"?>
<p:tagLst xmlns:p="http://schemas.openxmlformats.org/presentationml/2006/main">
  <p:tag name="KSO_WM_DIAGRAM_VIRTUALLY_FRAME" val="{&quot;height&quot;:373.7,&quot;left&quot;:235.75,&quot;top&quot;:105.55,&quot;width&quot;:545.95}"/>
</p:tagLst>
</file>

<file path=ppt/tags/tag140.xml><?xml version="1.0" encoding="utf-8"?>
<p:tagLst xmlns:p="http://schemas.openxmlformats.org/presentationml/2006/main">
  <p:tag name="KSO_WM_DIAGRAM_VIRTUALLY_FRAME" val="{&quot;height&quot;:373.7,&quot;left&quot;:235.75,&quot;top&quot;:105.55,&quot;width&quot;:545.95}"/>
</p:tagLst>
</file>

<file path=ppt/tags/tag141.xml><?xml version="1.0" encoding="utf-8"?>
<p:tagLst xmlns:p="http://schemas.openxmlformats.org/presentationml/2006/main">
  <p:tag name="KSO_WM_DIAGRAM_VIRTUALLY_FRAME" val="{&quot;height&quot;:373.7,&quot;left&quot;:235.75,&quot;top&quot;:105.55,&quot;width&quot;:545.95}"/>
</p:tagLst>
</file>

<file path=ppt/tags/tag142.xml><?xml version="1.0" encoding="utf-8"?>
<p:tagLst xmlns:p="http://schemas.openxmlformats.org/presentationml/2006/main">
  <p:tag name="KSO_WM_DIAGRAM_VIRTUALLY_FRAME" val="{&quot;height&quot;:373.7,&quot;left&quot;:235.75,&quot;top&quot;:105.55,&quot;width&quot;:545.95}"/>
</p:tagLst>
</file>

<file path=ppt/tags/tag143.xml><?xml version="1.0" encoding="utf-8"?>
<p:tagLst xmlns:p="http://schemas.openxmlformats.org/presentationml/2006/main">
  <p:tag name="KSO_WM_DIAGRAM_VIRTUALLY_FRAME" val="{&quot;height&quot;:373.7,&quot;left&quot;:235.75,&quot;top&quot;:105.55,&quot;width&quot;:545.95}"/>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ISLIDE.ICON" val="#64751;"/>
</p:tagLst>
</file>

<file path=ppt/tags/tag146.xml><?xml version="1.0" encoding="utf-8"?>
<p:tagLst xmlns:p="http://schemas.openxmlformats.org/presentationml/2006/main">
  <p:tag name="ISLIDE.ICON" val="#64751;"/>
  <p:tag name="ISLIDE.VECTOR" val="#774935;"/>
</p:tagLst>
</file>

<file path=ppt/tags/tag147.xml><?xml version="1.0" encoding="utf-8"?>
<p:tagLst xmlns:p="http://schemas.openxmlformats.org/presentationml/2006/main">
  <p:tag name="KSO_WM_DIAGRAM_VIRTUALLY_FRAME" val="{&quot;height&quot;:373.7,&quot;left&quot;:235.75,&quot;top&quot;:105.55,&quot;width&quot;:545.95}"/>
</p:tagLst>
</file>

<file path=ppt/tags/tag148.xml><?xml version="1.0" encoding="utf-8"?>
<p:tagLst xmlns:p="http://schemas.openxmlformats.org/presentationml/2006/main">
  <p:tag name="KSO_WM_DIAGRAM_VIRTUALLY_FRAME" val="{&quot;height&quot;:373.7,&quot;left&quot;:235.75,&quot;top&quot;:105.55,&quot;width&quot;:545.95}"/>
</p:tagLst>
</file>

<file path=ppt/tags/tag149.xml><?xml version="1.0" encoding="utf-8"?>
<p:tagLst xmlns:p="http://schemas.openxmlformats.org/presentationml/2006/main">
  <p:tag name="KSO_WM_DIAGRAM_VIRTUALLY_FRAME" val="{&quot;height&quot;:373.7,&quot;left&quot;:235.75,&quot;top&quot;:105.55,&quot;width&quot;:545.95}"/>
</p:tagLst>
</file>

<file path=ppt/tags/tag150.xml><?xml version="1.0" encoding="utf-8"?>
<p:tagLst xmlns:p="http://schemas.openxmlformats.org/presentationml/2006/main">
  <p:tag name="KSO_WM_DIAGRAM_VIRTUALLY_FRAME" val="{&quot;height&quot;:373.7,&quot;left&quot;:235.75,&quot;top&quot;:105.55,&quot;width&quot;:545.95}"/>
</p:tagLst>
</file>

<file path=ppt/tags/tag151.xml><?xml version="1.0" encoding="utf-8"?>
<p:tagLst xmlns:p="http://schemas.openxmlformats.org/presentationml/2006/main">
  <p:tag name="KSO_WM_DIAGRAM_VIRTUALLY_FRAME" val="{&quot;height&quot;:373.7,&quot;left&quot;:235.75,&quot;top&quot;:105.55,&quot;width&quot;:545.95}"/>
</p:tagLst>
</file>

<file path=ppt/tags/tag152.xml><?xml version="1.0" encoding="utf-8"?>
<p:tagLst xmlns:p="http://schemas.openxmlformats.org/presentationml/2006/main">
  <p:tag name="KSO_WM_DIAGRAM_VIRTUALLY_FRAME" val="{&quot;height&quot;:373.7,&quot;left&quot;:235.75,&quot;top&quot;:105.55,&quot;width&quot;:545.95}"/>
</p:tagLst>
</file>

<file path=ppt/tags/tag153.xml><?xml version="1.0" encoding="utf-8"?>
<p:tagLst xmlns:p="http://schemas.openxmlformats.org/presentationml/2006/main">
  <p:tag name="KSO_WM_DIAGRAM_VIRTUALLY_FRAME" val="{&quot;height&quot;:373.7,&quot;left&quot;:235.75,&quot;top&quot;:105.55,&quot;width&quot;:545.95}"/>
</p:tagLst>
</file>

<file path=ppt/tags/tag154.xml><?xml version="1.0" encoding="utf-8"?>
<p:tagLst xmlns:p="http://schemas.openxmlformats.org/presentationml/2006/main">
  <p:tag name="KSO_WM_DIAGRAM_VIRTUALLY_FRAME" val="{&quot;height&quot;:373.7,&quot;left&quot;:235.75,&quot;top&quot;:105.55,&quot;width&quot;:545.95}"/>
</p:tagLst>
</file>

<file path=ppt/tags/tag155.xml><?xml version="1.0" encoding="utf-8"?>
<p:tagLst xmlns:p="http://schemas.openxmlformats.org/presentationml/2006/main">
  <p:tag name="KSO_WM_DIAGRAM_VIRTUALLY_FRAME" val="{&quot;height&quot;:373.7,&quot;left&quot;:235.75,&quot;top&quot;:105.55,&quot;width&quot;:545.95}"/>
</p:tagLst>
</file>

<file path=ppt/tags/tag156.xml><?xml version="1.0" encoding="utf-8"?>
<p:tagLst xmlns:p="http://schemas.openxmlformats.org/presentationml/2006/main">
  <p:tag name="KSO_WM_DIAGRAM_VIRTUALLY_FRAME" val="{&quot;height&quot;:373.7,&quot;left&quot;:235.75,&quot;top&quot;:105.55,&quot;width&quot;:545.95}"/>
</p:tagLst>
</file>

<file path=ppt/tags/tag157.xml><?xml version="1.0" encoding="utf-8"?>
<p:tagLst xmlns:p="http://schemas.openxmlformats.org/presentationml/2006/main">
  <p:tag name="KSO_WM_DIAGRAM_VIRTUALLY_FRAME" val="{&quot;height&quot;:373.7,&quot;left&quot;:235.75,&quot;top&quot;:105.55,&quot;width&quot;:545.95}"/>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TABLE_ENDDRAG_ORIGIN_RECT" val="956*454"/>
  <p:tag name="TABLE_ENDDRAG_RECT" val="3*85*956*454"/>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DIAGRAM_VIRTUALLY_FRAME" val="{&quot;height&quot;:388.5,&quot;left&quot;:235.75,&quot;top&quot;:91.15,&quot;width&quot;:479.25}"/>
</p:tagLst>
</file>

<file path=ppt/tags/tag162.xml><?xml version="1.0" encoding="utf-8"?>
<p:tagLst xmlns:p="http://schemas.openxmlformats.org/presentationml/2006/main">
  <p:tag name="KSO_WM_DIAGRAM_VIRTUALLY_FRAME" val="{&quot;height&quot;:388.5,&quot;left&quot;:235.75,&quot;top&quot;:91.15,&quot;width&quot;:479.25}"/>
</p:tagLst>
</file>

<file path=ppt/tags/tag163.xml><?xml version="1.0" encoding="utf-8"?>
<p:tagLst xmlns:p="http://schemas.openxmlformats.org/presentationml/2006/main">
  <p:tag name="KSO_WM_DIAGRAM_VIRTUALLY_FRAME" val="{&quot;height&quot;:388.5,&quot;left&quot;:235.75,&quot;top&quot;:91.15,&quot;width&quot;:479.25}"/>
</p:tagLst>
</file>

<file path=ppt/tags/tag164.xml><?xml version="1.0" encoding="utf-8"?>
<p:tagLst xmlns:p="http://schemas.openxmlformats.org/presentationml/2006/main">
  <p:tag name="KSO_WM_DIAGRAM_VIRTUALLY_FRAME" val="{&quot;height&quot;:388.5,&quot;left&quot;:235.75,&quot;top&quot;:91.15,&quot;width&quot;:479.25}"/>
</p:tagLst>
</file>

<file path=ppt/tags/tag165.xml><?xml version="1.0" encoding="utf-8"?>
<p:tagLst xmlns:p="http://schemas.openxmlformats.org/presentationml/2006/main">
  <p:tag name="KSO_WM_DIAGRAM_VIRTUALLY_FRAME" val="{&quot;height&quot;:388.5,&quot;left&quot;:235.75,&quot;top&quot;:91.15,&quot;width&quot;:479.25}"/>
</p:tagLst>
</file>

<file path=ppt/tags/tag166.xml><?xml version="1.0" encoding="utf-8"?>
<p:tagLst xmlns:p="http://schemas.openxmlformats.org/presentationml/2006/main">
  <p:tag name="KSO_WM_DIAGRAM_VIRTUALLY_FRAME" val="{&quot;height&quot;:388.5,&quot;left&quot;:235.75,&quot;top&quot;:91.15,&quot;width&quot;:479.25}"/>
</p:tagLst>
</file>

<file path=ppt/tags/tag167.xml><?xml version="1.0" encoding="utf-8"?>
<p:tagLst xmlns:p="http://schemas.openxmlformats.org/presentationml/2006/main">
  <p:tag name="KSO_WM_DIAGRAM_VIRTUALLY_FRAME" val="{&quot;height&quot;:388.5,&quot;left&quot;:235.75,&quot;top&quot;:91.15,&quot;width&quot;:479.25}"/>
</p:tagLst>
</file>

<file path=ppt/tags/tag168.xml><?xml version="1.0" encoding="utf-8"?>
<p:tagLst xmlns:p="http://schemas.openxmlformats.org/presentationml/2006/main">
  <p:tag name="KSO_WM_DIAGRAM_VIRTUALLY_FRAME" val="{&quot;height&quot;:388.5,&quot;left&quot;:235.75,&quot;top&quot;:91.15,&quot;width&quot;:479.25}"/>
</p:tagLst>
</file>

<file path=ppt/tags/tag169.xml><?xml version="1.0" encoding="utf-8"?>
<p:tagLst xmlns:p="http://schemas.openxmlformats.org/presentationml/2006/main">
  <p:tag name="KSO_WM_DIAGRAM_VIRTUALLY_FRAME" val="{&quot;height&quot;:388.5,&quot;left&quot;:235.75,&quot;top&quot;:91.15,&quot;width&quot;:479.25}"/>
</p:tagLst>
</file>

<file path=ppt/tags/tag170.xml><?xml version="1.0" encoding="utf-8"?>
<p:tagLst xmlns:p="http://schemas.openxmlformats.org/presentationml/2006/main">
  <p:tag name="KSO_WM_DIAGRAM_VIRTUALLY_FRAME" val="{&quot;height&quot;:388.5,&quot;left&quot;:235.75,&quot;top&quot;:91.15,&quot;width&quot;:479.25}"/>
</p:tagLst>
</file>

<file path=ppt/tags/tag171.xml><?xml version="1.0" encoding="utf-8"?>
<p:tagLst xmlns:p="http://schemas.openxmlformats.org/presentationml/2006/main">
  <p:tag name="KSO_WM_DIAGRAM_VIRTUALLY_FRAME" val="{&quot;height&quot;:388.5,&quot;left&quot;:235.75,&quot;top&quot;:91.15,&quot;width&quot;:479.25}"/>
</p:tagLst>
</file>

<file path=ppt/tags/tag172.xml><?xml version="1.0" encoding="utf-8"?>
<p:tagLst xmlns:p="http://schemas.openxmlformats.org/presentationml/2006/main">
  <p:tag name="KSO_WM_DIAGRAM_VIRTUALLY_FRAME" val="{&quot;height&quot;:388.5,&quot;left&quot;:235.75,&quot;top&quot;:91.15,&quot;width&quot;:479.25}"/>
</p:tagLst>
</file>

<file path=ppt/tags/tag173.xml><?xml version="1.0" encoding="utf-8"?>
<p:tagLst xmlns:p="http://schemas.openxmlformats.org/presentationml/2006/main">
  <p:tag name="KSO_WM_DIAGRAM_VIRTUALLY_FRAME" val="{&quot;height&quot;:388.5,&quot;left&quot;:235.75,&quot;top&quot;:91.15,&quot;width&quot;:479.25}"/>
</p:tagLst>
</file>

<file path=ppt/tags/tag174.xml><?xml version="1.0" encoding="utf-8"?>
<p:tagLst xmlns:p="http://schemas.openxmlformats.org/presentationml/2006/main">
  <p:tag name="KSO_WM_DIAGRAM_VIRTUALLY_FRAME" val="{&quot;height&quot;:388.5,&quot;left&quot;:235.75,&quot;top&quot;:91.15,&quot;width&quot;:479.25}"/>
</p:tagLst>
</file>

<file path=ppt/tags/tag175.xml><?xml version="1.0" encoding="utf-8"?>
<p:tagLst xmlns:p="http://schemas.openxmlformats.org/presentationml/2006/main">
  <p:tag name="KSO_WM_DIAGRAM_VIRTUALLY_FRAME" val="{&quot;height&quot;:388.5,&quot;left&quot;:235.75,&quot;top&quot;:91.15,&quot;width&quot;:479.25}"/>
</p:tagLst>
</file>

<file path=ppt/tags/tag176.xml><?xml version="1.0" encoding="utf-8"?>
<p:tagLst xmlns:p="http://schemas.openxmlformats.org/presentationml/2006/main">
  <p:tag name="KSO_WM_DIAGRAM_VIRTUALLY_FRAME" val="{&quot;height&quot;:388.5,&quot;left&quot;:235.75,&quot;top&quot;:91.15,&quot;width&quot;:479.25}"/>
</p:tagLst>
</file>

<file path=ppt/tags/tag177.xml><?xml version="1.0" encoding="utf-8"?>
<p:tagLst xmlns:p="http://schemas.openxmlformats.org/presentationml/2006/main">
  <p:tag name="KSO_WM_DIAGRAM_VIRTUALLY_FRAME" val="{&quot;height&quot;:388.5,&quot;left&quot;:235.75,&quot;top&quot;:91.15,&quot;width&quot;:479.25}"/>
</p:tagLst>
</file>

<file path=ppt/tags/tag178.xml><?xml version="1.0" encoding="utf-8"?>
<p:tagLst xmlns:p="http://schemas.openxmlformats.org/presentationml/2006/main">
  <p:tag name="KSO_WM_DIAGRAM_VIRTUALLY_FRAME" val="{&quot;height&quot;:388.5,&quot;left&quot;:235.75,&quot;top&quot;:91.15,&quot;width&quot;:479.25}"/>
</p:tagLst>
</file>

<file path=ppt/tags/tag179.xml><?xml version="1.0" encoding="utf-8"?>
<p:tagLst xmlns:p="http://schemas.openxmlformats.org/presentationml/2006/main">
  <p:tag name="TABLE_ENDDRAG_ORIGIN_RECT" val="938*379"/>
  <p:tag name="TABLE_ENDDRAG_RECT" val="2*130*938*379"/>
</p:tagLst>
</file>

<file path=ppt/tags/tag180.xml><?xml version="1.0" encoding="utf-8"?>
<p:tagLst xmlns:p="http://schemas.openxmlformats.org/presentationml/2006/main">
  <p:tag name="TABLE_ENDDRAG_ORIGIN_RECT" val="929*362"/>
  <p:tag name="TABLE_ENDDRAG_RECT" val="24*132*929*362"/>
</p:tagLst>
</file>

<file path=ppt/tags/tag181.xml><?xml version="1.0" encoding="utf-8"?>
<p:tagLst xmlns:p="http://schemas.openxmlformats.org/presentationml/2006/main">
  <p:tag name="KSO_WM_DIAGRAM_VIRTUALLY_FRAME" val="{&quot;height&quot;:251.7,&quot;left&quot;:10.1,&quot;top&quot;:119.55,&quot;width&quot;:917.95}"/>
</p:tagLst>
</file>

<file path=ppt/tags/tag182.xml><?xml version="1.0" encoding="utf-8"?>
<p:tagLst xmlns:p="http://schemas.openxmlformats.org/presentationml/2006/main">
  <p:tag name="KSO_WM_DIAGRAM_VIRTUALLY_FRAME" val="{&quot;height&quot;:251.7,&quot;left&quot;:10.1,&quot;top&quot;:119.55,&quot;width&quot;:917.95}"/>
</p:tagLst>
</file>

<file path=ppt/tags/tag183.xml><?xml version="1.0" encoding="utf-8"?>
<p:tagLst xmlns:p="http://schemas.openxmlformats.org/presentationml/2006/main">
  <p:tag name="KSO_WM_DIAGRAM_VIRTUALLY_FRAME" val="{&quot;height&quot;:251.7,&quot;left&quot;:10.1,&quot;top&quot;:119.55,&quot;width&quot;:917.95}"/>
</p:tagLst>
</file>

<file path=ppt/tags/tag184.xml><?xml version="1.0" encoding="utf-8"?>
<p:tagLst xmlns:p="http://schemas.openxmlformats.org/presentationml/2006/main">
  <p:tag name="KSO_WM_DIAGRAM_VIRTUALLY_FRAME" val="{&quot;height&quot;:251.7,&quot;left&quot;:10.1,&quot;top&quot;:119.55,&quot;width&quot;:917.95}"/>
</p:tagLst>
</file>

<file path=ppt/tags/tag185.xml><?xml version="1.0" encoding="utf-8"?>
<p:tagLst xmlns:p="http://schemas.openxmlformats.org/presentationml/2006/main">
  <p:tag name="KSO_WM_DIAGRAM_VIRTUALLY_FRAME" val="{&quot;height&quot;:251.7,&quot;left&quot;:10.1,&quot;top&quot;:119.55,&quot;width&quot;:917.95}"/>
</p:tagLst>
</file>

<file path=ppt/tags/tag186.xml><?xml version="1.0" encoding="utf-8"?>
<p:tagLst xmlns:p="http://schemas.openxmlformats.org/presentationml/2006/main">
  <p:tag name="KSO_WM_DIAGRAM_VIRTUALLY_FRAME" val="{&quot;height&quot;:251.7,&quot;left&quot;:10.1,&quot;top&quot;:119.55,&quot;width&quot;:917.95}"/>
</p:tagLst>
</file>

<file path=ppt/tags/tag187.xml><?xml version="1.0" encoding="utf-8"?>
<p:tagLst xmlns:p="http://schemas.openxmlformats.org/presentationml/2006/main">
  <p:tag name="KSO_WM_DIAGRAM_VIRTUALLY_FRAME" val="{&quot;height&quot;:251.7,&quot;left&quot;:10.1,&quot;top&quot;:119.55,&quot;width&quot;:917.95}"/>
</p:tagLst>
</file>

<file path=ppt/tags/tag188.xml><?xml version="1.0" encoding="utf-8"?>
<p:tagLst xmlns:p="http://schemas.openxmlformats.org/presentationml/2006/main">
  <p:tag name="KSO_WM_DIAGRAM_VIRTUALLY_FRAME" val="{&quot;height&quot;:251.7,&quot;left&quot;:10.1,&quot;top&quot;:119.55,&quot;width&quot;:917.95}"/>
</p:tagLst>
</file>

<file path=ppt/tags/tag189.xml><?xml version="1.0" encoding="utf-8"?>
<p:tagLst xmlns:p="http://schemas.openxmlformats.org/presentationml/2006/main">
  <p:tag name="KSO_WM_DIAGRAM_VIRTUALLY_FRAME" val="{&quot;height&quot;:251.7,&quot;left&quot;:10.1,&quot;top&quot;:119.55,&quot;width&quot;:917.95}"/>
</p:tagLst>
</file>

<file path=ppt/tags/tag190.xml><?xml version="1.0" encoding="utf-8"?>
<p:tagLst xmlns:p="http://schemas.openxmlformats.org/presentationml/2006/main">
  <p:tag name="KSO_WM_DIAGRAM_VIRTUALLY_FRAME" val="{&quot;height&quot;:251.7,&quot;left&quot;:10.1,&quot;top&quot;:119.55,&quot;width&quot;:917.95}"/>
</p:tagLst>
</file>

<file path=ppt/tags/tag191.xml><?xml version="1.0" encoding="utf-8"?>
<p:tagLst xmlns:p="http://schemas.openxmlformats.org/presentationml/2006/main">
  <p:tag name="KSO_WPP_MARK_KEY" val="36944613-43a1-4e97-a6df-e9e1e6ad7597"/>
  <p:tag name="COMMONDATA" val="eyJoZGlkIjoiNGUwMjhlZTQ0NTk1NDdiNGVlZjA1NTIwMzc5ZDliMWUifQ=="/>
  <p:tag name="resource_record_key" val="{&quot;13&quot;:[4364883,4519456,4364915],&quot;29&quot;:[50000140]}"/>
</p:tagLst>
</file>

<file path=ppt/theme/theme1.xml><?xml version="1.0" encoding="utf-8"?>
<a:theme xmlns:a="http://schemas.openxmlformats.org/drawingml/2006/main" name="WWW.KOPPT.CN">
  <a:themeElements>
    <a:clrScheme name="00000 年终总结">
      <a:dk1>
        <a:srgbClr val="4F4F4F"/>
      </a:dk1>
      <a:lt1>
        <a:srgbClr val="FFFFFF"/>
      </a:lt1>
      <a:dk2>
        <a:srgbClr val="4F4F4F"/>
      </a:dk2>
      <a:lt2>
        <a:srgbClr val="FFFFFF"/>
      </a:lt2>
      <a:accent1>
        <a:srgbClr val="374B63"/>
      </a:accent1>
      <a:accent2>
        <a:srgbClr val="E3464D"/>
      </a:accent2>
      <a:accent3>
        <a:srgbClr val="E87642"/>
      </a:accent3>
      <a:accent4>
        <a:srgbClr val="F5C652"/>
      </a:accent4>
      <a:accent5>
        <a:srgbClr val="374B63"/>
      </a:accent5>
      <a:accent6>
        <a:srgbClr val="E3464D"/>
      </a:accent6>
      <a:hlink>
        <a:srgbClr val="FFFFFF"/>
      </a:hlink>
      <a:folHlink>
        <a:srgbClr val="FFFFFF"/>
      </a:folHlink>
    </a:clrScheme>
    <a:fontScheme name="微软雅黑Arial">
      <a:majorFont>
        <a:latin typeface="Arial"/>
        <a:ea typeface="微软雅黑"/>
        <a:cs typeface="Helvetica"/>
      </a:majorFont>
      <a:minorFont>
        <a:latin typeface="Arial"/>
        <a:ea typeface="微软雅黑"/>
        <a:cs typeface="Calibri"/>
      </a:minorFont>
    </a:fontScheme>
    <a:fmtScheme name="磨砂玻璃">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150000"/>
          </a:lnSpc>
          <a:defRPr smtClean="0"/>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19334</Words>
  <Application>WPS 演示</Application>
  <PresentationFormat>宽屏</PresentationFormat>
  <Paragraphs>1688</Paragraphs>
  <Slides>116</Slides>
  <Notes>0</Notes>
  <HiddenSlides>0</HiddenSlides>
  <MMClips>0</MMClips>
  <ScaleCrop>false</ScaleCrop>
  <HeadingPairs>
    <vt:vector size="8" baseType="variant">
      <vt:variant>
        <vt:lpstr>已用的字体</vt:lpstr>
      </vt:variant>
      <vt:variant>
        <vt:i4>27</vt:i4>
      </vt:variant>
      <vt:variant>
        <vt:lpstr>主题</vt:lpstr>
      </vt:variant>
      <vt:variant>
        <vt:i4>1</vt:i4>
      </vt:variant>
      <vt:variant>
        <vt:lpstr>嵌入 OLE 服务器</vt:lpstr>
      </vt:variant>
      <vt:variant>
        <vt:i4>15</vt:i4>
      </vt:variant>
      <vt:variant>
        <vt:lpstr>幻灯片标题</vt:lpstr>
      </vt:variant>
      <vt:variant>
        <vt:i4>116</vt:i4>
      </vt:variant>
    </vt:vector>
  </HeadingPairs>
  <TitlesOfParts>
    <vt:vector size="159" baseType="lpstr">
      <vt:lpstr>Arial</vt:lpstr>
      <vt:lpstr>宋体</vt:lpstr>
      <vt:lpstr>Wingdings</vt:lpstr>
      <vt:lpstr>微软雅黑</vt:lpstr>
      <vt:lpstr>Segoe UI Light</vt:lpstr>
      <vt:lpstr>黑体</vt:lpstr>
      <vt:lpstr>Impact</vt:lpstr>
      <vt:lpstr>Wingdings</vt:lpstr>
      <vt:lpstr>Times New Roman</vt:lpstr>
      <vt:lpstr>Arial</vt:lpstr>
      <vt:lpstr>Wingdings</vt:lpstr>
      <vt:lpstr>等线</vt:lpstr>
      <vt:lpstr>Source Han Sans CN Bold</vt:lpstr>
      <vt:lpstr>OPPOSans H</vt:lpstr>
      <vt:lpstr>Source Han Sans</vt:lpstr>
      <vt:lpstr>Arial Unicode MS</vt:lpstr>
      <vt:lpstr>Calibri</vt:lpstr>
      <vt:lpstr>Arial Narrow</vt:lpstr>
      <vt:lpstr>Helvetica Light</vt:lpstr>
      <vt:lpstr>Times New Roman</vt:lpstr>
      <vt:lpstr>Symbol</vt:lpstr>
      <vt:lpstr>Symbol</vt:lpstr>
      <vt:lpstr>Calibri</vt:lpstr>
      <vt:lpstr>TT7ADF8o00536922991</vt:lpstr>
      <vt:lpstr>AMGDT</vt:lpstr>
      <vt:lpstr>华文楷体</vt:lpstr>
      <vt:lpstr>Helvetica</vt:lpstr>
      <vt:lpstr>WWW.KOPPT.CN</vt:lpstr>
      <vt:lpstr>Visio.Drawing.11</vt:lpstr>
      <vt:lpstr>Visio.Drawing.15</vt:lpstr>
      <vt:lpstr>Visio.Drawing.15</vt:lpstr>
      <vt:lpstr>Visio.Drawing.15</vt:lpstr>
      <vt:lpstr>Visio.Drawing.15</vt:lpstr>
      <vt:lpstr>Visio.Drawing.15</vt:lpstr>
      <vt:lpstr>Visio.DrawingConvertable.15</vt:lpstr>
      <vt:lpstr>Visio.DrawingConvertable.15</vt:lpstr>
      <vt:lpstr>Visio.Drawing.15</vt:lpstr>
      <vt:lpstr>Visio.DrawingConvertable.15</vt:lpstr>
      <vt:lpstr>Visio.Drawing.15</vt:lpstr>
      <vt:lpstr>Visio.Drawing.15</vt:lpstr>
      <vt:lpstr>Visio.Drawing.15</vt:lpstr>
      <vt:lpstr>Visio.Drawing.15</vt:lpstr>
      <vt:lpstr>Visio.DrawingConvertable.15</vt:lpstr>
      <vt:lpstr>PowerPoint 演示文稿</vt:lpstr>
      <vt:lpstr>1.1.1 计算机网络的定义</vt:lpstr>
      <vt:lpstr>PowerPoint 演示文稿</vt:lpstr>
      <vt:lpstr>相关概念——实体&amp;对等实体</vt:lpstr>
      <vt:lpstr>对协议三要素的理解</vt:lpstr>
      <vt:lpstr>1.2.1 计算机网络安全的定义</vt:lpstr>
      <vt:lpstr>1.3.1 计算机网络安全威胁的类型</vt:lpstr>
      <vt:lpstr>1.3.2 计算机网络安全风险的因素</vt:lpstr>
      <vt:lpstr>1.3.3 计算机网络安全防范的措施</vt:lpstr>
      <vt:lpstr>1.4.2 计算机网络协议的安全风险</vt:lpstr>
      <vt:lpstr>1.4.3 TCP/IP协议安全的体系结构——网络接口层的安全性</vt:lpstr>
      <vt:lpstr>PowerPoint 演示文稿</vt:lpstr>
      <vt:lpstr>1.4.3 TCP/IP协议安全的体系结构——网络层的安全性</vt:lpstr>
      <vt:lpstr>1.4.3 TCP/IP协议安全的体系结构——传输层的安全性</vt:lpstr>
      <vt:lpstr>1.4.3 TCP/IP协议安全的体系结构——应用层的安全性</vt:lpstr>
      <vt:lpstr>PowerPoint 演示文稿</vt:lpstr>
      <vt:lpstr>数据链路层功能</vt:lpstr>
      <vt:lpstr>2.1.2 数据链路层的信道类型</vt:lpstr>
      <vt:lpstr>2.1.3 数据链路层协议的功能</vt:lpstr>
      <vt:lpstr>2.2.2 PPP协议的帧格式</vt:lpstr>
      <vt:lpstr>2.2.3  PPP协议的工作流程</vt:lpstr>
      <vt:lpstr>2.2.3.1  LCP协议</vt:lpstr>
      <vt:lpstr>2.2.3.2  PAP协议</vt:lpstr>
      <vt:lpstr>2.2.3.3  CHAP协议</vt:lpstr>
      <vt:lpstr>2.2.3.4  IPCP协议</vt:lpstr>
      <vt:lpstr>2.3 L2TP协议</vt:lpstr>
      <vt:lpstr>2.3.1 L2TP架构</vt:lpstr>
      <vt:lpstr>2.3.1 L2TP架构</vt:lpstr>
      <vt:lpstr>2.3.2 L2TP协议流程</vt:lpstr>
      <vt:lpstr>2.3.3 L2TP报文</vt:lpstr>
      <vt:lpstr>2.4.1 以太网协议概述</vt:lpstr>
      <vt:lpstr>2.4.2 MAC层的硬件地址</vt:lpstr>
      <vt:lpstr>2.4.3 MAC帧格式</vt:lpstr>
      <vt:lpstr>为什么1518字节≥有效帧长度≥64字节？</vt:lpstr>
      <vt:lpstr>2.5 PPPoE协议</vt:lpstr>
      <vt:lpstr>2.5 PPPoE协议</vt:lpstr>
      <vt:lpstr>2.5.1 PPPoE帧</vt:lpstr>
      <vt:lpstr>2.6 MAC泛洪攻击</vt:lpstr>
      <vt:lpstr>2.6.1 以太网交换机的自学习算法</vt:lpstr>
      <vt:lpstr>2.6.2 MAC泛洪攻击</vt:lpstr>
      <vt:lpstr>2.6.3 MAC泛洪攻击的防御</vt:lpstr>
      <vt:lpstr>PowerPoint 演示文稿</vt:lpstr>
      <vt:lpstr>3.1 网络层协议概述</vt:lpstr>
      <vt:lpstr>3.2.1  IP的主要功能</vt:lpstr>
      <vt:lpstr>3.2.2 IPv4数据报格式</vt:lpstr>
      <vt:lpstr>PowerPoint 演示文稿</vt:lpstr>
      <vt:lpstr>PowerPoint 演示文稿</vt:lpstr>
      <vt:lpstr>PowerPoint 演示文稿</vt:lpstr>
      <vt:lpstr>PowerPoint 演示文稿</vt:lpstr>
      <vt:lpstr>PowerPoint 演示文稿</vt:lpstr>
      <vt:lpstr> 3.3 ARP协议介绍</vt:lpstr>
      <vt:lpstr>3.3.1 ARP协议的帧格式</vt:lpstr>
      <vt:lpstr>3.3.2 ARP协议工作流程</vt:lpstr>
      <vt:lpstr>PowerPoint 演示文稿</vt:lpstr>
      <vt:lpstr>3.4.1 ICMP协议</vt:lpstr>
      <vt:lpstr>3.4.1 ICMP报文</vt:lpstr>
      <vt:lpstr>3.4.2 ICMP重定向攻击与防御</vt:lpstr>
      <vt:lpstr>3.4.3 ICMP 隧道攻击与防御</vt:lpstr>
      <vt:lpstr>3.4.4 ICMP Flood 攻击与防御</vt:lpstr>
      <vt:lpstr>ARP+ICMP协同工作</vt:lpstr>
      <vt:lpstr>3.5.1 IPSec 体系结构</vt:lpstr>
      <vt:lpstr>3.5.2 IPSec模式</vt:lpstr>
      <vt:lpstr>3.5.3 AH报文</vt:lpstr>
      <vt:lpstr>3.5.4 ESP报文</vt:lpstr>
      <vt:lpstr>3.5.6 IPSec安全策略</vt:lpstr>
      <vt:lpstr>3.5.6 IPSec安全策略</vt:lpstr>
      <vt:lpstr>PowerPoint 演示文稿</vt:lpstr>
      <vt:lpstr>PowerPoint 演示文稿</vt:lpstr>
      <vt:lpstr>4.1.1 传输层定义</vt:lpstr>
      <vt:lpstr>4.1.1 端口号分类</vt:lpstr>
      <vt:lpstr>4.1.2 TCP和UDP</vt:lpstr>
      <vt:lpstr>4.2.1 TCP报文格式</vt:lpstr>
      <vt:lpstr>4.2.1 TCP报文段首部</vt:lpstr>
      <vt:lpstr>4.2.2 TCP连接</vt:lpstr>
      <vt:lpstr>4.2.3 TCP SYN泛洪攻击</vt:lpstr>
      <vt:lpstr>4.2.3 TCP RST攻击</vt:lpstr>
      <vt:lpstr>4.2.3 TCP会话劫持</vt:lpstr>
      <vt:lpstr>4.3 UDP</vt:lpstr>
      <vt:lpstr>4.3.1 UDP报文</vt:lpstr>
      <vt:lpstr>4.3.2 实时传输协议RTP</vt:lpstr>
      <vt:lpstr>4.3.2 快速UDP互联网连接协议（QUIC）</vt:lpstr>
      <vt:lpstr>4.3.2 UDP泛洪攻击与防御</vt:lpstr>
      <vt:lpstr>4.3.3 UDP反射放大攻击</vt:lpstr>
      <vt:lpstr>4.4.1 SSL体系结构</vt:lpstr>
      <vt:lpstr>4.4.1 SSL记录协议</vt:lpstr>
      <vt:lpstr>4.5.1 TLS概述</vt:lpstr>
      <vt:lpstr>PowerPoint 演示文稿</vt:lpstr>
      <vt:lpstr> 5.1 应用层协议分类</vt:lpstr>
      <vt:lpstr>5.2.1 域名系统</vt:lpstr>
      <vt:lpstr>5.2.1 域名系统</vt:lpstr>
      <vt:lpstr>5.2.1 域名系统</vt:lpstr>
      <vt:lpstr>5.2.2 DNS报文格式</vt:lpstr>
      <vt:lpstr>5.2.5 常见的DNS攻击</vt:lpstr>
      <vt:lpstr>5.2.6 DNS安全防护</vt:lpstr>
      <vt:lpstr>通过非对称加密验证身份--DNSSec</vt:lpstr>
      <vt:lpstr>5.3 HTTP协议发展历程</vt:lpstr>
      <vt:lpstr>5.3.1 HTTP报文结构</vt:lpstr>
      <vt:lpstr>5.3.2 常见的HTTP协议攻击</vt:lpstr>
      <vt:lpstr>5.4.1 邮件传输协议概述</vt:lpstr>
      <vt:lpstr>5.4.2 邮件传输协议——SMTP</vt:lpstr>
      <vt:lpstr>5.4.2 邮件传输协议——POP和IMAP</vt:lpstr>
      <vt:lpstr>5.4.2 邮件传输协议——MIME</vt:lpstr>
      <vt:lpstr>5.4.3 邮件传输协议的安全风险及防范策略</vt:lpstr>
      <vt:lpstr>5.4.3 邮件传输协议的安全风险及防范策略</vt:lpstr>
      <vt:lpstr>5.5.1 DHCP协议概述</vt:lpstr>
      <vt:lpstr>5.5.1 DHCP协议概述</vt:lpstr>
      <vt:lpstr>PowerPoint 演示文稿</vt:lpstr>
      <vt:lpstr>5.5.3 DHCP攻击与防御措施</vt:lpstr>
      <vt:lpstr>5.5.3 DHCP攻击与防御措施</vt:lpstr>
      <vt:lpstr>5.5.3 DHCP攻击与防御措施</vt:lpstr>
      <vt:lpstr>5.6.2 FTP的工作过程</vt:lpstr>
      <vt:lpstr>5.6.2 FTP的工作过程</vt:lpstr>
      <vt:lpstr>5.6.2 FTP的工作过程</vt:lpstr>
      <vt:lpstr>5.6.5 FTP存在的安全风险及防御策略</vt:lpstr>
      <vt:lpstr>5.6.5 FTP存在的安全风险及防御策略</vt:lpstr>
      <vt:lpstr>结课考试题型及分值分配</vt:lpstr>
    </vt:vector>
  </TitlesOfParts>
  <Company>KLS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www.koppt.cn</dc:creator>
  <cp:lastModifiedBy>兰皓然</cp:lastModifiedBy>
  <cp:revision>2735</cp:revision>
  <dcterms:created xsi:type="dcterms:W3CDTF">2016-07-28T14:37:00Z</dcterms:created>
  <dcterms:modified xsi:type="dcterms:W3CDTF">2025-11-20T03:54:28Z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9925E8B4A4ED4B0992715DA79B4D8CD3_12</vt:lpwstr>
  </property>
  <property fmtid="{D5CDD505-2E9C-101B-9397-08002B2CF9AE}" pid="3" name="KSOProductBuildVer">
    <vt:lpwstr>2052-12.1.0.21171</vt:lpwstr>
  </property>
</Properties>
</file>